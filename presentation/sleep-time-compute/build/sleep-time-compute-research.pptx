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STC-01
EVIDENCE_STATUS: 통합 추론
TAKEAWAY: 
VISIBLE_SOURCE: Audited corpus cutoff · 2026-07-25
This is an evidence-bounded position and research-agenda deck. It reports no new PAPER-C result. The deck uses only native PowerPoint text, shapes, and connectors.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STC-02
EVIDENCE_STATUS: 통합 추론
TAKEAWAY: 핵심은 ‘자는 모델’이 아니라 기억의 이동 규칙이다
VISIBLE_SOURCE: CLS · continual learning · Letta 2025 · Google Sleep 2026
The phase label is useful only when it predicts operator timing, data visibility, publication, and later reuse. External versus parametric is a routing decision, not an ideology.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STC-03
EVIDENCE_STATUS: 제안
TAKEAWAY: strict sleep은 세 조건을 동시에 만족한다
VISIBLE_SOURCE: Operational definition synthesized from audited literature
A job is strict sleep only when it is off the current action's causal critical path, consumes accumulated wake experience, and publishes durable state reused by a later wake. The definition is operational, not biological.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STC-04
EVIDENCE_STATUS: 통합 추론
TAKEAWAY: 앞으로의 학습은 세 phase와 하나의 memory fabric으로 나뉜다
VISIBLE_SOURCE: Sun et al. 2020 · Lin et al. 2025 · Behrouz et al. 2026
Predeployment learning creates priors and update rules. Wake learning operates under latency and user-visible constraints. Sleep learning transforms a frozen snapshot. A separate memory fabric owns canonical and derived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STC-05
EVIDENCE_STATUS: 근거
TAKEAWAY: ‘sleep-time’이라는 이름보다 계보가 먼저였다
VISIBLE_SOURCE: Hinton 1995 · Golden 2022 · MemGPT 2023 · Lin 2025 · Google Sleep 2026
The river is chronological, not a single dependency chain. It separates replay and consolidation, external memory, latent compilation, and recurring parametric 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STC-06
EVIDENCE_STATUS: 근거
TAKEAWAY: 생물학은 operator 후보를 준다—역할표를 복사하라는 뜻은 아니다
VISIBLE_SOURCE: Wilson &amp; McNaughton 1994 · Rasch et al. 2007 · Deperrois et al. 2022
Evidence supports experience-related replay and some causal effects of cueing or rhythm. It does not establish the neat engineering slogan NREM=exact replay and REM=creative adversarial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STC-07
EVIDENCE_STATUS: 근거
TAKEAWAY: 2022 PLOS는 ‘학회’가 아니라 두 과제 SNN 저널 실험이다
VISIBLE_SOURCE: Golden et al. · PLOS Computational Biology 18(11), e1010628 · 2022
Wake uses reward-modulated STDP; sleep disables external input, applies Poisson activation and unsupervised STDP, and moves toward a joint solution. Numbers are source-reported and scoped to the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STC-08
EVIDENCE_STATUS: 근거
TAKEAWAY: PAD는 계산 가설, DANN은 낮은 증거 branch다
VISIBLE_SOURCE: Deperrois et al. · eLife 2022 | Tutuncuoglu · SSRN 2025
PAD gives NREM and REM different objectives in a representation-learning setup. DANN exists as a manuscript record, but the auditable evidence is insufficient for a zero-forgetting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STC-09
EVIDENCE_STATUS: 통합 추론
TAKEAWAY: phase와 기억 위치는 독립 축이다
VISIBLE_SOURCE: MemGPT · Cartridges · SMF · Google Sleep · external-memory audits
A method can run at wake or sleep and write to external, latent, adapter, or shared parameters. Conflating phase with destination creates false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STC-10
EVIDENCE_STATUS: 근거
TAKEAWAY: MemGPT·Letta·Mem0·Zep은 같은 ‘sleep’이 아니다
VISIBLE_SOURCE: Packer et al. 2023 · Lin et al. 2025 · Mem0/Zep audits + current product docs
The slide separates paper, product, and implementation versions. It does not treat all background memory operations as a learned sleep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STC-11
EVIDENCE_STATUS: 근거
TAKEAWAY: Google·Meta·Microsoft는 서로 다른 병목을 공략한다
VISIBLE_SOURCE: Audited public papers and implementations · company-lineage audit
Affiliation labels follow audited public records. The three bands are parallel lineages, not claims about the companies as a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STC-12
EVIDENCE_STATUS: 통합 추론
TAKEAWAY: sleep은 하나의 optimizer가 아니라 operator pipeline이다
VISIBLE_SOURCE: Replay · distillation · dream data · RL · isolation · external compaction
The pipeline makes data selection, transformation, objective, validation, and publication explicit. It permits no-op and rollback.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STC-13
EVIDENCE_STATUS: 제안
TAKEAWAY: 좋은 dream은 미래 query utility를 보존한다
VISIBLE_SOURCE: PAD · Cartridges · SEAL · Google Dreaming · Auto-Dreamer
A sleep-data manifest should make coverage, grounding, anti-collapse mixture, provenance, and future-task holdouts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STC-14
EVIDENCE_STATUS: 통합 추론
TAKEAWAY: external-first, parameter-last는 방어 가능한 default다
VISIBLE_SOURCE: Mem0/Zep · Cartridges · LoRA/SMF · Google Sleep · deletion audits
The default is not a theorem. Promotion requires repeated validated reuse, low volatility, addressability, and a rollback or canonical recovery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STC-15
EVIDENCE_STATUS: 통합 추론
TAKEAWAY: 기억용량은 최소 다섯 개이고 먼저 차는 것이 다르다
VISIBLE_SOURCE: bounded synapses · continual-learning bounds · agent-memory systems
Storage is only one pressure. Retention, addressability, plasticity, governance, and service throughput can bind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STC-16
EVIDENCE_STATUS: 통합 추론
TAKEAWAY: 근거가 사라지면 sleep도 특정 기억을 부활시킬 수 없다
VISIBLE_SOURCE: Data-processing boundary · PLOS failure condition · replay literature
If target information is absent from all retained answer-bearing state and independent of new randomness, later computation cannot reconstruct that specific target without new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STC-17
EVIDENCE_STATUS: 가설
TAKEAWAY: 단일 N^α보다 crossover atlas가 더 가능성 높다
VISIBLE_SOURCE: Scaling-law agenda · all curves schematic / unmeasured
Every curve is a proposal. A relation becomes a law only after held-out prediction, alternative-model competition, and scope-specific claim-down.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STC-18
EVIDENCE_STATUS: 가설
TAKEAWAY: capacity는 ‘최대 몇 개’보다 품질이 꺾이는 경계로 측정한다
VISIBLE_SOURCE: Threshold-anchored logistic candidate · schematic / unmeasured
A knee is reported only when low/high brackets, monotonicity, single crossing, residual checks, and shape-constrained sensitivity agree. Otherwise the result is KNEE_UNIDENTIFIED.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STC-19
EVIDENCE_STATUS: 가설
TAKEAWAY: sleep clock은 정확도보다 queue와 staleness의 공동 문제다
VISIBLE_SOURCE: Cadence and queue candidates · schematic / unmeasured
The analytic optimum is a restricted special case. Bursts, batch economies, deadlines, multiple clocks, and validation work can overturn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STC-20
EVIDENCE_STATUS: 제안
TAKEAWAY: 세 logical plane과 하나의 control plane이 필요하다
VISIBLE_SOURCE: System infrastructure blueprint · no production superiority claim
Logical ownership does not imply three physical clusters. A fleet may be shared or separated, but snapshot, publication, authorization, and deletion boundaries remain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STC-21
EVIDENCE_STATUS: 제안
TAKEAWAY: sleep 완료는 job 종료가 아니라 atomic publication이다
VISIBLE_SOURCE: ServingHead / MVCC / CAS / deletion-epoch design
A sleep job may create text, graph, index, adapter, and policy artifacts. They become visible as one versioned manifest after validation; a partial multi-store update is not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STC-22
EVIDENCE_STATUS: 제안
TAKEAWAY: 297-cell benchmark는 lifecycle 선택을 비교한다
VISIBLE_SOURCE: BENCHMARK-EXPERIMENT-BLUEPRINT · proposed, preregistration-ready / unexecuted
The benchmark is a design, not a result. It uses matched information, native resource envelopes, frozen TRAIN/CALIBRATION/TEST splits, and scored resource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STC-23
EVIDENCE_STATUS: 가설
TAKEAWAY: 리서치의 가치는 답보다 answerable question을 만드는 데 있다
VISIBLE_SOURCE: RQ1–RQ12 answerability matrix · H-STC and X-STC registry
Questions are separated by what literature can answer, what matched experiments require, and what only long deployment can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STC-24
EVIDENCE_STATUS: 제안
TAKEAWAY: 좋은 sleep 연구는 실패했을 때도 무엇을 배웠는지 남긴다
VISIBLE_SOURCE: 31-item scientific red-team audit · claim-down contract
A null or falsified result remains publishable when the benchmark, resource accounting, and negative-result path are frozen before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STC-25
EVIDENCE_STATUS: 제안
TAKEAWAY: 다음 단계는 더 큰 모델이 아니라 더 단단한 lifecycle 실험이다
VISIBLE_SOURCE: Six-stage research agenda · empirical work remains pending
The roadmap preserves negative outcomes and separates local deterministic reproducibility, confirmatory GPU work, dense scaling, systems exploration, and external validity.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STC-26
EVIDENCE_STATUS: 통합 추론
TAKEAWAY: Sleep의 단위는 검증 가능한 기억 lifecycle이다
VISIBLE_SOURCE: Synthesis of the audited corpus and proposed research program
Closing thesis: capture exact evidence at wake, transform against immutable snapshots, route by future value and risk, publish atomically, and preserve deletion and rollback.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STC-27
EVIDENCE_STATUS: 근거
TAKEAWAY: 핵심 1차 문헌 · foundations &amp; direct sleep
VISIBLE_SOURCE: Full linked bibliography: PAPER.md and SLEEP-TIME-COMPUTE-MONOGRAPH-KR.md
Reference slide 1. Full URLs and evidence boundaries are in the English paper and Korean monograph.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SLIDE_ID: STC-28
EVIDENCE_STATUS: 근거
TAKEAWAY: 핵심 1차 문헌 · agent memory, capacity &amp; systems
VISIBLE_SOURCE: 83 linked primary sources in the English paper · 2026-07-25 cutoff
Reference slide 2. This bounded bibliography is not evidence of novelty or non-existence of adjacent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1-status-label"/>
          <p:cNvSpPr/>
          <p:nvPr/>
        </p:nvSpPr>
        <p:spPr>
          <a:xfrm>
            <a:off x="603504" y="51206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3" name="STC-01-status-rule"/>
          <p:cNvSpPr/>
          <p:nvPr/>
        </p:nvSpPr>
        <p:spPr>
          <a:xfrm>
            <a:off x="1536192" y="621792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5" name="STC-01-cover-rule"/>
          <p:cNvSpPr/>
          <p:nvPr/>
        </p:nvSpPr>
        <p:spPr>
          <a:xfrm>
            <a:off x="694944" y="411480"/>
            <a:ext cx="10789920" cy="0"/>
          </a:xfrm>
          <a:prstGeom prst="line">
            <a:avLst/>
          </a:prstGeom>
          <a:noFill/>
          <a:ln w="63500">
            <a:solidFill>
              <a:srgbClr val="17191C"/>
            </a:solidFill>
            <a:prstDash val="solid"/>
            <a:tailEnd type="none"/>
          </a:ln>
        </p:spPr>
      </p:sp>
      <p:sp>
        <p:nvSpPr>
          <p:cNvPr id="6" name="STC-01-cover-title"/>
          <p:cNvSpPr/>
          <p:nvPr/>
        </p:nvSpPr>
        <p:spPr>
          <a:xfrm>
            <a:off x="713232" y="1389888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SLEEP–TIME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COMPUTE</a:t>
            </a:r>
            <a:endParaRPr lang="en-US" sz="4400" dirty="0"/>
          </a:p>
        </p:txBody>
      </p:sp>
      <p:sp>
        <p:nvSpPr>
          <p:cNvPr id="7" name="STC-01-cover-korean"/>
          <p:cNvSpPr/>
          <p:nvPr/>
        </p:nvSpPr>
        <p:spPr>
          <a:xfrm>
            <a:off x="749808" y="33284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6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생애주기의 다음 인프라</a:t>
            </a:r>
            <a:endParaRPr lang="en-US" sz="2400" dirty="0"/>
          </a:p>
        </p:txBody>
      </p:sp>
      <p:sp>
        <p:nvSpPr>
          <p:cNvPr id="8" name="STC-01-cover-subtitle"/>
          <p:cNvSpPr/>
          <p:nvPr/>
        </p:nvSpPr>
        <p:spPr>
          <a:xfrm>
            <a:off x="749808" y="3913632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wake에서 포착하고 · sleep에서 변환하고 · 장기기억에서 검증·검색·삭제한다</a:t>
            </a:r>
            <a:endParaRPr lang="en-US" sz="1800" dirty="0"/>
          </a:p>
        </p:txBody>
      </p:sp>
      <p:sp>
        <p:nvSpPr>
          <p:cNvPr id="9" name="STC-01-cover-field"/>
          <p:cNvSpPr/>
          <p:nvPr/>
        </p:nvSpPr>
        <p:spPr>
          <a:xfrm>
            <a:off x="6437376" y="1225296"/>
            <a:ext cx="4626864" cy="4370832"/>
          </a:xfrm>
          <a:prstGeom prst="rect">
            <a:avLst/>
          </a:prstGeom>
          <a:solidFill>
            <a:srgbClr val="ECE8DE"/>
          </a:solidFill>
          <a:ln w="12700">
            <a:solidFill>
              <a:srgbClr val="ECE8DE"/>
            </a:solidFill>
            <a:prstDash val="solid"/>
          </a:ln>
        </p:spPr>
      </p:sp>
      <p:sp>
        <p:nvSpPr>
          <p:cNvPr id="10" name="STC-01-cover-stage-0"/>
          <p:cNvSpPr/>
          <p:nvPr/>
        </p:nvSpPr>
        <p:spPr>
          <a:xfrm>
            <a:off x="6784848" y="159105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WAKE</a:t>
            </a:r>
            <a:endParaRPr lang="en-US" sz="1300" dirty="0"/>
          </a:p>
        </p:txBody>
      </p:sp>
      <p:sp>
        <p:nvSpPr>
          <p:cNvPr id="11" name="STC-01-cover-arrow-0"/>
          <p:cNvSpPr/>
          <p:nvPr/>
        </p:nvSpPr>
        <p:spPr>
          <a:xfrm>
            <a:off x="8183880" y="1719072"/>
            <a:ext cx="1920240" cy="0"/>
          </a:xfrm>
          <a:prstGeom prst="line">
            <a:avLst/>
          </a:prstGeom>
          <a:noFill/>
          <a:ln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01-cover-stage-1"/>
          <p:cNvSpPr/>
          <p:nvPr/>
        </p:nvSpPr>
        <p:spPr>
          <a:xfrm>
            <a:off x="6784848" y="25328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SNAPSHOT</a:t>
            </a:r>
            <a:endParaRPr lang="en-US" sz="1300" dirty="0"/>
          </a:p>
        </p:txBody>
      </p:sp>
      <p:sp>
        <p:nvSpPr>
          <p:cNvPr id="13" name="STC-01-cover-arrow-1"/>
          <p:cNvSpPr/>
          <p:nvPr/>
        </p:nvSpPr>
        <p:spPr>
          <a:xfrm>
            <a:off x="8183880" y="2660904"/>
            <a:ext cx="1920240" cy="0"/>
          </a:xfrm>
          <a:prstGeom prst="line">
            <a:avLst/>
          </a:prstGeom>
          <a:noFill/>
          <a:ln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01-cover-stage-2"/>
          <p:cNvSpPr/>
          <p:nvPr/>
        </p:nvSpPr>
        <p:spPr>
          <a:xfrm>
            <a:off x="6784848" y="34747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</a:t>
            </a:r>
            <a:endParaRPr lang="en-US" sz="1300" dirty="0"/>
          </a:p>
        </p:txBody>
      </p:sp>
      <p:sp>
        <p:nvSpPr>
          <p:cNvPr id="15" name="STC-01-cover-arrow-2"/>
          <p:cNvSpPr/>
          <p:nvPr/>
        </p:nvSpPr>
        <p:spPr>
          <a:xfrm>
            <a:off x="8183880" y="3602736"/>
            <a:ext cx="1920240" cy="0"/>
          </a:xfrm>
          <a:prstGeom prst="line">
            <a:avLst/>
          </a:prstGeom>
          <a:noFill/>
          <a:ln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01-cover-stage-3"/>
          <p:cNvSpPr/>
          <p:nvPr/>
        </p:nvSpPr>
        <p:spPr>
          <a:xfrm>
            <a:off x="6784848" y="44165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MEMORY</a:t>
            </a:r>
            <a:endParaRPr lang="en-US" sz="1300" dirty="0"/>
          </a:p>
        </p:txBody>
      </p:sp>
      <p:sp>
        <p:nvSpPr>
          <p:cNvPr id="17" name="STC-01-cover-arrow-3"/>
          <p:cNvSpPr/>
          <p:nvPr/>
        </p:nvSpPr>
        <p:spPr>
          <a:xfrm>
            <a:off x="8183880" y="4544568"/>
            <a:ext cx="1920240" cy="0"/>
          </a:xfrm>
          <a:prstGeom prst="line">
            <a:avLst/>
          </a:prstGeom>
          <a:noFill/>
          <a:ln w="16510">
            <a:solidFill>
              <a:srgbClr val="17191C"/>
            </a:solidFill>
            <a:prstDash val="solid"/>
            <a:tailEnd type="none"/>
          </a:ln>
        </p:spPr>
      </p:sp>
      <p:sp>
        <p:nvSpPr>
          <p:cNvPr id="18" name="STC-01-cover-manifest"/>
          <p:cNvSpPr/>
          <p:nvPr/>
        </p:nvSpPr>
        <p:spPr>
          <a:xfrm>
            <a:off x="6784848" y="5175504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 → candidate → verified manifest</a:t>
            </a:r>
            <a:endParaRPr lang="en-US" sz="1300" dirty="0"/>
          </a:p>
        </p:txBody>
      </p:sp>
      <p:sp>
        <p:nvSpPr>
          <p:cNvPr id="19" name="STC-01-cover-type"/>
          <p:cNvSpPr/>
          <p:nvPr/>
        </p:nvSpPr>
        <p:spPr>
          <a:xfrm>
            <a:off x="749808" y="61447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POSITION / REVIEW / RESEARCH AGENDA</a:t>
            </a:r>
            <a:endParaRPr lang="en-US" sz="1000" dirty="0"/>
          </a:p>
        </p:txBody>
      </p:sp>
      <p:sp>
        <p:nvSpPr>
          <p:cNvPr id="20" name="STC-01-cover-date"/>
          <p:cNvSpPr/>
          <p:nvPr/>
        </p:nvSpPr>
        <p:spPr>
          <a:xfrm>
            <a:off x="10003536" y="6144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2026.07.25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2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THESIS</a:t>
            </a:r>
            <a:endParaRPr lang="en-US" sz="950" dirty="0"/>
          </a:p>
        </p:txBody>
      </p:sp>
      <p:sp>
        <p:nvSpPr>
          <p:cNvPr id="3" name="STC-02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STC-02</a:t>
            </a:r>
            <a:endParaRPr lang="en-US" sz="950" dirty="0"/>
          </a:p>
        </p:txBody>
      </p:sp>
      <p:sp>
        <p:nvSpPr>
          <p:cNvPr id="4" name="STC-02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‘자는 모델’이 아니라 기억의 이동 규칙이다</a:t>
            </a:r>
            <a:endParaRPr lang="en-US" sz="3000" dirty="0"/>
          </a:p>
        </p:txBody>
      </p:sp>
      <p:sp>
        <p:nvSpPr>
          <p:cNvPr id="5" name="STC-02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6" name="STC-02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2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2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CLS · continual learning · Letta 2025 · Google Sleep 2026</a:t>
            </a:r>
            <a:endParaRPr lang="en-US" sz="850" dirty="0"/>
          </a:p>
        </p:txBody>
      </p:sp>
      <p:sp>
        <p:nvSpPr>
          <p:cNvPr id="9" name="STC-02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STC-02-when"/>
          <p:cNvSpPr/>
          <p:nvPr/>
        </p:nvSpPr>
        <p:spPr>
          <a:xfrm>
            <a:off x="731520" y="16733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44E8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언제</a:t>
            </a:r>
            <a:endParaRPr lang="en-US" sz="2800" dirty="0"/>
          </a:p>
        </p:txBody>
      </p:sp>
      <p:sp>
        <p:nvSpPr>
          <p:cNvPr id="12" name="STC-02-what"/>
          <p:cNvSpPr/>
          <p:nvPr/>
        </p:nvSpPr>
        <p:spPr>
          <a:xfrm>
            <a:off x="731520" y="27614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무엇을</a:t>
            </a:r>
            <a:endParaRPr lang="en-US" sz="2800" dirty="0"/>
          </a:p>
        </p:txBody>
      </p:sp>
      <p:sp>
        <p:nvSpPr>
          <p:cNvPr id="13" name="STC-02-where"/>
          <p:cNvSpPr/>
          <p:nvPr/>
        </p:nvSpPr>
        <p:spPr>
          <a:xfrm>
            <a:off x="731520" y="38496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6B6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어디로</a:t>
            </a:r>
            <a:endParaRPr lang="en-US" sz="2800" dirty="0"/>
          </a:p>
        </p:txBody>
      </p:sp>
      <p:sp>
        <p:nvSpPr>
          <p:cNvPr id="14" name="STC-02-when-line"/>
          <p:cNvSpPr/>
          <p:nvPr/>
        </p:nvSpPr>
        <p:spPr>
          <a:xfrm>
            <a:off x="2148840" y="1865376"/>
            <a:ext cx="7772400" cy="0"/>
          </a:xfrm>
          <a:prstGeom prst="line">
            <a:avLst/>
          </a:prstGeom>
          <a:noFill/>
          <a:ln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15" name="STC-02-what-line"/>
          <p:cNvSpPr/>
          <p:nvPr/>
        </p:nvSpPr>
        <p:spPr>
          <a:xfrm>
            <a:off x="2148840" y="2953512"/>
            <a:ext cx="7772400" cy="0"/>
          </a:xfrm>
          <a:prstGeom prst="line">
            <a:avLst/>
          </a:prstGeom>
          <a:noFill/>
          <a:ln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16" name="STC-02-where-line"/>
          <p:cNvSpPr/>
          <p:nvPr/>
        </p:nvSpPr>
        <p:spPr>
          <a:xfrm>
            <a:off x="2148840" y="4041648"/>
            <a:ext cx="7772400" cy="0"/>
          </a:xfrm>
          <a:prstGeom prst="line">
            <a:avLst/>
          </a:prstGeom>
          <a:noFill/>
          <a:ln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17" name="STC-02-when-answer"/>
          <p:cNvSpPr/>
          <p:nvPr/>
        </p:nvSpPr>
        <p:spPr>
          <a:xfrm>
            <a:off x="2377440" y="1618488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전  |  wake / test-time  |  delayed sleep</a:t>
            </a:r>
            <a:endParaRPr lang="en-US" sz="2100" dirty="0"/>
          </a:p>
        </p:txBody>
      </p:sp>
      <p:sp>
        <p:nvSpPr>
          <p:cNvPr id="18" name="STC-02-what-answer"/>
          <p:cNvSpPr/>
          <p:nvPr/>
        </p:nvSpPr>
        <p:spPr>
          <a:xfrm>
            <a:off x="2377440" y="270662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replay · distill · dream · merge · verify · forget</a:t>
            </a:r>
            <a:endParaRPr lang="en-US" sz="2100" dirty="0"/>
          </a:p>
        </p:txBody>
      </p:sp>
      <p:sp>
        <p:nvSpPr>
          <p:cNvPr id="19" name="STC-02-where-answer"/>
          <p:cNvSpPr/>
          <p:nvPr/>
        </p:nvSpPr>
        <p:spPr>
          <a:xfrm>
            <a:off x="2377440" y="3794760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text / vector / graph  →  latent / adapter  →  shared weight</a:t>
            </a:r>
            <a:endParaRPr lang="en-US" sz="2100" dirty="0"/>
          </a:p>
        </p:txBody>
      </p:sp>
      <p:sp>
        <p:nvSpPr>
          <p:cNvPr id="20" name="STC-02-thesis-bar"/>
          <p:cNvSpPr/>
          <p:nvPr/>
        </p:nvSpPr>
        <p:spPr>
          <a:xfrm>
            <a:off x="2359152" y="4791456"/>
            <a:ext cx="8174736" cy="731520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21" name="STC-02-thesis-bar-text"/>
          <p:cNvSpPr/>
          <p:nvPr/>
        </p:nvSpPr>
        <p:spPr>
          <a:xfrm>
            <a:off x="2606040" y="50017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이동은 provenance · capacity · rollback · deletion을 함께 가져야 한다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3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3" name="STC-03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STC-03</a:t>
            </a:r>
            <a:endParaRPr lang="en-US" sz="950" dirty="0"/>
          </a:p>
        </p:txBody>
      </p:sp>
      <p:sp>
        <p:nvSpPr>
          <p:cNvPr id="4" name="STC-03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strict sleep은 세 조건을 동시에 만족한다</a:t>
            </a:r>
            <a:endParaRPr lang="en-US" sz="3000" dirty="0"/>
          </a:p>
        </p:txBody>
      </p:sp>
      <p:sp>
        <p:nvSpPr>
          <p:cNvPr id="5" name="STC-03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제안</a:t>
            </a:r>
            <a:endParaRPr lang="en-US" sz="1000" dirty="0"/>
          </a:p>
        </p:txBody>
      </p:sp>
      <p:sp>
        <p:nvSpPr>
          <p:cNvPr id="6" name="STC-03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03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3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Operational definition synthesized from audited literature</a:t>
            </a:r>
            <a:endParaRPr lang="en-US" sz="850" dirty="0"/>
          </a:p>
        </p:txBody>
      </p:sp>
      <p:sp>
        <p:nvSpPr>
          <p:cNvPr id="9" name="STC-03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3</a:t>
            </a:r>
            <a:endParaRPr lang="en-US" sz="850" dirty="0"/>
          </a:p>
        </p:txBody>
      </p:sp>
      <p:sp>
        <p:nvSpPr>
          <p:cNvPr id="11" name="STC-03-def-num-0"/>
          <p:cNvSpPr/>
          <p:nvPr/>
        </p:nvSpPr>
        <p:spPr>
          <a:xfrm>
            <a:off x="841248" y="1874520"/>
            <a:ext cx="566928" cy="566928"/>
          </a:xfrm>
          <a:prstGeom prst="ellipse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2" name="STC-03-def-num-text-0"/>
          <p:cNvSpPr/>
          <p:nvPr/>
        </p:nvSpPr>
        <p:spPr>
          <a:xfrm>
            <a:off x="841248" y="19842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TC-03-def-label-0"/>
          <p:cNvSpPr/>
          <p:nvPr/>
        </p:nvSpPr>
        <p:spPr>
          <a:xfrm>
            <a:off x="1609344" y="1883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CAUSAL BOUNDARY</a:t>
            </a:r>
            <a:endParaRPr lang="en-US" sz="1200" dirty="0"/>
          </a:p>
        </p:txBody>
      </p:sp>
      <p:sp>
        <p:nvSpPr>
          <p:cNvPr id="14" name="STC-03-def-body-0"/>
          <p:cNvSpPr/>
          <p:nvPr/>
        </p:nvSpPr>
        <p:spPr>
          <a:xfrm>
            <a:off x="1609344" y="2267712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사용자 action의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critical path 밖에서 실행</a:t>
            </a:r>
            <a:endParaRPr lang="en-US" sz="1900" dirty="0"/>
          </a:p>
        </p:txBody>
      </p:sp>
      <p:sp>
        <p:nvSpPr>
          <p:cNvPr id="15" name="STC-03-def-link-0"/>
          <p:cNvSpPr/>
          <p:nvPr/>
        </p:nvSpPr>
        <p:spPr>
          <a:xfrm>
            <a:off x="3931920" y="3648456"/>
            <a:ext cx="841248" cy="0"/>
          </a:xfrm>
          <a:prstGeom prst="line">
            <a:avLst/>
          </a:prstGeom>
          <a:noFill/>
          <a:ln w="1651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03-def-num-1"/>
          <p:cNvSpPr/>
          <p:nvPr/>
        </p:nvSpPr>
        <p:spPr>
          <a:xfrm>
            <a:off x="4526280" y="1874520"/>
            <a:ext cx="566928" cy="566928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17" name="STC-03-def-num-text-1"/>
          <p:cNvSpPr/>
          <p:nvPr/>
        </p:nvSpPr>
        <p:spPr>
          <a:xfrm>
            <a:off x="4526280" y="19842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TC-03-def-label-1"/>
          <p:cNvSpPr/>
          <p:nvPr/>
        </p:nvSpPr>
        <p:spPr>
          <a:xfrm>
            <a:off x="5294376" y="1883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LIFETIME INPUT</a:t>
            </a:r>
            <a:endParaRPr lang="en-US" sz="1200" dirty="0"/>
          </a:p>
        </p:txBody>
      </p:sp>
      <p:sp>
        <p:nvSpPr>
          <p:cNvPr id="19" name="STC-03-def-body-1"/>
          <p:cNvSpPr/>
          <p:nvPr/>
        </p:nvSpPr>
        <p:spPr>
          <a:xfrm>
            <a:off x="5294376" y="2267712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 pretraining corpus가 아니라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 wake experience를 변환</a:t>
            </a:r>
            <a:endParaRPr lang="en-US" sz="1900" dirty="0"/>
          </a:p>
        </p:txBody>
      </p:sp>
      <p:sp>
        <p:nvSpPr>
          <p:cNvPr id="20" name="STC-03-def-link-1"/>
          <p:cNvSpPr/>
          <p:nvPr/>
        </p:nvSpPr>
        <p:spPr>
          <a:xfrm>
            <a:off x="7616952" y="3648456"/>
            <a:ext cx="841248" cy="0"/>
          </a:xfrm>
          <a:prstGeom prst="line">
            <a:avLst/>
          </a:prstGeom>
          <a:noFill/>
          <a:ln w="1651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03-def-num-2"/>
          <p:cNvSpPr/>
          <p:nvPr/>
        </p:nvSpPr>
        <p:spPr>
          <a:xfrm>
            <a:off x="8211312" y="1874520"/>
            <a:ext cx="566928" cy="566928"/>
          </a:xfrm>
          <a:prstGeom prst="ellipse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22" name="STC-03-def-num-text-2"/>
          <p:cNvSpPr/>
          <p:nvPr/>
        </p:nvSpPr>
        <p:spPr>
          <a:xfrm>
            <a:off x="8211312" y="19842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TC-03-def-label-2"/>
          <p:cNvSpPr/>
          <p:nvPr/>
        </p:nvSpPr>
        <p:spPr>
          <a:xfrm>
            <a:off x="8979408" y="1883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DURABLE REUSE</a:t>
            </a:r>
            <a:endParaRPr lang="en-US" sz="1200" dirty="0"/>
          </a:p>
        </p:txBody>
      </p:sp>
      <p:sp>
        <p:nvSpPr>
          <p:cNvPr id="24" name="STC-03-def-body-2"/>
          <p:cNvSpPr/>
          <p:nvPr/>
        </p:nvSpPr>
        <p:spPr>
          <a:xfrm>
            <a:off x="8979408" y="2267712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검증된 persistent state를 publish하고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wake가 재사용</a:t>
            </a:r>
            <a:endParaRPr lang="en-US" sz="1900" dirty="0"/>
          </a:p>
        </p:txBody>
      </p:sp>
      <p:sp>
        <p:nvSpPr>
          <p:cNvPr id="25" name="STC-03-def-separator"/>
          <p:cNvSpPr/>
          <p:nvPr/>
        </p:nvSpPr>
        <p:spPr>
          <a:xfrm>
            <a:off x="960120" y="3968496"/>
            <a:ext cx="10149840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none"/>
          </a:ln>
        </p:spPr>
      </p:sp>
      <p:sp>
        <p:nvSpPr>
          <p:cNvPr id="26" name="STC-03-therefore"/>
          <p:cNvSpPr/>
          <p:nvPr/>
        </p:nvSpPr>
        <p:spPr>
          <a:xfrm>
            <a:off x="960120" y="4288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따라서</a:t>
            </a:r>
            <a:endParaRPr lang="en-US" sz="1800" dirty="0"/>
          </a:p>
        </p:txBody>
      </p:sp>
      <p:sp>
        <p:nvSpPr>
          <p:cNvPr id="27" name="STC-03-definition-nonclaims"/>
          <p:cNvSpPr/>
          <p:nvPr/>
        </p:nvSpPr>
        <p:spPr>
          <a:xfrm>
            <a:off x="1874520" y="4224528"/>
            <a:ext cx="9217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online summary ≠ sleep   ·   offline corpus distill ≠ deployed sleep   ·   idle GPU ≠ memory consolidation</a:t>
            </a:r>
            <a:endParaRPr lang="en-US" sz="1800" dirty="0"/>
          </a:p>
        </p:txBody>
      </p:sp>
      <p:sp>
        <p:nvSpPr>
          <p:cNvPr id="28" name="STC-03-definition-bottom"/>
          <p:cNvSpPr/>
          <p:nvPr/>
        </p:nvSpPr>
        <p:spPr>
          <a:xfrm>
            <a:off x="1874520" y="5010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6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정의는 scheduling label과 computational phase를 분리한다.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4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FRAMING</a:t>
            </a:r>
            <a:endParaRPr lang="en-US" sz="950" dirty="0"/>
          </a:p>
        </p:txBody>
      </p:sp>
      <p:sp>
        <p:nvSpPr>
          <p:cNvPr id="3" name="STC-04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STC-04</a:t>
            </a:r>
            <a:endParaRPr lang="en-US" sz="950" dirty="0"/>
          </a:p>
        </p:txBody>
      </p:sp>
      <p:sp>
        <p:nvSpPr>
          <p:cNvPr id="4" name="STC-04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앞으로의 학습은 세 phase와 하나의 memory fabric으로 나뉜다</a:t>
            </a:r>
            <a:endParaRPr lang="en-US" sz="3000" dirty="0"/>
          </a:p>
        </p:txBody>
      </p:sp>
      <p:sp>
        <p:nvSpPr>
          <p:cNvPr id="5" name="STC-04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6" name="STC-04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4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4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 et al. 2020 · Lin et al. 2025 · Behrouz et al. 2026</a:t>
            </a:r>
            <a:endParaRPr lang="en-US" sz="850" dirty="0"/>
          </a:p>
        </p:txBody>
      </p:sp>
      <p:sp>
        <p:nvSpPr>
          <p:cNvPr id="9" name="STC-04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4</a:t>
            </a:r>
            <a:endParaRPr lang="en-US" sz="850" dirty="0"/>
          </a:p>
        </p:txBody>
      </p:sp>
      <p:sp>
        <p:nvSpPr>
          <p:cNvPr id="11" name="STC-04-phase-tag-0"/>
          <p:cNvSpPr/>
          <p:nvPr/>
        </p:nvSpPr>
        <p:spPr>
          <a:xfrm>
            <a:off x="768096" y="1755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PRE</a:t>
            </a:r>
            <a:endParaRPr lang="en-US" sz="1200" dirty="0"/>
          </a:p>
        </p:txBody>
      </p:sp>
      <p:sp>
        <p:nvSpPr>
          <p:cNvPr id="12" name="STC-04-phase-ko-0"/>
          <p:cNvSpPr/>
          <p:nvPr/>
        </p:nvSpPr>
        <p:spPr>
          <a:xfrm>
            <a:off x="768096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배포 전</a:t>
            </a:r>
            <a:endParaRPr lang="en-US" sz="2300" dirty="0"/>
          </a:p>
        </p:txBody>
      </p:sp>
      <p:sp>
        <p:nvSpPr>
          <p:cNvPr id="13" name="STC-04-phase-rule-0"/>
          <p:cNvSpPr/>
          <p:nvPr/>
        </p:nvSpPr>
        <p:spPr>
          <a:xfrm>
            <a:off x="768096" y="2642616"/>
            <a:ext cx="2011680" cy="0"/>
          </a:xfrm>
          <a:prstGeom prst="line">
            <a:avLst/>
          </a:prstGeom>
          <a:noFill/>
          <a:ln w="50800">
            <a:solidFill>
              <a:srgbClr val="59616A"/>
            </a:solidFill>
            <a:prstDash val="solid"/>
            <a:tailEnd type="none"/>
          </a:ln>
        </p:spPr>
      </p:sp>
      <p:sp>
        <p:nvSpPr>
          <p:cNvPr id="14" name="STC-04-phase-body-0"/>
          <p:cNvSpPr/>
          <p:nvPr/>
        </p:nvSpPr>
        <p:spPr>
          <a:xfrm>
            <a:off x="768096" y="2980944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pretrain · post-train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update rule 학습</a:t>
            </a:r>
            <a:endParaRPr lang="en-US" sz="1800" dirty="0"/>
          </a:p>
        </p:txBody>
      </p:sp>
      <p:sp>
        <p:nvSpPr>
          <p:cNvPr id="15" name="STC-04-phase-arrow-0"/>
          <p:cNvSpPr/>
          <p:nvPr/>
        </p:nvSpPr>
        <p:spPr>
          <a:xfrm>
            <a:off x="2962656" y="2743200"/>
            <a:ext cx="475488" cy="0"/>
          </a:xfrm>
          <a:prstGeom prst="line">
            <a:avLst/>
          </a:prstGeom>
          <a:noFill/>
          <a:ln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04-phase-tag-1"/>
          <p:cNvSpPr/>
          <p:nvPr/>
        </p:nvSpPr>
        <p:spPr>
          <a:xfrm>
            <a:off x="3593592" y="1755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WAKE</a:t>
            </a:r>
            <a:endParaRPr lang="en-US" sz="1200" dirty="0"/>
          </a:p>
        </p:txBody>
      </p:sp>
      <p:sp>
        <p:nvSpPr>
          <p:cNvPr id="17" name="STC-04-phase-ko-1"/>
          <p:cNvSpPr/>
          <p:nvPr/>
        </p:nvSpPr>
        <p:spPr>
          <a:xfrm>
            <a:off x="3593592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사용 중</a:t>
            </a:r>
            <a:endParaRPr lang="en-US" sz="2300" dirty="0"/>
          </a:p>
        </p:txBody>
      </p:sp>
      <p:sp>
        <p:nvSpPr>
          <p:cNvPr id="18" name="STC-04-phase-rule-1"/>
          <p:cNvSpPr/>
          <p:nvPr/>
        </p:nvSpPr>
        <p:spPr>
          <a:xfrm>
            <a:off x="3593592" y="2642616"/>
            <a:ext cx="2011680" cy="0"/>
          </a:xfrm>
          <a:prstGeom prst="line">
            <a:avLst/>
          </a:prstGeom>
          <a:noFill/>
          <a:ln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9" name="STC-04-phase-body-1"/>
          <p:cNvSpPr/>
          <p:nvPr/>
        </p:nvSpPr>
        <p:spPr>
          <a:xfrm>
            <a:off x="3593592" y="2980944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infer · retrieve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TTT · capture</a:t>
            </a:r>
            <a:endParaRPr lang="en-US" sz="1800" dirty="0"/>
          </a:p>
        </p:txBody>
      </p:sp>
      <p:sp>
        <p:nvSpPr>
          <p:cNvPr id="20" name="STC-04-phase-arrow-1"/>
          <p:cNvSpPr/>
          <p:nvPr/>
        </p:nvSpPr>
        <p:spPr>
          <a:xfrm>
            <a:off x="5788152" y="2743200"/>
            <a:ext cx="475488" cy="0"/>
          </a:xfrm>
          <a:prstGeom prst="line">
            <a:avLst/>
          </a:prstGeom>
          <a:noFill/>
          <a:ln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1" name="STC-04-phase-tag-2"/>
          <p:cNvSpPr/>
          <p:nvPr/>
        </p:nvSpPr>
        <p:spPr>
          <a:xfrm>
            <a:off x="6419088" y="1755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</a:t>
            </a:r>
            <a:endParaRPr lang="en-US" sz="1200" dirty="0"/>
          </a:p>
        </p:txBody>
      </p:sp>
      <p:sp>
        <p:nvSpPr>
          <p:cNvPr id="22" name="STC-04-phase-ko-2"/>
          <p:cNvSpPr/>
          <p:nvPr/>
        </p:nvSpPr>
        <p:spPr>
          <a:xfrm>
            <a:off x="6419088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휴면 경계</a:t>
            </a:r>
            <a:endParaRPr lang="en-US" sz="2300" dirty="0"/>
          </a:p>
        </p:txBody>
      </p:sp>
      <p:sp>
        <p:nvSpPr>
          <p:cNvPr id="23" name="STC-04-phase-rule-2"/>
          <p:cNvSpPr/>
          <p:nvPr/>
        </p:nvSpPr>
        <p:spPr>
          <a:xfrm>
            <a:off x="6419088" y="2642616"/>
            <a:ext cx="2011680" cy="0"/>
          </a:xfrm>
          <a:prstGeom prst="line">
            <a:avLst/>
          </a:prstGeom>
          <a:noFill/>
          <a:ln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04-phase-body-2"/>
          <p:cNvSpPr/>
          <p:nvPr/>
        </p:nvSpPr>
        <p:spPr>
          <a:xfrm>
            <a:off x="6419088" y="2980944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replay · distill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compact · validate</a:t>
            </a:r>
            <a:endParaRPr lang="en-US" sz="1800" dirty="0"/>
          </a:p>
        </p:txBody>
      </p:sp>
      <p:sp>
        <p:nvSpPr>
          <p:cNvPr id="25" name="STC-04-phase-arrow-2"/>
          <p:cNvSpPr/>
          <p:nvPr/>
        </p:nvSpPr>
        <p:spPr>
          <a:xfrm>
            <a:off x="8613648" y="2743200"/>
            <a:ext cx="475488" cy="0"/>
          </a:xfrm>
          <a:prstGeom prst="line">
            <a:avLst/>
          </a:prstGeom>
          <a:noFill/>
          <a:ln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04-phase-tag-3"/>
          <p:cNvSpPr/>
          <p:nvPr/>
        </p:nvSpPr>
        <p:spPr>
          <a:xfrm>
            <a:off x="9244584" y="1755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MEMORY</a:t>
            </a:r>
            <a:endParaRPr lang="en-US" sz="1200" dirty="0"/>
          </a:p>
        </p:txBody>
      </p:sp>
      <p:sp>
        <p:nvSpPr>
          <p:cNvPr id="27" name="STC-04-phase-ko-3"/>
          <p:cNvSpPr/>
          <p:nvPr/>
        </p:nvSpPr>
        <p:spPr>
          <a:xfrm>
            <a:off x="9244584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지속 상태</a:t>
            </a:r>
            <a:endParaRPr lang="en-US" sz="2300" dirty="0"/>
          </a:p>
        </p:txBody>
      </p:sp>
      <p:sp>
        <p:nvSpPr>
          <p:cNvPr id="28" name="STC-04-phase-rule-3"/>
          <p:cNvSpPr/>
          <p:nvPr/>
        </p:nvSpPr>
        <p:spPr>
          <a:xfrm>
            <a:off x="9244584" y="2642616"/>
            <a:ext cx="2011680" cy="0"/>
          </a:xfrm>
          <a:prstGeom prst="line">
            <a:avLst/>
          </a:prstGeom>
          <a:noFill/>
          <a:ln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9" name="STC-04-phase-body-3"/>
          <p:cNvSpPr/>
          <p:nvPr/>
        </p:nvSpPr>
        <p:spPr>
          <a:xfrm>
            <a:off x="9244584" y="2980944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canonical evidence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views · adapters</a:t>
            </a:r>
            <a:endParaRPr lang="en-US" sz="1800" dirty="0"/>
          </a:p>
        </p:txBody>
      </p:sp>
      <p:sp>
        <p:nvSpPr>
          <p:cNvPr id="30" name="STC-04-phase-invariant"/>
          <p:cNvSpPr/>
          <p:nvPr/>
        </p:nvSpPr>
        <p:spPr>
          <a:xfrm>
            <a:off x="1188720" y="4736592"/>
            <a:ext cx="9811512" cy="603504"/>
          </a:xfrm>
          <a:prstGeom prst="rect">
            <a:avLst/>
          </a:prstGeom>
          <a:solidFill>
            <a:srgbClr val="ECE8DE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31" name="STC-04-phase-invariant-text"/>
          <p:cNvSpPr/>
          <p:nvPr/>
        </p:nvSpPr>
        <p:spPr>
          <a:xfrm>
            <a:off x="1435608" y="4919472"/>
            <a:ext cx="9326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fixed base  +  session/user-local mutable state  +  shared slow state  +  external canonical truth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5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LINEAGE</a:t>
            </a:r>
            <a:endParaRPr lang="en-US" sz="950" dirty="0"/>
          </a:p>
        </p:txBody>
      </p:sp>
      <p:sp>
        <p:nvSpPr>
          <p:cNvPr id="3" name="STC-05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STC-05</a:t>
            </a:r>
            <a:endParaRPr lang="en-US" sz="950" dirty="0"/>
          </a:p>
        </p:txBody>
      </p:sp>
      <p:sp>
        <p:nvSpPr>
          <p:cNvPr id="4" name="STC-05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‘sleep-time’이라는 이름보다 계보가 먼저였다</a:t>
            </a:r>
            <a:endParaRPr lang="en-US" sz="3000" dirty="0"/>
          </a:p>
        </p:txBody>
      </p:sp>
      <p:sp>
        <p:nvSpPr>
          <p:cNvPr id="5" name="STC-05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근거</a:t>
            </a:r>
            <a:endParaRPr lang="en-US" sz="1000" dirty="0"/>
          </a:p>
        </p:txBody>
      </p:sp>
      <p:sp>
        <p:nvSpPr>
          <p:cNvPr id="6" name="STC-05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5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5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Hinton 1995 · Golden 2022 · MemGPT 2023 · Lin 2025 · Google Sleep 2026</a:t>
            </a:r>
            <a:endParaRPr lang="en-US" sz="850" dirty="0"/>
          </a:p>
        </p:txBody>
      </p:sp>
      <p:sp>
        <p:nvSpPr>
          <p:cNvPr id="9" name="STC-05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5</a:t>
            </a:r>
            <a:endParaRPr lang="en-US" sz="850" dirty="0"/>
          </a:p>
        </p:txBody>
      </p:sp>
      <p:sp>
        <p:nvSpPr>
          <p:cNvPr id="11" name="STC-05-timeline"/>
          <p:cNvSpPr/>
          <p:nvPr/>
        </p:nvSpPr>
        <p:spPr>
          <a:xfrm>
            <a:off x="914400" y="3502152"/>
            <a:ext cx="10241280" cy="0"/>
          </a:xfrm>
          <a:prstGeom prst="line">
            <a:avLst/>
          </a:prstGeom>
          <a:noFill/>
          <a:ln w="25400">
            <a:solidFill>
              <a:srgbClr val="17191C"/>
            </a:solidFill>
            <a:prstDash val="solid"/>
            <a:tailEnd type="none"/>
          </a:ln>
        </p:spPr>
      </p:sp>
      <p:sp>
        <p:nvSpPr>
          <p:cNvPr id="12" name="STC-05-event-dot-0"/>
          <p:cNvSpPr/>
          <p:nvPr/>
        </p:nvSpPr>
        <p:spPr>
          <a:xfrm>
            <a:off x="960120" y="3319272"/>
            <a:ext cx="365760" cy="365760"/>
          </a:xfrm>
          <a:prstGeom prst="ellipse">
            <a:avLst/>
          </a:prstGeom>
          <a:solidFill>
            <a:srgbClr val="59616A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3" name="STC-05-event-stem-0"/>
          <p:cNvSpPr/>
          <p:nvPr/>
        </p:nvSpPr>
        <p:spPr>
          <a:xfrm>
            <a:off x="1143000" y="2724912"/>
            <a:ext cx="0" cy="594360"/>
          </a:xfrm>
          <a:prstGeom prst="line">
            <a:avLst/>
          </a:prstGeom>
          <a:noFill/>
          <a:ln w="15240">
            <a:solidFill>
              <a:srgbClr val="59616A"/>
            </a:solidFill>
            <a:prstDash val="solid"/>
            <a:tailEnd type="none"/>
          </a:ln>
        </p:spPr>
      </p:sp>
      <p:sp>
        <p:nvSpPr>
          <p:cNvPr id="14" name="STC-05-event-year-0"/>
          <p:cNvSpPr/>
          <p:nvPr/>
        </p:nvSpPr>
        <p:spPr>
          <a:xfrm>
            <a:off x="822960" y="16642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1995</a:t>
            </a:r>
            <a:endParaRPr lang="en-US" sz="1200" dirty="0"/>
          </a:p>
        </p:txBody>
      </p:sp>
      <p:sp>
        <p:nvSpPr>
          <p:cNvPr id="15" name="STC-05-event-label-0"/>
          <p:cNvSpPr/>
          <p:nvPr/>
        </p:nvSpPr>
        <p:spPr>
          <a:xfrm>
            <a:off x="822960" y="2020824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Wake–Sleep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CLS</a:t>
            </a:r>
            <a:endParaRPr lang="en-US" sz="1700" dirty="0"/>
          </a:p>
        </p:txBody>
      </p:sp>
      <p:sp>
        <p:nvSpPr>
          <p:cNvPr id="16" name="STC-05-event-dot-1"/>
          <p:cNvSpPr/>
          <p:nvPr/>
        </p:nvSpPr>
        <p:spPr>
          <a:xfrm>
            <a:off x="2807208" y="3319272"/>
            <a:ext cx="365760" cy="365760"/>
          </a:xfrm>
          <a:prstGeom prst="ellipse">
            <a:avLst/>
          </a:prstGeom>
          <a:solidFill>
            <a:srgbClr val="244E8A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7" name="STC-05-event-stem-1"/>
          <p:cNvSpPr/>
          <p:nvPr/>
        </p:nvSpPr>
        <p:spPr>
          <a:xfrm>
            <a:off x="2990088" y="3685032"/>
            <a:ext cx="0" cy="384048"/>
          </a:xfrm>
          <a:prstGeom prst="line">
            <a:avLst/>
          </a:prstGeom>
          <a:noFill/>
          <a:ln w="1524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05-event-year-1"/>
          <p:cNvSpPr/>
          <p:nvPr/>
        </p:nvSpPr>
        <p:spPr>
          <a:xfrm>
            <a:off x="2670048" y="4069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2017–20</a:t>
            </a:r>
            <a:endParaRPr lang="en-US" sz="1200" dirty="0"/>
          </a:p>
        </p:txBody>
      </p:sp>
      <p:sp>
        <p:nvSpPr>
          <p:cNvPr id="19" name="STC-05-event-label-1"/>
          <p:cNvSpPr/>
          <p:nvPr/>
        </p:nvSpPr>
        <p:spPr>
          <a:xfrm>
            <a:off x="2670048" y="4425696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replay · EWC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TTT</a:t>
            </a:r>
            <a:endParaRPr lang="en-US" sz="1700" dirty="0"/>
          </a:p>
        </p:txBody>
      </p:sp>
      <p:sp>
        <p:nvSpPr>
          <p:cNvPr id="20" name="STC-05-event-dot-2"/>
          <p:cNvSpPr/>
          <p:nvPr/>
        </p:nvSpPr>
        <p:spPr>
          <a:xfrm>
            <a:off x="4663440" y="3319272"/>
            <a:ext cx="365760" cy="365760"/>
          </a:xfrm>
          <a:prstGeom prst="ellipse">
            <a:avLst/>
          </a:prstGeom>
          <a:solidFill>
            <a:srgbClr val="9A442D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1" name="STC-05-event-stem-2"/>
          <p:cNvSpPr/>
          <p:nvPr/>
        </p:nvSpPr>
        <p:spPr>
          <a:xfrm>
            <a:off x="4846320" y="2724912"/>
            <a:ext cx="0" cy="594360"/>
          </a:xfrm>
          <a:prstGeom prst="line">
            <a:avLst/>
          </a:prstGeom>
          <a:noFill/>
          <a:ln w="15240">
            <a:solidFill>
              <a:srgbClr val="9A442D"/>
            </a:solidFill>
            <a:prstDash val="solid"/>
            <a:tailEnd type="none"/>
          </a:ln>
        </p:spPr>
      </p:sp>
      <p:sp>
        <p:nvSpPr>
          <p:cNvPr id="22" name="STC-05-event-year-2"/>
          <p:cNvSpPr/>
          <p:nvPr/>
        </p:nvSpPr>
        <p:spPr>
          <a:xfrm>
            <a:off x="4526280" y="16642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2022</a:t>
            </a:r>
            <a:endParaRPr lang="en-US" sz="1200" dirty="0"/>
          </a:p>
        </p:txBody>
      </p:sp>
      <p:sp>
        <p:nvSpPr>
          <p:cNvPr id="23" name="STC-05-event-label-2"/>
          <p:cNvSpPr/>
          <p:nvPr/>
        </p:nvSpPr>
        <p:spPr>
          <a:xfrm>
            <a:off x="4526280" y="2020824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PLOS SNN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PAD / replay</a:t>
            </a:r>
            <a:endParaRPr lang="en-US" sz="1700" dirty="0"/>
          </a:p>
        </p:txBody>
      </p:sp>
      <p:sp>
        <p:nvSpPr>
          <p:cNvPr id="24" name="STC-05-event-dot-3"/>
          <p:cNvSpPr/>
          <p:nvPr/>
        </p:nvSpPr>
        <p:spPr>
          <a:xfrm>
            <a:off x="6510528" y="3319272"/>
            <a:ext cx="365760" cy="365760"/>
          </a:xfrm>
          <a:prstGeom prst="ellipse">
            <a:avLst/>
          </a:prstGeom>
          <a:solidFill>
            <a:srgbClr val="2F6B63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5" name="STC-05-event-stem-3"/>
          <p:cNvSpPr/>
          <p:nvPr/>
        </p:nvSpPr>
        <p:spPr>
          <a:xfrm>
            <a:off x="6693408" y="3685032"/>
            <a:ext cx="0" cy="384048"/>
          </a:xfrm>
          <a:prstGeom prst="line">
            <a:avLst/>
          </a:prstGeom>
          <a:noFill/>
          <a:ln w="15240">
            <a:solidFill>
              <a:srgbClr val="2F6B63"/>
            </a:solidFill>
            <a:prstDash val="solid"/>
            <a:tailEnd type="none"/>
          </a:ln>
        </p:spPr>
      </p:sp>
      <p:sp>
        <p:nvSpPr>
          <p:cNvPr id="26" name="STC-05-event-year-3"/>
          <p:cNvSpPr/>
          <p:nvPr/>
        </p:nvSpPr>
        <p:spPr>
          <a:xfrm>
            <a:off x="6373368" y="4069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2023–24</a:t>
            </a:r>
            <a:endParaRPr lang="en-US" sz="1200" dirty="0"/>
          </a:p>
        </p:txBody>
      </p:sp>
      <p:sp>
        <p:nvSpPr>
          <p:cNvPr id="27" name="STC-05-event-label-3"/>
          <p:cNvSpPr/>
          <p:nvPr/>
        </p:nvSpPr>
        <p:spPr>
          <a:xfrm>
            <a:off x="6373368" y="4425696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MemGPT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latent memory</a:t>
            </a:r>
            <a:endParaRPr lang="en-US" sz="1700" dirty="0"/>
          </a:p>
        </p:txBody>
      </p:sp>
      <p:sp>
        <p:nvSpPr>
          <p:cNvPr id="28" name="STC-05-event-dot-4"/>
          <p:cNvSpPr/>
          <p:nvPr/>
        </p:nvSpPr>
        <p:spPr>
          <a:xfrm>
            <a:off x="8366760" y="3319272"/>
            <a:ext cx="365760" cy="365760"/>
          </a:xfrm>
          <a:prstGeom prst="ellipse">
            <a:avLst/>
          </a:prstGeom>
          <a:solidFill>
            <a:srgbClr val="244E8A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9" name="STC-05-event-stem-4"/>
          <p:cNvSpPr/>
          <p:nvPr/>
        </p:nvSpPr>
        <p:spPr>
          <a:xfrm>
            <a:off x="8549640" y="2724912"/>
            <a:ext cx="0" cy="594360"/>
          </a:xfrm>
          <a:prstGeom prst="line">
            <a:avLst/>
          </a:prstGeom>
          <a:noFill/>
          <a:ln w="15240">
            <a:solidFill>
              <a:srgbClr val="244E8A"/>
            </a:solidFill>
            <a:prstDash val="solid"/>
            <a:tailEnd type="none"/>
          </a:ln>
        </p:spPr>
      </p:sp>
      <p:sp>
        <p:nvSpPr>
          <p:cNvPr id="30" name="STC-05-event-year-4"/>
          <p:cNvSpPr/>
          <p:nvPr/>
        </p:nvSpPr>
        <p:spPr>
          <a:xfrm>
            <a:off x="8229600" y="16642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2025</a:t>
            </a:r>
            <a:endParaRPr lang="en-US" sz="1200" dirty="0"/>
          </a:p>
        </p:txBody>
      </p:sp>
      <p:sp>
        <p:nvSpPr>
          <p:cNvPr id="31" name="STC-05-event-label-4"/>
          <p:cNvSpPr/>
          <p:nvPr/>
        </p:nvSpPr>
        <p:spPr>
          <a:xfrm>
            <a:off x="8229600" y="2020824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Sleep-time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Letta · SMF</a:t>
            </a:r>
            <a:endParaRPr lang="en-US" sz="1700" dirty="0"/>
          </a:p>
        </p:txBody>
      </p:sp>
      <p:sp>
        <p:nvSpPr>
          <p:cNvPr id="32" name="STC-05-event-dot-5"/>
          <p:cNvSpPr/>
          <p:nvPr/>
        </p:nvSpPr>
        <p:spPr>
          <a:xfrm>
            <a:off x="10222992" y="3319272"/>
            <a:ext cx="365760" cy="365760"/>
          </a:xfrm>
          <a:prstGeom prst="ellipse">
            <a:avLst/>
          </a:prstGeom>
          <a:solidFill>
            <a:srgbClr val="9A442D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33" name="STC-05-event-stem-5"/>
          <p:cNvSpPr/>
          <p:nvPr/>
        </p:nvSpPr>
        <p:spPr>
          <a:xfrm>
            <a:off x="10405872" y="3685032"/>
            <a:ext cx="0" cy="384048"/>
          </a:xfrm>
          <a:prstGeom prst="line">
            <a:avLst/>
          </a:prstGeom>
          <a:noFill/>
          <a:ln w="15240">
            <a:solidFill>
              <a:srgbClr val="9A442D"/>
            </a:solidFill>
            <a:prstDash val="solid"/>
            <a:tailEnd type="none"/>
          </a:ln>
        </p:spPr>
      </p:sp>
      <p:sp>
        <p:nvSpPr>
          <p:cNvPr id="34" name="STC-05-event-year-5"/>
          <p:cNvSpPr/>
          <p:nvPr/>
        </p:nvSpPr>
        <p:spPr>
          <a:xfrm>
            <a:off x="10085832" y="4069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2026</a:t>
            </a:r>
            <a:endParaRPr lang="en-US" sz="1200" dirty="0"/>
          </a:p>
        </p:txBody>
      </p:sp>
      <p:sp>
        <p:nvSpPr>
          <p:cNvPr id="35" name="STC-05-event-label-5"/>
          <p:cNvSpPr/>
          <p:nvPr/>
        </p:nvSpPr>
        <p:spPr>
          <a:xfrm>
            <a:off x="10085832" y="4425696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fast→slow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parametric sleep</a:t>
            </a:r>
            <a:endParaRPr lang="en-US" sz="1700" dirty="0"/>
          </a:p>
        </p:txBody>
      </p:sp>
      <p:sp>
        <p:nvSpPr>
          <p:cNvPr id="36" name="STC-05-chrono-warning"/>
          <p:cNvSpPr/>
          <p:nvPr/>
        </p:nvSpPr>
        <p:spPr>
          <a:xfrm>
            <a:off x="896112" y="53218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직선적 진보가 아니다</a:t>
            </a:r>
            <a:endParaRPr lang="en-US" sz="1800" dirty="0"/>
          </a:p>
        </p:txBody>
      </p:sp>
      <p:sp>
        <p:nvSpPr>
          <p:cNvPr id="37" name="STC-05-chrono-warning-text"/>
          <p:cNvSpPr/>
          <p:nvPr/>
        </p:nvSpPr>
        <p:spPr>
          <a:xfrm>
            <a:off x="2944368" y="5266944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online replay · query-time compilation · external lifecycle · parametric consolidation은 timing과 destination이 다르다.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6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BIOLOGY</a:t>
            </a:r>
            <a:endParaRPr lang="en-US" sz="950" dirty="0"/>
          </a:p>
        </p:txBody>
      </p:sp>
      <p:sp>
        <p:nvSpPr>
          <p:cNvPr id="3" name="STC-06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STC-06</a:t>
            </a:r>
            <a:endParaRPr lang="en-US" sz="950" dirty="0"/>
          </a:p>
        </p:txBody>
      </p:sp>
      <p:sp>
        <p:nvSpPr>
          <p:cNvPr id="4" name="STC-06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생물학은 operator 후보를 준다—역할표를 복사하라는 뜻은 아니다</a:t>
            </a:r>
            <a:endParaRPr lang="en-US" sz="3000" dirty="0"/>
          </a:p>
        </p:txBody>
      </p:sp>
      <p:sp>
        <p:nvSpPr>
          <p:cNvPr id="5" name="STC-06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근거</a:t>
            </a:r>
            <a:endParaRPr lang="en-US" sz="1000" dirty="0"/>
          </a:p>
        </p:txBody>
      </p:sp>
      <p:sp>
        <p:nvSpPr>
          <p:cNvPr id="6" name="STC-06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6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6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Wilson &amp; McNaughton 1994 · Rasch et al. 2007 · Deperrois et al. 2022</a:t>
            </a:r>
            <a:endParaRPr lang="en-US" sz="850" dirty="0"/>
          </a:p>
        </p:txBody>
      </p:sp>
      <p:sp>
        <p:nvSpPr>
          <p:cNvPr id="9" name="STC-06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6</a:t>
            </a:r>
            <a:endParaRPr lang="en-US" sz="850" dirty="0"/>
          </a:p>
        </p:txBody>
      </p:sp>
      <p:sp>
        <p:nvSpPr>
          <p:cNvPr id="11" name="STC-06-bio-left-fill"/>
          <p:cNvSpPr/>
          <p:nvPr/>
        </p:nvSpPr>
        <p:spPr>
          <a:xfrm>
            <a:off x="804672" y="1627632"/>
            <a:ext cx="4892040" cy="347472"/>
          </a:xfrm>
          <a:prstGeom prst="rect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2" name="STC-06-bio-left-text"/>
          <p:cNvSpPr/>
          <p:nvPr/>
        </p:nvSpPr>
        <p:spPr>
          <a:xfrm>
            <a:off x="914400" y="1700784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전이 가능한 근거</a:t>
            </a:r>
            <a:endParaRPr lang="en-US" sz="1300" dirty="0"/>
          </a:p>
        </p:txBody>
      </p:sp>
      <p:sp>
        <p:nvSpPr>
          <p:cNvPr id="13" name="STC-06-bio-right-fill"/>
          <p:cNvSpPr/>
          <p:nvPr/>
        </p:nvSpPr>
        <p:spPr>
          <a:xfrm>
            <a:off x="6473952" y="1627632"/>
            <a:ext cx="4892040" cy="347472"/>
          </a:xfrm>
          <a:prstGeom prst="rect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14" name="STC-06-bio-right-text"/>
          <p:cNvSpPr/>
          <p:nvPr/>
        </p:nvSpPr>
        <p:spPr>
          <a:xfrm>
            <a:off x="6583680" y="1700784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전이하면 안 되는 비약</a:t>
            </a:r>
            <a:endParaRPr lang="en-US" sz="1300" dirty="0"/>
          </a:p>
        </p:txBody>
      </p:sp>
      <p:sp>
        <p:nvSpPr>
          <p:cNvPr id="15" name="STC-06-bio-evidence-dot-0"/>
          <p:cNvSpPr/>
          <p:nvPr/>
        </p:nvSpPr>
        <p:spPr>
          <a:xfrm>
            <a:off x="950976" y="2377440"/>
            <a:ext cx="82296" cy="82296"/>
          </a:xfrm>
          <a:prstGeom prst="ellipse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6" name="STC-06-bio-evidence-item-0"/>
          <p:cNvSpPr/>
          <p:nvPr/>
        </p:nvSpPr>
        <p:spPr>
          <a:xfrm>
            <a:off x="1179576" y="2267712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 관련 activity의 sleep replay</a:t>
            </a:r>
            <a:endParaRPr lang="en-US" sz="1800" dirty="0"/>
          </a:p>
        </p:txBody>
      </p:sp>
      <p:sp>
        <p:nvSpPr>
          <p:cNvPr id="17" name="STC-06-bio-evidence-dot-1"/>
          <p:cNvSpPr/>
          <p:nvPr/>
        </p:nvSpPr>
        <p:spPr>
          <a:xfrm>
            <a:off x="950976" y="3090672"/>
            <a:ext cx="82296" cy="82296"/>
          </a:xfrm>
          <a:prstGeom prst="ellipse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8" name="STC-06-bio-evidence-item-1"/>
          <p:cNvSpPr/>
          <p:nvPr/>
        </p:nvSpPr>
        <p:spPr>
          <a:xfrm>
            <a:off x="1179576" y="2980944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cue·rhythm 조작이 다음날 recall을 변화</a:t>
            </a:r>
            <a:endParaRPr lang="en-US" sz="1800" dirty="0"/>
          </a:p>
        </p:txBody>
      </p:sp>
      <p:sp>
        <p:nvSpPr>
          <p:cNvPr id="19" name="STC-06-bio-evidence-dot-2"/>
          <p:cNvSpPr/>
          <p:nvPr/>
        </p:nvSpPr>
        <p:spPr>
          <a:xfrm>
            <a:off x="950976" y="3803904"/>
            <a:ext cx="82296" cy="82296"/>
          </a:xfrm>
          <a:prstGeom prst="ellipse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20" name="STC-06-bio-evidence-item-2"/>
          <p:cNvSpPr/>
          <p:nvPr/>
        </p:nvSpPr>
        <p:spPr>
          <a:xfrm>
            <a:off x="1179576" y="3694176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 episodic ↔ slow structured system</a:t>
            </a:r>
            <a:endParaRPr lang="en-US" sz="1800" dirty="0"/>
          </a:p>
        </p:txBody>
      </p:sp>
      <p:sp>
        <p:nvSpPr>
          <p:cNvPr id="21" name="STC-06-bio-evidence-dot-3"/>
          <p:cNvSpPr/>
          <p:nvPr/>
        </p:nvSpPr>
        <p:spPr>
          <a:xfrm>
            <a:off x="950976" y="4517136"/>
            <a:ext cx="82296" cy="82296"/>
          </a:xfrm>
          <a:prstGeom prst="ellipse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22" name="STC-06-bio-evidence-item-3"/>
          <p:cNvSpPr/>
          <p:nvPr/>
        </p:nvSpPr>
        <p:spPr>
          <a:xfrm>
            <a:off x="1179576" y="4407408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replay·downscaling·recombination 후보</a:t>
            </a:r>
            <a:endParaRPr lang="en-US" sz="1800" dirty="0"/>
          </a:p>
        </p:txBody>
      </p:sp>
      <p:sp>
        <p:nvSpPr>
          <p:cNvPr id="23" name="STC-06-bio-nonclaim-dot-0"/>
          <p:cNvSpPr/>
          <p:nvPr/>
        </p:nvSpPr>
        <p:spPr>
          <a:xfrm>
            <a:off x="6620256" y="2377440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4" name="STC-06-bio-nonclaim-item-0"/>
          <p:cNvSpPr/>
          <p:nvPr/>
        </p:nvSpPr>
        <p:spPr>
          <a:xfrm>
            <a:off x="6848856" y="2267712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hippocampus→cortex ‘파일 이동’</a:t>
            </a:r>
            <a:endParaRPr lang="en-US" sz="1800" dirty="0"/>
          </a:p>
        </p:txBody>
      </p:sp>
      <p:sp>
        <p:nvSpPr>
          <p:cNvPr id="25" name="STC-06-bio-nonclaim-dot-1"/>
          <p:cNvSpPr/>
          <p:nvPr/>
        </p:nvSpPr>
        <p:spPr>
          <a:xfrm>
            <a:off x="6620256" y="3090672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6" name="STC-06-bio-nonclaim-item-1"/>
          <p:cNvSpPr/>
          <p:nvPr/>
        </p:nvSpPr>
        <p:spPr>
          <a:xfrm>
            <a:off x="6848856" y="2980944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NREM=정답 replay / REM=창의성의 확정</a:t>
            </a:r>
            <a:endParaRPr lang="en-US" sz="1800" dirty="0"/>
          </a:p>
        </p:txBody>
      </p:sp>
      <p:sp>
        <p:nvSpPr>
          <p:cNvPr id="27" name="STC-06-bio-nonclaim-dot-2"/>
          <p:cNvSpPr/>
          <p:nvPr/>
        </p:nvSpPr>
        <p:spPr>
          <a:xfrm>
            <a:off x="6620256" y="3803904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8" name="STC-06-bio-nonclaim-item-2"/>
          <p:cNvSpPr/>
          <p:nvPr/>
        </p:nvSpPr>
        <p:spPr>
          <a:xfrm>
            <a:off x="6848856" y="3694176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동물 결과를 LLM lifetime law로 일반화</a:t>
            </a:r>
            <a:endParaRPr lang="en-US" sz="1800" dirty="0"/>
          </a:p>
        </p:txBody>
      </p:sp>
      <p:sp>
        <p:nvSpPr>
          <p:cNvPr id="29" name="STC-06-bio-nonclaim-dot-3"/>
          <p:cNvSpPr/>
          <p:nvPr/>
        </p:nvSpPr>
        <p:spPr>
          <a:xfrm>
            <a:off x="6620256" y="4517136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30" name="STC-06-bio-nonclaim-item-3"/>
          <p:cNvSpPr/>
          <p:nvPr/>
        </p:nvSpPr>
        <p:spPr>
          <a:xfrm>
            <a:off x="6848856" y="4407408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sleep이면 이미 지워진 정보도 복원</a:t>
            </a:r>
            <a:endParaRPr lang="en-US" sz="1800" dirty="0"/>
          </a:p>
        </p:txBody>
      </p:sp>
      <p:sp>
        <p:nvSpPr>
          <p:cNvPr id="31" name="STC-06-bio-divider"/>
          <p:cNvSpPr/>
          <p:nvPr/>
        </p:nvSpPr>
        <p:spPr>
          <a:xfrm>
            <a:off x="6089904" y="1682496"/>
            <a:ext cx="0" cy="4133088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2" name="STC-06-bio-rule-label"/>
          <p:cNvSpPr/>
          <p:nvPr/>
        </p:nvSpPr>
        <p:spPr>
          <a:xfrm>
            <a:off x="4526280" y="544068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ENGINEERING RULE</a:t>
            </a:r>
            <a:endParaRPr lang="en-US" sz="1000" dirty="0"/>
          </a:p>
        </p:txBody>
      </p:sp>
      <p:sp>
        <p:nvSpPr>
          <p:cNvPr id="33" name="STC-06-bio-rule"/>
          <p:cNvSpPr/>
          <p:nvPr/>
        </p:nvSpPr>
        <p:spPr>
          <a:xfrm>
            <a:off x="1975104" y="5715000"/>
            <a:ext cx="8266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 이름보다 data · objective · publication · later reuse를 기록한다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7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DIRECT EVIDENCE</a:t>
            </a:r>
            <a:endParaRPr lang="en-US" sz="950" dirty="0"/>
          </a:p>
        </p:txBody>
      </p:sp>
      <p:sp>
        <p:nvSpPr>
          <p:cNvPr id="3" name="STC-07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STC-07</a:t>
            </a:r>
            <a:endParaRPr lang="en-US" sz="950" dirty="0"/>
          </a:p>
        </p:txBody>
      </p:sp>
      <p:sp>
        <p:nvSpPr>
          <p:cNvPr id="4" name="STC-07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2022 PLOS는 ‘학회’가 아니라 두 과제 SNN 저널 실험이다</a:t>
            </a:r>
            <a:endParaRPr lang="en-US" sz="3000" dirty="0"/>
          </a:p>
        </p:txBody>
      </p:sp>
      <p:sp>
        <p:nvSpPr>
          <p:cNvPr id="5" name="STC-07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근거</a:t>
            </a:r>
            <a:endParaRPr lang="en-US" sz="1000" dirty="0"/>
          </a:p>
        </p:txBody>
      </p:sp>
      <p:sp>
        <p:nvSpPr>
          <p:cNvPr id="6" name="STC-07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7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7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Golden et al. · PLOS Computational Biology 18(11), e1010628 · 2022</a:t>
            </a:r>
            <a:endParaRPr lang="en-US" sz="850" dirty="0"/>
          </a:p>
        </p:txBody>
      </p:sp>
      <p:sp>
        <p:nvSpPr>
          <p:cNvPr id="9" name="STC-07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7</a:t>
            </a:r>
            <a:endParaRPr lang="en-US" sz="850" dirty="0"/>
          </a:p>
        </p:txBody>
      </p:sp>
      <p:sp>
        <p:nvSpPr>
          <p:cNvPr id="11" name="STC-07-plos-tag-0"/>
          <p:cNvSpPr/>
          <p:nvPr/>
        </p:nvSpPr>
        <p:spPr>
          <a:xfrm>
            <a:off x="841248" y="17647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WAKE 1</a:t>
            </a:r>
            <a:endParaRPr lang="en-US" sz="1050" dirty="0"/>
          </a:p>
        </p:txBody>
      </p:sp>
      <p:sp>
        <p:nvSpPr>
          <p:cNvPr id="12" name="STC-07-plos-node-0"/>
          <p:cNvSpPr/>
          <p:nvPr/>
        </p:nvSpPr>
        <p:spPr>
          <a:xfrm>
            <a:off x="841248" y="2084832"/>
            <a:ext cx="1737360" cy="1143000"/>
          </a:xfrm>
          <a:prstGeom prst="rect">
            <a:avLst/>
          </a:prstGeom>
          <a:solidFill>
            <a:srgbClr val="DDE6F2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3" name="STC-07-plos-body-0"/>
          <p:cNvSpPr/>
          <p:nvPr/>
        </p:nvSpPr>
        <p:spPr>
          <a:xfrm>
            <a:off x="978408" y="23500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Task 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reward-STDP</a:t>
            </a:r>
            <a:endParaRPr lang="en-US" sz="1700" dirty="0"/>
          </a:p>
        </p:txBody>
      </p:sp>
      <p:sp>
        <p:nvSpPr>
          <p:cNvPr id="14" name="STC-07-plos-arrow-0"/>
          <p:cNvSpPr/>
          <p:nvPr/>
        </p:nvSpPr>
        <p:spPr>
          <a:xfrm>
            <a:off x="2642616" y="2651760"/>
            <a:ext cx="868680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07-plos-tag-1"/>
          <p:cNvSpPr/>
          <p:nvPr/>
        </p:nvSpPr>
        <p:spPr>
          <a:xfrm>
            <a:off x="3017520" y="17647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WAKE 2</a:t>
            </a:r>
            <a:endParaRPr lang="en-US" sz="1050" dirty="0"/>
          </a:p>
        </p:txBody>
      </p:sp>
      <p:sp>
        <p:nvSpPr>
          <p:cNvPr id="16" name="STC-07-plos-node-1"/>
          <p:cNvSpPr/>
          <p:nvPr/>
        </p:nvSpPr>
        <p:spPr>
          <a:xfrm>
            <a:off x="3017520" y="2084832"/>
            <a:ext cx="1737360" cy="1143000"/>
          </a:xfrm>
          <a:prstGeom prst="rect">
            <a:avLst/>
          </a:prstGeom>
          <a:solidFill>
            <a:srgbClr val="F0DED7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17" name="STC-07-plos-body-1"/>
          <p:cNvSpPr/>
          <p:nvPr/>
        </p:nvSpPr>
        <p:spPr>
          <a:xfrm>
            <a:off x="3154680" y="23500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Task 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interference</a:t>
            </a:r>
            <a:endParaRPr lang="en-US" sz="1700" dirty="0"/>
          </a:p>
        </p:txBody>
      </p:sp>
      <p:sp>
        <p:nvSpPr>
          <p:cNvPr id="18" name="STC-07-plos-arrow-1"/>
          <p:cNvSpPr/>
          <p:nvPr/>
        </p:nvSpPr>
        <p:spPr>
          <a:xfrm>
            <a:off x="4818888" y="2651760"/>
            <a:ext cx="868680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07-plos-tag-2"/>
          <p:cNvSpPr/>
          <p:nvPr/>
        </p:nvSpPr>
        <p:spPr>
          <a:xfrm>
            <a:off x="5193792" y="17647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</a:t>
            </a:r>
            <a:endParaRPr lang="en-US" sz="1050" dirty="0"/>
          </a:p>
        </p:txBody>
      </p:sp>
      <p:sp>
        <p:nvSpPr>
          <p:cNvPr id="20" name="STC-07-plos-node-2"/>
          <p:cNvSpPr/>
          <p:nvPr/>
        </p:nvSpPr>
        <p:spPr>
          <a:xfrm>
            <a:off x="5193792" y="2084832"/>
            <a:ext cx="1737360" cy="1143000"/>
          </a:xfrm>
          <a:prstGeom prst="rect">
            <a:avLst/>
          </a:prstGeom>
          <a:solidFill>
            <a:srgbClr val="DDE9E4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21" name="STC-07-plos-body-2"/>
          <p:cNvSpPr/>
          <p:nvPr/>
        </p:nvSpPr>
        <p:spPr>
          <a:xfrm>
            <a:off x="5330952" y="23500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Poisson activation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unsupervised STDP</a:t>
            </a:r>
            <a:endParaRPr lang="en-US" sz="1700" dirty="0"/>
          </a:p>
        </p:txBody>
      </p:sp>
      <p:sp>
        <p:nvSpPr>
          <p:cNvPr id="22" name="STC-07-plos-arrow-2"/>
          <p:cNvSpPr/>
          <p:nvPr/>
        </p:nvSpPr>
        <p:spPr>
          <a:xfrm>
            <a:off x="6995160" y="2651760"/>
            <a:ext cx="868680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07-plos-tag-3"/>
          <p:cNvSpPr/>
          <p:nvPr/>
        </p:nvSpPr>
        <p:spPr>
          <a:xfrm>
            <a:off x="7818120" y="17647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LATER WAKE</a:t>
            </a:r>
            <a:endParaRPr lang="en-US" sz="1050" dirty="0"/>
          </a:p>
        </p:txBody>
      </p:sp>
      <p:sp>
        <p:nvSpPr>
          <p:cNvPr id="24" name="STC-07-plos-node-3"/>
          <p:cNvSpPr/>
          <p:nvPr/>
        </p:nvSpPr>
        <p:spPr>
          <a:xfrm>
            <a:off x="7818120" y="2084832"/>
            <a:ext cx="1737360" cy="1143000"/>
          </a:xfrm>
          <a:prstGeom prst="rect">
            <a:avLst/>
          </a:prstGeom>
          <a:solidFill>
            <a:srgbClr val="DDE6F2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25" name="STC-07-plos-body-3"/>
          <p:cNvSpPr/>
          <p:nvPr/>
        </p:nvSpPr>
        <p:spPr>
          <a:xfrm>
            <a:off x="7955280" y="23500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joint weight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representation</a:t>
            </a:r>
            <a:endParaRPr lang="en-US" sz="1700" dirty="0"/>
          </a:p>
        </p:txBody>
      </p:sp>
      <p:sp>
        <p:nvSpPr>
          <p:cNvPr id="26" name="STC-07-plos-number-field"/>
          <p:cNvSpPr/>
          <p:nvPr/>
        </p:nvSpPr>
        <p:spPr>
          <a:xfrm>
            <a:off x="10012680" y="1664208"/>
            <a:ext cx="1325880" cy="2011680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27" name="STC-07-plos-842"/>
          <p:cNvSpPr/>
          <p:nvPr/>
        </p:nvSpPr>
        <p:spPr>
          <a:xfrm>
            <a:off x="10131552" y="19385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842</a:t>
            </a:r>
            <a:endParaRPr lang="en-US" sz="3200" dirty="0"/>
          </a:p>
        </p:txBody>
      </p:sp>
      <p:sp>
        <p:nvSpPr>
          <p:cNvPr id="28" name="STC-07-plos-scope"/>
          <p:cNvSpPr/>
          <p:nvPr/>
        </p:nvSpPr>
        <p:spPr>
          <a:xfrm>
            <a:off x="10131552" y="2578608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neurons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tasks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≥10 inits</a:t>
            </a:r>
            <a:endParaRPr lang="en-US" sz="1300" dirty="0"/>
          </a:p>
        </p:txBody>
      </p:sp>
      <p:sp>
        <p:nvSpPr>
          <p:cNvPr id="29" name="STC-07-plos-seq-label"/>
          <p:cNvSpPr/>
          <p:nvPr/>
        </p:nvSpPr>
        <p:spPr>
          <a:xfrm>
            <a:off x="914400" y="41422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44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순차 학습</a:t>
            </a:r>
            <a:endParaRPr lang="en-US" sz="1300" dirty="0"/>
          </a:p>
        </p:txBody>
      </p:sp>
      <p:sp>
        <p:nvSpPr>
          <p:cNvPr id="30" name="STC-07-plos-seq-num"/>
          <p:cNvSpPr/>
          <p:nvPr/>
        </p:nvSpPr>
        <p:spPr>
          <a:xfrm>
            <a:off x="2148840" y="40782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91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Task 1  0.52±0.02</a:t>
            </a:r>
            <a:endParaRPr lang="en-US" sz="1600" dirty="0"/>
          </a:p>
        </p:txBody>
      </p:sp>
      <p:sp>
        <p:nvSpPr>
          <p:cNvPr id="31" name="STC-07-plos-sleep-label"/>
          <p:cNvSpPr/>
          <p:nvPr/>
        </p:nvSpPr>
        <p:spPr>
          <a:xfrm>
            <a:off x="914400" y="4773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wake↔sleep</a:t>
            </a:r>
            <a:endParaRPr lang="en-US" sz="1300" dirty="0"/>
          </a:p>
        </p:txBody>
      </p:sp>
      <p:sp>
        <p:nvSpPr>
          <p:cNvPr id="32" name="STC-07-plos-sleep-num"/>
          <p:cNvSpPr/>
          <p:nvPr/>
        </p:nvSpPr>
        <p:spPr>
          <a:xfrm>
            <a:off x="2148840" y="470916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91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Task 1/2  0.70±0.03 / 0.68±0.05</a:t>
            </a:r>
            <a:endParaRPr lang="en-US" sz="1600" dirty="0"/>
          </a:p>
        </p:txBody>
      </p:sp>
      <p:sp>
        <p:nvSpPr>
          <p:cNvPr id="33" name="STC-07-plos-limit-divider"/>
          <p:cNvSpPr/>
          <p:nvPr/>
        </p:nvSpPr>
        <p:spPr>
          <a:xfrm>
            <a:off x="6675120" y="4005072"/>
            <a:ext cx="0" cy="1426464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34" name="STC-07-plos-limit"/>
          <p:cNvSpPr/>
          <p:nvPr/>
        </p:nvSpPr>
        <p:spPr>
          <a:xfrm>
            <a:off x="7022592" y="40599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한계</a:t>
            </a:r>
            <a:endParaRPr lang="en-US" sz="1800" dirty="0"/>
          </a:p>
        </p:txBody>
      </p:sp>
      <p:sp>
        <p:nvSpPr>
          <p:cNvPr id="35" name="STC-07-plos-limit-text"/>
          <p:cNvSpPr/>
          <p:nvPr/>
        </p:nvSpPr>
        <p:spPr>
          <a:xfrm>
            <a:off x="7726680" y="4014216"/>
            <a:ext cx="3438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old trace가 완전히 사라진 뒤에는 복원하지 못했다.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· 다과제 · 장기용량 · deletion은 검증하지 않았다.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8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EVIDENCE TIERS</a:t>
            </a:r>
            <a:endParaRPr lang="en-US" sz="950" dirty="0"/>
          </a:p>
        </p:txBody>
      </p:sp>
      <p:sp>
        <p:nvSpPr>
          <p:cNvPr id="3" name="STC-08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STC-08</a:t>
            </a:r>
            <a:endParaRPr lang="en-US" sz="950" dirty="0"/>
          </a:p>
        </p:txBody>
      </p:sp>
      <p:sp>
        <p:nvSpPr>
          <p:cNvPr id="4" name="STC-08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PAD는 계산 가설, DANN은 낮은 증거 branch다</a:t>
            </a:r>
            <a:endParaRPr lang="en-US" sz="3000" dirty="0"/>
          </a:p>
        </p:txBody>
      </p:sp>
      <p:sp>
        <p:nvSpPr>
          <p:cNvPr id="5" name="STC-08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근거</a:t>
            </a:r>
            <a:endParaRPr lang="en-US" sz="1000" dirty="0"/>
          </a:p>
        </p:txBody>
      </p:sp>
      <p:sp>
        <p:nvSpPr>
          <p:cNvPr id="6" name="STC-08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08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8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Deperrois et al. · eLife 2022 | Tutuncuoglu · SSRN 2025</a:t>
            </a:r>
            <a:endParaRPr lang="en-US" sz="850" dirty="0"/>
          </a:p>
        </p:txBody>
      </p:sp>
      <p:sp>
        <p:nvSpPr>
          <p:cNvPr id="9" name="STC-08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8</a:t>
            </a:r>
            <a:endParaRPr lang="en-US" sz="850" dirty="0"/>
          </a:p>
        </p:txBody>
      </p:sp>
      <p:sp>
        <p:nvSpPr>
          <p:cNvPr id="11" name="STC-08-pad-title"/>
          <p:cNvSpPr/>
          <p:nvPr/>
        </p:nvSpPr>
        <p:spPr>
          <a:xfrm>
            <a:off x="841248" y="1737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44E8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PAD</a:t>
            </a:r>
            <a:endParaRPr lang="en-US" sz="2900" dirty="0"/>
          </a:p>
        </p:txBody>
      </p:sp>
      <p:sp>
        <p:nvSpPr>
          <p:cNvPr id="12" name="STC-08-pad-full"/>
          <p:cNvSpPr/>
          <p:nvPr/>
        </p:nvSpPr>
        <p:spPr>
          <a:xfrm>
            <a:off x="1993392" y="1801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Perturbed &amp; Adversarial Dreaming</a:t>
            </a:r>
            <a:endParaRPr lang="en-US" sz="1600" dirty="0"/>
          </a:p>
        </p:txBody>
      </p:sp>
      <p:sp>
        <p:nvSpPr>
          <p:cNvPr id="13" name="STC-08-pad-rule"/>
          <p:cNvSpPr/>
          <p:nvPr/>
        </p:nvSpPr>
        <p:spPr>
          <a:xfrm>
            <a:off x="859536" y="2331720"/>
            <a:ext cx="4754880" cy="0"/>
          </a:xfrm>
          <a:prstGeom prst="line">
            <a:avLst/>
          </a:prstGeom>
          <a:noFill/>
          <a:ln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4" name="STC-08-pad-nrem"/>
          <p:cNvSpPr/>
          <p:nvPr/>
        </p:nvSpPr>
        <p:spPr>
          <a:xfrm>
            <a:off x="932688" y="27614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NREM</a:t>
            </a:r>
            <a:endParaRPr lang="en-US" sz="1200" dirty="0"/>
          </a:p>
        </p:txBody>
      </p:sp>
      <p:sp>
        <p:nvSpPr>
          <p:cNvPr id="15" name="STC-08-pad-nrem-text"/>
          <p:cNvSpPr/>
          <p:nvPr/>
        </p:nvSpPr>
        <p:spPr>
          <a:xfrm>
            <a:off x="1847088" y="270662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episodic latent → occlusion → reconstruction</a:t>
            </a:r>
            <a:endParaRPr lang="en-US" sz="1800" dirty="0"/>
          </a:p>
        </p:txBody>
      </p:sp>
      <p:sp>
        <p:nvSpPr>
          <p:cNvPr id="16" name="STC-08-pad-rem"/>
          <p:cNvSpPr/>
          <p:nvPr/>
        </p:nvSpPr>
        <p:spPr>
          <a:xfrm>
            <a:off x="932688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REM</a:t>
            </a:r>
            <a:endParaRPr lang="en-US" sz="1200" dirty="0"/>
          </a:p>
        </p:txBody>
      </p:sp>
      <p:sp>
        <p:nvSpPr>
          <p:cNvPr id="17" name="STC-08-pad-rem-text"/>
          <p:cNvSpPr/>
          <p:nvPr/>
        </p:nvSpPr>
        <p:spPr>
          <a:xfrm>
            <a:off x="1847088" y="346557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 mix + noise → adversarial dream</a:t>
            </a:r>
            <a:endParaRPr lang="en-US" sz="1800" dirty="0"/>
          </a:p>
        </p:txBody>
      </p:sp>
      <p:sp>
        <p:nvSpPr>
          <p:cNvPr id="18" name="STC-08-pad-scope"/>
          <p:cNvSpPr/>
          <p:nvPr/>
        </p:nvSpPr>
        <p:spPr>
          <a:xfrm>
            <a:off x="932688" y="45902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범위: CIFAR-10 / SVHN representation learning</a:t>
            </a:r>
            <a:endParaRPr lang="en-US" sz="1600" dirty="0"/>
          </a:p>
        </p:txBody>
      </p:sp>
      <p:sp>
        <p:nvSpPr>
          <p:cNvPr id="19" name="STC-08-pad-dann-divider"/>
          <p:cNvSpPr/>
          <p:nvPr/>
        </p:nvSpPr>
        <p:spPr>
          <a:xfrm>
            <a:off x="6089904" y="1627632"/>
            <a:ext cx="0" cy="4169664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0" name="STC-08-dann-title"/>
          <p:cNvSpPr/>
          <p:nvPr/>
        </p:nvSpPr>
        <p:spPr>
          <a:xfrm>
            <a:off x="6601968" y="1737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DANN</a:t>
            </a:r>
            <a:endParaRPr lang="en-US" sz="2900" dirty="0"/>
          </a:p>
        </p:txBody>
      </p:sp>
      <p:sp>
        <p:nvSpPr>
          <p:cNvPr id="21" name="STC-08-dann-full"/>
          <p:cNvSpPr/>
          <p:nvPr/>
        </p:nvSpPr>
        <p:spPr>
          <a:xfrm>
            <a:off x="8065008" y="18013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Dream-Augmented Neural Networks</a:t>
            </a:r>
            <a:endParaRPr lang="en-US" sz="1600" dirty="0"/>
          </a:p>
        </p:txBody>
      </p:sp>
      <p:sp>
        <p:nvSpPr>
          <p:cNvPr id="22" name="STC-08-dann-rule"/>
          <p:cNvSpPr/>
          <p:nvPr/>
        </p:nvSpPr>
        <p:spPr>
          <a:xfrm>
            <a:off x="6601968" y="2331720"/>
            <a:ext cx="4736592" cy="0"/>
          </a:xfrm>
          <a:prstGeom prst="line">
            <a:avLst/>
          </a:prstGeom>
          <a:noFill/>
          <a:ln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3" name="STC-08-dann-list-dot-0"/>
          <p:cNvSpPr/>
          <p:nvPr/>
        </p:nvSpPr>
        <p:spPr>
          <a:xfrm>
            <a:off x="6711696" y="2816352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4" name="STC-08-dann-list-item-0"/>
          <p:cNvSpPr/>
          <p:nvPr/>
        </p:nvSpPr>
        <p:spPr>
          <a:xfrm>
            <a:off x="6940296" y="2706624"/>
            <a:ext cx="4215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SSRN metadata·abstract 확인</a:t>
            </a:r>
            <a:endParaRPr lang="en-US" sz="1800" dirty="0"/>
          </a:p>
        </p:txBody>
      </p:sp>
      <p:sp>
        <p:nvSpPr>
          <p:cNvPr id="25" name="STC-08-dann-list-dot-1"/>
          <p:cNvSpPr/>
          <p:nvPr/>
        </p:nvSpPr>
        <p:spPr>
          <a:xfrm>
            <a:off x="6711696" y="3447288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6" name="STC-08-dann-list-item-1"/>
          <p:cNvSpPr/>
          <p:nvPr/>
        </p:nvSpPr>
        <p:spPr>
          <a:xfrm>
            <a:off x="6940296" y="3337560"/>
            <a:ext cx="4215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architecture/data/seed/code 독립 감사 불가</a:t>
            </a:r>
            <a:endParaRPr lang="en-US" sz="1800" dirty="0"/>
          </a:p>
        </p:txBody>
      </p:sp>
      <p:sp>
        <p:nvSpPr>
          <p:cNvPr id="27" name="STC-08-dann-list-dot-2"/>
          <p:cNvSpPr/>
          <p:nvPr/>
        </p:nvSpPr>
        <p:spPr>
          <a:xfrm>
            <a:off x="6711696" y="4078224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8" name="STC-08-dann-list-item-2"/>
          <p:cNvSpPr/>
          <p:nvPr/>
        </p:nvSpPr>
        <p:spPr>
          <a:xfrm>
            <a:off x="6940296" y="3968496"/>
            <a:ext cx="4215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‘zero forgetting’은 사용 금지</a:t>
            </a:r>
            <a:endParaRPr lang="en-US" sz="1800" dirty="0"/>
          </a:p>
        </p:txBody>
      </p:sp>
      <p:sp>
        <p:nvSpPr>
          <p:cNvPr id="29" name="STC-08-dann-list-dot-3"/>
          <p:cNvSpPr/>
          <p:nvPr/>
        </p:nvSpPr>
        <p:spPr>
          <a:xfrm>
            <a:off x="6711696" y="4709160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30" name="STC-08-dann-list-item-3"/>
          <p:cNvSpPr/>
          <p:nvPr/>
        </p:nvSpPr>
        <p:spPr>
          <a:xfrm>
            <a:off x="6940296" y="4599432"/>
            <a:ext cx="4215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방향성 아이디어로만 유지</a:t>
            </a:r>
            <a:endParaRPr lang="en-US" sz="1800" dirty="0"/>
          </a:p>
        </p:txBody>
      </p:sp>
      <p:sp>
        <p:nvSpPr>
          <p:cNvPr id="31" name="STC-08-dann-verdict"/>
          <p:cNvSpPr/>
          <p:nvPr/>
        </p:nvSpPr>
        <p:spPr>
          <a:xfrm>
            <a:off x="6711696" y="5102352"/>
            <a:ext cx="4407408" cy="493776"/>
          </a:xfrm>
          <a:prstGeom prst="rect">
            <a:avLst/>
          </a:prstGeom>
          <a:solidFill>
            <a:srgbClr val="F0DED7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32" name="STC-08-dann-verdict-text"/>
          <p:cNvSpPr/>
          <p:nvPr/>
        </p:nvSpPr>
        <p:spPr>
          <a:xfrm>
            <a:off x="6912864" y="526694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EVIDENCE GRADE  ·  LOW / DIRECTIONAL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09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TAXONOMY</a:t>
            </a:r>
            <a:endParaRPr lang="en-US" sz="950" dirty="0"/>
          </a:p>
        </p:txBody>
      </p:sp>
      <p:sp>
        <p:nvSpPr>
          <p:cNvPr id="3" name="STC-09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STC-09</a:t>
            </a:r>
            <a:endParaRPr lang="en-US" sz="950" dirty="0"/>
          </a:p>
        </p:txBody>
      </p:sp>
      <p:sp>
        <p:nvSpPr>
          <p:cNvPr id="4" name="STC-09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phase와 기억 위치는 독립 축이다</a:t>
            </a:r>
            <a:endParaRPr lang="en-US" sz="3000" dirty="0"/>
          </a:p>
        </p:txBody>
      </p:sp>
      <p:sp>
        <p:nvSpPr>
          <p:cNvPr id="5" name="STC-09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6" name="STC-09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09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09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MemGPT · Cartridges · SMF · Google Sleep · external-memory audits</a:t>
            </a:r>
            <a:endParaRPr lang="en-US" sz="850" dirty="0"/>
          </a:p>
        </p:txBody>
      </p:sp>
      <p:sp>
        <p:nvSpPr>
          <p:cNvPr id="9" name="STC-09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9</a:t>
            </a:r>
            <a:endParaRPr lang="en-US" sz="850" dirty="0"/>
          </a:p>
        </p:txBody>
      </p:sp>
      <p:sp>
        <p:nvSpPr>
          <p:cNvPr id="11" name="STC-09-matrix-col-0"/>
          <p:cNvSpPr/>
          <p:nvPr/>
        </p:nvSpPr>
        <p:spPr>
          <a:xfrm>
            <a:off x="1920240" y="14447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EXTERNAL</a:t>
            </a:r>
            <a:endParaRPr lang="en-US" sz="1050" dirty="0"/>
          </a:p>
        </p:txBody>
      </p:sp>
      <p:sp>
        <p:nvSpPr>
          <p:cNvPr id="12" name="STC-09-matrix-col-1"/>
          <p:cNvSpPr/>
          <p:nvPr/>
        </p:nvSpPr>
        <p:spPr>
          <a:xfrm>
            <a:off x="3977640" y="14447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LATENT / KV</a:t>
            </a:r>
            <a:endParaRPr lang="en-US" sz="1050" dirty="0"/>
          </a:p>
        </p:txBody>
      </p:sp>
      <p:sp>
        <p:nvSpPr>
          <p:cNvPr id="13" name="STC-09-matrix-col-2"/>
          <p:cNvSpPr/>
          <p:nvPr/>
        </p:nvSpPr>
        <p:spPr>
          <a:xfrm>
            <a:off x="6035040" y="14447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ADAPTER</a:t>
            </a:r>
            <a:endParaRPr lang="en-US" sz="1050" dirty="0"/>
          </a:p>
        </p:txBody>
      </p:sp>
      <p:sp>
        <p:nvSpPr>
          <p:cNvPr id="14" name="STC-09-matrix-col-3"/>
          <p:cNvSpPr/>
          <p:nvPr/>
        </p:nvSpPr>
        <p:spPr>
          <a:xfrm>
            <a:off x="8092440" y="14447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SHARED WEIGHT</a:t>
            </a:r>
            <a:endParaRPr lang="en-US" sz="1050" dirty="0"/>
          </a:p>
        </p:txBody>
      </p:sp>
      <p:sp>
        <p:nvSpPr>
          <p:cNvPr id="15" name="STC-09-matrix-row-0"/>
          <p:cNvSpPr/>
          <p:nvPr/>
        </p:nvSpPr>
        <p:spPr>
          <a:xfrm>
            <a:off x="685800" y="21762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WAKE</a:t>
            </a:r>
            <a:endParaRPr lang="en-US" sz="1100" dirty="0"/>
          </a:p>
        </p:txBody>
      </p:sp>
      <p:sp>
        <p:nvSpPr>
          <p:cNvPr id="16" name="STC-09-matrix-cell-0-0"/>
          <p:cNvSpPr/>
          <p:nvPr/>
        </p:nvSpPr>
        <p:spPr>
          <a:xfrm>
            <a:off x="1920240" y="1847088"/>
            <a:ext cx="1984248" cy="868680"/>
          </a:xfrm>
          <a:prstGeom prst="rect">
            <a:avLst/>
          </a:prstGeom>
          <a:solidFill>
            <a:srgbClr val="DDE6F2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7" name="STC-09-matrix-cell-0-1"/>
          <p:cNvSpPr/>
          <p:nvPr/>
        </p:nvSpPr>
        <p:spPr>
          <a:xfrm>
            <a:off x="3977640" y="1847088"/>
            <a:ext cx="1984248" cy="868680"/>
          </a:xfrm>
          <a:prstGeom prst="rect">
            <a:avLst/>
          </a:prstGeom>
          <a:solidFill>
            <a:srgbClr val="DDE6F2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8" name="STC-09-matrix-cell-0-2"/>
          <p:cNvSpPr/>
          <p:nvPr/>
        </p:nvSpPr>
        <p:spPr>
          <a:xfrm>
            <a:off x="6035040" y="1847088"/>
            <a:ext cx="1984248" cy="868680"/>
          </a:xfrm>
          <a:prstGeom prst="rect">
            <a:avLst/>
          </a:prstGeom>
          <a:solidFill>
            <a:srgbClr val="DDE6F2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9" name="STC-09-matrix-cell-0-3"/>
          <p:cNvSpPr/>
          <p:nvPr/>
        </p:nvSpPr>
        <p:spPr>
          <a:xfrm>
            <a:off x="8092440" y="1847088"/>
            <a:ext cx="1984248" cy="868680"/>
          </a:xfrm>
          <a:prstGeom prst="rect">
            <a:avLst/>
          </a:prstGeom>
          <a:solidFill>
            <a:srgbClr val="DDE6F2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0" name="STC-09-matrix-row-1"/>
          <p:cNvSpPr/>
          <p:nvPr/>
        </p:nvSpPr>
        <p:spPr>
          <a:xfrm>
            <a:off x="685800" y="31181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</a:t>
            </a:r>
            <a:endParaRPr lang="en-US" sz="1100" dirty="0"/>
          </a:p>
        </p:txBody>
      </p:sp>
      <p:sp>
        <p:nvSpPr>
          <p:cNvPr id="21" name="STC-09-matrix-cell-1-0"/>
          <p:cNvSpPr/>
          <p:nvPr/>
        </p:nvSpPr>
        <p:spPr>
          <a:xfrm>
            <a:off x="1920240" y="2788920"/>
            <a:ext cx="1984248" cy="868680"/>
          </a:xfrm>
          <a:prstGeom prst="rect">
            <a:avLst/>
          </a:prstGeom>
          <a:solidFill>
            <a:srgbClr val="F0DED7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2" name="STC-09-matrix-cell-1-1"/>
          <p:cNvSpPr/>
          <p:nvPr/>
        </p:nvSpPr>
        <p:spPr>
          <a:xfrm>
            <a:off x="3977640" y="2788920"/>
            <a:ext cx="1984248" cy="868680"/>
          </a:xfrm>
          <a:prstGeom prst="rect">
            <a:avLst/>
          </a:prstGeom>
          <a:solidFill>
            <a:srgbClr val="F0DED7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3" name="STC-09-matrix-cell-1-2"/>
          <p:cNvSpPr/>
          <p:nvPr/>
        </p:nvSpPr>
        <p:spPr>
          <a:xfrm>
            <a:off x="6035040" y="2788920"/>
            <a:ext cx="1984248" cy="868680"/>
          </a:xfrm>
          <a:prstGeom prst="rect">
            <a:avLst/>
          </a:prstGeom>
          <a:solidFill>
            <a:srgbClr val="F0DED7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4" name="STC-09-matrix-cell-1-3"/>
          <p:cNvSpPr/>
          <p:nvPr/>
        </p:nvSpPr>
        <p:spPr>
          <a:xfrm>
            <a:off x="8092440" y="2788920"/>
            <a:ext cx="1984248" cy="868680"/>
          </a:xfrm>
          <a:prstGeom prst="rect">
            <a:avLst/>
          </a:prstGeom>
          <a:solidFill>
            <a:srgbClr val="F0DED7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5" name="STC-09-matrix-row-2"/>
          <p:cNvSpPr/>
          <p:nvPr/>
        </p:nvSpPr>
        <p:spPr>
          <a:xfrm>
            <a:off x="685800" y="40599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PREDEPLOY</a:t>
            </a:r>
            <a:endParaRPr lang="en-US" sz="1100" dirty="0"/>
          </a:p>
        </p:txBody>
      </p:sp>
      <p:sp>
        <p:nvSpPr>
          <p:cNvPr id="26" name="STC-09-matrix-cell-2-0"/>
          <p:cNvSpPr/>
          <p:nvPr/>
        </p:nvSpPr>
        <p:spPr>
          <a:xfrm>
            <a:off x="1920240" y="3730752"/>
            <a:ext cx="1984248" cy="868680"/>
          </a:xfrm>
          <a:prstGeom prst="rect">
            <a:avLst/>
          </a:prstGeom>
          <a:solidFill>
            <a:srgbClr val="ECE8DE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7" name="STC-09-matrix-cell-2-1"/>
          <p:cNvSpPr/>
          <p:nvPr/>
        </p:nvSpPr>
        <p:spPr>
          <a:xfrm>
            <a:off x="3977640" y="3730752"/>
            <a:ext cx="1984248" cy="868680"/>
          </a:xfrm>
          <a:prstGeom prst="rect">
            <a:avLst/>
          </a:prstGeom>
          <a:solidFill>
            <a:srgbClr val="ECE8DE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8" name="STC-09-matrix-cell-2-2"/>
          <p:cNvSpPr/>
          <p:nvPr/>
        </p:nvSpPr>
        <p:spPr>
          <a:xfrm>
            <a:off x="6035040" y="3730752"/>
            <a:ext cx="1984248" cy="868680"/>
          </a:xfrm>
          <a:prstGeom prst="rect">
            <a:avLst/>
          </a:prstGeom>
          <a:solidFill>
            <a:srgbClr val="ECE8DE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9" name="STC-09-matrix-cell-2-3"/>
          <p:cNvSpPr/>
          <p:nvPr/>
        </p:nvSpPr>
        <p:spPr>
          <a:xfrm>
            <a:off x="8092440" y="3730752"/>
            <a:ext cx="1984248" cy="868680"/>
          </a:xfrm>
          <a:prstGeom prst="rect">
            <a:avLst/>
          </a:prstGeom>
          <a:solidFill>
            <a:srgbClr val="ECE8DE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30" name="STC-09-matrix-item-0"/>
          <p:cNvSpPr/>
          <p:nvPr/>
        </p:nvSpPr>
        <p:spPr>
          <a:xfrm>
            <a:off x="2029968" y="2075688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Mem0 · Graphiti</a:t>
            </a:r>
            <a:endParaRPr lang="en-US" sz="1450" dirty="0"/>
          </a:p>
        </p:txBody>
      </p:sp>
      <p:sp>
        <p:nvSpPr>
          <p:cNvPr id="31" name="STC-09-matrix-item-1"/>
          <p:cNvSpPr/>
          <p:nvPr/>
        </p:nvSpPr>
        <p:spPr>
          <a:xfrm>
            <a:off x="4087368" y="2075688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TTT · Titans</a:t>
            </a:r>
            <a:endParaRPr lang="en-US" sz="1450" dirty="0"/>
          </a:p>
        </p:txBody>
      </p:sp>
      <p:sp>
        <p:nvSpPr>
          <p:cNvPr id="32" name="STC-09-matrix-item-2"/>
          <p:cNvSpPr/>
          <p:nvPr/>
        </p:nvSpPr>
        <p:spPr>
          <a:xfrm>
            <a:off x="6144768" y="2075688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fast-LoRA</a:t>
            </a:r>
            <a:endParaRPr lang="en-US" sz="1450" dirty="0"/>
          </a:p>
        </p:txBody>
      </p:sp>
      <p:sp>
        <p:nvSpPr>
          <p:cNvPr id="33" name="STC-09-matrix-item-3"/>
          <p:cNvSpPr/>
          <p:nvPr/>
        </p:nvSpPr>
        <p:spPr>
          <a:xfrm>
            <a:off x="2029968" y="301752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Letta sleeper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Auto-Dreamer</a:t>
            </a:r>
            <a:endParaRPr lang="en-US" sz="1450" dirty="0"/>
          </a:p>
        </p:txBody>
      </p:sp>
      <p:sp>
        <p:nvSpPr>
          <p:cNvPr id="34" name="STC-09-matrix-item-4"/>
          <p:cNvSpPr/>
          <p:nvPr/>
        </p:nvSpPr>
        <p:spPr>
          <a:xfrm>
            <a:off x="4087368" y="301752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Cartridges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Offline Recurrence</a:t>
            </a:r>
            <a:endParaRPr lang="en-US" sz="1450" dirty="0"/>
          </a:p>
        </p:txBody>
      </p:sp>
      <p:sp>
        <p:nvSpPr>
          <p:cNvPr id="35" name="STC-09-matrix-item-5"/>
          <p:cNvSpPr/>
          <p:nvPr/>
        </p:nvSpPr>
        <p:spPr>
          <a:xfrm>
            <a:off x="6144768" y="301752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Doc→LoRA</a:t>
            </a:r>
            <a:endParaRPr lang="en-US" sz="1450" dirty="0"/>
          </a:p>
        </p:txBody>
      </p:sp>
      <p:sp>
        <p:nvSpPr>
          <p:cNvPr id="36" name="STC-09-matrix-item-6"/>
          <p:cNvSpPr/>
          <p:nvPr/>
        </p:nvSpPr>
        <p:spPr>
          <a:xfrm>
            <a:off x="8202168" y="301752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Sleep</a:t>
            </a:r>
            <a:endParaRPr lang="en-US" sz="1450" dirty="0"/>
          </a:p>
        </p:txBody>
      </p:sp>
      <p:sp>
        <p:nvSpPr>
          <p:cNvPr id="37" name="STC-09-matrix-item-7"/>
          <p:cNvSpPr/>
          <p:nvPr/>
        </p:nvSpPr>
        <p:spPr>
          <a:xfrm>
            <a:off x="2029968" y="3959352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memory-policy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pretraining</a:t>
            </a:r>
            <a:endParaRPr lang="en-US" sz="1450" dirty="0"/>
          </a:p>
        </p:txBody>
      </p:sp>
      <p:sp>
        <p:nvSpPr>
          <p:cNvPr id="38" name="STC-09-matrix-item-8"/>
          <p:cNvSpPr/>
          <p:nvPr/>
        </p:nvSpPr>
        <p:spPr>
          <a:xfrm>
            <a:off x="6144768" y="3959352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adapter generator</a:t>
            </a:r>
            <a:endParaRPr lang="en-US" sz="1450" dirty="0"/>
          </a:p>
        </p:txBody>
      </p:sp>
      <p:sp>
        <p:nvSpPr>
          <p:cNvPr id="39" name="STC-09-matrix-item-9"/>
          <p:cNvSpPr/>
          <p:nvPr/>
        </p:nvSpPr>
        <p:spPr>
          <a:xfrm>
            <a:off x="8202168" y="3959352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SMF substrate</a:t>
            </a:r>
            <a:endParaRPr lang="en-US" sz="1450" dirty="0"/>
          </a:p>
        </p:txBody>
      </p:sp>
      <p:sp>
        <p:nvSpPr>
          <p:cNvPr id="40" name="STC-09-matrix-question-label"/>
          <p:cNvSpPr/>
          <p:nvPr/>
        </p:nvSpPr>
        <p:spPr>
          <a:xfrm>
            <a:off x="749808" y="506577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B6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핵심 질문</a:t>
            </a:r>
            <a:endParaRPr lang="en-US" sz="1800" dirty="0"/>
          </a:p>
        </p:txBody>
      </p:sp>
      <p:sp>
        <p:nvSpPr>
          <p:cNvPr id="41" name="STC-09-matrix-question"/>
          <p:cNvSpPr/>
          <p:nvPr/>
        </p:nvSpPr>
        <p:spPr>
          <a:xfrm>
            <a:off x="1956816" y="4965192"/>
            <a:ext cx="8924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future utility를 만들 때 어느 phase × destination이 가장 적은 lifecycle cost와 가장 강한 reversibility를 가지는가?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0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AGENT MEMORY</a:t>
            </a:r>
            <a:endParaRPr lang="en-US" sz="950" dirty="0"/>
          </a:p>
        </p:txBody>
      </p:sp>
      <p:sp>
        <p:nvSpPr>
          <p:cNvPr id="3" name="STC-10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STC-10</a:t>
            </a:r>
            <a:endParaRPr lang="en-US" sz="950" dirty="0"/>
          </a:p>
        </p:txBody>
      </p:sp>
      <p:sp>
        <p:nvSpPr>
          <p:cNvPr id="4" name="STC-10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MemGPT·Letta·Mem0·Zep은 같은 ‘sleep’이 아니다</a:t>
            </a:r>
            <a:endParaRPr lang="en-US" sz="3000" dirty="0"/>
          </a:p>
        </p:txBody>
      </p:sp>
      <p:sp>
        <p:nvSpPr>
          <p:cNvPr id="5" name="STC-10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근거</a:t>
            </a:r>
            <a:endParaRPr lang="en-US" sz="1000" dirty="0"/>
          </a:p>
        </p:txBody>
      </p:sp>
      <p:sp>
        <p:nvSpPr>
          <p:cNvPr id="6" name="STC-10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0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0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Packer et al. 2023 · Lin et al. 2025 · Mem0/Zep audits + current product docs</a:t>
            </a:r>
            <a:endParaRPr lang="en-US" sz="850" dirty="0"/>
          </a:p>
        </p:txBody>
      </p:sp>
      <p:sp>
        <p:nvSpPr>
          <p:cNvPr id="9" name="STC-10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STC-10-agent-year-0"/>
          <p:cNvSpPr/>
          <p:nvPr/>
        </p:nvSpPr>
        <p:spPr>
          <a:xfrm>
            <a:off x="731520" y="156362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2023</a:t>
            </a:r>
            <a:endParaRPr lang="en-US" sz="950" dirty="0"/>
          </a:p>
        </p:txBody>
      </p:sp>
      <p:sp>
        <p:nvSpPr>
          <p:cNvPr id="12" name="STC-10-agent-year-rule-0"/>
          <p:cNvSpPr/>
          <p:nvPr/>
        </p:nvSpPr>
        <p:spPr>
          <a:xfrm>
            <a:off x="1426464" y="1645920"/>
            <a:ext cx="658368" cy="0"/>
          </a:xfrm>
          <a:prstGeom prst="line">
            <a:avLst/>
          </a:prstGeom>
          <a:noFill/>
          <a:ln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0-agent-name-0"/>
          <p:cNvSpPr/>
          <p:nvPr/>
        </p:nvSpPr>
        <p:spPr>
          <a:xfrm>
            <a:off x="2267712" y="1490472"/>
            <a:ext cx="2084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MemGPT</a:t>
            </a:r>
            <a:endParaRPr lang="en-US" sz="1620" dirty="0"/>
          </a:p>
        </p:txBody>
      </p:sp>
      <p:sp>
        <p:nvSpPr>
          <p:cNvPr id="14" name="STC-10-agent-mech-0"/>
          <p:cNvSpPr/>
          <p:nvPr/>
        </p:nvSpPr>
        <p:spPr>
          <a:xfrm>
            <a:off x="4498848" y="14996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pressure · recursive summary</a:t>
            </a:r>
            <a:endParaRPr lang="en-US" sz="1410" dirty="0"/>
          </a:p>
        </p:txBody>
      </p:sp>
      <p:sp>
        <p:nvSpPr>
          <p:cNvPr id="15" name="STC-10-agent-phase-0"/>
          <p:cNvSpPr/>
          <p:nvPr/>
        </p:nvSpPr>
        <p:spPr>
          <a:xfrm>
            <a:off x="7479792" y="15544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wake</a:t>
            </a:r>
            <a:endParaRPr lang="en-US" sz="940" dirty="0"/>
          </a:p>
        </p:txBody>
      </p:sp>
      <p:sp>
        <p:nvSpPr>
          <p:cNvPr id="16" name="STC-10-agent-boundary-0"/>
          <p:cNvSpPr/>
          <p:nvPr/>
        </p:nvSpPr>
        <p:spPr>
          <a:xfrm>
            <a:off x="8915400" y="1499616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1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별도 sleeper 없음</a:t>
            </a:r>
            <a:endParaRPr lang="en-US" sz="1210" dirty="0"/>
          </a:p>
        </p:txBody>
      </p:sp>
      <p:sp>
        <p:nvSpPr>
          <p:cNvPr id="17" name="STC-10-agent-year-1"/>
          <p:cNvSpPr/>
          <p:nvPr/>
        </p:nvSpPr>
        <p:spPr>
          <a:xfrm>
            <a:off x="731520" y="217627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2025</a:t>
            </a:r>
            <a:endParaRPr lang="en-US" sz="950" dirty="0"/>
          </a:p>
        </p:txBody>
      </p:sp>
      <p:sp>
        <p:nvSpPr>
          <p:cNvPr id="18" name="STC-10-agent-year-rule-1"/>
          <p:cNvSpPr/>
          <p:nvPr/>
        </p:nvSpPr>
        <p:spPr>
          <a:xfrm>
            <a:off x="1426464" y="2258568"/>
            <a:ext cx="658368" cy="0"/>
          </a:xfrm>
          <a:prstGeom prst="line">
            <a:avLst/>
          </a:prstGeom>
          <a:noFill/>
          <a:ln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0-agent-name-1"/>
          <p:cNvSpPr/>
          <p:nvPr/>
        </p:nvSpPr>
        <p:spPr>
          <a:xfrm>
            <a:off x="2267712" y="2103120"/>
            <a:ext cx="2084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Letta paper</a:t>
            </a:r>
            <a:endParaRPr lang="en-US" sz="1620" dirty="0"/>
          </a:p>
        </p:txBody>
      </p:sp>
      <p:sp>
        <p:nvSpPr>
          <p:cNvPr id="20" name="STC-10-agent-mech-1"/>
          <p:cNvSpPr/>
          <p:nvPr/>
        </p:nvSpPr>
        <p:spPr>
          <a:xfrm>
            <a:off x="4498848" y="211226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pre-query context compilation</a:t>
            </a:r>
            <a:endParaRPr lang="en-US" sz="1410" dirty="0"/>
          </a:p>
        </p:txBody>
      </p:sp>
      <p:sp>
        <p:nvSpPr>
          <p:cNvPr id="21" name="STC-10-agent-phase-1"/>
          <p:cNvSpPr/>
          <p:nvPr/>
        </p:nvSpPr>
        <p:spPr>
          <a:xfrm>
            <a:off x="7479792" y="21671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sleep-time</a:t>
            </a:r>
            <a:endParaRPr lang="en-US" sz="940" dirty="0"/>
          </a:p>
        </p:txBody>
      </p:sp>
      <p:sp>
        <p:nvSpPr>
          <p:cNvPr id="22" name="STC-10-agent-boundary-1"/>
          <p:cNvSpPr/>
          <p:nvPr/>
        </p:nvSpPr>
        <p:spPr>
          <a:xfrm>
            <a:off x="8915400" y="211226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1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durable memory와 구분</a:t>
            </a:r>
            <a:endParaRPr lang="en-US" sz="1210" dirty="0"/>
          </a:p>
        </p:txBody>
      </p:sp>
      <p:sp>
        <p:nvSpPr>
          <p:cNvPr id="23" name="STC-10-agent-year-2"/>
          <p:cNvSpPr/>
          <p:nvPr/>
        </p:nvSpPr>
        <p:spPr>
          <a:xfrm>
            <a:off x="731520" y="27889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2025</a:t>
            </a:r>
            <a:endParaRPr lang="en-US" sz="950" dirty="0"/>
          </a:p>
        </p:txBody>
      </p:sp>
      <p:sp>
        <p:nvSpPr>
          <p:cNvPr id="24" name="STC-10-agent-year-rule-2"/>
          <p:cNvSpPr/>
          <p:nvPr/>
        </p:nvSpPr>
        <p:spPr>
          <a:xfrm>
            <a:off x="1426464" y="2871216"/>
            <a:ext cx="658368" cy="0"/>
          </a:xfrm>
          <a:prstGeom prst="line">
            <a:avLst/>
          </a:prstGeom>
          <a:noFill/>
          <a:ln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0-agent-name-2"/>
          <p:cNvSpPr/>
          <p:nvPr/>
        </p:nvSpPr>
        <p:spPr>
          <a:xfrm>
            <a:off x="2267712" y="2715768"/>
            <a:ext cx="2084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Letta Sleeper</a:t>
            </a:r>
            <a:endParaRPr lang="en-US" sz="1620" dirty="0"/>
          </a:p>
        </p:txBody>
      </p:sp>
      <p:sp>
        <p:nvSpPr>
          <p:cNvPr id="26" name="STC-10-agent-mech-2"/>
          <p:cNvSpPr/>
          <p:nvPr/>
        </p:nvSpPr>
        <p:spPr>
          <a:xfrm>
            <a:off x="4498848" y="2724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async core-memory editing</a:t>
            </a:r>
            <a:endParaRPr lang="en-US" sz="1410" dirty="0"/>
          </a:p>
        </p:txBody>
      </p:sp>
      <p:sp>
        <p:nvSpPr>
          <p:cNvPr id="27" name="STC-10-agent-phase-2"/>
          <p:cNvSpPr/>
          <p:nvPr/>
        </p:nvSpPr>
        <p:spPr>
          <a:xfrm>
            <a:off x="7479792" y="27797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product S</a:t>
            </a:r>
            <a:endParaRPr lang="en-US" sz="940" dirty="0"/>
          </a:p>
        </p:txBody>
      </p:sp>
      <p:sp>
        <p:nvSpPr>
          <p:cNvPr id="28" name="STC-10-agent-boundary-2"/>
          <p:cNvSpPr/>
          <p:nvPr/>
        </p:nvSpPr>
        <p:spPr>
          <a:xfrm>
            <a:off x="8915400" y="2724912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1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paper benchmark와 구분</a:t>
            </a:r>
            <a:endParaRPr lang="en-US" sz="1210" dirty="0"/>
          </a:p>
        </p:txBody>
      </p:sp>
      <p:sp>
        <p:nvSpPr>
          <p:cNvPr id="29" name="STC-10-agent-year-3"/>
          <p:cNvSpPr/>
          <p:nvPr/>
        </p:nvSpPr>
        <p:spPr>
          <a:xfrm>
            <a:off x="731520" y="34015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2025</a:t>
            </a:r>
            <a:endParaRPr lang="en-US" sz="950" dirty="0"/>
          </a:p>
        </p:txBody>
      </p:sp>
      <p:sp>
        <p:nvSpPr>
          <p:cNvPr id="30" name="STC-10-agent-year-rule-3"/>
          <p:cNvSpPr/>
          <p:nvPr/>
        </p:nvSpPr>
        <p:spPr>
          <a:xfrm>
            <a:off x="1426464" y="3483864"/>
            <a:ext cx="658368" cy="0"/>
          </a:xfrm>
          <a:prstGeom prst="line">
            <a:avLst/>
          </a:prstGeom>
          <a:noFill/>
          <a:ln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1" name="STC-10-agent-name-3"/>
          <p:cNvSpPr/>
          <p:nvPr/>
        </p:nvSpPr>
        <p:spPr>
          <a:xfrm>
            <a:off x="2267712" y="3328416"/>
            <a:ext cx="2084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Mem0 paper / OSS</a:t>
            </a:r>
            <a:endParaRPr lang="en-US" sz="1620" dirty="0"/>
          </a:p>
        </p:txBody>
      </p:sp>
      <p:sp>
        <p:nvSpPr>
          <p:cNvPr id="32" name="STC-10-agent-mech-3"/>
          <p:cNvSpPr/>
          <p:nvPr/>
        </p:nvSpPr>
        <p:spPr>
          <a:xfrm>
            <a:off x="4498848" y="33375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ADD · UPDATE · DELETE · NOOP</a:t>
            </a:r>
            <a:endParaRPr lang="en-US" sz="1410" dirty="0"/>
          </a:p>
        </p:txBody>
      </p:sp>
      <p:sp>
        <p:nvSpPr>
          <p:cNvPr id="33" name="STC-10-agent-phase-3"/>
          <p:cNvSpPr/>
          <p:nvPr/>
        </p:nvSpPr>
        <p:spPr>
          <a:xfrm>
            <a:off x="7479792" y="33924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mostly wake</a:t>
            </a:r>
            <a:endParaRPr lang="en-US" sz="940" dirty="0"/>
          </a:p>
        </p:txBody>
      </p:sp>
      <p:sp>
        <p:nvSpPr>
          <p:cNvPr id="34" name="STC-10-agent-boundary-3"/>
          <p:cNvSpPr/>
          <p:nvPr/>
        </p:nvSpPr>
        <p:spPr>
          <a:xfrm>
            <a:off x="8915400" y="333756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1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mutation과 phase를 구분</a:t>
            </a:r>
            <a:endParaRPr lang="en-US" sz="1210" dirty="0"/>
          </a:p>
        </p:txBody>
      </p:sp>
      <p:sp>
        <p:nvSpPr>
          <p:cNvPr id="35" name="STC-10-agent-year-4"/>
          <p:cNvSpPr/>
          <p:nvPr/>
        </p:nvSpPr>
        <p:spPr>
          <a:xfrm>
            <a:off x="731520" y="40142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NOW</a:t>
            </a:r>
            <a:endParaRPr lang="en-US" sz="950" dirty="0"/>
          </a:p>
        </p:txBody>
      </p:sp>
      <p:sp>
        <p:nvSpPr>
          <p:cNvPr id="36" name="STC-10-agent-year-rule-4"/>
          <p:cNvSpPr/>
          <p:nvPr/>
        </p:nvSpPr>
        <p:spPr>
          <a:xfrm>
            <a:off x="1426464" y="4096512"/>
            <a:ext cx="658368" cy="0"/>
          </a:xfrm>
          <a:prstGeom prst="line">
            <a:avLst/>
          </a:prstGeom>
          <a:noFill/>
          <a:ln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37" name="STC-10-agent-name-4"/>
          <p:cNvSpPr/>
          <p:nvPr/>
        </p:nvSpPr>
        <p:spPr>
          <a:xfrm>
            <a:off x="2267712" y="3941064"/>
            <a:ext cx="2084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Mem0 Platform V3</a:t>
            </a:r>
            <a:endParaRPr lang="en-US" sz="1620" dirty="0"/>
          </a:p>
        </p:txBody>
      </p:sp>
      <p:sp>
        <p:nvSpPr>
          <p:cNvPr id="38" name="STC-10-agent-mech-4"/>
          <p:cNvSpPr/>
          <p:nvPr/>
        </p:nvSpPr>
        <p:spPr>
          <a:xfrm>
            <a:off x="4498848" y="39502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asynchronous ADD-only path</a:t>
            </a:r>
            <a:endParaRPr lang="en-US" sz="1410" dirty="0"/>
          </a:p>
        </p:txBody>
      </p:sp>
      <p:sp>
        <p:nvSpPr>
          <p:cNvPr id="39" name="STC-10-agent-phase-4"/>
          <p:cNvSpPr/>
          <p:nvPr/>
        </p:nvSpPr>
        <p:spPr>
          <a:xfrm>
            <a:off x="7479792" y="400507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async</a:t>
            </a:r>
            <a:endParaRPr lang="en-US" sz="940" dirty="0"/>
          </a:p>
        </p:txBody>
      </p:sp>
      <p:sp>
        <p:nvSpPr>
          <p:cNvPr id="40" name="STC-10-agent-boundary-4"/>
          <p:cNvSpPr/>
          <p:nvPr/>
        </p:nvSpPr>
        <p:spPr>
          <a:xfrm>
            <a:off x="8915400" y="39502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1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later-read 경로</a:t>
            </a:r>
            <a:endParaRPr lang="en-US" sz="1210" dirty="0"/>
          </a:p>
        </p:txBody>
      </p:sp>
      <p:sp>
        <p:nvSpPr>
          <p:cNvPr id="41" name="STC-10-agent-year-5"/>
          <p:cNvSpPr/>
          <p:nvPr/>
        </p:nvSpPr>
        <p:spPr>
          <a:xfrm>
            <a:off x="731520" y="46268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2025</a:t>
            </a:r>
            <a:endParaRPr lang="en-US" sz="950" dirty="0"/>
          </a:p>
        </p:txBody>
      </p:sp>
      <p:sp>
        <p:nvSpPr>
          <p:cNvPr id="42" name="STC-10-agent-year-rule-5"/>
          <p:cNvSpPr/>
          <p:nvPr/>
        </p:nvSpPr>
        <p:spPr>
          <a:xfrm>
            <a:off x="1426464" y="4709160"/>
            <a:ext cx="658368" cy="0"/>
          </a:xfrm>
          <a:prstGeom prst="line">
            <a:avLst/>
          </a:prstGeom>
          <a:noFill/>
          <a:ln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3" name="STC-10-agent-name-5"/>
          <p:cNvSpPr/>
          <p:nvPr/>
        </p:nvSpPr>
        <p:spPr>
          <a:xfrm>
            <a:off x="2267712" y="4553712"/>
            <a:ext cx="2084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Graphiti OSS</a:t>
            </a:r>
            <a:endParaRPr lang="en-US" sz="1620" dirty="0"/>
          </a:p>
        </p:txBody>
      </p:sp>
      <p:sp>
        <p:nvSpPr>
          <p:cNvPr id="44" name="STC-10-agent-mech-5"/>
          <p:cNvSpPr/>
          <p:nvPr/>
        </p:nvSpPr>
        <p:spPr>
          <a:xfrm>
            <a:off x="4498848" y="456285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 graph invalidation</a:t>
            </a:r>
            <a:endParaRPr lang="en-US" sz="1410" dirty="0"/>
          </a:p>
        </p:txBody>
      </p:sp>
      <p:sp>
        <p:nvSpPr>
          <p:cNvPr id="45" name="STC-10-agent-phase-5"/>
          <p:cNvSpPr/>
          <p:nvPr/>
        </p:nvSpPr>
        <p:spPr>
          <a:xfrm>
            <a:off x="7479792" y="46177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ingest</a:t>
            </a:r>
            <a:endParaRPr lang="en-US" sz="940" dirty="0"/>
          </a:p>
        </p:txBody>
      </p:sp>
      <p:sp>
        <p:nvSpPr>
          <p:cNvPr id="46" name="STC-10-agent-boundary-5"/>
          <p:cNvSpPr/>
          <p:nvPr/>
        </p:nvSpPr>
        <p:spPr>
          <a:xfrm>
            <a:off x="8915400" y="4562856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1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scheduler 미소유</a:t>
            </a:r>
            <a:endParaRPr lang="en-US" sz="1210" dirty="0"/>
          </a:p>
        </p:txBody>
      </p:sp>
      <p:sp>
        <p:nvSpPr>
          <p:cNvPr id="47" name="STC-10-agent-year-6"/>
          <p:cNvSpPr/>
          <p:nvPr/>
        </p:nvSpPr>
        <p:spPr>
          <a:xfrm>
            <a:off x="731520" y="523951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NOW</a:t>
            </a:r>
            <a:endParaRPr lang="en-US" sz="950" dirty="0"/>
          </a:p>
        </p:txBody>
      </p:sp>
      <p:sp>
        <p:nvSpPr>
          <p:cNvPr id="48" name="STC-10-agent-year-rule-6"/>
          <p:cNvSpPr/>
          <p:nvPr/>
        </p:nvSpPr>
        <p:spPr>
          <a:xfrm>
            <a:off x="1426464" y="5321808"/>
            <a:ext cx="658368" cy="0"/>
          </a:xfrm>
          <a:prstGeom prst="line">
            <a:avLst/>
          </a:prstGeom>
          <a:noFill/>
          <a:ln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49" name="STC-10-agent-name-6"/>
          <p:cNvSpPr/>
          <p:nvPr/>
        </p:nvSpPr>
        <p:spPr>
          <a:xfrm>
            <a:off x="2267712" y="5166360"/>
            <a:ext cx="2084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Zep Cloud / Obs.</a:t>
            </a:r>
            <a:endParaRPr lang="en-US" sz="1620" dirty="0"/>
          </a:p>
        </p:txBody>
      </p:sp>
      <p:sp>
        <p:nvSpPr>
          <p:cNvPr id="50" name="STC-10-agent-mech-6"/>
          <p:cNvSpPr/>
          <p:nvPr/>
        </p:nvSpPr>
        <p:spPr>
          <a:xfrm>
            <a:off x="4498848" y="51755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async later-read / observer</a:t>
            </a:r>
            <a:endParaRPr lang="en-US" sz="1410" dirty="0"/>
          </a:p>
        </p:txBody>
      </p:sp>
      <p:sp>
        <p:nvSpPr>
          <p:cNvPr id="51" name="STC-10-agent-phase-6"/>
          <p:cNvSpPr/>
          <p:nvPr/>
        </p:nvSpPr>
        <p:spPr>
          <a:xfrm>
            <a:off x="7479792" y="5230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async / prop.</a:t>
            </a:r>
            <a:endParaRPr lang="en-US" sz="940" dirty="0"/>
          </a:p>
        </p:txBody>
      </p:sp>
      <p:sp>
        <p:nvSpPr>
          <p:cNvPr id="52" name="STC-10-agent-boundary-6"/>
          <p:cNvSpPr/>
          <p:nvPr/>
        </p:nvSpPr>
        <p:spPr>
          <a:xfrm>
            <a:off x="8915400" y="517550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1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 PASS · operator 비공개</a:t>
            </a:r>
            <a:endParaRPr lang="en-US" sz="1210" dirty="0"/>
          </a:p>
        </p:txBody>
      </p:sp>
      <p:sp>
        <p:nvSpPr>
          <p:cNvPr id="53" name="STC-10-agent-version"/>
          <p:cNvSpPr/>
          <p:nvPr/>
        </p:nvSpPr>
        <p:spPr>
          <a:xfrm>
            <a:off x="7269480" y="574243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paper ≠ OSS ≠ cloud ≠ proprietary operator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1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COMPANY LINEAGES</a:t>
            </a:r>
            <a:endParaRPr lang="en-US" sz="950" dirty="0"/>
          </a:p>
        </p:txBody>
      </p:sp>
      <p:sp>
        <p:nvSpPr>
          <p:cNvPr id="3" name="STC-11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STC-11</a:t>
            </a:r>
            <a:endParaRPr lang="en-US" sz="950" dirty="0"/>
          </a:p>
        </p:txBody>
      </p:sp>
      <p:sp>
        <p:nvSpPr>
          <p:cNvPr id="4" name="STC-11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Google·Meta·Microsoft는 서로 다른 병목을 공략한다</a:t>
            </a:r>
            <a:endParaRPr lang="en-US" sz="3000" dirty="0"/>
          </a:p>
        </p:txBody>
      </p:sp>
      <p:sp>
        <p:nvSpPr>
          <p:cNvPr id="5" name="STC-11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근거</a:t>
            </a:r>
            <a:endParaRPr lang="en-US" sz="1000" dirty="0"/>
          </a:p>
        </p:txBody>
      </p:sp>
      <p:sp>
        <p:nvSpPr>
          <p:cNvPr id="6" name="STC-11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11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1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Audited public papers and implementations · company-lineage audit</a:t>
            </a:r>
            <a:endParaRPr lang="en-US" sz="850" dirty="0"/>
          </a:p>
        </p:txBody>
      </p:sp>
      <p:sp>
        <p:nvSpPr>
          <p:cNvPr id="9" name="STC-11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11</a:t>
            </a:r>
            <a:endParaRPr lang="en-US" sz="850" dirty="0"/>
          </a:p>
        </p:txBody>
      </p:sp>
      <p:sp>
        <p:nvSpPr>
          <p:cNvPr id="11" name="STC-11-company-label-0"/>
          <p:cNvSpPr/>
          <p:nvPr/>
        </p:nvSpPr>
        <p:spPr>
          <a:xfrm>
            <a:off x="749808" y="15727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GOOGLE / DEEPMIND</a:t>
            </a:r>
            <a:endParaRPr lang="en-US" sz="1100" dirty="0"/>
          </a:p>
        </p:txBody>
      </p:sp>
      <p:sp>
        <p:nvSpPr>
          <p:cNvPr id="12" name="STC-11-company-start-0"/>
          <p:cNvSpPr/>
          <p:nvPr/>
        </p:nvSpPr>
        <p:spPr>
          <a:xfrm>
            <a:off x="2999232" y="1700784"/>
            <a:ext cx="822960" cy="0"/>
          </a:xfrm>
          <a:prstGeom prst="line">
            <a:avLst/>
          </a:prstGeom>
          <a:noFill/>
          <a:ln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11-company-history-0"/>
          <p:cNvSpPr/>
          <p:nvPr/>
        </p:nvSpPr>
        <p:spPr>
          <a:xfrm>
            <a:off x="4041648" y="1536192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CLS · EWC · Titans/Miras</a:t>
            </a:r>
            <a:endParaRPr lang="en-US" sz="1700" dirty="0"/>
          </a:p>
        </p:txBody>
      </p:sp>
      <p:sp>
        <p:nvSpPr>
          <p:cNvPr id="14" name="STC-11-company-mid-0"/>
          <p:cNvSpPr/>
          <p:nvPr/>
        </p:nvSpPr>
        <p:spPr>
          <a:xfrm>
            <a:off x="6455664" y="1700784"/>
            <a:ext cx="594360" cy="0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5" name="STC-11-company-current-0"/>
          <p:cNvSpPr/>
          <p:nvPr/>
        </p:nvSpPr>
        <p:spPr>
          <a:xfrm>
            <a:off x="7242048" y="1536192"/>
            <a:ext cx="2450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fast→slow expert · synthetic dream</a:t>
            </a:r>
            <a:endParaRPr lang="en-US" sz="1700" dirty="0"/>
          </a:p>
        </p:txBody>
      </p:sp>
      <p:sp>
        <p:nvSpPr>
          <p:cNvPr id="16" name="STC-11-company-verdict-0"/>
          <p:cNvSpPr/>
          <p:nvPr/>
        </p:nvSpPr>
        <p:spPr>
          <a:xfrm>
            <a:off x="9848088" y="1545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44E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experimental parametric</a:t>
            </a:r>
            <a:endParaRPr lang="en-US" sz="1300" dirty="0"/>
          </a:p>
        </p:txBody>
      </p:sp>
      <p:sp>
        <p:nvSpPr>
          <p:cNvPr id="17" name="STC-11-company-label-1"/>
          <p:cNvSpPr/>
          <p:nvPr/>
        </p:nvSpPr>
        <p:spPr>
          <a:xfrm>
            <a:off x="749808" y="29260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META / FAIR</a:t>
            </a:r>
            <a:endParaRPr lang="en-US" sz="1100" dirty="0"/>
          </a:p>
        </p:txBody>
      </p:sp>
      <p:sp>
        <p:nvSpPr>
          <p:cNvPr id="18" name="STC-11-company-start-1"/>
          <p:cNvSpPr/>
          <p:nvPr/>
        </p:nvSpPr>
        <p:spPr>
          <a:xfrm>
            <a:off x="2999232" y="3054096"/>
            <a:ext cx="822960" cy="0"/>
          </a:xfrm>
          <a:prstGeom prst="line">
            <a:avLst/>
          </a:prstGeom>
          <a:noFill/>
          <a:ln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1-company-history-1"/>
          <p:cNvSpPr/>
          <p:nvPr/>
        </p:nvSpPr>
        <p:spPr>
          <a:xfrm>
            <a:off x="4041648" y="2889504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 · MAS · Product-Key Memory</a:t>
            </a:r>
            <a:endParaRPr lang="en-US" sz="1700" dirty="0"/>
          </a:p>
        </p:txBody>
      </p:sp>
      <p:sp>
        <p:nvSpPr>
          <p:cNvPr id="20" name="STC-11-company-mid-1"/>
          <p:cNvSpPr/>
          <p:nvPr/>
        </p:nvSpPr>
        <p:spPr>
          <a:xfrm>
            <a:off x="6455664" y="3054096"/>
            <a:ext cx="594360" cy="0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1-company-current-1"/>
          <p:cNvSpPr/>
          <p:nvPr/>
        </p:nvSpPr>
        <p:spPr>
          <a:xfrm>
            <a:off x="7242048" y="2889504"/>
            <a:ext cx="2450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 Layers · sparse row update</a:t>
            </a:r>
            <a:endParaRPr lang="en-US" sz="1700" dirty="0"/>
          </a:p>
        </p:txBody>
      </p:sp>
      <p:sp>
        <p:nvSpPr>
          <p:cNvPr id="22" name="STC-11-company-verdict-1"/>
          <p:cNvSpPr/>
          <p:nvPr/>
        </p:nvSpPr>
        <p:spPr>
          <a:xfrm>
            <a:off x="9848088" y="2898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44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capacity &amp; low-interference write</a:t>
            </a:r>
            <a:endParaRPr lang="en-US" sz="1300" dirty="0"/>
          </a:p>
        </p:txBody>
      </p:sp>
      <p:sp>
        <p:nvSpPr>
          <p:cNvPr id="23" name="STC-11-company-label-2"/>
          <p:cNvSpPr/>
          <p:nvPr/>
        </p:nvSpPr>
        <p:spPr>
          <a:xfrm>
            <a:off x="749808" y="4279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24" name="STC-11-company-start-2"/>
          <p:cNvSpPr/>
          <p:nvPr/>
        </p:nvSpPr>
        <p:spPr>
          <a:xfrm>
            <a:off x="2999232" y="4407408"/>
            <a:ext cx="822960" cy="0"/>
          </a:xfrm>
          <a:prstGeom prst="line">
            <a:avLst/>
          </a:prstGeom>
          <a:noFill/>
          <a:ln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5" name="STC-11-company-history-2"/>
          <p:cNvSpPr/>
          <p:nvPr/>
        </p:nvSpPr>
        <p:spPr>
          <a:xfrm>
            <a:off x="4041648" y="4242816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LongMem · Generative Adapter</a:t>
            </a:r>
            <a:endParaRPr lang="en-US" sz="1700" dirty="0"/>
          </a:p>
        </p:txBody>
      </p:sp>
      <p:sp>
        <p:nvSpPr>
          <p:cNvPr id="26" name="STC-11-company-mid-2"/>
          <p:cNvSpPr/>
          <p:nvPr/>
        </p:nvSpPr>
        <p:spPr>
          <a:xfrm>
            <a:off x="6455664" y="4407408"/>
            <a:ext cx="594360" cy="0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7" name="STC-11-company-current-2"/>
          <p:cNvSpPr/>
          <p:nvPr/>
        </p:nvSpPr>
        <p:spPr>
          <a:xfrm>
            <a:off x="7242048" y="4242816"/>
            <a:ext cx="2450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HIMA · MEMENTO · RHO</a:t>
            </a:r>
            <a:endParaRPr lang="en-US" sz="1700" dirty="0"/>
          </a:p>
        </p:txBody>
      </p:sp>
      <p:sp>
        <p:nvSpPr>
          <p:cNvPr id="28" name="STC-11-company-verdict-2"/>
          <p:cNvSpPr/>
          <p:nvPr/>
        </p:nvSpPr>
        <p:spPr>
          <a:xfrm>
            <a:off x="9848088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6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 schedule &amp; harness</a:t>
            </a:r>
            <a:endParaRPr lang="en-US" sz="1300" dirty="0"/>
          </a:p>
        </p:txBody>
      </p:sp>
      <p:sp>
        <p:nvSpPr>
          <p:cNvPr id="29" name="STC-11-company-nonclaim"/>
          <p:cNvSpPr/>
          <p:nvPr/>
        </p:nvSpPr>
        <p:spPr>
          <a:xfrm>
            <a:off x="749808" y="5541264"/>
            <a:ext cx="10469880" cy="420624"/>
          </a:xfrm>
          <a:prstGeom prst="rect">
            <a:avLst/>
          </a:prstGeom>
          <a:solidFill>
            <a:srgbClr val="ECE8DE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30" name="STC-11-company-nonclaim-text"/>
          <p:cNvSpPr/>
          <p:nvPr/>
        </p:nvSpPr>
        <p:spPr>
          <a:xfrm>
            <a:off x="950976" y="566928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비주장  ·  공개된 논문 계보를 회사의 단일 제품 전략·production deployment로 일반화하지 않는다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2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TRAINING</a:t>
            </a:r>
            <a:endParaRPr lang="en-US" sz="950" dirty="0"/>
          </a:p>
        </p:txBody>
      </p:sp>
      <p:sp>
        <p:nvSpPr>
          <p:cNvPr id="3" name="STC-12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STC-12</a:t>
            </a:r>
            <a:endParaRPr lang="en-US" sz="950" dirty="0"/>
          </a:p>
        </p:txBody>
      </p:sp>
      <p:sp>
        <p:nvSpPr>
          <p:cNvPr id="4" name="STC-12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sleep은 하나의 optimizer가 아니라 operator pipeline이다</a:t>
            </a:r>
            <a:endParaRPr lang="en-US" sz="3000" dirty="0"/>
          </a:p>
        </p:txBody>
      </p:sp>
      <p:sp>
        <p:nvSpPr>
          <p:cNvPr id="5" name="STC-12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6" name="STC-12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2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2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Replay · distillation · dream data · RL · isolation · external compaction</a:t>
            </a:r>
            <a:endParaRPr lang="en-US" sz="850" dirty="0"/>
          </a:p>
        </p:txBody>
      </p:sp>
      <p:sp>
        <p:nvSpPr>
          <p:cNvPr id="9" name="STC-12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12</a:t>
            </a:r>
            <a:endParaRPr lang="en-US" sz="850" dirty="0"/>
          </a:p>
        </p:txBody>
      </p:sp>
      <p:sp>
        <p:nvSpPr>
          <p:cNvPr id="11" name="STC-12-op-node-0"/>
          <p:cNvSpPr/>
          <p:nvPr/>
        </p:nvSpPr>
        <p:spPr>
          <a:xfrm>
            <a:off x="5705856" y="1563624"/>
            <a:ext cx="658368" cy="658368"/>
          </a:xfrm>
          <a:prstGeom prst="ellipse">
            <a:avLst/>
          </a:prstGeom>
          <a:solidFill>
            <a:srgbClr val="244E8A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2" name="STC-12-op-num-0"/>
          <p:cNvSpPr/>
          <p:nvPr/>
        </p:nvSpPr>
        <p:spPr>
          <a:xfrm>
            <a:off x="5705856" y="1691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TC-12-op-tag-0"/>
          <p:cNvSpPr/>
          <p:nvPr/>
        </p:nvSpPr>
        <p:spPr>
          <a:xfrm>
            <a:off x="5010912" y="236829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ADMIT</a:t>
            </a:r>
            <a:endParaRPr lang="en-US" sz="1100" dirty="0"/>
          </a:p>
        </p:txBody>
      </p:sp>
      <p:sp>
        <p:nvSpPr>
          <p:cNvPr id="14" name="STC-12-op-body-0"/>
          <p:cNvSpPr/>
          <p:nvPr/>
        </p:nvSpPr>
        <p:spPr>
          <a:xfrm>
            <a:off x="4709160" y="14721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· rare · negative</a:t>
            </a:r>
            <a:endParaRPr lang="en-US" sz="1450" dirty="0"/>
          </a:p>
        </p:txBody>
      </p:sp>
      <p:sp>
        <p:nvSpPr>
          <p:cNvPr id="15" name="STC-12-op-link-0"/>
          <p:cNvSpPr/>
          <p:nvPr/>
        </p:nvSpPr>
        <p:spPr>
          <a:xfrm>
            <a:off x="6035040" y="1892808"/>
            <a:ext cx="2890412" cy="891540"/>
          </a:xfrm>
          <a:prstGeom prst="line">
            <a:avLst/>
          </a:prstGeom>
          <a:noFill/>
          <a:ln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16" name="STC-12-op-node-1"/>
          <p:cNvSpPr/>
          <p:nvPr/>
        </p:nvSpPr>
        <p:spPr>
          <a:xfrm>
            <a:off x="8596268" y="2455164"/>
            <a:ext cx="658368" cy="658368"/>
          </a:xfrm>
          <a:prstGeom prst="ellipse">
            <a:avLst/>
          </a:prstGeom>
          <a:solidFill>
            <a:srgbClr val="9A442D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7" name="STC-12-op-num-1"/>
          <p:cNvSpPr/>
          <p:nvPr/>
        </p:nvSpPr>
        <p:spPr>
          <a:xfrm>
            <a:off x="8596268" y="25831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TC-12-op-tag-1"/>
          <p:cNvSpPr/>
          <p:nvPr/>
        </p:nvSpPr>
        <p:spPr>
          <a:xfrm>
            <a:off x="7901324" y="325983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BUILD</a:t>
            </a:r>
            <a:endParaRPr lang="en-US" sz="1100" dirty="0"/>
          </a:p>
        </p:txBody>
      </p:sp>
      <p:sp>
        <p:nvSpPr>
          <p:cNvPr id="19" name="STC-12-op-body-1"/>
          <p:cNvSpPr/>
          <p:nvPr/>
        </p:nvSpPr>
        <p:spPr>
          <a:xfrm>
            <a:off x="7599572" y="35524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replay · coreset · dream</a:t>
            </a:r>
            <a:endParaRPr lang="en-US" sz="1450" dirty="0"/>
          </a:p>
        </p:txBody>
      </p:sp>
      <p:sp>
        <p:nvSpPr>
          <p:cNvPr id="20" name="STC-12-op-link-1"/>
          <p:cNvSpPr/>
          <p:nvPr/>
        </p:nvSpPr>
        <p:spPr>
          <a:xfrm>
            <a:off x="8925452" y="2784348"/>
            <a:ext cx="0" cy="1783080"/>
          </a:xfrm>
          <a:prstGeom prst="line">
            <a:avLst/>
          </a:prstGeom>
          <a:noFill/>
          <a:ln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1" name="STC-12-op-node-2"/>
          <p:cNvSpPr/>
          <p:nvPr/>
        </p:nvSpPr>
        <p:spPr>
          <a:xfrm>
            <a:off x="8596268" y="4238244"/>
            <a:ext cx="658368" cy="658368"/>
          </a:xfrm>
          <a:prstGeom prst="ellipse">
            <a:avLst/>
          </a:prstGeom>
          <a:solidFill>
            <a:srgbClr val="2F6B63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2" name="STC-12-op-num-2"/>
          <p:cNvSpPr/>
          <p:nvPr/>
        </p:nvSpPr>
        <p:spPr>
          <a:xfrm>
            <a:off x="8596268" y="43662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TC-12-op-tag-2"/>
          <p:cNvSpPr/>
          <p:nvPr/>
        </p:nvSpPr>
        <p:spPr>
          <a:xfrm>
            <a:off x="7901324" y="504291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UPDATE</a:t>
            </a:r>
            <a:endParaRPr lang="en-US" sz="1100" dirty="0"/>
          </a:p>
        </p:txBody>
      </p:sp>
      <p:sp>
        <p:nvSpPr>
          <p:cNvPr id="24" name="STC-12-op-body-2"/>
          <p:cNvSpPr/>
          <p:nvPr/>
        </p:nvSpPr>
        <p:spPr>
          <a:xfrm>
            <a:off x="7599572" y="53355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distill · RL · sparse write</a:t>
            </a:r>
            <a:endParaRPr lang="en-US" sz="1450" dirty="0"/>
          </a:p>
        </p:txBody>
      </p:sp>
      <p:sp>
        <p:nvSpPr>
          <p:cNvPr id="25" name="STC-12-op-link-2"/>
          <p:cNvSpPr/>
          <p:nvPr/>
        </p:nvSpPr>
        <p:spPr>
          <a:xfrm>
            <a:off x="8925452" y="4567428"/>
            <a:ext cx="-2890412" cy="891540"/>
          </a:xfrm>
          <a:prstGeom prst="line">
            <a:avLst/>
          </a:prstGeom>
          <a:noFill/>
          <a:ln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26" name="STC-12-op-node-3"/>
          <p:cNvSpPr/>
          <p:nvPr/>
        </p:nvSpPr>
        <p:spPr>
          <a:xfrm>
            <a:off x="5705856" y="5129784"/>
            <a:ext cx="658368" cy="658368"/>
          </a:xfrm>
          <a:prstGeom prst="ellipse">
            <a:avLst/>
          </a:prstGeom>
          <a:solidFill>
            <a:srgbClr val="244E8A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7" name="STC-12-op-num-3"/>
          <p:cNvSpPr/>
          <p:nvPr/>
        </p:nvSpPr>
        <p:spPr>
          <a:xfrm>
            <a:off x="5705856" y="5257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TC-12-op-tag-3"/>
          <p:cNvSpPr/>
          <p:nvPr/>
        </p:nvSpPr>
        <p:spPr>
          <a:xfrm>
            <a:off x="5010912" y="593445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VERIFY</a:t>
            </a:r>
            <a:endParaRPr lang="en-US" sz="1100" dirty="0"/>
          </a:p>
        </p:txBody>
      </p:sp>
      <p:sp>
        <p:nvSpPr>
          <p:cNvPr id="29" name="STC-12-op-body-3"/>
          <p:cNvSpPr/>
          <p:nvPr/>
        </p:nvSpPr>
        <p:spPr>
          <a:xfrm>
            <a:off x="4709160" y="6227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utility · preservation · harm</a:t>
            </a:r>
            <a:endParaRPr lang="en-US" sz="1450" dirty="0"/>
          </a:p>
        </p:txBody>
      </p:sp>
      <p:sp>
        <p:nvSpPr>
          <p:cNvPr id="30" name="STC-12-op-link-3"/>
          <p:cNvSpPr/>
          <p:nvPr/>
        </p:nvSpPr>
        <p:spPr>
          <a:xfrm>
            <a:off x="6035040" y="5458968"/>
            <a:ext cx="-2890412" cy="-891540"/>
          </a:xfrm>
          <a:prstGeom prst="line">
            <a:avLst/>
          </a:prstGeom>
          <a:noFill/>
          <a:ln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1" name="STC-12-op-node-4"/>
          <p:cNvSpPr/>
          <p:nvPr/>
        </p:nvSpPr>
        <p:spPr>
          <a:xfrm>
            <a:off x="2815444" y="4238244"/>
            <a:ext cx="658368" cy="658368"/>
          </a:xfrm>
          <a:prstGeom prst="ellipse">
            <a:avLst/>
          </a:prstGeom>
          <a:solidFill>
            <a:srgbClr val="2F6B63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32" name="STC-12-op-num-4"/>
          <p:cNvSpPr/>
          <p:nvPr/>
        </p:nvSpPr>
        <p:spPr>
          <a:xfrm>
            <a:off x="2815444" y="43662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STC-12-op-tag-4"/>
          <p:cNvSpPr/>
          <p:nvPr/>
        </p:nvSpPr>
        <p:spPr>
          <a:xfrm>
            <a:off x="2120500" y="504291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PUBLISH</a:t>
            </a:r>
            <a:endParaRPr lang="en-US" sz="1100" dirty="0"/>
          </a:p>
        </p:txBody>
      </p:sp>
      <p:sp>
        <p:nvSpPr>
          <p:cNvPr id="34" name="STC-12-op-body-4"/>
          <p:cNvSpPr/>
          <p:nvPr/>
        </p:nvSpPr>
        <p:spPr>
          <a:xfrm>
            <a:off x="1818748" y="53355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atomic manifest swap</a:t>
            </a:r>
            <a:endParaRPr lang="en-US" sz="1450" dirty="0"/>
          </a:p>
        </p:txBody>
      </p:sp>
      <p:sp>
        <p:nvSpPr>
          <p:cNvPr id="35" name="STC-12-op-link-4"/>
          <p:cNvSpPr/>
          <p:nvPr/>
        </p:nvSpPr>
        <p:spPr>
          <a:xfrm>
            <a:off x="3144628" y="4567428"/>
            <a:ext cx="0" cy="-1783080"/>
          </a:xfrm>
          <a:prstGeom prst="line">
            <a:avLst/>
          </a:prstGeom>
          <a:noFill/>
          <a:ln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36" name="STC-12-op-node-5"/>
          <p:cNvSpPr/>
          <p:nvPr/>
        </p:nvSpPr>
        <p:spPr>
          <a:xfrm>
            <a:off x="2815444" y="2455164"/>
            <a:ext cx="658368" cy="658368"/>
          </a:xfrm>
          <a:prstGeom prst="ellipse">
            <a:avLst/>
          </a:prstGeom>
          <a:solidFill>
            <a:srgbClr val="9A442D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37" name="STC-12-op-num-5"/>
          <p:cNvSpPr/>
          <p:nvPr/>
        </p:nvSpPr>
        <p:spPr>
          <a:xfrm>
            <a:off x="2815444" y="25831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STC-12-op-tag-5"/>
          <p:cNvSpPr/>
          <p:nvPr/>
        </p:nvSpPr>
        <p:spPr>
          <a:xfrm>
            <a:off x="2120500" y="325983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UNDO</a:t>
            </a:r>
            <a:endParaRPr lang="en-US" sz="1100" dirty="0"/>
          </a:p>
        </p:txBody>
      </p:sp>
      <p:sp>
        <p:nvSpPr>
          <p:cNvPr id="39" name="STC-12-op-body-5"/>
          <p:cNvSpPr/>
          <p:nvPr/>
        </p:nvSpPr>
        <p:spPr>
          <a:xfrm>
            <a:off x="1818748" y="35524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rollback · delete · rebuild</a:t>
            </a:r>
            <a:endParaRPr lang="en-US" sz="1450" dirty="0"/>
          </a:p>
        </p:txBody>
      </p:sp>
      <p:sp>
        <p:nvSpPr>
          <p:cNvPr id="40" name="STC-12-op-link-5"/>
          <p:cNvSpPr/>
          <p:nvPr/>
        </p:nvSpPr>
        <p:spPr>
          <a:xfrm>
            <a:off x="3144628" y="2784348"/>
            <a:ext cx="2890412" cy="-891540"/>
          </a:xfrm>
          <a:prstGeom prst="line">
            <a:avLst/>
          </a:prstGeom>
          <a:noFill/>
          <a:ln w="13970">
            <a:solidFill>
              <a:srgbClr val="C9C4B8"/>
            </a:solidFill>
            <a:prstDash val="solid"/>
            <a:tailEnd type="triangle"/>
          </a:ln>
        </p:spPr>
      </p:sp>
      <p:sp>
        <p:nvSpPr>
          <p:cNvPr id="41" name="STC-12-op-center"/>
          <p:cNvSpPr/>
          <p:nvPr/>
        </p:nvSpPr>
        <p:spPr>
          <a:xfrm>
            <a:off x="5029200" y="2670048"/>
            <a:ext cx="2011680" cy="2011680"/>
          </a:xfrm>
          <a:prstGeom prst="ellipse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42" name="STC-12-op-center-text"/>
          <p:cNvSpPr/>
          <p:nvPr/>
        </p:nvSpPr>
        <p:spPr>
          <a:xfrm>
            <a:off x="5193792" y="3246120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TRANSACTION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3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 DATA</a:t>
            </a:r>
            <a:endParaRPr lang="en-US" sz="950" dirty="0"/>
          </a:p>
        </p:txBody>
      </p:sp>
      <p:sp>
        <p:nvSpPr>
          <p:cNvPr id="3" name="STC-13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STC-13</a:t>
            </a:r>
            <a:endParaRPr lang="en-US" sz="950" dirty="0"/>
          </a:p>
        </p:txBody>
      </p:sp>
      <p:sp>
        <p:nvSpPr>
          <p:cNvPr id="4" name="STC-13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dream은 미래 query utility를 보존한다</a:t>
            </a:r>
            <a:endParaRPr lang="en-US" sz="3000" dirty="0"/>
          </a:p>
        </p:txBody>
      </p:sp>
      <p:sp>
        <p:nvSpPr>
          <p:cNvPr id="5" name="STC-13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제안</a:t>
            </a:r>
            <a:endParaRPr lang="en-US" sz="1000" dirty="0"/>
          </a:p>
        </p:txBody>
      </p:sp>
      <p:sp>
        <p:nvSpPr>
          <p:cNvPr id="6" name="STC-13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13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3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PAD · Cartridges · SEAL · Google Dreaming · Auto-Dreamer</a:t>
            </a:r>
            <a:endParaRPr lang="en-US" sz="850" dirty="0"/>
          </a:p>
        </p:txBody>
      </p:sp>
      <p:sp>
        <p:nvSpPr>
          <p:cNvPr id="9" name="STC-13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13</a:t>
            </a:r>
            <a:endParaRPr lang="en-US" sz="850" dirty="0"/>
          </a:p>
        </p:txBody>
      </p:sp>
      <p:sp>
        <p:nvSpPr>
          <p:cNvPr id="11" name="STC-13-data-layer-0"/>
          <p:cNvSpPr/>
          <p:nvPr/>
        </p:nvSpPr>
        <p:spPr>
          <a:xfrm>
            <a:off x="1618488" y="1664208"/>
            <a:ext cx="8961120" cy="566928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12" name="STC-13-data-label-0"/>
          <p:cNvSpPr/>
          <p:nvPr/>
        </p:nvSpPr>
        <p:spPr>
          <a:xfrm>
            <a:off x="178308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HOLDOUT FUTURE TASK</a:t>
            </a:r>
            <a:endParaRPr lang="en-US" sz="1050" dirty="0"/>
          </a:p>
        </p:txBody>
      </p:sp>
      <p:sp>
        <p:nvSpPr>
          <p:cNvPr id="13" name="STC-13-data-body-0"/>
          <p:cNvSpPr/>
          <p:nvPr/>
        </p:nvSpPr>
        <p:spPr>
          <a:xfrm>
            <a:off x="3401568" y="1755648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dream likelihood가 아니라 다음 wake utility</a:t>
            </a:r>
            <a:endParaRPr lang="en-US" sz="1450" dirty="0"/>
          </a:p>
        </p:txBody>
      </p:sp>
      <p:sp>
        <p:nvSpPr>
          <p:cNvPr id="14" name="STC-13-data-layer-1"/>
          <p:cNvSpPr/>
          <p:nvPr/>
        </p:nvSpPr>
        <p:spPr>
          <a:xfrm>
            <a:off x="2258568" y="2450592"/>
            <a:ext cx="7680960" cy="566928"/>
          </a:xfrm>
          <a:prstGeom prst="rect">
            <a:avLst/>
          </a:prstGeom>
          <a:solidFill>
            <a:srgbClr val="DDE9E4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15" name="STC-13-data-label-1"/>
          <p:cNvSpPr/>
          <p:nvPr/>
        </p:nvSpPr>
        <p:spPr>
          <a:xfrm>
            <a:off x="2423160" y="26151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GROUNDING</a:t>
            </a:r>
            <a:endParaRPr lang="en-US" sz="1050" dirty="0"/>
          </a:p>
        </p:txBody>
      </p:sp>
      <p:sp>
        <p:nvSpPr>
          <p:cNvPr id="16" name="STC-13-data-body-1"/>
          <p:cNvSpPr/>
          <p:nvPr/>
        </p:nvSpPr>
        <p:spPr>
          <a:xfrm>
            <a:off x="4041648" y="254203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 provenance · tool outcome · simulator</a:t>
            </a:r>
            <a:endParaRPr lang="en-US" sz="1450" dirty="0"/>
          </a:p>
        </p:txBody>
      </p:sp>
      <p:sp>
        <p:nvSpPr>
          <p:cNvPr id="17" name="STC-13-data-layer-2"/>
          <p:cNvSpPr/>
          <p:nvPr/>
        </p:nvSpPr>
        <p:spPr>
          <a:xfrm>
            <a:off x="2898648" y="3236976"/>
            <a:ext cx="6400800" cy="566928"/>
          </a:xfrm>
          <a:prstGeom prst="rect">
            <a:avLst/>
          </a:prstGeom>
          <a:solidFill>
            <a:srgbClr val="DDE6F2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8" name="STC-13-data-label-2"/>
          <p:cNvSpPr/>
          <p:nvPr/>
        </p:nvSpPr>
        <p:spPr>
          <a:xfrm>
            <a:off x="3063240" y="3401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ANTI-COLLAPSE MIX</a:t>
            </a:r>
            <a:endParaRPr lang="en-US" sz="1050" dirty="0"/>
          </a:p>
        </p:txBody>
      </p:sp>
      <p:sp>
        <p:nvSpPr>
          <p:cNvPr id="19" name="STC-13-data-body-2"/>
          <p:cNvSpPr/>
          <p:nvPr/>
        </p:nvSpPr>
        <p:spPr>
          <a:xfrm>
            <a:off x="4681728" y="332841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· teacher · student · adversarial · random</a:t>
            </a:r>
            <a:endParaRPr lang="en-US" sz="1350" dirty="0"/>
          </a:p>
        </p:txBody>
      </p:sp>
      <p:sp>
        <p:nvSpPr>
          <p:cNvPr id="20" name="STC-13-data-layer-3"/>
          <p:cNvSpPr/>
          <p:nvPr/>
        </p:nvSpPr>
        <p:spPr>
          <a:xfrm>
            <a:off x="3538728" y="4023360"/>
            <a:ext cx="5120640" cy="566928"/>
          </a:xfrm>
          <a:prstGeom prst="rect">
            <a:avLst/>
          </a:prstGeom>
          <a:solidFill>
            <a:srgbClr val="F0DED7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1" name="STC-13-data-label-3"/>
          <p:cNvSpPr/>
          <p:nvPr/>
        </p:nvSpPr>
        <p:spPr>
          <a:xfrm>
            <a:off x="3703320" y="4187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NOVEL RECOMBINATION</a:t>
            </a:r>
            <a:endParaRPr lang="en-US" sz="1050" dirty="0"/>
          </a:p>
        </p:txBody>
      </p:sp>
      <p:sp>
        <p:nvSpPr>
          <p:cNvPr id="22" name="STC-13-data-body-3"/>
          <p:cNvSpPr/>
          <p:nvPr/>
        </p:nvSpPr>
        <p:spPr>
          <a:xfrm>
            <a:off x="5321808" y="4114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counterfactual · composition · edge case</a:t>
            </a:r>
            <a:endParaRPr lang="en-US" sz="1350" dirty="0"/>
          </a:p>
        </p:txBody>
      </p:sp>
      <p:sp>
        <p:nvSpPr>
          <p:cNvPr id="23" name="STC-13-data-layer-4"/>
          <p:cNvSpPr/>
          <p:nvPr/>
        </p:nvSpPr>
        <p:spPr>
          <a:xfrm>
            <a:off x="4178808" y="4809744"/>
            <a:ext cx="3840480" cy="566928"/>
          </a:xfrm>
          <a:prstGeom prst="rect">
            <a:avLst/>
          </a:prstGeom>
          <a:solidFill>
            <a:srgbClr val="ECE8DE"/>
          </a:solidFill>
          <a:ln w="12700">
            <a:solidFill>
              <a:srgbClr val="59616A"/>
            </a:solidFill>
            <a:prstDash val="solid"/>
          </a:ln>
        </p:spPr>
      </p:sp>
      <p:sp>
        <p:nvSpPr>
          <p:cNvPr id="24" name="STC-13-data-label-4"/>
          <p:cNvSpPr/>
          <p:nvPr/>
        </p:nvSpPr>
        <p:spPr>
          <a:xfrm>
            <a:off x="4343400" y="49743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5" name="STC-13-data-body-4"/>
          <p:cNvSpPr/>
          <p:nvPr/>
        </p:nvSpPr>
        <p:spPr>
          <a:xfrm>
            <a:off x="5961888" y="49011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old · rare · negative · correction</a:t>
            </a:r>
            <a:endParaRPr lang="en-US" sz="1350" dirty="0"/>
          </a:p>
        </p:txBody>
      </p:sp>
      <p:sp>
        <p:nvSpPr>
          <p:cNvPr id="26" name="STC-13-data-warning"/>
          <p:cNvSpPr/>
          <p:nvPr/>
        </p:nvSpPr>
        <p:spPr>
          <a:xfrm>
            <a:off x="2286000" y="56235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44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teacher corruption과 omission은 sleep을 반복할수록 축적될 수 있다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4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DESTINATION</a:t>
            </a:r>
            <a:endParaRPr lang="en-US" sz="950" dirty="0"/>
          </a:p>
        </p:txBody>
      </p:sp>
      <p:sp>
        <p:nvSpPr>
          <p:cNvPr id="3" name="STC-14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STC-14</a:t>
            </a:r>
            <a:endParaRPr lang="en-US" sz="950" dirty="0"/>
          </a:p>
        </p:txBody>
      </p:sp>
      <p:sp>
        <p:nvSpPr>
          <p:cNvPr id="4" name="STC-14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external-first, parameter-last는 방어 가능한 default다</a:t>
            </a:r>
            <a:endParaRPr lang="en-US" sz="3000" dirty="0"/>
          </a:p>
        </p:txBody>
      </p:sp>
      <p:sp>
        <p:nvSpPr>
          <p:cNvPr id="5" name="STC-14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6" name="STC-14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4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4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Mem0/Zep · Cartridges · LoRA/SMF · Google Sleep · deletion audits</a:t>
            </a:r>
            <a:endParaRPr lang="en-US" sz="850" dirty="0"/>
          </a:p>
        </p:txBody>
      </p:sp>
      <p:sp>
        <p:nvSpPr>
          <p:cNvPr id="9" name="STC-14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14</a:t>
            </a:r>
            <a:endParaRPr lang="en-US" sz="850" dirty="0"/>
          </a:p>
        </p:txBody>
      </p:sp>
      <p:sp>
        <p:nvSpPr>
          <p:cNvPr id="11" name="STC-14-destination-diagonal"/>
          <p:cNvSpPr/>
          <p:nvPr/>
        </p:nvSpPr>
        <p:spPr>
          <a:xfrm>
            <a:off x="960120" y="3904488"/>
            <a:ext cx="10149840" cy="-1517904"/>
          </a:xfrm>
          <a:prstGeom prst="line">
            <a:avLst/>
          </a:prstGeom>
          <a:noFill/>
          <a:ln w="279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4-dest-point-0"/>
          <p:cNvSpPr/>
          <p:nvPr/>
        </p:nvSpPr>
        <p:spPr>
          <a:xfrm>
            <a:off x="1097280" y="3822192"/>
            <a:ext cx="310896" cy="310896"/>
          </a:xfrm>
          <a:prstGeom prst="ellipse">
            <a:avLst/>
          </a:prstGeom>
          <a:solidFill>
            <a:srgbClr val="244E8A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3" name="STC-14-dest-label-0"/>
          <p:cNvSpPr/>
          <p:nvPr/>
        </p:nvSpPr>
        <p:spPr>
          <a:xfrm>
            <a:off x="731520" y="32004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RAW / EVENT</a:t>
            </a:r>
            <a:endParaRPr lang="en-US" sz="1050" dirty="0"/>
          </a:p>
        </p:txBody>
      </p:sp>
      <p:sp>
        <p:nvSpPr>
          <p:cNvPr id="14" name="STC-14-dest-sub-0"/>
          <p:cNvSpPr/>
          <p:nvPr/>
        </p:nvSpPr>
        <p:spPr>
          <a:xfrm>
            <a:off x="731520" y="42793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audit·delete ↑</a:t>
            </a:r>
            <a:endParaRPr lang="en-US" sz="1350" dirty="0"/>
          </a:p>
        </p:txBody>
      </p:sp>
      <p:sp>
        <p:nvSpPr>
          <p:cNvPr id="15" name="STC-14-dest-point-1"/>
          <p:cNvSpPr/>
          <p:nvPr/>
        </p:nvSpPr>
        <p:spPr>
          <a:xfrm>
            <a:off x="3200400" y="3502152"/>
            <a:ext cx="310896" cy="3108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6" name="STC-14-dest-label-1"/>
          <p:cNvSpPr/>
          <p:nvPr/>
        </p:nvSpPr>
        <p:spPr>
          <a:xfrm>
            <a:off x="2834640" y="288036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TEXT / GRAPH</a:t>
            </a:r>
            <a:endParaRPr lang="en-US" sz="1050" dirty="0"/>
          </a:p>
        </p:txBody>
      </p:sp>
      <p:sp>
        <p:nvSpPr>
          <p:cNvPr id="17" name="STC-14-dest-sub-1"/>
          <p:cNvSpPr/>
          <p:nvPr/>
        </p:nvSpPr>
        <p:spPr>
          <a:xfrm>
            <a:off x="2834640" y="3959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semantic view</a:t>
            </a:r>
            <a:endParaRPr lang="en-US" sz="1350" dirty="0"/>
          </a:p>
        </p:txBody>
      </p:sp>
      <p:sp>
        <p:nvSpPr>
          <p:cNvPr id="18" name="STC-14-dest-point-2"/>
          <p:cNvSpPr/>
          <p:nvPr/>
        </p:nvSpPr>
        <p:spPr>
          <a:xfrm>
            <a:off x="5349240" y="3163824"/>
            <a:ext cx="310896" cy="3108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9" name="STC-14-dest-label-2"/>
          <p:cNvSpPr/>
          <p:nvPr/>
        </p:nvSpPr>
        <p:spPr>
          <a:xfrm>
            <a:off x="4983480" y="254203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VECTOR / KV</a:t>
            </a:r>
            <a:endParaRPr lang="en-US" sz="1050" dirty="0"/>
          </a:p>
        </p:txBody>
      </p:sp>
      <p:sp>
        <p:nvSpPr>
          <p:cNvPr id="20" name="STC-14-dest-sub-2"/>
          <p:cNvSpPr/>
          <p:nvPr/>
        </p:nvSpPr>
        <p:spPr>
          <a:xfrm>
            <a:off x="4983480" y="36210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compact cache</a:t>
            </a:r>
            <a:endParaRPr lang="en-US" sz="1350" dirty="0"/>
          </a:p>
        </p:txBody>
      </p:sp>
      <p:sp>
        <p:nvSpPr>
          <p:cNvPr id="21" name="STC-14-dest-point-3"/>
          <p:cNvSpPr/>
          <p:nvPr/>
        </p:nvSpPr>
        <p:spPr>
          <a:xfrm>
            <a:off x="7452360" y="2834640"/>
            <a:ext cx="310896" cy="3108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2" name="STC-14-dest-label-3"/>
          <p:cNvSpPr/>
          <p:nvPr/>
        </p:nvSpPr>
        <p:spPr>
          <a:xfrm>
            <a:off x="7086600" y="221284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ADAPTER</a:t>
            </a:r>
            <a:endParaRPr lang="en-US" sz="1050" dirty="0"/>
          </a:p>
        </p:txBody>
      </p:sp>
      <p:sp>
        <p:nvSpPr>
          <p:cNvPr id="23" name="STC-14-dest-sub-3"/>
          <p:cNvSpPr/>
          <p:nvPr/>
        </p:nvSpPr>
        <p:spPr>
          <a:xfrm>
            <a:off x="7086600" y="32918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user-local delta</a:t>
            </a:r>
            <a:endParaRPr lang="en-US" sz="1350" dirty="0"/>
          </a:p>
        </p:txBody>
      </p:sp>
      <p:sp>
        <p:nvSpPr>
          <p:cNvPr id="24" name="STC-14-dest-point-4"/>
          <p:cNvSpPr/>
          <p:nvPr/>
        </p:nvSpPr>
        <p:spPr>
          <a:xfrm>
            <a:off x="9646920" y="2505456"/>
            <a:ext cx="310896" cy="3108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5" name="STC-14-dest-label-4"/>
          <p:cNvSpPr/>
          <p:nvPr/>
        </p:nvSpPr>
        <p:spPr>
          <a:xfrm>
            <a:off x="9281160" y="188366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SHARED WEIGHT</a:t>
            </a:r>
            <a:endParaRPr lang="en-US" sz="1050" dirty="0"/>
          </a:p>
        </p:txBody>
      </p:sp>
      <p:sp>
        <p:nvSpPr>
          <p:cNvPr id="26" name="STC-14-dest-sub-4"/>
          <p:cNvSpPr/>
          <p:nvPr/>
        </p:nvSpPr>
        <p:spPr>
          <a:xfrm>
            <a:off x="928116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reuse·generalize ↑</a:t>
            </a:r>
            <a:endParaRPr lang="en-US" sz="1350" dirty="0"/>
          </a:p>
        </p:txBody>
      </p:sp>
      <p:sp>
        <p:nvSpPr>
          <p:cNvPr id="27" name="STC-14-dest-left-axis"/>
          <p:cNvSpPr/>
          <p:nvPr/>
        </p:nvSpPr>
        <p:spPr>
          <a:xfrm>
            <a:off x="896112" y="490118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4E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reversibility · provenance · correction</a:t>
            </a:r>
            <a:endParaRPr lang="en-US" sz="1600" dirty="0"/>
          </a:p>
        </p:txBody>
      </p:sp>
      <p:sp>
        <p:nvSpPr>
          <p:cNvPr id="28" name="STC-14-dest-right-axis"/>
          <p:cNvSpPr/>
          <p:nvPr/>
        </p:nvSpPr>
        <p:spPr>
          <a:xfrm>
            <a:off x="7223760" y="1554480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9A44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reuse amortization · generalization</a:t>
            </a:r>
            <a:endParaRPr lang="en-US" sz="1450" dirty="0"/>
          </a:p>
        </p:txBody>
      </p:sp>
      <p:sp>
        <p:nvSpPr>
          <p:cNvPr id="29" name="STC-14-dest-rule"/>
          <p:cNvSpPr/>
          <p:nvPr/>
        </p:nvSpPr>
        <p:spPr>
          <a:xfrm>
            <a:off x="2084832" y="5358384"/>
            <a:ext cx="8010144" cy="457200"/>
          </a:xfrm>
          <a:prstGeom prst="rect">
            <a:avLst/>
          </a:prstGeom>
          <a:solidFill>
            <a:srgbClr val="ECE8DE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30" name="STC-14-dest-rule-text"/>
          <p:cNvSpPr/>
          <p:nvPr/>
        </p:nvSpPr>
        <p:spPr>
          <a:xfrm>
            <a:off x="2304288" y="5495544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91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PROMOTE only if  expected future value  &gt;  compile + serve + interfere + govern + risk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5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CAPACITY</a:t>
            </a:r>
            <a:endParaRPr lang="en-US" sz="950" dirty="0"/>
          </a:p>
        </p:txBody>
      </p:sp>
      <p:sp>
        <p:nvSpPr>
          <p:cNvPr id="3" name="STC-15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STC-15</a:t>
            </a:r>
            <a:endParaRPr lang="en-US" sz="950" dirty="0"/>
          </a:p>
        </p:txBody>
      </p:sp>
      <p:sp>
        <p:nvSpPr>
          <p:cNvPr id="4" name="STC-15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기억용량은 최소 다섯 개이고 먼저 차는 것이 다르다</a:t>
            </a:r>
            <a:endParaRPr lang="en-US" sz="3000" dirty="0"/>
          </a:p>
        </p:txBody>
      </p:sp>
      <p:sp>
        <p:nvSpPr>
          <p:cNvPr id="5" name="STC-15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6" name="STC-15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5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5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bounded synapses · continual-learning bounds · agent-memory systems</a:t>
            </a:r>
            <a:endParaRPr lang="en-US" sz="850" dirty="0"/>
          </a:p>
        </p:txBody>
      </p:sp>
      <p:sp>
        <p:nvSpPr>
          <p:cNvPr id="9" name="STC-15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15</a:t>
            </a:r>
            <a:endParaRPr lang="en-US" sz="850" dirty="0"/>
          </a:p>
        </p:txBody>
      </p:sp>
      <p:sp>
        <p:nvSpPr>
          <p:cNvPr id="11" name="STC-15-cap-num-0"/>
          <p:cNvSpPr/>
          <p:nvPr/>
        </p:nvSpPr>
        <p:spPr>
          <a:xfrm>
            <a:off x="731520" y="168249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TC-15-cap-label-box-0"/>
          <p:cNvSpPr/>
          <p:nvPr/>
        </p:nvSpPr>
        <p:spPr>
          <a:xfrm>
            <a:off x="1417320" y="1572768"/>
            <a:ext cx="1993392" cy="475488"/>
          </a:xfrm>
          <a:prstGeom prst="rect">
            <a:avLst/>
          </a:prstGeom>
          <a:solidFill>
            <a:srgbClr val="59616A"/>
          </a:solidFill>
          <a:ln w="12700">
            <a:solidFill>
              <a:srgbClr val="59616A"/>
            </a:solidFill>
            <a:prstDash val="solid"/>
          </a:ln>
        </p:spPr>
      </p:sp>
      <p:sp>
        <p:nvSpPr>
          <p:cNvPr id="13" name="STC-15-cap-label-0"/>
          <p:cNvSpPr/>
          <p:nvPr/>
        </p:nvSpPr>
        <p:spPr>
          <a:xfrm>
            <a:off x="1572768" y="171907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STORAGE</a:t>
            </a:r>
            <a:endParaRPr lang="en-US" sz="1100" dirty="0"/>
          </a:p>
        </p:txBody>
      </p:sp>
      <p:sp>
        <p:nvSpPr>
          <p:cNvPr id="14" name="STC-15-cap-body-0"/>
          <p:cNvSpPr/>
          <p:nvPr/>
        </p:nvSpPr>
        <p:spPr>
          <a:xfrm>
            <a:off x="3703320" y="166420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bytes · rows · edges · slots</a:t>
            </a:r>
            <a:endParaRPr lang="en-US" sz="1750" dirty="0"/>
          </a:p>
        </p:txBody>
      </p:sp>
      <p:sp>
        <p:nvSpPr>
          <p:cNvPr id="15" name="STC-15-cap-pressure-0"/>
          <p:cNvSpPr/>
          <p:nvPr/>
        </p:nvSpPr>
        <p:spPr>
          <a:xfrm>
            <a:off x="7635240" y="1664208"/>
            <a:ext cx="3017520" cy="256032"/>
          </a:xfrm>
          <a:prstGeom prst="rect">
            <a:avLst/>
          </a:prstGeom>
          <a:solidFill>
            <a:srgbClr val="59616A"/>
          </a:solidFill>
          <a:ln w="12700">
            <a:solidFill>
              <a:srgbClr val="59616A"/>
            </a:solidFill>
            <a:prstDash val="solid"/>
          </a:ln>
        </p:spPr>
      </p:sp>
      <p:sp>
        <p:nvSpPr>
          <p:cNvPr id="16" name="STC-15-cap-num-1"/>
          <p:cNvSpPr/>
          <p:nvPr/>
        </p:nvSpPr>
        <p:spPr>
          <a:xfrm>
            <a:off x="731520" y="25237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STC-15-cap-label-box-1"/>
          <p:cNvSpPr/>
          <p:nvPr/>
        </p:nvSpPr>
        <p:spPr>
          <a:xfrm>
            <a:off x="1417320" y="2414016"/>
            <a:ext cx="1993392" cy="475488"/>
          </a:xfrm>
          <a:prstGeom prst="rect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8" name="STC-15-cap-label-1"/>
          <p:cNvSpPr/>
          <p:nvPr/>
        </p:nvSpPr>
        <p:spPr>
          <a:xfrm>
            <a:off x="1572768" y="256032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19" name="STC-15-cap-body-1"/>
          <p:cNvSpPr/>
          <p:nvPr/>
        </p:nvSpPr>
        <p:spPr>
          <a:xfrm>
            <a:off x="3703320" y="250545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old trace above recall threshold</a:t>
            </a:r>
            <a:endParaRPr lang="en-US" sz="1750" dirty="0"/>
          </a:p>
        </p:txBody>
      </p:sp>
      <p:sp>
        <p:nvSpPr>
          <p:cNvPr id="20" name="STC-15-cap-pressure-1"/>
          <p:cNvSpPr/>
          <p:nvPr/>
        </p:nvSpPr>
        <p:spPr>
          <a:xfrm>
            <a:off x="7635240" y="2505456"/>
            <a:ext cx="3657600" cy="256032"/>
          </a:xfrm>
          <a:prstGeom prst="rect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21" name="STC-15-cap-num-2"/>
          <p:cNvSpPr/>
          <p:nvPr/>
        </p:nvSpPr>
        <p:spPr>
          <a:xfrm>
            <a:off x="731520" y="33649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TC-15-cap-label-box-2"/>
          <p:cNvSpPr/>
          <p:nvPr/>
        </p:nvSpPr>
        <p:spPr>
          <a:xfrm>
            <a:off x="1417320" y="3255264"/>
            <a:ext cx="1993392" cy="475488"/>
          </a:xfrm>
          <a:prstGeom prst="rect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23" name="STC-15-cap-label-2"/>
          <p:cNvSpPr/>
          <p:nvPr/>
        </p:nvSpPr>
        <p:spPr>
          <a:xfrm>
            <a:off x="1572768" y="3401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ADDRESSABILITY</a:t>
            </a:r>
            <a:endParaRPr lang="en-US" sz="1100" dirty="0"/>
          </a:p>
        </p:txBody>
      </p:sp>
      <p:sp>
        <p:nvSpPr>
          <p:cNvPr id="24" name="STC-15-cap-body-2"/>
          <p:cNvSpPr/>
          <p:nvPr/>
        </p:nvSpPr>
        <p:spPr>
          <a:xfrm>
            <a:off x="3703320" y="334670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find and apply under live budget</a:t>
            </a:r>
            <a:endParaRPr lang="en-US" sz="1750" dirty="0"/>
          </a:p>
        </p:txBody>
      </p:sp>
      <p:sp>
        <p:nvSpPr>
          <p:cNvPr id="25" name="STC-15-cap-pressure-2"/>
          <p:cNvSpPr/>
          <p:nvPr/>
        </p:nvSpPr>
        <p:spPr>
          <a:xfrm>
            <a:off x="7635240" y="3346704"/>
            <a:ext cx="4297680" cy="256032"/>
          </a:xfrm>
          <a:prstGeom prst="rect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26" name="STC-15-cap-num-3"/>
          <p:cNvSpPr/>
          <p:nvPr/>
        </p:nvSpPr>
        <p:spPr>
          <a:xfrm>
            <a:off x="731520" y="42062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TC-15-cap-label-box-3"/>
          <p:cNvSpPr/>
          <p:nvPr/>
        </p:nvSpPr>
        <p:spPr>
          <a:xfrm>
            <a:off x="1417320" y="4096512"/>
            <a:ext cx="1993392" cy="475488"/>
          </a:xfrm>
          <a:prstGeom prst="rect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8" name="STC-15-cap-label-3"/>
          <p:cNvSpPr/>
          <p:nvPr/>
        </p:nvSpPr>
        <p:spPr>
          <a:xfrm>
            <a:off x="1572768" y="424281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PLASTICITY</a:t>
            </a:r>
            <a:endParaRPr lang="en-US" sz="1100" dirty="0"/>
          </a:p>
        </p:txBody>
      </p:sp>
      <p:sp>
        <p:nvSpPr>
          <p:cNvPr id="29" name="STC-15-cap-body-3"/>
          <p:cNvSpPr/>
          <p:nvPr/>
        </p:nvSpPr>
        <p:spPr>
          <a:xfrm>
            <a:off x="3703320" y="41879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learn new as well as fresh control</a:t>
            </a:r>
            <a:endParaRPr lang="en-US" sz="1750" dirty="0"/>
          </a:p>
        </p:txBody>
      </p:sp>
      <p:sp>
        <p:nvSpPr>
          <p:cNvPr id="30" name="STC-15-cap-pressure-3"/>
          <p:cNvSpPr/>
          <p:nvPr/>
        </p:nvSpPr>
        <p:spPr>
          <a:xfrm>
            <a:off x="7635240" y="4187952"/>
            <a:ext cx="3474720" cy="256032"/>
          </a:xfrm>
          <a:prstGeom prst="rect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31" name="STC-15-cap-num-4"/>
          <p:cNvSpPr/>
          <p:nvPr/>
        </p:nvSpPr>
        <p:spPr>
          <a:xfrm>
            <a:off x="731520" y="50474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STC-15-cap-label-box-4"/>
          <p:cNvSpPr/>
          <p:nvPr/>
        </p:nvSpPr>
        <p:spPr>
          <a:xfrm>
            <a:off x="1417320" y="4937760"/>
            <a:ext cx="1993392" cy="475488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33" name="STC-15-cap-label-4"/>
          <p:cNvSpPr/>
          <p:nvPr/>
        </p:nvSpPr>
        <p:spPr>
          <a:xfrm>
            <a:off x="1572768" y="508406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4" name="STC-15-cap-body-4"/>
          <p:cNvSpPr/>
          <p:nvPr/>
        </p:nvSpPr>
        <p:spPr>
          <a:xfrm>
            <a:off x="3703320" y="502920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provenance · delete · rollback</a:t>
            </a:r>
            <a:endParaRPr lang="en-US" sz="1750" dirty="0"/>
          </a:p>
        </p:txBody>
      </p:sp>
      <p:sp>
        <p:nvSpPr>
          <p:cNvPr id="35" name="STC-15-cap-pressure-4"/>
          <p:cNvSpPr/>
          <p:nvPr/>
        </p:nvSpPr>
        <p:spPr>
          <a:xfrm>
            <a:off x="7635240" y="5029200"/>
            <a:ext cx="3931920" cy="25603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36" name="STC-15-cap-binding"/>
          <p:cNvSpPr/>
          <p:nvPr/>
        </p:nvSpPr>
        <p:spPr>
          <a:xfrm>
            <a:off x="9070848" y="56692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first binding pressure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6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INFORMATION BOUNDARY</a:t>
            </a:r>
            <a:endParaRPr lang="en-US" sz="950" dirty="0"/>
          </a:p>
        </p:txBody>
      </p:sp>
      <p:sp>
        <p:nvSpPr>
          <p:cNvPr id="3" name="STC-16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STC-16</a:t>
            </a:r>
            <a:endParaRPr lang="en-US" sz="950" dirty="0"/>
          </a:p>
        </p:txBody>
      </p:sp>
      <p:sp>
        <p:nvSpPr>
          <p:cNvPr id="4" name="STC-16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근거가 사라지면 sleep도 특정 기억을 부활시킬 수 없다</a:t>
            </a:r>
            <a:endParaRPr lang="en-US" sz="3000" dirty="0"/>
          </a:p>
        </p:txBody>
      </p:sp>
      <p:sp>
        <p:nvSpPr>
          <p:cNvPr id="5" name="STC-16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6" name="STC-16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16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6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Data-processing boundary · PLOS failure condition · replay literature</a:t>
            </a:r>
            <a:endParaRPr lang="en-US" sz="850" dirty="0"/>
          </a:p>
        </p:txBody>
      </p:sp>
      <p:sp>
        <p:nvSpPr>
          <p:cNvPr id="9" name="STC-16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16</a:t>
            </a:r>
            <a:endParaRPr lang="en-US" sz="850" dirty="0"/>
          </a:p>
        </p:txBody>
      </p:sp>
      <p:sp>
        <p:nvSpPr>
          <p:cNvPr id="11" name="STC-16-nfr-stage-0"/>
          <p:cNvSpPr/>
          <p:nvPr/>
        </p:nvSpPr>
        <p:spPr>
          <a:xfrm>
            <a:off x="868680" y="2240280"/>
            <a:ext cx="1874520" cy="713232"/>
          </a:xfrm>
          <a:prstGeom prst="rect">
            <a:avLst/>
          </a:prstGeom>
          <a:solidFill>
            <a:srgbClr val="DDE6F2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2" name="STC-16-nfr-label-0"/>
          <p:cNvSpPr/>
          <p:nvPr/>
        </p:nvSpPr>
        <p:spPr>
          <a:xfrm>
            <a:off x="978408" y="2478024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TARGET X</a:t>
            </a:r>
            <a:endParaRPr lang="en-US" sz="1200" dirty="0"/>
          </a:p>
        </p:txBody>
      </p:sp>
      <p:sp>
        <p:nvSpPr>
          <p:cNvPr id="13" name="STC-16-nfr-arrow-0"/>
          <p:cNvSpPr/>
          <p:nvPr/>
        </p:nvSpPr>
        <p:spPr>
          <a:xfrm>
            <a:off x="2843784" y="2587752"/>
            <a:ext cx="813816" cy="0"/>
          </a:xfrm>
          <a:prstGeom prst="line">
            <a:avLst/>
          </a:prstGeom>
          <a:noFill/>
          <a:ln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16-nfr-stage-1"/>
          <p:cNvSpPr/>
          <p:nvPr/>
        </p:nvSpPr>
        <p:spPr>
          <a:xfrm>
            <a:off x="2926080" y="2240280"/>
            <a:ext cx="1874520" cy="713232"/>
          </a:xfrm>
          <a:prstGeom prst="rect">
            <a:avLst/>
          </a:prstGeom>
          <a:solidFill>
            <a:srgbClr val="DDE9E4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15" name="STC-16-nfr-label-1"/>
          <p:cNvSpPr/>
          <p:nvPr/>
        </p:nvSpPr>
        <p:spPr>
          <a:xfrm>
            <a:off x="3035808" y="2478024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RETAINED Ωₜ</a:t>
            </a:r>
            <a:endParaRPr lang="en-US" sz="1200" dirty="0"/>
          </a:p>
        </p:txBody>
      </p:sp>
      <p:sp>
        <p:nvSpPr>
          <p:cNvPr id="16" name="STC-16-nfr-arrow-1"/>
          <p:cNvSpPr/>
          <p:nvPr/>
        </p:nvSpPr>
        <p:spPr>
          <a:xfrm>
            <a:off x="4901184" y="2587752"/>
            <a:ext cx="813816" cy="0"/>
          </a:xfrm>
          <a:prstGeom prst="line">
            <a:avLst/>
          </a:prstGeom>
          <a:noFill/>
          <a:ln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7" name="STC-16-nfr-stage-2"/>
          <p:cNvSpPr/>
          <p:nvPr/>
        </p:nvSpPr>
        <p:spPr>
          <a:xfrm>
            <a:off x="5532120" y="2240280"/>
            <a:ext cx="1874520" cy="713232"/>
          </a:xfrm>
          <a:prstGeom prst="rect">
            <a:avLst/>
          </a:prstGeom>
          <a:solidFill>
            <a:srgbClr val="F0DED7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18" name="STC-16-nfr-label-2"/>
          <p:cNvSpPr/>
          <p:nvPr/>
        </p:nvSpPr>
        <p:spPr>
          <a:xfrm>
            <a:off x="5641848" y="2478024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 f(Ωₜ,U)</a:t>
            </a:r>
            <a:endParaRPr lang="en-US" sz="1200" dirty="0"/>
          </a:p>
        </p:txBody>
      </p:sp>
      <p:sp>
        <p:nvSpPr>
          <p:cNvPr id="19" name="STC-16-nfr-arrow-2"/>
          <p:cNvSpPr/>
          <p:nvPr/>
        </p:nvSpPr>
        <p:spPr>
          <a:xfrm>
            <a:off x="7507224" y="2587752"/>
            <a:ext cx="813816" cy="0"/>
          </a:xfrm>
          <a:prstGeom prst="line">
            <a:avLst/>
          </a:prstGeom>
          <a:noFill/>
          <a:ln w="1651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0" name="STC-16-nfr-stage-3"/>
          <p:cNvSpPr/>
          <p:nvPr/>
        </p:nvSpPr>
        <p:spPr>
          <a:xfrm>
            <a:off x="8366760" y="2240280"/>
            <a:ext cx="1874520" cy="71323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21" name="STC-16-nfr-label-3"/>
          <p:cNvSpPr/>
          <p:nvPr/>
        </p:nvSpPr>
        <p:spPr>
          <a:xfrm>
            <a:off x="8476488" y="2478024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LATER STATE</a:t>
            </a:r>
            <a:endParaRPr lang="en-US" sz="1200" dirty="0"/>
          </a:p>
        </p:txBody>
      </p:sp>
      <p:sp>
        <p:nvSpPr>
          <p:cNvPr id="22" name="STC-16-nfr-equation"/>
          <p:cNvSpPr/>
          <p:nvPr/>
        </p:nvSpPr>
        <p:spPr>
          <a:xfrm>
            <a:off x="2898648" y="33101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I(X; Ωₜ) = 0</a:t>
            </a:r>
            <a:endParaRPr lang="en-US" sz="2300" dirty="0"/>
          </a:p>
        </p:txBody>
      </p:sp>
      <p:sp>
        <p:nvSpPr>
          <p:cNvPr id="23" name="STC-16-nfr-result"/>
          <p:cNvSpPr/>
          <p:nvPr/>
        </p:nvSpPr>
        <p:spPr>
          <a:xfrm>
            <a:off x="5669280" y="3310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⇒ 특정 X의 복원 불가</a:t>
            </a:r>
            <a:endParaRPr lang="en-US" sz="2300" dirty="0"/>
          </a:p>
        </p:txBody>
      </p:sp>
      <p:sp>
        <p:nvSpPr>
          <p:cNvPr id="24" name="STC-16-nfr-result-arrow"/>
          <p:cNvSpPr/>
          <p:nvPr/>
        </p:nvSpPr>
        <p:spPr>
          <a:xfrm>
            <a:off x="4937760" y="3493008"/>
            <a:ext cx="658368" cy="0"/>
          </a:xfrm>
          <a:prstGeom prst="line">
            <a:avLst/>
          </a:prstGeom>
          <a:noFill/>
          <a:ln w="1905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5" name="STC-16-nfr-carriers"/>
          <p:cNvSpPr/>
          <p:nvPr/>
        </p:nvSpPr>
        <p:spPr>
          <a:xfrm>
            <a:off x="1143000" y="4261104"/>
            <a:ext cx="9838944" cy="1060704"/>
          </a:xfrm>
          <a:prstGeom prst="rect">
            <a:avLst/>
          </a:prstGeom>
          <a:solidFill>
            <a:srgbClr val="ECE8DE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26" name="STC-16-nfr-carriers-label"/>
          <p:cNvSpPr/>
          <p:nvPr/>
        </p:nvSpPr>
        <p:spPr>
          <a:xfrm>
            <a:off x="1389888" y="45262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6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정보가 남는 곳</a:t>
            </a:r>
            <a:endParaRPr lang="en-US" sz="1700" dirty="0"/>
          </a:p>
        </p:txBody>
      </p:sp>
      <p:sp>
        <p:nvSpPr>
          <p:cNvPr id="27" name="STC-16-nfr-carriers-text"/>
          <p:cNvSpPr/>
          <p:nvPr/>
        </p:nvSpPr>
        <p:spPr>
          <a:xfrm>
            <a:off x="2788920" y="443484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event · replay buffer · teacher · generator · residual weight · adapter · checkpoint · archive · implicit KV</a:t>
            </a:r>
            <a:endParaRPr lang="en-US" sz="1750" dirty="0"/>
          </a:p>
        </p:txBody>
      </p:sp>
      <p:sp>
        <p:nvSpPr>
          <p:cNvPr id="28" name="STC-16-nfr-carriers-note"/>
          <p:cNvSpPr/>
          <p:nvPr/>
        </p:nvSpPr>
        <p:spPr>
          <a:xfrm>
            <a:off x="2788920" y="4974336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hidden carrier도 capacity·privacy·delete ledger에 포함한다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7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SCALING</a:t>
            </a:r>
            <a:endParaRPr lang="en-US" sz="950" dirty="0"/>
          </a:p>
        </p:txBody>
      </p:sp>
      <p:sp>
        <p:nvSpPr>
          <p:cNvPr id="3" name="STC-17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STC-17</a:t>
            </a:r>
            <a:endParaRPr lang="en-US" sz="950" dirty="0"/>
          </a:p>
        </p:txBody>
      </p:sp>
      <p:sp>
        <p:nvSpPr>
          <p:cNvPr id="4" name="STC-17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N^α보다 crossover atlas가 더 가능성 높다</a:t>
            </a:r>
            <a:endParaRPr lang="en-US" sz="3000" dirty="0"/>
          </a:p>
        </p:txBody>
      </p:sp>
      <p:sp>
        <p:nvSpPr>
          <p:cNvPr id="5" name="STC-17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가설</a:t>
            </a:r>
            <a:endParaRPr lang="en-US" sz="1000" dirty="0"/>
          </a:p>
        </p:txBody>
      </p:sp>
      <p:sp>
        <p:nvSpPr>
          <p:cNvPr id="6" name="STC-17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7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7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Scaling-law agenda · all curves schematic / unmeasured</a:t>
            </a:r>
            <a:endParaRPr lang="en-US" sz="850" dirty="0"/>
          </a:p>
        </p:txBody>
      </p:sp>
      <p:sp>
        <p:nvSpPr>
          <p:cNvPr id="9" name="STC-17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17</a:t>
            </a:r>
            <a:endParaRPr lang="en-US" sz="850" dirty="0"/>
          </a:p>
        </p:txBody>
      </p:sp>
      <p:sp>
        <p:nvSpPr>
          <p:cNvPr id="11" name="STC-17-scale-left-x"/>
          <p:cNvSpPr/>
          <p:nvPr/>
        </p:nvSpPr>
        <p:spPr>
          <a:xfrm>
            <a:off x="1005840" y="5120640"/>
            <a:ext cx="4251960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7-scale-left-y"/>
          <p:cNvSpPr/>
          <p:nvPr/>
        </p:nvSpPr>
        <p:spPr>
          <a:xfrm>
            <a:off x="1005840" y="5120640"/>
            <a:ext cx="0" cy="-324612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7-scale-left-xlabel"/>
          <p:cNvSpPr/>
          <p:nvPr/>
        </p:nvSpPr>
        <p:spPr>
          <a:xfrm>
            <a:off x="3794760" y="52669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reuse / load</a:t>
            </a:r>
            <a:endParaRPr lang="en-US" sz="1100" dirty="0"/>
          </a:p>
        </p:txBody>
      </p:sp>
      <p:sp>
        <p:nvSpPr>
          <p:cNvPr id="14" name="STC-17-scale-left-ylabel"/>
          <p:cNvSpPr/>
          <p:nvPr/>
        </p:nvSpPr>
        <p:spPr>
          <a:xfrm rot="16200000">
            <a:off x="594360" y="17647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value</a:t>
            </a:r>
            <a:endParaRPr lang="en-US" sz="1100" dirty="0"/>
          </a:p>
        </p:txBody>
      </p:sp>
      <p:sp>
        <p:nvSpPr>
          <p:cNvPr id="15" name="STC-17-scale-external"/>
          <p:cNvSpPr/>
          <p:nvPr/>
        </p:nvSpPr>
        <p:spPr>
          <a:xfrm>
            <a:off x="1188720" y="4480560"/>
            <a:ext cx="3520440" cy="-1874520"/>
          </a:xfrm>
          <a:prstGeom prst="line">
            <a:avLst/>
          </a:prstGeom>
          <a:noFill/>
          <a:ln w="2794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7-scale-parametric"/>
          <p:cNvSpPr/>
          <p:nvPr/>
        </p:nvSpPr>
        <p:spPr>
          <a:xfrm>
            <a:off x="1188720" y="2514600"/>
            <a:ext cx="3520440" cy="1965960"/>
          </a:xfrm>
          <a:prstGeom prst="line">
            <a:avLst/>
          </a:prstGeom>
          <a:noFill/>
          <a:ln w="27940">
            <a:solidFill>
              <a:srgbClr val="9A442D"/>
            </a:solidFill>
            <a:prstDash val="solid"/>
            <a:tailEnd type="none"/>
          </a:ln>
        </p:spPr>
      </p:sp>
      <p:sp>
        <p:nvSpPr>
          <p:cNvPr id="17" name="STC-17-scale-cross"/>
          <p:cNvSpPr/>
          <p:nvPr/>
        </p:nvSpPr>
        <p:spPr>
          <a:xfrm>
            <a:off x="2971800" y="3438144"/>
            <a:ext cx="219456" cy="219456"/>
          </a:xfrm>
          <a:prstGeom prst="ellipse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18" name="STC-17-scale-cross-label"/>
          <p:cNvSpPr/>
          <p:nvPr/>
        </p:nvSpPr>
        <p:spPr>
          <a:xfrm>
            <a:off x="3200400" y="3209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reuse break-even</a:t>
            </a:r>
            <a:endParaRPr lang="en-US" sz="1300" dirty="0"/>
          </a:p>
        </p:txBody>
      </p:sp>
      <p:sp>
        <p:nvSpPr>
          <p:cNvPr id="19" name="STC-17-scale-external-label"/>
          <p:cNvSpPr/>
          <p:nvPr/>
        </p:nvSpPr>
        <p:spPr>
          <a:xfrm>
            <a:off x="1554480" y="40965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4E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</a:t>
            </a:r>
            <a:endParaRPr lang="en-US" sz="1200" dirty="0"/>
          </a:p>
        </p:txBody>
      </p:sp>
      <p:sp>
        <p:nvSpPr>
          <p:cNvPr id="20" name="STC-17-scale-parametric-label"/>
          <p:cNvSpPr/>
          <p:nvPr/>
        </p:nvSpPr>
        <p:spPr>
          <a:xfrm>
            <a:off x="3986784" y="4114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44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compiled</a:t>
            </a:r>
            <a:endParaRPr lang="en-US" sz="1200" dirty="0"/>
          </a:p>
        </p:txBody>
      </p:sp>
      <p:sp>
        <p:nvSpPr>
          <p:cNvPr id="21" name="STC-17-scale-divider"/>
          <p:cNvSpPr/>
          <p:nvPr/>
        </p:nvSpPr>
        <p:spPr>
          <a:xfrm>
            <a:off x="5989320" y="1755648"/>
            <a:ext cx="0" cy="3886200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2" name="STC-17-atlas-label-0"/>
          <p:cNvSpPr/>
          <p:nvPr/>
        </p:nvSpPr>
        <p:spPr>
          <a:xfrm>
            <a:off x="6473952" y="17099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CAPACITY KNEE</a:t>
            </a:r>
            <a:endParaRPr lang="en-US" sz="1050" dirty="0"/>
          </a:p>
        </p:txBody>
      </p:sp>
      <p:sp>
        <p:nvSpPr>
          <p:cNvPr id="23" name="STC-17-atlas-rule-0"/>
          <p:cNvSpPr/>
          <p:nvPr/>
        </p:nvSpPr>
        <p:spPr>
          <a:xfrm>
            <a:off x="8284464" y="1819656"/>
            <a:ext cx="502920" cy="0"/>
          </a:xfrm>
          <a:prstGeom prst="line">
            <a:avLst/>
          </a:prstGeom>
          <a:noFill/>
          <a:ln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7-atlas-body-0"/>
          <p:cNvSpPr/>
          <p:nvPr/>
        </p:nvSpPr>
        <p:spPr>
          <a:xfrm>
            <a:off x="8979408" y="168249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association load × state budget</a:t>
            </a:r>
            <a:endParaRPr lang="en-US" sz="1550" dirty="0"/>
          </a:p>
        </p:txBody>
      </p:sp>
      <p:sp>
        <p:nvSpPr>
          <p:cNvPr id="25" name="STC-17-atlas-label-1"/>
          <p:cNvSpPr/>
          <p:nvPr/>
        </p:nvSpPr>
        <p:spPr>
          <a:xfrm>
            <a:off x="6473952" y="24963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CADENCE</a:t>
            </a:r>
            <a:endParaRPr lang="en-US" sz="1050" dirty="0"/>
          </a:p>
        </p:txBody>
      </p:sp>
      <p:sp>
        <p:nvSpPr>
          <p:cNvPr id="26" name="STC-17-atlas-rule-1"/>
          <p:cNvSpPr/>
          <p:nvPr/>
        </p:nvSpPr>
        <p:spPr>
          <a:xfrm>
            <a:off x="8284464" y="2606040"/>
            <a:ext cx="502920" cy="0"/>
          </a:xfrm>
          <a:prstGeom prst="line">
            <a:avLst/>
          </a:prstGeom>
          <a:noFill/>
          <a:ln w="38100">
            <a:solidFill>
              <a:srgbClr val="244E8A"/>
            </a:solidFill>
            <a:prstDash val="solid"/>
            <a:tailEnd type="none"/>
          </a:ln>
        </p:spPr>
      </p:sp>
      <p:sp>
        <p:nvSpPr>
          <p:cNvPr id="27" name="STC-17-atlas-body-1"/>
          <p:cNvSpPr/>
          <p:nvPr/>
        </p:nvSpPr>
        <p:spPr>
          <a:xfrm>
            <a:off x="8979408" y="246888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staleness × run cost × burst</a:t>
            </a:r>
            <a:endParaRPr lang="en-US" sz="1550" dirty="0"/>
          </a:p>
        </p:txBody>
      </p:sp>
      <p:sp>
        <p:nvSpPr>
          <p:cNvPr id="28" name="STC-17-atlas-label-2"/>
          <p:cNvSpPr/>
          <p:nvPr/>
        </p:nvSpPr>
        <p:spPr>
          <a:xfrm>
            <a:off x="6473952" y="328269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QUEUE</a:t>
            </a:r>
            <a:endParaRPr lang="en-US" sz="1050" dirty="0"/>
          </a:p>
        </p:txBody>
      </p:sp>
      <p:sp>
        <p:nvSpPr>
          <p:cNvPr id="29" name="STC-17-atlas-rule-2"/>
          <p:cNvSpPr/>
          <p:nvPr/>
        </p:nvSpPr>
        <p:spPr>
          <a:xfrm>
            <a:off x="8284464" y="3392424"/>
            <a:ext cx="502920" cy="0"/>
          </a:xfrm>
          <a:prstGeom prst="line">
            <a:avLst/>
          </a:prstGeom>
          <a:noFill/>
          <a:ln w="38100">
            <a:solidFill>
              <a:srgbClr val="2F6B63"/>
            </a:solidFill>
            <a:prstDash val="solid"/>
            <a:tailEnd type="none"/>
          </a:ln>
        </p:spPr>
      </p:sp>
      <p:sp>
        <p:nvSpPr>
          <p:cNvPr id="30" name="STC-17-atlas-body-2"/>
          <p:cNvSpPr/>
          <p:nvPr/>
        </p:nvSpPr>
        <p:spPr>
          <a:xfrm>
            <a:off x="8979408" y="3255264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arrival × service × clocks</a:t>
            </a:r>
            <a:endParaRPr lang="en-US" sz="1550" dirty="0"/>
          </a:p>
        </p:txBody>
      </p:sp>
      <p:sp>
        <p:nvSpPr>
          <p:cNvPr id="31" name="STC-17-atlas-label-3"/>
          <p:cNvSpPr/>
          <p:nvPr/>
        </p:nvSpPr>
        <p:spPr>
          <a:xfrm>
            <a:off x="6473952" y="406908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ROUTING</a:t>
            </a:r>
            <a:endParaRPr lang="en-US" sz="1050" dirty="0"/>
          </a:p>
        </p:txBody>
      </p:sp>
      <p:sp>
        <p:nvSpPr>
          <p:cNvPr id="32" name="STC-17-atlas-rule-3"/>
          <p:cNvSpPr/>
          <p:nvPr/>
        </p:nvSpPr>
        <p:spPr>
          <a:xfrm>
            <a:off x="8284464" y="4178808"/>
            <a:ext cx="502920" cy="0"/>
          </a:xfrm>
          <a:prstGeom prst="line">
            <a:avLst/>
          </a:prstGeom>
          <a:noFill/>
          <a:ln w="38100">
            <a:solidFill>
              <a:srgbClr val="9A442D"/>
            </a:solidFill>
            <a:prstDash val="solid"/>
            <a:tailEnd type="none"/>
          </a:ln>
        </p:spPr>
      </p:sp>
      <p:sp>
        <p:nvSpPr>
          <p:cNvPr id="33" name="STC-17-atlas-body-3"/>
          <p:cNvSpPr/>
          <p:nvPr/>
        </p:nvSpPr>
        <p:spPr>
          <a:xfrm>
            <a:off x="8979408" y="4041648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module isolation × catalog tax</a:t>
            </a:r>
            <a:endParaRPr lang="en-US" sz="1550" dirty="0"/>
          </a:p>
        </p:txBody>
      </p:sp>
      <p:sp>
        <p:nvSpPr>
          <p:cNvPr id="34" name="STC-17-atlas-label-4"/>
          <p:cNvSpPr/>
          <p:nvPr/>
        </p:nvSpPr>
        <p:spPr>
          <a:xfrm>
            <a:off x="6473952" y="48554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RECOVERY</a:t>
            </a:r>
            <a:endParaRPr lang="en-US" sz="1050" dirty="0"/>
          </a:p>
        </p:txBody>
      </p:sp>
      <p:sp>
        <p:nvSpPr>
          <p:cNvPr id="35" name="STC-17-atlas-rule-4"/>
          <p:cNvSpPr/>
          <p:nvPr/>
        </p:nvSpPr>
        <p:spPr>
          <a:xfrm>
            <a:off x="8284464" y="4965192"/>
            <a:ext cx="502920" cy="0"/>
          </a:xfrm>
          <a:prstGeom prst="line">
            <a:avLst/>
          </a:prstGeom>
          <a:noFill/>
          <a:ln w="38100">
            <a:solidFill>
              <a:srgbClr val="59616A"/>
            </a:solidFill>
            <a:prstDash val="solid"/>
            <a:tailEnd type="none"/>
          </a:ln>
        </p:spPr>
      </p:sp>
      <p:sp>
        <p:nvSpPr>
          <p:cNvPr id="36" name="STC-17-atlas-body-4"/>
          <p:cNvSpPr/>
          <p:nvPr/>
        </p:nvSpPr>
        <p:spPr>
          <a:xfrm>
            <a:off x="8979408" y="482803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compression × reversibility reserve</a:t>
            </a:r>
            <a:endParaRPr lang="en-US" sz="1550" dirty="0"/>
          </a:p>
        </p:txBody>
      </p:sp>
      <p:sp>
        <p:nvSpPr>
          <p:cNvPr id="37" name="STC-17-scale-nonresult"/>
          <p:cNvSpPr/>
          <p:nvPr/>
        </p:nvSpPr>
        <p:spPr>
          <a:xfrm>
            <a:off x="8183880" y="57150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SCHEMATIC · NOT A RESULT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8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CAPACITY KNEE</a:t>
            </a:r>
            <a:endParaRPr lang="en-US" sz="950" dirty="0"/>
          </a:p>
        </p:txBody>
      </p:sp>
      <p:sp>
        <p:nvSpPr>
          <p:cNvPr id="3" name="STC-18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STC-18</a:t>
            </a:r>
            <a:endParaRPr lang="en-US" sz="950" dirty="0"/>
          </a:p>
        </p:txBody>
      </p:sp>
      <p:sp>
        <p:nvSpPr>
          <p:cNvPr id="4" name="STC-18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capacity는 ‘최대 몇 개’보다 품질이 꺾이는 경계로 측정한다</a:t>
            </a:r>
            <a:endParaRPr lang="en-US" sz="3000" dirty="0"/>
          </a:p>
        </p:txBody>
      </p:sp>
      <p:sp>
        <p:nvSpPr>
          <p:cNvPr id="5" name="STC-18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가설</a:t>
            </a:r>
            <a:endParaRPr lang="en-US" sz="1000" dirty="0"/>
          </a:p>
        </p:txBody>
      </p:sp>
      <p:sp>
        <p:nvSpPr>
          <p:cNvPr id="6" name="STC-18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8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8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Threshold-anchored logistic candidate · schematic / unmeasured</a:t>
            </a:r>
            <a:endParaRPr lang="en-US" sz="850" dirty="0"/>
          </a:p>
        </p:txBody>
      </p:sp>
      <p:sp>
        <p:nvSpPr>
          <p:cNvPr id="9" name="STC-18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18</a:t>
            </a:r>
            <a:endParaRPr lang="en-US" sz="850" dirty="0"/>
          </a:p>
        </p:txBody>
      </p:sp>
      <p:sp>
        <p:nvSpPr>
          <p:cNvPr id="11" name="STC-18-knee-axis-x"/>
          <p:cNvSpPr/>
          <p:nvPr/>
        </p:nvSpPr>
        <p:spPr>
          <a:xfrm>
            <a:off x="1143000" y="5669280"/>
            <a:ext cx="6446520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8-knee-axis-y"/>
          <p:cNvSpPr/>
          <p:nvPr/>
        </p:nvSpPr>
        <p:spPr>
          <a:xfrm>
            <a:off x="1143000" y="5669280"/>
            <a:ext cx="0" cy="-397764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8-knee-axis-xlabel"/>
          <p:cNvSpPr/>
          <p:nvPr/>
        </p:nvSpPr>
        <p:spPr>
          <a:xfrm>
            <a:off x="6126480" y="5815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association load  Nₐ</a:t>
            </a:r>
            <a:endParaRPr lang="en-US" sz="1100" dirty="0"/>
          </a:p>
        </p:txBody>
      </p:sp>
      <p:sp>
        <p:nvSpPr>
          <p:cNvPr id="14" name="STC-18-knee-axis-ylabel"/>
          <p:cNvSpPr/>
          <p:nvPr/>
        </p:nvSpPr>
        <p:spPr>
          <a:xfrm rot="16200000">
            <a:off x="731520" y="15819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15" name="STC-18-knee-seg-1"/>
          <p:cNvSpPr/>
          <p:nvPr/>
        </p:nvSpPr>
        <p:spPr>
          <a:xfrm>
            <a:off x="1298448" y="2148840"/>
            <a:ext cx="1005840" cy="27432"/>
          </a:xfrm>
          <a:prstGeom prst="line">
            <a:avLst/>
          </a:prstGeom>
          <a:noFill/>
          <a:ln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8-knee-seg-2"/>
          <p:cNvSpPr/>
          <p:nvPr/>
        </p:nvSpPr>
        <p:spPr>
          <a:xfrm>
            <a:off x="2304288" y="2176272"/>
            <a:ext cx="1005840" cy="109728"/>
          </a:xfrm>
          <a:prstGeom prst="line">
            <a:avLst/>
          </a:prstGeom>
          <a:noFill/>
          <a:ln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8-knee-seg-3"/>
          <p:cNvSpPr/>
          <p:nvPr/>
        </p:nvSpPr>
        <p:spPr>
          <a:xfrm>
            <a:off x="3310128" y="2286000"/>
            <a:ext cx="1005840" cy="384048"/>
          </a:xfrm>
          <a:prstGeom prst="line">
            <a:avLst/>
          </a:prstGeom>
          <a:noFill/>
          <a:ln w="31750">
            <a:solidFill>
              <a:srgbClr val="244E8A"/>
            </a:solidFill>
            <a:prstDash val="solid"/>
            <a:tailEnd type="none"/>
          </a:ln>
        </p:spPr>
      </p:sp>
      <p:sp>
        <p:nvSpPr>
          <p:cNvPr id="18" name="STC-18-knee-seg-4"/>
          <p:cNvSpPr/>
          <p:nvPr/>
        </p:nvSpPr>
        <p:spPr>
          <a:xfrm>
            <a:off x="4315968" y="2670048"/>
            <a:ext cx="1005840" cy="1024128"/>
          </a:xfrm>
          <a:prstGeom prst="line">
            <a:avLst/>
          </a:prstGeom>
          <a:noFill/>
          <a:ln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8-knee-seg-5"/>
          <p:cNvSpPr/>
          <p:nvPr/>
        </p:nvSpPr>
        <p:spPr>
          <a:xfrm>
            <a:off x="5321808" y="3694176"/>
            <a:ext cx="1005840" cy="1298448"/>
          </a:xfrm>
          <a:prstGeom prst="line">
            <a:avLst/>
          </a:prstGeom>
          <a:noFill/>
          <a:ln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8-knee-seg-6"/>
          <p:cNvSpPr/>
          <p:nvPr/>
        </p:nvSpPr>
        <p:spPr>
          <a:xfrm>
            <a:off x="6327648" y="4992624"/>
            <a:ext cx="822960" cy="164592"/>
          </a:xfrm>
          <a:prstGeom prst="line">
            <a:avLst/>
          </a:prstGeom>
          <a:noFill/>
          <a:ln w="3175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18-knee-threshold"/>
          <p:cNvSpPr/>
          <p:nvPr/>
        </p:nvSpPr>
        <p:spPr>
          <a:xfrm>
            <a:off x="1143000" y="2944368"/>
            <a:ext cx="6446520" cy="0"/>
          </a:xfrm>
          <a:prstGeom prst="line">
            <a:avLst/>
          </a:prstGeom>
          <a:noFill/>
          <a:ln w="12700">
            <a:solidFill>
              <a:srgbClr val="59616A"/>
            </a:solidFill>
            <a:prstDash val="solid"/>
            <a:tailEnd type="none"/>
          </a:ln>
        </p:spPr>
      </p:sp>
      <p:sp>
        <p:nvSpPr>
          <p:cNvPr id="22" name="STC-18-knee-threshold-label"/>
          <p:cNvSpPr/>
          <p:nvPr/>
        </p:nvSpPr>
        <p:spPr>
          <a:xfrm>
            <a:off x="1325880" y="276148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τret = 0.80</a:t>
            </a:r>
            <a:endParaRPr lang="en-US" sz="1050" dirty="0"/>
          </a:p>
        </p:txBody>
      </p:sp>
      <p:sp>
        <p:nvSpPr>
          <p:cNvPr id="23" name="STC-18-knee-marker"/>
          <p:cNvSpPr/>
          <p:nvPr/>
        </p:nvSpPr>
        <p:spPr>
          <a:xfrm>
            <a:off x="4709160" y="2889504"/>
            <a:ext cx="0" cy="2505456"/>
          </a:xfrm>
          <a:prstGeom prst="line">
            <a:avLst/>
          </a:prstGeom>
          <a:noFill/>
          <a:ln w="17780">
            <a:solidFill>
              <a:srgbClr val="9A442D"/>
            </a:solidFill>
            <a:prstDash val="solid"/>
            <a:tailEnd type="none"/>
          </a:ln>
        </p:spPr>
      </p:sp>
      <p:sp>
        <p:nvSpPr>
          <p:cNvPr id="24" name="STC-18-knee-keff"/>
          <p:cNvSpPr/>
          <p:nvPr/>
        </p:nvSpPr>
        <p:spPr>
          <a:xfrm>
            <a:off x="4379976" y="53949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Keff</a:t>
            </a:r>
            <a:endParaRPr lang="en-US" sz="1800" dirty="0"/>
          </a:p>
        </p:txBody>
      </p:sp>
      <p:sp>
        <p:nvSpPr>
          <p:cNvPr id="25" name="STC-18-knee-check-title"/>
          <p:cNvSpPr/>
          <p:nvPr/>
        </p:nvSpPr>
        <p:spPr>
          <a:xfrm>
            <a:off x="8247888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KNEE AUTHORIZATION</a:t>
            </a:r>
            <a:endParaRPr lang="en-US" sz="1100" dirty="0"/>
          </a:p>
        </p:txBody>
      </p:sp>
      <p:sp>
        <p:nvSpPr>
          <p:cNvPr id="26" name="STC-18-knee-checks-dot-0"/>
          <p:cNvSpPr/>
          <p:nvPr/>
        </p:nvSpPr>
        <p:spPr>
          <a:xfrm>
            <a:off x="8275320" y="2350008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7" name="STC-18-knee-checks-item-0"/>
          <p:cNvSpPr/>
          <p:nvPr/>
        </p:nvSpPr>
        <p:spPr>
          <a:xfrm>
            <a:off x="8503920" y="224028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low/high bracket</a:t>
            </a:r>
            <a:endParaRPr lang="en-US" sz="1550" dirty="0"/>
          </a:p>
        </p:txBody>
      </p:sp>
      <p:sp>
        <p:nvSpPr>
          <p:cNvPr id="28" name="STC-18-knee-checks-dot-1"/>
          <p:cNvSpPr/>
          <p:nvPr/>
        </p:nvSpPr>
        <p:spPr>
          <a:xfrm>
            <a:off x="8275320" y="2907792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9" name="STC-18-knee-checks-item-1"/>
          <p:cNvSpPr/>
          <p:nvPr/>
        </p:nvSpPr>
        <p:spPr>
          <a:xfrm>
            <a:off x="8503920" y="2798064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monotonic</a:t>
            </a:r>
            <a:endParaRPr lang="en-US" sz="1550" dirty="0"/>
          </a:p>
        </p:txBody>
      </p:sp>
      <p:sp>
        <p:nvSpPr>
          <p:cNvPr id="30" name="STC-18-knee-checks-dot-2"/>
          <p:cNvSpPr/>
          <p:nvPr/>
        </p:nvSpPr>
        <p:spPr>
          <a:xfrm>
            <a:off x="8275320" y="3465576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31" name="STC-18-knee-checks-item-2"/>
          <p:cNvSpPr/>
          <p:nvPr/>
        </p:nvSpPr>
        <p:spPr>
          <a:xfrm>
            <a:off x="8503920" y="3355848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single crossing</a:t>
            </a:r>
            <a:endParaRPr lang="en-US" sz="1550" dirty="0"/>
          </a:p>
        </p:txBody>
      </p:sp>
      <p:sp>
        <p:nvSpPr>
          <p:cNvPr id="32" name="STC-18-knee-checks-dot-3"/>
          <p:cNvSpPr/>
          <p:nvPr/>
        </p:nvSpPr>
        <p:spPr>
          <a:xfrm>
            <a:off x="8275320" y="4023360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33" name="STC-18-knee-checks-item-3"/>
          <p:cNvSpPr/>
          <p:nvPr/>
        </p:nvSpPr>
        <p:spPr>
          <a:xfrm>
            <a:off x="8503920" y="3913632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residual envelope</a:t>
            </a:r>
            <a:endParaRPr lang="en-US" sz="1550" dirty="0"/>
          </a:p>
        </p:txBody>
      </p:sp>
      <p:sp>
        <p:nvSpPr>
          <p:cNvPr id="34" name="STC-18-knee-checks-dot-4"/>
          <p:cNvSpPr/>
          <p:nvPr/>
        </p:nvSpPr>
        <p:spPr>
          <a:xfrm>
            <a:off x="8275320" y="4581144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35" name="STC-18-knee-checks-item-4"/>
          <p:cNvSpPr/>
          <p:nvPr/>
        </p:nvSpPr>
        <p:spPr>
          <a:xfrm>
            <a:off x="8503920" y="4471416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shape sensitivity</a:t>
            </a:r>
            <a:endParaRPr lang="en-US" sz="1550" dirty="0"/>
          </a:p>
        </p:txBody>
      </p:sp>
      <p:sp>
        <p:nvSpPr>
          <p:cNvPr id="36" name="STC-18-knee-unidentified"/>
          <p:cNvSpPr/>
          <p:nvPr/>
        </p:nvSpPr>
        <p:spPr>
          <a:xfrm>
            <a:off x="8211312" y="5230368"/>
            <a:ext cx="2706624" cy="521208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37" name="STC-18-knee-unidentified-text"/>
          <p:cNvSpPr/>
          <p:nvPr/>
        </p:nvSpPr>
        <p:spPr>
          <a:xfrm>
            <a:off x="8348472" y="540410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else  KNEE_UNIDENTIFIED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19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SERVICE LAW</a:t>
            </a:r>
            <a:endParaRPr lang="en-US" sz="950" dirty="0"/>
          </a:p>
        </p:txBody>
      </p:sp>
      <p:sp>
        <p:nvSpPr>
          <p:cNvPr id="3" name="STC-19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STC-19</a:t>
            </a:r>
            <a:endParaRPr lang="en-US" sz="950" dirty="0"/>
          </a:p>
        </p:txBody>
      </p:sp>
      <p:sp>
        <p:nvSpPr>
          <p:cNvPr id="4" name="STC-19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sleep clock은 정확도보다 queue와 staleness의 공동 문제다</a:t>
            </a:r>
            <a:endParaRPr lang="en-US" sz="3000" dirty="0"/>
          </a:p>
        </p:txBody>
      </p:sp>
      <p:sp>
        <p:nvSpPr>
          <p:cNvPr id="5" name="STC-19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가설</a:t>
            </a:r>
            <a:endParaRPr lang="en-US" sz="1000" dirty="0"/>
          </a:p>
        </p:txBody>
      </p:sp>
      <p:sp>
        <p:nvSpPr>
          <p:cNvPr id="6" name="STC-19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19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19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Cadence and queue candidates · schematic / unmeasured</a:t>
            </a:r>
            <a:endParaRPr lang="en-US" sz="850" dirty="0"/>
          </a:p>
        </p:txBody>
      </p:sp>
      <p:sp>
        <p:nvSpPr>
          <p:cNvPr id="9" name="STC-19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19</a:t>
            </a:r>
            <a:endParaRPr lang="en-US" sz="850" dirty="0"/>
          </a:p>
        </p:txBody>
      </p:sp>
      <p:sp>
        <p:nvSpPr>
          <p:cNvPr id="11" name="STC-19-cadence-axis-x"/>
          <p:cNvSpPr/>
          <p:nvPr/>
        </p:nvSpPr>
        <p:spPr>
          <a:xfrm>
            <a:off x="868680" y="5358384"/>
            <a:ext cx="4572000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2" name="STC-19-cadence-axis-y"/>
          <p:cNvSpPr/>
          <p:nvPr/>
        </p:nvSpPr>
        <p:spPr>
          <a:xfrm>
            <a:off x="868680" y="5358384"/>
            <a:ext cx="0" cy="-3547872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3" name="STC-19-cadence-axis-xlabel"/>
          <p:cNvSpPr/>
          <p:nvPr/>
        </p:nvSpPr>
        <p:spPr>
          <a:xfrm>
            <a:off x="3977640" y="5504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interval τ</a:t>
            </a:r>
            <a:endParaRPr lang="en-US" sz="1100" dirty="0"/>
          </a:p>
        </p:txBody>
      </p:sp>
      <p:sp>
        <p:nvSpPr>
          <p:cNvPr id="14" name="STC-19-cadence-axis-ylabel"/>
          <p:cNvSpPr/>
          <p:nvPr/>
        </p:nvSpPr>
        <p:spPr>
          <a:xfrm rot="16200000">
            <a:off x="457200" y="17007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cost</a:t>
            </a:r>
            <a:endParaRPr lang="en-US" sz="1100" dirty="0"/>
          </a:p>
        </p:txBody>
      </p:sp>
      <p:sp>
        <p:nvSpPr>
          <p:cNvPr id="15" name="STC-19-cadence-down-1"/>
          <p:cNvSpPr/>
          <p:nvPr/>
        </p:nvSpPr>
        <p:spPr>
          <a:xfrm>
            <a:off x="1143000" y="2212848"/>
            <a:ext cx="731520" cy="256032"/>
          </a:xfrm>
          <a:prstGeom prst="line">
            <a:avLst/>
          </a:prstGeom>
          <a:noFill/>
          <a:ln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6" name="STC-19-cadence-down-2"/>
          <p:cNvSpPr/>
          <p:nvPr/>
        </p:nvSpPr>
        <p:spPr>
          <a:xfrm>
            <a:off x="1874520" y="2468880"/>
            <a:ext cx="731520" cy="530352"/>
          </a:xfrm>
          <a:prstGeom prst="line">
            <a:avLst/>
          </a:prstGeom>
          <a:noFill/>
          <a:ln w="26670">
            <a:solidFill>
              <a:srgbClr val="244E8A"/>
            </a:solidFill>
            <a:prstDash val="solid"/>
            <a:tailEnd type="none"/>
          </a:ln>
        </p:spPr>
      </p:sp>
      <p:sp>
        <p:nvSpPr>
          <p:cNvPr id="17" name="STC-19-cadence-up-1"/>
          <p:cNvSpPr/>
          <p:nvPr/>
        </p:nvSpPr>
        <p:spPr>
          <a:xfrm>
            <a:off x="2606040" y="2999232"/>
            <a:ext cx="731520" cy="640080"/>
          </a:xfrm>
          <a:prstGeom prst="line">
            <a:avLst/>
          </a:prstGeom>
          <a:noFill/>
          <a:ln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8" name="STC-19-cadence-up-2"/>
          <p:cNvSpPr/>
          <p:nvPr/>
        </p:nvSpPr>
        <p:spPr>
          <a:xfrm>
            <a:off x="3337560" y="3639312"/>
            <a:ext cx="731520" cy="786384"/>
          </a:xfrm>
          <a:prstGeom prst="line">
            <a:avLst/>
          </a:prstGeom>
          <a:noFill/>
          <a:ln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19" name="STC-19-cadence-up-3"/>
          <p:cNvSpPr/>
          <p:nvPr/>
        </p:nvSpPr>
        <p:spPr>
          <a:xfrm>
            <a:off x="4069080" y="4425696"/>
            <a:ext cx="777240" cy="585216"/>
          </a:xfrm>
          <a:prstGeom prst="line">
            <a:avLst/>
          </a:prstGeom>
          <a:noFill/>
          <a:ln w="26670">
            <a:solidFill>
              <a:srgbClr val="9A442D"/>
            </a:solidFill>
            <a:prstDash val="solid"/>
            <a:tailEnd type="none"/>
          </a:ln>
        </p:spPr>
      </p:sp>
      <p:sp>
        <p:nvSpPr>
          <p:cNvPr id="20" name="STC-19-cadence-opt"/>
          <p:cNvSpPr/>
          <p:nvPr/>
        </p:nvSpPr>
        <p:spPr>
          <a:xfrm>
            <a:off x="3182112" y="3364992"/>
            <a:ext cx="201168" cy="201168"/>
          </a:xfrm>
          <a:prstGeom prst="ellipse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21" name="STC-19-cadence-opt-label"/>
          <p:cNvSpPr/>
          <p:nvPr/>
        </p:nvSpPr>
        <p:spPr>
          <a:xfrm>
            <a:off x="2999232" y="36941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τ*</a:t>
            </a:r>
            <a:endParaRPr lang="en-US" sz="1700" dirty="0"/>
          </a:p>
        </p:txBody>
      </p:sp>
      <p:sp>
        <p:nvSpPr>
          <p:cNvPr id="22" name="STC-19-cadence-run"/>
          <p:cNvSpPr/>
          <p:nvPr/>
        </p:nvSpPr>
        <p:spPr>
          <a:xfrm>
            <a:off x="1234440" y="26974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4E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 cost</a:t>
            </a:r>
            <a:endParaRPr lang="en-US" sz="1100" dirty="0"/>
          </a:p>
        </p:txBody>
      </p:sp>
      <p:sp>
        <p:nvSpPr>
          <p:cNvPr id="23" name="STC-19-cadence-stale"/>
          <p:cNvSpPr/>
          <p:nvPr/>
        </p:nvSpPr>
        <p:spPr>
          <a:xfrm>
            <a:off x="3977640" y="39410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44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staleness</a:t>
            </a:r>
            <a:endParaRPr lang="en-US" sz="1100" dirty="0"/>
          </a:p>
        </p:txBody>
      </p:sp>
      <p:sp>
        <p:nvSpPr>
          <p:cNvPr id="24" name="STC-19-service-divider"/>
          <p:cNvSpPr/>
          <p:nvPr/>
        </p:nvSpPr>
        <p:spPr>
          <a:xfrm>
            <a:off x="5989320" y="1691640"/>
            <a:ext cx="0" cy="4041648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5" name="STC-19-queue-title"/>
          <p:cNvSpPr/>
          <p:nvPr/>
        </p:nvSpPr>
        <p:spPr>
          <a:xfrm>
            <a:off x="6446520" y="17830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QUEUE CONDITION</a:t>
            </a:r>
            <a:endParaRPr lang="en-US" sz="1100" dirty="0"/>
          </a:p>
        </p:txBody>
      </p:sp>
      <p:sp>
        <p:nvSpPr>
          <p:cNvPr id="26" name="STC-19-queue-equation"/>
          <p:cNvSpPr/>
          <p:nvPr/>
        </p:nvSpPr>
        <p:spPr>
          <a:xfrm>
            <a:off x="6473952" y="2331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ρs = λs E[Ss] / m  &lt;  1</a:t>
            </a:r>
            <a:endParaRPr lang="en-US" sz="2700" dirty="0"/>
          </a:p>
        </p:txBody>
      </p:sp>
      <p:sp>
        <p:nvSpPr>
          <p:cNvPr id="27" name="STC-19-queue-list-dot-0"/>
          <p:cNvSpPr/>
          <p:nvPr/>
        </p:nvSpPr>
        <p:spPr>
          <a:xfrm>
            <a:off x="6473952" y="3200400"/>
            <a:ext cx="82296" cy="822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28" name="STC-19-queue-list-item-0"/>
          <p:cNvSpPr/>
          <p:nvPr/>
        </p:nvSpPr>
        <p:spPr>
          <a:xfrm>
            <a:off x="6702552" y="3090672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mean-load 필요조건이지 tail 보장 아님</a:t>
            </a:r>
            <a:endParaRPr lang="en-US" sz="1650" dirty="0"/>
          </a:p>
        </p:txBody>
      </p:sp>
      <p:sp>
        <p:nvSpPr>
          <p:cNvPr id="29" name="STC-19-queue-list-dot-1"/>
          <p:cNvSpPr/>
          <p:nvPr/>
        </p:nvSpPr>
        <p:spPr>
          <a:xfrm>
            <a:off x="6473952" y="3776472"/>
            <a:ext cx="82296" cy="822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30" name="STC-19-queue-list-item-1"/>
          <p:cNvSpPr/>
          <p:nvPr/>
        </p:nvSpPr>
        <p:spPr>
          <a:xfrm>
            <a:off x="6702552" y="3666744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GPU·IO·RAM·HBM을 typed vector로</a:t>
            </a:r>
            <a:endParaRPr lang="en-US" sz="1650" dirty="0"/>
          </a:p>
        </p:txBody>
      </p:sp>
      <p:sp>
        <p:nvSpPr>
          <p:cNvPr id="31" name="STC-19-queue-list-dot-2"/>
          <p:cNvSpPr/>
          <p:nvPr/>
        </p:nvSpPr>
        <p:spPr>
          <a:xfrm>
            <a:off x="6473952" y="4352544"/>
            <a:ext cx="82296" cy="822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32" name="STC-19-queue-list-item-2"/>
          <p:cNvSpPr/>
          <p:nvPr/>
        </p:nvSpPr>
        <p:spPr>
          <a:xfrm>
            <a:off x="6702552" y="4242816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delete deadline과 p99 job age 포함</a:t>
            </a:r>
            <a:endParaRPr lang="en-US" sz="1650" dirty="0"/>
          </a:p>
        </p:txBody>
      </p:sp>
      <p:sp>
        <p:nvSpPr>
          <p:cNvPr id="33" name="STC-19-queue-list-dot-3"/>
          <p:cNvSpPr/>
          <p:nvPr/>
        </p:nvSpPr>
        <p:spPr>
          <a:xfrm>
            <a:off x="6473952" y="4928616"/>
            <a:ext cx="82296" cy="822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34" name="STC-19-queue-list-item-3"/>
          <p:cNvSpPr/>
          <p:nvPr/>
        </p:nvSpPr>
        <p:spPr>
          <a:xfrm>
            <a:off x="6702552" y="4818888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clock 수가 늘면 catalog·routing tax 증가</a:t>
            </a:r>
            <a:endParaRPr lang="en-US" sz="1650" dirty="0"/>
          </a:p>
        </p:txBody>
      </p:sp>
      <p:sp>
        <p:nvSpPr>
          <p:cNvPr id="35" name="STC-19-queue-hyp"/>
          <p:cNvSpPr/>
          <p:nvPr/>
        </p:nvSpPr>
        <p:spPr>
          <a:xfrm>
            <a:off x="6492240" y="5623560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HYPOTHESIS  ·  queue-before-storage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0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3" name="STC-20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STC-20</a:t>
            </a:r>
            <a:endParaRPr lang="en-US" sz="950" dirty="0"/>
          </a:p>
        </p:txBody>
      </p:sp>
      <p:sp>
        <p:nvSpPr>
          <p:cNvPr id="4" name="STC-20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logical plane과 하나의 control plane이 필요하다</a:t>
            </a:r>
            <a:endParaRPr lang="en-US" sz="3000" dirty="0"/>
          </a:p>
        </p:txBody>
      </p:sp>
      <p:sp>
        <p:nvSpPr>
          <p:cNvPr id="5" name="STC-20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제안</a:t>
            </a:r>
            <a:endParaRPr lang="en-US" sz="1000" dirty="0"/>
          </a:p>
        </p:txBody>
      </p:sp>
      <p:sp>
        <p:nvSpPr>
          <p:cNvPr id="6" name="STC-20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0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0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infrastructure blueprint · no production superiority claim</a:t>
            </a:r>
            <a:endParaRPr lang="en-US" sz="850" dirty="0"/>
          </a:p>
        </p:txBody>
      </p:sp>
      <p:sp>
        <p:nvSpPr>
          <p:cNvPr id="9" name="STC-20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</a:t>
            </a:r>
            <a:endParaRPr lang="en-US" sz="850" dirty="0"/>
          </a:p>
        </p:txBody>
      </p:sp>
      <p:sp>
        <p:nvSpPr>
          <p:cNvPr id="11" name="STC-20-infra-plane-0"/>
          <p:cNvSpPr/>
          <p:nvPr/>
        </p:nvSpPr>
        <p:spPr>
          <a:xfrm>
            <a:off x="749808" y="2633472"/>
            <a:ext cx="2514600" cy="2057400"/>
          </a:xfrm>
          <a:prstGeom prst="rect">
            <a:avLst/>
          </a:prstGeom>
          <a:solidFill>
            <a:srgbClr val="DDE6F2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2" name="STC-20-infra-label-0"/>
          <p:cNvSpPr/>
          <p:nvPr/>
        </p:nvSpPr>
        <p:spPr>
          <a:xfrm>
            <a:off x="932688" y="29077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WAKE PLANE</a:t>
            </a:r>
            <a:endParaRPr lang="en-US" sz="1150" dirty="0"/>
          </a:p>
        </p:txBody>
      </p:sp>
      <p:sp>
        <p:nvSpPr>
          <p:cNvPr id="13" name="STC-20-infra-body-0"/>
          <p:cNvSpPr/>
          <p:nvPr/>
        </p:nvSpPr>
        <p:spPr>
          <a:xfrm>
            <a:off x="978408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infer · retrieve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capture · fast state</a:t>
            </a:r>
            <a:endParaRPr lang="en-US" sz="1800" dirty="0"/>
          </a:p>
        </p:txBody>
      </p:sp>
      <p:sp>
        <p:nvSpPr>
          <p:cNvPr id="14" name="STC-20-infra-arrow-0"/>
          <p:cNvSpPr/>
          <p:nvPr/>
        </p:nvSpPr>
        <p:spPr>
          <a:xfrm>
            <a:off x="3346704" y="3657600"/>
            <a:ext cx="530352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0-infra-plane-1"/>
          <p:cNvSpPr/>
          <p:nvPr/>
        </p:nvSpPr>
        <p:spPr>
          <a:xfrm>
            <a:off x="3977640" y="2633472"/>
            <a:ext cx="2514600" cy="2057400"/>
          </a:xfrm>
          <a:prstGeom prst="rect">
            <a:avLst/>
          </a:prstGeom>
          <a:solidFill>
            <a:srgbClr val="F0DED7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16" name="STC-20-infra-label-1"/>
          <p:cNvSpPr/>
          <p:nvPr/>
        </p:nvSpPr>
        <p:spPr>
          <a:xfrm>
            <a:off x="4160520" y="29077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SLEEP PLANE</a:t>
            </a:r>
            <a:endParaRPr lang="en-US" sz="1150" dirty="0"/>
          </a:p>
        </p:txBody>
      </p:sp>
      <p:sp>
        <p:nvSpPr>
          <p:cNvPr id="17" name="STC-20-infra-body-1"/>
          <p:cNvSpPr/>
          <p:nvPr/>
        </p:nvSpPr>
        <p:spPr>
          <a:xfrm>
            <a:off x="4206240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replay · dream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FT · RL · compact</a:t>
            </a:r>
            <a:endParaRPr lang="en-US" sz="1800" dirty="0"/>
          </a:p>
        </p:txBody>
      </p:sp>
      <p:sp>
        <p:nvSpPr>
          <p:cNvPr id="18" name="STC-20-infra-arrow-1"/>
          <p:cNvSpPr/>
          <p:nvPr/>
        </p:nvSpPr>
        <p:spPr>
          <a:xfrm>
            <a:off x="6574536" y="3657600"/>
            <a:ext cx="530352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0-infra-plane-2"/>
          <p:cNvSpPr/>
          <p:nvPr/>
        </p:nvSpPr>
        <p:spPr>
          <a:xfrm>
            <a:off x="7205472" y="2633472"/>
            <a:ext cx="2514600" cy="2057400"/>
          </a:xfrm>
          <a:prstGeom prst="rect">
            <a:avLst/>
          </a:prstGeom>
          <a:solidFill>
            <a:srgbClr val="DDE9E4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20" name="STC-20-infra-label-2"/>
          <p:cNvSpPr/>
          <p:nvPr/>
        </p:nvSpPr>
        <p:spPr>
          <a:xfrm>
            <a:off x="7388352" y="29077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MEMORY FABRIC</a:t>
            </a:r>
            <a:endParaRPr lang="en-US" sz="1150" dirty="0"/>
          </a:p>
        </p:txBody>
      </p:sp>
      <p:sp>
        <p:nvSpPr>
          <p:cNvPr id="21" name="STC-20-infra-body-2"/>
          <p:cNvSpPr/>
          <p:nvPr/>
        </p:nvSpPr>
        <p:spPr>
          <a:xfrm>
            <a:off x="7434072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text · vector · graph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latent · adapter</a:t>
            </a:r>
            <a:endParaRPr lang="en-US" sz="1800" dirty="0"/>
          </a:p>
        </p:txBody>
      </p:sp>
      <p:sp>
        <p:nvSpPr>
          <p:cNvPr id="22" name="STC-20-infra-control"/>
          <p:cNvSpPr/>
          <p:nvPr/>
        </p:nvSpPr>
        <p:spPr>
          <a:xfrm>
            <a:off x="1481328" y="1435608"/>
            <a:ext cx="8183880" cy="658368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23" name="STC-20-infra-control-text"/>
          <p:cNvSpPr/>
          <p:nvPr/>
        </p:nvSpPr>
        <p:spPr>
          <a:xfrm>
            <a:off x="1773936" y="1655064"/>
            <a:ext cx="7607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CONTROL PLANE  ·  admit / route / schedule / verify / publish / undo</a:t>
            </a:r>
            <a:endParaRPr lang="en-US" sz="1250" dirty="0"/>
          </a:p>
        </p:txBody>
      </p:sp>
      <p:sp>
        <p:nvSpPr>
          <p:cNvPr id="24" name="STC-20-infra-control-wake"/>
          <p:cNvSpPr/>
          <p:nvPr/>
        </p:nvSpPr>
        <p:spPr>
          <a:xfrm>
            <a:off x="2816352" y="2103120"/>
            <a:ext cx="0" cy="438912"/>
          </a:xfrm>
          <a:prstGeom prst="line">
            <a:avLst/>
          </a:prstGeom>
          <a:noFill/>
          <a:ln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5" name="STC-20-infra-control-sleep"/>
          <p:cNvSpPr/>
          <p:nvPr/>
        </p:nvSpPr>
        <p:spPr>
          <a:xfrm>
            <a:off x="6044184" y="2103120"/>
            <a:ext cx="0" cy="438912"/>
          </a:xfrm>
          <a:prstGeom prst="line">
            <a:avLst/>
          </a:prstGeom>
          <a:noFill/>
          <a:ln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0-infra-control-memory"/>
          <p:cNvSpPr/>
          <p:nvPr/>
        </p:nvSpPr>
        <p:spPr>
          <a:xfrm>
            <a:off x="9272016" y="2103120"/>
            <a:ext cx="0" cy="438912"/>
          </a:xfrm>
          <a:prstGeom prst="line">
            <a:avLst/>
          </a:prstGeom>
          <a:noFill/>
          <a:ln w="1397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0-infra-ledger"/>
          <p:cNvSpPr/>
          <p:nvPr/>
        </p:nvSpPr>
        <p:spPr>
          <a:xfrm>
            <a:off x="10268712" y="1435608"/>
            <a:ext cx="941832" cy="3255264"/>
          </a:xfrm>
          <a:prstGeom prst="rect">
            <a:avLst/>
          </a:prstGeom>
          <a:solidFill>
            <a:srgbClr val="ECE8DE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28" name="STC-20-infra-ledger-text"/>
          <p:cNvSpPr/>
          <p:nvPr/>
        </p:nvSpPr>
        <p:spPr>
          <a:xfrm rot="16200000">
            <a:off x="10405872" y="2487168"/>
            <a:ext cx="667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LEDGER</a:t>
            </a:r>
            <a:endParaRPr lang="en-US" sz="1100" dirty="0"/>
          </a:p>
        </p:txBody>
      </p:sp>
      <p:sp>
        <p:nvSpPr>
          <p:cNvPr id="29" name="STC-20-infra-latency"/>
          <p:cNvSpPr/>
          <p:nvPr/>
        </p:nvSpPr>
        <p:spPr>
          <a:xfrm>
            <a:off x="868680" y="51663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4E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latency-sensitive</a:t>
            </a:r>
            <a:endParaRPr lang="en-US" sz="1300" dirty="0"/>
          </a:p>
        </p:txBody>
      </p:sp>
      <p:sp>
        <p:nvSpPr>
          <p:cNvPr id="30" name="STC-20-infra-throughput"/>
          <p:cNvSpPr/>
          <p:nvPr/>
        </p:nvSpPr>
        <p:spPr>
          <a:xfrm>
            <a:off x="4133088" y="51663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44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throughput-oriented</a:t>
            </a:r>
            <a:endParaRPr lang="en-US" sz="1300" dirty="0"/>
          </a:p>
        </p:txBody>
      </p:sp>
      <p:sp>
        <p:nvSpPr>
          <p:cNvPr id="31" name="STC-20-infra-tiered"/>
          <p:cNvSpPr/>
          <p:nvPr/>
        </p:nvSpPr>
        <p:spPr>
          <a:xfrm>
            <a:off x="7333488" y="51663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6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tiered persistent state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1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STATE TRANSACTION</a:t>
            </a:r>
            <a:endParaRPr lang="en-US" sz="950" dirty="0"/>
          </a:p>
        </p:txBody>
      </p:sp>
      <p:sp>
        <p:nvSpPr>
          <p:cNvPr id="3" name="STC-21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STC-21</a:t>
            </a:r>
            <a:endParaRPr lang="en-US" sz="950" dirty="0"/>
          </a:p>
        </p:txBody>
      </p:sp>
      <p:sp>
        <p:nvSpPr>
          <p:cNvPr id="4" name="STC-21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sleep 완료는 job 종료가 아니라 atomic publication이다</a:t>
            </a:r>
            <a:endParaRPr lang="en-US" sz="3000" dirty="0"/>
          </a:p>
        </p:txBody>
      </p:sp>
      <p:sp>
        <p:nvSpPr>
          <p:cNvPr id="5" name="STC-21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제안</a:t>
            </a:r>
            <a:endParaRPr lang="en-US" sz="1000" dirty="0"/>
          </a:p>
        </p:txBody>
      </p:sp>
      <p:sp>
        <p:nvSpPr>
          <p:cNvPr id="6" name="STC-21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1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1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ServingHead / MVCC / CAS / deletion-epoch design</a:t>
            </a:r>
            <a:endParaRPr lang="en-US" sz="850" dirty="0"/>
          </a:p>
        </p:txBody>
      </p:sp>
      <p:sp>
        <p:nvSpPr>
          <p:cNvPr id="9" name="STC-21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21</a:t>
            </a:r>
            <a:endParaRPr lang="en-US" sz="850" dirty="0"/>
          </a:p>
        </p:txBody>
      </p:sp>
      <p:sp>
        <p:nvSpPr>
          <p:cNvPr id="11" name="STC-21-tx-tag-0"/>
          <p:cNvSpPr/>
          <p:nvPr/>
        </p:nvSpPr>
        <p:spPr>
          <a:xfrm>
            <a:off x="804672" y="1719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v17</a:t>
            </a:r>
            <a:endParaRPr lang="en-US" sz="1100" dirty="0"/>
          </a:p>
        </p:txBody>
      </p:sp>
      <p:sp>
        <p:nvSpPr>
          <p:cNvPr id="12" name="STC-21-tx-node-0"/>
          <p:cNvSpPr/>
          <p:nvPr/>
        </p:nvSpPr>
        <p:spPr>
          <a:xfrm>
            <a:off x="804672" y="2084832"/>
            <a:ext cx="1417320" cy="1078992"/>
          </a:xfrm>
          <a:prstGeom prst="rect">
            <a:avLst/>
          </a:prstGeom>
          <a:solidFill>
            <a:srgbClr val="DDE6F2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3" name="STC-21-tx-body-0"/>
          <p:cNvSpPr/>
          <p:nvPr/>
        </p:nvSpPr>
        <p:spPr>
          <a:xfrm>
            <a:off x="914400" y="2350008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AUTHZ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</a:t>
            </a:r>
            <a:endParaRPr lang="en-US" sz="1500" dirty="0"/>
          </a:p>
        </p:txBody>
      </p:sp>
      <p:sp>
        <p:nvSpPr>
          <p:cNvPr id="14" name="STC-21-tx-arrow-0"/>
          <p:cNvSpPr/>
          <p:nvPr/>
        </p:nvSpPr>
        <p:spPr>
          <a:xfrm>
            <a:off x="2286000" y="2615184"/>
            <a:ext cx="749808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5" name="STC-21-tx-tag-1"/>
          <p:cNvSpPr/>
          <p:nvPr/>
        </p:nvSpPr>
        <p:spPr>
          <a:xfrm>
            <a:off x="3127248" y="1719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SNAP</a:t>
            </a:r>
            <a:endParaRPr lang="en-US" sz="1100" dirty="0"/>
          </a:p>
        </p:txBody>
      </p:sp>
      <p:sp>
        <p:nvSpPr>
          <p:cNvPr id="16" name="STC-21-tx-node-1"/>
          <p:cNvSpPr/>
          <p:nvPr/>
        </p:nvSpPr>
        <p:spPr>
          <a:xfrm>
            <a:off x="3127248" y="2084832"/>
            <a:ext cx="1417320" cy="1078992"/>
          </a:xfrm>
          <a:prstGeom prst="rect">
            <a:avLst/>
          </a:prstGeom>
          <a:solidFill>
            <a:srgbClr val="ECE8DE"/>
          </a:solidFill>
          <a:ln w="12700">
            <a:solidFill>
              <a:srgbClr val="59616A"/>
            </a:solidFill>
            <a:prstDash val="solid"/>
          </a:ln>
        </p:spPr>
      </p:sp>
      <p:sp>
        <p:nvSpPr>
          <p:cNvPr id="17" name="STC-21-tx-body-1"/>
          <p:cNvSpPr/>
          <p:nvPr/>
        </p:nvSpPr>
        <p:spPr>
          <a:xfrm>
            <a:off x="3236976" y="2350008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immutable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wake snapshot</a:t>
            </a:r>
            <a:endParaRPr lang="en-US" sz="1550" dirty="0"/>
          </a:p>
        </p:txBody>
      </p:sp>
      <p:sp>
        <p:nvSpPr>
          <p:cNvPr id="18" name="STC-21-tx-arrow-1"/>
          <p:cNvSpPr/>
          <p:nvPr/>
        </p:nvSpPr>
        <p:spPr>
          <a:xfrm>
            <a:off x="4608576" y="2615184"/>
            <a:ext cx="749808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9" name="STC-21-tx-tag-2"/>
          <p:cNvSpPr/>
          <p:nvPr/>
        </p:nvSpPr>
        <p:spPr>
          <a:xfrm>
            <a:off x="5449824" y="1719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CAND</a:t>
            </a:r>
            <a:endParaRPr lang="en-US" sz="1100" dirty="0"/>
          </a:p>
        </p:txBody>
      </p:sp>
      <p:sp>
        <p:nvSpPr>
          <p:cNvPr id="20" name="STC-21-tx-node-2"/>
          <p:cNvSpPr/>
          <p:nvPr/>
        </p:nvSpPr>
        <p:spPr>
          <a:xfrm>
            <a:off x="5449824" y="2084832"/>
            <a:ext cx="1417320" cy="1078992"/>
          </a:xfrm>
          <a:prstGeom prst="rect">
            <a:avLst/>
          </a:prstGeom>
          <a:solidFill>
            <a:srgbClr val="F0DED7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1" name="STC-21-tx-body-2"/>
          <p:cNvSpPr/>
          <p:nvPr/>
        </p:nvSpPr>
        <p:spPr>
          <a:xfrm>
            <a:off x="5559552" y="2350008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multi-store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candidate</a:t>
            </a:r>
            <a:endParaRPr lang="en-US" sz="1550" dirty="0"/>
          </a:p>
        </p:txBody>
      </p:sp>
      <p:sp>
        <p:nvSpPr>
          <p:cNvPr id="22" name="STC-21-tx-arrow-2"/>
          <p:cNvSpPr/>
          <p:nvPr/>
        </p:nvSpPr>
        <p:spPr>
          <a:xfrm>
            <a:off x="6931152" y="2615184"/>
            <a:ext cx="749808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3" name="STC-21-tx-tag-3"/>
          <p:cNvSpPr/>
          <p:nvPr/>
        </p:nvSpPr>
        <p:spPr>
          <a:xfrm>
            <a:off x="7772400" y="1719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VERIFY</a:t>
            </a:r>
            <a:endParaRPr lang="en-US" sz="1100" dirty="0"/>
          </a:p>
        </p:txBody>
      </p:sp>
      <p:sp>
        <p:nvSpPr>
          <p:cNvPr id="24" name="STC-21-tx-node-3"/>
          <p:cNvSpPr/>
          <p:nvPr/>
        </p:nvSpPr>
        <p:spPr>
          <a:xfrm>
            <a:off x="7772400" y="2084832"/>
            <a:ext cx="1417320" cy="1078992"/>
          </a:xfrm>
          <a:prstGeom prst="rect">
            <a:avLst/>
          </a:prstGeom>
          <a:solidFill>
            <a:srgbClr val="DDE9E4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25" name="STC-21-tx-body-3"/>
          <p:cNvSpPr/>
          <p:nvPr/>
        </p:nvSpPr>
        <p:spPr>
          <a:xfrm>
            <a:off x="7882128" y="2350008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utility · harm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provenance</a:t>
            </a:r>
            <a:endParaRPr lang="en-US" sz="1550" dirty="0"/>
          </a:p>
        </p:txBody>
      </p:sp>
      <p:sp>
        <p:nvSpPr>
          <p:cNvPr id="26" name="STC-21-tx-arrow-3"/>
          <p:cNvSpPr/>
          <p:nvPr/>
        </p:nvSpPr>
        <p:spPr>
          <a:xfrm>
            <a:off x="9253728" y="2615184"/>
            <a:ext cx="749808" cy="0"/>
          </a:xfrm>
          <a:prstGeom prst="line">
            <a:avLst/>
          </a:prstGeom>
          <a:noFill/>
          <a:ln w="1524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7" name="STC-21-tx-tag-4"/>
          <p:cNvSpPr/>
          <p:nvPr/>
        </p:nvSpPr>
        <p:spPr>
          <a:xfrm>
            <a:off x="10094976" y="1719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v18</a:t>
            </a:r>
            <a:endParaRPr lang="en-US" sz="1100" dirty="0"/>
          </a:p>
        </p:txBody>
      </p:sp>
      <p:sp>
        <p:nvSpPr>
          <p:cNvPr id="28" name="STC-21-tx-node-4"/>
          <p:cNvSpPr/>
          <p:nvPr/>
        </p:nvSpPr>
        <p:spPr>
          <a:xfrm>
            <a:off x="10094976" y="2084832"/>
            <a:ext cx="1417320" cy="107899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29" name="STC-21-tx-body-4"/>
          <p:cNvSpPr/>
          <p:nvPr/>
        </p:nvSpPr>
        <p:spPr>
          <a:xfrm>
            <a:off x="10204704" y="2350008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ATOMIC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MANIFEST</a:t>
            </a:r>
            <a:endParaRPr lang="en-US" sz="1550" dirty="0"/>
          </a:p>
        </p:txBody>
      </p:sp>
      <p:sp>
        <p:nvSpPr>
          <p:cNvPr id="30" name="STC-21-tx-reject"/>
          <p:cNvSpPr/>
          <p:nvPr/>
        </p:nvSpPr>
        <p:spPr>
          <a:xfrm>
            <a:off x="8183880" y="3264408"/>
            <a:ext cx="-3108960" cy="1124712"/>
          </a:xfrm>
          <a:prstGeom prst="line">
            <a:avLst/>
          </a:prstGeom>
          <a:noFill/>
          <a:ln w="1778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1" name="STC-21-tx-reject-label"/>
          <p:cNvSpPr/>
          <p:nvPr/>
        </p:nvSpPr>
        <p:spPr>
          <a:xfrm>
            <a:off x="5047488" y="4480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REJECT / ROLLBACK</a:t>
            </a:r>
            <a:endParaRPr lang="en-US" sz="1050" dirty="0"/>
          </a:p>
        </p:txBody>
      </p:sp>
      <p:sp>
        <p:nvSpPr>
          <p:cNvPr id="32" name="STC-21-tx-invariants"/>
          <p:cNvSpPr/>
          <p:nvPr/>
        </p:nvSpPr>
        <p:spPr>
          <a:xfrm>
            <a:off x="1353312" y="4919472"/>
            <a:ext cx="9372600" cy="694944"/>
          </a:xfrm>
          <a:prstGeom prst="rect">
            <a:avLst/>
          </a:prstGeom>
          <a:solidFill>
            <a:srgbClr val="ECE8DE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33" name="STC-21-tx-invariants-text"/>
          <p:cNvSpPr/>
          <p:nvPr/>
        </p:nvSpPr>
        <p:spPr>
          <a:xfrm>
            <a:off x="1645920" y="5148072"/>
            <a:ext cx="8796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91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manifest generation + digest + authorization epoch + deletion epoch</a:t>
            </a:r>
            <a:endParaRPr lang="en-US" sz="1200" dirty="0"/>
          </a:p>
        </p:txBody>
      </p:sp>
      <p:sp>
        <p:nvSpPr>
          <p:cNvPr id="34" name="STC-21-tx-bottom"/>
          <p:cNvSpPr/>
          <p:nvPr/>
        </p:nvSpPr>
        <p:spPr>
          <a:xfrm>
            <a:off x="1828800" y="57881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foreground request는 version을 pin하고, deletion은 같은 CAS word를 전진시킨다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2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BENCHMARK</a:t>
            </a:r>
            <a:endParaRPr lang="en-US" sz="950" dirty="0"/>
          </a:p>
        </p:txBody>
      </p:sp>
      <p:sp>
        <p:nvSpPr>
          <p:cNvPr id="3" name="STC-22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STC-22</a:t>
            </a:r>
            <a:endParaRPr lang="en-US" sz="950" dirty="0"/>
          </a:p>
        </p:txBody>
      </p:sp>
      <p:sp>
        <p:nvSpPr>
          <p:cNvPr id="4" name="STC-22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297-cell benchmark는 lifecycle 선택을 비교한다</a:t>
            </a:r>
            <a:endParaRPr lang="en-US" sz="3000" dirty="0"/>
          </a:p>
        </p:txBody>
      </p:sp>
      <p:sp>
        <p:nvSpPr>
          <p:cNvPr id="5" name="STC-22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제안</a:t>
            </a:r>
            <a:endParaRPr lang="en-US" sz="1000" dirty="0"/>
          </a:p>
        </p:txBody>
      </p:sp>
      <p:sp>
        <p:nvSpPr>
          <p:cNvPr id="6" name="STC-22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2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2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BENCHMARK-EXPERIMENT-BLUEPRINT · proposed, preregistration-ready / unexecuted</a:t>
            </a:r>
            <a:endParaRPr lang="en-US" sz="850" dirty="0"/>
          </a:p>
        </p:txBody>
      </p:sp>
      <p:sp>
        <p:nvSpPr>
          <p:cNvPr id="9" name="STC-22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22</a:t>
            </a:r>
            <a:endParaRPr lang="en-US" sz="850" dirty="0"/>
          </a:p>
        </p:txBody>
      </p:sp>
      <p:sp>
        <p:nvSpPr>
          <p:cNvPr id="11" name="STC-22-bench-297"/>
          <p:cNvSpPr/>
          <p:nvPr/>
        </p:nvSpPr>
        <p:spPr>
          <a:xfrm>
            <a:off x="768096" y="1673352"/>
            <a:ext cx="1874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297</a:t>
            </a:r>
            <a:endParaRPr lang="en-US" sz="5400" dirty="0"/>
          </a:p>
        </p:txBody>
      </p:sp>
      <p:sp>
        <p:nvSpPr>
          <p:cNvPr id="12" name="STC-22-bench-logical"/>
          <p:cNvSpPr/>
          <p:nvPr/>
        </p:nvSpPr>
        <p:spPr>
          <a:xfrm>
            <a:off x="804672" y="2587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logical cells</a:t>
            </a:r>
            <a:endParaRPr lang="en-US" sz="1700" dirty="0"/>
          </a:p>
        </p:txBody>
      </p:sp>
      <p:sp>
        <p:nvSpPr>
          <p:cNvPr id="13" name="STC-22-bench-arrow-1"/>
          <p:cNvSpPr/>
          <p:nvPr/>
        </p:nvSpPr>
        <p:spPr>
          <a:xfrm>
            <a:off x="2779776" y="2103120"/>
            <a:ext cx="530352" cy="0"/>
          </a:xfrm>
          <a:prstGeom prst="line">
            <a:avLst/>
          </a:prstGeom>
          <a:noFill/>
          <a:ln w="1778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4" name="STC-22-bench-matrix-0"/>
          <p:cNvSpPr/>
          <p:nvPr/>
        </p:nvSpPr>
        <p:spPr>
          <a:xfrm>
            <a:off x="3456432" y="1627632"/>
            <a:ext cx="3547872" cy="1463040"/>
          </a:xfrm>
          <a:prstGeom prst="rect">
            <a:avLst/>
          </a:prstGeom>
          <a:solidFill>
            <a:srgbClr val="DDE6F2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5" name="STC-22-bench-matrix-num-0"/>
          <p:cNvSpPr/>
          <p:nvPr/>
        </p:nvSpPr>
        <p:spPr>
          <a:xfrm>
            <a:off x="3639312" y="1810512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44E8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189</a:t>
            </a:r>
            <a:endParaRPr lang="en-US" sz="2900" dirty="0"/>
          </a:p>
        </p:txBody>
      </p:sp>
      <p:sp>
        <p:nvSpPr>
          <p:cNvPr id="16" name="STC-22-bench-matrix-label-0"/>
          <p:cNvSpPr/>
          <p:nvPr/>
        </p:nvSpPr>
        <p:spPr>
          <a:xfrm>
            <a:off x="4572000" y="1874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ROUTING × MEDIUM</a:t>
            </a:r>
            <a:endParaRPr lang="en-US" sz="1030" dirty="0"/>
          </a:p>
        </p:txBody>
      </p:sp>
      <p:sp>
        <p:nvSpPr>
          <p:cNvPr id="17" name="STC-22-bench-matrix-formula-0"/>
          <p:cNvSpPr/>
          <p:nvPr/>
        </p:nvSpPr>
        <p:spPr>
          <a:xfrm>
            <a:off x="3657600" y="2331720"/>
            <a:ext cx="3145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deployable × 3 reuse × 3 pressure × 3 seeds = 162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oracle on 27 operating cells</a:t>
            </a:r>
            <a:endParaRPr lang="en-US" sz="1280" dirty="0"/>
          </a:p>
        </p:txBody>
      </p:sp>
      <p:sp>
        <p:nvSpPr>
          <p:cNvPr id="18" name="STC-22-bench-matrix-1"/>
          <p:cNvSpPr/>
          <p:nvPr/>
        </p:nvSpPr>
        <p:spPr>
          <a:xfrm>
            <a:off x="7479792" y="1627632"/>
            <a:ext cx="3547872" cy="1463040"/>
          </a:xfrm>
          <a:prstGeom prst="rect">
            <a:avLst/>
          </a:prstGeom>
          <a:solidFill>
            <a:srgbClr val="F0DED7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19" name="STC-22-bench-matrix-num-1"/>
          <p:cNvSpPr/>
          <p:nvPr/>
        </p:nvSpPr>
        <p:spPr>
          <a:xfrm>
            <a:off x="7662672" y="1810512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108</a:t>
            </a:r>
            <a:endParaRPr lang="en-US" sz="2900" dirty="0"/>
          </a:p>
        </p:txBody>
      </p:sp>
      <p:sp>
        <p:nvSpPr>
          <p:cNvPr id="20" name="STC-22-bench-matrix-label-1"/>
          <p:cNvSpPr/>
          <p:nvPr/>
        </p:nvSpPr>
        <p:spPr>
          <a:xfrm>
            <a:off x="8595360" y="1874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SCHEDULE × OPERATOR</a:t>
            </a:r>
            <a:endParaRPr lang="en-US" sz="1030" dirty="0"/>
          </a:p>
        </p:txBody>
      </p:sp>
      <p:sp>
        <p:nvSpPr>
          <p:cNvPr id="21" name="STC-22-bench-matrix-formula-1"/>
          <p:cNvSpPr/>
          <p:nvPr/>
        </p:nvSpPr>
        <p:spPr>
          <a:xfrm>
            <a:off x="7680960" y="2331720"/>
            <a:ext cx="3145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schedules × 2 operators × 3 reuse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× 3 pressure × 3 seeds</a:t>
            </a:r>
            <a:endParaRPr lang="en-US" sz="1280" dirty="0"/>
          </a:p>
        </p:txBody>
      </p:sp>
      <p:sp>
        <p:nvSpPr>
          <p:cNvPr id="22" name="STC-22-bench-divider"/>
          <p:cNvSpPr/>
          <p:nvPr/>
        </p:nvSpPr>
        <p:spPr>
          <a:xfrm>
            <a:off x="804672" y="3529584"/>
            <a:ext cx="10378440" cy="0"/>
          </a:xfrm>
          <a:prstGeom prst="line">
            <a:avLst/>
          </a:prstGeom>
          <a:noFill/>
          <a:ln w="15240">
            <a:solidFill>
              <a:srgbClr val="C9C4B8"/>
            </a:solidFill>
            <a:prstDash val="solid"/>
            <a:tailEnd type="none"/>
          </a:ln>
        </p:spPr>
      </p:sp>
      <p:sp>
        <p:nvSpPr>
          <p:cNvPr id="23" name="STC-22-bench-contract-num-0"/>
          <p:cNvSpPr/>
          <p:nvPr/>
        </p:nvSpPr>
        <p:spPr>
          <a:xfrm>
            <a:off x="914400" y="391363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44E8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48</a:t>
            </a:r>
            <a:endParaRPr lang="en-US" sz="2800" dirty="0"/>
          </a:p>
        </p:txBody>
      </p:sp>
      <p:sp>
        <p:nvSpPr>
          <p:cNvPr id="24" name="STC-22-bench-contract-body-0"/>
          <p:cNvSpPr/>
          <p:nvPr/>
        </p:nvSpPr>
        <p:spPr>
          <a:xfrm>
            <a:off x="1947672" y="3913632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fixed blocks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 families × 3 seeds</a:t>
            </a:r>
            <a:endParaRPr lang="en-US" sz="1450" dirty="0"/>
          </a:p>
        </p:txBody>
      </p:sp>
      <p:sp>
        <p:nvSpPr>
          <p:cNvPr id="25" name="STC-22-bench-contract-num-1"/>
          <p:cNvSpPr/>
          <p:nvPr/>
        </p:nvSpPr>
        <p:spPr>
          <a:xfrm>
            <a:off x="3538728" y="391363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131</a:t>
            </a:r>
            <a:endParaRPr lang="en-US" sz="2800" dirty="0"/>
          </a:p>
        </p:txBody>
      </p:sp>
      <p:sp>
        <p:nvSpPr>
          <p:cNvPr id="26" name="STC-22-bench-contract-body-1"/>
          <p:cNvSpPr/>
          <p:nvPr/>
        </p:nvSpPr>
        <p:spPr>
          <a:xfrm>
            <a:off x="4572000" y="3913632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global rows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104 continuous + 27 RF</a:t>
            </a:r>
            <a:endParaRPr lang="en-US" sz="1450" dirty="0"/>
          </a:p>
        </p:txBody>
      </p:sp>
      <p:sp>
        <p:nvSpPr>
          <p:cNvPr id="27" name="STC-22-bench-contract-num-2"/>
          <p:cNvSpPr/>
          <p:nvPr/>
        </p:nvSpPr>
        <p:spPr>
          <a:xfrm>
            <a:off x="6163056" y="391363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44E8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20k</a:t>
            </a:r>
            <a:endParaRPr lang="en-US" sz="2800" dirty="0"/>
          </a:p>
        </p:txBody>
      </p:sp>
      <p:sp>
        <p:nvSpPr>
          <p:cNvPr id="28" name="STC-22-bench-contract-body-2"/>
          <p:cNvSpPr/>
          <p:nvPr/>
        </p:nvSpPr>
        <p:spPr>
          <a:xfrm>
            <a:off x="7196328" y="3913632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blocked paired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bootstrap</a:t>
            </a:r>
            <a:endParaRPr lang="en-US" sz="1450" dirty="0"/>
          </a:p>
        </p:txBody>
      </p:sp>
      <p:sp>
        <p:nvSpPr>
          <p:cNvPr id="29" name="STC-22-bench-contract-num-3"/>
          <p:cNvSpPr/>
          <p:nvPr/>
        </p:nvSpPr>
        <p:spPr>
          <a:xfrm>
            <a:off x="8787384" y="391363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6B63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ITT</a:t>
            </a:r>
            <a:endParaRPr lang="en-US" sz="2800" dirty="0"/>
          </a:p>
        </p:txBody>
      </p:sp>
      <p:sp>
        <p:nvSpPr>
          <p:cNvPr id="30" name="STC-22-bench-contract-body-3"/>
          <p:cNvSpPr/>
          <p:nvPr/>
        </p:nvSpPr>
        <p:spPr>
          <a:xfrm>
            <a:off x="9820656" y="3913632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failures score zero</a:t>
            </a:r>
            <a:endParaRPr lang="en-US" sz="1450" dirty="0"/>
          </a:p>
        </p:txBody>
      </p:sp>
      <p:sp>
        <p:nvSpPr>
          <p:cNvPr id="31" name="STC-22-bench-status"/>
          <p:cNvSpPr/>
          <p:nvPr/>
        </p:nvSpPr>
        <p:spPr>
          <a:xfrm>
            <a:off x="914400" y="5257800"/>
            <a:ext cx="10040112" cy="53035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32" name="STC-22-bench-status-text"/>
          <p:cNvSpPr/>
          <p:nvPr/>
        </p:nvSpPr>
        <p:spPr>
          <a:xfrm>
            <a:off x="1143000" y="5431536"/>
            <a:ext cx="9582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UNEXECUTED  ·  proposed, preregistration-ready  ·  no PAPER-C result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3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OPEN QUESTIONS</a:t>
            </a:r>
            <a:endParaRPr lang="en-US" sz="950" dirty="0"/>
          </a:p>
        </p:txBody>
      </p:sp>
      <p:sp>
        <p:nvSpPr>
          <p:cNvPr id="3" name="STC-23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STC-23</a:t>
            </a:r>
            <a:endParaRPr lang="en-US" sz="950" dirty="0"/>
          </a:p>
        </p:txBody>
      </p:sp>
      <p:sp>
        <p:nvSpPr>
          <p:cNvPr id="4" name="STC-23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리서치의 가치는 답보다 answerable question을 만드는 데 있다</a:t>
            </a:r>
            <a:endParaRPr lang="en-US" sz="3000" dirty="0"/>
          </a:p>
        </p:txBody>
      </p:sp>
      <p:sp>
        <p:nvSpPr>
          <p:cNvPr id="5" name="STC-23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가설</a:t>
            </a:r>
            <a:endParaRPr lang="en-US" sz="1000" dirty="0"/>
          </a:p>
        </p:txBody>
      </p:sp>
      <p:sp>
        <p:nvSpPr>
          <p:cNvPr id="6" name="STC-23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9A442D"/>
            </a:solidFill>
            <a:prstDash val="solid"/>
            <a:tailEnd type="none"/>
          </a:ln>
        </p:spPr>
      </p:sp>
      <p:sp>
        <p:nvSpPr>
          <p:cNvPr id="7" name="STC-23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3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RQ1–RQ12 answerability matrix · H-STC and X-STC registry</a:t>
            </a:r>
            <a:endParaRPr lang="en-US" sz="850" dirty="0"/>
          </a:p>
        </p:txBody>
      </p:sp>
      <p:sp>
        <p:nvSpPr>
          <p:cNvPr id="9" name="STC-23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23</a:t>
            </a:r>
            <a:endParaRPr lang="en-US" sz="850" dirty="0"/>
          </a:p>
        </p:txBody>
      </p:sp>
      <p:sp>
        <p:nvSpPr>
          <p:cNvPr id="11" name="STC-23-oq-tag-0"/>
          <p:cNvSpPr/>
          <p:nvPr/>
        </p:nvSpPr>
        <p:spPr>
          <a:xfrm>
            <a:off x="749808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NOW</a:t>
            </a:r>
            <a:endParaRPr lang="en-US" sz="1150" dirty="0"/>
          </a:p>
        </p:txBody>
      </p:sp>
      <p:sp>
        <p:nvSpPr>
          <p:cNvPr id="12" name="STC-23-oq-rule-0"/>
          <p:cNvSpPr/>
          <p:nvPr/>
        </p:nvSpPr>
        <p:spPr>
          <a:xfrm>
            <a:off x="749808" y="2011680"/>
            <a:ext cx="2651760" cy="0"/>
          </a:xfrm>
          <a:prstGeom prst="line">
            <a:avLst/>
          </a:prstGeom>
          <a:noFill/>
          <a:ln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23-oq-list-0-dot-0"/>
          <p:cNvSpPr/>
          <p:nvPr/>
        </p:nvSpPr>
        <p:spPr>
          <a:xfrm>
            <a:off x="786384" y="2505456"/>
            <a:ext cx="82296" cy="82296"/>
          </a:xfrm>
          <a:prstGeom prst="ellipse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4" name="STC-23-oq-list-0-item-0"/>
          <p:cNvSpPr/>
          <p:nvPr/>
        </p:nvSpPr>
        <p:spPr>
          <a:xfrm>
            <a:off x="1014984" y="2395728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정의</a:t>
            </a:r>
            <a:endParaRPr lang="en-US" sz="1700" dirty="0"/>
          </a:p>
        </p:txBody>
      </p:sp>
      <p:sp>
        <p:nvSpPr>
          <p:cNvPr id="15" name="STC-23-oq-list-0-dot-1"/>
          <p:cNvSpPr/>
          <p:nvPr/>
        </p:nvSpPr>
        <p:spPr>
          <a:xfrm>
            <a:off x="786384" y="3200400"/>
            <a:ext cx="82296" cy="82296"/>
          </a:xfrm>
          <a:prstGeom prst="ellipse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6" name="STC-23-oq-list-0-item-1"/>
          <p:cNvSpPr/>
          <p:nvPr/>
        </p:nvSpPr>
        <p:spPr>
          <a:xfrm>
            <a:off x="1014984" y="3090672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prior mechanism</a:t>
            </a:r>
            <a:endParaRPr lang="en-US" sz="1700" dirty="0"/>
          </a:p>
        </p:txBody>
      </p:sp>
      <p:sp>
        <p:nvSpPr>
          <p:cNvPr id="17" name="STC-23-oq-list-0-dot-2"/>
          <p:cNvSpPr/>
          <p:nvPr/>
        </p:nvSpPr>
        <p:spPr>
          <a:xfrm>
            <a:off x="786384" y="3895344"/>
            <a:ext cx="82296" cy="82296"/>
          </a:xfrm>
          <a:prstGeom prst="ellipse">
            <a:avLst/>
          </a:prstGeom>
          <a:solidFill>
            <a:srgbClr val="244E8A"/>
          </a:solidFill>
          <a:ln w="12700">
            <a:solidFill>
              <a:srgbClr val="244E8A"/>
            </a:solidFill>
            <a:prstDash val="solid"/>
          </a:ln>
        </p:spPr>
      </p:sp>
      <p:sp>
        <p:nvSpPr>
          <p:cNvPr id="18" name="STC-23-oq-list-0-item-2"/>
          <p:cNvSpPr/>
          <p:nvPr/>
        </p:nvSpPr>
        <p:spPr>
          <a:xfrm>
            <a:off x="1014984" y="3785616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capacity necessity</a:t>
            </a:r>
            <a:endParaRPr lang="en-US" sz="1700" dirty="0"/>
          </a:p>
        </p:txBody>
      </p:sp>
      <p:sp>
        <p:nvSpPr>
          <p:cNvPr id="19" name="STC-23-oq-tag-1"/>
          <p:cNvSpPr/>
          <p:nvPr/>
        </p:nvSpPr>
        <p:spPr>
          <a:xfrm>
            <a:off x="4041648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MATCHED EXPERIMENT</a:t>
            </a:r>
            <a:endParaRPr lang="en-US" sz="1150" dirty="0"/>
          </a:p>
        </p:txBody>
      </p:sp>
      <p:sp>
        <p:nvSpPr>
          <p:cNvPr id="20" name="STC-23-oq-rule-1"/>
          <p:cNvSpPr/>
          <p:nvPr/>
        </p:nvSpPr>
        <p:spPr>
          <a:xfrm>
            <a:off x="4041648" y="2011680"/>
            <a:ext cx="2651760" cy="0"/>
          </a:xfrm>
          <a:prstGeom prst="line">
            <a:avLst/>
          </a:prstGeom>
          <a:noFill/>
          <a:ln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1" name="STC-23-oq-list-1-dot-0"/>
          <p:cNvSpPr/>
          <p:nvPr/>
        </p:nvSpPr>
        <p:spPr>
          <a:xfrm>
            <a:off x="4078224" y="2505456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2" name="STC-23-oq-list-1-item-0"/>
          <p:cNvSpPr/>
          <p:nvPr/>
        </p:nvSpPr>
        <p:spPr>
          <a:xfrm>
            <a:off x="4306824" y="2395728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destination routing</a:t>
            </a:r>
            <a:endParaRPr lang="en-US" sz="1700" dirty="0"/>
          </a:p>
        </p:txBody>
      </p:sp>
      <p:sp>
        <p:nvSpPr>
          <p:cNvPr id="23" name="STC-23-oq-list-1-dot-1"/>
          <p:cNvSpPr/>
          <p:nvPr/>
        </p:nvSpPr>
        <p:spPr>
          <a:xfrm>
            <a:off x="4078224" y="3200400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4" name="STC-23-oq-list-1-item-1"/>
          <p:cNvSpPr/>
          <p:nvPr/>
        </p:nvSpPr>
        <p:spPr>
          <a:xfrm>
            <a:off x="4306824" y="3090672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cadence advantage</a:t>
            </a:r>
            <a:endParaRPr lang="en-US" sz="1700" dirty="0"/>
          </a:p>
        </p:txBody>
      </p:sp>
      <p:sp>
        <p:nvSpPr>
          <p:cNvPr id="25" name="STC-23-oq-list-1-dot-2"/>
          <p:cNvSpPr/>
          <p:nvPr/>
        </p:nvSpPr>
        <p:spPr>
          <a:xfrm>
            <a:off x="4078224" y="3895344"/>
            <a:ext cx="82296" cy="82296"/>
          </a:xfrm>
          <a:prstGeom prst="ellipse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26" name="STC-23-oq-list-1-item-2"/>
          <p:cNvSpPr/>
          <p:nvPr/>
        </p:nvSpPr>
        <p:spPr>
          <a:xfrm>
            <a:off x="4306824" y="3785616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NREM/REM factorization</a:t>
            </a:r>
            <a:endParaRPr lang="en-US" sz="1700" dirty="0"/>
          </a:p>
        </p:txBody>
      </p:sp>
      <p:sp>
        <p:nvSpPr>
          <p:cNvPr id="27" name="STC-23-oq-tag-2"/>
          <p:cNvSpPr/>
          <p:nvPr/>
        </p:nvSpPr>
        <p:spPr>
          <a:xfrm>
            <a:off x="7333488" y="1645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LONG DEPLOYMENT</a:t>
            </a:r>
            <a:endParaRPr lang="en-US" sz="1150" dirty="0"/>
          </a:p>
        </p:txBody>
      </p:sp>
      <p:sp>
        <p:nvSpPr>
          <p:cNvPr id="28" name="STC-23-oq-rule-2"/>
          <p:cNvSpPr/>
          <p:nvPr/>
        </p:nvSpPr>
        <p:spPr>
          <a:xfrm>
            <a:off x="7333488" y="2011680"/>
            <a:ext cx="2651760" cy="0"/>
          </a:xfrm>
          <a:prstGeom prst="line">
            <a:avLst/>
          </a:prstGeom>
          <a:noFill/>
          <a:ln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29" name="STC-23-oq-list-2-dot-0"/>
          <p:cNvSpPr/>
          <p:nvPr/>
        </p:nvSpPr>
        <p:spPr>
          <a:xfrm>
            <a:off x="7370064" y="2505456"/>
            <a:ext cx="82296" cy="822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30" name="STC-23-oq-list-2-item-0"/>
          <p:cNvSpPr/>
          <p:nvPr/>
        </p:nvSpPr>
        <p:spPr>
          <a:xfrm>
            <a:off x="7598664" y="2395728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lifetime equilibrium</a:t>
            </a:r>
            <a:endParaRPr lang="en-US" sz="1700" dirty="0"/>
          </a:p>
        </p:txBody>
      </p:sp>
      <p:sp>
        <p:nvSpPr>
          <p:cNvPr id="31" name="STC-23-oq-list-2-dot-1"/>
          <p:cNvSpPr/>
          <p:nvPr/>
        </p:nvSpPr>
        <p:spPr>
          <a:xfrm>
            <a:off x="7370064" y="3200400"/>
            <a:ext cx="82296" cy="822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32" name="STC-23-oq-list-2-item-1"/>
          <p:cNvSpPr/>
          <p:nvPr/>
        </p:nvSpPr>
        <p:spPr>
          <a:xfrm>
            <a:off x="7598664" y="3090672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governance debt</a:t>
            </a:r>
            <a:endParaRPr lang="en-US" sz="1700" dirty="0"/>
          </a:p>
        </p:txBody>
      </p:sp>
      <p:sp>
        <p:nvSpPr>
          <p:cNvPr id="33" name="STC-23-oq-list-2-dot-2"/>
          <p:cNvSpPr/>
          <p:nvPr/>
        </p:nvSpPr>
        <p:spPr>
          <a:xfrm>
            <a:off x="7370064" y="3895344"/>
            <a:ext cx="82296" cy="82296"/>
          </a:xfrm>
          <a:prstGeom prst="ellipse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34" name="STC-23-oq-list-2-item-2"/>
          <p:cNvSpPr/>
          <p:nvPr/>
        </p:nvSpPr>
        <p:spPr>
          <a:xfrm>
            <a:off x="7598664" y="3785616"/>
            <a:ext cx="2532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cross-hardware law</a:t>
            </a:r>
            <a:endParaRPr lang="en-US" sz="1700" dirty="0"/>
          </a:p>
        </p:txBody>
      </p:sp>
      <p:sp>
        <p:nvSpPr>
          <p:cNvPr id="35" name="STC-23-oq-div-1"/>
          <p:cNvSpPr/>
          <p:nvPr/>
        </p:nvSpPr>
        <p:spPr>
          <a:xfrm>
            <a:off x="3611880" y="1591056"/>
            <a:ext cx="0" cy="3182112"/>
          </a:xfrm>
          <a:prstGeom prst="line">
            <a:avLst/>
          </a:prstGeom>
          <a:noFill/>
          <a:ln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36" name="STC-23-oq-div-2"/>
          <p:cNvSpPr/>
          <p:nvPr/>
        </p:nvSpPr>
        <p:spPr>
          <a:xfrm>
            <a:off x="6903720" y="1591056"/>
            <a:ext cx="0" cy="3182112"/>
          </a:xfrm>
          <a:prstGeom prst="line">
            <a:avLst/>
          </a:prstGeom>
          <a:noFill/>
          <a:ln w="12700">
            <a:solidFill>
              <a:srgbClr val="C9C4B8"/>
            </a:solidFill>
            <a:prstDash val="solid"/>
            <a:tailEnd type="none"/>
          </a:ln>
        </p:spPr>
      </p:sp>
      <p:sp>
        <p:nvSpPr>
          <p:cNvPr id="37" name="STC-23-oq-hyp-title"/>
          <p:cNvSpPr/>
          <p:nvPr/>
        </p:nvSpPr>
        <p:spPr>
          <a:xfrm>
            <a:off x="768096" y="5065776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A442D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확장 가설</a:t>
            </a:r>
            <a:endParaRPr lang="en-US" sz="1800" dirty="0"/>
          </a:p>
        </p:txBody>
      </p:sp>
      <p:sp>
        <p:nvSpPr>
          <p:cNvPr id="38" name="STC-23-oq-hyp-list"/>
          <p:cNvSpPr/>
          <p:nvPr/>
        </p:nvSpPr>
        <p:spPr>
          <a:xfrm>
            <a:off x="1993392" y="4965192"/>
            <a:ext cx="8997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queue-before-storage · usable-capacity release · routing knee · clock-count crossover · recovery-substrate floor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4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RED TEAM</a:t>
            </a:r>
            <a:endParaRPr lang="en-US" sz="950" dirty="0"/>
          </a:p>
        </p:txBody>
      </p:sp>
      <p:sp>
        <p:nvSpPr>
          <p:cNvPr id="3" name="STC-24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STC-24</a:t>
            </a:r>
            <a:endParaRPr lang="en-US" sz="950" dirty="0"/>
          </a:p>
        </p:txBody>
      </p:sp>
      <p:sp>
        <p:nvSpPr>
          <p:cNvPr id="4" name="STC-24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sleep 연구는 실패했을 때도 무엇을 배웠는지 남긴다</a:t>
            </a:r>
            <a:endParaRPr lang="en-US" sz="3000" dirty="0"/>
          </a:p>
        </p:txBody>
      </p:sp>
      <p:sp>
        <p:nvSpPr>
          <p:cNvPr id="5" name="STC-24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제안</a:t>
            </a:r>
            <a:endParaRPr lang="en-US" sz="1000" dirty="0"/>
          </a:p>
        </p:txBody>
      </p:sp>
      <p:sp>
        <p:nvSpPr>
          <p:cNvPr id="6" name="STC-24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4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4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31-item scientific red-team audit · claim-down contract</a:t>
            </a:r>
            <a:endParaRPr lang="en-US" sz="850" dirty="0"/>
          </a:p>
        </p:txBody>
      </p:sp>
      <p:sp>
        <p:nvSpPr>
          <p:cNvPr id="9" name="STC-24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24</a:t>
            </a:r>
            <a:endParaRPr lang="en-US" sz="850" dirty="0"/>
          </a:p>
        </p:txBody>
      </p:sp>
      <p:sp>
        <p:nvSpPr>
          <p:cNvPr id="11" name="STC-24-redteam-field"/>
          <p:cNvSpPr/>
          <p:nvPr/>
        </p:nvSpPr>
        <p:spPr>
          <a:xfrm>
            <a:off x="777240" y="1581912"/>
            <a:ext cx="2852928" cy="4315968"/>
          </a:xfrm>
          <a:prstGeom prst="rect">
            <a:avLst/>
          </a:prstGeom>
          <a:solidFill>
            <a:srgbClr val="9A442D"/>
          </a:solidFill>
          <a:ln w="12700">
            <a:solidFill>
              <a:srgbClr val="9A442D"/>
            </a:solidFill>
            <a:prstDash val="solid"/>
          </a:ln>
        </p:spPr>
      </p:sp>
      <p:sp>
        <p:nvSpPr>
          <p:cNvPr id="12" name="STC-24-redteam-31"/>
          <p:cNvSpPr/>
          <p:nvPr/>
        </p:nvSpPr>
        <p:spPr>
          <a:xfrm>
            <a:off x="1097280" y="190195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31</a:t>
            </a:r>
            <a:endParaRPr lang="en-US" sz="5200" dirty="0"/>
          </a:p>
        </p:txBody>
      </p:sp>
      <p:sp>
        <p:nvSpPr>
          <p:cNvPr id="13" name="STC-24-redteam-findings"/>
          <p:cNvSpPr/>
          <p:nvPr/>
        </p:nvSpPr>
        <p:spPr>
          <a:xfrm>
            <a:off x="1097280" y="281635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adversarial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findings</a:t>
            </a:r>
            <a:endParaRPr lang="en-US" sz="2000" dirty="0"/>
          </a:p>
        </p:txBody>
      </p:sp>
      <p:sp>
        <p:nvSpPr>
          <p:cNvPr id="14" name="STC-24-redteam-rule"/>
          <p:cNvSpPr/>
          <p:nvPr/>
        </p:nvSpPr>
        <p:spPr>
          <a:xfrm>
            <a:off x="1188720" y="3730752"/>
            <a:ext cx="202996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15" name="STC-24-redteam-domains"/>
          <p:cNvSpPr/>
          <p:nvPr/>
        </p:nvSpPr>
        <p:spPr>
          <a:xfrm>
            <a:off x="1188720" y="4005072"/>
            <a:ext cx="20299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statistics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capacity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systems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publication</a:t>
            </a:r>
            <a:endParaRPr lang="en-US" sz="1250" dirty="0"/>
          </a:p>
        </p:txBody>
      </p:sp>
      <p:sp>
        <p:nvSpPr>
          <p:cNvPr id="16" name="STC-24-redteam-condition-0"/>
          <p:cNvSpPr/>
          <p:nvPr/>
        </p:nvSpPr>
        <p:spPr>
          <a:xfrm>
            <a:off x="4096512" y="1636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 DELAY BENEFIT</a:t>
            </a:r>
            <a:endParaRPr lang="en-US" sz="1050" dirty="0"/>
          </a:p>
        </p:txBody>
      </p:sp>
      <p:sp>
        <p:nvSpPr>
          <p:cNvPr id="17" name="STC-24-redteam-arrow-0"/>
          <p:cNvSpPr/>
          <p:nvPr/>
        </p:nvSpPr>
        <p:spPr>
          <a:xfrm>
            <a:off x="6547104" y="1746504"/>
            <a:ext cx="566928" cy="0"/>
          </a:xfrm>
          <a:prstGeom prst="line">
            <a:avLst/>
          </a:prstGeom>
          <a:noFill/>
          <a:ln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18" name="STC-24-redteam-action-0"/>
          <p:cNvSpPr/>
          <p:nvPr/>
        </p:nvSpPr>
        <p:spPr>
          <a:xfrm>
            <a:off x="7315200" y="160020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sleep-specific claim 철회</a:t>
            </a:r>
            <a:endParaRPr lang="en-US" sz="1700" dirty="0"/>
          </a:p>
        </p:txBody>
      </p:sp>
      <p:sp>
        <p:nvSpPr>
          <p:cNvPr id="19" name="STC-24-redteam-condition-1"/>
          <p:cNvSpPr/>
          <p:nvPr/>
        </p:nvSpPr>
        <p:spPr>
          <a:xfrm>
            <a:off x="4096512" y="2468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 HYBRID DOMINANCE</a:t>
            </a:r>
            <a:endParaRPr lang="en-US" sz="1050" dirty="0"/>
          </a:p>
        </p:txBody>
      </p:sp>
      <p:sp>
        <p:nvSpPr>
          <p:cNvPr id="20" name="STC-24-redteam-arrow-1"/>
          <p:cNvSpPr/>
          <p:nvPr/>
        </p:nvSpPr>
        <p:spPr>
          <a:xfrm>
            <a:off x="6547104" y="2578608"/>
            <a:ext cx="566928" cy="0"/>
          </a:xfrm>
          <a:prstGeom prst="line">
            <a:avLst/>
          </a:prstGeom>
          <a:noFill/>
          <a:ln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1" name="STC-24-redteam-action-1"/>
          <p:cNvSpPr/>
          <p:nvPr/>
        </p:nvSpPr>
        <p:spPr>
          <a:xfrm>
            <a:off x="7315200" y="2432304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matched frontier만 보고</a:t>
            </a:r>
            <a:endParaRPr lang="en-US" sz="1700" dirty="0"/>
          </a:p>
        </p:txBody>
      </p:sp>
      <p:sp>
        <p:nvSpPr>
          <p:cNvPr id="22" name="STC-24-redteam-condition-2"/>
          <p:cNvSpPr/>
          <p:nvPr/>
        </p:nvSpPr>
        <p:spPr>
          <a:xfrm>
            <a:off x="4096512" y="33009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 KNEE IDENTIFICATION</a:t>
            </a:r>
            <a:endParaRPr lang="en-US" sz="1050" dirty="0"/>
          </a:p>
        </p:txBody>
      </p:sp>
      <p:sp>
        <p:nvSpPr>
          <p:cNvPr id="23" name="STC-24-redteam-arrow-2"/>
          <p:cNvSpPr/>
          <p:nvPr/>
        </p:nvSpPr>
        <p:spPr>
          <a:xfrm>
            <a:off x="6547104" y="3410712"/>
            <a:ext cx="566928" cy="0"/>
          </a:xfrm>
          <a:prstGeom prst="line">
            <a:avLst/>
          </a:prstGeom>
          <a:noFill/>
          <a:ln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4" name="STC-24-redteam-action-2"/>
          <p:cNvSpPr/>
          <p:nvPr/>
        </p:nvSpPr>
        <p:spPr>
          <a:xfrm>
            <a:off x="7315200" y="3264408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KNEE_UNIDENTIFIED</a:t>
            </a:r>
            <a:endParaRPr lang="en-US" sz="1700" dirty="0"/>
          </a:p>
        </p:txBody>
      </p:sp>
      <p:sp>
        <p:nvSpPr>
          <p:cNvPr id="25" name="STC-24-redteam-condition-3"/>
          <p:cNvSpPr/>
          <p:nvPr/>
        </p:nvSpPr>
        <p:spPr>
          <a:xfrm>
            <a:off x="4096512" y="4133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 HELD-OUT PREDICTION</a:t>
            </a:r>
            <a:endParaRPr lang="en-US" sz="1050" dirty="0"/>
          </a:p>
        </p:txBody>
      </p:sp>
      <p:sp>
        <p:nvSpPr>
          <p:cNvPr id="26" name="STC-24-redteam-arrow-3"/>
          <p:cNvSpPr/>
          <p:nvPr/>
        </p:nvSpPr>
        <p:spPr>
          <a:xfrm>
            <a:off x="6547104" y="4242816"/>
            <a:ext cx="566928" cy="0"/>
          </a:xfrm>
          <a:prstGeom prst="line">
            <a:avLst/>
          </a:prstGeom>
          <a:noFill/>
          <a:ln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27" name="STC-24-redteam-action-3"/>
          <p:cNvSpPr/>
          <p:nvPr/>
        </p:nvSpPr>
        <p:spPr>
          <a:xfrm>
            <a:off x="7315200" y="4096512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curve, not law</a:t>
            </a:r>
            <a:endParaRPr lang="en-US" sz="1700" dirty="0"/>
          </a:p>
        </p:txBody>
      </p:sp>
      <p:sp>
        <p:nvSpPr>
          <p:cNvPr id="28" name="STC-24-redteam-condition-4"/>
          <p:cNvSpPr/>
          <p:nvPr/>
        </p:nvSpPr>
        <p:spPr>
          <a:xfrm>
            <a:off x="4096512" y="4965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 COMPLETE DELETE</a:t>
            </a:r>
            <a:endParaRPr lang="en-US" sz="1050" dirty="0"/>
          </a:p>
        </p:txBody>
      </p:sp>
      <p:sp>
        <p:nvSpPr>
          <p:cNvPr id="29" name="STC-24-redteam-arrow-4"/>
          <p:cNvSpPr/>
          <p:nvPr/>
        </p:nvSpPr>
        <p:spPr>
          <a:xfrm>
            <a:off x="6547104" y="5074920"/>
            <a:ext cx="566928" cy="0"/>
          </a:xfrm>
          <a:prstGeom prst="line">
            <a:avLst/>
          </a:prstGeom>
          <a:noFill/>
          <a:ln w="16510">
            <a:solidFill>
              <a:srgbClr val="9A442D"/>
            </a:solidFill>
            <a:prstDash val="solid"/>
            <a:tailEnd type="triangle"/>
          </a:ln>
        </p:spPr>
      </p:sp>
      <p:sp>
        <p:nvSpPr>
          <p:cNvPr id="30" name="STC-24-redteam-action-4"/>
          <p:cNvSpPr/>
          <p:nvPr/>
        </p:nvSpPr>
        <p:spPr>
          <a:xfrm>
            <a:off x="7315200" y="4928616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stage별 residual 보고</a:t>
            </a:r>
            <a:endParaRPr lang="en-US" sz="1700" dirty="0"/>
          </a:p>
        </p:txBody>
      </p:sp>
      <p:sp>
        <p:nvSpPr>
          <p:cNvPr id="31" name="STC-24-redteam-bottom"/>
          <p:cNvSpPr/>
          <p:nvPr/>
        </p:nvSpPr>
        <p:spPr>
          <a:xfrm>
            <a:off x="5074920" y="5596128"/>
            <a:ext cx="5321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NULL ≠ FAILURE OF THE PROGRAM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5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RESEARCH PROGRAM</a:t>
            </a:r>
            <a:endParaRPr lang="en-US" sz="950" dirty="0"/>
          </a:p>
        </p:txBody>
      </p:sp>
      <p:sp>
        <p:nvSpPr>
          <p:cNvPr id="3" name="STC-25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STC-25</a:t>
            </a:r>
            <a:endParaRPr lang="en-US" sz="950" dirty="0"/>
          </a:p>
        </p:txBody>
      </p:sp>
      <p:sp>
        <p:nvSpPr>
          <p:cNvPr id="4" name="STC-25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단계는 더 큰 모델이 아니라 더 단단한 lifecycle 실험이다</a:t>
            </a:r>
            <a:endParaRPr lang="en-US" sz="3000" dirty="0"/>
          </a:p>
        </p:txBody>
      </p:sp>
      <p:sp>
        <p:nvSpPr>
          <p:cNvPr id="5" name="STC-25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제안</a:t>
            </a:r>
            <a:endParaRPr lang="en-US" sz="1000" dirty="0"/>
          </a:p>
        </p:txBody>
      </p:sp>
      <p:sp>
        <p:nvSpPr>
          <p:cNvPr id="6" name="STC-25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F6B63"/>
            </a:solidFill>
            <a:prstDash val="solid"/>
            <a:tailEnd type="none"/>
          </a:ln>
        </p:spPr>
      </p:sp>
      <p:sp>
        <p:nvSpPr>
          <p:cNvPr id="7" name="STC-25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5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Six-stage research agenda · empirical work remains pending</a:t>
            </a:r>
            <a:endParaRPr lang="en-US" sz="850" dirty="0"/>
          </a:p>
        </p:txBody>
      </p:sp>
      <p:sp>
        <p:nvSpPr>
          <p:cNvPr id="9" name="STC-25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25</a:t>
            </a:r>
            <a:endParaRPr lang="en-US" sz="850" dirty="0"/>
          </a:p>
        </p:txBody>
      </p:sp>
      <p:sp>
        <p:nvSpPr>
          <p:cNvPr id="11" name="STC-25-road-num-0"/>
          <p:cNvSpPr/>
          <p:nvPr/>
        </p:nvSpPr>
        <p:spPr>
          <a:xfrm>
            <a:off x="758952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STC-25-road-rule-0"/>
          <p:cNvSpPr/>
          <p:nvPr/>
        </p:nvSpPr>
        <p:spPr>
          <a:xfrm>
            <a:off x="758952" y="2093976"/>
            <a:ext cx="1408176" cy="0"/>
          </a:xfrm>
          <a:prstGeom prst="line">
            <a:avLst/>
          </a:prstGeom>
          <a:noFill/>
          <a:ln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13" name="STC-25-road-tag-0"/>
          <p:cNvSpPr/>
          <p:nvPr/>
        </p:nvSpPr>
        <p:spPr>
          <a:xfrm>
            <a:off x="758952" y="239572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4" name="STC-25-road-body-0"/>
          <p:cNvSpPr/>
          <p:nvPr/>
        </p:nvSpPr>
        <p:spPr>
          <a:xfrm>
            <a:off x="758952" y="280720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chronology · source cards</a:t>
            </a:r>
            <a:endParaRPr lang="en-US" sz="1550" dirty="0"/>
          </a:p>
        </p:txBody>
      </p:sp>
      <p:sp>
        <p:nvSpPr>
          <p:cNvPr id="15" name="STC-25-road-arrow-0"/>
          <p:cNvSpPr/>
          <p:nvPr/>
        </p:nvSpPr>
        <p:spPr>
          <a:xfrm>
            <a:off x="2240280" y="2103120"/>
            <a:ext cx="256032" cy="0"/>
          </a:xfrm>
          <a:prstGeom prst="line">
            <a:avLst/>
          </a:prstGeom>
          <a:noFill/>
          <a:ln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25-road-num-1"/>
          <p:cNvSpPr/>
          <p:nvPr/>
        </p:nvSpPr>
        <p:spPr>
          <a:xfrm>
            <a:off x="2615184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STC-25-road-rule-1"/>
          <p:cNvSpPr/>
          <p:nvPr/>
        </p:nvSpPr>
        <p:spPr>
          <a:xfrm>
            <a:off x="2615184" y="2093976"/>
            <a:ext cx="1408176" cy="0"/>
          </a:xfrm>
          <a:prstGeom prst="line">
            <a:avLst/>
          </a:prstGeom>
          <a:noFill/>
          <a:ln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18" name="STC-25-road-tag-1"/>
          <p:cNvSpPr/>
          <p:nvPr/>
        </p:nvSpPr>
        <p:spPr>
          <a:xfrm>
            <a:off x="2615184" y="239572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LOCAL</a:t>
            </a:r>
            <a:endParaRPr lang="en-US" sz="1050" dirty="0"/>
          </a:p>
        </p:txBody>
      </p:sp>
      <p:sp>
        <p:nvSpPr>
          <p:cNvPr id="19" name="STC-25-road-body-1"/>
          <p:cNvSpPr/>
          <p:nvPr/>
        </p:nvSpPr>
        <p:spPr>
          <a:xfrm>
            <a:off x="2615184" y="280720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deterministic stream · fault</a:t>
            </a:r>
            <a:endParaRPr lang="en-US" sz="1550" dirty="0"/>
          </a:p>
        </p:txBody>
      </p:sp>
      <p:sp>
        <p:nvSpPr>
          <p:cNvPr id="20" name="STC-25-road-arrow-1"/>
          <p:cNvSpPr/>
          <p:nvPr/>
        </p:nvSpPr>
        <p:spPr>
          <a:xfrm>
            <a:off x="4096512" y="2103120"/>
            <a:ext cx="256032" cy="0"/>
          </a:xfrm>
          <a:prstGeom prst="line">
            <a:avLst/>
          </a:prstGeom>
          <a:noFill/>
          <a:ln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1" name="STC-25-road-num-2"/>
          <p:cNvSpPr/>
          <p:nvPr/>
        </p:nvSpPr>
        <p:spPr>
          <a:xfrm>
            <a:off x="4471416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STC-25-road-rule-2"/>
          <p:cNvSpPr/>
          <p:nvPr/>
        </p:nvSpPr>
        <p:spPr>
          <a:xfrm>
            <a:off x="4471416" y="2093976"/>
            <a:ext cx="1408176" cy="0"/>
          </a:xfrm>
          <a:prstGeom prst="line">
            <a:avLst/>
          </a:prstGeom>
          <a:noFill/>
          <a:ln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23" name="STC-25-road-tag-2"/>
          <p:cNvSpPr/>
          <p:nvPr/>
        </p:nvSpPr>
        <p:spPr>
          <a:xfrm>
            <a:off x="4471416" y="239572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CONFIRM</a:t>
            </a:r>
            <a:endParaRPr lang="en-US" sz="1050" dirty="0"/>
          </a:p>
        </p:txBody>
      </p:sp>
      <p:sp>
        <p:nvSpPr>
          <p:cNvPr id="24" name="STC-25-road-body-2"/>
          <p:cNvSpPr/>
          <p:nvPr/>
        </p:nvSpPr>
        <p:spPr>
          <a:xfrm>
            <a:off x="4471416" y="280720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matched 297 cells</a:t>
            </a:r>
            <a:endParaRPr lang="en-US" sz="1550" dirty="0"/>
          </a:p>
        </p:txBody>
      </p:sp>
      <p:sp>
        <p:nvSpPr>
          <p:cNvPr id="25" name="STC-25-road-arrow-2"/>
          <p:cNvSpPr/>
          <p:nvPr/>
        </p:nvSpPr>
        <p:spPr>
          <a:xfrm>
            <a:off x="5952744" y="2103120"/>
            <a:ext cx="256032" cy="0"/>
          </a:xfrm>
          <a:prstGeom prst="line">
            <a:avLst/>
          </a:prstGeom>
          <a:noFill/>
          <a:ln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26" name="STC-25-road-num-3"/>
          <p:cNvSpPr/>
          <p:nvPr/>
        </p:nvSpPr>
        <p:spPr>
          <a:xfrm>
            <a:off x="6327648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STC-25-road-rule-3"/>
          <p:cNvSpPr/>
          <p:nvPr/>
        </p:nvSpPr>
        <p:spPr>
          <a:xfrm>
            <a:off x="6327648" y="2093976"/>
            <a:ext cx="1408176" cy="0"/>
          </a:xfrm>
          <a:prstGeom prst="line">
            <a:avLst/>
          </a:prstGeom>
          <a:noFill/>
          <a:ln w="50800">
            <a:solidFill>
              <a:srgbClr val="244E8A"/>
            </a:solidFill>
            <a:prstDash val="solid"/>
            <a:tailEnd type="none"/>
          </a:ln>
        </p:spPr>
      </p:sp>
      <p:sp>
        <p:nvSpPr>
          <p:cNvPr id="28" name="STC-25-road-tag-3"/>
          <p:cNvSpPr/>
          <p:nvPr/>
        </p:nvSpPr>
        <p:spPr>
          <a:xfrm>
            <a:off x="6327648" y="239572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SCALE</a:t>
            </a:r>
            <a:endParaRPr lang="en-US" sz="1050" dirty="0"/>
          </a:p>
        </p:txBody>
      </p:sp>
      <p:sp>
        <p:nvSpPr>
          <p:cNvPr id="29" name="STC-25-road-body-3"/>
          <p:cNvSpPr/>
          <p:nvPr/>
        </p:nvSpPr>
        <p:spPr>
          <a:xfrm>
            <a:off x="6327648" y="280720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knees · held-outs</a:t>
            </a:r>
            <a:endParaRPr lang="en-US" sz="1550" dirty="0"/>
          </a:p>
        </p:txBody>
      </p:sp>
      <p:sp>
        <p:nvSpPr>
          <p:cNvPr id="30" name="STC-25-road-arrow-3"/>
          <p:cNvSpPr/>
          <p:nvPr/>
        </p:nvSpPr>
        <p:spPr>
          <a:xfrm>
            <a:off x="7808976" y="2103120"/>
            <a:ext cx="256032" cy="0"/>
          </a:xfrm>
          <a:prstGeom prst="line">
            <a:avLst/>
          </a:prstGeom>
          <a:noFill/>
          <a:ln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31" name="STC-25-road-num-4"/>
          <p:cNvSpPr/>
          <p:nvPr/>
        </p:nvSpPr>
        <p:spPr>
          <a:xfrm>
            <a:off x="8183880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05</a:t>
            </a:r>
            <a:endParaRPr lang="en-US" sz="1050" dirty="0"/>
          </a:p>
        </p:txBody>
      </p:sp>
      <p:sp>
        <p:nvSpPr>
          <p:cNvPr id="32" name="STC-25-road-rule-4"/>
          <p:cNvSpPr/>
          <p:nvPr/>
        </p:nvSpPr>
        <p:spPr>
          <a:xfrm>
            <a:off x="8183880" y="2093976"/>
            <a:ext cx="1408176" cy="0"/>
          </a:xfrm>
          <a:prstGeom prst="line">
            <a:avLst/>
          </a:prstGeom>
          <a:noFill/>
          <a:ln w="50800">
            <a:solidFill>
              <a:srgbClr val="2F6B63"/>
            </a:solidFill>
            <a:prstDash val="solid"/>
            <a:tailEnd type="none"/>
          </a:ln>
        </p:spPr>
      </p:sp>
      <p:sp>
        <p:nvSpPr>
          <p:cNvPr id="33" name="STC-25-road-tag-4"/>
          <p:cNvSpPr/>
          <p:nvPr/>
        </p:nvSpPr>
        <p:spPr>
          <a:xfrm>
            <a:off x="8183880" y="239572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SYSTEMS</a:t>
            </a:r>
            <a:endParaRPr lang="en-US" sz="1050" dirty="0"/>
          </a:p>
        </p:txBody>
      </p:sp>
      <p:sp>
        <p:nvSpPr>
          <p:cNvPr id="34" name="STC-25-road-body-4"/>
          <p:cNvSpPr/>
          <p:nvPr/>
        </p:nvSpPr>
        <p:spPr>
          <a:xfrm>
            <a:off x="8183880" y="280720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queue · movement · fleet</a:t>
            </a:r>
            <a:endParaRPr lang="en-US" sz="1550" dirty="0"/>
          </a:p>
        </p:txBody>
      </p:sp>
      <p:sp>
        <p:nvSpPr>
          <p:cNvPr id="35" name="STC-25-road-arrow-4"/>
          <p:cNvSpPr/>
          <p:nvPr/>
        </p:nvSpPr>
        <p:spPr>
          <a:xfrm>
            <a:off x="9665208" y="2103120"/>
            <a:ext cx="256032" cy="0"/>
          </a:xfrm>
          <a:prstGeom prst="line">
            <a:avLst/>
          </a:prstGeom>
          <a:noFill/>
          <a:ln w="127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36" name="STC-25-road-num-5"/>
          <p:cNvSpPr/>
          <p:nvPr/>
        </p:nvSpPr>
        <p:spPr>
          <a:xfrm>
            <a:off x="10040112" y="17099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06</a:t>
            </a:r>
            <a:endParaRPr lang="en-US" sz="1050" dirty="0"/>
          </a:p>
        </p:txBody>
      </p:sp>
      <p:sp>
        <p:nvSpPr>
          <p:cNvPr id="37" name="STC-25-road-rule-5"/>
          <p:cNvSpPr/>
          <p:nvPr/>
        </p:nvSpPr>
        <p:spPr>
          <a:xfrm>
            <a:off x="10040112" y="2093976"/>
            <a:ext cx="1408176" cy="0"/>
          </a:xfrm>
          <a:prstGeom prst="line">
            <a:avLst/>
          </a:prstGeom>
          <a:noFill/>
          <a:ln w="50800">
            <a:solidFill>
              <a:srgbClr val="9A442D"/>
            </a:solidFill>
            <a:prstDash val="solid"/>
            <a:tailEnd type="none"/>
          </a:ln>
        </p:spPr>
      </p:sp>
      <p:sp>
        <p:nvSpPr>
          <p:cNvPr id="38" name="STC-25-road-tag-5"/>
          <p:cNvSpPr/>
          <p:nvPr/>
        </p:nvSpPr>
        <p:spPr>
          <a:xfrm>
            <a:off x="10040112" y="239572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VALIDITY</a:t>
            </a:r>
            <a:endParaRPr lang="en-US" sz="1050" dirty="0"/>
          </a:p>
        </p:txBody>
      </p:sp>
      <p:sp>
        <p:nvSpPr>
          <p:cNvPr id="39" name="STC-25-road-body-5"/>
          <p:cNvSpPr/>
          <p:nvPr/>
        </p:nvSpPr>
        <p:spPr>
          <a:xfrm>
            <a:off x="10040112" y="280720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benchmarks · hardware</a:t>
            </a:r>
            <a:endParaRPr lang="en-US" sz="1550" dirty="0"/>
          </a:p>
        </p:txBody>
      </p:sp>
      <p:sp>
        <p:nvSpPr>
          <p:cNvPr id="40" name="STC-25-road-paper"/>
          <p:cNvSpPr/>
          <p:nvPr/>
        </p:nvSpPr>
        <p:spPr>
          <a:xfrm>
            <a:off x="1069848" y="4416552"/>
            <a:ext cx="9738360" cy="658368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41" name="STC-25-road-paper-label"/>
          <p:cNvSpPr/>
          <p:nvPr/>
        </p:nvSpPr>
        <p:spPr>
          <a:xfrm>
            <a:off x="1298448" y="45994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Minimum credible paper</a:t>
            </a:r>
            <a:endParaRPr lang="en-US" sz="1800" dirty="0"/>
          </a:p>
        </p:txBody>
      </p:sp>
      <p:sp>
        <p:nvSpPr>
          <p:cNvPr id="42" name="STC-25-road-paper-text"/>
          <p:cNvSpPr/>
          <p:nvPr/>
        </p:nvSpPr>
        <p:spPr>
          <a:xfrm>
            <a:off x="3493008" y="459028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reproducible stream · matched destinations · predictive crossover or informative null · complete state · negative path</a:t>
            </a:r>
            <a:endParaRPr lang="en-US" sz="1550" dirty="0"/>
          </a:p>
        </p:txBody>
      </p:sp>
      <p:sp>
        <p:nvSpPr>
          <p:cNvPr id="43" name="STC-25-road-status"/>
          <p:cNvSpPr/>
          <p:nvPr/>
        </p:nvSpPr>
        <p:spPr>
          <a:xfrm>
            <a:off x="2962656" y="5614416"/>
            <a:ext cx="6291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44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hardware run과 human release gate는 아직 수행되지 않았다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6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3" name="STC-26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STC-26</a:t>
            </a:r>
            <a:endParaRPr lang="en-US" sz="950" dirty="0"/>
          </a:p>
        </p:txBody>
      </p:sp>
      <p:sp>
        <p:nvSpPr>
          <p:cNvPr id="4" name="STC-26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Sleep의 단위는 검증 가능한 기억 lifecycle이다</a:t>
            </a:r>
            <a:endParaRPr lang="en-US" sz="3000" dirty="0"/>
          </a:p>
        </p:txBody>
      </p:sp>
      <p:sp>
        <p:nvSpPr>
          <p:cNvPr id="5" name="STC-26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통합 추론</a:t>
            </a:r>
            <a:endParaRPr lang="en-US" sz="1000" dirty="0"/>
          </a:p>
        </p:txBody>
      </p:sp>
      <p:sp>
        <p:nvSpPr>
          <p:cNvPr id="6" name="STC-26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59616A"/>
            </a:solidFill>
            <a:prstDash val="solid"/>
            <a:tailEnd type="none"/>
          </a:ln>
        </p:spPr>
      </p:sp>
      <p:sp>
        <p:nvSpPr>
          <p:cNvPr id="7" name="STC-26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6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Synthesis of the audited corpus and proposed research program</a:t>
            </a:r>
            <a:endParaRPr lang="en-US" sz="850" dirty="0"/>
          </a:p>
        </p:txBody>
      </p:sp>
      <p:sp>
        <p:nvSpPr>
          <p:cNvPr id="9" name="STC-26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26</a:t>
            </a:r>
            <a:endParaRPr lang="en-US" sz="850" dirty="0"/>
          </a:p>
        </p:txBody>
      </p:sp>
      <p:sp>
        <p:nvSpPr>
          <p:cNvPr id="11" name="STC-26-con-capture"/>
          <p:cNvSpPr/>
          <p:nvPr/>
        </p:nvSpPr>
        <p:spPr>
          <a:xfrm>
            <a:off x="822960" y="18288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CAPTURE</a:t>
            </a:r>
            <a:endParaRPr lang="en-US" sz="1200" dirty="0"/>
          </a:p>
        </p:txBody>
      </p:sp>
      <p:sp>
        <p:nvSpPr>
          <p:cNvPr id="12" name="STC-26-con-transform"/>
          <p:cNvSpPr/>
          <p:nvPr/>
        </p:nvSpPr>
        <p:spPr>
          <a:xfrm>
            <a:off x="3273552" y="1828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442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3" name="STC-26-con-verify"/>
          <p:cNvSpPr/>
          <p:nvPr/>
        </p:nvSpPr>
        <p:spPr>
          <a:xfrm>
            <a:off x="6016752" y="18288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VERIFY</a:t>
            </a:r>
            <a:endParaRPr lang="en-US" sz="1200" dirty="0"/>
          </a:p>
        </p:txBody>
      </p:sp>
      <p:sp>
        <p:nvSpPr>
          <p:cNvPr id="14" name="STC-26-con-reuse"/>
          <p:cNvSpPr/>
          <p:nvPr/>
        </p:nvSpPr>
        <p:spPr>
          <a:xfrm>
            <a:off x="8503920" y="182880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191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REUSE / UNDO</a:t>
            </a:r>
            <a:endParaRPr lang="en-US" sz="1200" dirty="0"/>
          </a:p>
        </p:txBody>
      </p:sp>
      <p:sp>
        <p:nvSpPr>
          <p:cNvPr id="15" name="STC-26-con-line"/>
          <p:cNvSpPr/>
          <p:nvPr/>
        </p:nvSpPr>
        <p:spPr>
          <a:xfrm>
            <a:off x="1051560" y="2487168"/>
            <a:ext cx="9281160" cy="0"/>
          </a:xfrm>
          <a:prstGeom prst="line">
            <a:avLst/>
          </a:prstGeom>
          <a:noFill/>
          <a:ln w="25400">
            <a:solidFill>
              <a:srgbClr val="17191C"/>
            </a:solidFill>
            <a:prstDash val="solid"/>
            <a:tailEnd type="triangle"/>
          </a:ln>
        </p:spPr>
      </p:sp>
      <p:sp>
        <p:nvSpPr>
          <p:cNvPr id="16" name="STC-26-con-dot-0"/>
          <p:cNvSpPr/>
          <p:nvPr/>
        </p:nvSpPr>
        <p:spPr>
          <a:xfrm>
            <a:off x="1143000" y="2267712"/>
            <a:ext cx="438912" cy="438912"/>
          </a:xfrm>
          <a:prstGeom prst="ellipse">
            <a:avLst/>
          </a:prstGeom>
          <a:solidFill>
            <a:srgbClr val="244E8A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7" name="STC-26-con-dot-1"/>
          <p:cNvSpPr/>
          <p:nvPr/>
        </p:nvSpPr>
        <p:spPr>
          <a:xfrm>
            <a:off x="3749040" y="2267712"/>
            <a:ext cx="438912" cy="438912"/>
          </a:xfrm>
          <a:prstGeom prst="ellipse">
            <a:avLst/>
          </a:prstGeom>
          <a:solidFill>
            <a:srgbClr val="9A442D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8" name="STC-26-con-dot-2"/>
          <p:cNvSpPr/>
          <p:nvPr/>
        </p:nvSpPr>
        <p:spPr>
          <a:xfrm>
            <a:off x="6400800" y="2267712"/>
            <a:ext cx="438912" cy="438912"/>
          </a:xfrm>
          <a:prstGeom prst="ellipse">
            <a:avLst/>
          </a:prstGeom>
          <a:solidFill>
            <a:srgbClr val="2F6B63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19" name="STC-26-con-dot-3"/>
          <p:cNvSpPr/>
          <p:nvPr/>
        </p:nvSpPr>
        <p:spPr>
          <a:xfrm>
            <a:off x="9144000" y="2267712"/>
            <a:ext cx="438912" cy="438912"/>
          </a:xfrm>
          <a:prstGeom prst="ellipse">
            <a:avLst/>
          </a:prstGeom>
          <a:solidFill>
            <a:srgbClr val="17191C"/>
          </a:solidFill>
          <a:ln w="12700">
            <a:solidFill>
              <a:srgbClr val="F6F3EC"/>
            </a:solidFill>
            <a:prstDash val="solid"/>
          </a:ln>
        </p:spPr>
      </p:sp>
      <p:sp>
        <p:nvSpPr>
          <p:cNvPr id="20" name="STC-26-con-statement"/>
          <p:cNvSpPr/>
          <p:nvPr/>
        </p:nvSpPr>
        <p:spPr>
          <a:xfrm>
            <a:off x="1024128" y="3163824"/>
            <a:ext cx="9829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Wake가 exact event를 남기고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Sleep이 candidate를 만들며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Memory fabric이 version을 보유하고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191C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Control plane이 publish와 undo를 결정한다</a:t>
            </a:r>
            <a:endParaRPr lang="en-US" sz="2500" dirty="0"/>
          </a:p>
        </p:txBody>
      </p:sp>
      <p:sp>
        <p:nvSpPr>
          <p:cNvPr id="21" name="STC-26-con-final"/>
          <p:cNvSpPr/>
          <p:nvPr/>
        </p:nvSpPr>
        <p:spPr>
          <a:xfrm>
            <a:off x="1965960" y="5175504"/>
            <a:ext cx="8229600" cy="502920"/>
          </a:xfrm>
          <a:prstGeom prst="rect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22" name="STC-26-con-final-text"/>
          <p:cNvSpPr/>
          <p:nvPr/>
        </p:nvSpPr>
        <p:spPr>
          <a:xfrm>
            <a:off x="2194560" y="53400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 vs parametric은 철학이 아니라 lifetime routing decision이다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7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STC-27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STC-27</a:t>
            </a:r>
            <a:endParaRPr lang="en-US" sz="950" dirty="0"/>
          </a:p>
        </p:txBody>
      </p:sp>
      <p:sp>
        <p:nvSpPr>
          <p:cNvPr id="4" name="STC-27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1차 문헌 · foundations &amp; direct sleep</a:t>
            </a:r>
            <a:endParaRPr lang="en-US" sz="2800" dirty="0"/>
          </a:p>
        </p:txBody>
      </p:sp>
      <p:sp>
        <p:nvSpPr>
          <p:cNvPr id="5" name="STC-27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근거</a:t>
            </a:r>
            <a:endParaRPr lang="en-US" sz="1000" dirty="0"/>
          </a:p>
        </p:txBody>
      </p:sp>
      <p:sp>
        <p:nvSpPr>
          <p:cNvPr id="6" name="STC-27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27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7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Full linked bibliography: PAPER.md and SLEEP-TIME-COMPUTE-MONOGRAPH-KR.md</a:t>
            </a:r>
            <a:endParaRPr lang="en-US" sz="850" dirty="0"/>
          </a:p>
        </p:txBody>
      </p:sp>
      <p:sp>
        <p:nvSpPr>
          <p:cNvPr id="9" name="STC-27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27</a:t>
            </a:r>
            <a:endParaRPr lang="en-US" sz="850" dirty="0"/>
          </a:p>
        </p:txBody>
      </p:sp>
      <p:sp>
        <p:nvSpPr>
          <p:cNvPr id="11" name="STC-27-refa-num-0"/>
          <p:cNvSpPr/>
          <p:nvPr/>
        </p:nvSpPr>
        <p:spPr>
          <a:xfrm>
            <a:off x="841248" y="15636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STC-27-refa-text-0"/>
          <p:cNvSpPr/>
          <p:nvPr/>
        </p:nvSpPr>
        <p:spPr>
          <a:xfrm>
            <a:off x="1353312" y="150876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Crick &amp; Mitchison · Nature 1983 · dream reverse-learning hypothesis</a:t>
            </a:r>
            <a:endParaRPr lang="en-US" sz="1450" dirty="0"/>
          </a:p>
        </p:txBody>
      </p:sp>
      <p:sp>
        <p:nvSpPr>
          <p:cNvPr id="13" name="STC-27-refa-num-1"/>
          <p:cNvSpPr/>
          <p:nvPr/>
        </p:nvSpPr>
        <p:spPr>
          <a:xfrm>
            <a:off x="841248" y="220370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STC-27-refa-text-1"/>
          <p:cNvSpPr/>
          <p:nvPr/>
        </p:nvSpPr>
        <p:spPr>
          <a:xfrm>
            <a:off x="1353312" y="21488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Hinton et al. · Science 1995 · Wake–Sleep algorithm</a:t>
            </a:r>
            <a:endParaRPr lang="en-US" sz="1450" dirty="0"/>
          </a:p>
        </p:txBody>
      </p:sp>
      <p:sp>
        <p:nvSpPr>
          <p:cNvPr id="15" name="STC-27-refa-num-2"/>
          <p:cNvSpPr/>
          <p:nvPr/>
        </p:nvSpPr>
        <p:spPr>
          <a:xfrm>
            <a:off x="841248" y="28437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STC-27-refa-text-2"/>
          <p:cNvSpPr/>
          <p:nvPr/>
        </p:nvSpPr>
        <p:spPr>
          <a:xfrm>
            <a:off x="1353312" y="278892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McClelland et al. · 1995 · complementary learning systems</a:t>
            </a:r>
            <a:endParaRPr lang="en-US" sz="1450" dirty="0"/>
          </a:p>
        </p:txBody>
      </p:sp>
      <p:sp>
        <p:nvSpPr>
          <p:cNvPr id="17" name="STC-27-refa-num-3"/>
          <p:cNvSpPr/>
          <p:nvPr/>
        </p:nvSpPr>
        <p:spPr>
          <a:xfrm>
            <a:off x="841248" y="348386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TC-27-refa-text-3"/>
          <p:cNvSpPr/>
          <p:nvPr/>
        </p:nvSpPr>
        <p:spPr>
          <a:xfrm>
            <a:off x="1353312" y="342900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Robins · 1995 · pseudorehearsal</a:t>
            </a:r>
            <a:endParaRPr lang="en-US" sz="1450" dirty="0"/>
          </a:p>
        </p:txBody>
      </p:sp>
      <p:sp>
        <p:nvSpPr>
          <p:cNvPr id="19" name="STC-27-refa-num-4"/>
          <p:cNvSpPr/>
          <p:nvPr/>
        </p:nvSpPr>
        <p:spPr>
          <a:xfrm>
            <a:off x="841248" y="412394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05</a:t>
            </a:r>
            <a:endParaRPr lang="en-US" sz="950" dirty="0"/>
          </a:p>
        </p:txBody>
      </p:sp>
      <p:sp>
        <p:nvSpPr>
          <p:cNvPr id="20" name="STC-27-refa-text-4"/>
          <p:cNvSpPr/>
          <p:nvPr/>
        </p:nvSpPr>
        <p:spPr>
          <a:xfrm>
            <a:off x="1353312" y="406908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Shin et al. · NeurIPS 2017 · deep generative replay</a:t>
            </a:r>
            <a:endParaRPr lang="en-US" sz="1450" dirty="0"/>
          </a:p>
        </p:txBody>
      </p:sp>
      <p:sp>
        <p:nvSpPr>
          <p:cNvPr id="21" name="STC-27-refa-num-5"/>
          <p:cNvSpPr/>
          <p:nvPr/>
        </p:nvSpPr>
        <p:spPr>
          <a:xfrm>
            <a:off x="841248" y="47640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06</a:t>
            </a:r>
            <a:endParaRPr lang="en-US" sz="950" dirty="0"/>
          </a:p>
        </p:txBody>
      </p:sp>
      <p:sp>
        <p:nvSpPr>
          <p:cNvPr id="22" name="STC-27-refa-text-5"/>
          <p:cNvSpPr/>
          <p:nvPr/>
        </p:nvSpPr>
        <p:spPr>
          <a:xfrm>
            <a:off x="1353312" y="470916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Kamra et al. · 2017 · Deep Generative Dual Memory Network</a:t>
            </a:r>
            <a:endParaRPr lang="en-US" sz="1450" dirty="0"/>
          </a:p>
        </p:txBody>
      </p:sp>
      <p:sp>
        <p:nvSpPr>
          <p:cNvPr id="23" name="STC-27-refa-num-6"/>
          <p:cNvSpPr/>
          <p:nvPr/>
        </p:nvSpPr>
        <p:spPr>
          <a:xfrm>
            <a:off x="841248" y="540410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07</a:t>
            </a:r>
            <a:endParaRPr lang="en-US" sz="950" dirty="0"/>
          </a:p>
        </p:txBody>
      </p:sp>
      <p:sp>
        <p:nvSpPr>
          <p:cNvPr id="24" name="STC-27-refa-text-6"/>
          <p:cNvSpPr/>
          <p:nvPr/>
        </p:nvSpPr>
        <p:spPr>
          <a:xfrm>
            <a:off x="1353312" y="53492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Kemker &amp; Kanan · ICLR 2018 · FearNet</a:t>
            </a:r>
            <a:endParaRPr lang="en-US" sz="1450" dirty="0"/>
          </a:p>
        </p:txBody>
      </p:sp>
      <p:sp>
        <p:nvSpPr>
          <p:cNvPr id="25" name="STC-27-refa-num-7"/>
          <p:cNvSpPr/>
          <p:nvPr/>
        </p:nvSpPr>
        <p:spPr>
          <a:xfrm>
            <a:off x="6172200" y="15636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08</a:t>
            </a:r>
            <a:endParaRPr lang="en-US" sz="950" dirty="0"/>
          </a:p>
        </p:txBody>
      </p:sp>
      <p:sp>
        <p:nvSpPr>
          <p:cNvPr id="26" name="STC-27-refa-text-7"/>
          <p:cNvSpPr/>
          <p:nvPr/>
        </p:nvSpPr>
        <p:spPr>
          <a:xfrm>
            <a:off x="6684264" y="150876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Schwarz et al. · ICML 2018 · Progress &amp; Compress</a:t>
            </a:r>
            <a:endParaRPr lang="en-US" sz="1450" dirty="0"/>
          </a:p>
        </p:txBody>
      </p:sp>
      <p:sp>
        <p:nvSpPr>
          <p:cNvPr id="27" name="STC-27-refa-num-8"/>
          <p:cNvSpPr/>
          <p:nvPr/>
        </p:nvSpPr>
        <p:spPr>
          <a:xfrm>
            <a:off x="6172200" y="220370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09</a:t>
            </a:r>
            <a:endParaRPr lang="en-US" sz="950" dirty="0"/>
          </a:p>
        </p:txBody>
      </p:sp>
      <p:sp>
        <p:nvSpPr>
          <p:cNvPr id="28" name="STC-27-refa-text-8"/>
          <p:cNvSpPr/>
          <p:nvPr/>
        </p:nvSpPr>
        <p:spPr>
          <a:xfrm>
            <a:off x="6684264" y="21488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 et al. · ICML 2020 · test-time training</a:t>
            </a:r>
            <a:endParaRPr lang="en-US" sz="1450" dirty="0"/>
          </a:p>
        </p:txBody>
      </p:sp>
      <p:sp>
        <p:nvSpPr>
          <p:cNvPr id="29" name="STC-27-refa-num-9"/>
          <p:cNvSpPr/>
          <p:nvPr/>
        </p:nvSpPr>
        <p:spPr>
          <a:xfrm>
            <a:off x="6172200" y="28437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10</a:t>
            </a:r>
            <a:endParaRPr lang="en-US" sz="950" dirty="0"/>
          </a:p>
        </p:txBody>
      </p:sp>
      <p:sp>
        <p:nvSpPr>
          <p:cNvPr id="30" name="STC-27-refa-text-9"/>
          <p:cNvSpPr/>
          <p:nvPr/>
        </p:nvSpPr>
        <p:spPr>
          <a:xfrm>
            <a:off x="6684264" y="278892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Deperrois et al. · eLife 2022 · PAD</a:t>
            </a:r>
            <a:endParaRPr lang="en-US" sz="1450" dirty="0"/>
          </a:p>
        </p:txBody>
      </p:sp>
      <p:sp>
        <p:nvSpPr>
          <p:cNvPr id="31" name="STC-27-refa-num-10"/>
          <p:cNvSpPr/>
          <p:nvPr/>
        </p:nvSpPr>
        <p:spPr>
          <a:xfrm>
            <a:off x="6172200" y="348386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11</a:t>
            </a:r>
            <a:endParaRPr lang="en-US" sz="950" dirty="0"/>
          </a:p>
        </p:txBody>
      </p:sp>
      <p:sp>
        <p:nvSpPr>
          <p:cNvPr id="32" name="STC-27-refa-text-10"/>
          <p:cNvSpPr/>
          <p:nvPr/>
        </p:nvSpPr>
        <p:spPr>
          <a:xfrm>
            <a:off x="6684264" y="342900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Golden et al. · PLOS Computational Biology 2022 · SNN sleep</a:t>
            </a:r>
            <a:endParaRPr lang="en-US" sz="1450" dirty="0"/>
          </a:p>
        </p:txBody>
      </p:sp>
      <p:sp>
        <p:nvSpPr>
          <p:cNvPr id="33" name="STC-27-refa-num-11"/>
          <p:cNvSpPr/>
          <p:nvPr/>
        </p:nvSpPr>
        <p:spPr>
          <a:xfrm>
            <a:off x="6172200" y="412394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12</a:t>
            </a:r>
            <a:endParaRPr lang="en-US" sz="950" dirty="0"/>
          </a:p>
        </p:txBody>
      </p:sp>
      <p:sp>
        <p:nvSpPr>
          <p:cNvPr id="34" name="STC-27-refa-text-11"/>
          <p:cNvSpPr/>
          <p:nvPr/>
        </p:nvSpPr>
        <p:spPr>
          <a:xfrm>
            <a:off x="6684264" y="406908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Tadros et al. · Nature Communications 2022 · sleep-like replay</a:t>
            </a:r>
            <a:endParaRPr lang="en-US" sz="1450" dirty="0"/>
          </a:p>
        </p:txBody>
      </p:sp>
      <p:sp>
        <p:nvSpPr>
          <p:cNvPr id="35" name="STC-27-refa-num-12"/>
          <p:cNvSpPr/>
          <p:nvPr/>
        </p:nvSpPr>
        <p:spPr>
          <a:xfrm>
            <a:off x="6172200" y="47640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13</a:t>
            </a:r>
            <a:endParaRPr lang="en-US" sz="950" dirty="0"/>
          </a:p>
        </p:txBody>
      </p:sp>
      <p:sp>
        <p:nvSpPr>
          <p:cNvPr id="36" name="STC-27-refa-text-12"/>
          <p:cNvSpPr/>
          <p:nvPr/>
        </p:nvSpPr>
        <p:spPr>
          <a:xfrm>
            <a:off x="6684264" y="470916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Harun et al. · TMLR 2023 · SIESTA</a:t>
            </a:r>
            <a:endParaRPr lang="en-US" sz="1450" dirty="0"/>
          </a:p>
        </p:txBody>
      </p:sp>
      <p:sp>
        <p:nvSpPr>
          <p:cNvPr id="37" name="STC-27-refa-num-13"/>
          <p:cNvSpPr/>
          <p:nvPr/>
        </p:nvSpPr>
        <p:spPr>
          <a:xfrm>
            <a:off x="6172200" y="540410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14</a:t>
            </a:r>
            <a:endParaRPr lang="en-US" sz="950" dirty="0"/>
          </a:p>
        </p:txBody>
      </p:sp>
      <p:sp>
        <p:nvSpPr>
          <p:cNvPr id="38" name="STC-27-refa-text-13"/>
          <p:cNvSpPr/>
          <p:nvPr/>
        </p:nvSpPr>
        <p:spPr>
          <a:xfrm>
            <a:off x="6684264" y="53492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Packer et al. · 2023 · MemGPT</a:t>
            </a:r>
            <a:endParaRPr lang="en-US" sz="1450" dirty="0"/>
          </a:p>
        </p:txBody>
      </p:sp>
      <p:sp>
        <p:nvSpPr>
          <p:cNvPr id="39" name="STC-27-refa-note"/>
          <p:cNvSpPr/>
          <p:nvPr/>
        </p:nvSpPr>
        <p:spPr>
          <a:xfrm>
            <a:off x="2212848" y="58704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Links and exact evidence grades are retained in the companion paper/monograph.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C-28-section"/>
          <p:cNvSpPr/>
          <p:nvPr/>
        </p:nvSpPr>
        <p:spPr>
          <a:xfrm>
            <a:off x="603504" y="2560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STC-28-slide-id"/>
          <p:cNvSpPr/>
          <p:nvPr/>
        </p:nvSpPr>
        <p:spPr>
          <a:xfrm>
            <a:off x="10725912" y="2560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STC-28</a:t>
            </a:r>
            <a:endParaRPr lang="en-US" sz="950" dirty="0"/>
          </a:p>
        </p:txBody>
      </p:sp>
      <p:sp>
        <p:nvSpPr>
          <p:cNvPr id="4" name="STC-28-headline"/>
          <p:cNvSpPr/>
          <p:nvPr/>
        </p:nvSpPr>
        <p:spPr>
          <a:xfrm>
            <a:off x="603504" y="5394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1차 문헌 · agent memory, capacity &amp; systems</a:t>
            </a:r>
            <a:endParaRPr lang="en-US" sz="2800" dirty="0"/>
          </a:p>
        </p:txBody>
      </p:sp>
      <p:sp>
        <p:nvSpPr>
          <p:cNvPr id="5" name="STC-28-status-label"/>
          <p:cNvSpPr/>
          <p:nvPr/>
        </p:nvSpPr>
        <p:spPr>
          <a:xfrm>
            <a:off x="603504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E8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근거</a:t>
            </a:r>
            <a:endParaRPr lang="en-US" sz="1000" dirty="0"/>
          </a:p>
        </p:txBody>
      </p:sp>
      <p:sp>
        <p:nvSpPr>
          <p:cNvPr id="6" name="STC-28-status-rule"/>
          <p:cNvSpPr/>
          <p:nvPr/>
        </p:nvSpPr>
        <p:spPr>
          <a:xfrm>
            <a:off x="1481328" y="1280160"/>
            <a:ext cx="566928" cy="0"/>
          </a:xfrm>
          <a:prstGeom prst="line">
            <a:avLst/>
          </a:prstGeom>
          <a:noFill/>
          <a:ln w="30480">
            <a:solidFill>
              <a:srgbClr val="244E8A"/>
            </a:solidFill>
            <a:prstDash val="solid"/>
            <a:tailEnd type="none"/>
          </a:ln>
        </p:spPr>
      </p:sp>
      <p:sp>
        <p:nvSpPr>
          <p:cNvPr id="7" name="STC-28-footer-rule"/>
          <p:cNvSpPr/>
          <p:nvPr/>
        </p:nvSpPr>
        <p:spPr>
          <a:xfrm>
            <a:off x="603504" y="6473952"/>
            <a:ext cx="10972800" cy="0"/>
          </a:xfrm>
          <a:prstGeom prst="line">
            <a:avLst/>
          </a:prstGeom>
          <a:noFill/>
          <a:ln w="8890">
            <a:solidFill>
              <a:srgbClr val="C9C4B8"/>
            </a:solidFill>
            <a:prstDash val="solid"/>
            <a:tailEnd type="none"/>
          </a:ln>
        </p:spPr>
      </p:sp>
      <p:sp>
        <p:nvSpPr>
          <p:cNvPr id="8" name="STC-28-source-footer"/>
          <p:cNvSpPr/>
          <p:nvPr/>
        </p:nvSpPr>
        <p:spPr>
          <a:xfrm>
            <a:off x="603504" y="6537960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83 linked primary sources in the English paper · 2026-07-25 cutoff</a:t>
            </a:r>
            <a:endParaRPr lang="en-US" sz="850" dirty="0"/>
          </a:p>
        </p:txBody>
      </p:sp>
      <p:sp>
        <p:nvSpPr>
          <p:cNvPr id="9" name="STC-28-page-number"/>
          <p:cNvSpPr/>
          <p:nvPr/>
        </p:nvSpPr>
        <p:spPr>
          <a:xfrm>
            <a:off x="10936224" y="65288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9616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28</a:t>
            </a:r>
            <a:endParaRPr lang="en-US" sz="850" dirty="0"/>
          </a:p>
        </p:txBody>
      </p:sp>
      <p:sp>
        <p:nvSpPr>
          <p:cNvPr id="11" name="STC-28-refb-num-0"/>
          <p:cNvSpPr/>
          <p:nvPr/>
        </p:nvSpPr>
        <p:spPr>
          <a:xfrm>
            <a:off x="841248" y="15636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15</a:t>
            </a:r>
            <a:endParaRPr lang="en-US" sz="950" dirty="0"/>
          </a:p>
        </p:txBody>
      </p:sp>
      <p:sp>
        <p:nvSpPr>
          <p:cNvPr id="12" name="STC-28-refb-text-0"/>
          <p:cNvSpPr/>
          <p:nvPr/>
        </p:nvSpPr>
        <p:spPr>
          <a:xfrm>
            <a:off x="1353312" y="150876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 et al. · 2025 · Sleep-time Compute</a:t>
            </a:r>
            <a:endParaRPr lang="en-US" sz="1450" dirty="0"/>
          </a:p>
        </p:txBody>
      </p:sp>
      <p:sp>
        <p:nvSpPr>
          <p:cNvPr id="13" name="STC-28-refb-num-1"/>
          <p:cNvSpPr/>
          <p:nvPr/>
        </p:nvSpPr>
        <p:spPr>
          <a:xfrm>
            <a:off x="841248" y="220370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16</a:t>
            </a:r>
            <a:endParaRPr lang="en-US" sz="950" dirty="0"/>
          </a:p>
        </p:txBody>
      </p:sp>
      <p:sp>
        <p:nvSpPr>
          <p:cNvPr id="14" name="STC-28-refb-text-1"/>
          <p:cNvSpPr/>
          <p:nvPr/>
        </p:nvSpPr>
        <p:spPr>
          <a:xfrm>
            <a:off x="1353312" y="21488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Rasmussen et al. · 2025 · Zep / temporal knowledge graph</a:t>
            </a:r>
            <a:endParaRPr lang="en-US" sz="1450" dirty="0"/>
          </a:p>
        </p:txBody>
      </p:sp>
      <p:sp>
        <p:nvSpPr>
          <p:cNvPr id="15" name="STC-28-refb-num-2"/>
          <p:cNvSpPr/>
          <p:nvPr/>
        </p:nvSpPr>
        <p:spPr>
          <a:xfrm>
            <a:off x="841248" y="28437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17</a:t>
            </a:r>
            <a:endParaRPr lang="en-US" sz="950" dirty="0"/>
          </a:p>
        </p:txBody>
      </p:sp>
      <p:sp>
        <p:nvSpPr>
          <p:cNvPr id="16" name="STC-28-refb-text-2"/>
          <p:cNvSpPr/>
          <p:nvPr/>
        </p:nvSpPr>
        <p:spPr>
          <a:xfrm>
            <a:off x="1353312" y="278892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Mem0 · ECAI 2025 · memory operators</a:t>
            </a:r>
            <a:endParaRPr lang="en-US" sz="1450" dirty="0"/>
          </a:p>
        </p:txBody>
      </p:sp>
      <p:sp>
        <p:nvSpPr>
          <p:cNvPr id="17" name="STC-28-refb-num-3"/>
          <p:cNvSpPr/>
          <p:nvPr/>
        </p:nvSpPr>
        <p:spPr>
          <a:xfrm>
            <a:off x="841248" y="348386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18</a:t>
            </a:r>
            <a:endParaRPr lang="en-US" sz="950" dirty="0"/>
          </a:p>
        </p:txBody>
      </p:sp>
      <p:sp>
        <p:nvSpPr>
          <p:cNvPr id="18" name="STC-28-refb-text-3"/>
          <p:cNvSpPr/>
          <p:nvPr/>
        </p:nvSpPr>
        <p:spPr>
          <a:xfrm>
            <a:off x="1353312" y="342900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Berges et al. · ICML 2025 · Memory Layers at Scale</a:t>
            </a:r>
            <a:endParaRPr lang="en-US" sz="1450" dirty="0"/>
          </a:p>
        </p:txBody>
      </p:sp>
      <p:sp>
        <p:nvSpPr>
          <p:cNvPr id="19" name="STC-28-refb-num-4"/>
          <p:cNvSpPr/>
          <p:nvPr/>
        </p:nvSpPr>
        <p:spPr>
          <a:xfrm>
            <a:off x="841248" y="412394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19</a:t>
            </a:r>
            <a:endParaRPr lang="en-US" sz="950" dirty="0"/>
          </a:p>
        </p:txBody>
      </p:sp>
      <p:sp>
        <p:nvSpPr>
          <p:cNvPr id="20" name="STC-28-refb-text-4"/>
          <p:cNvSpPr/>
          <p:nvPr/>
        </p:nvSpPr>
        <p:spPr>
          <a:xfrm>
            <a:off x="1353312" y="406908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 et al. · 2025 · Sparse Memory Finetuning</a:t>
            </a:r>
            <a:endParaRPr lang="en-US" sz="1450" dirty="0"/>
          </a:p>
        </p:txBody>
      </p:sp>
      <p:sp>
        <p:nvSpPr>
          <p:cNvPr id="21" name="STC-28-refb-num-5"/>
          <p:cNvSpPr/>
          <p:nvPr/>
        </p:nvSpPr>
        <p:spPr>
          <a:xfrm>
            <a:off x="841248" y="47640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20</a:t>
            </a:r>
            <a:endParaRPr lang="en-US" sz="950" dirty="0"/>
          </a:p>
        </p:txBody>
      </p:sp>
      <p:sp>
        <p:nvSpPr>
          <p:cNvPr id="22" name="STC-28-refb-text-5"/>
          <p:cNvSpPr/>
          <p:nvPr/>
        </p:nvSpPr>
        <p:spPr>
          <a:xfrm>
            <a:off x="1353312" y="470916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Spens et al. · NeurIPS 2025 · learned offline processing</a:t>
            </a:r>
            <a:endParaRPr lang="en-US" sz="1450" dirty="0"/>
          </a:p>
        </p:txBody>
      </p:sp>
      <p:sp>
        <p:nvSpPr>
          <p:cNvPr id="23" name="STC-28-refb-num-6"/>
          <p:cNvSpPr/>
          <p:nvPr/>
        </p:nvSpPr>
        <p:spPr>
          <a:xfrm>
            <a:off x="841248" y="540410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21</a:t>
            </a:r>
            <a:endParaRPr lang="en-US" sz="950" dirty="0"/>
          </a:p>
        </p:txBody>
      </p:sp>
      <p:sp>
        <p:nvSpPr>
          <p:cNvPr id="24" name="STC-28-refb-text-6"/>
          <p:cNvSpPr/>
          <p:nvPr/>
        </p:nvSpPr>
        <p:spPr>
          <a:xfrm>
            <a:off x="1353312" y="53492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Allen-Zhu &amp; Li · 2024 · conditional knowledge capacity</a:t>
            </a:r>
            <a:endParaRPr lang="en-US" sz="1450" dirty="0"/>
          </a:p>
        </p:txBody>
      </p:sp>
      <p:sp>
        <p:nvSpPr>
          <p:cNvPr id="25" name="STC-28-refb-num-7"/>
          <p:cNvSpPr/>
          <p:nvPr/>
        </p:nvSpPr>
        <p:spPr>
          <a:xfrm>
            <a:off x="6172200" y="15636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22</a:t>
            </a:r>
            <a:endParaRPr lang="en-US" sz="950" dirty="0"/>
          </a:p>
        </p:txBody>
      </p:sp>
      <p:sp>
        <p:nvSpPr>
          <p:cNvPr id="26" name="STC-28-refb-text-7"/>
          <p:cNvSpPr/>
          <p:nvPr/>
        </p:nvSpPr>
        <p:spPr>
          <a:xfrm>
            <a:off x="6684264" y="150876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Dohare et al. · Nature 2024 · loss of plasticity</a:t>
            </a:r>
            <a:endParaRPr lang="en-US" sz="1450" dirty="0"/>
          </a:p>
        </p:txBody>
      </p:sp>
      <p:sp>
        <p:nvSpPr>
          <p:cNvPr id="27" name="STC-28-refb-num-8"/>
          <p:cNvSpPr/>
          <p:nvPr/>
        </p:nvSpPr>
        <p:spPr>
          <a:xfrm>
            <a:off x="6172200" y="220370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23</a:t>
            </a:r>
            <a:endParaRPr lang="en-US" sz="950" dirty="0"/>
          </a:p>
        </p:txBody>
      </p:sp>
      <p:sp>
        <p:nvSpPr>
          <p:cNvPr id="28" name="STC-28-refb-text-8"/>
          <p:cNvSpPr/>
          <p:nvPr/>
        </p:nvSpPr>
        <p:spPr>
          <a:xfrm>
            <a:off x="6684264" y="21488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Behrouz et al. · 2026 · Language Models Need Sleep</a:t>
            </a:r>
            <a:endParaRPr lang="en-US" sz="1450" dirty="0"/>
          </a:p>
        </p:txBody>
      </p:sp>
      <p:sp>
        <p:nvSpPr>
          <p:cNvPr id="29" name="STC-28-refb-num-9"/>
          <p:cNvSpPr/>
          <p:nvPr/>
        </p:nvSpPr>
        <p:spPr>
          <a:xfrm>
            <a:off x="6172200" y="28437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24</a:t>
            </a:r>
            <a:endParaRPr lang="en-US" sz="950" dirty="0"/>
          </a:p>
        </p:txBody>
      </p:sp>
      <p:sp>
        <p:nvSpPr>
          <p:cNvPr id="30" name="STC-28-refb-text-9"/>
          <p:cNvSpPr/>
          <p:nvPr/>
        </p:nvSpPr>
        <p:spPr>
          <a:xfrm>
            <a:off x="6684264" y="278892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Kerestecioglu et al. · 2026 · Human-Inspired Memory Architecture</a:t>
            </a:r>
            <a:endParaRPr lang="en-US" sz="1450" dirty="0"/>
          </a:p>
        </p:txBody>
      </p:sp>
      <p:sp>
        <p:nvSpPr>
          <p:cNvPr id="31" name="STC-28-refb-num-10"/>
          <p:cNvSpPr/>
          <p:nvPr/>
        </p:nvSpPr>
        <p:spPr>
          <a:xfrm>
            <a:off x="6172200" y="348386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25</a:t>
            </a:r>
            <a:endParaRPr lang="en-US" sz="950" dirty="0"/>
          </a:p>
        </p:txBody>
      </p:sp>
      <p:sp>
        <p:nvSpPr>
          <p:cNvPr id="32" name="STC-28-refb-text-10"/>
          <p:cNvSpPr/>
          <p:nvPr/>
        </p:nvSpPr>
        <p:spPr>
          <a:xfrm>
            <a:off x="6684264" y="342900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Auto-Dreamer · 2026 · learned external consolidation</a:t>
            </a:r>
            <a:endParaRPr lang="en-US" sz="1450" dirty="0"/>
          </a:p>
        </p:txBody>
      </p:sp>
      <p:sp>
        <p:nvSpPr>
          <p:cNvPr id="33" name="STC-28-refb-num-11"/>
          <p:cNvSpPr/>
          <p:nvPr/>
        </p:nvSpPr>
        <p:spPr>
          <a:xfrm>
            <a:off x="6172200" y="412394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26</a:t>
            </a:r>
            <a:endParaRPr lang="en-US" sz="950" dirty="0"/>
          </a:p>
        </p:txBody>
      </p:sp>
      <p:sp>
        <p:nvSpPr>
          <p:cNvPr id="34" name="STC-28-refb-text-11"/>
          <p:cNvSpPr/>
          <p:nvPr/>
        </p:nvSpPr>
        <p:spPr>
          <a:xfrm>
            <a:off x="6684264" y="406908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RecMem / TiMem / GAM · ACL 2026 · agent-memory lifecycle</a:t>
            </a:r>
            <a:endParaRPr lang="en-US" sz="1450" dirty="0"/>
          </a:p>
        </p:txBody>
      </p:sp>
      <p:sp>
        <p:nvSpPr>
          <p:cNvPr id="35" name="STC-28-refb-num-12"/>
          <p:cNvSpPr/>
          <p:nvPr/>
        </p:nvSpPr>
        <p:spPr>
          <a:xfrm>
            <a:off x="6172200" y="47640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27</a:t>
            </a:r>
            <a:endParaRPr lang="en-US" sz="950" dirty="0"/>
          </a:p>
        </p:txBody>
      </p:sp>
      <p:sp>
        <p:nvSpPr>
          <p:cNvPr id="36" name="STC-28-refb-text-12"/>
          <p:cNvSpPr/>
          <p:nvPr/>
        </p:nvSpPr>
        <p:spPr>
          <a:xfrm>
            <a:off x="6684264" y="470916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Useful Memories Become Faulty · 2026 · repeated rewrite counterevidence</a:t>
            </a:r>
            <a:endParaRPr lang="en-US" sz="1450" dirty="0"/>
          </a:p>
        </p:txBody>
      </p:sp>
      <p:sp>
        <p:nvSpPr>
          <p:cNvPr id="37" name="STC-28-refb-num-13"/>
          <p:cNvSpPr/>
          <p:nvPr/>
        </p:nvSpPr>
        <p:spPr>
          <a:xfrm>
            <a:off x="6172200" y="540410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6B6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28</a:t>
            </a:r>
            <a:endParaRPr lang="en-US" sz="950" dirty="0"/>
          </a:p>
        </p:txBody>
      </p:sp>
      <p:sp>
        <p:nvSpPr>
          <p:cNvPr id="38" name="STC-28-refb-text-13"/>
          <p:cNvSpPr/>
          <p:nvPr/>
        </p:nvSpPr>
        <p:spPr>
          <a:xfrm>
            <a:off x="6684264" y="53492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719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 Memory · 2026 · systems characterization</a:t>
            </a:r>
            <a:endParaRPr lang="en-US" sz="1450" dirty="0"/>
          </a:p>
        </p:txBody>
      </p:sp>
      <p:sp>
        <p:nvSpPr>
          <p:cNvPr id="39" name="STC-28-refb-boundary"/>
          <p:cNvSpPr/>
          <p:nvPr/>
        </p:nvSpPr>
        <p:spPr>
          <a:xfrm>
            <a:off x="1664208" y="5650992"/>
            <a:ext cx="8869680" cy="39319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40" name="STC-28-refb-boundary-text"/>
          <p:cNvSpPr/>
          <p:nvPr/>
        </p:nvSpPr>
        <p:spPr>
          <a:xfrm>
            <a:off x="1901952" y="5769864"/>
            <a:ext cx="839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BOUNDED AUDIT  ·  non-discovery is not novelty evidence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Independent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Sleep-Time Compute: 기억 생애주기의 다음 인프라</dc:title>
  <dc:subject>Sleep-time compute, continual learning, memory capacity, and systems infrastructure</dc:subject>
  <dc:creator>Neural Memory Research</dc:creator>
  <cp:lastModifiedBy>Neural Memory Research</cp:lastModifiedBy>
  <cp:revision>1</cp:revision>
  <dcterms:created xsi:type="dcterms:W3CDTF">2026-07-26T18:56:51Z</dcterms:created>
  <dcterms:modified xsi:type="dcterms:W3CDTF">2026-07-26T18:56:51Z</dcterms:modified>
</cp:coreProperties>
</file>