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ebc534a86f45ce" /><Relationship Type="http://schemas.openxmlformats.org/officeDocument/2006/relationships/extended-properties" Target="/docProps/app.xml" Id="Re578976a985c42ca" /><Relationship Type="http://schemas.openxmlformats.org/officeDocument/2006/relationships/officeDocument" Target="/ppt/presentation.xml" Id="R721a1c80cf8145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1cf7e040cc4158"/>
  </p:sldMasterIdLst>
  <p:notesMasterIdLst>
    <p:notesMasterId xmlns:r="http://schemas.openxmlformats.org/officeDocument/2006/relationships" r:id="R5e6e2d05fbc84f53"/>
  </p:notesMasterIdLst>
  <p:sldIdLst>
    <p:sldId xmlns:r="http://schemas.openxmlformats.org/officeDocument/2006/relationships" id="256" r:id="Rbbb4fe96cf424a6e"/>
    <p:sldId xmlns:r="http://schemas.openxmlformats.org/officeDocument/2006/relationships" id="257" r:id="R602f670f845f45f8"/>
    <p:sldId xmlns:r="http://schemas.openxmlformats.org/officeDocument/2006/relationships" id="258" r:id="Rb47a141e658b4cd7"/>
    <p:sldId xmlns:r="http://schemas.openxmlformats.org/officeDocument/2006/relationships" id="259" r:id="Rae273e123901487b"/>
    <p:sldId xmlns:r="http://schemas.openxmlformats.org/officeDocument/2006/relationships" id="260" r:id="R6060d88f58df4297"/>
    <p:sldId xmlns:r="http://schemas.openxmlformats.org/officeDocument/2006/relationships" id="261" r:id="R6f3397ee86d54574"/>
    <p:sldId xmlns:r="http://schemas.openxmlformats.org/officeDocument/2006/relationships" id="262" r:id="Rf67a30cedb6b4137"/>
    <p:sldId xmlns:r="http://schemas.openxmlformats.org/officeDocument/2006/relationships" id="263" r:id="R0c24ff06f7794105"/>
    <p:sldId xmlns:r="http://schemas.openxmlformats.org/officeDocument/2006/relationships" id="264" r:id="R7ca23756a4f74270"/>
    <p:sldId xmlns:r="http://schemas.openxmlformats.org/officeDocument/2006/relationships" id="265" r:id="R6c403327c140433d"/>
    <p:sldId xmlns:r="http://schemas.openxmlformats.org/officeDocument/2006/relationships" id="266" r:id="R8a0479cbcb324282"/>
    <p:sldId xmlns:r="http://schemas.openxmlformats.org/officeDocument/2006/relationships" id="267" r:id="Rd814812257994a93"/>
    <p:sldId xmlns:r="http://schemas.openxmlformats.org/officeDocument/2006/relationships" id="268" r:id="Rfa2f7eb7d6ed43b1"/>
    <p:sldId xmlns:r="http://schemas.openxmlformats.org/officeDocument/2006/relationships" id="269" r:id="Rfa1fe56c86214e6a"/>
    <p:sldId xmlns:r="http://schemas.openxmlformats.org/officeDocument/2006/relationships" id="270" r:id="R53ba66a298fc4d6d"/>
    <p:sldId xmlns:r="http://schemas.openxmlformats.org/officeDocument/2006/relationships" id="271" r:id="R16820b7e1e7c4a52"/>
    <p:sldId xmlns:r="http://schemas.openxmlformats.org/officeDocument/2006/relationships" id="272" r:id="R5186f12a5b6747ee"/>
    <p:sldId xmlns:r="http://schemas.openxmlformats.org/officeDocument/2006/relationships" id="273" r:id="Re2004054bd834d19"/>
    <p:sldId xmlns:r="http://schemas.openxmlformats.org/officeDocument/2006/relationships" id="274" r:id="R0de68de5f156431a"/>
    <p:sldId xmlns:r="http://schemas.openxmlformats.org/officeDocument/2006/relationships" id="275" r:id="R915bea0702ed49db"/>
    <p:sldId xmlns:r="http://schemas.openxmlformats.org/officeDocument/2006/relationships" id="276" r:id="Rb262c1a348c243c2"/>
    <p:sldId xmlns:r="http://schemas.openxmlformats.org/officeDocument/2006/relationships" id="277" r:id="R64dabf681edd43cc"/>
    <p:sldId xmlns:r="http://schemas.openxmlformats.org/officeDocument/2006/relationships" id="278" r:id="R60f981015b064cd4"/>
    <p:sldId xmlns:r="http://schemas.openxmlformats.org/officeDocument/2006/relationships" id="279" r:id="R75338ea40c4a4592"/>
    <p:sldId xmlns:r="http://schemas.openxmlformats.org/officeDocument/2006/relationships" id="280" r:id="Rc667104dd4674717"/>
    <p:sldId xmlns:r="http://schemas.openxmlformats.org/officeDocument/2006/relationships" id="281" r:id="Rc50f206af54d4dac"/>
    <p:sldId xmlns:r="http://schemas.openxmlformats.org/officeDocument/2006/relationships" id="282" r:id="R6f98065270224d60"/>
    <p:sldId xmlns:r="http://schemas.openxmlformats.org/officeDocument/2006/relationships" id="283" r:id="R724ea411734544da"/>
    <p:sldId xmlns:r="http://schemas.openxmlformats.org/officeDocument/2006/relationships" id="284" r:id="Rd0e60ef789c84c9b"/>
    <p:sldId xmlns:r="http://schemas.openxmlformats.org/officeDocument/2006/relationships" id="285" r:id="R30462616c0854109"/>
    <p:sldId xmlns:r="http://schemas.openxmlformats.org/officeDocument/2006/relationships" id="286" r:id="Ra1fa0b31119342d2"/>
    <p:sldId xmlns:r="http://schemas.openxmlformats.org/officeDocument/2006/relationships" id="287" r:id="R5f9b14bfdc164972"/>
    <p:sldId xmlns:r="http://schemas.openxmlformats.org/officeDocument/2006/relationships" id="288" r:id="Rceb8b1fbc22e40b5"/>
    <p:sldId xmlns:r="http://schemas.openxmlformats.org/officeDocument/2006/relationships" id="289" r:id="R9af503261bf048fe"/>
    <p:sldId xmlns:r="http://schemas.openxmlformats.org/officeDocument/2006/relationships" id="290" r:id="R06eac6d7283b4d4c"/>
    <p:sldId xmlns:r="http://schemas.openxmlformats.org/officeDocument/2006/relationships" id="291" r:id="Rc65e131182ae4f5b"/>
    <p:sldId xmlns:r="http://schemas.openxmlformats.org/officeDocument/2006/relationships" id="292" r:id="Ree29a5f6d62e49f0"/>
    <p:sldId xmlns:r="http://schemas.openxmlformats.org/officeDocument/2006/relationships" id="293" r:id="Rdf4ef814140e4148"/>
    <p:sldId xmlns:r="http://schemas.openxmlformats.org/officeDocument/2006/relationships" id="294" r:id="Rb646218bc13c4b97"/>
    <p:sldId xmlns:r="http://schemas.openxmlformats.org/officeDocument/2006/relationships" id="295" r:id="R0b6a1488cb6448b1"/>
    <p:sldId xmlns:r="http://schemas.openxmlformats.org/officeDocument/2006/relationships" id="296" r:id="R9f3c8ade82cb496b"/>
    <p:sldId xmlns:r="http://schemas.openxmlformats.org/officeDocument/2006/relationships" id="297" r:id="R3ac53091c3c0414d"/>
    <p:sldId xmlns:r="http://schemas.openxmlformats.org/officeDocument/2006/relationships" id="298" r:id="R2e73a48221de487f"/>
    <p:sldId xmlns:r="http://schemas.openxmlformats.org/officeDocument/2006/relationships" id="299" r:id="Rebf44cd0565d40df"/>
    <p:sldId xmlns:r="http://schemas.openxmlformats.org/officeDocument/2006/relationships" id="300" r:id="Rd8c97bfbac9b4414"/>
    <p:sldId xmlns:r="http://schemas.openxmlformats.org/officeDocument/2006/relationships" id="301" r:id="R5c3bd26263bb47ce"/>
    <p:sldId xmlns:r="http://schemas.openxmlformats.org/officeDocument/2006/relationships" id="302" r:id="R66a2364caeb24e33"/>
    <p:sldId xmlns:r="http://schemas.openxmlformats.org/officeDocument/2006/relationships" id="303" r:id="Rd07284cb76cb4be0"/>
    <p:sldId xmlns:r="http://schemas.openxmlformats.org/officeDocument/2006/relationships" id="304" r:id="Rfb10a8d96bc14f55"/>
    <p:sldId xmlns:r="http://schemas.openxmlformats.org/officeDocument/2006/relationships" id="305" r:id="Rfbed57b084d041ab"/>
    <p:sldId xmlns:r="http://schemas.openxmlformats.org/officeDocument/2006/relationships" id="306" r:id="Reada12cd48eb4f24"/>
    <p:sldId xmlns:r="http://schemas.openxmlformats.org/officeDocument/2006/relationships" id="307" r:id="Rba8f070c446a4545"/>
    <p:sldId xmlns:r="http://schemas.openxmlformats.org/officeDocument/2006/relationships" id="308" r:id="R7260b08b480e473b"/>
    <p:sldId xmlns:r="http://schemas.openxmlformats.org/officeDocument/2006/relationships" id="309" r:id="Rd9988bda531545a6"/>
    <p:sldId xmlns:r="http://schemas.openxmlformats.org/officeDocument/2006/relationships" id="310" r:id="R757c6c8accb048df"/>
    <p:sldId xmlns:r="http://schemas.openxmlformats.org/officeDocument/2006/relationships" id="311" r:id="Rf807300b70a94805"/>
    <p:sldId xmlns:r="http://schemas.openxmlformats.org/officeDocument/2006/relationships" id="312" r:id="Rfbb210462d65401e"/>
    <p:sldId xmlns:r="http://schemas.openxmlformats.org/officeDocument/2006/relationships" id="313" r:id="R63a3a4af5f2b44ff"/>
    <p:sldId xmlns:r="http://schemas.openxmlformats.org/officeDocument/2006/relationships" id="314" r:id="R146d1881563a4801"/>
    <p:sldId xmlns:r="http://schemas.openxmlformats.org/officeDocument/2006/relationships" id="315" r:id="R3b2ccf7e5d5348e7"/>
    <p:sldId xmlns:r="http://schemas.openxmlformats.org/officeDocument/2006/relationships" id="316" r:id="Re6bf58df174f4357"/>
    <p:sldId xmlns:r="http://schemas.openxmlformats.org/officeDocument/2006/relationships" id="317" r:id="R1fa83ffdae804f06"/>
    <p:sldId xmlns:r="http://schemas.openxmlformats.org/officeDocument/2006/relationships" id="318" r:id="R2b518cc417cc4f84"/>
    <p:sldId xmlns:r="http://schemas.openxmlformats.org/officeDocument/2006/relationships" id="319" r:id="R3f0d831516714e3f"/>
    <p:sldId xmlns:r="http://schemas.openxmlformats.org/officeDocument/2006/relationships" id="320" r:id="R85ff340da5814e18"/>
    <p:sldId xmlns:r="http://schemas.openxmlformats.org/officeDocument/2006/relationships" id="321" r:id="R83df65f0bb2b436a"/>
    <p:sldId xmlns:r="http://schemas.openxmlformats.org/officeDocument/2006/relationships" id="322" r:id="Radaee55ff1674572"/>
    <p:sldId xmlns:r="http://schemas.openxmlformats.org/officeDocument/2006/relationships" id="323" r:id="R7b58c93ab1b344e1"/>
    <p:sldId xmlns:r="http://schemas.openxmlformats.org/officeDocument/2006/relationships" id="324" r:id="Ra3ec105bc68742cb"/>
    <p:sldId xmlns:r="http://schemas.openxmlformats.org/officeDocument/2006/relationships" id="325" r:id="R33559eea02bc486a"/>
    <p:sldId xmlns:r="http://schemas.openxmlformats.org/officeDocument/2006/relationships" id="326" r:id="R291f610f08ed4a47"/>
    <p:sldId xmlns:r="http://schemas.openxmlformats.org/officeDocument/2006/relationships" id="327" r:id="Rcc90e1d4513044d1"/>
    <p:sldId xmlns:r="http://schemas.openxmlformats.org/officeDocument/2006/relationships" id="328" r:id="R4ad9da4bf5cf4a54"/>
    <p:sldId xmlns:r="http://schemas.openxmlformats.org/officeDocument/2006/relationships" id="329" r:id="R3fe36c61e8f64327"/>
    <p:sldId xmlns:r="http://schemas.openxmlformats.org/officeDocument/2006/relationships" id="330" r:id="Rb17854b3cc2e444f"/>
    <p:sldId xmlns:r="http://schemas.openxmlformats.org/officeDocument/2006/relationships" id="331" r:id="R91ea92d4f34844f3"/>
    <p:sldId xmlns:r="http://schemas.openxmlformats.org/officeDocument/2006/relationships" id="332" r:id="R58d926ffe4a74df3"/>
    <p:sldId xmlns:r="http://schemas.openxmlformats.org/officeDocument/2006/relationships" id="333" r:id="R9088e37aff5c4b3d"/>
    <p:sldId xmlns:r="http://schemas.openxmlformats.org/officeDocument/2006/relationships" id="334" r:id="Rb1515026996545a5"/>
    <p:sldId xmlns:r="http://schemas.openxmlformats.org/officeDocument/2006/relationships" id="335" r:id="R06e01499a0814a70"/>
    <p:sldId xmlns:r="http://schemas.openxmlformats.org/officeDocument/2006/relationships" id="336" r:id="R33281ead08bd466a"/>
    <p:sldId xmlns:r="http://schemas.openxmlformats.org/officeDocument/2006/relationships" id="337" r:id="R6a58e59a9f8e4c21"/>
    <p:sldId xmlns:r="http://schemas.openxmlformats.org/officeDocument/2006/relationships" id="338" r:id="Ra3bdb72d58104154"/>
    <p:sldId xmlns:r="http://schemas.openxmlformats.org/officeDocument/2006/relationships" id="339" r:id="R99eb53d2c353478c"/>
    <p:sldId xmlns:r="http://schemas.openxmlformats.org/officeDocument/2006/relationships" id="340" r:id="R4eb51d188eb24021"/>
    <p:sldId xmlns:r="http://schemas.openxmlformats.org/officeDocument/2006/relationships" id="341" r:id="R2b9eb70e2eb64144"/>
    <p:sldId xmlns:r="http://schemas.openxmlformats.org/officeDocument/2006/relationships" id="342" r:id="R9fcfe4f7acd44862"/>
    <p:sldId xmlns:r="http://schemas.openxmlformats.org/officeDocument/2006/relationships" id="343" r:id="Rba8b74b47adf4b15"/>
    <p:sldId xmlns:r="http://schemas.openxmlformats.org/officeDocument/2006/relationships" id="344" r:id="R7868a3e359ac4cdf"/>
    <p:sldId xmlns:r="http://schemas.openxmlformats.org/officeDocument/2006/relationships" id="345" r:id="R503435a5c4934ad6"/>
    <p:sldId xmlns:r="http://schemas.openxmlformats.org/officeDocument/2006/relationships" id="346" r:id="R1036cb0bcfbf40e0"/>
    <p:sldId xmlns:r="http://schemas.openxmlformats.org/officeDocument/2006/relationships" id="347" r:id="R13e4f45b9dc846fa"/>
    <p:sldId xmlns:r="http://schemas.openxmlformats.org/officeDocument/2006/relationships" id="348" r:id="Rfdeb54a02f3141e9"/>
    <p:sldId xmlns:r="http://schemas.openxmlformats.org/officeDocument/2006/relationships" id="349" r:id="Rf894e0d5663f499e"/>
    <p:sldId xmlns:r="http://schemas.openxmlformats.org/officeDocument/2006/relationships" id="350" r:id="R8bdad416271643d1"/>
    <p:sldId xmlns:r="http://schemas.openxmlformats.org/officeDocument/2006/relationships" id="351" r:id="Rc1065e0d0876478d"/>
    <p:sldId xmlns:r="http://schemas.openxmlformats.org/officeDocument/2006/relationships" id="352" r:id="R32e5db8712c64991"/>
    <p:sldId xmlns:r="http://schemas.openxmlformats.org/officeDocument/2006/relationships" id="353" r:id="R518d1593d0664153"/>
    <p:sldId xmlns:r="http://schemas.openxmlformats.org/officeDocument/2006/relationships" id="354" r:id="Rad0bd29c4ac84b68"/>
    <p:sldId xmlns:r="http://schemas.openxmlformats.org/officeDocument/2006/relationships" id="355" r:id="Rd8d7454ebf984c92"/>
    <p:sldId xmlns:r="http://schemas.openxmlformats.org/officeDocument/2006/relationships" id="356" r:id="R9586a68f206d4733"/>
    <p:sldId xmlns:r="http://schemas.openxmlformats.org/officeDocument/2006/relationships" id="357" r:id="R6bbab5130bba43eb"/>
    <p:sldId xmlns:r="http://schemas.openxmlformats.org/officeDocument/2006/relationships" id="358" r:id="R0cd290d06de44c6b"/>
    <p:sldId xmlns:r="http://schemas.openxmlformats.org/officeDocument/2006/relationships" id="359" r:id="R96afc70ecc184e67"/>
    <p:sldId xmlns:r="http://schemas.openxmlformats.org/officeDocument/2006/relationships" id="360" r:id="Rbeb875d6b59b47d3"/>
    <p:sldId xmlns:r="http://schemas.openxmlformats.org/officeDocument/2006/relationships" id="361" r:id="R7ea50ed6e0e446f3"/>
    <p:sldId xmlns:r="http://schemas.openxmlformats.org/officeDocument/2006/relationships" id="362" r:id="Redf2bd84dcd04466"/>
    <p:sldId xmlns:r="http://schemas.openxmlformats.org/officeDocument/2006/relationships" id="363" r:id="R09be9c1a0fe94277"/>
    <p:sldId xmlns:r="http://schemas.openxmlformats.org/officeDocument/2006/relationships" id="364" r:id="R986f6983f2f94a15"/>
    <p:sldId xmlns:r="http://schemas.openxmlformats.org/officeDocument/2006/relationships" id="365" r:id="Rbde056249365481f"/>
    <p:sldId xmlns:r="http://schemas.openxmlformats.org/officeDocument/2006/relationships" id="366" r:id="R316aa835ba8b42bf"/>
    <p:sldId xmlns:r="http://schemas.openxmlformats.org/officeDocument/2006/relationships" id="367" r:id="Rfd2cc5aa124247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6872c50b1f4109" /><Relationship Type="http://schemas.openxmlformats.org/officeDocument/2006/relationships/slideMaster" Target="/ppt/slideMasters/slideMaster1.xml" Id="Raf1cf7e040cc4158" /><Relationship Type="http://schemas.openxmlformats.org/officeDocument/2006/relationships/notesMaster" Target="/ppt/notesMasters/notesMaster1.xml" Id="R5e6e2d05fbc84f53" /><Relationship Type="http://schemas.openxmlformats.org/officeDocument/2006/relationships/presProps" Target="/ppt/presProps.xml" Id="R6544aa135e354734" /><Relationship Type="http://schemas.openxmlformats.org/officeDocument/2006/relationships/viewProps" Target="/ppt/viewProps.xml" Id="R53d9e1a3ef3b40f3" /><Relationship Type="http://schemas.openxmlformats.org/officeDocument/2006/relationships/tableStyles" Target="/ppt/tableStyles.xml" Id="R6ae2794a42964aaf" /><Relationship Type="http://schemas.openxmlformats.org/officeDocument/2006/relationships/slide" Target="/ppt/slides/slide1.xml" Id="Rbbb4fe96cf424a6e" /><Relationship Type="http://schemas.openxmlformats.org/officeDocument/2006/relationships/slide" Target="/ppt/slides/slide2.xml" Id="R602f670f845f45f8" /><Relationship Type="http://schemas.openxmlformats.org/officeDocument/2006/relationships/slide" Target="/ppt/slides/slide3.xml" Id="Rb47a141e658b4cd7" /><Relationship Type="http://schemas.openxmlformats.org/officeDocument/2006/relationships/slide" Target="/ppt/slides/slide4.xml" Id="Rae273e123901487b" /><Relationship Type="http://schemas.openxmlformats.org/officeDocument/2006/relationships/slide" Target="/ppt/slides/slide5.xml" Id="R6060d88f58df4297" /><Relationship Type="http://schemas.openxmlformats.org/officeDocument/2006/relationships/slide" Target="/ppt/slides/slide6.xml" Id="R6f3397ee86d54574" /><Relationship Type="http://schemas.openxmlformats.org/officeDocument/2006/relationships/slide" Target="/ppt/slides/slide7.xml" Id="Rf67a30cedb6b4137" /><Relationship Type="http://schemas.openxmlformats.org/officeDocument/2006/relationships/slide" Target="/ppt/slides/slide8.xml" Id="R0c24ff06f7794105" /><Relationship Type="http://schemas.openxmlformats.org/officeDocument/2006/relationships/slide" Target="/ppt/slides/slide9.xml" Id="R7ca23756a4f74270" /><Relationship Type="http://schemas.openxmlformats.org/officeDocument/2006/relationships/slide" Target="/ppt/slides/slide10.xml" Id="R6c403327c140433d" /><Relationship Type="http://schemas.openxmlformats.org/officeDocument/2006/relationships/slide" Target="/ppt/slides/slide11.xml" Id="R8a0479cbcb324282" /><Relationship Type="http://schemas.openxmlformats.org/officeDocument/2006/relationships/slide" Target="/ppt/slides/slide12.xml" Id="Rd814812257994a93" /><Relationship Type="http://schemas.openxmlformats.org/officeDocument/2006/relationships/slide" Target="/ppt/slides/slide13.xml" Id="Rfa2f7eb7d6ed43b1" /><Relationship Type="http://schemas.openxmlformats.org/officeDocument/2006/relationships/slide" Target="/ppt/slides/slide14.xml" Id="Rfa1fe56c86214e6a" /><Relationship Type="http://schemas.openxmlformats.org/officeDocument/2006/relationships/slide" Target="/ppt/slides/slide15.xml" Id="R53ba66a298fc4d6d" /><Relationship Type="http://schemas.openxmlformats.org/officeDocument/2006/relationships/slide" Target="/ppt/slides/slide16.xml" Id="R16820b7e1e7c4a52" /><Relationship Type="http://schemas.openxmlformats.org/officeDocument/2006/relationships/slide" Target="/ppt/slides/slide17.xml" Id="R5186f12a5b6747ee" /><Relationship Type="http://schemas.openxmlformats.org/officeDocument/2006/relationships/slide" Target="/ppt/slides/slide18.xml" Id="Re2004054bd834d19" /><Relationship Type="http://schemas.openxmlformats.org/officeDocument/2006/relationships/slide" Target="/ppt/slides/slide19.xml" Id="R0de68de5f156431a" /><Relationship Type="http://schemas.openxmlformats.org/officeDocument/2006/relationships/slide" Target="/ppt/slides/slide20.xml" Id="R915bea0702ed49db" /><Relationship Type="http://schemas.openxmlformats.org/officeDocument/2006/relationships/slide" Target="/ppt/slides/slide21.xml" Id="Rb262c1a348c243c2" /><Relationship Type="http://schemas.openxmlformats.org/officeDocument/2006/relationships/slide" Target="/ppt/slides/slide22.xml" Id="R64dabf681edd43cc" /><Relationship Type="http://schemas.openxmlformats.org/officeDocument/2006/relationships/slide" Target="/ppt/slides/slide23.xml" Id="R60f981015b064cd4" /><Relationship Type="http://schemas.openxmlformats.org/officeDocument/2006/relationships/slide" Target="/ppt/slides/slide24.xml" Id="R75338ea40c4a4592" /><Relationship Type="http://schemas.openxmlformats.org/officeDocument/2006/relationships/slide" Target="/ppt/slides/slide25.xml" Id="Rc667104dd4674717" /><Relationship Type="http://schemas.openxmlformats.org/officeDocument/2006/relationships/slide" Target="/ppt/slides/slide26.xml" Id="Rc50f206af54d4dac" /><Relationship Type="http://schemas.openxmlformats.org/officeDocument/2006/relationships/slide" Target="/ppt/slides/slide27.xml" Id="R6f98065270224d60" /><Relationship Type="http://schemas.openxmlformats.org/officeDocument/2006/relationships/slide" Target="/ppt/slides/slide28.xml" Id="R724ea411734544da" /><Relationship Type="http://schemas.openxmlformats.org/officeDocument/2006/relationships/slide" Target="/ppt/slides/slide29.xml" Id="Rd0e60ef789c84c9b" /><Relationship Type="http://schemas.openxmlformats.org/officeDocument/2006/relationships/slide" Target="/ppt/slides/slide30.xml" Id="R30462616c0854109" /><Relationship Type="http://schemas.openxmlformats.org/officeDocument/2006/relationships/slide" Target="/ppt/slides/slide31.xml" Id="Ra1fa0b31119342d2" /><Relationship Type="http://schemas.openxmlformats.org/officeDocument/2006/relationships/slide" Target="/ppt/slides/slide32.xml" Id="R5f9b14bfdc164972" /><Relationship Type="http://schemas.openxmlformats.org/officeDocument/2006/relationships/slide" Target="/ppt/slides/slide33.xml" Id="Rceb8b1fbc22e40b5" /><Relationship Type="http://schemas.openxmlformats.org/officeDocument/2006/relationships/slide" Target="/ppt/slides/slide34.xml" Id="R9af503261bf048fe" /><Relationship Type="http://schemas.openxmlformats.org/officeDocument/2006/relationships/slide" Target="/ppt/slides/slide35.xml" Id="R06eac6d7283b4d4c" /><Relationship Type="http://schemas.openxmlformats.org/officeDocument/2006/relationships/slide" Target="/ppt/slides/slide36.xml" Id="Rc65e131182ae4f5b" /><Relationship Type="http://schemas.openxmlformats.org/officeDocument/2006/relationships/slide" Target="/ppt/slides/slide37.xml" Id="Ree29a5f6d62e49f0" /><Relationship Type="http://schemas.openxmlformats.org/officeDocument/2006/relationships/slide" Target="/ppt/slides/slide38.xml" Id="Rdf4ef814140e4148" /><Relationship Type="http://schemas.openxmlformats.org/officeDocument/2006/relationships/slide" Target="/ppt/slides/slide39.xml" Id="Rb646218bc13c4b97" /><Relationship Type="http://schemas.openxmlformats.org/officeDocument/2006/relationships/slide" Target="/ppt/slides/slide40.xml" Id="R0b6a1488cb6448b1" /><Relationship Type="http://schemas.openxmlformats.org/officeDocument/2006/relationships/slide" Target="/ppt/slides/slide41.xml" Id="R9f3c8ade82cb496b" /><Relationship Type="http://schemas.openxmlformats.org/officeDocument/2006/relationships/slide" Target="/ppt/slides/slide42.xml" Id="R3ac53091c3c0414d" /><Relationship Type="http://schemas.openxmlformats.org/officeDocument/2006/relationships/slide" Target="/ppt/slides/slide43.xml" Id="R2e73a48221de487f" /><Relationship Type="http://schemas.openxmlformats.org/officeDocument/2006/relationships/slide" Target="/ppt/slides/slide44.xml" Id="Rebf44cd0565d40df" /><Relationship Type="http://schemas.openxmlformats.org/officeDocument/2006/relationships/slide" Target="/ppt/slides/slide45.xml" Id="Rd8c97bfbac9b4414" /><Relationship Type="http://schemas.openxmlformats.org/officeDocument/2006/relationships/slide" Target="/ppt/slides/slide46.xml" Id="R5c3bd26263bb47ce" /><Relationship Type="http://schemas.openxmlformats.org/officeDocument/2006/relationships/slide" Target="/ppt/slides/slide47.xml" Id="R66a2364caeb24e33" /><Relationship Type="http://schemas.openxmlformats.org/officeDocument/2006/relationships/slide" Target="/ppt/slides/slide48.xml" Id="Rd07284cb76cb4be0" /><Relationship Type="http://schemas.openxmlformats.org/officeDocument/2006/relationships/slide" Target="/ppt/slides/slide49.xml" Id="Rfb10a8d96bc14f55" /><Relationship Type="http://schemas.openxmlformats.org/officeDocument/2006/relationships/slide" Target="/ppt/slides/slide50.xml" Id="Rfbed57b084d041ab" /><Relationship Type="http://schemas.openxmlformats.org/officeDocument/2006/relationships/slide" Target="/ppt/slides/slide51.xml" Id="Reada12cd48eb4f24" /><Relationship Type="http://schemas.openxmlformats.org/officeDocument/2006/relationships/slide" Target="/ppt/slides/slide52.xml" Id="Rba8f070c446a4545" /><Relationship Type="http://schemas.openxmlformats.org/officeDocument/2006/relationships/slide" Target="/ppt/slides/slide53.xml" Id="R7260b08b480e473b" /><Relationship Type="http://schemas.openxmlformats.org/officeDocument/2006/relationships/slide" Target="/ppt/slides/slide54.xml" Id="Rd9988bda531545a6" /><Relationship Type="http://schemas.openxmlformats.org/officeDocument/2006/relationships/slide" Target="/ppt/slides/slide55.xml" Id="R757c6c8accb048df" /><Relationship Type="http://schemas.openxmlformats.org/officeDocument/2006/relationships/slide" Target="/ppt/slides/slide56.xml" Id="Rf807300b70a94805" /><Relationship Type="http://schemas.openxmlformats.org/officeDocument/2006/relationships/slide" Target="/ppt/slides/slide57.xml" Id="Rfbb210462d65401e" /><Relationship Type="http://schemas.openxmlformats.org/officeDocument/2006/relationships/slide" Target="/ppt/slides/slide58.xml" Id="R63a3a4af5f2b44ff" /><Relationship Type="http://schemas.openxmlformats.org/officeDocument/2006/relationships/slide" Target="/ppt/slides/slide59.xml" Id="R146d1881563a4801" /><Relationship Type="http://schemas.openxmlformats.org/officeDocument/2006/relationships/slide" Target="/ppt/slides/slide60.xml" Id="R3b2ccf7e5d5348e7" /><Relationship Type="http://schemas.openxmlformats.org/officeDocument/2006/relationships/slide" Target="/ppt/slides/slide61.xml" Id="Re6bf58df174f4357" /><Relationship Type="http://schemas.openxmlformats.org/officeDocument/2006/relationships/slide" Target="/ppt/slides/slide62.xml" Id="R1fa83ffdae804f06" /><Relationship Type="http://schemas.openxmlformats.org/officeDocument/2006/relationships/slide" Target="/ppt/slides/slide63.xml" Id="R2b518cc417cc4f84" /><Relationship Type="http://schemas.openxmlformats.org/officeDocument/2006/relationships/slide" Target="/ppt/slides/slide64.xml" Id="R3f0d831516714e3f" /><Relationship Type="http://schemas.openxmlformats.org/officeDocument/2006/relationships/slide" Target="/ppt/slides/slide65.xml" Id="R85ff340da5814e18" /><Relationship Type="http://schemas.openxmlformats.org/officeDocument/2006/relationships/slide" Target="/ppt/slides/slide66.xml" Id="R83df65f0bb2b436a" /><Relationship Type="http://schemas.openxmlformats.org/officeDocument/2006/relationships/slide" Target="/ppt/slides/slide67.xml" Id="Radaee55ff1674572" /><Relationship Type="http://schemas.openxmlformats.org/officeDocument/2006/relationships/slide" Target="/ppt/slides/slide68.xml" Id="R7b58c93ab1b344e1" /><Relationship Type="http://schemas.openxmlformats.org/officeDocument/2006/relationships/slide" Target="/ppt/slides/slide69.xml" Id="Ra3ec105bc68742cb" /><Relationship Type="http://schemas.openxmlformats.org/officeDocument/2006/relationships/slide" Target="/ppt/slides/slide70.xml" Id="R33559eea02bc486a" /><Relationship Type="http://schemas.openxmlformats.org/officeDocument/2006/relationships/slide" Target="/ppt/slides/slide71.xml" Id="R291f610f08ed4a47" /><Relationship Type="http://schemas.openxmlformats.org/officeDocument/2006/relationships/slide" Target="/ppt/slides/slide72.xml" Id="Rcc90e1d4513044d1" /><Relationship Type="http://schemas.openxmlformats.org/officeDocument/2006/relationships/slide" Target="/ppt/slides/slide73.xml" Id="R4ad9da4bf5cf4a54" /><Relationship Type="http://schemas.openxmlformats.org/officeDocument/2006/relationships/slide" Target="/ppt/slides/slide74.xml" Id="R3fe36c61e8f64327" /><Relationship Type="http://schemas.openxmlformats.org/officeDocument/2006/relationships/slide" Target="/ppt/slides/slide75.xml" Id="Rb17854b3cc2e444f" /><Relationship Type="http://schemas.openxmlformats.org/officeDocument/2006/relationships/slide" Target="/ppt/slides/slide76.xml" Id="R91ea92d4f34844f3" /><Relationship Type="http://schemas.openxmlformats.org/officeDocument/2006/relationships/slide" Target="/ppt/slides/slide77.xml" Id="R58d926ffe4a74df3" /><Relationship Type="http://schemas.openxmlformats.org/officeDocument/2006/relationships/slide" Target="/ppt/slides/slide78.xml" Id="R9088e37aff5c4b3d" /><Relationship Type="http://schemas.openxmlformats.org/officeDocument/2006/relationships/slide" Target="/ppt/slides/slide79.xml" Id="Rb1515026996545a5" /><Relationship Type="http://schemas.openxmlformats.org/officeDocument/2006/relationships/slide" Target="/ppt/slides/slide80.xml" Id="R06e01499a0814a70" /><Relationship Type="http://schemas.openxmlformats.org/officeDocument/2006/relationships/slide" Target="/ppt/slides/slide81.xml" Id="R33281ead08bd466a" /><Relationship Type="http://schemas.openxmlformats.org/officeDocument/2006/relationships/slide" Target="/ppt/slides/slide82.xml" Id="R6a58e59a9f8e4c21" /><Relationship Type="http://schemas.openxmlformats.org/officeDocument/2006/relationships/slide" Target="/ppt/slides/slide83.xml" Id="Ra3bdb72d58104154" /><Relationship Type="http://schemas.openxmlformats.org/officeDocument/2006/relationships/slide" Target="/ppt/slides/slide84.xml" Id="R99eb53d2c353478c" /><Relationship Type="http://schemas.openxmlformats.org/officeDocument/2006/relationships/slide" Target="/ppt/slides/slide85.xml" Id="R4eb51d188eb24021" /><Relationship Type="http://schemas.openxmlformats.org/officeDocument/2006/relationships/slide" Target="/ppt/slides/slide86.xml" Id="R2b9eb70e2eb64144" /><Relationship Type="http://schemas.openxmlformats.org/officeDocument/2006/relationships/slide" Target="/ppt/slides/slide87.xml" Id="R9fcfe4f7acd44862" /><Relationship Type="http://schemas.openxmlformats.org/officeDocument/2006/relationships/slide" Target="/ppt/slides/slide88.xml" Id="Rba8b74b47adf4b15" /><Relationship Type="http://schemas.openxmlformats.org/officeDocument/2006/relationships/slide" Target="/ppt/slides/slide89.xml" Id="R7868a3e359ac4cdf" /><Relationship Type="http://schemas.openxmlformats.org/officeDocument/2006/relationships/slide" Target="/ppt/slides/slide90.xml" Id="R503435a5c4934ad6" /><Relationship Type="http://schemas.openxmlformats.org/officeDocument/2006/relationships/slide" Target="/ppt/slides/slide91.xml" Id="R1036cb0bcfbf40e0" /><Relationship Type="http://schemas.openxmlformats.org/officeDocument/2006/relationships/slide" Target="/ppt/slides/slide92.xml" Id="R13e4f45b9dc846fa" /><Relationship Type="http://schemas.openxmlformats.org/officeDocument/2006/relationships/slide" Target="/ppt/slides/slide93.xml" Id="Rfdeb54a02f3141e9" /><Relationship Type="http://schemas.openxmlformats.org/officeDocument/2006/relationships/slide" Target="/ppt/slides/slide94.xml" Id="Rf894e0d5663f499e" /><Relationship Type="http://schemas.openxmlformats.org/officeDocument/2006/relationships/slide" Target="/ppt/slides/slide95.xml" Id="R8bdad416271643d1" /><Relationship Type="http://schemas.openxmlformats.org/officeDocument/2006/relationships/slide" Target="/ppt/slides/slide96.xml" Id="Rc1065e0d0876478d" /><Relationship Type="http://schemas.openxmlformats.org/officeDocument/2006/relationships/slide" Target="/ppt/slides/slide97.xml" Id="R32e5db8712c64991" /><Relationship Type="http://schemas.openxmlformats.org/officeDocument/2006/relationships/slide" Target="/ppt/slides/slide98.xml" Id="R518d1593d0664153" /><Relationship Type="http://schemas.openxmlformats.org/officeDocument/2006/relationships/slide" Target="/ppt/slides/slide99.xml" Id="Rad0bd29c4ac84b68" /><Relationship Type="http://schemas.openxmlformats.org/officeDocument/2006/relationships/slide" Target="/ppt/slides/slide100.xml" Id="Rd8d7454ebf984c92" /><Relationship Type="http://schemas.openxmlformats.org/officeDocument/2006/relationships/slide" Target="/ppt/slides/slide101.xml" Id="R9586a68f206d4733" /><Relationship Type="http://schemas.openxmlformats.org/officeDocument/2006/relationships/slide" Target="/ppt/slides/slide102.xml" Id="R6bbab5130bba43eb" /><Relationship Type="http://schemas.openxmlformats.org/officeDocument/2006/relationships/slide" Target="/ppt/slides/slide103.xml" Id="R0cd290d06de44c6b" /><Relationship Type="http://schemas.openxmlformats.org/officeDocument/2006/relationships/slide" Target="/ppt/slides/slide104.xml" Id="R96afc70ecc184e67" /><Relationship Type="http://schemas.openxmlformats.org/officeDocument/2006/relationships/slide" Target="/ppt/slides/slide105.xml" Id="Rbeb875d6b59b47d3" /><Relationship Type="http://schemas.openxmlformats.org/officeDocument/2006/relationships/slide" Target="/ppt/slides/slide106.xml" Id="R7ea50ed6e0e446f3" /><Relationship Type="http://schemas.openxmlformats.org/officeDocument/2006/relationships/slide" Target="/ppt/slides/slide107.xml" Id="Redf2bd84dcd04466" /><Relationship Type="http://schemas.openxmlformats.org/officeDocument/2006/relationships/slide" Target="/ppt/slides/slide108.xml" Id="R09be9c1a0fe94277" /><Relationship Type="http://schemas.openxmlformats.org/officeDocument/2006/relationships/slide" Target="/ppt/slides/slide109.xml" Id="R986f6983f2f94a15" /><Relationship Type="http://schemas.openxmlformats.org/officeDocument/2006/relationships/slide" Target="/ppt/slides/slide110.xml" Id="Rbde056249365481f" /><Relationship Type="http://schemas.openxmlformats.org/officeDocument/2006/relationships/slide" Target="/ppt/slides/slide111.xml" Id="R316aa835ba8b42bf" /><Relationship Type="http://schemas.openxmlformats.org/officeDocument/2006/relationships/slide" Target="/ppt/slides/slide112.xml" Id="Rfd2cc5aa124247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d74d58a2f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4f0e6a7704252" /><Relationship Type="http://schemas.openxmlformats.org/officeDocument/2006/relationships/notesMaster" Target="/ppt/notesMasters/notesMaster1.xml" Id="Rcd93555a78354f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e895c134ff42b6" /><Relationship Type="http://schemas.openxmlformats.org/officeDocument/2006/relationships/notesMaster" Target="/ppt/notesMasters/notesMaster1.xml" Id="Rf83de60feb8e42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414f0a3e224d15" /><Relationship Type="http://schemas.openxmlformats.org/officeDocument/2006/relationships/notesMaster" Target="/ppt/notesMasters/notesMaster1.xml" Id="Rb3ab62818d6a4f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6e97c651e14d53" /><Relationship Type="http://schemas.openxmlformats.org/officeDocument/2006/relationships/notesMaster" Target="/ppt/notesMasters/notesMaster1.xml" Id="R442d13a9ed0a40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dea366a9d04705" /><Relationship Type="http://schemas.openxmlformats.org/officeDocument/2006/relationships/notesMaster" Target="/ppt/notesMasters/notesMaster1.xml" Id="R65a44e2b439e40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9b842eb70f433e" /><Relationship Type="http://schemas.openxmlformats.org/officeDocument/2006/relationships/notesMaster" Target="/ppt/notesMasters/notesMaster1.xml" Id="Rb526e8d0aa2648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3d958c8d4940f6" /><Relationship Type="http://schemas.openxmlformats.org/officeDocument/2006/relationships/notesMaster" Target="/ppt/notesMasters/notesMaster1.xml" Id="Rd7ed356d373347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dabe3b7c7d494d" /><Relationship Type="http://schemas.openxmlformats.org/officeDocument/2006/relationships/notesMaster" Target="/ppt/notesMasters/notesMaster1.xml" Id="R9e355ce106fb4d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2ba444a3bc4f36" /><Relationship Type="http://schemas.openxmlformats.org/officeDocument/2006/relationships/notesMaster" Target="/ppt/notesMasters/notesMaster1.xml" Id="R1a2465282d8c47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2278c5ad8e4d01" /><Relationship Type="http://schemas.openxmlformats.org/officeDocument/2006/relationships/notesMaster" Target="/ppt/notesMasters/notesMaster1.xml" Id="Rb2cae467f6234c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1d6cab87544563" /><Relationship Type="http://schemas.openxmlformats.org/officeDocument/2006/relationships/notesMaster" Target="/ppt/notesMasters/notesMaster1.xml" Id="R80ef422f9c3e44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cdca4dd8644078" /><Relationship Type="http://schemas.openxmlformats.org/officeDocument/2006/relationships/notesMaster" Target="/ppt/notesMasters/notesMaster1.xml" Id="R76a7668d93f34c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8d530f0e6e497c" /><Relationship Type="http://schemas.openxmlformats.org/officeDocument/2006/relationships/notesMaster" Target="/ppt/notesMasters/notesMaster1.xml" Id="Rbe6ee10456524c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891363606b4e5d" /><Relationship Type="http://schemas.openxmlformats.org/officeDocument/2006/relationships/notesMaster" Target="/ppt/notesMasters/notesMaster1.xml" Id="R477271abbf9c48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8ced1c31f44634" /><Relationship Type="http://schemas.openxmlformats.org/officeDocument/2006/relationships/notesMaster" Target="/ppt/notesMasters/notesMaster1.xml" Id="R5bce7471691848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8c579014e540db" /><Relationship Type="http://schemas.openxmlformats.org/officeDocument/2006/relationships/notesMaster" Target="/ppt/notesMasters/notesMaster1.xml" Id="Ra88b561e66ec40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3e08e244794360" /><Relationship Type="http://schemas.openxmlformats.org/officeDocument/2006/relationships/notesMaster" Target="/ppt/notesMasters/notesMaster1.xml" Id="R573a4533b98742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0b2023860e47a7" /><Relationship Type="http://schemas.openxmlformats.org/officeDocument/2006/relationships/notesMaster" Target="/ppt/notesMasters/notesMaster1.xml" Id="Rfae8797b32e447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04044ca3844a32" /><Relationship Type="http://schemas.openxmlformats.org/officeDocument/2006/relationships/notesMaster" Target="/ppt/notesMasters/notesMaster1.xml" Id="Rfbf6178435064d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9aa9a4ce9e413a" /><Relationship Type="http://schemas.openxmlformats.org/officeDocument/2006/relationships/notesMaster" Target="/ppt/notesMasters/notesMaster1.xml" Id="Rf4f0e0b0a67e4c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00fc8bad2a41fb" /><Relationship Type="http://schemas.openxmlformats.org/officeDocument/2006/relationships/notesMaster" Target="/ppt/notesMasters/notesMaster1.xml" Id="R5999fac8a5e84e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48d84bd53b4d53" /><Relationship Type="http://schemas.openxmlformats.org/officeDocument/2006/relationships/notesMaster" Target="/ppt/notesMasters/notesMaster1.xml" Id="Rf6bbbe6278af4c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ed10558bb5a4abf" /><Relationship Type="http://schemas.openxmlformats.org/officeDocument/2006/relationships/notesMaster" Target="/ppt/notesMasters/notesMaster1.xml" Id="R4df1d9da8f9141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9aed5d56fa4a74" /><Relationship Type="http://schemas.openxmlformats.org/officeDocument/2006/relationships/notesMaster" Target="/ppt/notesMasters/notesMaster1.xml" Id="Reba4a5a2868a44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abf838056a44ba" /><Relationship Type="http://schemas.openxmlformats.org/officeDocument/2006/relationships/notesMaster" Target="/ppt/notesMasters/notesMaster1.xml" Id="R3c5ea3a1b93441d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285fe8922ae430d" /><Relationship Type="http://schemas.openxmlformats.org/officeDocument/2006/relationships/notesMaster" Target="/ppt/notesMasters/notesMaster1.xml" Id="R5e520ee02b9e4a6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c84cef4bdc4695" /><Relationship Type="http://schemas.openxmlformats.org/officeDocument/2006/relationships/notesMaster" Target="/ppt/notesMasters/notesMaster1.xml" Id="R453318944a924a5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c4ea57d300c4584" /><Relationship Type="http://schemas.openxmlformats.org/officeDocument/2006/relationships/notesMaster" Target="/ppt/notesMasters/notesMaster1.xml" Id="R67fc13dcf13e434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c4fc126bb34e85" /><Relationship Type="http://schemas.openxmlformats.org/officeDocument/2006/relationships/notesMaster" Target="/ppt/notesMasters/notesMaster1.xml" Id="Raff356fe191b40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d37d3265074290" /><Relationship Type="http://schemas.openxmlformats.org/officeDocument/2006/relationships/notesMaster" Target="/ppt/notesMasters/notesMaster1.xml" Id="Rdbf4aa8b2eac4d7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147333e9a3c47ac" /><Relationship Type="http://schemas.openxmlformats.org/officeDocument/2006/relationships/notesMaster" Target="/ppt/notesMasters/notesMaster1.xml" Id="Re7c4917029e44d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9a90ec966a346c8" /><Relationship Type="http://schemas.openxmlformats.org/officeDocument/2006/relationships/notesMaster" Target="/ppt/notesMasters/notesMaster1.xml" Id="Re60691ddabe2456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9400fbf3e624e03" /><Relationship Type="http://schemas.openxmlformats.org/officeDocument/2006/relationships/notesMaster" Target="/ppt/notesMasters/notesMaster1.xml" Id="Rfad14bdf1e844b9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c168a2237c44a0" /><Relationship Type="http://schemas.openxmlformats.org/officeDocument/2006/relationships/notesMaster" Target="/ppt/notesMasters/notesMaster1.xml" Id="Rcb505e8b7ab4410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87847af0aab46c2" /><Relationship Type="http://schemas.openxmlformats.org/officeDocument/2006/relationships/notesMaster" Target="/ppt/notesMasters/notesMaster1.xml" Id="Rcd4a70a28d55495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06d6fec6564438c" /><Relationship Type="http://schemas.openxmlformats.org/officeDocument/2006/relationships/notesMaster" Target="/ppt/notesMasters/notesMaster1.xml" Id="R8ad45822674741d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123bb040c8d49b5" /><Relationship Type="http://schemas.openxmlformats.org/officeDocument/2006/relationships/notesMaster" Target="/ppt/notesMasters/notesMaster1.xml" Id="R826acdb937e44d0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6e11772de9d419d" /><Relationship Type="http://schemas.openxmlformats.org/officeDocument/2006/relationships/notesMaster" Target="/ppt/notesMasters/notesMaster1.xml" Id="Rc8b15b1388b3499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01f17191df0432f" /><Relationship Type="http://schemas.openxmlformats.org/officeDocument/2006/relationships/notesMaster" Target="/ppt/notesMasters/notesMaster1.xml" Id="R256d11a033534d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6e1d3deae54c6a" /><Relationship Type="http://schemas.openxmlformats.org/officeDocument/2006/relationships/notesMaster" Target="/ppt/notesMasters/notesMaster1.xml" Id="Rbd46b44075fa49a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296b11467614d57" /><Relationship Type="http://schemas.openxmlformats.org/officeDocument/2006/relationships/notesMaster" Target="/ppt/notesMasters/notesMaster1.xml" Id="R2e1131da64f7493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88b70a06202498e" /><Relationship Type="http://schemas.openxmlformats.org/officeDocument/2006/relationships/notesMaster" Target="/ppt/notesMasters/notesMaster1.xml" Id="Rea5cfa47c5c540a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fceb63d021d4d71" /><Relationship Type="http://schemas.openxmlformats.org/officeDocument/2006/relationships/notesMaster" Target="/ppt/notesMasters/notesMaster1.xml" Id="R10c63d5e873c49d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30e56cdca844215" /><Relationship Type="http://schemas.openxmlformats.org/officeDocument/2006/relationships/notesMaster" Target="/ppt/notesMasters/notesMaster1.xml" Id="R6298253bd9c94a3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d3b0ee5300c420c" /><Relationship Type="http://schemas.openxmlformats.org/officeDocument/2006/relationships/notesMaster" Target="/ppt/notesMasters/notesMaster1.xml" Id="R18806e00376742b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9de5c33beca4907" /><Relationship Type="http://schemas.openxmlformats.org/officeDocument/2006/relationships/notesMaster" Target="/ppt/notesMasters/notesMaster1.xml" Id="Rd172c236075e4de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5563dcbd5ee4f05" /><Relationship Type="http://schemas.openxmlformats.org/officeDocument/2006/relationships/notesMaster" Target="/ppt/notesMasters/notesMaster1.xml" Id="Rd9fe7f1de8674ae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2a549e95d8c4858" /><Relationship Type="http://schemas.openxmlformats.org/officeDocument/2006/relationships/notesMaster" Target="/ppt/notesMasters/notesMaster1.xml" Id="R4c820a3dbd97452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4b04701082048fc" /><Relationship Type="http://schemas.openxmlformats.org/officeDocument/2006/relationships/notesMaster" Target="/ppt/notesMasters/notesMaster1.xml" Id="Ra1fca217be564a4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20c3b1b55004272" /><Relationship Type="http://schemas.openxmlformats.org/officeDocument/2006/relationships/notesMaster" Target="/ppt/notesMasters/notesMaster1.xml" Id="R6e56e16d6c9d49c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a71c8d64974460f" /><Relationship Type="http://schemas.openxmlformats.org/officeDocument/2006/relationships/notesMaster" Target="/ppt/notesMasters/notesMaster1.xml" Id="R25792e485da3485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b155eb0ad2a4d17" /><Relationship Type="http://schemas.openxmlformats.org/officeDocument/2006/relationships/notesMaster" Target="/ppt/notesMasters/notesMaster1.xml" Id="R41ea637797ba4ec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f3554b212db4813" /><Relationship Type="http://schemas.openxmlformats.org/officeDocument/2006/relationships/notesMaster" Target="/ppt/notesMasters/notesMaster1.xml" Id="Rb503692e392e40d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6ca95da63084bb0" /><Relationship Type="http://schemas.openxmlformats.org/officeDocument/2006/relationships/notesMaster" Target="/ppt/notesMasters/notesMaster1.xml" Id="R5204d5fdf1ad4cd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2af37933a20452d" /><Relationship Type="http://schemas.openxmlformats.org/officeDocument/2006/relationships/notesMaster" Target="/ppt/notesMasters/notesMaster1.xml" Id="Rae94c5f9d0d2410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5fda5955a8a4451" /><Relationship Type="http://schemas.openxmlformats.org/officeDocument/2006/relationships/notesMaster" Target="/ppt/notesMasters/notesMaster1.xml" Id="Rac96afa40fa545e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623b58ffaa64f5f" /><Relationship Type="http://schemas.openxmlformats.org/officeDocument/2006/relationships/notesMaster" Target="/ppt/notesMasters/notesMaster1.xml" Id="R84c8bf038e0447f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032fe99122f4fc3" /><Relationship Type="http://schemas.openxmlformats.org/officeDocument/2006/relationships/notesMaster" Target="/ppt/notesMasters/notesMaster1.xml" Id="Race8f11dfabc482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cd9cefea4da416e" /><Relationship Type="http://schemas.openxmlformats.org/officeDocument/2006/relationships/notesMaster" Target="/ppt/notesMasters/notesMaster1.xml" Id="Re69134b417674bd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3e97a8ec0e6446b" /><Relationship Type="http://schemas.openxmlformats.org/officeDocument/2006/relationships/notesMaster" Target="/ppt/notesMasters/notesMaster1.xml" Id="Rdac82b0ccf174f1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33bd195aa4840d6" /><Relationship Type="http://schemas.openxmlformats.org/officeDocument/2006/relationships/notesMaster" Target="/ppt/notesMasters/notesMaster1.xml" Id="Rb082ca204860435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4a369a625df94ec9" /><Relationship Type="http://schemas.openxmlformats.org/officeDocument/2006/relationships/notesMaster" Target="/ppt/notesMasters/notesMaster1.xml" Id="Rdf3ebe6d5a6e445b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949893594514e8e" /><Relationship Type="http://schemas.openxmlformats.org/officeDocument/2006/relationships/notesMaster" Target="/ppt/notesMasters/notesMaster1.xml" Id="R79716192811e427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aea926054d94a12" /><Relationship Type="http://schemas.openxmlformats.org/officeDocument/2006/relationships/notesMaster" Target="/ppt/notesMasters/notesMaster1.xml" Id="R5d7626e6d27b406c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f9f2eb815974f2a" /><Relationship Type="http://schemas.openxmlformats.org/officeDocument/2006/relationships/notesMaster" Target="/ppt/notesMasters/notesMaster1.xml" Id="Rccbb405c1742402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122b35f598b4b4a" /><Relationship Type="http://schemas.openxmlformats.org/officeDocument/2006/relationships/notesMaster" Target="/ppt/notesMasters/notesMaster1.xml" Id="R90f39e16e4ec459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45e33eec0694185" /><Relationship Type="http://schemas.openxmlformats.org/officeDocument/2006/relationships/notesMaster" Target="/ppt/notesMasters/notesMaster1.xml" Id="Rb2fec31d2610425b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7853395ab6f43e5" /><Relationship Type="http://schemas.openxmlformats.org/officeDocument/2006/relationships/notesMaster" Target="/ppt/notesMasters/notesMaster1.xml" Id="Re2ff8743f19c424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fdbc3f6e62944bf" /><Relationship Type="http://schemas.openxmlformats.org/officeDocument/2006/relationships/notesMaster" Target="/ppt/notesMasters/notesMaster1.xml" Id="R5fd5ade2e6404ce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5ac809eb45c44a9" /><Relationship Type="http://schemas.openxmlformats.org/officeDocument/2006/relationships/notesMaster" Target="/ppt/notesMasters/notesMaster1.xml" Id="Rf8c6702d69614ec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0f3d931e1aad4dad" /><Relationship Type="http://schemas.openxmlformats.org/officeDocument/2006/relationships/notesMaster" Target="/ppt/notesMasters/notesMaster1.xml" Id="R39079ae5ec204513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00b4f16b829483b" /><Relationship Type="http://schemas.openxmlformats.org/officeDocument/2006/relationships/notesMaster" Target="/ppt/notesMasters/notesMaster1.xml" Id="Rdd378dd42691416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36028f1dc9a4aab" /><Relationship Type="http://schemas.openxmlformats.org/officeDocument/2006/relationships/notesMaster" Target="/ppt/notesMasters/notesMaster1.xml" Id="R004c1b6c177e4ed8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f12d2ed6ffd4bda" /><Relationship Type="http://schemas.openxmlformats.org/officeDocument/2006/relationships/notesMaster" Target="/ppt/notesMasters/notesMaster1.xml" Id="Rbcdeb8dd33b44f0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95b584e322fe4f8e" /><Relationship Type="http://schemas.openxmlformats.org/officeDocument/2006/relationships/notesMaster" Target="/ppt/notesMasters/notesMaster1.xml" Id="R32fa48d0ad9d4284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007be4cdd684102" /><Relationship Type="http://schemas.openxmlformats.org/officeDocument/2006/relationships/notesMaster" Target="/ppt/notesMasters/notesMaster1.xml" Id="R3246a11d099c4b2e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52bc6fd7f5e4e4b" /><Relationship Type="http://schemas.openxmlformats.org/officeDocument/2006/relationships/notesMaster" Target="/ppt/notesMasters/notesMaster1.xml" Id="R45d58c2e45ef4ca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0c4fa67e57c4e9c" /><Relationship Type="http://schemas.openxmlformats.org/officeDocument/2006/relationships/notesMaster" Target="/ppt/notesMasters/notesMaster1.xml" Id="R1147d3a16df34f1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3f2cb3c392404e3b" /><Relationship Type="http://schemas.openxmlformats.org/officeDocument/2006/relationships/notesMaster" Target="/ppt/notesMasters/notesMaster1.xml" Id="R26a35c90cad846f7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e51952a68934faf" /><Relationship Type="http://schemas.openxmlformats.org/officeDocument/2006/relationships/notesMaster" Target="/ppt/notesMasters/notesMaster1.xml" Id="R28e9629cbe45483c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ec642b0540794506" /><Relationship Type="http://schemas.openxmlformats.org/officeDocument/2006/relationships/notesMaster" Target="/ppt/notesMasters/notesMaster1.xml" Id="R6c734081f2b043b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ea99fda839824c1b" /><Relationship Type="http://schemas.openxmlformats.org/officeDocument/2006/relationships/notesMaster" Target="/ppt/notesMasters/notesMaster1.xml" Id="Rff3105dd90a34bf7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581917e076314708" /><Relationship Type="http://schemas.openxmlformats.org/officeDocument/2006/relationships/notesMaster" Target="/ppt/notesMasters/notesMaster1.xml" Id="R9f58f784d1474a42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f111416b4434d81" /><Relationship Type="http://schemas.openxmlformats.org/officeDocument/2006/relationships/notesMaster" Target="/ppt/notesMasters/notesMaster1.xml" Id="Rb7f50096864d4378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8c5b7da91454989" /><Relationship Type="http://schemas.openxmlformats.org/officeDocument/2006/relationships/notesMaster" Target="/ppt/notesMasters/notesMaster1.xml" Id="R03e417a7bef3469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a6fd78ea30c4f03" /><Relationship Type="http://schemas.openxmlformats.org/officeDocument/2006/relationships/notesMaster" Target="/ppt/notesMasters/notesMaster1.xml" Id="Raa9ed09ce9514b47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b57e3851ef6444f4" /><Relationship Type="http://schemas.openxmlformats.org/officeDocument/2006/relationships/notesMaster" Target="/ppt/notesMasters/notesMaster1.xml" Id="R561c1e2e7be24753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21ca7877e67d4f38" /><Relationship Type="http://schemas.openxmlformats.org/officeDocument/2006/relationships/notesMaster" Target="/ppt/notesMasters/notesMaster1.xml" Id="R7215a9b3c7a9491d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d0eb3351bd54523" /><Relationship Type="http://schemas.openxmlformats.org/officeDocument/2006/relationships/notesMaster" Target="/ppt/notesMasters/notesMaster1.xml" Id="Rc631da7e7f9f46f0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c88c253462e6477a" /><Relationship Type="http://schemas.openxmlformats.org/officeDocument/2006/relationships/notesMaster" Target="/ppt/notesMasters/notesMaster1.xml" Id="Raf81049705d443f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d412e92ff26a4ccd" /><Relationship Type="http://schemas.openxmlformats.org/officeDocument/2006/relationships/notesMaster" Target="/ppt/notesMasters/notesMaster1.xml" Id="R1ef5f84affcd4d60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808356587184c73" /><Relationship Type="http://schemas.openxmlformats.org/officeDocument/2006/relationships/notesMaster" Target="/ppt/notesMasters/notesMaster1.xml" Id="R829e8d76aa5244cd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5d4665c249c4c45" /><Relationship Type="http://schemas.openxmlformats.org/officeDocument/2006/relationships/notesMaster" Target="/ppt/notesMasters/notesMaster1.xml" Id="Rfc8acdc870184f91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51c016af4bc34917" /><Relationship Type="http://schemas.openxmlformats.org/officeDocument/2006/relationships/notesMaster" Target="/ppt/notesMasters/notesMaster1.xml" Id="Red21b996d44243ff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55c3d4cfcfc4aeb" /><Relationship Type="http://schemas.openxmlformats.org/officeDocument/2006/relationships/notesMaster" Target="/ppt/notesMasters/notesMaster1.xml" Id="Rd75745258202491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d5abfcdddc741cb" /><Relationship Type="http://schemas.openxmlformats.org/officeDocument/2006/relationships/notesMaster" Target="/ppt/notesMasters/notesMaster1.xml" Id="R816ae3caf4e54a3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55909060ea44682" /><Relationship Type="http://schemas.openxmlformats.org/officeDocument/2006/relationships/notesMaster" Target="/ppt/notesMasters/notesMaster1.xml" Id="R835d0955ae504547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f792d2b0945849fd" /><Relationship Type="http://schemas.openxmlformats.org/officeDocument/2006/relationships/notesMaster" Target="/ppt/notesMasters/notesMaster1.xml" Id="Re60c974bf3234afb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8abfa1ec91184999" /><Relationship Type="http://schemas.openxmlformats.org/officeDocument/2006/relationships/notesMaster" Target="/ppt/notesMasters/notesMaster1.xml" Id="R1ad2989926204130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68d3992b2bce46f5" /><Relationship Type="http://schemas.openxmlformats.org/officeDocument/2006/relationships/notesMaster" Target="/ppt/notesMasters/notesMaster1.xml" Id="R0db19315ec4e48e8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7d2b3ef2495b440e" /><Relationship Type="http://schemas.openxmlformats.org/officeDocument/2006/relationships/notesMaster" Target="/ppt/notesMasters/notesMaster1.xml" Id="R7a65f41062d0476b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970b57e702c14a76" /><Relationship Type="http://schemas.openxmlformats.org/officeDocument/2006/relationships/notesMaster" Target="/ppt/notesMasters/notesMaster1.xml" Id="R567a3f0e606d4d69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f9d85026bc074609" /><Relationship Type="http://schemas.openxmlformats.org/officeDocument/2006/relationships/notesMaster" Target="/ppt/notesMasters/notesMaster1.xml" Id="R7fc3ee2400294431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ed2e725092d4f7c" /><Relationship Type="http://schemas.openxmlformats.org/officeDocument/2006/relationships/notesMaster" Target="/ppt/notesMasters/notesMaster1.xml" Id="R35b339fb53724c5c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b4e2015812f14d09" /><Relationship Type="http://schemas.openxmlformats.org/officeDocument/2006/relationships/notesMaster" Target="/ppt/notesMasters/notesMaster1.xml" Id="R4253eeae71304992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2a458676fa13411f" /><Relationship Type="http://schemas.openxmlformats.org/officeDocument/2006/relationships/notesMaster" Target="/ppt/notesMasters/notesMaster1.xml" Id="R3fc7fccbb0b94bb7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63fe99c8dec3411c" /><Relationship Type="http://schemas.openxmlformats.org/officeDocument/2006/relationships/notesMaster" Target="/ppt/notesMasters/notesMaster1.xml" Id="R882d2309e5704840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cb7a78654dd46e8" /><Relationship Type="http://schemas.openxmlformats.org/officeDocument/2006/relationships/notesMaster" Target="/ppt/notesMasters/notesMaster1.xml" Id="R5f84caca08f44cd3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ca231efe23104101" /><Relationship Type="http://schemas.openxmlformats.org/officeDocument/2006/relationships/notesMaster" Target="/ppt/notesMasters/notesMaster1.xml" Id="R9b22bb5c8a274d27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97828f9e0f9d45eb" /><Relationship Type="http://schemas.openxmlformats.org/officeDocument/2006/relationships/notesMaster" Target="/ppt/notesMasters/notesMaster1.xml" Id="R75a0462e56764e37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d050eb5667b14407" /><Relationship Type="http://schemas.openxmlformats.org/officeDocument/2006/relationships/notesMaster" Target="/ppt/notesMasters/notesMaster1.xml" Id="R6b6c9368fb2f4f8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e43961dc6cbb4879" /><Relationship Type="http://schemas.openxmlformats.org/officeDocument/2006/relationships/notesMaster" Target="/ppt/notesMasters/notesMaster1.xml" Id="Rc594f4ac18f84e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STC-DEEP-001 — SLEEP–TIME COMPUTE</a:t>
            </a:r>
          </a:p>
          <a:p xmlns:a="http://schemas.openxmlformats.org/drawingml/2006/main">
            <a:r>
              <a:t>핵심 결론: 기억 lifecycle을 새로운 scaling·infra 축으로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WAKE: 요청 처리와 fast-state 포착</a:t>
            </a:r>
          </a:p>
          <a:p xmlns:a="http://schemas.openxmlformats.org/drawingml/2006/main">
            <a:r>
              <a:t>• SNAPSHOT: 검증 가능한 evidence generation</a:t>
            </a:r>
          </a:p>
          <a:p xmlns:a="http://schemas.openxmlformats.org/drawingml/2006/main">
            <a:r>
              <a:t>• SLEEP: 응답 밖 transformation</a:t>
            </a:r>
          </a:p>
          <a:p xmlns:a="http://schemas.openxmlformats.org/drawingml/2006/main">
            <a:r>
              <a:t>• MEMORY: 외부 truth와 reversible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STC-S01</a:t>
            </a:r>
          </a:p>
          <a:p xmlns:a="http://schemas.openxmlformats.org/drawingml/2006/main">
            <a:r>
              <a:t>STC-C005</a:t>
            </a:r>
          </a:p>
          <a:p xmlns:a="http://schemas.openxmlformats.org/drawingml/2006/main">
            <a:r>
              <a:t>STC-C040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STC-DEEP-002 — 핵심은 ‘자는 모델’이 아니라 기억의 이동 규칙이다</a:t>
            </a:r>
          </a:p>
          <a:p xmlns:a="http://schemas.openxmlformats.org/drawingml/2006/main">
            <a:r>
              <a:t>핵심 결론: 모든 이동은 provenance·capacity·rollback·deletion을 함께 가져야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언제: 배포 전 · wake/test-time · delayed sleep</a:t>
            </a:r>
          </a:p>
          <a:p xmlns:a="http://schemas.openxmlformats.org/drawingml/2006/main">
            <a:r>
              <a:t>• 무엇을: replay · distill · synthesize · merge · verify</a:t>
            </a:r>
          </a:p>
          <a:p xmlns:a="http://schemas.openxmlformats.org/drawingml/2006/main">
            <a:r>
              <a:t>• 어디로: text/vector/graph → state/adapter → shared weight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STC-S02</a:t>
            </a:r>
          </a:p>
          <a:p xmlns:a="http://schemas.openxmlformats.org/drawingml/2006/main">
            <a:r>
              <a:t>STC-C005</a:t>
            </a:r>
          </a:p>
          <a:p xmlns:a="http://schemas.openxmlformats.org/drawingml/2006/main">
            <a:r>
              <a:t>STC-C006</a:t>
            </a:r>
          </a:p>
          <a:p xmlns:a="http://schemas.openxmlformats.org/drawingml/2006/main">
            <a:r>
              <a:t>STC-C040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STC-DEEP-003 — Strict sleep은 세 조건을 동시에 만족한다</a:t>
            </a:r>
          </a:p>
          <a:p xmlns:a="http://schemas.openxmlformats.org/drawingml/2006/main">
            <a:r>
              <a:t>핵심 결론: Idle compute나 긴 reasoning만으로는 sleep이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CAUSAL BOUNDARY: 현재 사용자 응답의 critical path 밖</a:t>
            </a:r>
          </a:p>
          <a:p xmlns:a="http://schemas.openxmlformats.org/drawingml/2006/main">
            <a:r>
              <a:t>• LIFETIME INPUT: 누적 wake experience를 변환</a:t>
            </a:r>
          </a:p>
          <a:p xmlns:a="http://schemas.openxmlformats.org/drawingml/2006/main">
            <a:r>
              <a:t>• DURABLE REUSE: 검증한 state를 publish해 다음 wake가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STC-S02</a:t>
            </a:r>
          </a:p>
          <a:p xmlns:a="http://schemas.openxmlformats.org/drawingml/2006/main">
            <a:r>
              <a:t>STC-C005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STC-DEEP-004 — 앞으로의 학습은 세 phase와 하나의 memory fabric으로 나뉜다</a:t>
            </a:r>
          </a:p>
          <a:p xmlns:a="http://schemas.openxmlformats.org/drawingml/2006/main">
            <a:r>
              <a:t>핵심 결론: Fixed base와 session/domain mutable state를 version contract로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PRE: pretraining · post-training · 배포 전</a:t>
            </a:r>
          </a:p>
          <a:p xmlns:a="http://schemas.openxmlformats.org/drawingml/2006/main">
            <a:r>
              <a:t>• WAKE: infer · retrieve · capture · fast update</a:t>
            </a:r>
          </a:p>
          <a:p xmlns:a="http://schemas.openxmlformats.org/drawingml/2006/main">
            <a:r>
              <a:t>• SLEEP: replay · distill · compact · validate</a:t>
            </a:r>
          </a:p>
          <a:p xmlns:a="http://schemas.openxmlformats.org/drawingml/2006/main">
            <a:r>
              <a:t>• MEMORY: canonical evidence · index · state · adapter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STC-S03</a:t>
            </a:r>
          </a:p>
          <a:p xmlns:a="http://schemas.openxmlformats.org/drawingml/2006/main">
            <a:r>
              <a:t>bg:pretraining</a:t>
            </a:r>
          </a:p>
          <a:p xmlns:a="http://schemas.openxmlformats.org/drawingml/2006/main">
            <a:r>
              <a:t>bg:test-time-training</a:t>
            </a:r>
          </a:p>
          <a:p xmlns:a="http://schemas.openxmlformats.org/drawingml/2006/main">
            <a:r>
              <a:t>bg:sleep-state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STC-DEEP-005 — 세미나는 정의에서 device experiment까지 한 방향으로 간다</a:t>
            </a:r>
          </a:p>
          <a:p xmlns:a="http://schemas.openxmlformats.org/drawingml/2006/main">
            <a:r>
              <a:t>핵심 결론: 답보다 먼저 비교 기준과 반증 조건을 고정한다.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01: 정의와 training background</a:t>
            </a:r>
          </a:p>
          <a:p xmlns:a="http://schemas.openxmlformats.org/drawingml/2006/main">
            <a:r>
              <a:t>• 02: 근본 문제와 strongest alternatives</a:t>
            </a:r>
          </a:p>
          <a:p xmlns:a="http://schemas.openxmlformats.org/drawingml/2006/main">
            <a:r>
              <a:t>• 03: 계보와 direct evidence</a:t>
            </a:r>
          </a:p>
          <a:p xmlns:a="http://schemas.openxmlformats.org/drawingml/2006/main">
            <a:r>
              <a:t>• 04: sleep mechanism과 data</a:t>
            </a:r>
          </a:p>
          <a:p xmlns:a="http://schemas.openxmlformats.org/drawingml/2006/main">
            <a:r>
              <a:t>• 05: promisingness와 scaling</a:t>
            </a:r>
          </a:p>
          <a:p xmlns:a="http://schemas.openxmlformats.org/drawingml/2006/main">
            <a:r>
              <a:t>• 06: infra·device·falsifier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STC-S02</a:t>
            </a:r>
          </a:p>
          <a:p xmlns:a="http://schemas.openxmlformats.org/drawingml/2006/main">
            <a:r>
              <a:t>STC-S17</a:t>
            </a:r>
          </a:p>
          <a:p xmlns:a="http://schemas.openxmlformats.org/drawingml/2006/main">
            <a:r>
              <a:t>easy:E01</a:t>
            </a:r>
          </a:p>
          <a:p xmlns:a="http://schemas.openxmlformats.org/drawingml/2006/main">
            <a:r>
              <a:t>easy:E12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STC-DEEP-006 — 현재의 최선은 external-first, parameter-last hybrid다</a:t>
            </a:r>
          </a:p>
          <a:p xmlns:a="http://schemas.openxmlformats.org/drawingml/2006/main">
            <a:r>
              <a:t>핵심 결론: Reversibility와 provenance가 promotion gate의 첫 조건이다.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RAW / EVENT: 감사·삭제 가능한 system-of-record</a:t>
            </a:r>
          </a:p>
          <a:p xmlns:a="http://schemas.openxmlformats.org/drawingml/2006/main">
            <a:r>
              <a:t>• TEXT / GRAPH: 충돌·시간·관계를 합성</a:t>
            </a:r>
          </a:p>
          <a:p xmlns:a="http://schemas.openxmlformats.org/drawingml/2006/main">
            <a:r>
              <a:t>• VECTOR / KV: compact cache와 retrieval</a:t>
            </a:r>
          </a:p>
          <a:p xmlns:a="http://schemas.openxmlformats.org/drawingml/2006/main">
            <a:r>
              <a:t>• ADAPTER: 검증된 high-reuse subset만 promotion</a:t>
            </a:r>
          </a:p>
          <a:p xmlns:a="http://schemas.openxmlformats.org/drawingml/2006/main">
            <a:r>
              <a:t>• SHARED: broad weight rewrite는 마지막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STC-C046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STC-DEEP-007 — Production 신호는 external sleep이 강하고 parametric sleep은 연구 단계다</a:t>
            </a:r>
          </a:p>
          <a:p xmlns:a="http://schemas.openxmlformats.org/drawingml/2006/main">
            <a:r>
              <a:t>핵심 결론: Lifecycle adoption과 per-user foundation-weight sleep을 분리해 판단한다.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STORAGE: 외부 episode·graph는 제품 신호가 강함</a:t>
            </a:r>
          </a:p>
          <a:p xmlns:a="http://schemas.openxmlformats.org/drawingml/2006/main">
            <a:r>
              <a:t>• RETENTION: 작은 continual-learning 실험은 직접 증거</a:t>
            </a:r>
          </a:p>
          <a:p xmlns:a="http://schemas.openxmlformats.org/drawingml/2006/main">
            <a:r>
              <a:t>• ADDRESSABILITY: weight에 남아도 access 실패 가능</a:t>
            </a:r>
          </a:p>
          <a:p xmlns:a="http://schemas.openxmlformats.org/drawingml/2006/main">
            <a:r>
              <a:t>• PLASTICITY: 새 학습과 보존은 충돌</a:t>
            </a:r>
          </a:p>
          <a:p xmlns:a="http://schemas.openxmlformats.org/drawingml/2006/main">
            <a:r>
              <a:t>• GOVERNANCE: rollback·delete·security는 미성숙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STC-C002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STC-C039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STC-DEEP-008 — 오늘의 단위는 ‘검증 가능한 기억 lifecycle’이다</a:t>
            </a:r>
          </a:p>
          <a:p xmlns:a="http://schemas.openxmlformats.org/drawingml/2006/main">
            <a:r>
              <a:t>핵심 결론: External vs parametric은 진영이 아니라 destination routing decision이다.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CAPTURE: 원 evidence와 consent를 남긴다</a:t>
            </a:r>
          </a:p>
          <a:p xmlns:a="http://schemas.openxmlformats.org/drawingml/2006/main">
            <a:r>
              <a:t>• TRANSFORM: data·operator·version을 고정한다</a:t>
            </a:r>
          </a:p>
          <a:p xmlns:a="http://schemas.openxmlformats.org/drawingml/2006/main">
            <a:r>
              <a:t>• VERIFY: utility·retention·harm을 함께 잰다</a:t>
            </a:r>
          </a:p>
          <a:p xmlns:a="http://schemas.openxmlformats.org/drawingml/2006/main">
            <a:r>
              <a:t>• REUSE / UNDO: publish·observe·rollback·delete한다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STC-F001</a:t>
            </a:r>
          </a:p>
          <a:p xmlns:a="http://schemas.openxmlformats.org/drawingml/2006/main">
            <a:r>
              <a:t>STC-F015</a:t>
            </a:r>
          </a:p>
          <a:p xmlns:a="http://schemas.openxmlformats.org/drawingml/2006/main">
            <a:r>
              <a:t>STC-C041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STC-DEEP-009 — Training은 data를 미래 행동으로 변환하는 operator pipeline이다</a:t>
            </a:r>
          </a:p>
          <a:p xmlns:a="http://schemas.openxmlformats.org/drawingml/2006/main">
            <a:r>
              <a:t>핵심 결론: Sleep은 이 pipeline을 response path 뒤로 옮긴 training lifecycle이다.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ADMIT: 어떤 experience를 학습 대상으로 넣을지</a:t>
            </a:r>
          </a:p>
          <a:p xmlns:a="http://schemas.openxmlformats.org/drawingml/2006/main">
            <a:r>
              <a:t>• BUILD: batch·replay·synthetic data를 구성</a:t>
            </a:r>
          </a:p>
          <a:p xmlns:a="http://schemas.openxmlformats.org/drawingml/2006/main">
            <a:r>
              <a:t>• UPDATE: loss·gradient·optimizer로 state를 변경</a:t>
            </a:r>
          </a:p>
          <a:p xmlns:a="http://schemas.openxmlformats.org/drawingml/2006/main">
            <a:r>
              <a:t>• VERIFY: held-out utility와 old capability 확인</a:t>
            </a:r>
          </a:p>
          <a:p xmlns:a="http://schemas.openxmlformats.org/drawingml/2006/main">
            <a:r>
              <a:t>• PUBLISH: serving artifact를 versioned 배포</a:t>
            </a:r>
          </a:p>
          <a:p xmlns:a="http://schemas.openxmlformats.org/drawingml/2006/main">
            <a:r>
              <a:t>• UNDO: regression·delete 시 rollback/rebuild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bg:data</a:t>
            </a:r>
          </a:p>
          <a:p xmlns:a="http://schemas.openxmlformats.org/drawingml/2006/main">
            <a:r>
              <a:t>bg:objective</a:t>
            </a:r>
          </a:p>
          <a:p xmlns:a="http://schemas.openxmlformats.org/drawingml/2006/main">
            <a:r>
              <a:t>bg:optimizer</a:t>
            </a:r>
          </a:p>
          <a:p xmlns:a="http://schemas.openxmlformats.org/drawingml/2006/main">
            <a:r>
              <a:t>STC-S03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STC-DEEP-010 — 한 번의 update는 forward→loss→backward→optimizer 순서다</a:t>
            </a:r>
          </a:p>
          <a:p xmlns:a="http://schemas.openxmlformats.org/drawingml/2006/main">
            <a:r>
              <a:t>핵심 결론: Inference-only보다 activation·gradient·optimizer-state traffic이 추가된다.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FORWARD: 입력과 현재 parameter로 prediction</a:t>
            </a:r>
          </a:p>
          <a:p xmlns:a="http://schemas.openxmlformats.org/drawingml/2006/main">
            <a:r>
              <a:t>• LOSS: target과 prediction의 차이를 수치화</a:t>
            </a:r>
          </a:p>
          <a:p xmlns:a="http://schemas.openxmlformats.org/drawingml/2006/main">
            <a:r>
              <a:t>• BACKWARD: 각 parameter가 loss에 미친 기울기</a:t>
            </a:r>
          </a:p>
          <a:p xmlns:a="http://schemas.openxmlformats.org/drawingml/2006/main">
            <a:r>
              <a:t>• UPDATE: optimizer state와 learning rate로 새 parameter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bg:forward-pass</a:t>
            </a:r>
          </a:p>
          <a:p xmlns:a="http://schemas.openxmlformats.org/drawingml/2006/main">
            <a:r>
              <a:t>bg:loss</a:t>
            </a:r>
          </a:p>
          <a:p xmlns:a="http://schemas.openxmlformats.org/drawingml/2006/main">
            <a:r>
              <a:t>bg:backpropagation</a:t>
            </a:r>
          </a:p>
          <a:p xmlns:a="http://schemas.openxmlformats.org/drawingml/2006/main">
            <a:r>
              <a:t>bg:optimizer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STC-DEEP-011 — Objective·metric·evaluator는 같은 것이 아니다</a:t>
            </a:r>
          </a:p>
          <a:p xmlns:a="http://schemas.openxmlformats.org/drawingml/2006/main">
            <a:r>
              <a:t>핵심 결론: Evaluator가 틀리면 sleep은 오류를 durable state로 승격한다.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OBJECTIVE: 학습 중 직접 최적화하는 수치</a:t>
            </a:r>
          </a:p>
          <a:p xmlns:a="http://schemas.openxmlformats.org/drawingml/2006/main">
            <a:r>
              <a:t>• METRIC: held-out에서 보고하는 성공·비용</a:t>
            </a:r>
          </a:p>
          <a:p xmlns:a="http://schemas.openxmlformats.org/drawingml/2006/main">
            <a:r>
              <a:t>• EVALUATOR: memory·dream·answer의 품질 판정자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bg:objective</a:t>
            </a:r>
          </a:p>
          <a:p xmlns:a="http://schemas.openxmlformats.org/drawingml/2006/main">
            <a:r>
              <a:t>bg:validation-set</a:t>
            </a:r>
          </a:p>
          <a:p xmlns:a="http://schemas.openxmlformats.org/drawingml/2006/main">
            <a:r>
              <a:t>bg:reward-model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STC-DEEP-012 — Sleep data는 real·replay·synthetic·feedback을 함께 다룬다</a:t>
            </a:r>
          </a:p>
          <a:p xmlns:a="http://schemas.openxmlformats.org/drawingml/2006/main">
            <a:r>
              <a:t>핵심 결론: Raw sample count보다 valid·diverse·traceable evidence가 중요하다.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REAL: 원 episode·문서·tool outcome</a:t>
            </a:r>
          </a:p>
          <a:p xmlns:a="http://schemas.openxmlformats.org/drawingml/2006/main">
            <a:r>
              <a:t>• REPLAY: old capability 보호 example</a:t>
            </a:r>
          </a:p>
          <a:p xmlns:a="http://schemas.openxmlformats.org/drawingml/2006/main">
            <a:r>
              <a:t>• SYNTHETIC: dream·counterfactual·hard negative</a:t>
            </a:r>
          </a:p>
          <a:p xmlns:a="http://schemas.openxmlformats.org/drawingml/2006/main">
            <a:r>
              <a:t>• FEEDBACK: preference·correction·reward</a:t>
            </a:r>
          </a:p>
          <a:p xmlns:a="http://schemas.openxmlformats.org/drawingml/2006/main">
            <a:r>
              <a:t>• PROVENANCE: source·transform·policy 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bg:data-curation</a:t>
            </a:r>
          </a:p>
          <a:p xmlns:a="http://schemas.openxmlformats.org/drawingml/2006/main">
            <a:r>
              <a:t>bg:replay-buffer</a:t>
            </a:r>
          </a:p>
          <a:p xmlns:a="http://schemas.openxmlformats.org/drawingml/2006/main">
            <a:r>
              <a:t>bg:synthetic-data</a:t>
            </a:r>
          </a:p>
          <a:p xmlns:a="http://schemas.openxmlformats.org/drawingml/2006/main">
            <a:r>
              <a:t>bg:provenance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STC-DEEP-013 — Fine-tuning은 full weight부터 external transform까지 연속체다</a:t>
            </a:r>
          </a:p>
          <a:p xmlns:a="http://schemas.openxmlformats.org/drawingml/2006/main">
            <a:r>
              <a:t>핵심 결론: Update cost와 governance는 destination에 따라 달라진다.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FULL: 모든 weight와 optimizer state를 갱신</a:t>
            </a:r>
          </a:p>
          <a:p xmlns:a="http://schemas.openxmlformats.org/drawingml/2006/main">
            <a:r>
              <a:t>• PEFT: 작은 trainable subset만 변경</a:t>
            </a:r>
          </a:p>
          <a:p xmlns:a="http://schemas.openxmlformats.org/drawingml/2006/main">
            <a:r>
              <a:t>• ADAPTER: base와 분리된 serving delta</a:t>
            </a:r>
          </a:p>
          <a:p xmlns:a="http://schemas.openxmlformats.org/drawingml/2006/main">
            <a:r>
              <a:t>• EXTERNAL: weight 없이 summary·graph·index 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bg:fine-tuning</a:t>
            </a:r>
          </a:p>
          <a:p xmlns:a="http://schemas.openxmlformats.org/drawingml/2006/main">
            <a:r>
              <a:t>bg:peft</a:t>
            </a:r>
          </a:p>
          <a:p xmlns:a="http://schemas.openxmlformats.org/drawingml/2006/main">
            <a:r>
              <a:t>bg:lora</a:t>
            </a:r>
          </a:p>
          <a:p xmlns:a="http://schemas.openxmlformats.org/drawingml/2006/main">
            <a:r>
              <a:t>bg:external-memory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STC-DEEP-014 — LoRA는 update를 작게 만들지만 training을 없애지는 않는다</a:t>
            </a:r>
          </a:p>
          <a:p xmlns:a="http://schemas.openxmlformats.org/drawingml/2006/main">
            <a:r>
              <a:t>핵심 결론: 작은 delta는 rollback 단위를 만들지만 sequential interference를 자동 해결하지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BASE: 공유 foundation weight는 frozen</a:t>
            </a:r>
          </a:p>
          <a:p xmlns:a="http://schemas.openxmlformats.org/drawingml/2006/main">
            <a:r>
              <a:t>• LOW-RANK: ΔW=BA로 trainable parameter 축소</a:t>
            </a:r>
          </a:p>
          <a:p xmlns:a="http://schemas.openxmlformats.org/drawingml/2006/main">
            <a:r>
              <a:t>• STATE: activation·gradient·optimizer는 여전히 필요</a:t>
            </a:r>
          </a:p>
          <a:p xmlns:a="http://schemas.openxmlformats.org/drawingml/2006/main">
            <a:r>
              <a:t>• SERVE: adapter routing·cache·version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bg:lora</a:t>
            </a:r>
          </a:p>
          <a:p xmlns:a="http://schemas.openxmlformats.org/drawingml/2006/main">
            <a:r>
              <a:t>bg:adapter</a:t>
            </a:r>
          </a:p>
          <a:p xmlns:a="http://schemas.openxmlformats.org/drawingml/2006/main">
            <a:r>
              <a:t>STC-C027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STC-DEEP-015 — Distillation은 behavior를 옮기지만 무엇을 버릴지도 결정한다</a:t>
            </a:r>
          </a:p>
          <a:p xmlns:a="http://schemas.openxmlformats.org/drawingml/2006/main">
            <a:r>
              <a:t>핵심 결론: Compression fidelity는 downstream access와 counterexample로 검증한다.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TEACHER: 긴 context·fast memory·old model의 output</a:t>
            </a:r>
          </a:p>
          <a:p xmlns:a="http://schemas.openxmlformats.org/drawingml/2006/main">
            <a:r>
              <a:t>• STUDENT: adapter·slow memory·compact state</a:t>
            </a:r>
          </a:p>
          <a:p xmlns:a="http://schemas.openxmlformats.org/drawingml/2006/main">
            <a:r>
              <a:t>• SIGNAL: logit/behavior divergence를 최소화</a:t>
            </a:r>
          </a:p>
          <a:p xmlns:a="http://schemas.openxmlformats.org/drawingml/2006/main">
            <a:r>
              <a:t>• RISK: teacher error와 rare-tail loss도 압축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bg:distillation</a:t>
            </a:r>
          </a:p>
          <a:p xmlns:a="http://schemas.openxmlformats.org/drawingml/2006/main">
            <a:r>
              <a:t>bg:teacher-model</a:t>
            </a:r>
          </a:p>
          <a:p xmlns:a="http://schemas.openxmlformats.org/drawingml/2006/main">
            <a:r>
              <a:t>bg:student-model</a:t>
            </a:r>
          </a:p>
          <a:p xmlns:a="http://schemas.openxmlformats.org/drawingml/2006/main">
            <a:r>
              <a:t>bg:kl-divergence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STC-DEEP-016 — Replay와 augmentation은 retention data plane을 만든다</a:t>
            </a:r>
          </a:p>
          <a:p xmlns:a="http://schemas.openxmlformats.org/drawingml/2006/main">
            <a:r>
              <a:t>핵심 결론: Generated replay는 공짜 data가 아니라 bias가 있는 derived evidence다.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RAW REPLAY: fidelity는 높지만 storage·privacy가 큼</a:t>
            </a:r>
          </a:p>
          <a:p xmlns:a="http://schemas.openxmlformats.org/drawingml/2006/main">
            <a:r>
              <a:t>• CORESET: 대표 example만 남겨 byte 절감</a:t>
            </a:r>
          </a:p>
          <a:p xmlns:a="http://schemas.openxmlformats.org/drawingml/2006/main">
            <a:r>
              <a:t>• GENERATED: generator가 old distribution을 근사</a:t>
            </a:r>
          </a:p>
          <a:p xmlns:a="http://schemas.openxmlformats.org/drawingml/2006/main">
            <a:r>
              <a:t>• AUGMENT: counterfactual·rare case를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STC-C019</a:t>
            </a:r>
          </a:p>
          <a:p xmlns:a="http://schemas.openxmlformats.org/drawingml/2006/main">
            <a:r>
              <a:t>bg:replay-buffer</a:t>
            </a:r>
          </a:p>
          <a:p xmlns:a="http://schemas.openxmlformats.org/drawingml/2006/main">
            <a:r>
              <a:t>bg:generated-replay</a:t>
            </a:r>
          </a:p>
          <a:p xmlns:a="http://schemas.openxmlformats.org/drawingml/2006/main">
            <a:r>
              <a:t>bg:data-augmentation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STC-DEEP-017 — RL-style sleep은 rollout→reward→update의 delayed loop다</a:t>
            </a:r>
          </a:p>
          <a:p xmlns:a="http://schemas.openxmlformats.org/drawingml/2006/main">
            <a:r>
              <a:t>핵심 결론: Future utility가 늦게 보이므로 credit assignment가 핵심 병목이다.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ROLL OUT: dream이나 future action 후보 생성</a:t>
            </a:r>
          </a:p>
          <a:p xmlns:a="http://schemas.openxmlformats.org/drawingml/2006/main">
            <a:r>
              <a:t>• SCORE: task utility·semantic·safety reward</a:t>
            </a:r>
          </a:p>
          <a:p xmlns:a="http://schemas.openxmlformats.org/drawingml/2006/main">
            <a:r>
              <a:t>• ASSIGN: 어떤 choice가 개선을 만들었는지</a:t>
            </a:r>
          </a:p>
          <a:p xmlns:a="http://schemas.openxmlformats.org/drawingml/2006/main">
            <a:r>
              <a:t>• UPDATE: policy 또는 generator를 최적화</a:t>
            </a:r>
          </a:p>
          <a:p xmlns:a="http://schemas.openxmlformats.org/drawingml/2006/main">
            <a:r>
              <a:t>• VERIFY: reward hacking과 old task regression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bg:policy-gradient</a:t>
            </a:r>
          </a:p>
          <a:p xmlns:a="http://schemas.openxmlformats.org/drawingml/2006/main">
            <a:r>
              <a:t>bg:reward-model</a:t>
            </a:r>
          </a:p>
          <a:p xmlns:a="http://schemas.openxmlformats.org/drawingml/2006/main">
            <a:r>
              <a:t>bg:trajectory</a:t>
            </a:r>
          </a:p>
          <a:p xmlns:a="http://schemas.openxmlformats.org/drawingml/2006/main">
            <a:r>
              <a:t>bg:credit-assignment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STC-DEEP-018 — Continual learning은 retention과 plasticity를 동시에 요구한다</a:t>
            </a:r>
          </a:p>
          <a:p xmlns:a="http://schemas.openxmlformats.org/drawingml/2006/main">
            <a:r>
              <a:t>핵심 결론: 새 점수만 오르고 old access가 사라지면 continual learning이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RETENTION: old trace를 recall threshold 위에 유지</a:t>
            </a:r>
          </a:p>
          <a:p xmlns:a="http://schemas.openxmlformats.org/drawingml/2006/main">
            <a:r>
              <a:t>• PLASTICITY: fresh control만큼 새 task를 학습</a:t>
            </a:r>
          </a:p>
          <a:p xmlns:a="http://schemas.openxmlformats.org/drawingml/2006/main">
            <a:r>
              <a:t>• ACCESS: encoded information을 실제 answer에 적용</a:t>
            </a:r>
          </a:p>
          <a:p xmlns:a="http://schemas.openxmlformats.org/drawingml/2006/main">
            <a:r>
              <a:t>• CAPACITY: finite state에서 interference를 관리</a:t>
            </a:r>
          </a:p>
          <a:p xmlns:a="http://schemas.openxmlformats.org/drawingml/2006/main">
            <a:r>
              <a:t>• GOVERNANCE: source·delete·rollback을 보존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bg:continual-learning</a:t>
            </a:r>
          </a:p>
          <a:p xmlns:a="http://schemas.openxmlformats.org/drawingml/2006/main">
            <a:r>
              <a:t>bg:catastrophic-forgetting</a:t>
            </a:r>
          </a:p>
          <a:p xmlns:a="http://schemas.openxmlformats.org/drawingml/2006/main">
            <a:r>
              <a:t>STC-C020</a:t>
            </a:r>
          </a:p>
          <a:p xmlns:a="http://schemas.openxmlformats.org/drawingml/2006/main">
            <a:r>
              <a:t>STC-C021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STC-DEEP-019 — Capacity는 parameter 수보다 utility가 꺾이는 경계다</a:t>
            </a:r>
          </a:p>
          <a:p xmlns:a="http://schemas.openxmlformats.org/drawingml/2006/main">
            <a:r>
              <a:t>핵심 결론: Static memorization capacity는 lifelong safe capacity가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LOAD: association 수×state budget</a:t>
            </a:r>
          </a:p>
          <a:p xmlns:a="http://schemas.openxmlformats.org/drawingml/2006/main">
            <a:r>
              <a:t>• INTERFERENCE: 새 update가 old access를 가림</a:t>
            </a:r>
          </a:p>
          <a:p xmlns:a="http://schemas.openxmlformats.org/drawingml/2006/main">
            <a:r>
              <a:t>• COMPACTION: rate–distortion으로 detail 선택</a:t>
            </a:r>
          </a:p>
          <a:p xmlns:a="http://schemas.openxmlformats.org/drawingml/2006/main">
            <a:r>
              <a:t>• KNEE: marginal utility가 급격히 감소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STC-C032</a:t>
            </a:r>
          </a:p>
          <a:p xmlns:a="http://schemas.openxmlformats.org/drawingml/2006/main">
            <a:r>
              <a:t>STC-C033</a:t>
            </a:r>
          </a:p>
          <a:p xmlns:a="http://schemas.openxmlformats.org/drawingml/2006/main">
            <a:r>
              <a:t>STC-C034</a:t>
            </a:r>
          </a:p>
          <a:p xmlns:a="http://schemas.openxmlformats.org/drawingml/2006/main">
            <a:r>
              <a:t>STC-C045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STC-DEEP-020 — Background paper는 mechanism을 읽기 위한 공통 언어다</a:t>
            </a:r>
          </a:p>
          <a:p xmlns:a="http://schemas.openxmlformats.org/drawingml/2006/main">
            <a:r>
              <a:t>핵심 결론: 모든 training 용어는 PDF named destination으로 연결되어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B1: data·forward·loss·gradient·optimizer</a:t>
            </a:r>
          </a:p>
          <a:p xmlns:a="http://schemas.openxmlformats.org/drawingml/2006/main">
            <a:r>
              <a:t>• B2: fine-tuning·PEFT·LoRA·distillation</a:t>
            </a:r>
          </a:p>
          <a:p xmlns:a="http://schemas.openxmlformats.org/drawingml/2006/main">
            <a:r>
              <a:t>• B3: replay·augmentation·continual learning</a:t>
            </a:r>
          </a:p>
          <a:p xmlns:a="http://schemas.openxmlformats.org/drawingml/2006/main">
            <a:r>
              <a:t>• B4: RL·reward·credit assignment</a:t>
            </a:r>
          </a:p>
          <a:p xmlns:a="http://schemas.openxmlformats.org/drawingml/2006/main">
            <a:r>
              <a:t>• B5: systems·version·rollback·observability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bg:forward-pass</a:t>
            </a:r>
          </a:p>
          <a:p xmlns:a="http://schemas.openxmlformats.org/drawingml/2006/main">
            <a:r>
              <a:t>bg:lora</a:t>
            </a:r>
          </a:p>
          <a:p xmlns:a="http://schemas.openxmlformats.org/drawingml/2006/main">
            <a:r>
              <a:t>bg:continual-learning</a:t>
            </a:r>
          </a:p>
          <a:p xmlns:a="http://schemas.openxmlformats.org/drawingml/2006/main">
            <a:r>
              <a:t>bg:rlhf</a:t>
            </a:r>
          </a:p>
          <a:p xmlns:a="http://schemas.openxmlformats.org/drawingml/2006/main">
            <a:r>
              <a:t>bg:versioning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STC-DEEP-021 — Long context는 작업대이지 장기기억 lifecycle이 아니다</a:t>
            </a:r>
          </a:p>
          <a:p xmlns:a="http://schemas.openxmlformats.org/drawingml/2006/main">
            <a:r>
              <a:t>핵심 결론: Context가 커져도 admission·conflict·staleness·deletion은 남는다.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READ: 선택한 evidence를 한 request에서 깊게 읽음</a:t>
            </a:r>
          </a:p>
          <a:p xmlns:a="http://schemas.openxmlformats.org/drawingml/2006/main">
            <a:r>
              <a:t>• WRITE: durable update·merge·delete는 별도 문제</a:t>
            </a:r>
          </a:p>
          <a:p xmlns:a="http://schemas.openxmlformats.org/drawingml/2006/main">
            <a:r>
              <a:t>• COST: 매 query token·attention·retrieval 비용</a:t>
            </a:r>
          </a:p>
          <a:p xmlns:a="http://schemas.openxmlformats.org/drawingml/2006/main">
            <a:r>
              <a:t>• GOVERN: source-of-truth와 validity를 유지해야 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STC-S04</a:t>
            </a:r>
          </a:p>
          <a:p xmlns:a="http://schemas.openxmlformats.org/drawingml/2006/main">
            <a:r>
              <a:t>STC-C026</a:t>
            </a:r>
          </a:p>
          <a:p xmlns:a="http://schemas.openxmlformats.org/drawingml/2006/main">
            <a:r>
              <a:t>bg:external-memory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STC-DEEP-022 — Canonical truth와 compiled memory를 분리해야 한다</a:t>
            </a:r>
          </a:p>
          <a:p xmlns:a="http://schemas.openxmlformats.org/drawingml/2006/main">
            <a:r>
              <a:t>핵심 결론: Derived state는 source evidence에서 재생성 가능해야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EVENT: 원 episode와 consent가 authoritative</a:t>
            </a:r>
          </a:p>
          <a:p xmlns:a="http://schemas.openxmlformats.org/drawingml/2006/main">
            <a:r>
              <a:t>• GRAPH: time/version conflict를 구조화</a:t>
            </a:r>
          </a:p>
          <a:p xmlns:a="http://schemas.openxmlformats.org/drawingml/2006/main">
            <a:r>
              <a:t>• CACHE: retrieval·state를 재사용</a:t>
            </a:r>
          </a:p>
          <a:p xmlns:a="http://schemas.openxmlformats.org/drawingml/2006/main">
            <a:r>
              <a:t>• ADAPTER: 고빈도 stable pattern만 compile</a:t>
            </a:r>
          </a:p>
          <a:p xmlns:a="http://schemas.openxmlformats.org/drawingml/2006/main">
            <a:r>
              <a:t>• WEIGHT: shared model은 가장 느린 promotion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STC-C046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STC-DEEP-023 — Full attention의 reuse 비용이 길어질수록 state 압축이 매력적이다</a:t>
            </a:r>
          </a:p>
          <a:p xmlns:a="http://schemas.openxmlformats.org/drawingml/2006/main">
            <a:r>
              <a:t>핵심 결론: 단일 N보다 reuse×length×state-quality의 crossover atlas가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ATTENTION: prefix load와 KV가 sequence에 따라 증가</a:t>
            </a:r>
          </a:p>
          <a:p xmlns:a="http://schemas.openxmlformats.org/drawingml/2006/main">
            <a:r>
              <a:t>• STATE: fixed/learned state는 prefix를 압축</a:t>
            </a:r>
          </a:p>
          <a:p xmlns:a="http://schemas.openxmlformats.org/drawingml/2006/main">
            <a:r>
              <a:t>• CROSSOVER: reuse와 sequence 길이가 break-even 결정</a:t>
            </a:r>
          </a:p>
          <a:p xmlns:a="http://schemas.openxmlformats.org/drawingml/2006/main">
            <a:r>
              <a:t>• CAVEAT: 압축 fidelity와 cache hit가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STC-C025</a:t>
            </a:r>
          </a:p>
          <a:p xmlns:a="http://schemas.openxmlformats.org/drawingml/2006/main">
            <a:r>
              <a:t>STC-C055</a:t>
            </a:r>
          </a:p>
          <a:p xmlns:a="http://schemas.openxmlformats.org/drawingml/2006/main">
            <a:r>
              <a:t>background:attention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STC-DEEP-024 — Recurrent model도 state cache가 없으면 serving 이득을 잃는다</a:t>
            </a:r>
          </a:p>
          <a:p xmlns:a="http://schemas.openxmlformats.org/drawingml/2006/main">
            <a:r>
              <a:t>핵심 결론: Architecture의 O(L) 주장은 실제 trace hit ratio와 함께 검증해야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KEY: model/adapter version + exact prefix hash</a:t>
            </a:r>
          </a:p>
          <a:p xmlns:a="http://schemas.openxmlformats.org/drawingml/2006/main">
            <a:r>
              <a:t>• MATERIALIZE: prefix에서 recurrent/neural state 생성</a:t>
            </a:r>
          </a:p>
          <a:p xmlns:a="http://schemas.openxmlformats.org/drawingml/2006/main">
            <a:r>
              <a:t>• REUSE: 동일 prefix request가 state를 공유</a:t>
            </a:r>
          </a:p>
          <a:p xmlns:a="http://schemas.openxmlformats.org/drawingml/2006/main">
            <a:r>
              <a:t>• INVALIDATE: weight·schema·memory update가 cache를 무효화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STC-C025</a:t>
            </a:r>
          </a:p>
          <a:p xmlns:a="http://schemas.openxmlformats.org/drawingml/2006/main">
            <a:r>
              <a:t>STC-C055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STC-DEEP-025 — Stale·conflicting fact는 update가 아니라 transaction 문제다</a:t>
            </a:r>
          </a:p>
          <a:p xmlns:a="http://schemas.openxmlformats.org/drawingml/2006/main">
            <a:r>
              <a:t>핵심 결론: In-place overwrite보다 immutable generation과 lineage가 안전하다.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SNAP: valid-time을 포함한 evidence snapshot</a:t>
            </a:r>
          </a:p>
          <a:p xmlns:a="http://schemas.openxmlformats.org/drawingml/2006/main">
            <a:r>
              <a:t>• CAND: merge·supersede 후보 generation</a:t>
            </a:r>
          </a:p>
          <a:p xmlns:a="http://schemas.openxmlformats.org/drawingml/2006/main">
            <a:r>
              <a:t>• VERIFY: temporal conflict와 provenance 검사</a:t>
            </a:r>
          </a:p>
          <a:p xmlns:a="http://schemas.openxmlformats.org/drawingml/2006/main">
            <a:r>
              <a:t>• PUBLISH: atomic generation으로 active view 전환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STC-C010</a:t>
            </a:r>
          </a:p>
          <a:p xmlns:a="http://schemas.openxmlformats.org/drawingml/2006/main">
            <a:r>
              <a:t>STC-C046</a:t>
            </a:r>
          </a:p>
          <a:p xmlns:a="http://schemas.openxmlformats.org/drawingml/2006/main">
            <a:r>
              <a:t>bg:provenance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STC-DEEP-026 — Memory는 늘릴수록 좋다가 어느 순간 noise가 앞선다</a:t>
            </a:r>
          </a:p>
          <a:p xmlns:a="http://schemas.openxmlformats.org/drawingml/2006/main">
            <a:r>
              <a:t>핵심 결론: Device byte와 usable memory capacity를 같은 값으로 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EARLY: 새 evidence가 answer utility를 빠르게 높임</a:t>
            </a:r>
          </a:p>
          <a:p xmlns:a="http://schemas.openxmlformats.org/drawingml/2006/main">
            <a:r>
              <a:t>• MIDDLE: 중복·retrieval noise가 marginal gain을 낮춤</a:t>
            </a:r>
          </a:p>
          <a:p xmlns:a="http://schemas.openxmlformats.org/drawingml/2006/main">
            <a:r>
              <a:t>• KNEE: interference·compaction·delete cost가 급증</a:t>
            </a:r>
          </a:p>
          <a:p xmlns:a="http://schemas.openxmlformats.org/drawingml/2006/main">
            <a:r>
              <a:t>• AFTER: admission·eviction·tiering이 capacity보다 중요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STC-C045</a:t>
            </a:r>
          </a:p>
          <a:p xmlns:a="http://schemas.openxmlformats.org/drawingml/2006/main">
            <a:r>
              <a:t>STC-F009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STC-DEEP-027 — Poison·privacy·delete는 memory medium마다 다른 잔여 위험을 남긴다</a:t>
            </a:r>
          </a:p>
          <a:p xmlns:a="http://schemas.openxmlformats.org/drawingml/2006/main">
            <a:r>
              <a:t>핵심 결론: 삭제가 source DB에서 끝나면 sleep lifecycle은 불완전하다.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POISON: 오염된 record가 derived state로 확산</a:t>
            </a:r>
          </a:p>
          <a:p xmlns:a="http://schemas.openxmlformats.org/drawingml/2006/main">
            <a:r>
              <a:t>• PRIVACY: raw replay와 user delta가 sensitive data를 보존</a:t>
            </a:r>
          </a:p>
          <a:p xmlns:a="http://schemas.openxmlformats.org/drawingml/2006/main">
            <a:r>
              <a:t>• DELETE: summary·graph·cache·adapter까지 전파</a:t>
            </a:r>
          </a:p>
          <a:p xmlns:a="http://schemas.openxmlformats.org/drawingml/2006/main">
            <a:r>
              <a:t>• RECOVER: lineage-driven invalidate와 rebuild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STC-C037</a:t>
            </a:r>
          </a:p>
          <a:p xmlns:a="http://schemas.openxmlformats.org/drawingml/2006/main">
            <a:r>
              <a:t>STC-C054</a:t>
            </a:r>
          </a:p>
          <a:p xmlns:a="http://schemas.openxmlformats.org/drawingml/2006/main">
            <a:r>
              <a:t>bg:unlearning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STC-DEEP-028 — Research question은 여섯 개의 answerable 축으로 분해된다</a:t>
            </a:r>
          </a:p>
          <a:p xmlns:a="http://schemas.openxmlformats.org/drawingml/2006/main">
            <a:r>
              <a:t>핵심 결론: 각 질문은 strongest baseline과 falsifier를 가져야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Q1: long-context comprehension은 durable memory를 대체하는가</a:t>
            </a:r>
          </a:p>
          <a:p xmlns:a="http://schemas.openxmlformats.org/drawingml/2006/main">
            <a:r>
              <a:t>• Q2: recurrent state를 prefix처럼 재사용할 수 있는가</a:t>
            </a:r>
          </a:p>
          <a:p xmlns:a="http://schemas.openxmlformats.org/drawingml/2006/main">
            <a:r>
              <a:t>• Q3: prefill·decode·training의 효율 frontier는 무엇인가</a:t>
            </a:r>
          </a:p>
          <a:p xmlns:a="http://schemas.openxmlformats.org/drawingml/2006/main">
            <a:r>
              <a:t>• Q4: continual retention과 governance를 같이 달성하는가</a:t>
            </a:r>
          </a:p>
          <a:p xmlns:a="http://schemas.openxmlformats.org/drawingml/2006/main">
            <a:r>
              <a:t>• Q5: finite capacity에서 admission·compaction은 무엇인가</a:t>
            </a:r>
          </a:p>
          <a:p xmlns:a="http://schemas.openxmlformats.org/drawingml/2006/main">
            <a:r>
              <a:t>• Q6: sleep이 새로운 scaling·infra 축이 되는가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STC-S04</a:t>
            </a:r>
          </a:p>
          <a:p xmlns:a="http://schemas.openxmlformats.org/drawingml/2006/main">
            <a:r>
              <a:t>STC-S15</a:t>
            </a:r>
          </a:p>
          <a:p xmlns:a="http://schemas.openxmlformats.org/drawingml/2006/main">
            <a:r>
              <a:t>STC-F015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STC-DEEP-029 — ‘Sleep’이라는 이름보다 offline consolidation 계보가 먼저였다</a:t>
            </a:r>
          </a:p>
          <a:p xmlns:a="http://schemas.openxmlformats.org/drawingml/2006/main">
            <a:r>
              <a:t>핵심 결론: 새로움은 오래된 operator를 long-lived deployment lifecycle로 묶는 데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1995: CLS · wake–sleep · pseudorehearsal</a:t>
            </a:r>
          </a:p>
          <a:p xmlns:a="http://schemas.openxmlformats.org/drawingml/2006/main">
            <a:r>
              <a:t>• 2017: deep generative replay · EWC</a:t>
            </a:r>
          </a:p>
          <a:p xmlns:a="http://schemas.openxmlformats.org/drawingml/2006/main">
            <a:r>
              <a:t>• 2018: Progress &amp; Compress</a:t>
            </a:r>
          </a:p>
          <a:p xmlns:a="http://schemas.openxmlformats.org/drawingml/2006/main">
            <a:r>
              <a:t>• 2022: PLOS SNN · PAD · NREM/REM</a:t>
            </a:r>
          </a:p>
          <a:p xmlns:a="http://schemas.openxmlformats.org/drawingml/2006/main">
            <a:r>
              <a:t>• 2023–25: MemGPT · memory layers · test-time memory</a:t>
            </a:r>
          </a:p>
          <a:p xmlns:a="http://schemas.openxmlformats.org/drawingml/2006/main">
            <a:r>
              <a:t>• 2026: explicit LLM sleep · product dreaming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STC-S05</a:t>
            </a:r>
          </a:p>
          <a:p xmlns:a="http://schemas.openxmlformats.org/drawingml/2006/main">
            <a:r>
              <a:t>STC-C016</a:t>
            </a:r>
          </a:p>
          <a:p xmlns:a="http://schemas.openxmlformats.org/drawingml/2006/main">
            <a:r>
              <a:t>STC-C022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STC-DEEP-030 — Complementary learning systems는 fast와 slow memory 역할을 나눈다</a:t>
            </a:r>
          </a:p>
          <a:p xmlns:a="http://schemas.openxmlformats.org/drawingml/2006/main">
            <a:r>
              <a:t>핵심 결론: Engineering hint는 stage 이름보다 fast/slow objective 분리다.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FAST: episode를 빠르게 포착하는 hippocampal 역할</a:t>
            </a:r>
          </a:p>
          <a:p xmlns:a="http://schemas.openxmlformats.org/drawingml/2006/main">
            <a:r>
              <a:t>• SLOW: 여러 episode에서 stable structure를 통합</a:t>
            </a:r>
          </a:p>
          <a:p xmlns:a="http://schemas.openxmlformats.org/drawingml/2006/main">
            <a:r>
              <a:t>• REPLAY: offline reactivation으로 두 system 연결</a:t>
            </a:r>
          </a:p>
          <a:p xmlns:a="http://schemas.openxmlformats.org/drawingml/2006/main">
            <a:r>
              <a:t>• LIMIT: biological plausibility는 fleet economics가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SRC-STC-0001</a:t>
            </a:r>
          </a:p>
          <a:p xmlns:a="http://schemas.openxmlformats.org/drawingml/2006/main">
            <a:r>
              <a:t>STC-C017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STC-DEEP-031 — Wake–Sleep은 generative model 학습 알고리즘에서 시작했다</a:t>
            </a:r>
          </a:p>
          <a:p xmlns:a="http://schemas.openxmlformats.org/drawingml/2006/main">
            <a:r>
              <a:t>핵심 결론: 동일 용어가 동일 mechanism을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WAKE: recognition model이 latent를 추론</a:t>
            </a:r>
          </a:p>
          <a:p xmlns:a="http://schemas.openxmlformats.org/drawingml/2006/main">
            <a:r>
              <a:t>• SLEEP: generative sample로 recognition을 개선</a:t>
            </a:r>
          </a:p>
          <a:p xmlns:a="http://schemas.openxmlformats.org/drawingml/2006/main">
            <a:r>
              <a:t>• LEGACY: 현대 STC와 이름은 같지만 lifecycle 정의는 다름</a:t>
            </a:r>
          </a:p>
          <a:p xmlns:a="http://schemas.openxmlformats.org/drawingml/2006/main">
            <a:r>
              <a:t>• LESSON: label보다 causal boundary를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SRC-STC-0002</a:t>
            </a:r>
          </a:p>
          <a:p xmlns:a="http://schemas.openxmlformats.org/drawingml/2006/main">
            <a:r>
              <a:t>STC-S05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STC-DEEP-032 — Pseudorehearsal과 generative replay는 old data를 재구성한다</a:t>
            </a:r>
          </a:p>
          <a:p xmlns:a="http://schemas.openxmlformats.org/drawingml/2006/main">
            <a:r>
              <a:t>핵심 결론: Explicit sleep 없이도 retention 기능은 이미 강한 baseline이다.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ADMIT: old distribution의 대표 trace 선택</a:t>
            </a:r>
          </a:p>
          <a:p xmlns:a="http://schemas.openxmlformats.org/drawingml/2006/main">
            <a:r>
              <a:t>• GENERATE: stored exemplar 또는 pseudo-sample 재생</a:t>
            </a:r>
          </a:p>
          <a:p xmlns:a="http://schemas.openxmlformats.org/drawingml/2006/main">
            <a:r>
              <a:t>• MIX: new data와 replay를 같은 batch에 결합</a:t>
            </a:r>
          </a:p>
          <a:p xmlns:a="http://schemas.openxmlformats.org/drawingml/2006/main">
            <a:r>
              <a:t>• UPDATE: solver가 old/new를 함께 학습</a:t>
            </a:r>
          </a:p>
          <a:p xmlns:a="http://schemas.openxmlformats.org/drawingml/2006/main">
            <a:r>
              <a:t>• RISK: generator bias와 privacy trade-off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STC-C019</a:t>
            </a:r>
          </a:p>
          <a:p xmlns:a="http://schemas.openxmlformats.org/drawingml/2006/main">
            <a:r>
              <a:t>bg:generated-replay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STC-DEEP-033 — EWC와 GEM은 sleep 없이 update 충돌을 줄인다</a:t>
            </a:r>
          </a:p>
          <a:p xmlns:a="http://schemas.openxmlformats.org/drawingml/2006/main">
            <a:r>
              <a:t>핵심 결론: Sleep은 이 baseline보다 lifecycle utility에서 이겨야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EWC: old-important parameter 이동에 Fisher penalty</a:t>
            </a:r>
          </a:p>
          <a:p xmlns:a="http://schemas.openxmlformats.org/drawingml/2006/main">
            <a:r>
              <a:t>• GEM: old example loss가 증가하지 않도록 gradient projection</a:t>
            </a:r>
          </a:p>
          <a:p xmlns:a="http://schemas.openxmlformats.org/drawingml/2006/main">
            <a:r>
              <a:t>• STRENGTH: retention 문제에 직접 대응</a:t>
            </a:r>
          </a:p>
          <a:p xmlns:a="http://schemas.openxmlformats.org/drawingml/2006/main">
            <a:r>
              <a:t>• LIMIT: task 증가·buffer·governance debt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STC-C020</a:t>
            </a:r>
          </a:p>
          <a:p xmlns:a="http://schemas.openxmlformats.org/drawingml/2006/main">
            <a:r>
              <a:t>STC-C021</a:t>
            </a:r>
          </a:p>
          <a:p xmlns:a="http://schemas.openxmlformats.org/drawingml/2006/main">
            <a:r>
              <a:t>bg:ewc</a:t>
            </a:r>
          </a:p>
          <a:p xmlns:a="http://schemas.openxmlformats.org/drawingml/2006/main">
            <a:r>
              <a:t>bg:gem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STC-DEEP-034 — Progress &amp; Compress는 active learning과 consolidation을 교대했다</a:t>
            </a:r>
          </a:p>
          <a:p xmlns:a="http://schemas.openxmlformats.org/drawingml/2006/main">
            <a:r>
              <a:t>핵심 결론: Wake/consolidate 분리는 2026년 이전부터 강한 대안이었다.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ACTIVE: 새 task를 plastic column에서 학습</a:t>
            </a:r>
          </a:p>
          <a:p xmlns:a="http://schemas.openxmlformats.org/drawingml/2006/main">
            <a:r>
              <a:t>• PROGRESS: old knowledge를 활용하며 빠르게 적응</a:t>
            </a:r>
          </a:p>
          <a:p xmlns:a="http://schemas.openxmlformats.org/drawingml/2006/main">
            <a:r>
              <a:t>• COMPRESS: distillation로 knowledge base에 통합</a:t>
            </a:r>
          </a:p>
          <a:p xmlns:a="http://schemas.openxmlformats.org/drawingml/2006/main">
            <a:r>
              <a:t>• DIRECT LINK: periodic refresh가 modern sleep의 전신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STC-C022</a:t>
            </a:r>
          </a:p>
          <a:p xmlns:a="http://schemas.openxmlformats.org/drawingml/2006/main">
            <a:r>
              <a:t>SRC-STC-0008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STC-DEEP-035 — 2022 PLOS는 두 과제 SNN에서 sleep-like replay를 검증했다</a:t>
            </a:r>
          </a:p>
          <a:p xmlns:a="http://schemas.openxmlformats.org/drawingml/2006/main">
            <a:r>
              <a:t>핵심 결론: LLM·다과제·deletion·fleet cost는 검증하지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WAKE 1: Task 1 reward-STDP</a:t>
            </a:r>
          </a:p>
          <a:p xmlns:a="http://schemas.openxmlformats.org/drawingml/2006/main">
            <a:r>
              <a:t>• WAKE 2: Task 2가 old representation에 간섭</a:t>
            </a:r>
          </a:p>
          <a:p xmlns:a="http://schemas.openxmlformats.org/drawingml/2006/main">
            <a:r>
              <a:t>• SLEEP: Poisson activation·unsupervised STDP</a:t>
            </a:r>
          </a:p>
          <a:p xmlns:a="http://schemas.openxmlformats.org/drawingml/2006/main">
            <a:r>
              <a:t>• LATER: joint synaptic representation과 retention</a:t>
            </a:r>
          </a:p>
          <a:p xmlns:a="http://schemas.openxmlformats.org/drawingml/2006/main">
            <a:r>
              <a:t>• SCOPE: 842 neurons · 2 tasks · ≥10 initializations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STC-C016</a:t>
            </a:r>
          </a:p>
          <a:p xmlns:a="http://schemas.openxmlformats.org/drawingml/2006/main">
            <a:r>
              <a:t>SRC-STC-0011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STC-DEEP-036 — NREM/REM alternation은 integration과 protection objective를 나눈다</a:t>
            </a:r>
          </a:p>
          <a:p xmlns:a="http://schemas.openxmlformats.org/drawingml/2006/main">
            <a:r>
              <a:t>핵심 결론: Stage 모방보다 phase별 objective와 ablation이 중요하다.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NREM: replay-like autonomous dynamics로 새 정보 통합</a:t>
            </a:r>
          </a:p>
          <a:p xmlns:a="http://schemas.openxmlformats.org/drawingml/2006/main">
            <a:r>
              <a:t>• REM: older cortical knowledge와의 관계 재구성</a:t>
            </a:r>
          </a:p>
          <a:p xmlns:a="http://schemas.openxmlformats.org/drawingml/2006/main">
            <a:r>
              <a:t>• INTERLEAVE: phase alternation이 interference를 조절</a:t>
            </a:r>
          </a:p>
          <a:p xmlns:a="http://schemas.openxmlformats.org/drawingml/2006/main">
            <a:r>
              <a:t>• LIMIT: model scale과 task abstraction이 제한적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STC-C017</a:t>
            </a:r>
          </a:p>
          <a:p xmlns:a="http://schemas.openxmlformats.org/drawingml/2006/main">
            <a:r>
              <a:t>STC-T05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STC-DEEP-037 — PAD는 wake·perturbed replay·adversarial dreaming을 분리했다</a:t>
            </a:r>
          </a:p>
          <a:p xmlns:a="http://schemas.openxmlformats.org/drawingml/2006/main">
            <a:r>
              <a:t>핵심 결론: Biological label은 mechanism evidence를 대체하지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WAKE: episodic latent reconstruction</a:t>
            </a:r>
          </a:p>
          <a:p xmlns:a="http://schemas.openxmlformats.org/drawingml/2006/main">
            <a:r>
              <a:t>• NREM-LIKE: noise·occlusion으로 robust replay</a:t>
            </a:r>
          </a:p>
          <a:p xmlns:a="http://schemas.openxmlformats.org/drawingml/2006/main">
            <a:r>
              <a:t>• REM-LIKE: adversarial dream으로 representation 확장</a:t>
            </a:r>
          </a:p>
          <a:p xmlns:a="http://schemas.openxmlformats.org/drawingml/2006/main">
            <a:r>
              <a:t>• VALUE: phase-specific operator 후보</a:t>
            </a:r>
          </a:p>
          <a:p xmlns:a="http://schemas.openxmlformats.org/drawingml/2006/main">
            <a:r>
              <a:t>• LIMIT: modern LLM system evidence는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STC-C018</a:t>
            </a:r>
          </a:p>
          <a:p xmlns:a="http://schemas.openxmlformats.org/drawingml/2006/main">
            <a:r>
              <a:t>STC-T13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STC-DEEP-038 — 계보는 agent external memory와 neural memory에서 합류한다</a:t>
            </a:r>
          </a:p>
          <a:p xmlns:a="http://schemas.openxmlformats.org/drawingml/2006/main">
            <a:r>
              <a:t>핵심 결론: 이제 문제는 algorithm 하나가 아니라 serving lifecycle 전체다.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MEMGPT: context pressure를 OS-like paging으로 해결</a:t>
            </a:r>
          </a:p>
          <a:p xmlns:a="http://schemas.openxmlformats.org/drawingml/2006/main">
            <a:r>
              <a:t>• TITANS: test-time surprise로 neural memory 갱신</a:t>
            </a:r>
          </a:p>
          <a:p xmlns:a="http://schemas.openxmlformats.org/drawingml/2006/main">
            <a:r>
              <a:t>• HOPE: multi-frequency optimization을 nested memory로 해석</a:t>
            </a:r>
          </a:p>
          <a:p xmlns:a="http://schemas.openxmlformats.org/drawingml/2006/main">
            <a:r>
              <a:t>• PRODUCT: background synthesis를 durable user memory에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STC-C011</a:t>
            </a:r>
          </a:p>
          <a:p xmlns:a="http://schemas.openxmlformats.org/drawingml/2006/main">
            <a:r>
              <a:t>STC-C023</a:t>
            </a:r>
          </a:p>
          <a:p xmlns:a="http://schemas.openxmlformats.org/drawingml/2006/main">
            <a:r>
              <a:t>STC-C024</a:t>
            </a:r>
          </a:p>
          <a:p xmlns:a="http://schemas.openxmlformats.org/drawingml/2006/main">
            <a:r>
              <a:t>STC-C038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STC-DEEP-039 — 문제마다 sleep의 strongest alternative가 다르다</a:t>
            </a:r>
          </a:p>
          <a:p xmlns:a="http://schemas.openxmlformats.org/drawingml/2006/main">
            <a:r>
              <a:t>핵심 결론: Sleep은 문제 이름이 아니라 baseline 대비 lifecycle gain으로 평가해야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ACCESS: RAG · long context · recurrent state</a:t>
            </a:r>
          </a:p>
          <a:p xmlns:a="http://schemas.openxmlformats.org/drawingml/2006/main">
            <a:r>
              <a:t>• RETENTION: replay · regularization · modular growth</a:t>
            </a:r>
          </a:p>
          <a:p xmlns:a="http://schemas.openxmlformats.org/drawingml/2006/main">
            <a:r>
              <a:t>• PERSONALIZE: prompt/prefix · adapter · external profile</a:t>
            </a:r>
          </a:p>
          <a:p xmlns:a="http://schemas.openxmlformats.org/drawingml/2006/main">
            <a:r>
              <a:t>• COMPACT: summary · graph merge · distillation</a:t>
            </a:r>
          </a:p>
          <a:p xmlns:a="http://schemas.openxmlformats.org/drawingml/2006/main">
            <a:r>
              <a:t>• GOVERN: versioned external memory · rebuild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STC-S06</a:t>
            </a:r>
          </a:p>
          <a:p xmlns:a="http://schemas.openxmlformats.org/drawingml/2006/main">
            <a:r>
              <a:t>STC-S08</a:t>
            </a:r>
          </a:p>
          <a:p xmlns:a="http://schemas.openxmlformats.org/drawingml/2006/main">
            <a:r>
              <a:t>STC-F006</a:t>
            </a:r>
          </a:p>
          <a:p xmlns:a="http://schemas.openxmlformats.org/drawingml/2006/main">
            <a:r>
              <a:t>STC-C040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STC-DEEP-040 — 더 긴 inference가 memory lifecycle을 대체하지는 않는다</a:t>
            </a:r>
          </a:p>
          <a:p xmlns:a="http://schemas.openxmlformats.org/drawingml/2006/main">
            <a:r>
              <a:t>핵심 결론: Inference scaling은 wake capability이고 sleep은 cross-request reuse 문제다.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SCALE: token budget·parallel samples·deliberation 증가</a:t>
            </a:r>
          </a:p>
          <a:p xmlns:a="http://schemas.openxmlformats.org/drawingml/2006/main">
            <a:r>
              <a:t>• GAIN: 현재 요청의 reasoning·evidence coverage 향상</a:t>
            </a:r>
          </a:p>
          <a:p xmlns:a="http://schemas.openxmlformats.org/drawingml/2006/main">
            <a:r>
              <a:t>• COST: attention/KV traffic과 serving latency 증가</a:t>
            </a:r>
          </a:p>
          <a:p xmlns:a="http://schemas.openxmlformats.org/drawingml/2006/main">
            <a:r>
              <a:t>• GAP: 요청 종료 뒤 reusable state·deletion contract가 없음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STC-C007</a:t>
            </a:r>
          </a:p>
          <a:p xmlns:a="http://schemas.openxmlformats.org/drawingml/2006/main">
            <a:r>
              <a:t>STC-C008</a:t>
            </a:r>
          </a:p>
          <a:p xmlns:a="http://schemas.openxmlformats.org/drawingml/2006/main">
            <a:r>
              <a:t>STC-C009</a:t>
            </a:r>
          </a:p>
          <a:p xmlns:a="http://schemas.openxmlformats.org/drawingml/2006/main">
            <a:r>
              <a:t>STC-F004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STC-DEEP-041 — Prompt compression은 가장 싼 ‘sleep-like’ baseline이다</a:t>
            </a:r>
          </a:p>
          <a:p xmlns:a="http://schemas.openxmlformats.org/drawingml/2006/main">
            <a:r>
              <a:t>핵심 결론: Parametric sleep은 먼저 좋은 compression+retrieval보다 낫다는 것을 보여야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INPUT: 긴 대화·문서를 compact representation으로 변환</a:t>
            </a:r>
          </a:p>
          <a:p xmlns:a="http://schemas.openxmlformats.org/drawingml/2006/main">
            <a:r>
              <a:t>• OUTPUT: 다음 wake의 context에 다시 삽입</a:t>
            </a:r>
          </a:p>
          <a:p xmlns:a="http://schemas.openxmlformats.org/drawingml/2006/main">
            <a:r>
              <a:t>• STRENGTH: weight update 없이 cheap·reversible</a:t>
            </a:r>
          </a:p>
          <a:p xmlns:a="http://schemas.openxmlformats.org/drawingml/2006/main">
            <a:r>
              <a:t>• FAILURE: 세부 손실·summary drift·citation 단절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STC-C010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STC-F006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STC-DEEP-042 — Retrieval은 canonical truth와 reusable access를 분리한다</a:t>
            </a:r>
          </a:p>
          <a:p xmlns:a="http://schemas.openxmlformats.org/drawingml/2006/main">
            <a:r>
              <a:t>핵심 결론: External retrieval은 현재 production governance frontier의 기본선이다.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STORE: 원문·episode를 audit 가능한 형태로 보존</a:t>
            </a:r>
          </a:p>
          <a:p xmlns:a="http://schemas.openxmlformats.org/drawingml/2006/main">
            <a:r>
              <a:t>• INDEX: vector·keyword·metadata로 candidate 생성</a:t>
            </a:r>
          </a:p>
          <a:p xmlns:a="http://schemas.openxmlformats.org/drawingml/2006/main">
            <a:r>
              <a:t>• RERANK: 현재 query와 policy로 selection</a:t>
            </a:r>
          </a:p>
          <a:p xmlns:a="http://schemas.openxmlformats.org/drawingml/2006/main">
            <a:r>
              <a:t>• INJECT: bounded context 또는 tool result로 제공</a:t>
            </a:r>
          </a:p>
          <a:p xmlns:a="http://schemas.openxmlformats.org/drawingml/2006/main">
            <a:r>
              <a:t>• UPDATE: delete·correct·reindex가 weight보다 직접적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STC-C011</a:t>
            </a:r>
          </a:p>
          <a:p xmlns:a="http://schemas.openxmlformats.org/drawingml/2006/main">
            <a:r>
              <a:t>STC-C012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STC-F007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STC-DEEP-043 — Graph memory는 관계·시간·충돌을 명시적으로 보존한다</a:t>
            </a:r>
          </a:p>
          <a:p xmlns:a="http://schemas.openxmlformats.org/drawingml/2006/main">
            <a:r>
              <a:t>핵심 결론: 관계형 기억은 weight에 압축하기 전에 truth maintenance를 담당한다.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ENTITY: 사람·조직·artifact를 stable node로</a:t>
            </a:r>
          </a:p>
          <a:p xmlns:a="http://schemas.openxmlformats.org/drawingml/2006/main">
            <a:r>
              <a:t>• RELATION: 사건·근거·causal link를 edge로</a:t>
            </a:r>
          </a:p>
          <a:p xmlns:a="http://schemas.openxmlformats.org/drawingml/2006/main">
            <a:r>
              <a:t>• TIME: valid-from/to와 episode sequence</a:t>
            </a:r>
          </a:p>
          <a:p xmlns:a="http://schemas.openxmlformats.org/drawingml/2006/main">
            <a:r>
              <a:t>• CONFLICT: 상충 assertion을 삭제 대신 병존</a:t>
            </a:r>
          </a:p>
          <a:p xmlns:a="http://schemas.openxmlformats.org/drawingml/2006/main">
            <a:r>
              <a:t>• QUERY: multi-hop retrieval과 provenance 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STC-C013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STC-F007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STC-DEEP-044 — KV·prefix·recurrent state는 재사용 단위가 서로 다르다</a:t>
            </a:r>
          </a:p>
          <a:p xmlns:a="http://schemas.openxmlformats.org/drawingml/2006/main">
            <a:r>
              <a:t>핵심 결론: Serving 효율은 state reuse ratio와 invalidation granularity로 비교해야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KV CACHE: exact prefix의 layer activation 재사용</a:t>
            </a:r>
          </a:p>
          <a:p xmlns:a="http://schemas.openxmlformats.org/drawingml/2006/main">
            <a:r>
              <a:t>• PREFIX: learned/compiled prompt state를 request에 부착</a:t>
            </a:r>
          </a:p>
          <a:p xmlns:a="http://schemas.openxmlformats.org/drawingml/2006/main">
            <a:r>
              <a:t>• RNN STATE: history를 fixed-size recurrent state로 압축</a:t>
            </a:r>
          </a:p>
          <a:p xmlns:a="http://schemas.openxmlformats.org/drawingml/2006/main">
            <a:r>
              <a:t>• NEURAL MEMORY: test-time update로 content-addressable state 생성</a:t>
            </a:r>
          </a:p>
          <a:p xmlns:a="http://schemas.openxmlformats.org/drawingml/2006/main">
            <a:r>
              <a:t>• SLEEP: 여러 state를 비동기 검증·merge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STC-C023</a:t>
            </a:r>
          </a:p>
          <a:p xmlns:a="http://schemas.openxmlformats.org/drawingml/2006/main">
            <a:r>
              <a:t>STC-C024</a:t>
            </a:r>
          </a:p>
          <a:p xmlns:a="http://schemas.openxmlformats.org/drawingml/2006/main">
            <a:r>
              <a:t>STC-C025</a:t>
            </a:r>
          </a:p>
          <a:p xmlns:a="http://schemas.openxmlformats.org/drawingml/2006/main">
            <a:r>
              <a:t>STC-F004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STC-DEEP-045 — External-first가 현재 production default인 이유</a:t>
            </a:r>
          </a:p>
          <a:p xmlns:a="http://schemas.openxmlformats.org/drawingml/2006/main">
            <a:r>
              <a:t>핵심 결론: External memory의 약점은 분명하지만 operational contract가 성숙하다.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REVERSIBLE: 원본·index·summary를 재생성 가능</a:t>
            </a:r>
          </a:p>
          <a:p xmlns:a="http://schemas.openxmlformats.org/drawingml/2006/main">
            <a:r>
              <a:t>• ADDRESSABLE: memory ID로 inspect·edit·delete</a:t>
            </a:r>
          </a:p>
          <a:p xmlns:a="http://schemas.openxmlformats.org/drawingml/2006/main">
            <a:r>
              <a:t>• CHEAP: per-user optimizer 없이 background transform</a:t>
            </a:r>
          </a:p>
          <a:p xmlns:a="http://schemas.openxmlformats.org/drawingml/2006/main">
            <a:r>
              <a:t>• SHAREABLE: service와 model version 사이 독립</a:t>
            </a:r>
          </a:p>
          <a:p xmlns:a="http://schemas.openxmlformats.org/drawingml/2006/main">
            <a:r>
              <a:t>• LIMIT: retrieval miss·latency·context tax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STC-C046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STC-DEEP-046 — Continual learning은 update 위치를 네 층으로 나눈다</a:t>
            </a:r>
          </a:p>
          <a:p xmlns:a="http://schemas.openxmlformats.org/drawingml/2006/main">
            <a:r>
              <a:t>핵심 결론: Sleep의 새로움은 technique보다 이들을 response 밖 lifecycle로 묶는 데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DATA: replay buffer와 curriculum</a:t>
            </a:r>
          </a:p>
          <a:p xmlns:a="http://schemas.openxmlformats.org/drawingml/2006/main">
            <a:r>
              <a:t>• LOSS: regularization·constraint·distillation</a:t>
            </a:r>
          </a:p>
          <a:p xmlns:a="http://schemas.openxmlformats.org/drawingml/2006/main">
            <a:r>
              <a:t>• MODULE: adapter·expert·progressive growth</a:t>
            </a:r>
          </a:p>
          <a:p xmlns:a="http://schemas.openxmlformats.org/drawingml/2006/main">
            <a:r>
              <a:t>• WEIGHT: shared parameter rewrite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STC-C019</a:t>
            </a:r>
          </a:p>
          <a:p xmlns:a="http://schemas.openxmlformats.org/drawingml/2006/main">
            <a:r>
              <a:t>STC-C020</a:t>
            </a:r>
          </a:p>
          <a:p xmlns:a="http://schemas.openxmlformats.org/drawingml/2006/main">
            <a:r>
              <a:t>STC-C021</a:t>
            </a:r>
          </a:p>
          <a:p xmlns:a="http://schemas.openxmlformats.org/drawingml/2006/main">
            <a:r>
              <a:t>STC-C027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STC-DEEP-047 — TTT·neural memory는 wake에서 state를 즉시 바꾼다</a:t>
            </a:r>
          </a:p>
          <a:p xmlns:a="http://schemas.openxmlformats.org/drawingml/2006/main">
            <a:r>
              <a:t>핵심 결론: Wake update와 sleep consolidation은 dependency와 SLO가 다른 두 phase다.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SIGNAL: surprise·self-supervised loss를 현재 token에서 생성</a:t>
            </a:r>
          </a:p>
          <a:p xmlns:a="http://schemas.openxmlformats.org/drawingml/2006/main">
            <a:r>
              <a:t>• UPDATE: memory/fast weight를 forward 중 변경</a:t>
            </a:r>
          </a:p>
          <a:p xmlns:a="http://schemas.openxmlformats.org/drawingml/2006/main">
            <a:r>
              <a:t>• USE: 같은 sequence의 다음 token이 즉시 재사용</a:t>
            </a:r>
          </a:p>
          <a:p xmlns:a="http://schemas.openxmlformats.org/drawingml/2006/main">
            <a:r>
              <a:t>• STRENGTH: long-context를 bounded state로 압축</a:t>
            </a:r>
          </a:p>
          <a:p xmlns:a="http://schemas.openxmlformats.org/drawingml/2006/main">
            <a:r>
              <a:t>• GAP: cross-session validate·rollback·delete는 별도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STC-C023</a:t>
            </a:r>
          </a:p>
          <a:p xmlns:a="http://schemas.openxmlformats.org/drawingml/2006/main">
            <a:r>
              <a:t>STC-C024</a:t>
            </a:r>
          </a:p>
          <a:p xmlns:a="http://schemas.openxmlformats.org/drawingml/2006/main">
            <a:r>
              <a:t>STC-C025</a:t>
            </a:r>
          </a:p>
          <a:p xmlns:a="http://schemas.openxmlformats.org/drawingml/2006/main">
            <a:r>
              <a:t>STC-T08</a:t>
            </a:r>
          </a:p>
          <a:p xmlns:a="http://schemas.openxmlformats.org/drawingml/2006/main">
            <a:r>
              <a:t>STC-T09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STC-DEEP-048 — Sleep이 이겨야 할 frontier는 이미 강하다</a:t>
            </a:r>
          </a:p>
          <a:p xmlns:a="http://schemas.openxmlformats.org/drawingml/2006/main">
            <a:r>
              <a:t>핵심 결론: ‘biology-inspired’는 frontier 우위의 증거가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QUALITY: long context·RAG·agentic retrieval</a:t>
            </a:r>
          </a:p>
          <a:p xmlns:a="http://schemas.openxmlformats.org/drawingml/2006/main">
            <a:r>
              <a:t>• RETENTION: replay·regularization·modularity</a:t>
            </a:r>
          </a:p>
          <a:p xmlns:a="http://schemas.openxmlformats.org/drawingml/2006/main">
            <a:r>
              <a:t>• COST: summary·cache·batch rebuild</a:t>
            </a:r>
          </a:p>
          <a:p xmlns:a="http://schemas.openxmlformats.org/drawingml/2006/main">
            <a:r>
              <a:t>• GOVERNANCE: external truth·version·delete</a:t>
            </a:r>
          </a:p>
          <a:p xmlns:a="http://schemas.openxmlformats.org/drawingml/2006/main">
            <a:r>
              <a:t>• LATENCY: wake TTT·recurrent 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STC-S08</a:t>
            </a:r>
          </a:p>
          <a:p xmlns:a="http://schemas.openxmlformats.org/drawingml/2006/main">
            <a:r>
              <a:t>STC-F006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STC-C045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STC-DEEP-049 — Sleep pipeline은 여섯 operator와 두 gate로 구성된다</a:t>
            </a:r>
          </a:p>
          <a:p xmlns:a="http://schemas.openxmlformats.org/drawingml/2006/main">
            <a:r>
              <a:t>핵심 결론: Admission gate와 promotion gate 사이가 sleep compute의 실제 범위다.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ADMIT: consent·novelty·risk로 event 선별</a:t>
            </a:r>
          </a:p>
          <a:p xmlns:a="http://schemas.openxmlformats.org/drawingml/2006/main">
            <a:r>
              <a:t>• BUILD: replay·synthetic·counterexample batch</a:t>
            </a:r>
          </a:p>
          <a:p xmlns:a="http://schemas.openxmlformats.org/drawingml/2006/main">
            <a:r>
              <a:t>• TRANSFORM: merge·distill·update</a:t>
            </a:r>
          </a:p>
          <a:p xmlns:a="http://schemas.openxmlformats.org/drawingml/2006/main">
            <a:r>
              <a:t>• VERIFY: utility·retention·harm 평가</a:t>
            </a:r>
          </a:p>
          <a:p xmlns:a="http://schemas.openxmlformats.org/drawingml/2006/main">
            <a:r>
              <a:t>• PUBLISH: atomic version promotion</a:t>
            </a:r>
          </a:p>
          <a:p xmlns:a="http://schemas.openxmlformats.org/drawingml/2006/main">
            <a:r>
              <a:t>• UNDO: rollback·delete·rebuild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STC-S07</a:t>
            </a:r>
          </a:p>
          <a:p xmlns:a="http://schemas.openxmlformats.org/drawingml/2006/main">
            <a:r>
              <a:t>STC-F008</a:t>
            </a:r>
          </a:p>
          <a:p xmlns:a="http://schemas.openxmlformats.org/drawingml/2006/main">
            <a:r>
              <a:t>STC-C041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STC-DEEP-050 — Admission은 ‘많이 저장’이 아니라 expected value 판단이다</a:t>
            </a:r>
          </a:p>
          <a:p xmlns:a="http://schemas.openxmlformats.org/drawingml/2006/main">
            <a:r>
              <a:t>핵심 결론: 낮은 reuse와 높은 risk의 기억은 durable layer로 승격하지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UTILITY: 미래 재사용 확률×성공 개선</a:t>
            </a:r>
          </a:p>
          <a:p xmlns:a="http://schemas.openxmlformats.org/drawingml/2006/main">
            <a:r>
              <a:t>• NOVELTY: 기존 state와 중복되지 않는 정보</a:t>
            </a:r>
          </a:p>
          <a:p xmlns:a="http://schemas.openxmlformats.org/drawingml/2006/main">
            <a:r>
              <a:t>• RISK: privacy·poison·conflict·copyright</a:t>
            </a:r>
          </a:p>
          <a:p xmlns:a="http://schemas.openxmlformats.org/drawingml/2006/main">
            <a:r>
              <a:t>• COST: store·train·verify·serve·delete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STC-C029</a:t>
            </a:r>
          </a:p>
          <a:p xmlns:a="http://schemas.openxmlformats.org/drawingml/2006/main">
            <a:r>
              <a:t>STC-C030</a:t>
            </a:r>
          </a:p>
          <a:p xmlns:a="http://schemas.openxmlformats.org/drawingml/2006/main">
            <a:r>
              <a:t>STC-F009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STC-DEEP-051 — Replay batch는 new·old·negative를 함께 담아야 한다</a:t>
            </a:r>
          </a:p>
          <a:p xmlns:a="http://schemas.openxmlformats.org/drawingml/2006/main">
            <a:r>
              <a:t>핵심 결론: Replay 없는 sleep update는 새 경험에 과적합하기 쉽다.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NEW: 이번 wake에서 검증된 high-value episode</a:t>
            </a:r>
          </a:p>
          <a:p xmlns:a="http://schemas.openxmlformats.org/drawingml/2006/main">
            <a:r>
              <a:t>• OLD: 회귀를 막는 representative memory</a:t>
            </a:r>
          </a:p>
          <a:p xmlns:a="http://schemas.openxmlformats.org/drawingml/2006/main">
            <a:r>
              <a:t>• NEGATIVE: 혼동·거절·삭제·counterexample</a:t>
            </a:r>
          </a:p>
          <a:p xmlns:a="http://schemas.openxmlformats.org/drawingml/2006/main">
            <a:r>
              <a:t>• MIX: task/user/time strata로 balanced sampling</a:t>
            </a:r>
          </a:p>
          <a:p xmlns:a="http://schemas.openxmlformats.org/drawingml/2006/main">
            <a:r>
              <a:t>• HOLDOUT: promotion에 쓰지 않는 evaluation slice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STC-C019</a:t>
            </a:r>
          </a:p>
          <a:p xmlns:a="http://schemas.openxmlformats.org/drawingml/2006/main">
            <a:r>
              <a:t>STC-C020</a:t>
            </a:r>
          </a:p>
          <a:p xmlns:a="http://schemas.openxmlformats.org/drawingml/2006/main">
            <a:r>
              <a:t>bg:replay-buffer</a:t>
            </a:r>
          </a:p>
          <a:p xmlns:a="http://schemas.openxmlformats.org/drawingml/2006/main">
            <a:r>
              <a:t>bg:hard-negative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STC-DEEP-052 — Distillation은 memory를 줄이지만 entropy를 공짜로 없애지 못한다</a:t>
            </a:r>
          </a:p>
          <a:p xmlns:a="http://schemas.openxmlformats.org/drawingml/2006/main">
            <a:r>
              <a:t>핵심 결론: Compression ratio는 accuracy뿐 아니라 reversibility와 deletion cost로 제한된다.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TEACHER: 원 episode+retrieval+larger model의 target</a:t>
            </a:r>
          </a:p>
          <a:p xmlns:a="http://schemas.openxmlformats.org/drawingml/2006/main">
            <a:r>
              <a:t>• STUDENT: summary·adapter·compact state</a:t>
            </a:r>
          </a:p>
          <a:p xmlns:a="http://schemas.openxmlformats.org/drawingml/2006/main">
            <a:r>
              <a:t>• LOSS: behavior·representation·retention objective</a:t>
            </a:r>
          </a:p>
          <a:p xmlns:a="http://schemas.openxmlformats.org/drawingml/2006/main">
            <a:r>
              <a:t>• TRADE: compactness가 detail·calibration을 희생</a:t>
            </a:r>
          </a:p>
          <a:p xmlns:a="http://schemas.openxmlformats.org/drawingml/2006/main">
            <a:r>
              <a:t>• CHECK: raw evidence로 reconstruct 가능한지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STC-C022</a:t>
            </a:r>
          </a:p>
          <a:p xmlns:a="http://schemas.openxmlformats.org/drawingml/2006/main">
            <a:r>
              <a:t>STC-C028</a:t>
            </a:r>
          </a:p>
          <a:p xmlns:a="http://schemas.openxmlformats.org/drawingml/2006/main">
            <a:r>
              <a:t>bg:distillation</a:t>
            </a:r>
          </a:p>
          <a:p xmlns:a="http://schemas.openxmlformats.org/drawingml/2006/main">
            <a:r>
              <a:t>STC-F009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STC-DEEP-053 — Dream data는 coverage를 늘리지만 오류도 증폭할 수 있다</a:t>
            </a:r>
          </a:p>
          <a:p xmlns:a="http://schemas.openxmlformats.org/drawingml/2006/main">
            <a:r>
              <a:t>핵심 결론: Dream은 truth source가 아니라 검증 전 candidate data다.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PERTURB: noise·occlusion·counterfactual로 robustness</a:t>
            </a:r>
          </a:p>
          <a:p xmlns:a="http://schemas.openxmlformats.org/drawingml/2006/main">
            <a:r>
              <a:t>• GENERATE: 희소 scenario·hard negative 보충</a:t>
            </a:r>
          </a:p>
          <a:p xmlns:a="http://schemas.openxmlformats.org/drawingml/2006/main">
            <a:r>
              <a:t>• CRITIQUE: generator와 evaluator를 분리</a:t>
            </a:r>
          </a:p>
          <a:p xmlns:a="http://schemas.openxmlformats.org/drawingml/2006/main">
            <a:r>
              <a:t>• FILTER: grounding·novelty·safety gate</a:t>
            </a:r>
          </a:p>
          <a:p xmlns:a="http://schemas.openxmlformats.org/drawingml/2006/main">
            <a:r>
              <a:t>• RISK: model collapse·reward hacking·hallucinated 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STC-C018</a:t>
            </a:r>
          </a:p>
          <a:p xmlns:a="http://schemas.openxmlformats.org/drawingml/2006/main">
            <a:r>
              <a:t>STC-C031</a:t>
            </a:r>
          </a:p>
          <a:p xmlns:a="http://schemas.openxmlformats.org/drawingml/2006/main">
            <a:r>
              <a:t>bg:synthetic-data</a:t>
            </a:r>
          </a:p>
          <a:p xmlns:a="http://schemas.openxmlformats.org/drawingml/2006/main">
            <a:r>
              <a:t>bg:reward-model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STC-DEEP-054 — Promotion은 utility·retention·harm 세 축을 동시에 통과해야 한다</a:t>
            </a:r>
          </a:p>
          <a:p xmlns:a="http://schemas.openxmlformats.org/drawingml/2006/main">
            <a:r>
              <a:t>핵심 결론: 한 축의 평균 개선으로 durable publication을 정당화할 수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UTILITY: target task의 future success·latency 개선 (+ΔU)</a:t>
            </a:r>
          </a:p>
          <a:p xmlns:a="http://schemas.openxmlformats.org/drawingml/2006/main">
            <a:r>
              <a:t>• RETENTION: old task·identity·policy 회귀 (≤ budget)</a:t>
            </a:r>
          </a:p>
          <a:p xmlns:a="http://schemas.openxmlformats.org/drawingml/2006/main">
            <a:r>
              <a:t>• HARM: privacy·poison·bias·deletion failure (0 critical)</a:t>
            </a:r>
          </a:p>
          <a:p xmlns:a="http://schemas.openxmlformats.org/drawingml/2006/main">
            <a:r>
              <a:t>• COST: joule·HBM byte·wall time·storage (reported)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STC-C042</a:t>
            </a:r>
          </a:p>
          <a:p xmlns:a="http://schemas.openxmlformats.org/drawingml/2006/main">
            <a:r>
              <a:t>STC-F014</a:t>
            </a:r>
          </a:p>
          <a:p xmlns:a="http://schemas.openxmlformats.org/drawingml/2006/main">
            <a:r>
              <a:t>STC-S15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STC-DEEP-055 — Publish는 파일 복사가 아니라 state transaction이다</a:t>
            </a:r>
          </a:p>
          <a:p xmlns:a="http://schemas.openxmlformats.org/drawingml/2006/main">
            <a:r>
              <a:t>핵심 결론: Mutable memory는 model binary와 같은 release discipline이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PREPARE: artifact·manifest·evaluation 서명</a:t>
            </a:r>
          </a:p>
          <a:p xmlns:a="http://schemas.openxmlformats.org/drawingml/2006/main">
            <a:r>
              <a:t>• VALIDATE: schema·compatibility·policy gate</a:t>
            </a:r>
          </a:p>
          <a:p xmlns:a="http://schemas.openxmlformats.org/drawingml/2006/main">
            <a:r>
              <a:t>• COMMIT: atomic pointer switch와 cache invalidate</a:t>
            </a:r>
          </a:p>
          <a:p xmlns:a="http://schemas.openxmlformats.org/drawingml/2006/main">
            <a:r>
              <a:t>• OBSERVE: canary·shadow·regression telemetry</a:t>
            </a:r>
          </a:p>
          <a:p xmlns:a="http://schemas.openxmlformats.org/drawingml/2006/main">
            <a:r>
              <a:t>• ROLLBACK: prior version으로 bounded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STC-C043</a:t>
            </a:r>
          </a:p>
          <a:p xmlns:a="http://schemas.openxmlformats.org/drawingml/2006/main">
            <a:r>
              <a:t>STC-F011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STC-DEEP-056 — Parametric destination은 update 반경으로 구분한다</a:t>
            </a:r>
          </a:p>
          <a:p xmlns:a="http://schemas.openxmlformats.org/drawingml/2006/main">
            <a:r>
              <a:t>핵심 결론: 재사용 범위가 넓을수록 evidence와 rollback budget도 커져야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FAST STATE: 한 sequence·session 안에서만 유효</a:t>
            </a:r>
          </a:p>
          <a:p xmlns:a="http://schemas.openxmlformats.org/drawingml/2006/main">
            <a:r>
              <a:t>• USER ADAPTER: 개인 scope와 명시적 version</a:t>
            </a:r>
          </a:p>
          <a:p xmlns:a="http://schemas.openxmlformats.org/drawingml/2006/main">
            <a:r>
              <a:t>• DOMAIN MODULE: 많은 사용자에서 검증된 reusable delta</a:t>
            </a:r>
          </a:p>
          <a:p xmlns:a="http://schemas.openxmlformats.org/drawingml/2006/main">
            <a:r>
              <a:t>• SHARED WEIGHT: 넓은 blast radius의 마지막 승격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STC-C026</a:t>
            </a:r>
          </a:p>
          <a:p xmlns:a="http://schemas.openxmlformats.org/drawingml/2006/main">
            <a:r>
              <a:t>STC-C027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STC-F010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STC-DEEP-057 — LoRA promotion에는 utility 외 네 가지 gate가 더 필요하다</a:t>
            </a:r>
          </a:p>
          <a:p xmlns:a="http://schemas.openxmlformats.org/drawingml/2006/main">
            <a:r>
              <a:t>핵심 결론: Parameter-efficient는 governance-efficient와 동의어가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RETENTION: base·old adapter capability 회귀 없음</a:t>
            </a:r>
          </a:p>
          <a:p xmlns:a="http://schemas.openxmlformats.org/drawingml/2006/main">
            <a:r>
              <a:t>• ROUTING: 어떤 user/domain에서 attach할지 명시</a:t>
            </a:r>
          </a:p>
          <a:p xmlns:a="http://schemas.openxmlformats.org/drawingml/2006/main">
            <a:r>
              <a:t>• COMPAT: base/tokenizer/tool schema version 일치</a:t>
            </a:r>
          </a:p>
          <a:p xmlns:a="http://schemas.openxmlformats.org/drawingml/2006/main">
            <a:r>
              <a:t>• DELETE: source episode 제거 시 rebuild 경로</a:t>
            </a:r>
          </a:p>
          <a:p xmlns:a="http://schemas.openxmlformats.org/drawingml/2006/main">
            <a:r>
              <a:t>• SECURITY: poison·exfiltration red-team 통과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STC-C027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STC-C046</a:t>
            </a:r>
          </a:p>
          <a:p xmlns:a="http://schemas.openxmlformats.org/drawingml/2006/main">
            <a:r>
              <a:t>bg:lora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STC-DEEP-058 — Shared-weight sleep은 가장 강한 반증을 요구한다</a:t>
            </a:r>
          </a:p>
          <a:p xmlns:a="http://schemas.openxmlformats.org/drawingml/2006/main">
            <a:r>
              <a:t>핵심 결론: Per-user foundation-weight rewrite를 기본값으로 두지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INTERFERENCE: unrelated capability가 조용히 변함</a:t>
            </a:r>
          </a:p>
          <a:p xmlns:a="http://schemas.openxmlformats.org/drawingml/2006/main">
            <a:r>
              <a:t>• UNLEARNING: 한 사용자의 삭제가 global rebuild로 확대</a:t>
            </a:r>
          </a:p>
          <a:p xmlns:a="http://schemas.openxmlformats.org/drawingml/2006/main">
            <a:r>
              <a:t>• POISON: 작은 malicious stream이 durable bias 생성</a:t>
            </a:r>
          </a:p>
          <a:p xmlns:a="http://schemas.openxmlformats.org/drawingml/2006/main">
            <a:r>
              <a:t>• IDENTITY: 개인 preference가 shared policy와 충돌</a:t>
            </a:r>
          </a:p>
          <a:p xmlns:a="http://schemas.openxmlformats.org/drawingml/2006/main">
            <a:r>
              <a:t>• ECONOMICS: optimizer·validation cost가 reuse gain 초과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STC-C046</a:t>
            </a:r>
          </a:p>
          <a:p xmlns:a="http://schemas.openxmlformats.org/drawingml/2006/main">
            <a:r>
              <a:t>STC-F015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STC-DEEP-059 — External destination도 raw→derived 계층을 분리해야 한다</a:t>
            </a:r>
          </a:p>
          <a:p xmlns:a="http://schemas.openxmlformats.org/drawingml/2006/main">
            <a:r>
              <a:t>핵심 결론: Derived memory는 canonical evidence를 가리켜야 고칠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L0 RAW: immutable event·document·tool trace</a:t>
            </a:r>
          </a:p>
          <a:p xmlns:a="http://schemas.openxmlformats.org/drawingml/2006/main">
            <a:r>
              <a:t>• L1 FACT: source-linked assertion와 temporal validity</a:t>
            </a:r>
          </a:p>
          <a:p xmlns:a="http://schemas.openxmlformats.org/drawingml/2006/main">
            <a:r>
              <a:t>• L2 INDEX: vector·keyword·graph access path</a:t>
            </a:r>
          </a:p>
          <a:p xmlns:a="http://schemas.openxmlformats.org/drawingml/2006/main">
            <a:r>
              <a:t>• L3 SUMMARY: task-oriented compiled view</a:t>
            </a:r>
          </a:p>
          <a:p xmlns:a="http://schemas.openxmlformats.org/drawingml/2006/main">
            <a:r>
              <a:t>• L4 CACHE: hot query·prefix·state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STC-C012</a:t>
            </a:r>
          </a:p>
          <a:p xmlns:a="http://schemas.openxmlformats.org/drawingml/2006/main">
            <a:r>
              <a:t>STC-C013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STC-F010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STC-DEEP-060 — Capacity는 가득 찬 뒤가 아니라 knee 전에 관리한다</a:t>
            </a:r>
          </a:p>
          <a:p xmlns:a="http://schemas.openxmlformats.org/drawingml/2006/main">
            <a:r>
              <a:t>핵심 결론: 용량 문제의 해법은 무한 weight가 아니라 value-aware lifecycle이다.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ADMIT: expected reuse가 낮은 event drop</a:t>
            </a:r>
          </a:p>
          <a:p xmlns:a="http://schemas.openxmlformats.org/drawingml/2006/main">
            <a:r>
              <a:t>• DEDUP: semantic·temporal duplicate merge</a:t>
            </a:r>
          </a:p>
          <a:p xmlns:a="http://schemas.openxmlformats.org/drawingml/2006/main">
            <a:r>
              <a:t>• COMPRESS: raw→fact→summary→adapter 승격</a:t>
            </a:r>
          </a:p>
          <a:p xmlns:a="http://schemas.openxmlformats.org/drawingml/2006/main">
            <a:r>
              <a:t>• EVICT: low-value derived state 제거</a:t>
            </a:r>
          </a:p>
          <a:p xmlns:a="http://schemas.openxmlformats.org/drawingml/2006/main">
            <a:r>
              <a:t>• REBUILD: canonical truth에서 새 index/state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STC-C028</a:t>
            </a:r>
          </a:p>
          <a:p xmlns:a="http://schemas.openxmlformats.org/drawingml/2006/main">
            <a:r>
              <a:t>STC-C029</a:t>
            </a:r>
          </a:p>
          <a:p xmlns:a="http://schemas.openxmlformats.org/drawingml/2006/main">
            <a:r>
              <a:t>STC-C030</a:t>
            </a:r>
          </a:p>
          <a:p xmlns:a="http://schemas.openxmlformats.org/drawingml/2006/main">
            <a:r>
              <a:t>STC-F009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STC-DEEP-061 — Delete는 모든 derived state를 따라가는 역방향 graph다</a:t>
            </a:r>
          </a:p>
          <a:p xmlns:a="http://schemas.openxmlformats.org/drawingml/2006/main">
            <a:r>
              <a:t>핵심 결론: Lineage 없는 consolidation은 정확한 삭제를 약속할 수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REQUEST: subject·source·scope를 resolve</a:t>
            </a:r>
          </a:p>
          <a:p xmlns:a="http://schemas.openxmlformats.org/drawingml/2006/main">
            <a:r>
              <a:t>• TRACE: summary·index·adapter lineage 탐색</a:t>
            </a:r>
          </a:p>
          <a:p xmlns:a="http://schemas.openxmlformats.org/drawingml/2006/main">
            <a:r>
              <a:t>• INVALIDATE: serving cache와 retrieval pointer 차단</a:t>
            </a:r>
          </a:p>
          <a:p xmlns:a="http://schemas.openxmlformats.org/drawingml/2006/main">
            <a:r>
              <a:t>• REBUILD: 남은 canonical evidence로 재생성</a:t>
            </a:r>
          </a:p>
          <a:p xmlns:a="http://schemas.openxmlformats.org/drawingml/2006/main">
            <a:r>
              <a:t>• ATTEST: 삭제 결과와 residual risk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STC-C044</a:t>
            </a:r>
          </a:p>
          <a:p xmlns:a="http://schemas.openxmlformats.org/drawingml/2006/main">
            <a:r>
              <a:t>STC-C046</a:t>
            </a:r>
          </a:p>
          <a:p xmlns:a="http://schemas.openxmlformats.org/drawingml/2006/main">
            <a:r>
              <a:t>STC-F012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STC-DEEP-062 — Sleep cadence는 queue value와 staleness SLO로 정한다</a:t>
            </a:r>
          </a:p>
          <a:p xmlns:a="http://schemas.openxmlformats.org/drawingml/2006/main">
            <a:r>
              <a:t>핵심 결론: ‘밤’이 아니라 workload slack과 value density가 sleep 시점을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TRIGGER: idle·deadline·queue depth·risk event</a:t>
            </a:r>
          </a:p>
          <a:p xmlns:a="http://schemas.openxmlformats.org/drawingml/2006/main">
            <a:r>
              <a:t>• BATCH: user/domain/model compatibility로 묶기</a:t>
            </a:r>
          </a:p>
          <a:p xmlns:a="http://schemas.openxmlformats.org/drawingml/2006/main">
            <a:r>
              <a:t>• BUDGET: GPU·HBM·energy·validator quota</a:t>
            </a:r>
          </a:p>
          <a:p xmlns:a="http://schemas.openxmlformats.org/drawingml/2006/main">
            <a:r>
              <a:t>• PREEMPT: wake burst가 오면 checkpoint 후 양보</a:t>
            </a:r>
          </a:p>
          <a:p xmlns:a="http://schemas.openxmlformats.org/drawingml/2006/main">
            <a:r>
              <a:t>• DEADLINE: memory staleness와 delete SLA 우선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STC-C032</a:t>
            </a:r>
          </a:p>
          <a:p xmlns:a="http://schemas.openxmlformats.org/drawingml/2006/main">
            <a:r>
              <a:t>STC-C033</a:t>
            </a:r>
          </a:p>
          <a:p xmlns:a="http://schemas.openxmlformats.org/drawingml/2006/main">
            <a:r>
              <a:t>STC-F013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STC-DEEP-063 — Evidence는 이름이 아니라 성숙도 ladder로 읽는다</a:t>
            </a:r>
          </a:p>
          <a:p xmlns:a="http://schemas.openxmlformats.org/drawingml/2006/main">
            <a:r>
              <a:t>핵심 결론: Expected value가 커도 evidence maturity가 자동으로 높아지지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E0: idea·analogy·unverified claim</a:t>
            </a:r>
          </a:p>
          <a:p xmlns:a="http://schemas.openxmlformats.org/drawingml/2006/main">
            <a:r>
              <a:t>• E1: paper proposition 또는 toy analysis</a:t>
            </a:r>
          </a:p>
          <a:p xmlns:a="http://schemas.openxmlformats.org/drawingml/2006/main">
            <a:r>
              <a:t>• E2: controlled method experiment</a:t>
            </a:r>
          </a:p>
          <a:p xmlns:a="http://schemas.openxmlformats.org/drawingml/2006/main">
            <a:r>
              <a:t>• E3: code·benchmark·independent reproduction</a:t>
            </a:r>
          </a:p>
          <a:p xmlns:a="http://schemas.openxmlformats.org/drawingml/2006/main">
            <a:r>
              <a:t>• E4: production behavior·controls·rollout</a:t>
            </a:r>
          </a:p>
          <a:p xmlns:a="http://schemas.openxmlformats.org/drawingml/2006/main">
            <a:r>
              <a:t>• E5: workload·failure·rollback·delete 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STC-S09</a:t>
            </a:r>
          </a:p>
          <a:p xmlns:a="http://schemas.openxmlformats.org/drawingml/2006/main">
            <a:r>
              <a:t>STC-C001</a:t>
            </a:r>
          </a:p>
          <a:p xmlns:a="http://schemas.openxmlformats.org/drawingml/2006/main">
            <a:r>
              <a:t>STC-C002</a:t>
            </a:r>
          </a:p>
          <a:p xmlns:a="http://schemas.openxmlformats.org/drawingml/2006/main">
            <a:r>
              <a:t>STC-F005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STC-DEEP-064 — 2025 STC는 ‘질의 전 reasoning’의 직접 이득을 보였다</a:t>
            </a:r>
          </a:p>
          <a:p xmlns:a="http://schemas.openxmlformats.org/drawingml/2006/main">
            <a:r>
              <a:t>핵심 결론: 효과는 future-query predictability와 context reuse가 높을 때 상각된다.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LATENCY: 동일 정확도의 test-time compute (≈5×↓)</a:t>
            </a:r>
          </a:p>
          <a:p xmlns:a="http://schemas.openxmlformats.org/drawingml/2006/main">
            <a:r>
              <a:t>• GSM: sleep budget 증가 시 정확도 (+13% max)</a:t>
            </a:r>
          </a:p>
          <a:p xmlns:a="http://schemas.openxmlformats.org/drawingml/2006/main">
            <a:r>
              <a:t>• AIME: sleep budget 증가 시 정확도 (+18% max)</a:t>
            </a:r>
          </a:p>
          <a:p xmlns:a="http://schemas.openxmlformats.org/drawingml/2006/main">
            <a:r>
              <a:t>• MULTI-QUERY: 질의당 평균 비용 (2.5×↓)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STC-T01</a:t>
            </a:r>
          </a:p>
          <a:p xmlns:a="http://schemas.openxmlformats.org/drawingml/2006/main">
            <a:r>
              <a:t>STC-C002</a:t>
            </a:r>
          </a:p>
          <a:p xmlns:a="http://schemas.openxmlformats.org/drawingml/2006/main">
            <a:r>
              <a:t>STC-C034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STC-DEEP-065 — 2026 ‘Language Models Need Sleep’은 parametric sleep을 구성했다</a:t>
            </a:r>
          </a:p>
          <a:p xmlns:a="http://schemas.openxmlformats.org/drawingml/2006/main">
            <a:r>
              <a:t>핵심 결론: Parametric sleep의 가장 직접적인 method evidence지만 fleet readiness 증거는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EXPAND: smaller/fast memory에서 larger/slower capacity로</a:t>
            </a:r>
          </a:p>
          <a:p xmlns:a="http://schemas.openxmlformats.org/drawingml/2006/main">
            <a:r>
              <a:t>• SEED: generalized distillation+RL imitation</a:t>
            </a:r>
          </a:p>
          <a:p xmlns:a="http://schemas.openxmlformats.org/drawingml/2006/main">
            <a:r>
              <a:t>• DREAM: RL로 synthetic curriculum 생성·선별</a:t>
            </a:r>
          </a:p>
          <a:p xmlns:a="http://schemas.openxmlformats.org/drawingml/2006/main">
            <a:r>
              <a:t>• EVAL: class-incremental·long-context·reasoning·knowledge incorporation</a:t>
            </a:r>
          </a:p>
          <a:p xmlns:a="http://schemas.openxmlformats.org/drawingml/2006/main">
            <a:r>
              <a:t>• SCOPE: research-scale repeated cycles; production contract 미검증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STC-T02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STC-DEEP-066 — 2026 continual fact study는 weight write의 reachability를 반박했다</a:t>
            </a:r>
          </a:p>
          <a:p xmlns:a="http://schemas.openxmlformats.org/drawingml/2006/main">
            <a:r>
              <a:t>핵심 결론: Weight에 흔적이 남았다는 것만으로 usable long-term memory가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BREADTH: study data가 bare statement보다 application/composition 향상</a:t>
            </a:r>
          </a:p>
          <a:p xmlns:a="http://schemas.openxmlformats.org/drawingml/2006/main">
            <a:r>
              <a:t>• PLATEAU: sequential write 뒤 old-fact survival이 낮은 수준에 정체</a:t>
            </a:r>
          </a:p>
          <a:p xmlns:a="http://schemas.openxmlformats.org/drawingml/2006/main">
            <a:r>
              <a:t>• MISROUTE: 잊힌 응답의 다수가 최신 fact로 routing</a:t>
            </a:r>
          </a:p>
          <a:p xmlns:a="http://schemas.openxmlformats.org/drawingml/2006/main">
            <a:r>
              <a:t>• RECOVER: old fact를 context에 넣으면 77–80% 회복</a:t>
            </a:r>
          </a:p>
          <a:p xmlns:a="http://schemas.openxmlformats.org/drawingml/2006/main">
            <a:r>
              <a:t>• IMPLICATION: stored와 behaviorally reachable은 다름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STC-T03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STC-F015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STC-DEEP-067 — Memory Caching은 RNN state reuse와 growing capacity를 연결한다</a:t>
            </a:r>
          </a:p>
          <a:p xmlns:a="http://schemas.openxmlformats.org/drawingml/2006/main">
            <a:r>
              <a:t>핵심 결론: Subquadratic model도 오래 살려면 state cache policy가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CHECKPOINT: segment 끝 recurrent memory state 저장</a:t>
            </a:r>
          </a:p>
          <a:p xmlns:a="http://schemas.openxmlformats.org/drawingml/2006/main">
            <a:r>
              <a:t>• AGGREGATE: residual·gated·soup·sparse selective</a:t>
            </a:r>
          </a:p>
          <a:p xmlns:a="http://schemas.openxmlformats.org/drawingml/2006/main">
            <a:r>
              <a:t>• CAPACITY: fixed RNN과 all-token KV 사이 연속체</a:t>
            </a:r>
          </a:p>
          <a:p xmlns:a="http://schemas.openxmlformats.org/drawingml/2006/main">
            <a:r>
              <a:t>• SERVING: state reuse·routing·cache locality가 핵심</a:t>
            </a:r>
          </a:p>
          <a:p xmlns:a="http://schemas.openxmlformats.org/drawingml/2006/main">
            <a:r>
              <a:t>• GAP: cache 증가가 access·invalidation cost를 다시 만듦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STC-T11</a:t>
            </a:r>
          </a:p>
          <a:p xmlns:a="http://schemas.openxmlformats.org/drawingml/2006/main">
            <a:r>
              <a:t>STC-C025</a:t>
            </a:r>
          </a:p>
          <a:p xmlns:a="http://schemas.openxmlformats.org/drawingml/2006/main">
            <a:r>
              <a:t>STC-F004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STC-DEEP-068 — Rate–distortion은 모든 memory layer의 공통 한계를 준다</a:t>
            </a:r>
          </a:p>
          <a:p xmlns:a="http://schemas.openxmlformats.org/drawingml/2006/main">
            <a:r>
              <a:t>핵심 결론: Budget 아래에서는 모든 것을 기억할 수 없고 query uncertainty가 최저 비용을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RATE: byte·token·state dimension·fact budget</a:t>
            </a:r>
          </a:p>
          <a:p xmlns:a="http://schemas.openxmlformats.org/drawingml/2006/main">
            <a:r>
              <a:t>• DISTORTION: 원 history 대비 downstream output 변화</a:t>
            </a:r>
          </a:p>
          <a:p xmlns:a="http://schemas.openxmlformats.org/drawingml/2006/main">
            <a:r>
              <a:t>• QUERY: 미래 query를 모르면 더 많은 rate 필요</a:t>
            </a:r>
          </a:p>
          <a:p xmlns:a="http://schemas.openxmlformats.org/drawingml/2006/main">
            <a:r>
              <a:t>• COMPOSE: 반복 compaction의 distortion이 누적</a:t>
            </a:r>
          </a:p>
          <a:p xmlns:a="http://schemas.openxmlformats.org/drawingml/2006/main">
            <a:r>
              <a:t>• REVERSIBLE: cold raw copy가 hot compact state의 보험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STC-T12</a:t>
            </a:r>
          </a:p>
          <a:p xmlns:a="http://schemas.openxmlformats.org/drawingml/2006/main">
            <a:r>
              <a:t>STC-C028</a:t>
            </a:r>
          </a:p>
          <a:p xmlns:a="http://schemas.openxmlformats.org/drawingml/2006/main">
            <a:r>
              <a:t>STC-C030</a:t>
            </a:r>
          </a:p>
          <a:p xmlns:a="http://schemas.openxmlformats.org/drawingml/2006/main">
            <a:r>
              <a:t>STC-F009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STC-DEEP-069 — LoRA memory에도 finite capacity와 saturation knee가 있다</a:t>
            </a:r>
          </a:p>
          <a:p xmlns:a="http://schemas.openxmlformats.org/drawingml/2006/main">
            <a:r>
              <a:t>핵심 결론: Adapter는 유망한 compiled cache이지 무한한 truth store가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RANK: capacity ceiling은 늘지만 parameter efficiency는 비단조</a:t>
            </a:r>
          </a:p>
          <a:p xmlns:a="http://schemas.openxmlformats.org/drawingml/2006/main">
            <a:r>
              <a:t>• DATA: task-aligned synthetic mixture가 raw text보다 효율적</a:t>
            </a:r>
          </a:p>
          <a:p xmlns:a="http://schemas.openxmlformats.org/drawingml/2006/main">
            <a:r>
              <a:t>• MODULE: multi-LoRA가 total capacity를 늘림</a:t>
            </a:r>
          </a:p>
          <a:p xmlns:a="http://schemas.openxmlformats.org/drawingml/2006/main">
            <a:r>
              <a:t>• SYSTEM: routing·merge·cache miss가 이득을 상쇄</a:t>
            </a:r>
          </a:p>
          <a:p xmlns:a="http://schemas.openxmlformats.org/drawingml/2006/main">
            <a:r>
              <a:t>• HYBRID: long/multi-hop peak는 external evidence와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STC-T15</a:t>
            </a:r>
          </a:p>
          <a:p xmlns:a="http://schemas.openxmlformats.org/drawingml/2006/main">
            <a:r>
              <a:t>STC-C027</a:t>
            </a:r>
          </a:p>
          <a:p xmlns:a="http://schemas.openxmlformats.org/drawingml/2006/main">
            <a:r>
              <a:t>STC-C029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STC-DEEP-070 — DANN의 강한 문구는 현재 낮은 증거 등급으로 둔다</a:t>
            </a:r>
          </a:p>
          <a:p xmlns:a="http://schemas.openxmlformats.org/drawingml/2006/main">
            <a:r>
              <a:t>핵심 결론: ‘Zero forgetting’은 검증 가능한 repeated-cycle trace가 나올 때까지 결론이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CLAIM: synthetic sleep·zero forgetting·vision/NLP</a:t>
            </a:r>
          </a:p>
          <a:p xmlns:a="http://schemas.openxmlformats.org/drawingml/2006/main">
            <a:r>
              <a:t>• ACCESS: 동결 시점 full text·code·tables 검증 불가</a:t>
            </a:r>
          </a:p>
          <a:p xmlns:a="http://schemas.openxmlformats.org/drawingml/2006/main">
            <a:r>
              <a:t>• RISK: abstract 수치를 direct evidence처럼 인용할 수 없음</a:t>
            </a:r>
          </a:p>
          <a:p xmlns:a="http://schemas.openxmlformats.org/drawingml/2006/main">
            <a:r>
              <a:t>• USE: hypothesis generator로만 유지</a:t>
            </a:r>
          </a:p>
          <a:p xmlns:a="http://schemas.openxmlformats.org/drawingml/2006/main">
            <a:r>
              <a:t>• UPGRADE: full artifact·baseline·cycle curve 공개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STC-C031</a:t>
            </a:r>
          </a:p>
          <a:p xmlns:a="http://schemas.openxmlformats.org/drawingml/2006/main">
            <a:r>
              <a:t>SRC-STC-0048</a:t>
            </a:r>
          </a:p>
          <a:p xmlns:a="http://schemas.openxmlformats.org/drawingml/2006/main">
            <a:r>
              <a:t>STC-S16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STC-DEEP-071 — OpenAI Dreaming은 strict external lifecycle STC의 제품 신호다</a:t>
            </a:r>
          </a:p>
          <a:p xmlns:a="http://schemas.openxmlformats.org/drawingml/2006/main">
            <a:r>
              <a:t>핵심 결론: Lifecycle adoption의 강한 신호와 parametric learning 주장은 분리해야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INPUT: 여러 conversation의 accumulated memory</a:t>
            </a:r>
          </a:p>
          <a:p xmlns:a="http://schemas.openxmlformats.org/drawingml/2006/main">
            <a:r>
              <a:t>• BACKGROUND: response path 밖 synthesis</a:t>
            </a:r>
          </a:p>
          <a:p xmlns:a="http://schemas.openxmlformats.org/drawingml/2006/main">
            <a:r>
              <a:t>• OUTPUT: freshness·continuity·relevance를 반영한 memory state</a:t>
            </a:r>
          </a:p>
          <a:p xmlns:a="http://schemas.openxmlformats.org/drawingml/2006/main">
            <a:r>
              <a:t>• CONTROL: user memory controls와 rollout</a:t>
            </a:r>
          </a:p>
          <a:p xmlns:a="http://schemas.openxmlformats.org/drawingml/2006/main">
            <a:r>
              <a:t>• BOUNDARY: 공개 evidence는 model-weight rewrite를 뜻하지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SRC-STC-0060</a:t>
            </a:r>
          </a:p>
          <a:p xmlns:a="http://schemas.openxmlformats.org/drawingml/2006/main">
            <a:r>
              <a:t>SRC-STC-0063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STC-DEEP-072 — Letta는 sleeptime agent를 pre-query memory compiler로 구현한다</a:t>
            </a:r>
          </a:p>
          <a:p xmlns:a="http://schemas.openxmlformats.org/drawingml/2006/main">
            <a:r>
              <a:t>핵심 결론: External sleep operator는 이미 구현 가능하지만 품질·비용 검증은 별개다.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FOREGROUND: user-facing agent가 interaction 수행</a:t>
            </a:r>
          </a:p>
          <a:p xmlns:a="http://schemas.openxmlformats.org/drawingml/2006/main">
            <a:r>
              <a:t>• BUFFER: shared memory block에 event 축적</a:t>
            </a:r>
          </a:p>
          <a:p xmlns:a="http://schemas.openxmlformats.org/drawingml/2006/main">
            <a:r>
              <a:t>• SLEEPER: 별도 agent가 memory를 정리·수정</a:t>
            </a:r>
          </a:p>
          <a:p xmlns:a="http://schemas.openxmlformats.org/drawingml/2006/main">
            <a:r>
              <a:t>• REUSE: 다음 query 전에 compiled token-space state 제공</a:t>
            </a:r>
          </a:p>
          <a:p xmlns:a="http://schemas.openxmlformats.org/drawingml/2006/main">
            <a:r>
              <a:t>• LIMIT: 학습 weight·independent production trace는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SRC-STC-0030</a:t>
            </a:r>
          </a:p>
          <a:p xmlns:a="http://schemas.openxmlformats.org/drawingml/2006/main">
            <a:r>
              <a:t>SRC-STC-0064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STC-DEEP-073 — Mem0는 extraction·update·graph를 background memory로 묶는다</a:t>
            </a:r>
          </a:p>
          <a:p xmlns:a="http://schemas.openxmlformats.org/drawingml/2006/main">
            <a:r>
              <a:t>핵심 결론: 현재 industry STC는 parameter보다 external memory management에 가깝다.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EXTRACT: conversation에서 candidate memory 생성</a:t>
            </a:r>
          </a:p>
          <a:p xmlns:a="http://schemas.openxmlformats.org/drawingml/2006/main">
            <a:r>
              <a:t>• DECIDE: add·update·delete·no-op</a:t>
            </a:r>
          </a:p>
          <a:p xmlns:a="http://schemas.openxmlformats.org/drawingml/2006/main">
            <a:r>
              <a:t>• STORE: vector/graph와 metadata 갱신</a:t>
            </a:r>
          </a:p>
          <a:p xmlns:a="http://schemas.openxmlformats.org/drawingml/2006/main">
            <a:r>
              <a:t>• SERVE: query-time retrieval로 context 축소</a:t>
            </a:r>
          </a:p>
          <a:p xmlns:a="http://schemas.openxmlformats.org/drawingml/2006/main">
            <a:r>
              <a:t>• EVIDENCE: 제품·benchmark 신호; weight consolidation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SRC-STC-0034</a:t>
            </a:r>
          </a:p>
          <a:p xmlns:a="http://schemas.openxmlformats.org/drawingml/2006/main">
            <a:r>
              <a:t>SRC-STC-0061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STC-DEEP-074 — Zep은 memory를 temporal truth-maintenance 문제로 본다</a:t>
            </a:r>
          </a:p>
          <a:p xmlns:a="http://schemas.openxmlformats.org/drawingml/2006/main">
            <a:r>
              <a:t>핵심 결론: 장기기억은 단순 vector append가 아니라 시간에 따른 consistency 관리다.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EPISODE: 원 대화·event를 보존</a:t>
            </a:r>
          </a:p>
          <a:p xmlns:a="http://schemas.openxmlformats.org/drawingml/2006/main">
            <a:r>
              <a:t>• ENTITY: stable node와 semantic relation</a:t>
            </a:r>
          </a:p>
          <a:p xmlns:a="http://schemas.openxmlformats.org/drawingml/2006/main">
            <a:r>
              <a:t>• TIME: validity와 chronology</a:t>
            </a:r>
          </a:p>
          <a:p xmlns:a="http://schemas.openxmlformats.org/drawingml/2006/main">
            <a:r>
              <a:t>• CONFLICT: 새 assertion이 old를 supersede</a:t>
            </a:r>
          </a:p>
          <a:p xmlns:a="http://schemas.openxmlformats.org/drawingml/2006/main">
            <a:r>
              <a:t>• RETRIEVE: current-state와 historical provenance를 함께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STC-T09</a:t>
            </a:r>
          </a:p>
          <a:p xmlns:a="http://schemas.openxmlformats.org/drawingml/2006/main">
            <a:r>
              <a:t>STC-C013</a:t>
            </a:r>
          </a:p>
          <a:p xmlns:a="http://schemas.openxmlformats.org/drawingml/2006/main">
            <a:r>
              <a:t>STC-C038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STC-DEEP-075 — Google은 parametric sleep과 external self-evolution을 병렬 탐색한다</a:t>
            </a:r>
          </a:p>
          <a:p xmlns:a="http://schemas.openxmlformats.org/drawingml/2006/main">
            <a:r>
              <a:t>핵심 결론: Research convergence는 강하지만 product parametric adoption은 아직 미확인이다.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SLEEP: Knowledge Seeding·Dreaming의 offline adaptation</a:t>
            </a:r>
          </a:p>
          <a:p xmlns:a="http://schemas.openxmlformats.org/drawingml/2006/main">
            <a:r>
              <a:t>• NESTED: HOPE가 memory/optimizer를 update frequency로 해석</a:t>
            </a:r>
          </a:p>
          <a:p xmlns:a="http://schemas.openxmlformats.org/drawingml/2006/main">
            <a:r>
              <a:t>• REASONINGBANK: 성공·실패 trajectory에서 strategy 추출</a:t>
            </a:r>
          </a:p>
          <a:p xmlns:a="http://schemas.openxmlformats.org/drawingml/2006/main">
            <a:r>
              <a:t>• PRODUCTION: 공개 Gemini per-user weight sleep은 확인되지 않음</a:t>
            </a:r>
          </a:p>
          <a:p xmlns:a="http://schemas.openxmlformats.org/drawingml/2006/main">
            <a:r>
              <a:t>• OPEN: isolation·rollback·delete·resource 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STC-T02</a:t>
            </a:r>
          </a:p>
          <a:p xmlns:a="http://schemas.openxmlformats.org/drawingml/2006/main">
            <a:r>
              <a:t>STC-T10</a:t>
            </a:r>
          </a:p>
          <a:p xmlns:a="http://schemas.openxmlformats.org/drawingml/2006/main">
            <a:r>
              <a:t>SRC-STC-0054</a:t>
            </a:r>
          </a:p>
          <a:p xmlns:a="http://schemas.openxmlformats.org/drawingml/2006/main">
            <a:r>
              <a:t>SRC-STC-0055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STC-DEEP-076 — Meta는 explicit memory와 self-editable agent program을 연구한다</a:t>
            </a:r>
          </a:p>
          <a:p xmlns:a="http://schemas.openxmlformats.org/drawingml/2006/main">
            <a:r>
              <a:t>핵심 결론: Self-improving agent와 sleep lifecycle은 겹치지만 동일하지 않다.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PAHF: clarification·feedback을 per-user external memory에 반영</a:t>
            </a:r>
          </a:p>
          <a:p xmlns:a="http://schemas.openxmlformats.org/drawingml/2006/main">
            <a:r>
              <a:t>• HYPERAGENT: meta-agent가 archive·memory·program을 수정</a:t>
            </a:r>
          </a:p>
          <a:p xmlns:a="http://schemas.openxmlformats.org/drawingml/2006/main">
            <a:r>
              <a:t>• SIGNAL: experience-to-durable-artifact 연구</a:t>
            </a:r>
          </a:p>
          <a:p xmlns:a="http://schemas.openxmlformats.org/drawingml/2006/main">
            <a:r>
              <a:t>• BOUNDARY: background biological sleep이나 consumer rollout 아님</a:t>
            </a:r>
          </a:p>
          <a:p xmlns:a="http://schemas.openxmlformats.org/drawingml/2006/main">
            <a:r>
              <a:t>• OPEN: tenant·deletion·rollback·hardware 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SRC-STC-0044</a:t>
            </a:r>
          </a:p>
          <a:p xmlns:a="http://schemas.openxmlformats.org/drawingml/2006/main">
            <a:r>
              <a:t>SRC-STC-0045</a:t>
            </a:r>
          </a:p>
          <a:p xmlns:a="http://schemas.openxmlformats.org/drawingml/2006/main">
            <a:r>
              <a:t>SRC-STC-0057</a:t>
            </a:r>
          </a:p>
          <a:p xmlns:a="http://schemas.openxmlformats.org/drawingml/2006/main">
            <a:r>
              <a:t>SRC-STC-0058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STC-DEEP-077 — Microsoft는 destination-neutral memory benchmark를 강화한다</a:t>
            </a:r>
          </a:p>
          <a:p xmlns:a="http://schemas.openxmlformats.org/drawingml/2006/main">
            <a:r>
              <a:t>핵심 결론: 업계는 ‘기억이 있는가’보다 실제 task value를 측정하는 방향으로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EXTERNAL: LongMem의 frozen backbone+side memory</a:t>
            </a:r>
          </a:p>
          <a:p xmlns:a="http://schemas.openxmlformats.org/drawingml/2006/main">
            <a:r>
              <a:t>• PARAMETRIC: GenerativeAdapter의 data→adapter compilation</a:t>
            </a:r>
          </a:p>
          <a:p xmlns:a="http://schemas.openxmlformats.org/drawingml/2006/main">
            <a:r>
              <a:t>• BENCH: STATE-Bench가 reliability·cost·UX를 평가</a:t>
            </a:r>
          </a:p>
          <a:p xmlns:a="http://schemas.openxmlformats.org/drawingml/2006/main">
            <a:r>
              <a:t>• BASELINE: no-memory와 common interface 비교</a:t>
            </a:r>
          </a:p>
          <a:p xmlns:a="http://schemas.openxmlformats.org/drawingml/2006/main">
            <a:r>
              <a:t>• OPEN: 특정 mechanism의 production win은 아직 경쟁 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SRC-STC-0026</a:t>
            </a:r>
          </a:p>
          <a:p xmlns:a="http://schemas.openxmlformats.org/drawingml/2006/main">
            <a:r>
              <a:t>SRC-STC-0027</a:t>
            </a:r>
          </a:p>
          <a:p xmlns:a="http://schemas.openxmlformats.org/drawingml/2006/main">
            <a:r>
              <a:t>SRC-STC-0056</a:t>
            </a:r>
          </a:p>
          <a:p xmlns:a="http://schemas.openxmlformats.org/drawingml/2006/main">
            <a:r>
              <a:t>SRC-STC-0067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STC-DEEP-078 — 학계는 네 계보가 lifecycle 관점에서 수렴한다</a:t>
            </a:r>
          </a:p>
          <a:p xmlns:a="http://schemas.openxmlformats.org/drawingml/2006/main">
            <a:r>
              <a:t>핵심 결론: 주류가 되는 것은 하나의 sleep algorithm보다 lifecycle composition일 가능성이 높다.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REPLAY: pseudorehearsal·generative replay·sleep SNN</a:t>
            </a:r>
          </a:p>
          <a:p xmlns:a="http://schemas.openxmlformats.org/drawingml/2006/main">
            <a:r>
              <a:t>• PLASTICITY: regularization·gradient constraint·modularity</a:t>
            </a:r>
          </a:p>
          <a:p xmlns:a="http://schemas.openxmlformats.org/drawingml/2006/main">
            <a:r>
              <a:t>• NEURAL MEMORY: TTT·Titans·HOPE·Memory Caching</a:t>
            </a:r>
          </a:p>
          <a:p xmlns:a="http://schemas.openxmlformats.org/drawingml/2006/main">
            <a:r>
              <a:t>• COMPACTION: rate–distortion·summary·graph·adapter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STC-S05</a:t>
            </a:r>
          </a:p>
          <a:p xmlns:a="http://schemas.openxmlformats.org/drawingml/2006/main">
            <a:r>
              <a:t>STC-C016</a:t>
            </a:r>
          </a:p>
          <a:p xmlns:a="http://schemas.openxmlformats.org/drawingml/2006/main">
            <a:r>
              <a:t>STC-C023</a:t>
            </a:r>
          </a:p>
          <a:p xmlns:a="http://schemas.openxmlformats.org/drawingml/2006/main">
            <a:r>
              <a:t>STC-C028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STC-DEEP-079 — 여섯 핵심 주장 중 강한 결론은 두 개뿐이다</a:t>
            </a:r>
          </a:p>
          <a:p xmlns:a="http://schemas.openxmlformats.org/drawingml/2006/main">
            <a:r>
              <a:t>핵심 결론: ‘promising’은 workload·destination·evidence level을 붙여 말해야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NEW AXIS: 질의 전/후 reusable computation은 실재</a:t>
            </a:r>
          </a:p>
          <a:p xmlns:a="http://schemas.openxmlformats.org/drawingml/2006/main">
            <a:r>
              <a:t>• MAINSTREAM: lifecycle은 likely, 명칭은 uncertain</a:t>
            </a:r>
          </a:p>
          <a:p xmlns:a="http://schemas.openxmlformats.org/drawingml/2006/main">
            <a:r>
              <a:t>• LONG CONTEXT: 특정 reuse workload에서만 우월</a:t>
            </a:r>
          </a:p>
          <a:p xmlns:a="http://schemas.openxmlformats.org/drawingml/2006/main">
            <a:r>
              <a:t>• CONTINUAL: 보조하지만 forgetting 해결 증거 부족</a:t>
            </a:r>
          </a:p>
          <a:p xmlns:a="http://schemas.openxmlformats.org/drawingml/2006/main">
            <a:r>
              <a:t>• PARAMETRIC: external보다 보편 우월하지 않음</a:t>
            </a:r>
          </a:p>
          <a:p xmlns:a="http://schemas.openxmlformats.org/drawingml/2006/main">
            <a:r>
              <a:t>• DEVICE: 조건부로 큰 data-movement 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STC-S10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STC-DEEP-080 — 가치는 reuse·stability·verifiability가 높은 workload에 집중된다</a:t>
            </a:r>
          </a:p>
          <a:p xmlns:a="http://schemas.openxmlformats.org/drawingml/2006/main">
            <a:r>
              <a:t>핵심 결론: Sleep compute은 future query가 반복되어 선불 비용을 회수할 때 가장 유리하다.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CODEBASE: 반복 query·stable repository → 높음</a:t>
            </a:r>
          </a:p>
          <a:p xmlns:a="http://schemas.openxmlformats.org/drawingml/2006/main">
            <a:r>
              <a:t>• PERSONAL: high reuse이나 privacy/volatility gate → 중간</a:t>
            </a:r>
          </a:p>
          <a:p xmlns:a="http://schemas.openxmlformats.org/drawingml/2006/main">
            <a:r>
              <a:t>• ENTERPRISE: evidence·delete 요구가 높아 external 우세</a:t>
            </a:r>
          </a:p>
          <a:p xmlns:a="http://schemas.openxmlformats.org/drawingml/2006/main">
            <a:r>
              <a:t>• NEWS: volatile truth → parametric 낮음</a:t>
            </a:r>
          </a:p>
          <a:p xmlns:a="http://schemas.openxmlformats.org/drawingml/2006/main">
            <a:r>
              <a:t>• ONE-SHOT: 상각 불가 → 낮음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STC-S10</a:t>
            </a:r>
          </a:p>
          <a:p xmlns:a="http://schemas.openxmlformats.org/drawingml/2006/main">
            <a:r>
              <a:t>STC-C034</a:t>
            </a:r>
          </a:p>
          <a:p xmlns:a="http://schemas.openxmlformats.org/drawingml/2006/main">
            <a:r>
              <a:t>STC-C035</a:t>
            </a:r>
          </a:p>
          <a:p xmlns:a="http://schemas.openxmlformats.org/drawingml/2006/main">
            <a:r>
              <a:t>STC-F007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STC-DEEP-081 — 주류화 여부는 다섯 시나리오로 추적한다</a:t>
            </a:r>
          </a:p>
          <a:p xmlns:a="http://schemas.openxmlformats.org/drawingml/2006/main">
            <a:r>
              <a:t>핵심 결론: 달력 예측 대신 각 시나리오의 leading indicator와 falsifier를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EXTERNAL DEFAULT: background summary·graph·index가 표준</a:t>
            </a:r>
          </a:p>
          <a:p xmlns:a="http://schemas.openxmlformats.org/drawingml/2006/main">
            <a:r>
              <a:t>• HYBRID: external truth+adapter cache가 확산</a:t>
            </a:r>
          </a:p>
          <a:p xmlns:a="http://schemas.openxmlformats.org/drawingml/2006/main">
            <a:r>
              <a:t>• PARAMETRIC NICHE: stable high-reuse domain만 weight/adapter</a:t>
            </a:r>
          </a:p>
          <a:p xmlns:a="http://schemas.openxmlformats.org/drawingml/2006/main">
            <a:r>
              <a:t>• BROAD PARAMETRIC: 반복 cycle·delete·isolation proof 필요</a:t>
            </a:r>
          </a:p>
          <a:p xmlns:a="http://schemas.openxmlformats.org/drawingml/2006/main">
            <a:r>
              <a:t>• STALL: RAG/context frontier가 lifecycle gain을 흡수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STC-S11</a:t>
            </a:r>
          </a:p>
          <a:p xmlns:a="http://schemas.openxmlformats.org/drawingml/2006/main">
            <a:r>
              <a:t>STC-C045</a:t>
            </a:r>
          </a:p>
          <a:p xmlns:a="http://schemas.openxmlformats.org/drawingml/2006/main">
            <a:r>
              <a:t>STC-C046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STC-DEEP-082 — 가장 가능성 높은 경로는 lifecycle mainstream·parameter niche다</a:t>
            </a:r>
          </a:p>
          <a:p xmlns:a="http://schemas.openxmlformats.org/drawingml/2006/main">
            <a:r>
              <a:t>핵심 결론: 이 축은 주류가 될 수 있지만 대부분 ‘sleep’이라는 이름이나 full-weight training 형태는 아닐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NOW: external background synthesis와 memory policy 확산</a:t>
            </a:r>
          </a:p>
          <a:p xmlns:a="http://schemas.openxmlformats.org/drawingml/2006/main">
            <a:r>
              <a:t>• NEXT: adapter·neural state를 high-reuse artifact로 추가</a:t>
            </a:r>
          </a:p>
          <a:p xmlns:a="http://schemas.openxmlformats.org/drawingml/2006/main">
            <a:r>
              <a:t>• LATER: shared-weight promotion은 evidence가 축적된 subset</a:t>
            </a:r>
          </a:p>
          <a:p xmlns:a="http://schemas.openxmlformats.org/drawingml/2006/main">
            <a:r>
              <a:t>• NOT YET: unbounded per-user self-training은 base case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STC-C045</a:t>
            </a:r>
          </a:p>
          <a:p xmlns:a="http://schemas.openxmlformats.org/drawingml/2006/main">
            <a:r>
              <a:t>STC-C046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STC-DEEP-083 — Sleep scaling은 compute를 미래 query에 선불 배분하는 법칙이다</a:t>
            </a:r>
          </a:p>
          <a:p xmlns:a="http://schemas.openxmlformats.org/drawingml/2006/main">
            <a:r>
              <a:t>핵심 결론: 총 FLOP보다 누가 언제 기다리고 몇 번 재사용하는지가 새 축을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SLEEP: query 전 transform·training budget</a:t>
            </a:r>
          </a:p>
          <a:p xmlns:a="http://schemas.openxmlformats.org/drawingml/2006/main">
            <a:r>
              <a:t>• WAKE: query가 도착한 뒤 latency-critical budget</a:t>
            </a:r>
          </a:p>
          <a:p xmlns:a="http://schemas.openxmlformats.org/drawingml/2006/main">
            <a:r>
              <a:t>• REUSE: 한 artifact가 서비스하는 future query 수</a:t>
            </a:r>
          </a:p>
          <a:p xmlns:a="http://schemas.openxmlformats.org/drawingml/2006/main">
            <a:r>
              <a:t>• GAIN: quality·latency·cost frontier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STC-S12</a:t>
            </a:r>
          </a:p>
          <a:p xmlns:a="http://schemas.openxmlformats.org/drawingml/2006/main">
            <a:r>
              <a:t>STC-C034</a:t>
            </a:r>
          </a:p>
          <a:p xmlns:a="http://schemas.openxmlformats.org/drawingml/2006/main">
            <a:r>
              <a:t>STC-F016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STC-DEEP-084 — 순가치는 quality gain에서 다섯 비용을 뺀 값이다</a:t>
            </a:r>
          </a:p>
          <a:p xmlns:a="http://schemas.openxmlformats.org/drawingml/2006/main">
            <a:r>
              <a:t>핵심 결론: Sleep budget은 gain이 아니라 lifecycle net value로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VALUE: future query 분포에서의 expected utility</a:t>
            </a:r>
          </a:p>
          <a:p xmlns:a="http://schemas.openxmlformats.org/drawingml/2006/main">
            <a:r>
              <a:t>• BUILD: generate·train·compact 비용</a:t>
            </a:r>
          </a:p>
          <a:p xmlns:a="http://schemas.openxmlformats.org/drawingml/2006/main">
            <a:r>
              <a:t>• VERIFY: retention·safety evaluation 비용</a:t>
            </a:r>
          </a:p>
          <a:p xmlns:a="http://schemas.openxmlformats.org/drawingml/2006/main">
            <a:r>
              <a:t>• SERVE: lookup·adapter load·cache miss 비용</a:t>
            </a:r>
          </a:p>
          <a:p xmlns:a="http://schemas.openxmlformats.org/drawingml/2006/main">
            <a:r>
              <a:t>• GOV: provenance·delete·rollback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STC-C034</a:t>
            </a:r>
          </a:p>
          <a:p xmlns:a="http://schemas.openxmlformats.org/drawingml/2006/main">
            <a:r>
              <a:t>STC-C035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STC-F016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STC-DEEP-085 — Compute scaling은 초기에 이득이 크고 뒤에는 포화한다</a:t>
            </a:r>
          </a:p>
          <a:p xmlns:a="http://schemas.openxmlformats.org/drawingml/2006/main">
            <a:r>
              <a:t>핵심 결론: 무제한 sleep FLOP이 아니라 policy-conditioned diminishing return을 예상한다.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LOW: coverage 부족: 중요한 relation 미계산</a:t>
            </a:r>
          </a:p>
          <a:p xmlns:a="http://schemas.openxmlformats.org/drawingml/2006/main">
            <a:r>
              <a:t>• MID: high-probability query를 빠르게 precompute</a:t>
            </a:r>
          </a:p>
          <a:p xmlns:a="http://schemas.openxmlformats.org/drawingml/2006/main">
            <a:r>
              <a:t>• HIGH: 중복·irrelevant dream·verification debt 증가</a:t>
            </a:r>
          </a:p>
          <a:p xmlns:a="http://schemas.openxmlformats.org/drawingml/2006/main">
            <a:r>
              <a:t>• SHIFT: better policy가 curve를 위/왼쪽으로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STC-C036</a:t>
            </a:r>
          </a:p>
          <a:p xmlns:a="http://schemas.openxmlformats.org/drawingml/2006/main">
            <a:r>
              <a:t>STC-H001</a:t>
            </a:r>
          </a:p>
          <a:p xmlns:a="http://schemas.openxmlformats.org/drawingml/2006/main">
            <a:r>
              <a:t>STC-F016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STC-DEEP-086 — Data scaling의 독립변수는 sample 수가 아니라 valid diversity다</a:t>
            </a:r>
          </a:p>
          <a:p xmlns:a="http://schemas.openxmlformats.org/drawingml/2006/main">
            <a:r>
              <a:t>핵심 결론: 같은 token budget에서도 provenance와 coverage가 effective data를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VALID: grounded·consented·correct outcome</a:t>
            </a:r>
          </a:p>
          <a:p xmlns:a="http://schemas.openxmlformats.org/drawingml/2006/main">
            <a:r>
              <a:t>• DIVERSE: task·time·failure mode coverage</a:t>
            </a:r>
          </a:p>
          <a:p xmlns:a="http://schemas.openxmlformats.org/drawingml/2006/main">
            <a:r>
              <a:t>• REPLAY: old capability를 대표하는 support</a:t>
            </a:r>
          </a:p>
          <a:p xmlns:a="http://schemas.openxmlformats.org/drawingml/2006/main">
            <a:r>
              <a:t>• SYNTHETIC: real support를 넓히는 candidate</a:t>
            </a:r>
          </a:p>
          <a:p xmlns:a="http://schemas.openxmlformats.org/drawingml/2006/main">
            <a:r>
              <a:t>• POISON: 오류율이 durable harm으로 누적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STC-C031</a:t>
            </a:r>
          </a:p>
          <a:p xmlns:a="http://schemas.openxmlformats.org/drawingml/2006/main">
            <a:r>
              <a:t>STC-C036</a:t>
            </a:r>
          </a:p>
          <a:p xmlns:a="http://schemas.openxmlformats.org/drawingml/2006/main">
            <a:r>
              <a:t>STC-H002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STC-DEEP-087 — Capacity scaling에는 utility knee와 interference cliff가 있다</a:t>
            </a:r>
          </a:p>
          <a:p xmlns:a="http://schemas.openxmlformats.org/drawingml/2006/main">
            <a:r>
              <a:t>핵심 결론: 용량은 parameter count가 아니라 reachable utility per byte로 측정한다.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GROW: 새 memory가 recall coverage를 높임</a:t>
            </a:r>
          </a:p>
          <a:p xmlns:a="http://schemas.openxmlformats.org/drawingml/2006/main">
            <a:r>
              <a:t>• KNEE: 중복·routing entropy가 marginal gain을 줄임</a:t>
            </a:r>
          </a:p>
          <a:p xmlns:a="http://schemas.openxmlformats.org/drawingml/2006/main">
            <a:r>
              <a:t>• CLIFF: interference·cache miss·merge debt가 utility를 감소</a:t>
            </a:r>
          </a:p>
          <a:p xmlns:a="http://schemas.openxmlformats.org/drawingml/2006/main">
            <a:r>
              <a:t>• RESET: compaction·eviction·module split으로 frontier 복구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STC-C028</a:t>
            </a:r>
          </a:p>
          <a:p xmlns:a="http://schemas.openxmlformats.org/drawingml/2006/main">
            <a:r>
              <a:t>STC-C029</a:t>
            </a:r>
          </a:p>
          <a:p xmlns:a="http://schemas.openxmlformats.org/drawingml/2006/main">
            <a:r>
              <a:t>STC-H003</a:t>
            </a:r>
          </a:p>
          <a:p xmlns:a="http://schemas.openxmlformats.org/drawingml/2006/main">
            <a:r>
              <a:t>STC-F009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STC-DEEP-088 — Reuse와 predictability가 sleep economics의 곱셈항이다</a:t>
            </a:r>
          </a:p>
          <a:p xmlns:a="http://schemas.openxmlformats.org/drawingml/2006/main">
            <a:r>
              <a:t>핵심 결론: One-shot·volatile·unpredictable workload에서는 sleep이 구조적으로 불리하다.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REUSE: 같은 context/domain state가 다시 조회되는 횟수</a:t>
            </a:r>
          </a:p>
          <a:p xmlns:a="http://schemas.openxmlformats.org/drawingml/2006/main">
            <a:r>
              <a:t>• HIT: precomputed artifact가 실제 query에 유용한 확률</a:t>
            </a:r>
          </a:p>
          <a:p xmlns:a="http://schemas.openxmlformats.org/drawingml/2006/main">
            <a:r>
              <a:t>• FRESH: artifact가 invalidation 전 유효한 기간</a:t>
            </a:r>
          </a:p>
          <a:p xmlns:a="http://schemas.openxmlformats.org/drawingml/2006/main">
            <a:r>
              <a:t>• SHARE: 여러 tenant/query가 안전하게 공동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STC-C034</a:t>
            </a:r>
          </a:p>
          <a:p xmlns:a="http://schemas.openxmlformats.org/drawingml/2006/main">
            <a:r>
              <a:t>STC-C035</a:t>
            </a:r>
          </a:p>
          <a:p xmlns:a="http://schemas.openxmlformats.org/drawingml/2006/main">
            <a:r>
              <a:t>STC-H004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STC-DEEP-089 — Cadence scaling은 staleness와 batch efficiency를 교환한다</a:t>
            </a:r>
          </a:p>
          <a:p xmlns:a="http://schemas.openxmlformats.org/drawingml/2006/main">
            <a:r>
              <a:t>핵심 결론: 고정 1시간 주기보다 deadline-aware queue가 합리적이다.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FAST: fresh하지만 작은 batch·높은 launch/verify overhead</a:t>
            </a:r>
          </a:p>
          <a:p xmlns:a="http://schemas.openxmlformats.org/drawingml/2006/main">
            <a:r>
              <a:t>• SLOW: 좋은 batching이지만 stale memory 증가</a:t>
            </a:r>
          </a:p>
          <a:p xmlns:a="http://schemas.openxmlformats.org/drawingml/2006/main">
            <a:r>
              <a:t>• RISK: delete·security event는 별도 urgent lane</a:t>
            </a:r>
          </a:p>
          <a:p xmlns:a="http://schemas.openxmlformats.org/drawingml/2006/main">
            <a:r>
              <a:t>• OPTIMUM: workload별 cost+staleness minimum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STC-C032</a:t>
            </a:r>
          </a:p>
          <a:p xmlns:a="http://schemas.openxmlformats.org/drawingml/2006/main">
            <a:r>
              <a:t>STC-C033</a:t>
            </a:r>
          </a:p>
          <a:p xmlns:a="http://schemas.openxmlformats.org/drawingml/2006/main">
            <a:r>
              <a:t>STC-H005</a:t>
            </a:r>
          </a:p>
          <a:p xmlns:a="http://schemas.openxmlformats.org/drawingml/2006/main">
            <a:r>
              <a:t>STC-F013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STC-DEEP-090 — Robustness cost를 빼면 scaling curve는 허상이다</a:t>
            </a:r>
          </a:p>
          <a:p xmlns:a="http://schemas.openxmlformats.org/drawingml/2006/main">
            <a:r>
              <a:t>핵심 결론: 안전·삭제·회귀 검증은 optional overhead가 아니라 scaling denominator다.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RETENTION: old capability regression</a:t>
            </a:r>
          </a:p>
          <a:p xmlns:a="http://schemas.openxmlformats.org/drawingml/2006/main">
            <a:r>
              <a:t>• COLLAPSE: recursive synthetic-data tail loss</a:t>
            </a:r>
          </a:p>
          <a:p xmlns:a="http://schemas.openxmlformats.org/drawingml/2006/main">
            <a:r>
              <a:t>• POISON: persistent backdoor·prompt injection</a:t>
            </a:r>
          </a:p>
          <a:p xmlns:a="http://schemas.openxmlformats.org/drawingml/2006/main">
            <a:r>
              <a:t>• PRIVACY: derived state의 exposure·cross-tenant leak</a:t>
            </a:r>
          </a:p>
          <a:p xmlns:a="http://schemas.openxmlformats.org/drawingml/2006/main">
            <a:r>
              <a:t>• ERASURE: delete propagation과 residual proof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STC-C042</a:t>
            </a:r>
          </a:p>
          <a:p xmlns:a="http://schemas.openxmlformats.org/drawingml/2006/main">
            <a:r>
              <a:t>STC-C044</a:t>
            </a:r>
          </a:p>
          <a:p xmlns:a="http://schemas.openxmlformats.org/drawingml/2006/main">
            <a:r>
              <a:t>STC-C046</a:t>
            </a:r>
          </a:p>
          <a:p xmlns:a="http://schemas.openxmlformats.org/drawingml/2006/main">
            <a:r>
              <a:t>STC-F015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STC-DEEP-091 — External↔parametric crossover는 reuse threshold로 계산한다</a:t>
            </a:r>
          </a:p>
          <a:p xmlns:a="http://schemas.openxmlformats.org/drawingml/2006/main">
            <a:r>
              <a:t>핵심 결론: Adapter 승격은 stable high-reuse subset에서만 경제성이 생긴다.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EXTERNAL: 낮은 build, query마다 retrieval/prefill 비용</a:t>
            </a:r>
          </a:p>
          <a:p xmlns:a="http://schemas.openxmlformats.org/drawingml/2006/main">
            <a:r>
              <a:t>• PARAMETRIC: 높은 train/verify, 낮은 반복 serve 비용</a:t>
            </a:r>
          </a:p>
          <a:p xmlns:a="http://schemas.openxmlformats.org/drawingml/2006/main">
            <a:r>
              <a:t>• VOLATILITY: 수정이 잦으면 retrain·revalidate cost 증가</a:t>
            </a:r>
          </a:p>
          <a:p xmlns:a="http://schemas.openxmlformats.org/drawingml/2006/main">
            <a:r>
              <a:t>• THRESHOLD: 누적 serve 절감이 build+governance를 넘는 지점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STC-C035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STC-F010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STC-DEEP-092 — Scaling law를 찾으려면 여섯 축을 독립 sweep한다</a:t>
            </a:r>
          </a:p>
          <a:p xmlns:a="http://schemas.openxmlformats.org/drawingml/2006/main">
            <a:r>
              <a:t>핵심 결론: 한 benchmark의 최고점으로 법칙을 선언하지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COMPUTE: sleep FLOP·token·wall-time</a:t>
            </a:r>
          </a:p>
          <a:p xmlns:a="http://schemas.openxmlformats.org/drawingml/2006/main">
            <a:r>
              <a:t>• DATA: valid diversity·replay ratio</a:t>
            </a:r>
          </a:p>
          <a:p xmlns:a="http://schemas.openxmlformats.org/drawingml/2006/main">
            <a:r>
              <a:t>• CAPACITY: bytes·rank·modules·facts</a:t>
            </a:r>
          </a:p>
          <a:p xmlns:a="http://schemas.openxmlformats.org/drawingml/2006/main">
            <a:r>
              <a:t>• REUSE: queries/context·hit probability</a:t>
            </a:r>
          </a:p>
          <a:p xmlns:a="http://schemas.openxmlformats.org/drawingml/2006/main">
            <a:r>
              <a:t>• VOLATILITY: update/delete/conflict rate</a:t>
            </a:r>
          </a:p>
          <a:p xmlns:a="http://schemas.openxmlformats.org/drawingml/2006/main">
            <a:r>
              <a:t>• RISK: poison/privacy/regression budget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STC-S12</a:t>
            </a:r>
          </a:p>
          <a:p xmlns:a="http://schemas.openxmlformats.org/drawingml/2006/main">
            <a:r>
              <a:t>STC-C036</a:t>
            </a:r>
          </a:p>
          <a:p xmlns:a="http://schemas.openxmlformats.org/drawingml/2006/main">
            <a:r>
              <a:t>STC-F014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STC-DEEP-093 — 현재 scaling law는 결과가 아니라 검증 가능한 hypothesis set이다</a:t>
            </a:r>
          </a:p>
          <a:p xmlns:a="http://schemas.openxmlformats.org/drawingml/2006/main">
            <a:r>
              <a:t>핵심 결론: 논문이 제안한 것은 power-law 숫자가 아니라 측정 좌표계다.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H1: compute diminishing return</a:t>
            </a:r>
          </a:p>
          <a:p xmlns:a="http://schemas.openxmlformats.org/drawingml/2006/main">
            <a:r>
              <a:t>• H2: valid-diversity data law</a:t>
            </a:r>
          </a:p>
          <a:p xmlns:a="http://schemas.openxmlformats.org/drawingml/2006/main">
            <a:r>
              <a:t>• H3: capacity knee/cliff</a:t>
            </a:r>
          </a:p>
          <a:p xmlns:a="http://schemas.openxmlformats.org/drawingml/2006/main">
            <a:r>
              <a:t>• H4: reuse×predictability amortization</a:t>
            </a:r>
          </a:p>
          <a:p xmlns:a="http://schemas.openxmlformats.org/drawingml/2006/main">
            <a:r>
              <a:t>• H5: cadence–staleness optimum</a:t>
            </a:r>
          </a:p>
          <a:p xmlns:a="http://schemas.openxmlformats.org/drawingml/2006/main">
            <a:r>
              <a:t>• STATUS: all prospective; no universal exponent claimed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STC-H001</a:t>
            </a:r>
          </a:p>
          <a:p xmlns:a="http://schemas.openxmlformats.org/drawingml/2006/main">
            <a:r>
              <a:t>STC-H002</a:t>
            </a:r>
          </a:p>
          <a:p xmlns:a="http://schemas.openxmlformats.org/drawingml/2006/main">
            <a:r>
              <a:t>STC-H003</a:t>
            </a:r>
          </a:p>
          <a:p xmlns:a="http://schemas.openxmlformats.org/drawingml/2006/main">
            <a:r>
              <a:t>STC-H004</a:t>
            </a:r>
          </a:p>
          <a:p xmlns:a="http://schemas.openxmlformats.org/drawingml/2006/main">
            <a:r>
              <a:t>STC-H005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STC-DEEP-094 — 다음 연구는 exponent보다 falsifier를 먼저 공개한다</a:t>
            </a:r>
          </a:p>
          <a:p xmlns:a="http://schemas.openxmlformats.org/drawingml/2006/main">
            <a:r>
              <a:t>핵심 결론: 하나라도 실패하면 broad adoption 주장을 좁힌다.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HIT: query predictability가 낮아도 gain이 유지되는가?</a:t>
            </a:r>
          </a:p>
          <a:p xmlns:a="http://schemas.openxmlformats.org/drawingml/2006/main">
            <a:r>
              <a:t>• CYCLE: 100+ consolidation 뒤 retention이 남는가?</a:t>
            </a:r>
          </a:p>
          <a:p xmlns:a="http://schemas.openxmlformats.org/drawingml/2006/main">
            <a:r>
              <a:t>• DELETE: source 삭제가 모든 artifact에 bounded time으로 전파되는가?</a:t>
            </a:r>
          </a:p>
          <a:p xmlns:a="http://schemas.openxmlformats.org/drawingml/2006/main">
            <a:r>
              <a:t>• COST: 검증 포함 joule/query가 strongest baseline보다 낮은가?</a:t>
            </a:r>
          </a:p>
          <a:p xmlns:a="http://schemas.openxmlformats.org/drawingml/2006/main">
            <a:r>
              <a:t>• TRANSFER: toy benchmark 밖 enterprise trace에서 재현되는가?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STC-S16</a:t>
            </a:r>
          </a:p>
          <a:p xmlns:a="http://schemas.openxmlformats.org/drawingml/2006/main">
            <a:r>
              <a:t>STC-C042</a:t>
            </a:r>
          </a:p>
          <a:p xmlns:a="http://schemas.openxmlformats.org/drawingml/2006/main">
            <a:r>
              <a:t>STC-C045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STC-DEEP-095 — Infra는 wake·sleep·memory fabric의 세 plane으로 분리된다</a:t>
            </a:r>
          </a:p>
          <a:p xmlns:a="http://schemas.openxmlformats.org/drawingml/2006/main">
            <a:r>
              <a:t>핵심 결론: Plane은 분리하되 artifact와 version contract로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WAKE PLANE: latency-critical inference·retrieval·fast update</a:t>
            </a:r>
          </a:p>
          <a:p xmlns:a="http://schemas.openxmlformats.org/drawingml/2006/main">
            <a:r>
              <a:t>• SLEEP PLANE: batch transform·train·verify·publish</a:t>
            </a:r>
          </a:p>
          <a:p xmlns:a="http://schemas.openxmlformats.org/drawingml/2006/main">
            <a:r>
              <a:t>• MEMORY FABRIC: canonical evidence·derived state·lineage·tiering</a:t>
            </a:r>
          </a:p>
          <a:p xmlns:a="http://schemas.openxmlformats.org/drawingml/2006/main">
            <a:r>
              <a:t>• CONTROL: scheduler·policy·version·observability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STC-S13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STC-F011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STC-DEEP-096 — Wake cluster는 응답과 evidence capture를 끝까지 분리한다</a:t>
            </a:r>
          </a:p>
          <a:p xmlns:a="http://schemas.openxmlformats.org/drawingml/2006/main">
            <a:r>
              <a:t>핵심 결론: Wake가 sleep optimizer나 graph merge를 기다리면 causal boundary가 무너진다.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READ: model·adapter·retrieval snapshot pin</a:t>
            </a:r>
          </a:p>
          <a:p xmlns:a="http://schemas.openxmlformats.org/drawingml/2006/main">
            <a:r>
              <a:t>• INFER: prefill/decode·tool use·optional TTT</a:t>
            </a:r>
          </a:p>
          <a:p xmlns:a="http://schemas.openxmlformats.org/drawingml/2006/main">
            <a:r>
              <a:t>• CAPTURE: event·outcome·consent를 append-only WAL에</a:t>
            </a:r>
          </a:p>
          <a:p xmlns:a="http://schemas.openxmlformats.org/drawingml/2006/main">
            <a:r>
              <a:t>• ACK: durable enqueue만 하고 training을 기다리지 않음</a:t>
            </a:r>
          </a:p>
          <a:p xmlns:a="http://schemas.openxmlformats.org/drawingml/2006/main">
            <a:r>
              <a:t>• SLO: TTFT·ITL·tail latency를 우선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STC-C043</a:t>
            </a:r>
          </a:p>
          <a:p xmlns:a="http://schemas.openxmlformats.org/drawingml/2006/main">
            <a:r>
              <a:t>STC-F011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STC-DEEP-097 — Sleep cluster는 mixed inference+training workload다</a:t>
            </a:r>
          </a:p>
          <a:p xmlns:a="http://schemas.openxmlformats.org/drawingml/2006/main">
            <a:r>
              <a:t>핵심 결론: FLOP뿐 아니라 HBM traffic·checkpoint·metadata tail이 자원 모델에 들어간다.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GENERATE: teacher inference·dream·counterexample</a:t>
            </a:r>
          </a:p>
          <a:p xmlns:a="http://schemas.openxmlformats.org/drawingml/2006/main">
            <a:r>
              <a:t>• TRAIN: LoRA/full/fast-state update</a:t>
            </a:r>
          </a:p>
          <a:p xmlns:a="http://schemas.openxmlformats.org/drawingml/2006/main">
            <a:r>
              <a:t>• COMPACT: summary·dedup·graph merge·index</a:t>
            </a:r>
          </a:p>
          <a:p xmlns:a="http://schemas.openxmlformats.org/drawingml/2006/main">
            <a:r>
              <a:t>• VERIFY: held-out eval·red-team·delete rehearsal</a:t>
            </a:r>
          </a:p>
          <a:p xmlns:a="http://schemas.openxmlformats.org/drawingml/2006/main">
            <a:r>
              <a:t>• PUBLISH: snapshot·manifest·atomic promotion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STC-C032</a:t>
            </a:r>
          </a:p>
          <a:p xmlns:a="http://schemas.openxmlformats.org/drawingml/2006/main">
            <a:r>
              <a:t>STC-C033</a:t>
            </a:r>
          </a:p>
          <a:p xmlns:a="http://schemas.openxmlformats.org/drawingml/2006/main">
            <a:r>
              <a:t>STC-F013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STC-DEEP-098 — Memory fabric는 truth와 compiled artifact를 같은 graph로 잇는다</a:t>
            </a:r>
          </a:p>
          <a:p xmlns:a="http://schemas.openxmlformats.org/drawingml/2006/main">
            <a:r>
              <a:t>핵심 결론: 빠른 검색과 정확한 삭제는 동일한 lineage metadata를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CANONICAL: raw event·document·tool outcome</a:t>
            </a:r>
          </a:p>
          <a:p xmlns:a="http://schemas.openxmlformats.org/drawingml/2006/main">
            <a:r>
              <a:t>• DERIVED: fact·summary·vector·graph·KV/state</a:t>
            </a:r>
          </a:p>
          <a:p xmlns:a="http://schemas.openxmlformats.org/drawingml/2006/main">
            <a:r>
              <a:t>• PARAMETRIC: adapter·expert·candidate checkpoint</a:t>
            </a:r>
          </a:p>
          <a:p xmlns:a="http://schemas.openxmlformats.org/drawingml/2006/main">
            <a:r>
              <a:t>• LINEAGE: source→operator→artifact dependency</a:t>
            </a:r>
          </a:p>
          <a:p xmlns:a="http://schemas.openxmlformats.org/drawingml/2006/main">
            <a:r>
              <a:t>• CATALOG: owner·scope·TTL·policy·compatibility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STC-C043</a:t>
            </a:r>
          </a:p>
          <a:p xmlns:a="http://schemas.openxmlformats.org/drawingml/2006/main">
            <a:r>
              <a:t>STC-C044</a:t>
            </a:r>
          </a:p>
          <a:p xmlns:a="http://schemas.openxmlformats.org/drawingml/2006/main">
            <a:r>
              <a:t>STC-F010</a:t>
            </a:r>
          </a:p>
          <a:p xmlns:a="http://schemas.openxmlformats.org/drawingml/2006/main">
            <a:r>
              <a:t>STC-F012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STC-DEEP-099 — Data movement는 state locality와 delta transport로 줄인다</a:t>
            </a:r>
          </a:p>
          <a:p xmlns:a="http://schemas.openxmlformats.org/drawingml/2006/main">
            <a:r>
              <a:t>핵심 결론: Wake↔sleep 간 전체 state 복사는 scaling law를 data-movement law로 바꾼다.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CO-LOCATE: replay shard와 target adapter를 같은 worker에</a:t>
            </a:r>
          </a:p>
          <a:p xmlns:a="http://schemas.openxmlformats.org/drawingml/2006/main">
            <a:r>
              <a:t>• DELTA: raw corpus 대신 manifest·gradient/adapter delta 이동</a:t>
            </a:r>
          </a:p>
          <a:p xmlns:a="http://schemas.openxmlformats.org/drawingml/2006/main">
            <a:r>
              <a:t>• PIN: immutable base와 hot snapshot을 HBM/DRAM에 유지</a:t>
            </a:r>
          </a:p>
          <a:p xmlns:a="http://schemas.openxmlformats.org/drawingml/2006/main">
            <a:r>
              <a:t>• STREAM: cold evidence는 SSD/object tier에서 순차 공급</a:t>
            </a:r>
          </a:p>
          <a:p xmlns:a="http://schemas.openxmlformats.org/drawingml/2006/main">
            <a:r>
              <a:t>• CONTENT ID: 중복 artifact 전송 방지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STC-C033</a:t>
            </a:r>
          </a:p>
          <a:p xmlns:a="http://schemas.openxmlformats.org/drawingml/2006/main">
            <a:r>
              <a:t>STC-C043</a:t>
            </a:r>
          </a:p>
          <a:p xmlns:a="http://schemas.openxmlformats.org/drawingml/2006/main">
            <a:r>
              <a:t>STC-F011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STC-DEEP-100 — Scheduler는 가치·deadline·locality를 함께 최적화한다</a:t>
            </a:r>
          </a:p>
          <a:p xmlns:a="http://schemas.openxmlformats.org/drawingml/2006/main">
            <a:r>
              <a:t>핵심 결론: GPU utilization만 최대화하면 high-value memory가 stale해질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VALUE: expected future utility per joule</a:t>
            </a:r>
          </a:p>
          <a:p xmlns:a="http://schemas.openxmlformats.org/drawingml/2006/main">
            <a:r>
              <a:t>• DEADLINE: freshness·delete·security SLA</a:t>
            </a:r>
          </a:p>
          <a:p xmlns:a="http://schemas.openxmlformats.org/drawingml/2006/main">
            <a:r>
              <a:t>• LOCALITY: 이미 resident한 model/state/data</a:t>
            </a:r>
          </a:p>
          <a:p xmlns:a="http://schemas.openxmlformats.org/drawingml/2006/main">
            <a:r>
              <a:t>• BATCH: compatible tenant·base·operator grouping</a:t>
            </a:r>
          </a:p>
          <a:p xmlns:a="http://schemas.openxmlformats.org/drawingml/2006/main">
            <a:r>
              <a:t>• PREEMPT: wake surge 시 checkpoint-safe 양보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STC-C032</a:t>
            </a:r>
          </a:p>
          <a:p xmlns:a="http://schemas.openxmlformats.org/drawingml/2006/main">
            <a:r>
              <a:t>STC-C033</a:t>
            </a:r>
          </a:p>
          <a:p xmlns:a="http://schemas.openxmlformats.org/drawingml/2006/main">
            <a:r>
              <a:t>STC-F013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STC-DEEP-101 — Snapshot version은 model·memory·index를 하나의 read view로 묶는다</a:t>
            </a:r>
          </a:p>
          <a:p xmlns:a="http://schemas.openxmlformats.org/drawingml/2006/main">
            <a:r>
              <a:t>핵심 결론: 부분 publish는 stale index와 새 adapter가 섞이는 silent failure를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BUNDLE: base+adapter+index+graph+policy manifest</a:t>
            </a:r>
          </a:p>
          <a:p xmlns:a="http://schemas.openxmlformats.org/drawingml/2006/main">
            <a:r>
              <a:t>• PIN: 한 request는 같은 version을 끝까지 사용</a:t>
            </a:r>
          </a:p>
          <a:p xmlns:a="http://schemas.openxmlformats.org/drawingml/2006/main">
            <a:r>
              <a:t>• CANARY: 새 bundle을 제한 traffic에 공개</a:t>
            </a:r>
          </a:p>
          <a:p xmlns:a="http://schemas.openxmlformats.org/drawingml/2006/main">
            <a:r>
              <a:t>• INVALIDATE: cache와 prefix reuse key 갱신</a:t>
            </a:r>
          </a:p>
          <a:p xmlns:a="http://schemas.openxmlformats.org/drawingml/2006/main">
            <a:r>
              <a:t>• ROLLBACK: pointer revert로 prior consistent view 복구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STC-C043</a:t>
            </a:r>
          </a:p>
          <a:p xmlns:a="http://schemas.openxmlformats.org/drawingml/2006/main">
            <a:r>
              <a:t>STC-F011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STC-DEEP-102 — Persistent memory는 새로운 control-plane attack surface다</a:t>
            </a:r>
          </a:p>
          <a:p xmlns:a="http://schemas.openxmlformats.org/drawingml/2006/main">
            <a:r>
              <a:t>핵심 결론: Sleep worker는 sandbox·signature·tenant isolation·provenance gate가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INGEST: prompt injection이 replay candidate로 승격</a:t>
            </a:r>
          </a:p>
          <a:p xmlns:a="http://schemas.openxmlformats.org/drawingml/2006/main">
            <a:r>
              <a:t>• TRAIN: poison이 adapter/weight에 durable imprint</a:t>
            </a:r>
          </a:p>
          <a:p xmlns:a="http://schemas.openxmlformats.org/drawingml/2006/main">
            <a:r>
              <a:t>• RETRIEVE: cross-tenant·secret exfiltration</a:t>
            </a:r>
          </a:p>
          <a:p xmlns:a="http://schemas.openxmlformats.org/drawingml/2006/main">
            <a:r>
              <a:t>• PUBLISH: malicious artifact·rollback blocking</a:t>
            </a:r>
          </a:p>
          <a:p xmlns:a="http://schemas.openxmlformats.org/drawingml/2006/main">
            <a:r>
              <a:t>• AUDIT: output-only test가 hidden memory를 놓침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STC-C042</a:t>
            </a:r>
          </a:p>
          <a:p xmlns:a="http://schemas.openxmlformats.org/drawingml/2006/main">
            <a:r>
              <a:t>STC-C046</a:t>
            </a:r>
          </a:p>
          <a:p xmlns:a="http://schemas.openxmlformats.org/drawingml/2006/main">
            <a:r>
              <a:t>STC-F015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STC-DEEP-103 — Deletion SLA는 serving 차단과 physical rebuild를 분리한다</a:t>
            </a:r>
          </a:p>
          <a:p xmlns:a="http://schemas.openxmlformats.org/drawingml/2006/main">
            <a:r>
              <a:t>핵심 결론: 빠른 logical delete와 느린 compaction을 하나의 모호한 약속으로 만들지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T0 BLOCK: retrieval·adapter routing 즉시 차단</a:t>
            </a:r>
          </a:p>
          <a:p xmlns:a="http://schemas.openxmlformats.org/drawingml/2006/main">
            <a:r>
              <a:t>• TRACE: derived lineage와 shared dependency 계산</a:t>
            </a:r>
          </a:p>
          <a:p xmlns:a="http://schemas.openxmlformats.org/drawingml/2006/main">
            <a:r>
              <a:t>• REBUILD: remaining evidence로 index/state 재생성</a:t>
            </a:r>
          </a:p>
          <a:p xmlns:a="http://schemas.openxmlformats.org/drawingml/2006/main">
            <a:r>
              <a:t>• VERIFY: canary query와 residue scan</a:t>
            </a:r>
          </a:p>
          <a:p xmlns:a="http://schemas.openxmlformats.org/drawingml/2006/main">
            <a:r>
              <a:t>• ATTEST: logical·physical completion time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STC-C044</a:t>
            </a:r>
          </a:p>
          <a:p xmlns:a="http://schemas.openxmlformats.org/drawingml/2006/main">
            <a:r>
              <a:t>STC-C046</a:t>
            </a:r>
          </a:p>
          <a:p xmlns:a="http://schemas.openxmlformats.org/drawingml/2006/main">
            <a:r>
              <a:t>STC-F012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STC-DEEP-104 — 관측성은 FLOP보다 lifecycle accounting을 먼저 보여야 한다</a:t>
            </a:r>
          </a:p>
          <a:p xmlns:a="http://schemas.openxmlformats.org/drawingml/2006/main">
            <a:r>
              <a:t>핵심 결론: Memory-device 기회는 end-to-end metric에서만 확인된다.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QUALITY: future utility·retention·harm (ΔU / ε)</a:t>
            </a:r>
          </a:p>
          <a:p xmlns:a="http://schemas.openxmlformats.org/drawingml/2006/main">
            <a:r>
              <a:t>• COMPUTE: teacher/train/eval FLOP (FLOP)</a:t>
            </a:r>
          </a:p>
          <a:p xmlns:a="http://schemas.openxmlformats.org/drawingml/2006/main">
            <a:r>
              <a:t>• TRAFFIC: HBM↔DRAM↔SSD↔network (bytes)</a:t>
            </a:r>
          </a:p>
          <a:p xmlns:a="http://schemas.openxmlformats.org/drawingml/2006/main">
            <a:r>
              <a:t>• STATE: raw/derived/adapter footprint (bytes)</a:t>
            </a:r>
          </a:p>
          <a:p xmlns:a="http://schemas.openxmlformats.org/drawingml/2006/main">
            <a:r>
              <a:t>• OPS: queue age·publish·rollback·delete (p95/p99)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STC-C033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STC-F014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STC-DEEP-105 — Device opportunity는 destination과 operator의 교차점에 있다</a:t>
            </a:r>
          </a:p>
          <a:p xmlns:a="http://schemas.openxmlformats.org/drawingml/2006/main">
            <a:r>
              <a:t>핵심 결론: ‘sleep accelerator’ 하나보다 계층별 data movement 병목이 더 구체적이다.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TEXT/GRAPH: small random I/O·metadata·snapshot</a:t>
            </a:r>
          </a:p>
          <a:p xmlns:a="http://schemas.openxmlformats.org/drawingml/2006/main">
            <a:r>
              <a:t>• VECTOR/KV: high-read BW·quantize·tiering</a:t>
            </a:r>
          </a:p>
          <a:p xmlns:a="http://schemas.openxmlformats.org/drawingml/2006/main">
            <a:r>
              <a:t>• ADAPTER: mixed read/write·optimizer·checkpoint</a:t>
            </a:r>
          </a:p>
          <a:p xmlns:a="http://schemas.openxmlformats.org/drawingml/2006/main">
            <a:r>
              <a:t>• SHARED: large sequential training traffic</a:t>
            </a:r>
          </a:p>
          <a:p xmlns:a="http://schemas.openxmlformats.org/drawingml/2006/main">
            <a:r>
              <a:t>• CONTROL: version·lineage·QoS telemetry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STC-S14</a:t>
            </a:r>
          </a:p>
          <a:p xmlns:a="http://schemas.openxmlformats.org/drawingml/2006/main">
            <a:r>
              <a:t>STC-C047</a:t>
            </a:r>
          </a:p>
          <a:p xmlns:a="http://schemas.openxmlformats.org/drawingml/2006/main">
            <a:r>
              <a:t>STC-F017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STC-DEEP-106 — HBM 기회는 inference와 training traffic이 겹치는 구간이다</a:t>
            </a:r>
          </a:p>
          <a:p xmlns:a="http://schemas.openxmlformats.org/drawingml/2006/main">
            <a:r>
              <a:t>핵심 결론: Peak FLOP보다 mixed-phase bandwidth와 preemption recovery가 차별점이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READ: base weight·teacher·replay activation</a:t>
            </a:r>
          </a:p>
          <a:p xmlns:a="http://schemas.openxmlformats.org/drawingml/2006/main">
            <a:r>
              <a:t>• WRITE: gradient·optimizer·adapter delta·checkpoint</a:t>
            </a:r>
          </a:p>
          <a:p xmlns:a="http://schemas.openxmlformats.org/drawingml/2006/main">
            <a:r>
              <a:t>• MIX: generate→train→eval phase 전환</a:t>
            </a:r>
          </a:p>
          <a:p xmlns:a="http://schemas.openxmlformats.org/drawingml/2006/main">
            <a:r>
              <a:t>• QOS: wake inference와 sleep batch의 bandwidth isolation</a:t>
            </a:r>
          </a:p>
          <a:p xmlns:a="http://schemas.openxmlformats.org/drawingml/2006/main">
            <a:r>
              <a:t>• METRIC: useful memory promotion당 HBM bytes·joule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STC-C047</a:t>
            </a:r>
          </a:p>
          <a:p xmlns:a="http://schemas.openxmlformats.org/drawingml/2006/main">
            <a:r>
              <a:t>STC-C048</a:t>
            </a:r>
          </a:p>
          <a:p xmlns:a="http://schemas.openxmlformats.org/drawingml/2006/main">
            <a:r>
              <a:t>STC-F017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STC-DEEP-107 — CXL·pooled memory는 큰 mutable state의 residency 문제를 푼다</a:t>
            </a:r>
          </a:p>
          <a:p xmlns:a="http://schemas.openxmlformats.org/drawingml/2006/main">
            <a:r>
              <a:t>핵심 결론: 용량 이득이 locality 손실로 상쇄되지 않는 workload boundary를 찾아야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POOL: adapter·optimizer·KV/state를 GPU 밖 공동 보유</a:t>
            </a:r>
          </a:p>
          <a:p xmlns:a="http://schemas.openxmlformats.org/drawingml/2006/main">
            <a:r>
              <a:t>• MIGRATE: hot set만 HBM으로 promote</a:t>
            </a:r>
          </a:p>
          <a:p xmlns:a="http://schemas.openxmlformats.org/drawingml/2006/main">
            <a:r>
              <a:t>• SHARE: immutable base와 domain artifact dedup</a:t>
            </a:r>
          </a:p>
          <a:p xmlns:a="http://schemas.openxmlformats.org/drawingml/2006/main">
            <a:r>
              <a:t>• CONSIST: snapshot/version-aware cache coherence</a:t>
            </a:r>
          </a:p>
          <a:p xmlns:a="http://schemas.openxmlformats.org/drawingml/2006/main">
            <a:r>
              <a:t>• TAIL: page fault·network hop p99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STC-C047</a:t>
            </a:r>
          </a:p>
          <a:p xmlns:a="http://schemas.openxmlformats.org/drawingml/2006/main">
            <a:r>
              <a:t>STC-C048</a:t>
            </a:r>
          </a:p>
          <a:p xmlns:a="http://schemas.openxmlformats.org/drawingml/2006/main">
            <a:r>
              <a:t>STC-F017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STC-DEEP-108 — SSD·object tier는 canonical truth와 rebuild bandwidth를 담당한다</a:t>
            </a:r>
          </a:p>
          <a:p xmlns:a="http://schemas.openxmlformats.org/drawingml/2006/main">
            <a:r>
              <a:t>핵심 결론: Sleep infra는 read-mostly model serving보다 write amplification과 recovery가 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LOG: append-only episode·consent·outcome</a:t>
            </a:r>
          </a:p>
          <a:p xmlns:a="http://schemas.openxmlformats.org/drawingml/2006/main">
            <a:r>
              <a:t>• SNAPSHOT: index·graph·adapter checkpoint</a:t>
            </a:r>
          </a:p>
          <a:p xmlns:a="http://schemas.openxmlformats.org/drawingml/2006/main">
            <a:r>
              <a:t>• STREAM: replay batch를 sequential high-BW로 공급</a:t>
            </a:r>
          </a:p>
          <a:p xmlns:a="http://schemas.openxmlformats.org/drawingml/2006/main">
            <a:r>
              <a:t>• ENDURANCE: frequent compaction·delete·checkpoint write</a:t>
            </a:r>
          </a:p>
          <a:p xmlns:a="http://schemas.openxmlformats.org/drawingml/2006/main">
            <a:r>
              <a:t>• RECOVERY: corrupt derived state를 canonical truth에서 rebuild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STC-C044</a:t>
            </a:r>
          </a:p>
          <a:p xmlns:a="http://schemas.openxmlformats.org/drawingml/2006/main">
            <a:r>
              <a:t>STC-C047</a:t>
            </a:r>
          </a:p>
          <a:p xmlns:a="http://schemas.openxmlformats.org/drawingml/2006/main">
            <a:r>
              <a:t>STC-F017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STC-DEEP-109 — Near-memory operator는 byte를 줄이는 지점에서만 가치가 있다</a:t>
            </a:r>
          </a:p>
          <a:p xmlns:a="http://schemas.openxmlformats.org/drawingml/2006/main">
            <a:r>
              <a:t>핵심 결론: 연산 offload가 아니라 host/GPU로 이동할 byte를 실제로 줄이는지가 기준이다.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FILTER: metadata·consent·TTL로 replay candidate 제거</a:t>
            </a:r>
          </a:p>
          <a:p xmlns:a="http://schemas.openxmlformats.org/drawingml/2006/main">
            <a:r>
              <a:t>• DEDUP: hash·embedding prefilter로 중복 억제</a:t>
            </a:r>
          </a:p>
          <a:p xmlns:a="http://schemas.openxmlformats.org/drawingml/2006/main">
            <a:r>
              <a:t>• QUANTIZE: KV/vector/adapter state의 tier-aware 압축</a:t>
            </a:r>
          </a:p>
          <a:p xmlns:a="http://schemas.openxmlformats.org/drawingml/2006/main">
            <a:r>
              <a:t>• MERGE: delta·small-state aggregation</a:t>
            </a:r>
          </a:p>
          <a:p xmlns:a="http://schemas.openxmlformats.org/drawingml/2006/main">
            <a:r>
              <a:t>• SCAN: deletion lineage와 residue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STC-C047</a:t>
            </a:r>
          </a:p>
          <a:p xmlns:a="http://schemas.openxmlformats.org/drawingml/2006/main">
            <a:r>
              <a:t>STC-C048</a:t>
            </a:r>
          </a:p>
          <a:p xmlns:a="http://schemas.openxmlformats.org/drawingml/2006/main">
            <a:r>
              <a:t>STC-F017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STC-DEEP-110 — Samsung이 우선 검증할 여섯 실험은 명확하다</a:t>
            </a:r>
          </a:p>
          <a:p xmlns:a="http://schemas.openxmlformats.org/drawingml/2006/main">
            <a:r>
              <a:t>핵심 결론: Device roadmap은 broad STC adoption을 기다리지 않고 falsifiable workload로 시작할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E1 HBM: generate/train/eval phase별 bytes·joule</a:t>
            </a:r>
          </a:p>
          <a:p xmlns:a="http://schemas.openxmlformats.org/drawingml/2006/main">
            <a:r>
              <a:t>• E2 PREEMPT: wake burst 중 checkpoint·resume overhead</a:t>
            </a:r>
          </a:p>
          <a:p xmlns:a="http://schemas.openxmlformats.org/drawingml/2006/main">
            <a:r>
              <a:t>• E3 TIER: HBM↔CXL↔SSD hot-state policy와 p99</a:t>
            </a:r>
          </a:p>
          <a:p xmlns:a="http://schemas.openxmlformats.org/drawingml/2006/main">
            <a:r>
              <a:t>• E4 SNAPSHOT: full vs delta checkpoint write amplification</a:t>
            </a:r>
          </a:p>
          <a:p xmlns:a="http://schemas.openxmlformats.org/drawingml/2006/main">
            <a:r>
              <a:t>• E5 CAPACITY: state bytes 대비 utility knee</a:t>
            </a:r>
          </a:p>
          <a:p xmlns:a="http://schemas.openxmlformats.org/drawingml/2006/main">
            <a:r>
              <a:t>• E6 DELETE: lineage scan·rebuild·attestation cost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STC-S14</a:t>
            </a:r>
          </a:p>
          <a:p xmlns:a="http://schemas.openxmlformats.org/drawingml/2006/main">
            <a:r>
              <a:t>STC-S15</a:t>
            </a:r>
          </a:p>
          <a:p xmlns:a="http://schemas.openxmlformats.org/drawingml/2006/main">
            <a:r>
              <a:t>STC-C047</a:t>
            </a:r>
          </a:p>
          <a:p xmlns:a="http://schemas.openxmlformats.org/drawingml/2006/main">
            <a:r>
              <a:t>STC-C048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STC-DEEP-111 — 90일 benchmark는 baseline·cycle·device를 한 번에 묶는다</a:t>
            </a:r>
          </a:p>
          <a:p xmlns:a="http://schemas.openxmlformats.org/drawingml/2006/main">
            <a:r>
              <a:t>핵심 결론: 같은 evidence stream과 query trace로 모든 destination을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0–30: external summary/RAG·LoRA·no-memory baseline 고정</a:t>
            </a:r>
          </a:p>
          <a:p xmlns:a="http://schemas.openxmlformats.org/drawingml/2006/main">
            <a:r>
              <a:t>• 31–60: reuse·volatility·capacity·100-cycle sweep</a:t>
            </a:r>
          </a:p>
          <a:p xmlns:a="http://schemas.openxmlformats.org/drawingml/2006/main">
            <a:r>
              <a:t>• 61–75: poison·delete·rollback·cross-tenant red-team</a:t>
            </a:r>
          </a:p>
          <a:p xmlns:a="http://schemas.openxmlformats.org/drawingml/2006/main">
            <a:r>
              <a:t>• 76–90: HBM/CXL/SSD trace와 system simulator</a:t>
            </a:r>
          </a:p>
          <a:p xmlns:a="http://schemas.openxmlformats.org/drawingml/2006/main">
            <a:r>
              <a:t>• OUTPUT: Pareto frontier·falsifier·device spec proposal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STC-S15</a:t>
            </a:r>
          </a:p>
          <a:p xmlns:a="http://schemas.openxmlformats.org/drawingml/2006/main">
            <a:r>
              <a:t>STC-C041</a:t>
            </a:r>
          </a:p>
          <a:p xmlns:a="http://schemas.openxmlformats.org/drawingml/2006/main">
            <a:r>
              <a:t>STC-C042</a:t>
            </a:r>
          </a:p>
          <a:p xmlns:a="http://schemas.openxmlformats.org/drawingml/2006/main">
            <a:r>
              <a:t>STC-F014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STC-DEEP-112 — 결론: sleep은 모델 기능이 아니라 검증 가능한 memory economy다</a:t>
            </a:r>
          </a:p>
          <a:p xmlns:a="http://schemas.openxmlformats.org/drawingml/2006/main">
            <a:r>
              <a:t>핵심 결론: External-first, parameter-last로 시작하고 evidence가 destination을 승격하게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PROMISING: background external transformation은 이미 실용적</a:t>
            </a:r>
          </a:p>
          <a:p xmlns:a="http://schemas.openxmlformats.org/drawingml/2006/main">
            <a:r>
              <a:t>• CONDITIONAL: parametric consolidation은 stable high-reuse niche</a:t>
            </a:r>
          </a:p>
          <a:p xmlns:a="http://schemas.openxmlformats.org/drawingml/2006/main">
            <a:r>
              <a:t>• LAW: reuse·predictability·capacity·governance가 scaling을 결정</a:t>
            </a:r>
          </a:p>
          <a:p xmlns:a="http://schemas.openxmlformats.org/drawingml/2006/main">
            <a:r>
              <a:t>• INFRA: wake/sleep/memory planes와 atomic state contract</a:t>
            </a:r>
          </a:p>
          <a:p xmlns:a="http://schemas.openxmlformats.org/drawingml/2006/main">
            <a:r>
              <a:t>• DEVICE: mixed traffic·tiering·snapshot·rebuild가 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STC-C038</a:t>
            </a:r>
          </a:p>
          <a:p xmlns:a="http://schemas.openxmlformats.org/drawingml/2006/main">
            <a:r>
              <a:t>STC-C039</a:t>
            </a:r>
          </a:p>
          <a:p xmlns:a="http://schemas.openxmlformats.org/drawingml/2006/main">
            <a:r>
              <a:t>STC-C040</a:t>
            </a:r>
          </a:p>
          <a:p xmlns:a="http://schemas.openxmlformats.org/drawingml/2006/main">
            <a:r>
              <a:t>STC-C047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7512e7841444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12385af5134817" /><Relationship Type="http://schemas.openxmlformats.org/officeDocument/2006/relationships/slideLayout" Target="/ppt/slideLayouts/slideLayout1.xml" Id="R6792b1a7f6cf435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92b1a7f6cf435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f5587555246b4" /><Relationship Type="http://schemas.openxmlformats.org/officeDocument/2006/relationships/notesSlide" Target="/ppt/notesSlides/notesSlide1.xml" Id="Re8a0aff33cce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3ae239b0449a9" /><Relationship Type="http://schemas.openxmlformats.org/officeDocument/2006/relationships/notesSlide" Target="/ppt/notesSlides/notesSlide2.xml" Id="R573b0984c6ff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1e5783944cb1" /><Relationship Type="http://schemas.openxmlformats.org/officeDocument/2006/relationships/notesSlide" Target="/ppt/notesSlides/notesSlide3.xml" Id="R6ab4b62b29eb4c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9a19a9f874c1c" /><Relationship Type="http://schemas.openxmlformats.org/officeDocument/2006/relationships/notesSlide" Target="/ppt/notesSlides/notesSlide4.xml" Id="Rbf20d84fe5b5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8e1bc7770476b" /><Relationship Type="http://schemas.openxmlformats.org/officeDocument/2006/relationships/notesSlide" Target="/ppt/notesSlides/notesSlide5.xml" Id="R1fab5d50f336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f7d3b18cd471f" /><Relationship Type="http://schemas.openxmlformats.org/officeDocument/2006/relationships/notesSlide" Target="/ppt/notesSlides/notesSlide6.xml" Id="R42f2ab7edfeb41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c8c185b2f4dee" /><Relationship Type="http://schemas.openxmlformats.org/officeDocument/2006/relationships/notesSlide" Target="/ppt/notesSlides/notesSlide7.xml" Id="R3a9059dfd0f6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d6b0e8ab348bd" /><Relationship Type="http://schemas.openxmlformats.org/officeDocument/2006/relationships/notesSlide" Target="/ppt/notesSlides/notesSlide8.xml" Id="R8675cf72939e41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ce9a346cc4858" /><Relationship Type="http://schemas.openxmlformats.org/officeDocument/2006/relationships/notesSlide" Target="/ppt/notesSlides/notesSlide9.xml" Id="Ra0c799ef2a6541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880652eed41ea" /><Relationship Type="http://schemas.openxmlformats.org/officeDocument/2006/relationships/notesSlide" Target="/ppt/notesSlides/notesSlide10.xml" Id="R2752d04760c04e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87954cb940b9" /><Relationship Type="http://schemas.openxmlformats.org/officeDocument/2006/relationships/notesSlide" Target="/ppt/notesSlides/notesSlide11.xml" Id="R5004465431a541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8d1c69d294489" /><Relationship Type="http://schemas.openxmlformats.org/officeDocument/2006/relationships/notesSlide" Target="/ppt/notesSlides/notesSlide12.xml" Id="R687ca1e3e2e749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481fcb0af4423" /><Relationship Type="http://schemas.openxmlformats.org/officeDocument/2006/relationships/notesSlide" Target="/ppt/notesSlides/notesSlide13.xml" Id="R1351af5146c54b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5dbecf3ee48de" /><Relationship Type="http://schemas.openxmlformats.org/officeDocument/2006/relationships/notesSlide" Target="/ppt/notesSlides/notesSlide14.xml" Id="R6996c9d5d0ab43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c6ae1ea594713" /><Relationship Type="http://schemas.openxmlformats.org/officeDocument/2006/relationships/notesSlide" Target="/ppt/notesSlides/notesSlide15.xml" Id="R7a61f3bc76ce4e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a94efa5294598" /><Relationship Type="http://schemas.openxmlformats.org/officeDocument/2006/relationships/notesSlide" Target="/ppt/notesSlides/notesSlide16.xml" Id="R3c1970271bcc48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525f4e6fd4c1a" /><Relationship Type="http://schemas.openxmlformats.org/officeDocument/2006/relationships/notesSlide" Target="/ppt/notesSlides/notesSlide17.xml" Id="Rcdd9026bd6294a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baa545cc648e2" /><Relationship Type="http://schemas.openxmlformats.org/officeDocument/2006/relationships/notesSlide" Target="/ppt/notesSlides/notesSlide18.xml" Id="R746412419cdb43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17a6f978b43dd" /><Relationship Type="http://schemas.openxmlformats.org/officeDocument/2006/relationships/notesSlide" Target="/ppt/notesSlides/notesSlide19.xml" Id="R8648b51d97c340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71d56dbfb4c90" /><Relationship Type="http://schemas.openxmlformats.org/officeDocument/2006/relationships/notesSlide" Target="/ppt/notesSlides/notesSlide20.xml" Id="R229f24bba76a4e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f9e2b9e554714" /><Relationship Type="http://schemas.openxmlformats.org/officeDocument/2006/relationships/notesSlide" Target="/ppt/notesSlides/notesSlide21.xml" Id="Ref184e5abc9a44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b13582e464d8c" /><Relationship Type="http://schemas.openxmlformats.org/officeDocument/2006/relationships/notesSlide" Target="/ppt/notesSlides/notesSlide22.xml" Id="Rf8a88fbbd32549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d774cf6b74392" /><Relationship Type="http://schemas.openxmlformats.org/officeDocument/2006/relationships/notesSlide" Target="/ppt/notesSlides/notesSlide23.xml" Id="Reca36bc7d6684e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99391b7b4102" /><Relationship Type="http://schemas.openxmlformats.org/officeDocument/2006/relationships/notesSlide" Target="/ppt/notesSlides/notesSlide24.xml" Id="R623d9a6d320846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86e6fc2f4471c" /><Relationship Type="http://schemas.openxmlformats.org/officeDocument/2006/relationships/notesSlide" Target="/ppt/notesSlides/notesSlide25.xml" Id="R7acc56fcfe97437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87129a0294283" /><Relationship Type="http://schemas.openxmlformats.org/officeDocument/2006/relationships/notesSlide" Target="/ppt/notesSlides/notesSlide26.xml" Id="Rd568d0de28814a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b9f4210824ee1" /><Relationship Type="http://schemas.openxmlformats.org/officeDocument/2006/relationships/notesSlide" Target="/ppt/notesSlides/notesSlide27.xml" Id="R4b1aa30458c74c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a8a774f084629" /><Relationship Type="http://schemas.openxmlformats.org/officeDocument/2006/relationships/notesSlide" Target="/ppt/notesSlides/notesSlide28.xml" Id="Re23bc1f4ce484cf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ee1f457d24637" /><Relationship Type="http://schemas.openxmlformats.org/officeDocument/2006/relationships/notesSlide" Target="/ppt/notesSlides/notesSlide29.xml" Id="R1a412d7c17c848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0f46b2ee14fa0" /><Relationship Type="http://schemas.openxmlformats.org/officeDocument/2006/relationships/notesSlide" Target="/ppt/notesSlides/notesSlide30.xml" Id="R766ae79b25454fa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22c13bcca40de" /><Relationship Type="http://schemas.openxmlformats.org/officeDocument/2006/relationships/notesSlide" Target="/ppt/notesSlides/notesSlide31.xml" Id="R14c618f20fb345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c9d10e2334ace" /><Relationship Type="http://schemas.openxmlformats.org/officeDocument/2006/relationships/notesSlide" Target="/ppt/notesSlides/notesSlide32.xml" Id="Rd638e36596a6459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321bc7d70405d" /><Relationship Type="http://schemas.openxmlformats.org/officeDocument/2006/relationships/notesSlide" Target="/ppt/notesSlides/notesSlide33.xml" Id="R202ca3b212e64dd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984d9228c4944" /><Relationship Type="http://schemas.openxmlformats.org/officeDocument/2006/relationships/notesSlide" Target="/ppt/notesSlides/notesSlide34.xml" Id="R47155ff41d464fc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97c50f1b143cb" /><Relationship Type="http://schemas.openxmlformats.org/officeDocument/2006/relationships/notesSlide" Target="/ppt/notesSlides/notesSlide35.xml" Id="R9726b31fee19437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286fccf224867" /><Relationship Type="http://schemas.openxmlformats.org/officeDocument/2006/relationships/notesSlide" Target="/ppt/notesSlides/notesSlide36.xml" Id="Ra6e0cc8468014fe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c55bf680c47d8" /><Relationship Type="http://schemas.openxmlformats.org/officeDocument/2006/relationships/notesSlide" Target="/ppt/notesSlides/notesSlide37.xml" Id="R161efb3765ca434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ef1f8f0324afc" /><Relationship Type="http://schemas.openxmlformats.org/officeDocument/2006/relationships/notesSlide" Target="/ppt/notesSlides/notesSlide38.xml" Id="R331cf0b0423447e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12e4f38fd4b04" /><Relationship Type="http://schemas.openxmlformats.org/officeDocument/2006/relationships/notesSlide" Target="/ppt/notesSlides/notesSlide39.xml" Id="Re16162943b7842b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e86ddeb54d8e" /><Relationship Type="http://schemas.openxmlformats.org/officeDocument/2006/relationships/notesSlide" Target="/ppt/notesSlides/notesSlide40.xml" Id="R2b4f4aefb577446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cb9b076534f1b" /><Relationship Type="http://schemas.openxmlformats.org/officeDocument/2006/relationships/notesSlide" Target="/ppt/notesSlides/notesSlide41.xml" Id="R1c596d1b85f6443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dcdf71e334685" /><Relationship Type="http://schemas.openxmlformats.org/officeDocument/2006/relationships/notesSlide" Target="/ppt/notesSlides/notesSlide42.xml" Id="R58cc3b72578549d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5944716e94bdb" /><Relationship Type="http://schemas.openxmlformats.org/officeDocument/2006/relationships/notesSlide" Target="/ppt/notesSlides/notesSlide43.xml" Id="Rda53a8ef164e489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ed0ca6b2c4c5e" /><Relationship Type="http://schemas.openxmlformats.org/officeDocument/2006/relationships/notesSlide" Target="/ppt/notesSlides/notesSlide44.xml" Id="R0a94bfaf06814dd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88a79ab81487c" /><Relationship Type="http://schemas.openxmlformats.org/officeDocument/2006/relationships/notesSlide" Target="/ppt/notesSlides/notesSlide45.xml" Id="Rafeee093cf4641f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f527d77884401" /><Relationship Type="http://schemas.openxmlformats.org/officeDocument/2006/relationships/notesSlide" Target="/ppt/notesSlides/notesSlide46.xml" Id="R2f41a2bb3432420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1e38ecec54d73" /><Relationship Type="http://schemas.openxmlformats.org/officeDocument/2006/relationships/notesSlide" Target="/ppt/notesSlides/notesSlide47.xml" Id="R2a8468fcb6a242e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78f4c6f764ad3" /><Relationship Type="http://schemas.openxmlformats.org/officeDocument/2006/relationships/notesSlide" Target="/ppt/notesSlides/notesSlide48.xml" Id="R0caae160f6ee422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4c8e76e8477d" /><Relationship Type="http://schemas.openxmlformats.org/officeDocument/2006/relationships/notesSlide" Target="/ppt/notesSlides/notesSlide49.xml" Id="R9f09f72f0be3421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48da5063048aa" /><Relationship Type="http://schemas.openxmlformats.org/officeDocument/2006/relationships/notesSlide" Target="/ppt/notesSlides/notesSlide50.xml" Id="R20d8397f482841e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05001c65249ae" /><Relationship Type="http://schemas.openxmlformats.org/officeDocument/2006/relationships/notesSlide" Target="/ppt/notesSlides/notesSlide51.xml" Id="R7512e4b6b0ec44a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c1b09150d4d25" /><Relationship Type="http://schemas.openxmlformats.org/officeDocument/2006/relationships/notesSlide" Target="/ppt/notesSlides/notesSlide52.xml" Id="Rc4d25b5594f44f8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0519a22944067" /><Relationship Type="http://schemas.openxmlformats.org/officeDocument/2006/relationships/notesSlide" Target="/ppt/notesSlides/notesSlide53.xml" Id="Rcfc1410dd1e04c7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d67bd68b54a23" /><Relationship Type="http://schemas.openxmlformats.org/officeDocument/2006/relationships/notesSlide" Target="/ppt/notesSlides/notesSlide54.xml" Id="R841577fbb1a948f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d2341ef674b77" /><Relationship Type="http://schemas.openxmlformats.org/officeDocument/2006/relationships/notesSlide" Target="/ppt/notesSlides/notesSlide55.xml" Id="R109262aab78641f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5201e6c1e4134" /><Relationship Type="http://schemas.openxmlformats.org/officeDocument/2006/relationships/notesSlide" Target="/ppt/notesSlides/notesSlide56.xml" Id="Ra95158c514d24dd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48adfb2ac4edc" /><Relationship Type="http://schemas.openxmlformats.org/officeDocument/2006/relationships/notesSlide" Target="/ppt/notesSlides/notesSlide57.xml" Id="Ra364afe9786d474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e5c6c7e1e4e17" /><Relationship Type="http://schemas.openxmlformats.org/officeDocument/2006/relationships/notesSlide" Target="/ppt/notesSlides/notesSlide58.xml" Id="R72d85ce42db148f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66a6922fe4b64" /><Relationship Type="http://schemas.openxmlformats.org/officeDocument/2006/relationships/notesSlide" Target="/ppt/notesSlides/notesSlide59.xml" Id="Rf12919d583e04ba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997af71c3486e" /><Relationship Type="http://schemas.openxmlformats.org/officeDocument/2006/relationships/notesSlide" Target="/ppt/notesSlides/notesSlide60.xml" Id="R0e3e1d4c7692431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411d5485a46fe" /><Relationship Type="http://schemas.openxmlformats.org/officeDocument/2006/relationships/notesSlide" Target="/ppt/notesSlides/notesSlide61.xml" Id="R0f2855a24c034f7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295a31b9e46aa" /><Relationship Type="http://schemas.openxmlformats.org/officeDocument/2006/relationships/notesSlide" Target="/ppt/notesSlides/notesSlide62.xml" Id="Ra426c2bc8f2c40a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dbd1dcc914e95" /><Relationship Type="http://schemas.openxmlformats.org/officeDocument/2006/relationships/notesSlide" Target="/ppt/notesSlides/notesSlide63.xml" Id="R6d7f7c9e57244b7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7ec1b5e084f8b" /><Relationship Type="http://schemas.openxmlformats.org/officeDocument/2006/relationships/notesSlide" Target="/ppt/notesSlides/notesSlide64.xml" Id="R59956733596343e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86b1ff45e4577" /><Relationship Type="http://schemas.openxmlformats.org/officeDocument/2006/relationships/notesSlide" Target="/ppt/notesSlides/notesSlide65.xml" Id="Rc9f821e79779496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d380cd0bb4f15" /><Relationship Type="http://schemas.openxmlformats.org/officeDocument/2006/relationships/notesSlide" Target="/ppt/notesSlides/notesSlide66.xml" Id="R6c3aea54351b483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39f95022c455e" /><Relationship Type="http://schemas.openxmlformats.org/officeDocument/2006/relationships/notesSlide" Target="/ppt/notesSlides/notesSlide67.xml" Id="Rc45547ac99d1450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fee909e4548c3" /><Relationship Type="http://schemas.openxmlformats.org/officeDocument/2006/relationships/notesSlide" Target="/ppt/notesSlides/notesSlide68.xml" Id="Rcc1582cedc264a5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c901c656e4a67" /><Relationship Type="http://schemas.openxmlformats.org/officeDocument/2006/relationships/notesSlide" Target="/ppt/notesSlides/notesSlide69.xml" Id="R38983f52b2284f7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a4608cff64ed9" /><Relationship Type="http://schemas.openxmlformats.org/officeDocument/2006/relationships/notesSlide" Target="/ppt/notesSlides/notesSlide70.xml" Id="R0331ffae5ffc42b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e9faf91a5493a" /><Relationship Type="http://schemas.openxmlformats.org/officeDocument/2006/relationships/notesSlide" Target="/ppt/notesSlides/notesSlide71.xml" Id="R77a763ddd2384239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06c7d3e3846de" /><Relationship Type="http://schemas.openxmlformats.org/officeDocument/2006/relationships/notesSlide" Target="/ppt/notesSlides/notesSlide72.xml" Id="Rc1fd73e6efea41b3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10b8374b1494e" /><Relationship Type="http://schemas.openxmlformats.org/officeDocument/2006/relationships/notesSlide" Target="/ppt/notesSlides/notesSlide73.xml" Id="R0912e0f32e4640fc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fd974088447e3" /><Relationship Type="http://schemas.openxmlformats.org/officeDocument/2006/relationships/notesSlide" Target="/ppt/notesSlides/notesSlide74.xml" Id="Rfd2bc5059fd1471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b3d57e6da4168" /><Relationship Type="http://schemas.openxmlformats.org/officeDocument/2006/relationships/notesSlide" Target="/ppt/notesSlides/notesSlide75.xml" Id="R6fc76287f854449e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50f82141b49a3" /><Relationship Type="http://schemas.openxmlformats.org/officeDocument/2006/relationships/notesSlide" Target="/ppt/notesSlides/notesSlide76.xml" Id="R274cdd0a6343497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5ca8b459450f" /><Relationship Type="http://schemas.openxmlformats.org/officeDocument/2006/relationships/notesSlide" Target="/ppt/notesSlides/notesSlide77.xml" Id="R9c87ff73161346e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03f833cf94534" /><Relationship Type="http://schemas.openxmlformats.org/officeDocument/2006/relationships/notesSlide" Target="/ppt/notesSlides/notesSlide78.xml" Id="R9f666391acea4b6b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80c37fe1345d9" /><Relationship Type="http://schemas.openxmlformats.org/officeDocument/2006/relationships/notesSlide" Target="/ppt/notesSlides/notesSlide79.xml" Id="Ra27790dc866748fd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674d901c546ce" /><Relationship Type="http://schemas.openxmlformats.org/officeDocument/2006/relationships/notesSlide" Target="/ppt/notesSlides/notesSlide80.xml" Id="R7748865d50ca406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b5f9ea0954eaf" /><Relationship Type="http://schemas.openxmlformats.org/officeDocument/2006/relationships/notesSlide" Target="/ppt/notesSlides/notesSlide81.xml" Id="R7a1ed1be9d174bb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42efa99844364" /><Relationship Type="http://schemas.openxmlformats.org/officeDocument/2006/relationships/notesSlide" Target="/ppt/notesSlides/notesSlide82.xml" Id="R34676112a16f48f0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d34ab4ccd4017" /><Relationship Type="http://schemas.openxmlformats.org/officeDocument/2006/relationships/notesSlide" Target="/ppt/notesSlides/notesSlide83.xml" Id="R3349068a1cc6410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bb6dd73e484e" /><Relationship Type="http://schemas.openxmlformats.org/officeDocument/2006/relationships/notesSlide" Target="/ppt/notesSlides/notesSlide84.xml" Id="Rc32fdfa9fa0c485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2a56d313e4102" /><Relationship Type="http://schemas.openxmlformats.org/officeDocument/2006/relationships/notesSlide" Target="/ppt/notesSlides/notesSlide85.xml" Id="R18f2e2e245994cb9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3cdcfd4254f27" /><Relationship Type="http://schemas.openxmlformats.org/officeDocument/2006/relationships/notesSlide" Target="/ppt/notesSlides/notesSlide86.xml" Id="R4175648fb4764c3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0d9fffb934958" /><Relationship Type="http://schemas.openxmlformats.org/officeDocument/2006/relationships/notesSlide" Target="/ppt/notesSlides/notesSlide87.xml" Id="R9ee9ba072bbe451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793e38b3548c9" /><Relationship Type="http://schemas.openxmlformats.org/officeDocument/2006/relationships/notesSlide" Target="/ppt/notesSlides/notesSlide88.xml" Id="R89cdcf2d7aa149a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933aa3b644006" /><Relationship Type="http://schemas.openxmlformats.org/officeDocument/2006/relationships/notesSlide" Target="/ppt/notesSlides/notesSlide89.xml" Id="R204b69754fcc457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cd92995b84cc0" /><Relationship Type="http://schemas.openxmlformats.org/officeDocument/2006/relationships/notesSlide" Target="/ppt/notesSlides/notesSlide90.xml" Id="R53319685fb7f4842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f839843eb4577" /><Relationship Type="http://schemas.openxmlformats.org/officeDocument/2006/relationships/notesSlide" Target="/ppt/notesSlides/notesSlide91.xml" Id="R32685687cd4c4ba3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e4bf0a93a4673" /><Relationship Type="http://schemas.openxmlformats.org/officeDocument/2006/relationships/notesSlide" Target="/ppt/notesSlides/notesSlide92.xml" Id="R379bfc43d5d34332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f4a1adf3942cf" /><Relationship Type="http://schemas.openxmlformats.org/officeDocument/2006/relationships/notesSlide" Target="/ppt/notesSlides/notesSlide93.xml" Id="Raa217b1e830e49b8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77d2fddf9485a" /><Relationship Type="http://schemas.openxmlformats.org/officeDocument/2006/relationships/notesSlide" Target="/ppt/notesSlides/notesSlide94.xml" Id="R58e5f0486e82478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a4f58ec9d4267" /><Relationship Type="http://schemas.openxmlformats.org/officeDocument/2006/relationships/notesSlide" Target="/ppt/notesSlides/notesSlide95.xml" Id="Rbda43ac10d3f456b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c551189e445c7" /><Relationship Type="http://schemas.openxmlformats.org/officeDocument/2006/relationships/notesSlide" Target="/ppt/notesSlides/notesSlide96.xml" Id="Rc7c791c96f7d44ff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3e13c8d5245b4" /><Relationship Type="http://schemas.openxmlformats.org/officeDocument/2006/relationships/notesSlide" Target="/ppt/notesSlides/notesSlide97.xml" Id="R702017e05e3140c0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54fc4dd2e4af2" /><Relationship Type="http://schemas.openxmlformats.org/officeDocument/2006/relationships/notesSlide" Target="/ppt/notesSlides/notesSlide98.xml" Id="R6b3769beedf3404c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e945812494bc2" /><Relationship Type="http://schemas.openxmlformats.org/officeDocument/2006/relationships/notesSlide" Target="/ppt/notesSlides/notesSlide99.xml" Id="Re9eb4574acea4f35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3294cf95a4eda" /><Relationship Type="http://schemas.openxmlformats.org/officeDocument/2006/relationships/notesSlide" Target="/ppt/notesSlides/notesSlide100.xml" Id="R1b1b0c07ccc64de8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3e9556c064773" /><Relationship Type="http://schemas.openxmlformats.org/officeDocument/2006/relationships/notesSlide" Target="/ppt/notesSlides/notesSlide101.xml" Id="Rb004c93d72df41b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e6eb31c0f4008" /><Relationship Type="http://schemas.openxmlformats.org/officeDocument/2006/relationships/notesSlide" Target="/ppt/notesSlides/notesSlide102.xml" Id="Rb52c2d12c28c4d6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a14157cc843e3" /><Relationship Type="http://schemas.openxmlformats.org/officeDocument/2006/relationships/notesSlide" Target="/ppt/notesSlides/notesSlide103.xml" Id="Ra871852c35564f46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c0ef593524c4b" /><Relationship Type="http://schemas.openxmlformats.org/officeDocument/2006/relationships/notesSlide" Target="/ppt/notesSlides/notesSlide104.xml" Id="R769b5ebd5ff946ab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7ffa981334fbd" /><Relationship Type="http://schemas.openxmlformats.org/officeDocument/2006/relationships/notesSlide" Target="/ppt/notesSlides/notesSlide105.xml" Id="R1d95b7195e144f2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67e4c6d54423b" /><Relationship Type="http://schemas.openxmlformats.org/officeDocument/2006/relationships/notesSlide" Target="/ppt/notesSlides/notesSlide106.xml" Id="R11a5844cb3ad4530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cbf4b224a496f" /><Relationship Type="http://schemas.openxmlformats.org/officeDocument/2006/relationships/notesSlide" Target="/ppt/notesSlides/notesSlide107.xml" Id="R36540a9c296b4bc5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8e59add874cdf" /><Relationship Type="http://schemas.openxmlformats.org/officeDocument/2006/relationships/notesSlide" Target="/ppt/notesSlides/notesSlide108.xml" Id="R63d5f668cde447c5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805a154dc43e3" /><Relationship Type="http://schemas.openxmlformats.org/officeDocument/2006/relationships/notesSlide" Target="/ppt/notesSlides/notesSlide109.xml" Id="R6a87593babd04d76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08eb5b0f84727" /><Relationship Type="http://schemas.openxmlformats.org/officeDocument/2006/relationships/notesSlide" Target="/ppt/notesSlides/notesSlide110.xml" Id="R698343846de84c8f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f26491f4f4810" /><Relationship Type="http://schemas.openxmlformats.org/officeDocument/2006/relationships/notesSlide" Target="/ppt/notesSlides/notesSlide111.xml" Id="R3a2bc26a8aea4891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a69af7ee94ded" /><Relationship Type="http://schemas.openxmlformats.org/officeDocument/2006/relationships/notesSlide" Target="/ppt/notesSlides/notesSlide112.xml" Id="R7966c82b193b46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1-status-label">
            <a:extLst xmlns:a="http://schemas.openxmlformats.org/drawingml/2006/main">
              <a:ext uri="{FF2B5EF4-FFF2-40B4-BE49-F238E27FC236}">
                <a16:creationId xmlns:a16="http://schemas.microsoft.com/office/drawing/2014/main" id="{ECF8F890-4ABF-4912-B013-82BBA4B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12064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통합 추론</a:t>
            </a:r>
          </a:p>
        </p:txBody>
      </p:sp>
      <p:sp>
        <p:nvSpPr>
          <p:cNvPr id="3" name="STC-01-status-rule">
            <a:extLst xmlns:a="http://schemas.openxmlformats.org/drawingml/2006/main">
              <a:ext uri="{FF2B5EF4-FFF2-40B4-BE49-F238E27FC236}">
                <a16:creationId xmlns:a16="http://schemas.microsoft.com/office/drawing/2014/main" id="{AA6DA803-4A96-42A0-9B34-E91E76F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621792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5" name="STC-01-cover-rule">
            <a:extLst xmlns:a="http://schemas.openxmlformats.org/drawingml/2006/main">
              <a:ext uri="{FF2B5EF4-FFF2-40B4-BE49-F238E27FC236}">
                <a16:creationId xmlns:a16="http://schemas.microsoft.com/office/drawing/2014/main" id="{D58C78DC-99DA-47FF-9265-AFB71BD5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11480"/>
            <a:ext cx="10789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17191C"/>
            </a:solidFill>
            <a:prstDash val="solid"/>
            <a:tailEnd type="none"/>
          </a:ln>
        </p:spPr>
      </p:sp>
      <p:sp>
        <p:nvSpPr>
          <p:cNvPr id="6" name="STC-01-cover-title">
            <a:extLst xmlns:a="http://schemas.openxmlformats.org/drawingml/2006/main">
              <a:ext uri="{FF2B5EF4-FFF2-40B4-BE49-F238E27FC236}">
                <a16:creationId xmlns:a16="http://schemas.microsoft.com/office/drawing/2014/main" id="{09DC3024-9953-404A-BD8D-21C27475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89888"/>
            <a:ext cx="480060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SLEEP–TIME</a:t>
            </a:r>
          </a:p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COMPUTE</a:t>
            </a:r>
          </a:p>
        </p:txBody>
      </p:sp>
      <p:sp>
        <p:nvSpPr>
          <p:cNvPr id="7" name="STC-01-cover-korean">
            <a:extLst xmlns:a="http://schemas.openxmlformats.org/drawingml/2006/main">
              <a:ext uri="{FF2B5EF4-FFF2-40B4-BE49-F238E27FC236}">
                <a16:creationId xmlns:a16="http://schemas.microsoft.com/office/drawing/2014/main" id="{725837F9-25A7-4373-9C43-4FEA44CD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28416"/>
            <a:ext cx="49377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기억 생애주기의 다음 인프라</a:t>
            </a:r>
          </a:p>
        </p:txBody>
      </p:sp>
      <p:sp>
        <p:nvSpPr>
          <p:cNvPr id="8" name="STC-01-cover-subtitle">
            <a:extLst xmlns:a="http://schemas.openxmlformats.org/drawingml/2006/main">
              <a:ext uri="{FF2B5EF4-FFF2-40B4-BE49-F238E27FC236}">
                <a16:creationId xmlns:a16="http://schemas.microsoft.com/office/drawing/2014/main" id="{781DF06E-5782-4E6E-B7ED-3591E9BB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13632"/>
            <a:ext cx="48920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장기기억·continual learning·background training을 하나의 lifecycle로 재구성</a:t>
            </a:r>
          </a:p>
        </p:txBody>
      </p:sp>
      <p:sp>
        <p:nvSpPr>
          <p:cNvPr id="9" name="STC-01-cover-field">
            <a:extLst xmlns:a="http://schemas.openxmlformats.org/drawingml/2006/main">
              <a:ext uri="{FF2B5EF4-FFF2-40B4-BE49-F238E27FC236}">
                <a16:creationId xmlns:a16="http://schemas.microsoft.com/office/drawing/2014/main" id="{48A15093-8DB7-4EF0-83BE-46125B65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225296"/>
            <a:ext cx="4626864" cy="4370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ECE8DE"/>
            </a:solidFill>
            <a:prstDash val="solid"/>
          </a:ln>
        </p:spPr>
      </p:sp>
      <p:sp>
        <p:nvSpPr>
          <p:cNvPr id="10" name="STC-01-cover-stage-0">
            <a:extLst xmlns:a="http://schemas.openxmlformats.org/drawingml/2006/main">
              <a:ext uri="{FF2B5EF4-FFF2-40B4-BE49-F238E27FC236}">
                <a16:creationId xmlns:a16="http://schemas.microsoft.com/office/drawing/2014/main" id="{73693410-D29D-4049-AEF9-D658225F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591056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WAKE</a:t>
            </a:r>
          </a:p>
        </p:txBody>
      </p:sp>
      <p:sp>
        <p:nvSpPr>
          <p:cNvPr id="11" name="STC-01-cover-arrow-0">
            <a:extLst xmlns:a="http://schemas.openxmlformats.org/drawingml/2006/main">
              <a:ext uri="{FF2B5EF4-FFF2-40B4-BE49-F238E27FC236}">
                <a16:creationId xmlns:a16="http://schemas.microsoft.com/office/drawing/2014/main" id="{B5E39EDC-08D3-45D9-9B4C-EEF7DD6D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19072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01-cover-stage-1">
            <a:extLst xmlns:a="http://schemas.openxmlformats.org/drawingml/2006/main">
              <a:ext uri="{FF2B5EF4-FFF2-40B4-BE49-F238E27FC236}">
                <a16:creationId xmlns:a16="http://schemas.microsoft.com/office/drawing/2014/main" id="{FFAD47D3-8527-4154-9369-58C6BE5F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532888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SNAPSHOT</a:t>
            </a:r>
          </a:p>
        </p:txBody>
      </p:sp>
      <p:sp>
        <p:nvSpPr>
          <p:cNvPr id="13" name="STC-01-cover-arrow-1">
            <a:extLst xmlns:a="http://schemas.openxmlformats.org/drawingml/2006/main">
              <a:ext uri="{FF2B5EF4-FFF2-40B4-BE49-F238E27FC236}">
                <a16:creationId xmlns:a16="http://schemas.microsoft.com/office/drawing/2014/main" id="{DE06FF2C-C1AC-4CE5-B0CB-F4B68ACF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60904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01-cover-stage-2">
            <a:extLst xmlns:a="http://schemas.openxmlformats.org/drawingml/2006/main">
              <a:ext uri="{FF2B5EF4-FFF2-40B4-BE49-F238E27FC236}">
                <a16:creationId xmlns:a16="http://schemas.microsoft.com/office/drawing/2014/main" id="{64028068-F061-4C6C-8039-D8FB068C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474720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</p:txBody>
      </p:sp>
      <p:sp>
        <p:nvSpPr>
          <p:cNvPr id="15" name="STC-01-cover-arrow-2">
            <a:extLst xmlns:a="http://schemas.openxmlformats.org/drawingml/2006/main">
              <a:ext uri="{FF2B5EF4-FFF2-40B4-BE49-F238E27FC236}">
                <a16:creationId xmlns:a16="http://schemas.microsoft.com/office/drawing/2014/main" id="{2093F674-D1CE-4890-A7B4-E89A344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602736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01-cover-stage-3">
            <a:extLst xmlns:a="http://schemas.openxmlformats.org/drawingml/2006/main">
              <a:ext uri="{FF2B5EF4-FFF2-40B4-BE49-F238E27FC236}">
                <a16:creationId xmlns:a16="http://schemas.microsoft.com/office/drawing/2014/main" id="{71250BE0-B8AA-4E26-9D29-E56080ED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416552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MEMORY</a:t>
            </a:r>
          </a:p>
        </p:txBody>
      </p:sp>
      <p:sp>
        <p:nvSpPr>
          <p:cNvPr id="17" name="STC-01-cover-arrow-3">
            <a:extLst xmlns:a="http://schemas.openxmlformats.org/drawingml/2006/main">
              <a:ext uri="{FF2B5EF4-FFF2-40B4-BE49-F238E27FC236}">
                <a16:creationId xmlns:a16="http://schemas.microsoft.com/office/drawing/2014/main" id="{15387D04-0B1D-4E47-8077-DADA139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544568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none"/>
          </a:ln>
        </p:spPr>
      </p:sp>
      <p:sp>
        <p:nvSpPr>
          <p:cNvPr id="18" name="STC-01-cover-manifest">
            <a:extLst xmlns:a="http://schemas.openxmlformats.org/drawingml/2006/main">
              <a:ext uri="{FF2B5EF4-FFF2-40B4-BE49-F238E27FC236}">
                <a16:creationId xmlns:a16="http://schemas.microsoft.com/office/drawing/2014/main" id="{3C619780-4E63-45B3-97C4-F52C7FAE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5175504"/>
            <a:ext cx="3730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기억 lifecycle을 새로운 scaling·infra 축으로 읽는다.</a:t>
            </a:r>
          </a:p>
        </p:txBody>
      </p:sp>
      <p:sp>
        <p:nvSpPr>
          <p:cNvPr id="19" name="STC-01-cover-type">
            <a:extLst xmlns:a="http://schemas.openxmlformats.org/drawingml/2006/main">
              <a:ext uri="{FF2B5EF4-FFF2-40B4-BE49-F238E27FC236}">
                <a16:creationId xmlns:a16="http://schemas.microsoft.com/office/drawing/2014/main" id="{44E28DC7-13B4-4DBF-82DD-1F37A123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144768"/>
            <a:ext cx="5120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DEEP STUDY / SEMINAR / DEVICE AGENDA</a:t>
            </a:r>
          </a:p>
        </p:txBody>
      </p:sp>
      <p:sp>
        <p:nvSpPr>
          <p:cNvPr id="20" name="STC-01-cover-date">
            <a:extLst xmlns:a="http://schemas.openxmlformats.org/drawingml/2006/main">
              <a:ext uri="{FF2B5EF4-FFF2-40B4-BE49-F238E27FC236}">
                <a16:creationId xmlns:a16="http://schemas.microsoft.com/office/drawing/2014/main" id="{4B5F2B3A-0E35-4712-A47A-78B8F3E5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614476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2026.08.05</a:t>
            </a:r>
          </a:p>
        </p:txBody>
      </p:sp>
    </p:spTree>
    <p:extLst>
      <p:ext uri="{BB962C8B-B14F-4D97-AF65-F5344CB8AC3E}">
        <p14:creationId xmlns:p14="http://schemas.microsoft.com/office/powerpoint/2010/main" val="736666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2-section">
            <a:extLst xmlns:a="http://schemas.openxmlformats.org/drawingml/2006/main">
              <a:ext uri="{FF2B5EF4-FFF2-40B4-BE49-F238E27FC236}">
                <a16:creationId xmlns:a16="http://schemas.microsoft.com/office/drawing/2014/main" id="{6D37A1D6-0E0D-4FDB-BF4C-8ACACDC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THESIS</a:t>
            </a:r>
          </a:p>
        </p:txBody>
      </p:sp>
      <p:sp>
        <p:nvSpPr>
          <p:cNvPr id="3" name="STC-02-slide-id">
            <a:extLst xmlns:a="http://schemas.openxmlformats.org/drawingml/2006/main">
              <a:ext uri="{FF2B5EF4-FFF2-40B4-BE49-F238E27FC236}">
                <a16:creationId xmlns:a16="http://schemas.microsoft.com/office/drawing/2014/main" id="{929A42D3-204F-406D-8D7C-000B37A8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STC-002</a:t>
            </a:r>
          </a:p>
        </p:txBody>
      </p:sp>
      <p:sp>
        <p:nvSpPr>
          <p:cNvPr id="4" name="STC-02-headline">
            <a:extLst xmlns:a="http://schemas.openxmlformats.org/drawingml/2006/main">
              <a:ext uri="{FF2B5EF4-FFF2-40B4-BE49-F238E27FC236}">
                <a16:creationId xmlns:a16="http://schemas.microsoft.com/office/drawing/2014/main" id="{90E340DF-88C1-4834-9B03-DF1740AF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핵심은 ‘자는 모델’이 아니라 기억의 이동 규칙이다</a:t>
            </a:r>
          </a:p>
        </p:txBody>
      </p:sp>
      <p:sp>
        <p:nvSpPr>
          <p:cNvPr id="5" name="STC-02-status-label">
            <a:extLst xmlns:a="http://schemas.openxmlformats.org/drawingml/2006/main">
              <a:ext uri="{FF2B5EF4-FFF2-40B4-BE49-F238E27FC236}">
                <a16:creationId xmlns:a16="http://schemas.microsoft.com/office/drawing/2014/main" id="{B4549309-E873-4852-8EEC-9F34727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통합 추론</a:t>
            </a:r>
          </a:p>
        </p:txBody>
      </p:sp>
      <p:sp>
        <p:nvSpPr>
          <p:cNvPr id="6" name="STC-02-status-rule">
            <a:extLst xmlns:a="http://schemas.openxmlformats.org/drawingml/2006/main">
              <a:ext uri="{FF2B5EF4-FFF2-40B4-BE49-F238E27FC236}">
                <a16:creationId xmlns:a16="http://schemas.microsoft.com/office/drawing/2014/main" id="{0EC71D68-FA57-4030-87D5-888B1C97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2-footer-rule">
            <a:extLst xmlns:a="http://schemas.openxmlformats.org/drawingml/2006/main">
              <a:ext uri="{FF2B5EF4-FFF2-40B4-BE49-F238E27FC236}">
                <a16:creationId xmlns:a16="http://schemas.microsoft.com/office/drawing/2014/main" id="{F38CAC94-9908-45BD-BA42-E41D65A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2-source-footer">
            <a:extLst xmlns:a="http://schemas.openxmlformats.org/drawingml/2006/main">
              <a:ext uri="{FF2B5EF4-FFF2-40B4-BE49-F238E27FC236}">
                <a16:creationId xmlns:a16="http://schemas.microsoft.com/office/drawing/2014/main" id="{5F55E68E-8FA9-4C79-9F82-AB50C08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STC-S02 · claims C005/C006/C040</a:t>
            </a:r>
          </a:p>
        </p:txBody>
      </p:sp>
      <p:sp>
        <p:nvSpPr>
          <p:cNvPr id="9" name="STC-02-page-number">
            <a:extLst xmlns:a="http://schemas.openxmlformats.org/drawingml/2006/main">
              <a:ext uri="{FF2B5EF4-FFF2-40B4-BE49-F238E27FC236}">
                <a16:creationId xmlns:a16="http://schemas.microsoft.com/office/drawing/2014/main" id="{F2010B43-F060-48D7-A2AA-923F04C9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</a:t>
            </a:r>
          </a:p>
        </p:txBody>
      </p:sp>
      <p:sp>
        <p:nvSpPr>
          <p:cNvPr id="11" name="STC-02-when">
            <a:extLst xmlns:a="http://schemas.openxmlformats.org/drawingml/2006/main">
              <a:ext uri="{FF2B5EF4-FFF2-40B4-BE49-F238E27FC236}">
                <a16:creationId xmlns:a16="http://schemas.microsoft.com/office/drawing/2014/main" id="{85404368-5554-44BC-AC78-8717DFB5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73352"/>
            <a:ext cx="960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언제</a:t>
            </a:r>
          </a:p>
        </p:txBody>
      </p:sp>
      <p:sp>
        <p:nvSpPr>
          <p:cNvPr id="12" name="STC-02-what">
            <a:extLst xmlns:a="http://schemas.openxmlformats.org/drawingml/2006/main">
              <a:ext uri="{FF2B5EF4-FFF2-40B4-BE49-F238E27FC236}">
                <a16:creationId xmlns:a16="http://schemas.microsoft.com/office/drawing/2014/main" id="{B33DDBE8-BB69-44D8-995A-FE70D98E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61488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무엇을</a:t>
            </a:r>
          </a:p>
        </p:txBody>
      </p:sp>
      <p:sp>
        <p:nvSpPr>
          <p:cNvPr id="13" name="STC-02-where">
            <a:extLst xmlns:a="http://schemas.openxmlformats.org/drawingml/2006/main">
              <a:ext uri="{FF2B5EF4-FFF2-40B4-BE49-F238E27FC236}">
                <a16:creationId xmlns:a16="http://schemas.microsoft.com/office/drawing/2014/main" id="{BBC3069E-3785-469F-9DEE-A4A24D1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9624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어디로</a:t>
            </a:r>
          </a:p>
        </p:txBody>
      </p:sp>
      <p:sp>
        <p:nvSpPr>
          <p:cNvPr id="14" name="STC-02-when-line">
            <a:extLst xmlns:a="http://schemas.openxmlformats.org/drawingml/2006/main">
              <a:ext uri="{FF2B5EF4-FFF2-40B4-BE49-F238E27FC236}">
                <a16:creationId xmlns:a16="http://schemas.microsoft.com/office/drawing/2014/main" id="{4EC66120-FF56-4511-AB7D-55A18B0F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865376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15" name="STC-02-what-line">
            <a:extLst xmlns:a="http://schemas.openxmlformats.org/drawingml/2006/main">
              <a:ext uri="{FF2B5EF4-FFF2-40B4-BE49-F238E27FC236}">
                <a16:creationId xmlns:a16="http://schemas.microsoft.com/office/drawing/2014/main" id="{7A379C05-1B69-4043-AC0B-5A0F86BA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953512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16" name="STC-02-where-line">
            <a:extLst xmlns:a="http://schemas.openxmlformats.org/drawingml/2006/main">
              <a:ext uri="{FF2B5EF4-FFF2-40B4-BE49-F238E27FC236}">
                <a16:creationId xmlns:a16="http://schemas.microsoft.com/office/drawing/2014/main" id="{F70CFE4C-3C54-4FAD-BBAC-26251ED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41648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17" name="STC-02-when-answer">
            <a:extLst xmlns:a="http://schemas.openxmlformats.org/drawingml/2006/main">
              <a:ext uri="{FF2B5EF4-FFF2-40B4-BE49-F238E27FC236}">
                <a16:creationId xmlns:a16="http://schemas.microsoft.com/office/drawing/2014/main" id="{4E6C89B2-2DB1-41D4-B2FB-482919E5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618488"/>
            <a:ext cx="7269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배포 전 · wake/test-time · delayed sleep</a:t>
            </a:r>
          </a:p>
        </p:txBody>
      </p:sp>
      <p:sp>
        <p:nvSpPr>
          <p:cNvPr id="18" name="STC-02-what-answer">
            <a:extLst xmlns:a="http://schemas.openxmlformats.org/drawingml/2006/main">
              <a:ext uri="{FF2B5EF4-FFF2-40B4-BE49-F238E27FC236}">
                <a16:creationId xmlns:a16="http://schemas.microsoft.com/office/drawing/2014/main" id="{5BF095D7-B643-48B3-8357-48F518F2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706624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distill · synthesize · merge · verify</a:t>
            </a:r>
          </a:p>
        </p:txBody>
      </p:sp>
      <p:sp>
        <p:nvSpPr>
          <p:cNvPr id="19" name="STC-02-where-answer">
            <a:extLst xmlns:a="http://schemas.openxmlformats.org/drawingml/2006/main">
              <a:ext uri="{FF2B5EF4-FFF2-40B4-BE49-F238E27FC236}">
                <a16:creationId xmlns:a16="http://schemas.microsoft.com/office/drawing/2014/main" id="{4E087ED0-CDF2-4525-920A-C0C1452D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794760"/>
            <a:ext cx="8458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text/vector/graph → state/adapter → shared weight</a:t>
            </a:r>
          </a:p>
        </p:txBody>
      </p:sp>
      <p:sp>
        <p:nvSpPr>
          <p:cNvPr id="20" name="STC-02-thesis-bar">
            <a:extLst xmlns:a="http://schemas.openxmlformats.org/drawingml/2006/main">
              <a:ext uri="{FF2B5EF4-FFF2-40B4-BE49-F238E27FC236}">
                <a16:creationId xmlns:a16="http://schemas.microsoft.com/office/drawing/2014/main" id="{AD68A941-0A38-4D6D-B4F7-B8819748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791456"/>
            <a:ext cx="817473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02-thesis-bar-text">
            <a:extLst xmlns:a="http://schemas.openxmlformats.org/drawingml/2006/main">
              <a:ext uri="{FF2B5EF4-FFF2-40B4-BE49-F238E27FC236}">
                <a16:creationId xmlns:a16="http://schemas.microsoft.com/office/drawing/2014/main" id="{D629D204-AB56-4F58-A58F-85E9405A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001768"/>
            <a:ext cx="7680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모든 이동은 provenance·capacity·rollback·deletion을 함께 가져야 한다.</a:t>
            </a:r>
          </a:p>
        </p:txBody>
      </p:sp>
    </p:spTree>
    <p:extLst>
      <p:ext uri="{BB962C8B-B14F-4D97-AF65-F5344CB8AC3E}">
        <p14:creationId xmlns:p14="http://schemas.microsoft.com/office/powerpoint/2010/main" val="1789184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3-section">
            <a:extLst xmlns:a="http://schemas.openxmlformats.org/drawingml/2006/main">
              <a:ext uri="{FF2B5EF4-FFF2-40B4-BE49-F238E27FC236}">
                <a16:creationId xmlns:a16="http://schemas.microsoft.com/office/drawing/2014/main" id="{02A15198-0D14-4509-9329-A62092A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DEFINITION</a:t>
            </a:r>
          </a:p>
        </p:txBody>
      </p:sp>
      <p:sp>
        <p:nvSpPr>
          <p:cNvPr id="3" name="STC-03-slide-id">
            <a:extLst xmlns:a="http://schemas.openxmlformats.org/drawingml/2006/main">
              <a:ext uri="{FF2B5EF4-FFF2-40B4-BE49-F238E27FC236}">
                <a16:creationId xmlns:a16="http://schemas.microsoft.com/office/drawing/2014/main" id="{5885D053-0F4B-4CBB-BF5A-EAE3A537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STC-003</a:t>
            </a:r>
          </a:p>
        </p:txBody>
      </p:sp>
      <p:sp>
        <p:nvSpPr>
          <p:cNvPr id="4" name="STC-03-headline">
            <a:extLst xmlns:a="http://schemas.openxmlformats.org/drawingml/2006/main">
              <a:ext uri="{FF2B5EF4-FFF2-40B4-BE49-F238E27FC236}">
                <a16:creationId xmlns:a16="http://schemas.microsoft.com/office/drawing/2014/main" id="{CADF224E-AEF9-4435-B15E-E13191F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Strict sleep은 세 조건을 동시에 만족한다</a:t>
            </a:r>
          </a:p>
        </p:txBody>
      </p:sp>
      <p:sp>
        <p:nvSpPr>
          <p:cNvPr id="5" name="STC-03-status-label">
            <a:extLst xmlns:a="http://schemas.openxmlformats.org/drawingml/2006/main">
              <a:ext uri="{FF2B5EF4-FFF2-40B4-BE49-F238E27FC236}">
                <a16:creationId xmlns:a16="http://schemas.microsoft.com/office/drawing/2014/main" id="{F4A952E9-55E5-4046-A8E1-D32DE3E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정의</a:t>
            </a:r>
          </a:p>
        </p:txBody>
      </p:sp>
      <p:sp>
        <p:nvSpPr>
          <p:cNvPr id="6" name="STC-03-status-rule">
            <a:extLst xmlns:a="http://schemas.openxmlformats.org/drawingml/2006/main">
              <a:ext uri="{FF2B5EF4-FFF2-40B4-BE49-F238E27FC236}">
                <a16:creationId xmlns:a16="http://schemas.microsoft.com/office/drawing/2014/main" id="{962B84CF-9A4F-4513-A509-82D6355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03-footer-rule">
            <a:extLst xmlns:a="http://schemas.openxmlformats.org/drawingml/2006/main">
              <a:ext uri="{FF2B5EF4-FFF2-40B4-BE49-F238E27FC236}">
                <a16:creationId xmlns:a16="http://schemas.microsoft.com/office/drawing/2014/main" id="{03E9FA29-6057-4BDB-B58B-062FCB8F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3-source-footer">
            <a:extLst xmlns:a="http://schemas.openxmlformats.org/drawingml/2006/main">
              <a:ext uri="{FF2B5EF4-FFF2-40B4-BE49-F238E27FC236}">
                <a16:creationId xmlns:a16="http://schemas.microsoft.com/office/drawing/2014/main" id="{39FC72E5-FB05-4ECA-B34C-042B625D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Operational definition · STC-C005</a:t>
            </a:r>
          </a:p>
        </p:txBody>
      </p:sp>
      <p:sp>
        <p:nvSpPr>
          <p:cNvPr id="9" name="STC-03-page-number">
            <a:extLst xmlns:a="http://schemas.openxmlformats.org/drawingml/2006/main">
              <a:ext uri="{FF2B5EF4-FFF2-40B4-BE49-F238E27FC236}">
                <a16:creationId xmlns:a16="http://schemas.microsoft.com/office/drawing/2014/main" id="{F1434D67-E687-41AF-BE09-29AA056B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</a:t>
            </a:r>
          </a:p>
        </p:txBody>
      </p:sp>
      <p:sp>
        <p:nvSpPr>
          <p:cNvPr id="11" name="STC-03-def-num-0">
            <a:extLst xmlns:a="http://schemas.openxmlformats.org/drawingml/2006/main">
              <a:ext uri="{FF2B5EF4-FFF2-40B4-BE49-F238E27FC236}">
                <a16:creationId xmlns:a16="http://schemas.microsoft.com/office/drawing/2014/main" id="{4525BD33-13EC-4AAD-A5B3-0EE13DE8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3-def-num-text-0">
            <a:extLst xmlns:a="http://schemas.openxmlformats.org/drawingml/2006/main">
              <a:ext uri="{FF2B5EF4-FFF2-40B4-BE49-F238E27FC236}">
                <a16:creationId xmlns:a16="http://schemas.microsoft.com/office/drawing/2014/main" id="{7E22597E-3B98-4999-9E04-F761D46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현재 사용자 응답의 critical path 밖</a:t>
            </a:r>
          </a:p>
        </p:txBody>
      </p:sp>
      <p:sp>
        <p:nvSpPr>
          <p:cNvPr id="13" name="STC-03-def-label-0">
            <a:extLst xmlns:a="http://schemas.openxmlformats.org/drawingml/2006/main">
              <a:ext uri="{FF2B5EF4-FFF2-40B4-BE49-F238E27FC236}">
                <a16:creationId xmlns:a16="http://schemas.microsoft.com/office/drawing/2014/main" id="{03721994-FBBD-4164-94BC-AA6F0AA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CAUSAL BOUNDARY</a:t>
            </a:r>
          </a:p>
        </p:txBody>
      </p:sp>
      <p:sp>
        <p:nvSpPr>
          <p:cNvPr id="14" name="STC-03-def-body-0">
            <a:extLst xmlns:a="http://schemas.openxmlformats.org/drawingml/2006/main">
              <a:ext uri="{FF2B5EF4-FFF2-40B4-BE49-F238E27FC236}">
                <a16:creationId xmlns:a16="http://schemas.microsoft.com/office/drawing/2014/main" id="{C6F0732A-57AA-45EF-A63D-9B2F1A63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현재 사용자 action의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critical path 밖에서 실행</a:t>
            </a:r>
          </a:p>
        </p:txBody>
      </p:sp>
      <p:sp>
        <p:nvSpPr>
          <p:cNvPr id="15" name="STC-03-def-link-0">
            <a:extLst xmlns:a="http://schemas.openxmlformats.org/drawingml/2006/main">
              <a:ext uri="{FF2B5EF4-FFF2-40B4-BE49-F238E27FC236}">
                <a16:creationId xmlns:a16="http://schemas.microsoft.com/office/drawing/2014/main" id="{ECFA8D7D-6B6E-4281-AC9B-C5385CC5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648456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03-def-num-1">
            <a:extLst xmlns:a="http://schemas.openxmlformats.org/drawingml/2006/main">
              <a:ext uri="{FF2B5EF4-FFF2-40B4-BE49-F238E27FC236}">
                <a16:creationId xmlns:a16="http://schemas.microsoft.com/office/drawing/2014/main" id="{674804D3-670A-4CD6-9B43-936C18A5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3-def-num-text-1">
            <a:extLst xmlns:a="http://schemas.openxmlformats.org/drawingml/2006/main">
              <a:ext uri="{FF2B5EF4-FFF2-40B4-BE49-F238E27FC236}">
                <a16:creationId xmlns:a16="http://schemas.microsoft.com/office/drawing/2014/main" id="{917D0C1F-FA71-4E62-A401-B870403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누적 wake experience를 변환</a:t>
            </a:r>
          </a:p>
        </p:txBody>
      </p:sp>
      <p:sp>
        <p:nvSpPr>
          <p:cNvPr id="18" name="STC-03-def-label-1">
            <a:extLst xmlns:a="http://schemas.openxmlformats.org/drawingml/2006/main">
              <a:ext uri="{FF2B5EF4-FFF2-40B4-BE49-F238E27FC236}">
                <a16:creationId xmlns:a16="http://schemas.microsoft.com/office/drawing/2014/main" id="{CD0EA142-76AF-4862-9126-5C9EE1B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LIFETIME INPUT</a:t>
            </a:r>
          </a:p>
        </p:txBody>
      </p:sp>
      <p:sp>
        <p:nvSpPr>
          <p:cNvPr id="19" name="STC-03-def-body-1">
            <a:extLst xmlns:a="http://schemas.openxmlformats.org/drawingml/2006/main">
              <a:ext uri="{FF2B5EF4-FFF2-40B4-BE49-F238E27FC236}">
                <a16:creationId xmlns:a16="http://schemas.microsoft.com/office/drawing/2014/main" id="{A0AF251A-4EFD-4670-BEB7-2A4C8B7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정적 pretraining corpus가 아니라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누적 wake experience를 변환</a:t>
            </a:r>
          </a:p>
        </p:txBody>
      </p:sp>
      <p:sp>
        <p:nvSpPr>
          <p:cNvPr id="20" name="STC-03-def-link-1">
            <a:extLst xmlns:a="http://schemas.openxmlformats.org/drawingml/2006/main">
              <a:ext uri="{FF2B5EF4-FFF2-40B4-BE49-F238E27FC236}">
                <a16:creationId xmlns:a16="http://schemas.microsoft.com/office/drawing/2014/main" id="{2060CC0F-C3F6-4F52-80CF-8123108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648456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03-def-num-2">
            <a:extLst xmlns:a="http://schemas.openxmlformats.org/drawingml/2006/main">
              <a:ext uri="{FF2B5EF4-FFF2-40B4-BE49-F238E27FC236}">
                <a16:creationId xmlns:a16="http://schemas.microsoft.com/office/drawing/2014/main" id="{0DA5ED6C-B7D0-4F81-8EC8-FD72BF3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2" name="STC-03-def-num-text-2">
            <a:extLst xmlns:a="http://schemas.openxmlformats.org/drawingml/2006/main">
              <a:ext uri="{FF2B5EF4-FFF2-40B4-BE49-F238E27FC236}">
                <a16:creationId xmlns:a16="http://schemas.microsoft.com/office/drawing/2014/main" id="{E268497E-9740-4B72-81FD-1F2CD701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검증한 state를 publish해 다음 wake가 재사용</a:t>
            </a:r>
          </a:p>
        </p:txBody>
      </p:sp>
      <p:sp>
        <p:nvSpPr>
          <p:cNvPr id="23" name="STC-03-def-label-2">
            <a:extLst xmlns:a="http://schemas.openxmlformats.org/drawingml/2006/main">
              <a:ext uri="{FF2B5EF4-FFF2-40B4-BE49-F238E27FC236}">
                <a16:creationId xmlns:a16="http://schemas.microsoft.com/office/drawing/2014/main" id="{8A91F7F0-8DE4-4C64-B7B8-D4A4D96D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DURABLE REUSE</a:t>
            </a:r>
          </a:p>
        </p:txBody>
      </p:sp>
      <p:sp>
        <p:nvSpPr>
          <p:cNvPr id="24" name="STC-03-def-body-2">
            <a:extLst xmlns:a="http://schemas.openxmlformats.org/drawingml/2006/main">
              <a:ext uri="{FF2B5EF4-FFF2-40B4-BE49-F238E27FC236}">
                <a16:creationId xmlns:a16="http://schemas.microsoft.com/office/drawing/2014/main" id="{ADA2CC6B-A34B-46FF-BC42-AC155B9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검증된 persistent state를 publish하고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다음 wake가 재사용</a:t>
            </a:r>
          </a:p>
        </p:txBody>
      </p:sp>
      <p:sp>
        <p:nvSpPr>
          <p:cNvPr id="25" name="STC-03-def-separator">
            <a:extLst xmlns:a="http://schemas.openxmlformats.org/drawingml/2006/main">
              <a:ext uri="{FF2B5EF4-FFF2-40B4-BE49-F238E27FC236}">
                <a16:creationId xmlns:a16="http://schemas.microsoft.com/office/drawing/2014/main" id="{8E61728D-C9A4-4460-83C6-D5884B72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68496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none"/>
          </a:ln>
        </p:spPr>
      </p:sp>
      <p:sp>
        <p:nvSpPr>
          <p:cNvPr id="26" name="STC-03-therefore">
            <a:extLst xmlns:a="http://schemas.openxmlformats.org/drawingml/2006/main">
              <a:ext uri="{FF2B5EF4-FFF2-40B4-BE49-F238E27FC236}">
                <a16:creationId xmlns:a16="http://schemas.microsoft.com/office/drawing/2014/main" id="{965E5C0A-2FD3-4A53-873A-A1997E1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88536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CAUSAL BOUNDARY</a:t>
            </a:r>
          </a:p>
        </p:txBody>
      </p:sp>
      <p:sp>
        <p:nvSpPr>
          <p:cNvPr id="27" name="STC-03-definition-nonclaims">
            <a:extLst xmlns:a="http://schemas.openxmlformats.org/drawingml/2006/main">
              <a:ext uri="{FF2B5EF4-FFF2-40B4-BE49-F238E27FC236}">
                <a16:creationId xmlns:a16="http://schemas.microsoft.com/office/drawing/2014/main" id="{A0EE04A4-7BEC-45E5-B1FD-C822197D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224528"/>
            <a:ext cx="9217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현재 사용자 응답의 critical path 밖</a:t>
            </a:r>
          </a:p>
        </p:txBody>
      </p:sp>
      <p:sp>
        <p:nvSpPr>
          <p:cNvPr id="28" name="STC-03-definition-bottom">
            <a:extLst xmlns:a="http://schemas.openxmlformats.org/drawingml/2006/main">
              <a:ext uri="{FF2B5EF4-FFF2-40B4-BE49-F238E27FC236}">
                <a16:creationId xmlns:a16="http://schemas.microsoft.com/office/drawing/2014/main" id="{D9012F04-98F8-4EB6-9D51-2E280DFE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10912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Idle compute나 긴 reasoning만으로는 sleep이 아니다.</a:t>
            </a:r>
          </a:p>
        </p:txBody>
      </p:sp>
    </p:spTree>
    <p:extLst>
      <p:ext uri="{BB962C8B-B14F-4D97-AF65-F5344CB8AC3E}">
        <p14:creationId xmlns:p14="http://schemas.microsoft.com/office/powerpoint/2010/main" val="1948637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4-section">
            <a:extLst xmlns:a="http://schemas.openxmlformats.org/drawingml/2006/main">
              <a:ext uri="{FF2B5EF4-FFF2-40B4-BE49-F238E27FC236}">
                <a16:creationId xmlns:a16="http://schemas.microsoft.com/office/drawing/2014/main" id="{53FADC10-F1BA-487B-AECA-7AFE38F9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FRAMING</a:t>
            </a:r>
          </a:p>
        </p:txBody>
      </p:sp>
      <p:sp>
        <p:nvSpPr>
          <p:cNvPr id="3" name="STC-04-slide-id">
            <a:extLst xmlns:a="http://schemas.openxmlformats.org/drawingml/2006/main">
              <a:ext uri="{FF2B5EF4-FFF2-40B4-BE49-F238E27FC236}">
                <a16:creationId xmlns:a16="http://schemas.microsoft.com/office/drawing/2014/main" id="{DA28DAD6-B465-497F-824E-A065A56D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STC-004</a:t>
            </a:r>
          </a:p>
        </p:txBody>
      </p:sp>
      <p:sp>
        <p:nvSpPr>
          <p:cNvPr id="4" name="STC-04-headline">
            <a:extLst xmlns:a="http://schemas.openxmlformats.org/drawingml/2006/main">
              <a:ext uri="{FF2B5EF4-FFF2-40B4-BE49-F238E27FC236}">
                <a16:creationId xmlns:a16="http://schemas.microsoft.com/office/drawing/2014/main" id="{BAFD8BEC-042B-4C54-BA32-95AD6D9F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앞으로의 학습은 세 phase와 하나의 memory fabric으로 나뉜다</a:t>
            </a:r>
          </a:p>
        </p:txBody>
      </p:sp>
      <p:sp>
        <p:nvSpPr>
          <p:cNvPr id="5" name="STC-04-status-label">
            <a:extLst xmlns:a="http://schemas.openxmlformats.org/drawingml/2006/main">
              <a:ext uri="{FF2B5EF4-FFF2-40B4-BE49-F238E27FC236}">
                <a16:creationId xmlns:a16="http://schemas.microsoft.com/office/drawing/2014/main" id="{A9B6AF75-9B7C-4EF4-8261-45D3165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통합 추론</a:t>
            </a:r>
          </a:p>
        </p:txBody>
      </p:sp>
      <p:sp>
        <p:nvSpPr>
          <p:cNvPr id="6" name="STC-04-status-rule">
            <a:extLst xmlns:a="http://schemas.openxmlformats.org/drawingml/2006/main">
              <a:ext uri="{FF2B5EF4-FFF2-40B4-BE49-F238E27FC236}">
                <a16:creationId xmlns:a16="http://schemas.microsoft.com/office/drawing/2014/main" id="{65325794-E36F-4402-B094-B1D3FABD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4-footer-rule">
            <a:extLst xmlns:a="http://schemas.openxmlformats.org/drawingml/2006/main">
              <a:ext uri="{FF2B5EF4-FFF2-40B4-BE49-F238E27FC236}">
                <a16:creationId xmlns:a16="http://schemas.microsoft.com/office/drawing/2014/main" id="{F3B7F65E-723B-4B95-8224-34BB3551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4-source-footer">
            <a:extLst xmlns:a="http://schemas.openxmlformats.org/drawingml/2006/main">
              <a:ext uri="{FF2B5EF4-FFF2-40B4-BE49-F238E27FC236}">
                <a16:creationId xmlns:a16="http://schemas.microsoft.com/office/drawing/2014/main" id="{4809A09E-346F-44A3-84E6-61E5FE8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STC-S03 · training lifecycle</a:t>
            </a:r>
          </a:p>
        </p:txBody>
      </p:sp>
      <p:sp>
        <p:nvSpPr>
          <p:cNvPr id="9" name="STC-04-page-number">
            <a:extLst xmlns:a="http://schemas.openxmlformats.org/drawingml/2006/main">
              <a:ext uri="{FF2B5EF4-FFF2-40B4-BE49-F238E27FC236}">
                <a16:creationId xmlns:a16="http://schemas.microsoft.com/office/drawing/2014/main" id="{1917A6E6-ACB9-4F88-88E2-4956CBD7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</a:t>
            </a:r>
          </a:p>
        </p:txBody>
      </p:sp>
      <p:sp>
        <p:nvSpPr>
          <p:cNvPr id="11" name="STC-04-phase-tag-0">
            <a:extLst xmlns:a="http://schemas.openxmlformats.org/drawingml/2006/main">
              <a:ext uri="{FF2B5EF4-FFF2-40B4-BE49-F238E27FC236}">
                <a16:creationId xmlns:a16="http://schemas.microsoft.com/office/drawing/2014/main" id="{C9DD6422-C522-4F35-8734-5F5C027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PRE</a:t>
            </a:r>
          </a:p>
        </p:txBody>
      </p:sp>
      <p:sp>
        <p:nvSpPr>
          <p:cNvPr id="12" name="STC-04-phase-ko-0">
            <a:extLst xmlns:a="http://schemas.openxmlformats.org/drawingml/2006/main">
              <a:ext uri="{FF2B5EF4-FFF2-40B4-BE49-F238E27FC236}">
                <a16:creationId xmlns:a16="http://schemas.microsoft.com/office/drawing/2014/main" id="{5871F3EA-5A7B-4B45-BABB-C8F8E74A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pretraining</a:t>
            </a:r>
          </a:p>
        </p:txBody>
      </p:sp>
      <p:sp>
        <p:nvSpPr>
          <p:cNvPr id="13" name="STC-04-phase-rule-0">
            <a:extLst xmlns:a="http://schemas.openxmlformats.org/drawingml/2006/main">
              <a:ext uri="{FF2B5EF4-FFF2-40B4-BE49-F238E27FC236}">
                <a16:creationId xmlns:a16="http://schemas.microsoft.com/office/drawing/2014/main" id="{14A02415-C319-4785-964A-9C46EB21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4-phase-body-0">
            <a:extLst xmlns:a="http://schemas.openxmlformats.org/drawingml/2006/main">
              <a:ext uri="{FF2B5EF4-FFF2-40B4-BE49-F238E27FC236}">
                <a16:creationId xmlns:a16="http://schemas.microsoft.com/office/drawing/2014/main" id="{34CE0599-0B60-4E14-9735-CF98A01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 · post-train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update rule 학습</a:t>
            </a:r>
          </a:p>
        </p:txBody>
      </p:sp>
      <p:sp>
        <p:nvSpPr>
          <p:cNvPr id="15" name="STC-04-phase-arrow-0">
            <a:extLst xmlns:a="http://schemas.openxmlformats.org/drawingml/2006/main">
              <a:ext uri="{FF2B5EF4-FFF2-40B4-BE49-F238E27FC236}">
                <a16:creationId xmlns:a16="http://schemas.microsoft.com/office/drawing/2014/main" id="{658E636D-DD5E-4B81-B19B-7F08509B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04-phase-tag-1">
            <a:extLst xmlns:a="http://schemas.openxmlformats.org/drawingml/2006/main">
              <a:ext uri="{FF2B5EF4-FFF2-40B4-BE49-F238E27FC236}">
                <a16:creationId xmlns:a16="http://schemas.microsoft.com/office/drawing/2014/main" id="{5221DEAB-EBFD-411E-9CDC-BA9CFC7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WAKE</a:t>
            </a:r>
          </a:p>
        </p:txBody>
      </p:sp>
      <p:sp>
        <p:nvSpPr>
          <p:cNvPr id="17" name="STC-04-phase-ko-1">
            <a:extLst xmlns:a="http://schemas.openxmlformats.org/drawingml/2006/main">
              <a:ext uri="{FF2B5EF4-FFF2-40B4-BE49-F238E27FC236}">
                <a16:creationId xmlns:a16="http://schemas.microsoft.com/office/drawing/2014/main" id="{601A175A-AA93-4C22-B80D-90EC4248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infer</a:t>
            </a:r>
          </a:p>
        </p:txBody>
      </p:sp>
      <p:sp>
        <p:nvSpPr>
          <p:cNvPr id="18" name="STC-04-phase-rule-1">
            <a:extLst xmlns:a="http://schemas.openxmlformats.org/drawingml/2006/main">
              <a:ext uri="{FF2B5EF4-FFF2-40B4-BE49-F238E27FC236}">
                <a16:creationId xmlns:a16="http://schemas.microsoft.com/office/drawing/2014/main" id="{7DEB058F-6997-4D48-A0E3-0A202EFA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9" name="STC-04-phase-body-1">
            <a:extLst xmlns:a="http://schemas.openxmlformats.org/drawingml/2006/main">
              <a:ext uri="{FF2B5EF4-FFF2-40B4-BE49-F238E27FC236}">
                <a16:creationId xmlns:a16="http://schemas.microsoft.com/office/drawing/2014/main" id="{F5C88BB7-1F84-4F06-BFDA-51DAD83B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infer · retrieve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TTT · capture</a:t>
            </a:r>
          </a:p>
        </p:txBody>
      </p:sp>
      <p:sp>
        <p:nvSpPr>
          <p:cNvPr id="20" name="STC-04-phase-arrow-1">
            <a:extLst xmlns:a="http://schemas.openxmlformats.org/drawingml/2006/main">
              <a:ext uri="{FF2B5EF4-FFF2-40B4-BE49-F238E27FC236}">
                <a16:creationId xmlns:a16="http://schemas.microsoft.com/office/drawing/2014/main" id="{8ACAACEF-7188-48B0-8EDF-77A9532A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04-phase-tag-2">
            <a:extLst xmlns:a="http://schemas.openxmlformats.org/drawingml/2006/main">
              <a:ext uri="{FF2B5EF4-FFF2-40B4-BE49-F238E27FC236}">
                <a16:creationId xmlns:a16="http://schemas.microsoft.com/office/drawing/2014/main" id="{4F5789E2-5D6A-4D7B-ADE7-DBF458E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</p:txBody>
      </p:sp>
      <p:sp>
        <p:nvSpPr>
          <p:cNvPr id="22" name="STC-04-phase-ko-2">
            <a:extLst xmlns:a="http://schemas.openxmlformats.org/drawingml/2006/main">
              <a:ext uri="{FF2B5EF4-FFF2-40B4-BE49-F238E27FC236}">
                <a16:creationId xmlns:a16="http://schemas.microsoft.com/office/drawing/2014/main" id="{91DE98A7-9686-4A8C-BA6A-95D7555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replay</a:t>
            </a:r>
          </a:p>
        </p:txBody>
      </p:sp>
      <p:sp>
        <p:nvSpPr>
          <p:cNvPr id="23" name="STC-04-phase-rule-2">
            <a:extLst xmlns:a="http://schemas.openxmlformats.org/drawingml/2006/main">
              <a:ext uri="{FF2B5EF4-FFF2-40B4-BE49-F238E27FC236}">
                <a16:creationId xmlns:a16="http://schemas.microsoft.com/office/drawing/2014/main" id="{0D6FC54B-5106-4D67-B82E-CF6534FF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04-phase-body-2">
            <a:extLst xmlns:a="http://schemas.openxmlformats.org/drawingml/2006/main">
              <a:ext uri="{FF2B5EF4-FFF2-40B4-BE49-F238E27FC236}">
                <a16:creationId xmlns:a16="http://schemas.microsoft.com/office/drawing/2014/main" id="{471634EC-D6A9-414F-B531-5761490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distill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compact · validate</a:t>
            </a:r>
          </a:p>
        </p:txBody>
      </p:sp>
      <p:sp>
        <p:nvSpPr>
          <p:cNvPr id="25" name="STC-04-phase-arrow-2">
            <a:extLst xmlns:a="http://schemas.openxmlformats.org/drawingml/2006/main">
              <a:ext uri="{FF2B5EF4-FFF2-40B4-BE49-F238E27FC236}">
                <a16:creationId xmlns:a16="http://schemas.microsoft.com/office/drawing/2014/main" id="{1A84B98C-770A-496F-B108-BDBE4AB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04-phase-tag-3">
            <a:extLst xmlns:a="http://schemas.openxmlformats.org/drawingml/2006/main">
              <a:ext uri="{FF2B5EF4-FFF2-40B4-BE49-F238E27FC236}">
                <a16:creationId xmlns:a16="http://schemas.microsoft.com/office/drawing/2014/main" id="{BC9D4B03-C277-4DC7-9BE2-B5368FC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MEMORY</a:t>
            </a:r>
          </a:p>
        </p:txBody>
      </p:sp>
      <p:sp>
        <p:nvSpPr>
          <p:cNvPr id="27" name="STC-04-phase-ko-3">
            <a:extLst xmlns:a="http://schemas.openxmlformats.org/drawingml/2006/main">
              <a:ext uri="{FF2B5EF4-FFF2-40B4-BE49-F238E27FC236}">
                <a16:creationId xmlns:a16="http://schemas.microsoft.com/office/drawing/2014/main" id="{09FB2885-27AA-4644-B54E-B480468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canonical evide…</a:t>
            </a:r>
          </a:p>
        </p:txBody>
      </p:sp>
      <p:sp>
        <p:nvSpPr>
          <p:cNvPr id="28" name="STC-04-phase-rule-3">
            <a:extLst xmlns:a="http://schemas.openxmlformats.org/drawingml/2006/main">
              <a:ext uri="{FF2B5EF4-FFF2-40B4-BE49-F238E27FC236}">
                <a16:creationId xmlns:a16="http://schemas.microsoft.com/office/drawing/2014/main" id="{4B209E82-4B0A-4FA1-9861-49F3D097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04-phase-body-3">
            <a:extLst xmlns:a="http://schemas.openxmlformats.org/drawingml/2006/main">
              <a:ext uri="{FF2B5EF4-FFF2-40B4-BE49-F238E27FC236}">
                <a16:creationId xmlns:a16="http://schemas.microsoft.com/office/drawing/2014/main" id="{2D41B1D3-68C0-4663-8579-31279F19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canonical evidence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views · adapters</a:t>
            </a:r>
          </a:p>
        </p:txBody>
      </p:sp>
      <p:sp>
        <p:nvSpPr>
          <p:cNvPr id="30" name="STC-04-phase-invariant">
            <a:extLst xmlns:a="http://schemas.openxmlformats.org/drawingml/2006/main">
              <a:ext uri="{FF2B5EF4-FFF2-40B4-BE49-F238E27FC236}">
                <a16:creationId xmlns:a16="http://schemas.microsoft.com/office/drawing/2014/main" id="{FFB31772-96F0-4492-B3E6-0B8BC545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36592"/>
            <a:ext cx="981151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1" name="STC-04-phase-invariant-text">
            <a:extLst xmlns:a="http://schemas.openxmlformats.org/drawingml/2006/main">
              <a:ext uri="{FF2B5EF4-FFF2-40B4-BE49-F238E27FC236}">
                <a16:creationId xmlns:a16="http://schemas.microsoft.com/office/drawing/2014/main" id="{BC5B40AA-FC1A-4444-9704-E9F5203D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919472"/>
            <a:ext cx="93268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Fixed base와 session/domain mutable state를 version contract로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554497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5-section">
            <a:extLst xmlns:a="http://schemas.openxmlformats.org/drawingml/2006/main">
              <a:ext uri="{FF2B5EF4-FFF2-40B4-BE49-F238E27FC236}">
                <a16:creationId xmlns:a16="http://schemas.microsoft.com/office/drawing/2014/main" id="{049E2E5D-0D50-4838-B45C-AD767CEE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ORIENTATION</a:t>
            </a:r>
          </a:p>
        </p:txBody>
      </p:sp>
      <p:sp>
        <p:nvSpPr>
          <p:cNvPr id="3" name="STC-25-slide-id">
            <a:extLst xmlns:a="http://schemas.openxmlformats.org/drawingml/2006/main">
              <a:ext uri="{FF2B5EF4-FFF2-40B4-BE49-F238E27FC236}">
                <a16:creationId xmlns:a16="http://schemas.microsoft.com/office/drawing/2014/main" id="{4348DAE7-5788-43B0-9E7A-199C7AD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STC-005</a:t>
            </a:r>
          </a:p>
        </p:txBody>
      </p:sp>
      <p:sp>
        <p:nvSpPr>
          <p:cNvPr id="4" name="STC-25-headline">
            <a:extLst xmlns:a="http://schemas.openxmlformats.org/drawingml/2006/main">
              <a:ext uri="{FF2B5EF4-FFF2-40B4-BE49-F238E27FC236}">
                <a16:creationId xmlns:a16="http://schemas.microsoft.com/office/drawing/2014/main" id="{FC29B482-7EB9-4508-A905-F9999A5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세미나는 정의에서 device experiment까지 한 방향으로 간다</a:t>
            </a:r>
          </a:p>
        </p:txBody>
      </p:sp>
      <p:sp>
        <p:nvSpPr>
          <p:cNvPr id="5" name="STC-25-status-label">
            <a:extLst xmlns:a="http://schemas.openxmlformats.org/drawingml/2006/main">
              <a:ext uri="{FF2B5EF4-FFF2-40B4-BE49-F238E27FC236}">
                <a16:creationId xmlns:a16="http://schemas.microsoft.com/office/drawing/2014/main" id="{09A505F5-90BF-4E26-987E-DF54012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안내</a:t>
            </a:r>
          </a:p>
        </p:txBody>
      </p:sp>
      <p:sp>
        <p:nvSpPr>
          <p:cNvPr id="6" name="STC-25-status-rule">
            <a:extLst xmlns:a="http://schemas.openxmlformats.org/drawingml/2006/main">
              <a:ext uri="{FF2B5EF4-FFF2-40B4-BE49-F238E27FC236}">
                <a16:creationId xmlns:a16="http://schemas.microsoft.com/office/drawing/2014/main" id="{DDD5E461-CB40-4D83-A314-159A1CAD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5-footer-rule">
            <a:extLst xmlns:a="http://schemas.openxmlformats.org/drawingml/2006/main">
              <a:ext uri="{FF2B5EF4-FFF2-40B4-BE49-F238E27FC236}">
                <a16:creationId xmlns:a16="http://schemas.microsoft.com/office/drawing/2014/main" id="{DC46E1C1-1417-4393-B3E0-A005890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5-source-footer">
            <a:extLst xmlns:a="http://schemas.openxmlformats.org/drawingml/2006/main">
              <a:ext uri="{FF2B5EF4-FFF2-40B4-BE49-F238E27FC236}">
                <a16:creationId xmlns:a16="http://schemas.microsoft.com/office/drawing/2014/main" id="{4360FC86-1290-4412-9688-C5E5F44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S02–S17 · Easy E01–E12</a:t>
            </a:r>
          </a:p>
        </p:txBody>
      </p:sp>
      <p:sp>
        <p:nvSpPr>
          <p:cNvPr id="9" name="STC-25-page-number">
            <a:extLst xmlns:a="http://schemas.openxmlformats.org/drawingml/2006/main">
              <a:ext uri="{FF2B5EF4-FFF2-40B4-BE49-F238E27FC236}">
                <a16:creationId xmlns:a16="http://schemas.microsoft.com/office/drawing/2014/main" id="{7E2FECCD-762F-41E7-A1C3-6893B70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</a:t>
            </a:r>
          </a:p>
        </p:txBody>
      </p:sp>
      <p:sp>
        <p:nvSpPr>
          <p:cNvPr id="11" name="STC-25-road-num-0">
            <a:extLst xmlns:a="http://schemas.openxmlformats.org/drawingml/2006/main">
              <a:ext uri="{FF2B5EF4-FFF2-40B4-BE49-F238E27FC236}">
                <a16:creationId xmlns:a16="http://schemas.microsoft.com/office/drawing/2014/main" id="{EA0FB00B-159D-4A35-981A-68B2506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01 · 정의와 training background</a:t>
            </a:r>
          </a:p>
        </p:txBody>
      </p:sp>
      <p:sp>
        <p:nvSpPr>
          <p:cNvPr id="12" name="STC-25-road-rule-0">
            <a:extLst xmlns:a="http://schemas.openxmlformats.org/drawingml/2006/main">
              <a:ext uri="{FF2B5EF4-FFF2-40B4-BE49-F238E27FC236}">
                <a16:creationId xmlns:a16="http://schemas.microsoft.com/office/drawing/2014/main" id="{3ED24062-9081-4484-9D76-97AE4EB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5-road-tag-0">
            <a:extLst xmlns:a="http://schemas.openxmlformats.org/drawingml/2006/main">
              <a:ext uri="{FF2B5EF4-FFF2-40B4-BE49-F238E27FC236}">
                <a16:creationId xmlns:a16="http://schemas.microsoft.com/office/drawing/2014/main" id="{CE0189C8-687D-4B49-BF34-BFF1AA5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01</a:t>
            </a:r>
          </a:p>
        </p:txBody>
      </p:sp>
      <p:sp>
        <p:nvSpPr>
          <p:cNvPr id="14" name="STC-25-road-body-0">
            <a:extLst xmlns:a="http://schemas.openxmlformats.org/drawingml/2006/main">
              <a:ext uri="{FF2B5EF4-FFF2-40B4-BE49-F238E27FC236}">
                <a16:creationId xmlns:a16="http://schemas.microsoft.com/office/drawing/2014/main" id="{9E957574-379F-46E9-82B3-E439207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정의와 training background</a:t>
            </a:r>
          </a:p>
        </p:txBody>
      </p:sp>
      <p:sp>
        <p:nvSpPr>
          <p:cNvPr id="15" name="STC-25-road-arrow-0">
            <a:extLst xmlns:a="http://schemas.openxmlformats.org/drawingml/2006/main">
              <a:ext uri="{FF2B5EF4-FFF2-40B4-BE49-F238E27FC236}">
                <a16:creationId xmlns:a16="http://schemas.microsoft.com/office/drawing/2014/main" id="{C193FB53-EB20-433A-B251-90CF225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25-road-num-1">
            <a:extLst xmlns:a="http://schemas.openxmlformats.org/drawingml/2006/main">
              <a:ext uri="{FF2B5EF4-FFF2-40B4-BE49-F238E27FC236}">
                <a16:creationId xmlns:a16="http://schemas.microsoft.com/office/drawing/2014/main" id="{1366A155-10D9-4EB3-83FD-19D04F00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02 · 근본 문제와 strongest alternatives</a:t>
            </a:r>
          </a:p>
        </p:txBody>
      </p:sp>
      <p:sp>
        <p:nvSpPr>
          <p:cNvPr id="17" name="STC-25-road-rule-1">
            <a:extLst xmlns:a="http://schemas.openxmlformats.org/drawingml/2006/main">
              <a:ext uri="{FF2B5EF4-FFF2-40B4-BE49-F238E27FC236}">
                <a16:creationId xmlns:a16="http://schemas.microsoft.com/office/drawing/2014/main" id="{C52D962A-822B-4075-96A0-F606A60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18" name="STC-25-road-tag-1">
            <a:extLst xmlns:a="http://schemas.openxmlformats.org/drawingml/2006/main">
              <a:ext uri="{FF2B5EF4-FFF2-40B4-BE49-F238E27FC236}">
                <a16:creationId xmlns:a16="http://schemas.microsoft.com/office/drawing/2014/main" id="{3F3AF545-DB09-42D1-A05F-4850083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19" name="STC-25-road-body-1">
            <a:extLst xmlns:a="http://schemas.openxmlformats.org/drawingml/2006/main">
              <a:ext uri="{FF2B5EF4-FFF2-40B4-BE49-F238E27FC236}">
                <a16:creationId xmlns:a16="http://schemas.microsoft.com/office/drawing/2014/main" id="{D24656B1-A6BF-4273-A8E5-9530D62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근본 문제와 strongest alternatives</a:t>
            </a:r>
          </a:p>
        </p:txBody>
      </p:sp>
      <p:sp>
        <p:nvSpPr>
          <p:cNvPr id="20" name="STC-25-road-arrow-1">
            <a:extLst xmlns:a="http://schemas.openxmlformats.org/drawingml/2006/main">
              <a:ext uri="{FF2B5EF4-FFF2-40B4-BE49-F238E27FC236}">
                <a16:creationId xmlns:a16="http://schemas.microsoft.com/office/drawing/2014/main" id="{C3F76C60-D9D3-48AA-AE43-A90E223B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25-road-num-2">
            <a:extLst xmlns:a="http://schemas.openxmlformats.org/drawingml/2006/main">
              <a:ext uri="{FF2B5EF4-FFF2-40B4-BE49-F238E27FC236}">
                <a16:creationId xmlns:a16="http://schemas.microsoft.com/office/drawing/2014/main" id="{FFE111E6-B567-483E-B154-8C22B2BA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03 · 계보와 direct evidence</a:t>
            </a:r>
          </a:p>
        </p:txBody>
      </p:sp>
      <p:sp>
        <p:nvSpPr>
          <p:cNvPr id="22" name="STC-25-road-rule-2">
            <a:extLst xmlns:a="http://schemas.openxmlformats.org/drawingml/2006/main">
              <a:ext uri="{FF2B5EF4-FFF2-40B4-BE49-F238E27FC236}">
                <a16:creationId xmlns:a16="http://schemas.microsoft.com/office/drawing/2014/main" id="{0B2F0B31-EB2B-4152-9D0F-B00C524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25-road-tag-2">
            <a:extLst xmlns:a="http://schemas.openxmlformats.org/drawingml/2006/main">
              <a:ext uri="{FF2B5EF4-FFF2-40B4-BE49-F238E27FC236}">
                <a16:creationId xmlns:a16="http://schemas.microsoft.com/office/drawing/2014/main" id="{12904B6F-472F-4285-A867-B9F04289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24" name="STC-25-road-body-2">
            <a:extLst xmlns:a="http://schemas.openxmlformats.org/drawingml/2006/main">
              <a:ext uri="{FF2B5EF4-FFF2-40B4-BE49-F238E27FC236}">
                <a16:creationId xmlns:a16="http://schemas.microsoft.com/office/drawing/2014/main" id="{C6ABE3D5-C69F-4FC4-B164-6327DF7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계보와 direct evidence</a:t>
            </a:r>
          </a:p>
        </p:txBody>
      </p:sp>
      <p:sp>
        <p:nvSpPr>
          <p:cNvPr id="25" name="STC-25-road-arrow-2">
            <a:extLst xmlns:a="http://schemas.openxmlformats.org/drawingml/2006/main">
              <a:ext uri="{FF2B5EF4-FFF2-40B4-BE49-F238E27FC236}">
                <a16:creationId xmlns:a16="http://schemas.microsoft.com/office/drawing/2014/main" id="{5393879F-E1A2-4DCD-9C7F-3361CDD6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5-road-num-3">
            <a:extLst xmlns:a="http://schemas.openxmlformats.org/drawingml/2006/main">
              <a:ext uri="{FF2B5EF4-FFF2-40B4-BE49-F238E27FC236}">
                <a16:creationId xmlns:a16="http://schemas.microsoft.com/office/drawing/2014/main" id="{105D7074-5B40-44AE-A3DE-1DB143F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04 · sleep mechanism과 data</a:t>
            </a:r>
          </a:p>
        </p:txBody>
      </p:sp>
      <p:sp>
        <p:nvSpPr>
          <p:cNvPr id="27" name="STC-25-road-rule-3">
            <a:extLst xmlns:a="http://schemas.openxmlformats.org/drawingml/2006/main">
              <a:ext uri="{FF2B5EF4-FFF2-40B4-BE49-F238E27FC236}">
                <a16:creationId xmlns:a16="http://schemas.microsoft.com/office/drawing/2014/main" id="{C5A89D75-EB36-4D47-BBA7-4FD618A9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28" name="STC-25-road-tag-3">
            <a:extLst xmlns:a="http://schemas.openxmlformats.org/drawingml/2006/main">
              <a:ext uri="{FF2B5EF4-FFF2-40B4-BE49-F238E27FC236}">
                <a16:creationId xmlns:a16="http://schemas.microsoft.com/office/drawing/2014/main" id="{60562162-26E4-4F17-B95A-8635F5E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04</a:t>
            </a:r>
          </a:p>
        </p:txBody>
      </p:sp>
      <p:sp>
        <p:nvSpPr>
          <p:cNvPr id="29" name="STC-25-road-body-3">
            <a:extLst xmlns:a="http://schemas.openxmlformats.org/drawingml/2006/main">
              <a:ext uri="{FF2B5EF4-FFF2-40B4-BE49-F238E27FC236}">
                <a16:creationId xmlns:a16="http://schemas.microsoft.com/office/drawing/2014/main" id="{36B2A195-012C-4267-AD10-D1A3C98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 mechanism과 data</a:t>
            </a:r>
          </a:p>
        </p:txBody>
      </p:sp>
      <p:sp>
        <p:nvSpPr>
          <p:cNvPr id="30" name="STC-25-road-arrow-3">
            <a:extLst xmlns:a="http://schemas.openxmlformats.org/drawingml/2006/main">
              <a:ext uri="{FF2B5EF4-FFF2-40B4-BE49-F238E27FC236}">
                <a16:creationId xmlns:a16="http://schemas.microsoft.com/office/drawing/2014/main" id="{396E2121-B77E-4C00-95EF-90C7208C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1" name="STC-25-road-num-4">
            <a:extLst xmlns:a="http://schemas.openxmlformats.org/drawingml/2006/main">
              <a:ext uri="{FF2B5EF4-FFF2-40B4-BE49-F238E27FC236}">
                <a16:creationId xmlns:a16="http://schemas.microsoft.com/office/drawing/2014/main" id="{8B898DB3-B976-4CEC-9AC5-2F11C3F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05 · promisingness와 scaling</a:t>
            </a:r>
          </a:p>
        </p:txBody>
      </p:sp>
      <p:sp>
        <p:nvSpPr>
          <p:cNvPr id="32" name="STC-25-road-rule-4">
            <a:extLst xmlns:a="http://schemas.openxmlformats.org/drawingml/2006/main">
              <a:ext uri="{FF2B5EF4-FFF2-40B4-BE49-F238E27FC236}">
                <a16:creationId xmlns:a16="http://schemas.microsoft.com/office/drawing/2014/main" id="{F79D1670-C2ED-4E70-B50F-566D8872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33" name="STC-25-road-tag-4">
            <a:extLst xmlns:a="http://schemas.openxmlformats.org/drawingml/2006/main">
              <a:ext uri="{FF2B5EF4-FFF2-40B4-BE49-F238E27FC236}">
                <a16:creationId xmlns:a16="http://schemas.microsoft.com/office/drawing/2014/main" id="{CA5E38F6-BF8F-4DAC-AAF7-AE4E0197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05</a:t>
            </a:r>
          </a:p>
        </p:txBody>
      </p:sp>
      <p:sp>
        <p:nvSpPr>
          <p:cNvPr id="34" name="STC-25-road-body-4">
            <a:extLst xmlns:a="http://schemas.openxmlformats.org/drawingml/2006/main">
              <a:ext uri="{FF2B5EF4-FFF2-40B4-BE49-F238E27FC236}">
                <a16:creationId xmlns:a16="http://schemas.microsoft.com/office/drawing/2014/main" id="{15F9F674-BB55-4C2D-9585-F5C5B160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promisingness와 scaling</a:t>
            </a:r>
          </a:p>
        </p:txBody>
      </p:sp>
      <p:sp>
        <p:nvSpPr>
          <p:cNvPr id="35" name="STC-25-road-arrow-4">
            <a:extLst xmlns:a="http://schemas.openxmlformats.org/drawingml/2006/main">
              <a:ext uri="{FF2B5EF4-FFF2-40B4-BE49-F238E27FC236}">
                <a16:creationId xmlns:a16="http://schemas.microsoft.com/office/drawing/2014/main" id="{E3F14D04-9484-4BA2-AB65-DF8BED7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6" name="STC-25-road-num-5">
            <a:extLst xmlns:a="http://schemas.openxmlformats.org/drawingml/2006/main">
              <a:ext uri="{FF2B5EF4-FFF2-40B4-BE49-F238E27FC236}">
                <a16:creationId xmlns:a16="http://schemas.microsoft.com/office/drawing/2014/main" id="{3AE88054-0F8F-42A7-A1C6-F08361B6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06 · infra·device·falsifier</a:t>
            </a:r>
          </a:p>
        </p:txBody>
      </p:sp>
      <p:sp>
        <p:nvSpPr>
          <p:cNvPr id="37" name="STC-25-road-rule-5">
            <a:extLst xmlns:a="http://schemas.openxmlformats.org/drawingml/2006/main">
              <a:ext uri="{FF2B5EF4-FFF2-40B4-BE49-F238E27FC236}">
                <a16:creationId xmlns:a16="http://schemas.microsoft.com/office/drawing/2014/main" id="{34FCA0CE-DE60-4554-87B0-1BE8522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38" name="STC-25-road-tag-5">
            <a:extLst xmlns:a="http://schemas.openxmlformats.org/drawingml/2006/main">
              <a:ext uri="{FF2B5EF4-FFF2-40B4-BE49-F238E27FC236}">
                <a16:creationId xmlns:a16="http://schemas.microsoft.com/office/drawing/2014/main" id="{16A2C964-3CCE-482C-BED5-56E7F753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06</a:t>
            </a:r>
          </a:p>
        </p:txBody>
      </p:sp>
      <p:sp>
        <p:nvSpPr>
          <p:cNvPr id="39" name="STC-25-road-body-5">
            <a:extLst xmlns:a="http://schemas.openxmlformats.org/drawingml/2006/main">
              <a:ext uri="{FF2B5EF4-FFF2-40B4-BE49-F238E27FC236}">
                <a16:creationId xmlns:a16="http://schemas.microsoft.com/office/drawing/2014/main" id="{3553BE49-C1EE-4D75-AD69-DAE9A4A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infra·device·falsifier</a:t>
            </a:r>
          </a:p>
        </p:txBody>
      </p:sp>
      <p:sp>
        <p:nvSpPr>
          <p:cNvPr id="40" name="STC-25-road-paper">
            <a:extLst xmlns:a="http://schemas.openxmlformats.org/drawingml/2006/main">
              <a:ext uri="{FF2B5EF4-FFF2-40B4-BE49-F238E27FC236}">
                <a16:creationId xmlns:a16="http://schemas.microsoft.com/office/drawing/2014/main" id="{A4843479-3B86-41C4-BF58-A226D86A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416552"/>
            <a:ext cx="97383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1" name="STC-25-road-paper-label">
            <a:extLst xmlns:a="http://schemas.openxmlformats.org/drawingml/2006/main">
              <a:ext uri="{FF2B5EF4-FFF2-40B4-BE49-F238E27FC236}">
                <a16:creationId xmlns:a16="http://schemas.microsoft.com/office/drawing/2014/main" id="{757E56D7-EC75-43C5-828A-C88D7B2F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9943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42" name="STC-25-road-paper-text">
            <a:extLst xmlns:a="http://schemas.openxmlformats.org/drawingml/2006/main">
              <a:ext uri="{FF2B5EF4-FFF2-40B4-BE49-F238E27FC236}">
                <a16:creationId xmlns:a16="http://schemas.microsoft.com/office/drawing/2014/main" id="{A628D630-7323-4B30-A57D-D9F399F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4590288"/>
            <a:ext cx="6995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답보다 먼저 비교 기준과 반증 조건을 고정한다.</a:t>
            </a:r>
          </a:p>
        </p:txBody>
      </p:sp>
      <p:sp>
        <p:nvSpPr>
          <p:cNvPr id="43" name="STC-25-road-status">
            <a:extLst xmlns:a="http://schemas.openxmlformats.org/drawingml/2006/main">
              <a:ext uri="{FF2B5EF4-FFF2-40B4-BE49-F238E27FC236}">
                <a16:creationId xmlns:a16="http://schemas.microsoft.com/office/drawing/2014/main" id="{F8818137-BEB1-4628-9FDC-4280214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5614416"/>
            <a:ext cx="6291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8929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4-section">
            <a:extLst xmlns:a="http://schemas.openxmlformats.org/drawingml/2006/main">
              <a:ext uri="{FF2B5EF4-FFF2-40B4-BE49-F238E27FC236}">
                <a16:creationId xmlns:a16="http://schemas.microsoft.com/office/drawing/2014/main" id="{DA8438B1-2F55-45B8-8A7D-DA7D25D5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ANSWER FIRST</a:t>
            </a:r>
          </a:p>
        </p:txBody>
      </p:sp>
      <p:sp>
        <p:nvSpPr>
          <p:cNvPr id="3" name="STC-14-slide-id">
            <a:extLst xmlns:a="http://schemas.openxmlformats.org/drawingml/2006/main">
              <a:ext uri="{FF2B5EF4-FFF2-40B4-BE49-F238E27FC236}">
                <a16:creationId xmlns:a16="http://schemas.microsoft.com/office/drawing/2014/main" id="{47915ABC-756B-46D8-8D62-110BAAA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STC-006</a:t>
            </a:r>
          </a:p>
        </p:txBody>
      </p:sp>
      <p:sp>
        <p:nvSpPr>
          <p:cNvPr id="4" name="STC-14-headline">
            <a:extLst xmlns:a="http://schemas.openxmlformats.org/drawingml/2006/main">
              <a:ext uri="{FF2B5EF4-FFF2-40B4-BE49-F238E27FC236}">
                <a16:creationId xmlns:a16="http://schemas.microsoft.com/office/drawing/2014/main" id="{90A5E8FC-2D8D-49F1-9E66-FBA835E2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현재의 최선은 external-first, parameter-last hybrid다</a:t>
            </a:r>
          </a:p>
        </p:txBody>
      </p:sp>
      <p:sp>
        <p:nvSpPr>
          <p:cNvPr id="5" name="STC-14-status-label">
            <a:extLst xmlns:a="http://schemas.openxmlformats.org/drawingml/2006/main">
              <a:ext uri="{FF2B5EF4-FFF2-40B4-BE49-F238E27FC236}">
                <a16:creationId xmlns:a16="http://schemas.microsoft.com/office/drawing/2014/main" id="{3A48F401-57D0-478E-955B-CD29AFD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조건부 결론</a:t>
            </a:r>
          </a:p>
        </p:txBody>
      </p:sp>
      <p:sp>
        <p:nvSpPr>
          <p:cNvPr id="6" name="STC-14-status-rule">
            <a:extLst xmlns:a="http://schemas.openxmlformats.org/drawingml/2006/main">
              <a:ext uri="{FF2B5EF4-FFF2-40B4-BE49-F238E27FC236}">
                <a16:creationId xmlns:a16="http://schemas.microsoft.com/office/drawing/2014/main" id="{471D35A8-BD6E-4945-87E7-764B15C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4-footer-rule">
            <a:extLst xmlns:a="http://schemas.openxmlformats.org/drawingml/2006/main">
              <a:ext uri="{FF2B5EF4-FFF2-40B4-BE49-F238E27FC236}">
                <a16:creationId xmlns:a16="http://schemas.microsoft.com/office/drawing/2014/main" id="{8E85B6D7-7C35-4E17-A7F7-485AA5F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4-source-footer">
            <a:extLst xmlns:a="http://schemas.openxmlformats.org/drawingml/2006/main">
              <a:ext uri="{FF2B5EF4-FFF2-40B4-BE49-F238E27FC236}">
                <a16:creationId xmlns:a16="http://schemas.microsoft.com/office/drawing/2014/main" id="{797170F9-3103-4DC3-9F52-2B5C3926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STC-C038–C040</a:t>
            </a:r>
          </a:p>
        </p:txBody>
      </p:sp>
      <p:sp>
        <p:nvSpPr>
          <p:cNvPr id="9" name="STC-14-page-number">
            <a:extLst xmlns:a="http://schemas.openxmlformats.org/drawingml/2006/main">
              <a:ext uri="{FF2B5EF4-FFF2-40B4-BE49-F238E27FC236}">
                <a16:creationId xmlns:a16="http://schemas.microsoft.com/office/drawing/2014/main" id="{DACEB5B9-650E-4BA4-A150-AB4C20D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</a:t>
            </a:r>
          </a:p>
        </p:txBody>
      </p:sp>
      <p:sp>
        <p:nvSpPr>
          <p:cNvPr id="11" name="STC-14-destination-diagonal">
            <a:extLst xmlns:a="http://schemas.openxmlformats.org/drawingml/2006/main">
              <a:ext uri="{FF2B5EF4-FFF2-40B4-BE49-F238E27FC236}">
                <a16:creationId xmlns:a16="http://schemas.microsoft.com/office/drawing/2014/main" id="{DB699066-7866-4B0E-8329-670ACF3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0120" y="2386584"/>
            <a:ext cx="10149840" cy="15179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4-dest-point-0">
            <a:extLst xmlns:a="http://schemas.openxmlformats.org/drawingml/2006/main">
              <a:ext uri="{FF2B5EF4-FFF2-40B4-BE49-F238E27FC236}">
                <a16:creationId xmlns:a16="http://schemas.microsoft.com/office/drawing/2014/main" id="{AB37E70A-44C0-4806-8860-C98B016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22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3" name="STC-14-dest-label-0">
            <a:extLst xmlns:a="http://schemas.openxmlformats.org/drawingml/2006/main">
              <a:ext uri="{FF2B5EF4-FFF2-40B4-BE49-F238E27FC236}">
                <a16:creationId xmlns:a16="http://schemas.microsoft.com/office/drawing/2014/main" id="{6EDA5268-B847-45C1-9332-FFF90424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0040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RAW / EVENT</a:t>
            </a:r>
          </a:p>
        </p:txBody>
      </p:sp>
      <p:sp>
        <p:nvSpPr>
          <p:cNvPr id="14" name="STC-14-dest-sub-0">
            <a:extLst xmlns:a="http://schemas.openxmlformats.org/drawingml/2006/main">
              <a:ext uri="{FF2B5EF4-FFF2-40B4-BE49-F238E27FC236}">
                <a16:creationId xmlns:a16="http://schemas.microsoft.com/office/drawing/2014/main" id="{98FBF89E-FDE0-44FC-996D-986B659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7939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RAW / EVENT · 감사·삭제 가능한 system-of-record</a:t>
            </a:r>
          </a:p>
        </p:txBody>
      </p:sp>
      <p:sp>
        <p:nvSpPr>
          <p:cNvPr id="15" name="STC-14-dest-point-1">
            <a:extLst xmlns:a="http://schemas.openxmlformats.org/drawingml/2006/main">
              <a:ext uri="{FF2B5EF4-FFF2-40B4-BE49-F238E27FC236}">
                <a16:creationId xmlns:a16="http://schemas.microsoft.com/office/drawing/2014/main" id="{23B7C88D-3F7C-447F-A35E-70F8894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2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6" name="STC-14-dest-label-1">
            <a:extLst xmlns:a="http://schemas.openxmlformats.org/drawingml/2006/main">
              <a:ext uri="{FF2B5EF4-FFF2-40B4-BE49-F238E27FC236}">
                <a16:creationId xmlns:a16="http://schemas.microsoft.com/office/drawing/2014/main" id="{DE93178E-4F7B-4289-BEC1-F42AD8C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8036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TEXT / GRAPH</a:t>
            </a:r>
          </a:p>
        </p:txBody>
      </p:sp>
      <p:sp>
        <p:nvSpPr>
          <p:cNvPr id="17" name="STC-14-dest-sub-1">
            <a:extLst xmlns:a="http://schemas.openxmlformats.org/drawingml/2006/main">
              <a:ext uri="{FF2B5EF4-FFF2-40B4-BE49-F238E27FC236}">
                <a16:creationId xmlns:a16="http://schemas.microsoft.com/office/drawing/2014/main" id="{3B7A1125-E17F-466C-AE46-661F4F9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95935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TEXT / GRAPH · 충돌·시간·관계를 합성</a:t>
            </a:r>
          </a:p>
        </p:txBody>
      </p:sp>
      <p:sp>
        <p:nvSpPr>
          <p:cNvPr id="18" name="STC-14-dest-point-2">
            <a:extLst xmlns:a="http://schemas.openxmlformats.org/drawingml/2006/main">
              <a:ext uri="{FF2B5EF4-FFF2-40B4-BE49-F238E27FC236}">
                <a16:creationId xmlns:a16="http://schemas.microsoft.com/office/drawing/2014/main" id="{1C486B29-C327-492C-A867-F3528D6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63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14-dest-label-2">
            <a:extLst xmlns:a="http://schemas.openxmlformats.org/drawingml/2006/main">
              <a:ext uri="{FF2B5EF4-FFF2-40B4-BE49-F238E27FC236}">
                <a16:creationId xmlns:a16="http://schemas.microsoft.com/office/drawing/2014/main" id="{5AD0AF39-765F-41F0-A874-827B57C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542032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VECTOR / KV</a:t>
            </a:r>
          </a:p>
        </p:txBody>
      </p:sp>
      <p:sp>
        <p:nvSpPr>
          <p:cNvPr id="20" name="STC-14-dest-sub-2">
            <a:extLst xmlns:a="http://schemas.openxmlformats.org/drawingml/2006/main">
              <a:ext uri="{FF2B5EF4-FFF2-40B4-BE49-F238E27FC236}">
                <a16:creationId xmlns:a16="http://schemas.microsoft.com/office/drawing/2014/main" id="{FAFD9E53-DC97-4E02-935E-43C0113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21024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VECTOR / KV · compact cache와 retrieval</a:t>
            </a:r>
          </a:p>
        </p:txBody>
      </p:sp>
      <p:sp>
        <p:nvSpPr>
          <p:cNvPr id="21" name="STC-14-dest-point-3">
            <a:extLst xmlns:a="http://schemas.openxmlformats.org/drawingml/2006/main">
              <a:ext uri="{FF2B5EF4-FFF2-40B4-BE49-F238E27FC236}">
                <a16:creationId xmlns:a16="http://schemas.microsoft.com/office/drawing/2014/main" id="{81BD56DE-5374-47E6-85A0-8F68AFB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4-dest-label-3">
            <a:extLst xmlns:a="http://schemas.openxmlformats.org/drawingml/2006/main">
              <a:ext uri="{FF2B5EF4-FFF2-40B4-BE49-F238E27FC236}">
                <a16:creationId xmlns:a16="http://schemas.microsoft.com/office/drawing/2014/main" id="{16BB544F-1EC5-481A-AF8B-75D2F18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2848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ADAPTER</a:t>
            </a:r>
          </a:p>
        </p:txBody>
      </p:sp>
      <p:sp>
        <p:nvSpPr>
          <p:cNvPr id="23" name="STC-14-dest-sub-3">
            <a:extLst xmlns:a="http://schemas.openxmlformats.org/drawingml/2006/main">
              <a:ext uri="{FF2B5EF4-FFF2-40B4-BE49-F238E27FC236}">
                <a16:creationId xmlns:a16="http://schemas.microsoft.com/office/drawing/2014/main" id="{3C1968AF-3020-4EF5-9FFC-B8A8397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184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ADAPTER · 검증된 high-reuse subset만 promotion</a:t>
            </a:r>
          </a:p>
        </p:txBody>
      </p:sp>
      <p:sp>
        <p:nvSpPr>
          <p:cNvPr id="24" name="STC-14-dest-point-4">
            <a:extLst xmlns:a="http://schemas.openxmlformats.org/drawingml/2006/main">
              <a:ext uri="{FF2B5EF4-FFF2-40B4-BE49-F238E27FC236}">
                <a16:creationId xmlns:a16="http://schemas.microsoft.com/office/drawing/2014/main" id="{FCACEA6F-573E-4989-905D-AF11172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14-dest-label-4">
            <a:extLst xmlns:a="http://schemas.openxmlformats.org/drawingml/2006/main">
              <a:ext uri="{FF2B5EF4-FFF2-40B4-BE49-F238E27FC236}">
                <a16:creationId xmlns:a16="http://schemas.microsoft.com/office/drawing/2014/main" id="{2679C120-1B1E-4E92-A950-B2B7C5F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883664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SHARED</a:t>
            </a:r>
          </a:p>
        </p:txBody>
      </p:sp>
      <p:sp>
        <p:nvSpPr>
          <p:cNvPr id="26" name="STC-14-dest-sub-4">
            <a:extLst xmlns:a="http://schemas.openxmlformats.org/drawingml/2006/main">
              <a:ext uri="{FF2B5EF4-FFF2-40B4-BE49-F238E27FC236}">
                <a16:creationId xmlns:a16="http://schemas.microsoft.com/office/drawing/2014/main" id="{7218E91C-0DE3-461B-AD20-8837463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962656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SHARED · broad weight rewrite는 마지막 선택</a:t>
            </a:r>
          </a:p>
        </p:txBody>
      </p:sp>
      <p:sp>
        <p:nvSpPr>
          <p:cNvPr id="27" name="STC-14-dest-left-axis">
            <a:extLst xmlns:a="http://schemas.openxmlformats.org/drawingml/2006/main">
              <a:ext uri="{FF2B5EF4-FFF2-40B4-BE49-F238E27FC236}">
                <a16:creationId xmlns:a16="http://schemas.microsoft.com/office/drawing/2014/main" id="{D6DDF594-2A5A-4772-AC3B-C477225C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01184"/>
            <a:ext cx="34015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감사·삭제 가능한 system-of-record</a:t>
            </a:r>
          </a:p>
        </p:txBody>
      </p:sp>
      <p:sp>
        <p:nvSpPr>
          <p:cNvPr id="28" name="STC-14-dest-right-axis">
            <a:extLst xmlns:a="http://schemas.openxmlformats.org/drawingml/2006/main">
              <a:ext uri="{FF2B5EF4-FFF2-40B4-BE49-F238E27FC236}">
                <a16:creationId xmlns:a16="http://schemas.microsoft.com/office/drawing/2014/main" id="{E90EDB08-B102-40A7-878A-3990D89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554480"/>
            <a:ext cx="38130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충돌·시간·관계를 합성</a:t>
            </a:r>
          </a:p>
        </p:txBody>
      </p:sp>
      <p:sp>
        <p:nvSpPr>
          <p:cNvPr id="29" name="STC-14-dest-rule">
            <a:extLst xmlns:a="http://schemas.openxmlformats.org/drawingml/2006/main">
              <a:ext uri="{FF2B5EF4-FFF2-40B4-BE49-F238E27FC236}">
                <a16:creationId xmlns:a16="http://schemas.microsoft.com/office/drawing/2014/main" id="{B5CD5C4C-7A13-4CD1-88BC-6DBC0905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5358384"/>
            <a:ext cx="801014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4-dest-rule-text">
            <a:extLst xmlns:a="http://schemas.openxmlformats.org/drawingml/2006/main">
              <a:ext uri="{FF2B5EF4-FFF2-40B4-BE49-F238E27FC236}">
                <a16:creationId xmlns:a16="http://schemas.microsoft.com/office/drawing/2014/main" id="{F7D1A0B7-B3F1-4FC9-8422-C3CA6D3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495544"/>
            <a:ext cx="7571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Reversibility와 provenance가 promotion gate의 첫 조건이다.</a:t>
            </a:r>
          </a:p>
        </p:txBody>
      </p:sp>
    </p:spTree>
    <p:extLst>
      <p:ext uri="{BB962C8B-B14F-4D97-AF65-F5344CB8AC3E}">
        <p14:creationId xmlns:p14="http://schemas.microsoft.com/office/powerpoint/2010/main" val="2056169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5-section">
            <a:extLst xmlns:a="http://schemas.openxmlformats.org/drawingml/2006/main">
              <a:ext uri="{FF2B5EF4-FFF2-40B4-BE49-F238E27FC236}">
                <a16:creationId xmlns:a16="http://schemas.microsoft.com/office/drawing/2014/main" id="{9B985B5E-2EB1-4A04-B32B-0879345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EVIDENCE</a:t>
            </a:r>
          </a:p>
        </p:txBody>
      </p:sp>
      <p:sp>
        <p:nvSpPr>
          <p:cNvPr id="3" name="STC-15-slide-id">
            <a:extLst xmlns:a="http://schemas.openxmlformats.org/drawingml/2006/main">
              <a:ext uri="{FF2B5EF4-FFF2-40B4-BE49-F238E27FC236}">
                <a16:creationId xmlns:a16="http://schemas.microsoft.com/office/drawing/2014/main" id="{F1A29C71-E06B-4C6E-A3AE-7AEE073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STC-007</a:t>
            </a:r>
          </a:p>
        </p:txBody>
      </p:sp>
      <p:sp>
        <p:nvSpPr>
          <p:cNvPr id="4" name="STC-15-headline">
            <a:extLst xmlns:a="http://schemas.openxmlformats.org/drawingml/2006/main">
              <a:ext uri="{FF2B5EF4-FFF2-40B4-BE49-F238E27FC236}">
                <a16:creationId xmlns:a16="http://schemas.microsoft.com/office/drawing/2014/main" id="{E9CBA5DA-32F0-402B-A292-5C028EDA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Production 신호는 external sleep이 강하고 parametric sleep은 연구 단…</a:t>
            </a:r>
          </a:p>
        </p:txBody>
      </p:sp>
      <p:sp>
        <p:nvSpPr>
          <p:cNvPr id="5" name="STC-15-status-label">
            <a:extLst xmlns:a="http://schemas.openxmlformats.org/drawingml/2006/main">
              <a:ext uri="{FF2B5EF4-FFF2-40B4-BE49-F238E27FC236}">
                <a16:creationId xmlns:a16="http://schemas.microsoft.com/office/drawing/2014/main" id="{726F9C6C-F765-415C-9EDD-299FDE3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근거 판정</a:t>
            </a:r>
          </a:p>
        </p:txBody>
      </p:sp>
      <p:sp>
        <p:nvSpPr>
          <p:cNvPr id="6" name="STC-15-status-rule">
            <a:extLst xmlns:a="http://schemas.openxmlformats.org/drawingml/2006/main">
              <a:ext uri="{FF2B5EF4-FFF2-40B4-BE49-F238E27FC236}">
                <a16:creationId xmlns:a16="http://schemas.microsoft.com/office/drawing/2014/main" id="{8CF1A863-1D7E-469C-B4B1-7AC5E32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5-footer-rule">
            <a:extLst xmlns:a="http://schemas.openxmlformats.org/drawingml/2006/main">
              <a:ext uri="{FF2B5EF4-FFF2-40B4-BE49-F238E27FC236}">
                <a16:creationId xmlns:a16="http://schemas.microsoft.com/office/drawing/2014/main" id="{D1917FAC-5289-4D3B-9C5F-9082A6E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5-source-footer">
            <a:extLst xmlns:a="http://schemas.openxmlformats.org/drawingml/2006/main">
              <a:ext uri="{FF2B5EF4-FFF2-40B4-BE49-F238E27FC236}">
                <a16:creationId xmlns:a16="http://schemas.microsoft.com/office/drawing/2014/main" id="{48508A8D-C8DE-42F3-81BB-4F92B9D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freeze 2026-08-05 · STC-C038/C039</a:t>
            </a:r>
          </a:p>
        </p:txBody>
      </p:sp>
      <p:sp>
        <p:nvSpPr>
          <p:cNvPr id="9" name="STC-15-page-number">
            <a:extLst xmlns:a="http://schemas.openxmlformats.org/drawingml/2006/main">
              <a:ext uri="{FF2B5EF4-FFF2-40B4-BE49-F238E27FC236}">
                <a16:creationId xmlns:a16="http://schemas.microsoft.com/office/drawing/2014/main" id="{81C944E9-1F2E-4B33-9823-786CB2A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</a:t>
            </a:r>
          </a:p>
        </p:txBody>
      </p:sp>
      <p:sp>
        <p:nvSpPr>
          <p:cNvPr id="11" name="STC-15-cap-num-0">
            <a:extLst xmlns:a="http://schemas.openxmlformats.org/drawingml/2006/main">
              <a:ext uri="{FF2B5EF4-FFF2-40B4-BE49-F238E27FC236}">
                <a16:creationId xmlns:a16="http://schemas.microsoft.com/office/drawing/2014/main" id="{B2CF5D08-5D0C-44F1-AEA1-0745EBC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STORAGE · 외부 episode·graph는 제품 신호가 강함</a:t>
            </a:r>
          </a:p>
        </p:txBody>
      </p:sp>
      <p:sp>
        <p:nvSpPr>
          <p:cNvPr id="12" name="STC-15-cap-label-box-0">
            <a:extLst xmlns:a="http://schemas.openxmlformats.org/drawingml/2006/main">
              <a:ext uri="{FF2B5EF4-FFF2-40B4-BE49-F238E27FC236}">
                <a16:creationId xmlns:a16="http://schemas.microsoft.com/office/drawing/2014/main" id="{258E8A35-5FBA-48D0-94E7-9F07EA9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572768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3" name="STC-15-cap-label-0">
            <a:extLst xmlns:a="http://schemas.openxmlformats.org/drawingml/2006/main">
              <a:ext uri="{FF2B5EF4-FFF2-40B4-BE49-F238E27FC236}">
                <a16:creationId xmlns:a16="http://schemas.microsoft.com/office/drawing/2014/main" id="{68E3D644-65D5-4BD4-AFDF-BBEE1C3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719072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STORAGE</a:t>
            </a:r>
          </a:p>
        </p:txBody>
      </p:sp>
      <p:sp>
        <p:nvSpPr>
          <p:cNvPr id="14" name="STC-15-cap-body-0">
            <a:extLst xmlns:a="http://schemas.openxmlformats.org/drawingml/2006/main">
              <a:ext uri="{FF2B5EF4-FFF2-40B4-BE49-F238E27FC236}">
                <a16:creationId xmlns:a16="http://schemas.microsoft.com/office/drawing/2014/main" id="{38DA6B09-192B-4192-A01C-F97CF6E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664208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외부 episode·graph는 제품 신호가 강함</a:t>
            </a:r>
          </a:p>
        </p:txBody>
      </p:sp>
      <p:sp>
        <p:nvSpPr>
          <p:cNvPr id="15" name="STC-15-cap-pressure-0">
            <a:extLst xmlns:a="http://schemas.openxmlformats.org/drawingml/2006/main">
              <a:ext uri="{FF2B5EF4-FFF2-40B4-BE49-F238E27FC236}">
                <a16:creationId xmlns:a16="http://schemas.microsoft.com/office/drawing/2014/main" id="{BE21D2BC-2876-4728-9F34-2331326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664208"/>
            <a:ext cx="30175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6" name="STC-15-cap-num-1">
            <a:extLst xmlns:a="http://schemas.openxmlformats.org/drawingml/2006/main">
              <a:ext uri="{FF2B5EF4-FFF2-40B4-BE49-F238E27FC236}">
                <a16:creationId xmlns:a16="http://schemas.microsoft.com/office/drawing/2014/main" id="{A1D2B1D3-D60A-42FF-A0E2-4957D09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23744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RETENTION · 작은 continual-learning 실험은 직접 증거</a:t>
            </a:r>
          </a:p>
        </p:txBody>
      </p:sp>
      <p:sp>
        <p:nvSpPr>
          <p:cNvPr id="17" name="STC-15-cap-label-box-1">
            <a:extLst xmlns:a="http://schemas.openxmlformats.org/drawingml/2006/main">
              <a:ext uri="{FF2B5EF4-FFF2-40B4-BE49-F238E27FC236}">
                <a16:creationId xmlns:a16="http://schemas.microsoft.com/office/drawing/2014/main" id="{F02F6263-AC2C-47D3-B825-63D5B46F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414016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5-cap-label-1">
            <a:extLst xmlns:a="http://schemas.openxmlformats.org/drawingml/2006/main">
              <a:ext uri="{FF2B5EF4-FFF2-40B4-BE49-F238E27FC236}">
                <a16:creationId xmlns:a16="http://schemas.microsoft.com/office/drawing/2014/main" id="{17DF0D03-7D88-4052-8796-9E1DA5E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60320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RETENTION</a:t>
            </a:r>
          </a:p>
        </p:txBody>
      </p:sp>
      <p:sp>
        <p:nvSpPr>
          <p:cNvPr id="19" name="STC-15-cap-body-1">
            <a:extLst xmlns:a="http://schemas.openxmlformats.org/drawingml/2006/main">
              <a:ext uri="{FF2B5EF4-FFF2-40B4-BE49-F238E27FC236}">
                <a16:creationId xmlns:a16="http://schemas.microsoft.com/office/drawing/2014/main" id="{19CD937B-3AE8-4FD3-B968-FAA4691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05456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작은 continual-learning 실험은 직접 증거</a:t>
            </a:r>
          </a:p>
        </p:txBody>
      </p:sp>
      <p:sp>
        <p:nvSpPr>
          <p:cNvPr id="20" name="STC-15-cap-pressure-1">
            <a:extLst xmlns:a="http://schemas.openxmlformats.org/drawingml/2006/main">
              <a:ext uri="{FF2B5EF4-FFF2-40B4-BE49-F238E27FC236}">
                <a16:creationId xmlns:a16="http://schemas.microsoft.com/office/drawing/2014/main" id="{F6C5BAD1-9770-4B2F-85B1-76D4DAB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05456"/>
            <a:ext cx="36576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1" name="STC-15-cap-num-2">
            <a:extLst xmlns:a="http://schemas.openxmlformats.org/drawingml/2006/main">
              <a:ext uri="{FF2B5EF4-FFF2-40B4-BE49-F238E27FC236}">
                <a16:creationId xmlns:a16="http://schemas.microsoft.com/office/drawing/2014/main" id="{10A24185-FC68-41A9-812E-4C92243D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64992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ADDRESSABILITY · weight에 남아도 access 실패 가능</a:t>
            </a:r>
          </a:p>
        </p:txBody>
      </p:sp>
      <p:sp>
        <p:nvSpPr>
          <p:cNvPr id="22" name="STC-15-cap-label-box-2">
            <a:extLst xmlns:a="http://schemas.openxmlformats.org/drawingml/2006/main">
              <a:ext uri="{FF2B5EF4-FFF2-40B4-BE49-F238E27FC236}">
                <a16:creationId xmlns:a16="http://schemas.microsoft.com/office/drawing/2014/main" id="{D549D566-AFB2-4963-9BA1-3CCB892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55264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3" name="STC-15-cap-label-2">
            <a:extLst xmlns:a="http://schemas.openxmlformats.org/drawingml/2006/main">
              <a:ext uri="{FF2B5EF4-FFF2-40B4-BE49-F238E27FC236}">
                <a16:creationId xmlns:a16="http://schemas.microsoft.com/office/drawing/2014/main" id="{AB7FCE0A-E277-40B1-B47A-5210936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401568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ADDRESSABILITY</a:t>
            </a:r>
          </a:p>
        </p:txBody>
      </p:sp>
      <p:sp>
        <p:nvSpPr>
          <p:cNvPr id="24" name="STC-15-cap-body-2">
            <a:extLst xmlns:a="http://schemas.openxmlformats.org/drawingml/2006/main">
              <a:ext uri="{FF2B5EF4-FFF2-40B4-BE49-F238E27FC236}">
                <a16:creationId xmlns:a16="http://schemas.microsoft.com/office/drawing/2014/main" id="{64E498CD-D488-48FD-BF94-8D246549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46704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weight에 남아도 access 실패 가능</a:t>
            </a:r>
          </a:p>
        </p:txBody>
      </p:sp>
      <p:sp>
        <p:nvSpPr>
          <p:cNvPr id="25" name="STC-15-cap-pressure-2">
            <a:extLst xmlns:a="http://schemas.openxmlformats.org/drawingml/2006/main">
              <a:ext uri="{FF2B5EF4-FFF2-40B4-BE49-F238E27FC236}">
                <a16:creationId xmlns:a16="http://schemas.microsoft.com/office/drawing/2014/main" id="{ACBFAE3F-14CE-434A-BC29-DB08824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346704"/>
            <a:ext cx="4297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6" name="STC-15-cap-num-3">
            <a:extLst xmlns:a="http://schemas.openxmlformats.org/drawingml/2006/main">
              <a:ext uri="{FF2B5EF4-FFF2-40B4-BE49-F238E27FC236}">
                <a16:creationId xmlns:a16="http://schemas.microsoft.com/office/drawing/2014/main" id="{D849C47C-75A1-4B41-BFFA-118EF30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PLASTICITY · 새 학습과 보존은 충돌</a:t>
            </a:r>
          </a:p>
        </p:txBody>
      </p:sp>
      <p:sp>
        <p:nvSpPr>
          <p:cNvPr id="27" name="STC-15-cap-label-box-3">
            <a:extLst xmlns:a="http://schemas.openxmlformats.org/drawingml/2006/main">
              <a:ext uri="{FF2B5EF4-FFF2-40B4-BE49-F238E27FC236}">
                <a16:creationId xmlns:a16="http://schemas.microsoft.com/office/drawing/2014/main" id="{DE41F8DC-7B07-465A-B1EA-DE633FD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96512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15-cap-label-3">
            <a:extLst xmlns:a="http://schemas.openxmlformats.org/drawingml/2006/main">
              <a:ext uri="{FF2B5EF4-FFF2-40B4-BE49-F238E27FC236}">
                <a16:creationId xmlns:a16="http://schemas.microsoft.com/office/drawing/2014/main" id="{9FD8499F-CC68-47C5-BCB6-2B5318C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242816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PLASTICITY</a:t>
            </a:r>
          </a:p>
        </p:txBody>
      </p:sp>
      <p:sp>
        <p:nvSpPr>
          <p:cNvPr id="29" name="STC-15-cap-body-3">
            <a:extLst xmlns:a="http://schemas.openxmlformats.org/drawingml/2006/main">
              <a:ext uri="{FF2B5EF4-FFF2-40B4-BE49-F238E27FC236}">
                <a16:creationId xmlns:a16="http://schemas.microsoft.com/office/drawing/2014/main" id="{F8C078E8-8B00-42EF-99AB-5AF6E3C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새 학습과 보존은 충돌</a:t>
            </a:r>
          </a:p>
        </p:txBody>
      </p:sp>
      <p:sp>
        <p:nvSpPr>
          <p:cNvPr id="30" name="STC-15-cap-pressure-3">
            <a:extLst xmlns:a="http://schemas.openxmlformats.org/drawingml/2006/main">
              <a:ext uri="{FF2B5EF4-FFF2-40B4-BE49-F238E27FC236}">
                <a16:creationId xmlns:a16="http://schemas.microsoft.com/office/drawing/2014/main" id="{7365CC5E-9B53-4B94-A759-5E0AA9BD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187952"/>
            <a:ext cx="3474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5-cap-num-4">
            <a:extLst xmlns:a="http://schemas.openxmlformats.org/drawingml/2006/main">
              <a:ext uri="{FF2B5EF4-FFF2-40B4-BE49-F238E27FC236}">
                <a16:creationId xmlns:a16="http://schemas.microsoft.com/office/drawing/2014/main" id="{22BFE896-64B8-4291-BBB4-F14853E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GOVERNANCE · rollback·delete·security는 미성숙</a:t>
            </a:r>
          </a:p>
        </p:txBody>
      </p:sp>
      <p:sp>
        <p:nvSpPr>
          <p:cNvPr id="32" name="STC-15-cap-label-box-4">
            <a:extLst xmlns:a="http://schemas.openxmlformats.org/drawingml/2006/main">
              <a:ext uri="{FF2B5EF4-FFF2-40B4-BE49-F238E27FC236}">
                <a16:creationId xmlns:a16="http://schemas.microsoft.com/office/drawing/2014/main" id="{5BE60473-EDFE-4290-A00A-50A83B8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37760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3" name="STC-15-cap-label-4">
            <a:extLst xmlns:a="http://schemas.openxmlformats.org/drawingml/2006/main">
              <a:ext uri="{FF2B5EF4-FFF2-40B4-BE49-F238E27FC236}">
                <a16:creationId xmlns:a16="http://schemas.microsoft.com/office/drawing/2014/main" id="{E2127329-8C11-491B-A475-410BEA8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084064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GOVERNANCE</a:t>
            </a:r>
          </a:p>
        </p:txBody>
      </p:sp>
      <p:sp>
        <p:nvSpPr>
          <p:cNvPr id="34" name="STC-15-cap-body-4">
            <a:extLst xmlns:a="http://schemas.openxmlformats.org/drawingml/2006/main">
              <a:ext uri="{FF2B5EF4-FFF2-40B4-BE49-F238E27FC236}">
                <a16:creationId xmlns:a16="http://schemas.microsoft.com/office/drawing/2014/main" id="{182B30D3-1D80-4FC5-A73C-A9EB406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029200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rollback·delete·security는 미성숙</a:t>
            </a:r>
          </a:p>
        </p:txBody>
      </p:sp>
      <p:sp>
        <p:nvSpPr>
          <p:cNvPr id="35" name="STC-15-cap-pressure-4">
            <a:extLst xmlns:a="http://schemas.openxmlformats.org/drawingml/2006/main">
              <a:ext uri="{FF2B5EF4-FFF2-40B4-BE49-F238E27FC236}">
                <a16:creationId xmlns:a16="http://schemas.microsoft.com/office/drawing/2014/main" id="{BAA86C3C-1977-4E77-8E83-BADF936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029200"/>
            <a:ext cx="39319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6" name="STC-15-cap-binding">
            <a:extLst xmlns:a="http://schemas.openxmlformats.org/drawingml/2006/main">
              <a:ext uri="{FF2B5EF4-FFF2-40B4-BE49-F238E27FC236}">
                <a16:creationId xmlns:a16="http://schemas.microsoft.com/office/drawing/2014/main" id="{556AA274-524E-4221-88C6-E14A801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66928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1779914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6-section">
            <a:extLst xmlns:a="http://schemas.openxmlformats.org/drawingml/2006/main">
              <a:ext uri="{FF2B5EF4-FFF2-40B4-BE49-F238E27FC236}">
                <a16:creationId xmlns:a16="http://schemas.microsoft.com/office/drawing/2014/main" id="{E943B273-37A9-4F09-8A9E-B4160AE8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SEMINAR CONTRACT</a:t>
            </a:r>
          </a:p>
        </p:txBody>
      </p:sp>
      <p:sp>
        <p:nvSpPr>
          <p:cNvPr id="3" name="STC-26-slide-id">
            <a:extLst xmlns:a="http://schemas.openxmlformats.org/drawingml/2006/main">
              <a:ext uri="{FF2B5EF4-FFF2-40B4-BE49-F238E27FC236}">
                <a16:creationId xmlns:a16="http://schemas.microsoft.com/office/drawing/2014/main" id="{D71E0EC4-2DC7-41EB-BA0F-AE11D758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STC-008</a:t>
            </a:r>
          </a:p>
        </p:txBody>
      </p:sp>
      <p:sp>
        <p:nvSpPr>
          <p:cNvPr id="4" name="STC-26-headline">
            <a:extLst xmlns:a="http://schemas.openxmlformats.org/drawingml/2006/main">
              <a:ext uri="{FF2B5EF4-FFF2-40B4-BE49-F238E27FC236}">
                <a16:creationId xmlns:a16="http://schemas.microsoft.com/office/drawing/2014/main" id="{08669EE6-F4AC-4C68-A82E-8BDA6EFC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오늘의 단위는 ‘검증 가능한 기억 lifecycle’이다</a:t>
            </a:r>
          </a:p>
        </p:txBody>
      </p:sp>
      <p:sp>
        <p:nvSpPr>
          <p:cNvPr id="5" name="STC-26-status-label">
            <a:extLst xmlns:a="http://schemas.openxmlformats.org/drawingml/2006/main">
              <a:ext uri="{FF2B5EF4-FFF2-40B4-BE49-F238E27FC236}">
                <a16:creationId xmlns:a16="http://schemas.microsoft.com/office/drawing/2014/main" id="{3D2F37BD-144B-4229-8044-AB18B9C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안내</a:t>
            </a:r>
          </a:p>
        </p:txBody>
      </p:sp>
      <p:sp>
        <p:nvSpPr>
          <p:cNvPr id="6" name="STC-26-status-rule">
            <a:extLst xmlns:a="http://schemas.openxmlformats.org/drawingml/2006/main">
              <a:ext uri="{FF2B5EF4-FFF2-40B4-BE49-F238E27FC236}">
                <a16:creationId xmlns:a16="http://schemas.microsoft.com/office/drawing/2014/main" id="{E6C1A3C0-9A3D-4CB0-B638-8447A850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26-footer-rule">
            <a:extLst xmlns:a="http://schemas.openxmlformats.org/drawingml/2006/main">
              <a:ext uri="{FF2B5EF4-FFF2-40B4-BE49-F238E27FC236}">
                <a16:creationId xmlns:a16="http://schemas.microsoft.com/office/drawing/2014/main" id="{F7D06EB4-8FCC-4B6E-B953-CCBA3FE3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6-source-footer">
            <a:extLst xmlns:a="http://schemas.openxmlformats.org/drawingml/2006/main">
              <a:ext uri="{FF2B5EF4-FFF2-40B4-BE49-F238E27FC236}">
                <a16:creationId xmlns:a16="http://schemas.microsoft.com/office/drawing/2014/main" id="{3B7C6A05-5D46-429D-A92F-277E28B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figures F001–F015 · claim map</a:t>
            </a:r>
          </a:p>
        </p:txBody>
      </p:sp>
      <p:sp>
        <p:nvSpPr>
          <p:cNvPr id="9" name="STC-26-page-number">
            <a:extLst xmlns:a="http://schemas.openxmlformats.org/drawingml/2006/main">
              <a:ext uri="{FF2B5EF4-FFF2-40B4-BE49-F238E27FC236}">
                <a16:creationId xmlns:a16="http://schemas.microsoft.com/office/drawing/2014/main" id="{1E270B0C-6C6F-4707-B42E-E8F8EB3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</a:t>
            </a:r>
          </a:p>
        </p:txBody>
      </p:sp>
      <p:sp>
        <p:nvSpPr>
          <p:cNvPr id="11" name="STC-26-con-capture">
            <a:extLst xmlns:a="http://schemas.openxmlformats.org/drawingml/2006/main">
              <a:ext uri="{FF2B5EF4-FFF2-40B4-BE49-F238E27FC236}">
                <a16:creationId xmlns:a16="http://schemas.microsoft.com/office/drawing/2014/main" id="{79F04D34-B337-49ED-B681-B22D35F4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CAPTURE</a:t>
            </a:r>
          </a:p>
        </p:txBody>
      </p:sp>
      <p:sp>
        <p:nvSpPr>
          <p:cNvPr id="12" name="STC-26-con-transform">
            <a:extLst xmlns:a="http://schemas.openxmlformats.org/drawingml/2006/main">
              <a:ext uri="{FF2B5EF4-FFF2-40B4-BE49-F238E27FC236}">
                <a16:creationId xmlns:a16="http://schemas.microsoft.com/office/drawing/2014/main" id="{558FDE85-8085-482D-A8CD-57D87A4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828800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TRANSFORM</a:t>
            </a:r>
          </a:p>
        </p:txBody>
      </p:sp>
      <p:sp>
        <p:nvSpPr>
          <p:cNvPr id="13" name="STC-26-con-verify">
            <a:extLst xmlns:a="http://schemas.openxmlformats.org/drawingml/2006/main">
              <a:ext uri="{FF2B5EF4-FFF2-40B4-BE49-F238E27FC236}">
                <a16:creationId xmlns:a16="http://schemas.microsoft.com/office/drawing/2014/main" id="{6A5D3291-9293-481E-9023-234B669A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82880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14" name="STC-26-con-reuse">
            <a:extLst xmlns:a="http://schemas.openxmlformats.org/drawingml/2006/main">
              <a:ext uri="{FF2B5EF4-FFF2-40B4-BE49-F238E27FC236}">
                <a16:creationId xmlns:a16="http://schemas.microsoft.com/office/drawing/2014/main" id="{420BB473-D30E-45A8-9521-20D50E1E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28800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REUSE / UNDO</a:t>
            </a:r>
          </a:p>
        </p:txBody>
      </p:sp>
      <p:sp>
        <p:nvSpPr>
          <p:cNvPr id="15" name="STC-26-con-line">
            <a:extLst xmlns:a="http://schemas.openxmlformats.org/drawingml/2006/main">
              <a:ext uri="{FF2B5EF4-FFF2-40B4-BE49-F238E27FC236}">
                <a16:creationId xmlns:a16="http://schemas.microsoft.com/office/drawing/2014/main" id="{A7E1143B-3917-4B79-A77B-3605BAE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87168"/>
            <a:ext cx="9281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26-con-dot-0">
            <a:extLst xmlns:a="http://schemas.openxmlformats.org/drawingml/2006/main">
              <a:ext uri="{FF2B5EF4-FFF2-40B4-BE49-F238E27FC236}">
                <a16:creationId xmlns:a16="http://schemas.microsoft.com/office/drawing/2014/main" id="{AACD82B0-2F9C-463A-BA8F-AAB17335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26-con-dot-1">
            <a:extLst xmlns:a="http://schemas.openxmlformats.org/drawingml/2006/main">
              <a:ext uri="{FF2B5EF4-FFF2-40B4-BE49-F238E27FC236}">
                <a16:creationId xmlns:a16="http://schemas.microsoft.com/office/drawing/2014/main" id="{87F73D95-E4BB-43CC-9CA1-A978F0F9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8" name="STC-26-con-dot-2">
            <a:extLst xmlns:a="http://schemas.openxmlformats.org/drawingml/2006/main">
              <a:ext uri="{FF2B5EF4-FFF2-40B4-BE49-F238E27FC236}">
                <a16:creationId xmlns:a16="http://schemas.microsoft.com/office/drawing/2014/main" id="{1FD92EB5-930F-45DC-A6CE-1E1B8D3F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26-con-dot-3">
            <a:extLst xmlns:a="http://schemas.openxmlformats.org/drawingml/2006/main">
              <a:ext uri="{FF2B5EF4-FFF2-40B4-BE49-F238E27FC236}">
                <a16:creationId xmlns:a16="http://schemas.microsoft.com/office/drawing/2014/main" id="{449EDF8C-7C78-48D0-9A01-E148348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0" name="STC-26-con-statement">
            <a:extLst xmlns:a="http://schemas.openxmlformats.org/drawingml/2006/main">
              <a:ext uri="{FF2B5EF4-FFF2-40B4-BE49-F238E27FC236}">
                <a16:creationId xmlns:a16="http://schemas.microsoft.com/office/drawing/2014/main" id="{876E1A30-CD94-4435-BC18-85ADFBA5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163824"/>
            <a:ext cx="98298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Wake가 exact event를 남기고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Sleep이 candidate를 만들며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Memory fabric이 version을 보유하고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Control plane이 publish와 undo를 결정한다</a:t>
            </a:r>
          </a:p>
        </p:txBody>
      </p:sp>
      <p:sp>
        <p:nvSpPr>
          <p:cNvPr id="21" name="STC-26-con-final">
            <a:extLst xmlns:a="http://schemas.openxmlformats.org/drawingml/2006/main">
              <a:ext uri="{FF2B5EF4-FFF2-40B4-BE49-F238E27FC236}">
                <a16:creationId xmlns:a16="http://schemas.microsoft.com/office/drawing/2014/main" id="{38BDEC82-1138-4DFF-9C1E-DC9AF672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175504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2" name="STC-26-con-final-text">
            <a:extLst xmlns:a="http://schemas.openxmlformats.org/drawingml/2006/main">
              <a:ext uri="{FF2B5EF4-FFF2-40B4-BE49-F238E27FC236}">
                <a16:creationId xmlns:a16="http://schemas.microsoft.com/office/drawing/2014/main" id="{409F19E8-2D68-4778-9E37-D296D54B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340096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 evidence와 consent를 남긴다</a:t>
            </a:r>
          </a:p>
        </p:txBody>
      </p:sp>
    </p:spTree>
    <p:extLst>
      <p:ext uri="{BB962C8B-B14F-4D97-AF65-F5344CB8AC3E}">
        <p14:creationId xmlns:p14="http://schemas.microsoft.com/office/powerpoint/2010/main" val="1913020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2-section">
            <a:extLst xmlns:a="http://schemas.openxmlformats.org/drawingml/2006/main">
              <a:ext uri="{FF2B5EF4-FFF2-40B4-BE49-F238E27FC236}">
                <a16:creationId xmlns:a16="http://schemas.microsoft.com/office/drawing/2014/main" id="{9BED9E58-00E9-465F-81C5-F51DC1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12-slide-id">
            <a:extLst xmlns:a="http://schemas.openxmlformats.org/drawingml/2006/main">
              <a:ext uri="{FF2B5EF4-FFF2-40B4-BE49-F238E27FC236}">
                <a16:creationId xmlns:a16="http://schemas.microsoft.com/office/drawing/2014/main" id="{F143FB54-340A-4C97-AFD3-7653D00B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STC-009</a:t>
            </a:r>
          </a:p>
        </p:txBody>
      </p:sp>
      <p:sp>
        <p:nvSpPr>
          <p:cNvPr id="4" name="STC-12-headline">
            <a:extLst xmlns:a="http://schemas.openxmlformats.org/drawingml/2006/main">
              <a:ext uri="{FF2B5EF4-FFF2-40B4-BE49-F238E27FC236}">
                <a16:creationId xmlns:a16="http://schemas.microsoft.com/office/drawing/2014/main" id="{B20880B4-6186-43A8-9FAD-366FE1B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Training은 data를 미래 행동으로 변환하는 operator pipeline이다</a:t>
            </a:r>
          </a:p>
        </p:txBody>
      </p:sp>
      <p:sp>
        <p:nvSpPr>
          <p:cNvPr id="5" name="STC-12-status-label">
            <a:extLst xmlns:a="http://schemas.openxmlformats.org/drawingml/2006/main">
              <a:ext uri="{FF2B5EF4-FFF2-40B4-BE49-F238E27FC236}">
                <a16:creationId xmlns:a16="http://schemas.microsoft.com/office/drawing/2014/main" id="{0CF310CB-1928-4691-A3FB-666D399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12-status-rule">
            <a:extLst xmlns:a="http://schemas.openxmlformats.org/drawingml/2006/main">
              <a:ext uri="{FF2B5EF4-FFF2-40B4-BE49-F238E27FC236}">
                <a16:creationId xmlns:a16="http://schemas.microsoft.com/office/drawing/2014/main" id="{3E99E4B1-295E-48F2-94DF-80F4D863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2-footer-rule">
            <a:extLst xmlns:a="http://schemas.openxmlformats.org/drawingml/2006/main">
              <a:ext uri="{FF2B5EF4-FFF2-40B4-BE49-F238E27FC236}">
                <a16:creationId xmlns:a16="http://schemas.microsoft.com/office/drawing/2014/main" id="{A3C1CC2F-D951-41BA-9A0A-1723072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2-source-footer">
            <a:extLst xmlns:a="http://schemas.openxmlformats.org/drawingml/2006/main">
              <a:ext uri="{FF2B5EF4-FFF2-40B4-BE49-F238E27FC236}">
                <a16:creationId xmlns:a16="http://schemas.microsoft.com/office/drawing/2014/main" id="{04E4D685-2DD8-4371-A68D-FBB0A31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Training Background §1–§3</a:t>
            </a:r>
          </a:p>
        </p:txBody>
      </p:sp>
      <p:sp>
        <p:nvSpPr>
          <p:cNvPr id="9" name="STC-12-page-number">
            <a:extLst xmlns:a="http://schemas.openxmlformats.org/drawingml/2006/main">
              <a:ext uri="{FF2B5EF4-FFF2-40B4-BE49-F238E27FC236}">
                <a16:creationId xmlns:a16="http://schemas.microsoft.com/office/drawing/2014/main" id="{1FABB635-BAC3-411B-B672-1373736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</a:t>
            </a:r>
          </a:p>
        </p:txBody>
      </p:sp>
      <p:sp>
        <p:nvSpPr>
          <p:cNvPr id="11" name="STC-12-op-node-0">
            <a:extLst xmlns:a="http://schemas.openxmlformats.org/drawingml/2006/main">
              <a:ext uri="{FF2B5EF4-FFF2-40B4-BE49-F238E27FC236}">
                <a16:creationId xmlns:a16="http://schemas.microsoft.com/office/drawing/2014/main" id="{9565E26F-887E-4304-8DBF-1E174EC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56362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2" name="STC-12-op-num-0">
            <a:extLst xmlns:a="http://schemas.openxmlformats.org/drawingml/2006/main">
              <a:ext uri="{FF2B5EF4-FFF2-40B4-BE49-F238E27FC236}">
                <a16:creationId xmlns:a16="http://schemas.microsoft.com/office/drawing/2014/main" id="{D48EE726-A278-44FD-822B-C049FB2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69164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3" name="STC-12-op-tag-0">
            <a:extLst xmlns:a="http://schemas.openxmlformats.org/drawingml/2006/main">
              <a:ext uri="{FF2B5EF4-FFF2-40B4-BE49-F238E27FC236}">
                <a16:creationId xmlns:a16="http://schemas.microsoft.com/office/drawing/2014/main" id="{E816A992-8F21-4B25-BCDD-A098663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36829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ADMIT</a:t>
            </a:r>
          </a:p>
        </p:txBody>
      </p:sp>
      <p:sp>
        <p:nvSpPr>
          <p:cNvPr id="14" name="STC-12-op-body-0">
            <a:extLst xmlns:a="http://schemas.openxmlformats.org/drawingml/2006/main">
              <a:ext uri="{FF2B5EF4-FFF2-40B4-BE49-F238E27FC236}">
                <a16:creationId xmlns:a16="http://schemas.microsoft.com/office/drawing/2014/main" id="{165A7B8B-3F81-4002-8250-9F527A3B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7218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어떤 experience를 학습 대상으로 넣을지</a:t>
            </a:r>
          </a:p>
        </p:txBody>
      </p:sp>
      <p:sp>
        <p:nvSpPr>
          <p:cNvPr id="15" name="STC-12-op-link-0">
            <a:extLst xmlns:a="http://schemas.openxmlformats.org/drawingml/2006/main">
              <a:ext uri="{FF2B5EF4-FFF2-40B4-BE49-F238E27FC236}">
                <a16:creationId xmlns:a16="http://schemas.microsoft.com/office/drawing/2014/main" id="{9B485991-DCDC-402B-9D7D-4F6EC04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12-op-node-1">
            <a:extLst xmlns:a="http://schemas.openxmlformats.org/drawingml/2006/main">
              <a:ext uri="{FF2B5EF4-FFF2-40B4-BE49-F238E27FC236}">
                <a16:creationId xmlns:a16="http://schemas.microsoft.com/office/drawing/2014/main" id="{F80C4FE0-F1BC-4D46-8887-D3C1757C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12-op-num-1">
            <a:extLst xmlns:a="http://schemas.openxmlformats.org/drawingml/2006/main">
              <a:ext uri="{FF2B5EF4-FFF2-40B4-BE49-F238E27FC236}">
                <a16:creationId xmlns:a16="http://schemas.microsoft.com/office/drawing/2014/main" id="{F9AAE281-2CB6-4B37-AF68-53AFB0A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8" name="STC-12-op-tag-1">
            <a:extLst xmlns:a="http://schemas.openxmlformats.org/drawingml/2006/main">
              <a:ext uri="{FF2B5EF4-FFF2-40B4-BE49-F238E27FC236}">
                <a16:creationId xmlns:a16="http://schemas.microsoft.com/office/drawing/2014/main" id="{DB376A64-3995-4E35-AD03-8003FB0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BUILD</a:t>
            </a:r>
          </a:p>
        </p:txBody>
      </p:sp>
      <p:sp>
        <p:nvSpPr>
          <p:cNvPr id="19" name="STC-12-op-body-1">
            <a:extLst xmlns:a="http://schemas.openxmlformats.org/drawingml/2006/main">
              <a:ext uri="{FF2B5EF4-FFF2-40B4-BE49-F238E27FC236}">
                <a16:creationId xmlns:a16="http://schemas.microsoft.com/office/drawing/2014/main" id="{EC50FD79-C18A-4040-9760-EDA4257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batch·replay·synthetic data를 구성</a:t>
            </a:r>
          </a:p>
        </p:txBody>
      </p:sp>
      <p:sp>
        <p:nvSpPr>
          <p:cNvPr id="20" name="STC-12-op-link-1">
            <a:extLst xmlns:a="http://schemas.openxmlformats.org/drawingml/2006/main">
              <a:ext uri="{FF2B5EF4-FFF2-40B4-BE49-F238E27FC236}">
                <a16:creationId xmlns:a16="http://schemas.microsoft.com/office/drawing/2014/main" id="{1D205391-CBC8-47B1-9F68-03FDF9A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452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2-op-node-2">
            <a:extLst xmlns:a="http://schemas.openxmlformats.org/drawingml/2006/main">
              <a:ext uri="{FF2B5EF4-FFF2-40B4-BE49-F238E27FC236}">
                <a16:creationId xmlns:a16="http://schemas.microsoft.com/office/drawing/2014/main" id="{68B4B873-F963-44E1-9F2C-50BDC97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2-op-num-2">
            <a:extLst xmlns:a="http://schemas.openxmlformats.org/drawingml/2006/main">
              <a:ext uri="{FF2B5EF4-FFF2-40B4-BE49-F238E27FC236}">
                <a16:creationId xmlns:a16="http://schemas.microsoft.com/office/drawing/2014/main" id="{DA6C6E96-24AB-49A1-8C94-F7D3A6D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3" name="STC-12-op-tag-2">
            <a:extLst xmlns:a="http://schemas.openxmlformats.org/drawingml/2006/main">
              <a:ext uri="{FF2B5EF4-FFF2-40B4-BE49-F238E27FC236}">
                <a16:creationId xmlns:a16="http://schemas.microsoft.com/office/drawing/2014/main" id="{DE77EAA3-C1E2-4BB3-A6CD-F742DF3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UPDATE</a:t>
            </a:r>
          </a:p>
        </p:txBody>
      </p:sp>
      <p:sp>
        <p:nvSpPr>
          <p:cNvPr id="24" name="STC-12-op-body-2">
            <a:extLst xmlns:a="http://schemas.openxmlformats.org/drawingml/2006/main">
              <a:ext uri="{FF2B5EF4-FFF2-40B4-BE49-F238E27FC236}">
                <a16:creationId xmlns:a16="http://schemas.microsoft.com/office/drawing/2014/main" id="{2FAE901B-858A-4FBE-8454-E355DFA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loss·gradient·optimizer로 state를 변경</a:t>
            </a:r>
          </a:p>
        </p:txBody>
      </p:sp>
      <p:sp>
        <p:nvSpPr>
          <p:cNvPr id="25" name="STC-12-op-link-2">
            <a:extLst xmlns:a="http://schemas.openxmlformats.org/drawingml/2006/main">
              <a:ext uri="{FF2B5EF4-FFF2-40B4-BE49-F238E27FC236}">
                <a16:creationId xmlns:a16="http://schemas.microsoft.com/office/drawing/2014/main" id="{1FF3F698-4B8B-4FDF-8C1C-B38373EE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35040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6" name="STC-12-op-node-3">
            <a:extLst xmlns:a="http://schemas.openxmlformats.org/drawingml/2006/main">
              <a:ext uri="{FF2B5EF4-FFF2-40B4-BE49-F238E27FC236}">
                <a16:creationId xmlns:a16="http://schemas.microsoft.com/office/drawing/2014/main" id="{18FCBE66-54BC-4BD1-85B8-B66B2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1297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12-op-num-3">
            <a:extLst xmlns:a="http://schemas.openxmlformats.org/drawingml/2006/main">
              <a:ext uri="{FF2B5EF4-FFF2-40B4-BE49-F238E27FC236}">
                <a16:creationId xmlns:a16="http://schemas.microsoft.com/office/drawing/2014/main" id="{B016CB40-821A-426B-BB69-C4EA19B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25780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8" name="STC-12-op-tag-3">
            <a:extLst xmlns:a="http://schemas.openxmlformats.org/drawingml/2006/main">
              <a:ext uri="{FF2B5EF4-FFF2-40B4-BE49-F238E27FC236}">
                <a16:creationId xmlns:a16="http://schemas.microsoft.com/office/drawing/2014/main" id="{FDF0F062-D6A7-490E-BE3A-D052AF8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593445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29" name="STC-12-op-body-3">
            <a:extLst xmlns:a="http://schemas.openxmlformats.org/drawingml/2006/main">
              <a:ext uri="{FF2B5EF4-FFF2-40B4-BE49-F238E27FC236}">
                <a16:creationId xmlns:a16="http://schemas.microsoft.com/office/drawing/2014/main" id="{3BF79E21-1FF6-4F3B-8783-4089065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6227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held-out utility와 old capability 확인</a:t>
            </a:r>
          </a:p>
        </p:txBody>
      </p:sp>
      <p:sp>
        <p:nvSpPr>
          <p:cNvPr id="30" name="STC-12-op-link-3">
            <a:extLst xmlns:a="http://schemas.openxmlformats.org/drawingml/2006/main">
              <a:ext uri="{FF2B5EF4-FFF2-40B4-BE49-F238E27FC236}">
                <a16:creationId xmlns:a16="http://schemas.microsoft.com/office/drawing/2014/main" id="{C2D2C21F-163F-4D95-9BF0-CD645F7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44628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1" name="STC-12-op-node-4">
            <a:extLst xmlns:a="http://schemas.openxmlformats.org/drawingml/2006/main">
              <a:ext uri="{FF2B5EF4-FFF2-40B4-BE49-F238E27FC236}">
                <a16:creationId xmlns:a16="http://schemas.microsoft.com/office/drawing/2014/main" id="{15454C93-9714-40BA-A132-E320F2F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2" name="STC-12-op-num-4">
            <a:extLst xmlns:a="http://schemas.openxmlformats.org/drawingml/2006/main">
              <a:ext uri="{FF2B5EF4-FFF2-40B4-BE49-F238E27FC236}">
                <a16:creationId xmlns:a16="http://schemas.microsoft.com/office/drawing/2014/main" id="{9C622E44-8EB5-4A8F-9D61-4DAD460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33" name="STC-12-op-tag-4">
            <a:extLst xmlns:a="http://schemas.openxmlformats.org/drawingml/2006/main">
              <a:ext uri="{FF2B5EF4-FFF2-40B4-BE49-F238E27FC236}">
                <a16:creationId xmlns:a16="http://schemas.microsoft.com/office/drawing/2014/main" id="{FD53F60B-6AD4-4C55-B97A-929F8BA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PUBLISH</a:t>
            </a:r>
          </a:p>
        </p:txBody>
      </p:sp>
      <p:sp>
        <p:nvSpPr>
          <p:cNvPr id="34" name="STC-12-op-body-4">
            <a:extLst xmlns:a="http://schemas.openxmlformats.org/drawingml/2006/main">
              <a:ext uri="{FF2B5EF4-FFF2-40B4-BE49-F238E27FC236}">
                <a16:creationId xmlns:a16="http://schemas.microsoft.com/office/drawing/2014/main" id="{69B11EFB-0B67-4435-A518-4BD5674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serving artifact를 versioned 배포</a:t>
            </a:r>
          </a:p>
        </p:txBody>
      </p:sp>
      <p:sp>
        <p:nvSpPr>
          <p:cNvPr id="35" name="STC-12-op-link-4">
            <a:extLst xmlns:a="http://schemas.openxmlformats.org/drawingml/2006/main">
              <a:ext uri="{FF2B5EF4-FFF2-40B4-BE49-F238E27FC236}">
                <a16:creationId xmlns:a16="http://schemas.microsoft.com/office/drawing/2014/main" id="{49EA155E-1AD2-4243-9273-CD4608D5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6" name="STC-12-op-node-5">
            <a:extLst xmlns:a="http://schemas.openxmlformats.org/drawingml/2006/main">
              <a:ext uri="{FF2B5EF4-FFF2-40B4-BE49-F238E27FC236}">
                <a16:creationId xmlns:a16="http://schemas.microsoft.com/office/drawing/2014/main" id="{BCE04997-1C16-4A22-9D57-C05C3C7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7" name="STC-12-op-num-5">
            <a:extLst xmlns:a="http://schemas.openxmlformats.org/drawingml/2006/main">
              <a:ext uri="{FF2B5EF4-FFF2-40B4-BE49-F238E27FC236}">
                <a16:creationId xmlns:a16="http://schemas.microsoft.com/office/drawing/2014/main" id="{599C82AF-1ACF-4452-BAFC-2647307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38" name="STC-12-op-tag-5">
            <a:extLst xmlns:a="http://schemas.openxmlformats.org/drawingml/2006/main">
              <a:ext uri="{FF2B5EF4-FFF2-40B4-BE49-F238E27FC236}">
                <a16:creationId xmlns:a16="http://schemas.microsoft.com/office/drawing/2014/main" id="{B07599FE-D711-4F70-976F-A5A391A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UNDO</a:t>
            </a:r>
          </a:p>
        </p:txBody>
      </p:sp>
      <p:sp>
        <p:nvSpPr>
          <p:cNvPr id="39" name="STC-12-op-body-5">
            <a:extLst xmlns:a="http://schemas.openxmlformats.org/drawingml/2006/main">
              <a:ext uri="{FF2B5EF4-FFF2-40B4-BE49-F238E27FC236}">
                <a16:creationId xmlns:a16="http://schemas.microsoft.com/office/drawing/2014/main" id="{423310C0-5466-447C-9A7D-22EAE19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regression·delete 시 rollback/rebuild</a:t>
            </a:r>
          </a:p>
        </p:txBody>
      </p:sp>
      <p:sp>
        <p:nvSpPr>
          <p:cNvPr id="40" name="STC-12-op-link-5">
            <a:extLst xmlns:a="http://schemas.openxmlformats.org/drawingml/2006/main">
              <a:ext uri="{FF2B5EF4-FFF2-40B4-BE49-F238E27FC236}">
                <a16:creationId xmlns:a16="http://schemas.microsoft.com/office/drawing/2014/main" id="{F56FC784-7401-4605-B130-CFE571A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41" name="STC-12-op-center">
            <a:extLst xmlns:a="http://schemas.openxmlformats.org/drawingml/2006/main">
              <a:ext uri="{FF2B5EF4-FFF2-40B4-BE49-F238E27FC236}">
                <a16:creationId xmlns:a16="http://schemas.microsoft.com/office/drawing/2014/main" id="{768EE9E5-A371-4721-B14D-560E6C4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2" name="STC-12-op-center-text">
            <a:extLst xmlns:a="http://schemas.openxmlformats.org/drawingml/2006/main">
              <a:ext uri="{FF2B5EF4-FFF2-40B4-BE49-F238E27FC236}">
                <a16:creationId xmlns:a16="http://schemas.microsoft.com/office/drawing/2014/main" id="{742C75B8-42AB-46D8-A657-D904AEC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246120"/>
            <a:ext cx="168249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303914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STC-010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한 번의 update는 forward→loss→backward→optimizer 순서다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bg:forward-pass · loss · backpropagation · optimizer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FORWARD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LOSS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BACKWARD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UPDATE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FORWARD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LOSS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3-section">
            <a:extLst xmlns:a="http://schemas.openxmlformats.org/drawingml/2006/main">
              <a:ext uri="{FF2B5EF4-FFF2-40B4-BE49-F238E27FC236}">
                <a16:creationId xmlns:a16="http://schemas.microsoft.com/office/drawing/2014/main" id="{02A15198-0D14-4509-9329-A62092A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03-slide-id">
            <a:extLst xmlns:a="http://schemas.openxmlformats.org/drawingml/2006/main">
              <a:ext uri="{FF2B5EF4-FFF2-40B4-BE49-F238E27FC236}">
                <a16:creationId xmlns:a16="http://schemas.microsoft.com/office/drawing/2014/main" id="{5885D053-0F4B-4CBB-BF5A-EAE3A537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STC-011</a:t>
            </a:r>
          </a:p>
        </p:txBody>
      </p:sp>
      <p:sp>
        <p:nvSpPr>
          <p:cNvPr id="4" name="STC-03-headline">
            <a:extLst xmlns:a="http://schemas.openxmlformats.org/drawingml/2006/main">
              <a:ext uri="{FF2B5EF4-FFF2-40B4-BE49-F238E27FC236}">
                <a16:creationId xmlns:a16="http://schemas.microsoft.com/office/drawing/2014/main" id="{CADF224E-AEF9-4435-B15E-E13191F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Objective·metric·evaluator는 같은 것이 아니다</a:t>
            </a:r>
          </a:p>
        </p:txBody>
      </p:sp>
      <p:sp>
        <p:nvSpPr>
          <p:cNvPr id="5" name="STC-03-status-label">
            <a:extLst xmlns:a="http://schemas.openxmlformats.org/drawingml/2006/main">
              <a:ext uri="{FF2B5EF4-FFF2-40B4-BE49-F238E27FC236}">
                <a16:creationId xmlns:a16="http://schemas.microsoft.com/office/drawing/2014/main" id="{F4A952E9-55E5-4046-A8E1-D32DE3E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03-status-rule">
            <a:extLst xmlns:a="http://schemas.openxmlformats.org/drawingml/2006/main">
              <a:ext uri="{FF2B5EF4-FFF2-40B4-BE49-F238E27FC236}">
                <a16:creationId xmlns:a16="http://schemas.microsoft.com/office/drawing/2014/main" id="{962B84CF-9A4F-4513-A509-82D6355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03-footer-rule">
            <a:extLst xmlns:a="http://schemas.openxmlformats.org/drawingml/2006/main">
              <a:ext uri="{FF2B5EF4-FFF2-40B4-BE49-F238E27FC236}">
                <a16:creationId xmlns:a16="http://schemas.microsoft.com/office/drawing/2014/main" id="{03E9FA29-6057-4BDB-B58B-062FCB8F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3-source-footer">
            <a:extLst xmlns:a="http://schemas.openxmlformats.org/drawingml/2006/main">
              <a:ext uri="{FF2B5EF4-FFF2-40B4-BE49-F238E27FC236}">
                <a16:creationId xmlns:a16="http://schemas.microsoft.com/office/drawing/2014/main" id="{39FC72E5-FB05-4ECA-B34C-042B625D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bg:objective · validation-set · reward-model</a:t>
            </a:r>
          </a:p>
        </p:txBody>
      </p:sp>
      <p:sp>
        <p:nvSpPr>
          <p:cNvPr id="9" name="STC-03-page-number">
            <a:extLst xmlns:a="http://schemas.openxmlformats.org/drawingml/2006/main">
              <a:ext uri="{FF2B5EF4-FFF2-40B4-BE49-F238E27FC236}">
                <a16:creationId xmlns:a16="http://schemas.microsoft.com/office/drawing/2014/main" id="{F1434D67-E687-41AF-BE09-29AA056B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11</a:t>
            </a:r>
          </a:p>
        </p:txBody>
      </p:sp>
      <p:sp>
        <p:nvSpPr>
          <p:cNvPr id="11" name="STC-03-def-num-0">
            <a:extLst xmlns:a="http://schemas.openxmlformats.org/drawingml/2006/main">
              <a:ext uri="{FF2B5EF4-FFF2-40B4-BE49-F238E27FC236}">
                <a16:creationId xmlns:a16="http://schemas.microsoft.com/office/drawing/2014/main" id="{4525BD33-13EC-4AAD-A5B3-0EE13DE8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3-def-num-text-0">
            <a:extLst xmlns:a="http://schemas.openxmlformats.org/drawingml/2006/main">
              <a:ext uri="{FF2B5EF4-FFF2-40B4-BE49-F238E27FC236}">
                <a16:creationId xmlns:a16="http://schemas.microsoft.com/office/drawing/2014/main" id="{7E22597E-3B98-4999-9E04-F761D46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학습 중 직접 최적화하는 수치</a:t>
            </a:r>
          </a:p>
        </p:txBody>
      </p:sp>
      <p:sp>
        <p:nvSpPr>
          <p:cNvPr id="13" name="STC-03-def-label-0">
            <a:extLst xmlns:a="http://schemas.openxmlformats.org/drawingml/2006/main">
              <a:ext uri="{FF2B5EF4-FFF2-40B4-BE49-F238E27FC236}">
                <a16:creationId xmlns:a16="http://schemas.microsoft.com/office/drawing/2014/main" id="{03721994-FBBD-4164-94BC-AA6F0AA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OBJECTIVE</a:t>
            </a:r>
          </a:p>
        </p:txBody>
      </p:sp>
      <p:sp>
        <p:nvSpPr>
          <p:cNvPr id="14" name="STC-03-def-body-0">
            <a:extLst xmlns:a="http://schemas.openxmlformats.org/drawingml/2006/main">
              <a:ext uri="{FF2B5EF4-FFF2-40B4-BE49-F238E27FC236}">
                <a16:creationId xmlns:a16="http://schemas.microsoft.com/office/drawing/2014/main" id="{C6F0732A-57AA-45EF-A63D-9B2F1A63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현재 사용자 action의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critical path 밖에서 실행</a:t>
            </a:r>
          </a:p>
        </p:txBody>
      </p:sp>
      <p:sp>
        <p:nvSpPr>
          <p:cNvPr id="15" name="STC-03-def-link-0">
            <a:extLst xmlns:a="http://schemas.openxmlformats.org/drawingml/2006/main">
              <a:ext uri="{FF2B5EF4-FFF2-40B4-BE49-F238E27FC236}">
                <a16:creationId xmlns:a16="http://schemas.microsoft.com/office/drawing/2014/main" id="{ECFA8D7D-6B6E-4281-AC9B-C5385CC5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648456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03-def-num-1">
            <a:extLst xmlns:a="http://schemas.openxmlformats.org/drawingml/2006/main">
              <a:ext uri="{FF2B5EF4-FFF2-40B4-BE49-F238E27FC236}">
                <a16:creationId xmlns:a16="http://schemas.microsoft.com/office/drawing/2014/main" id="{674804D3-670A-4CD6-9B43-936C18A5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3-def-num-text-1">
            <a:extLst xmlns:a="http://schemas.openxmlformats.org/drawingml/2006/main">
              <a:ext uri="{FF2B5EF4-FFF2-40B4-BE49-F238E27FC236}">
                <a16:creationId xmlns:a16="http://schemas.microsoft.com/office/drawing/2014/main" id="{917D0C1F-FA71-4E62-A401-B870403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held-out에서 보고하는 성공·비용</a:t>
            </a:r>
          </a:p>
        </p:txBody>
      </p:sp>
      <p:sp>
        <p:nvSpPr>
          <p:cNvPr id="18" name="STC-03-def-label-1">
            <a:extLst xmlns:a="http://schemas.openxmlformats.org/drawingml/2006/main">
              <a:ext uri="{FF2B5EF4-FFF2-40B4-BE49-F238E27FC236}">
                <a16:creationId xmlns:a16="http://schemas.microsoft.com/office/drawing/2014/main" id="{CD0EA142-76AF-4862-9126-5C9EE1B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METRIC</a:t>
            </a:r>
          </a:p>
        </p:txBody>
      </p:sp>
      <p:sp>
        <p:nvSpPr>
          <p:cNvPr id="19" name="STC-03-def-body-1">
            <a:extLst xmlns:a="http://schemas.openxmlformats.org/drawingml/2006/main">
              <a:ext uri="{FF2B5EF4-FFF2-40B4-BE49-F238E27FC236}">
                <a16:creationId xmlns:a16="http://schemas.microsoft.com/office/drawing/2014/main" id="{A0AF251A-4EFD-4670-BEB7-2A4C8B7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정적 pretraining corpus가 아니라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누적 wake experience를 변환</a:t>
            </a:r>
          </a:p>
        </p:txBody>
      </p:sp>
      <p:sp>
        <p:nvSpPr>
          <p:cNvPr id="20" name="STC-03-def-link-1">
            <a:extLst xmlns:a="http://schemas.openxmlformats.org/drawingml/2006/main">
              <a:ext uri="{FF2B5EF4-FFF2-40B4-BE49-F238E27FC236}">
                <a16:creationId xmlns:a16="http://schemas.microsoft.com/office/drawing/2014/main" id="{2060CC0F-C3F6-4F52-80CF-8123108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648456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03-def-num-2">
            <a:extLst xmlns:a="http://schemas.openxmlformats.org/drawingml/2006/main">
              <a:ext uri="{FF2B5EF4-FFF2-40B4-BE49-F238E27FC236}">
                <a16:creationId xmlns:a16="http://schemas.microsoft.com/office/drawing/2014/main" id="{0DA5ED6C-B7D0-4F81-8EC8-FD72BF3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2" name="STC-03-def-num-text-2">
            <a:extLst xmlns:a="http://schemas.openxmlformats.org/drawingml/2006/main">
              <a:ext uri="{FF2B5EF4-FFF2-40B4-BE49-F238E27FC236}">
                <a16:creationId xmlns:a16="http://schemas.microsoft.com/office/drawing/2014/main" id="{E268497E-9740-4B72-81FD-1F2CD701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memory·dream·answer의 품질 판정자</a:t>
            </a:r>
          </a:p>
        </p:txBody>
      </p:sp>
      <p:sp>
        <p:nvSpPr>
          <p:cNvPr id="23" name="STC-03-def-label-2">
            <a:extLst xmlns:a="http://schemas.openxmlformats.org/drawingml/2006/main">
              <a:ext uri="{FF2B5EF4-FFF2-40B4-BE49-F238E27FC236}">
                <a16:creationId xmlns:a16="http://schemas.microsoft.com/office/drawing/2014/main" id="{8A91F7F0-8DE4-4C64-B7B8-D4A4D96D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EVALUATOR</a:t>
            </a:r>
          </a:p>
        </p:txBody>
      </p:sp>
      <p:sp>
        <p:nvSpPr>
          <p:cNvPr id="24" name="STC-03-def-body-2">
            <a:extLst xmlns:a="http://schemas.openxmlformats.org/drawingml/2006/main">
              <a:ext uri="{FF2B5EF4-FFF2-40B4-BE49-F238E27FC236}">
                <a16:creationId xmlns:a16="http://schemas.microsoft.com/office/drawing/2014/main" id="{ADA2CC6B-A34B-46FF-BC42-AC155B9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검증된 persistent state를 publish하고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다음 wake가 재사용</a:t>
            </a:r>
          </a:p>
        </p:txBody>
      </p:sp>
      <p:sp>
        <p:nvSpPr>
          <p:cNvPr id="25" name="STC-03-def-separator">
            <a:extLst xmlns:a="http://schemas.openxmlformats.org/drawingml/2006/main">
              <a:ext uri="{FF2B5EF4-FFF2-40B4-BE49-F238E27FC236}">
                <a16:creationId xmlns:a16="http://schemas.microsoft.com/office/drawing/2014/main" id="{8E61728D-C9A4-4460-83C6-D5884B72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68496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none"/>
          </a:ln>
        </p:spPr>
      </p:sp>
      <p:sp>
        <p:nvSpPr>
          <p:cNvPr id="26" name="STC-03-therefore">
            <a:extLst xmlns:a="http://schemas.openxmlformats.org/drawingml/2006/main">
              <a:ext uri="{FF2B5EF4-FFF2-40B4-BE49-F238E27FC236}">
                <a16:creationId xmlns:a16="http://schemas.microsoft.com/office/drawing/2014/main" id="{965E5C0A-2FD3-4A53-873A-A1997E1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88536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OBJECTIVE</a:t>
            </a:r>
          </a:p>
        </p:txBody>
      </p:sp>
      <p:sp>
        <p:nvSpPr>
          <p:cNvPr id="27" name="STC-03-definition-nonclaims">
            <a:extLst xmlns:a="http://schemas.openxmlformats.org/drawingml/2006/main">
              <a:ext uri="{FF2B5EF4-FFF2-40B4-BE49-F238E27FC236}">
                <a16:creationId xmlns:a16="http://schemas.microsoft.com/office/drawing/2014/main" id="{A0EE04A4-7BEC-45E5-B1FD-C822197D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224528"/>
            <a:ext cx="9217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학습 중 직접 최적화하는 수치</a:t>
            </a:r>
          </a:p>
        </p:txBody>
      </p:sp>
      <p:sp>
        <p:nvSpPr>
          <p:cNvPr id="28" name="STC-03-definition-bottom">
            <a:extLst xmlns:a="http://schemas.openxmlformats.org/drawingml/2006/main">
              <a:ext uri="{FF2B5EF4-FFF2-40B4-BE49-F238E27FC236}">
                <a16:creationId xmlns:a16="http://schemas.microsoft.com/office/drawing/2014/main" id="{D9012F04-98F8-4EB6-9D51-2E280DFE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10912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Evaluator가 틀리면 sleep은 오류를 durable state로 승격한다.</a:t>
            </a:r>
          </a:p>
        </p:txBody>
      </p:sp>
    </p:spTree>
    <p:extLst>
      <p:ext uri="{BB962C8B-B14F-4D97-AF65-F5344CB8AC3E}">
        <p14:creationId xmlns:p14="http://schemas.microsoft.com/office/powerpoint/2010/main" val="19486372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9-section">
            <a:extLst xmlns:a="http://schemas.openxmlformats.org/drawingml/2006/main">
              <a:ext uri="{FF2B5EF4-FFF2-40B4-BE49-F238E27FC236}">
                <a16:creationId xmlns:a16="http://schemas.microsoft.com/office/drawing/2014/main" id="{29D38A02-155B-4134-8C5B-670E758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09-slide-id">
            <a:extLst xmlns:a="http://schemas.openxmlformats.org/drawingml/2006/main">
              <a:ext uri="{FF2B5EF4-FFF2-40B4-BE49-F238E27FC236}">
                <a16:creationId xmlns:a16="http://schemas.microsoft.com/office/drawing/2014/main" id="{1762F78F-0723-499B-9FF1-EF8BC94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STC-012</a:t>
            </a:r>
          </a:p>
        </p:txBody>
      </p:sp>
      <p:sp>
        <p:nvSpPr>
          <p:cNvPr id="4" name="STC-09-headline">
            <a:extLst xmlns:a="http://schemas.openxmlformats.org/drawingml/2006/main">
              <a:ext uri="{FF2B5EF4-FFF2-40B4-BE49-F238E27FC236}">
                <a16:creationId xmlns:a16="http://schemas.microsoft.com/office/drawing/2014/main" id="{3EFE9657-A9F6-4D01-B7AA-8CD5DCC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 data는 real·replay·synthetic·feedback을 함께 다룬다</a:t>
            </a:r>
          </a:p>
        </p:txBody>
      </p:sp>
      <p:sp>
        <p:nvSpPr>
          <p:cNvPr id="5" name="STC-09-status-label">
            <a:extLst xmlns:a="http://schemas.openxmlformats.org/drawingml/2006/main">
              <a:ext uri="{FF2B5EF4-FFF2-40B4-BE49-F238E27FC236}">
                <a16:creationId xmlns:a16="http://schemas.microsoft.com/office/drawing/2014/main" id="{8D0AE475-7A53-4E5A-A49D-6EA175C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09-status-rule">
            <a:extLst xmlns:a="http://schemas.openxmlformats.org/drawingml/2006/main">
              <a:ext uri="{FF2B5EF4-FFF2-40B4-BE49-F238E27FC236}">
                <a16:creationId xmlns:a16="http://schemas.microsoft.com/office/drawing/2014/main" id="{533C7DF8-73A5-4BF8-9C5D-81FE369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9-footer-rule">
            <a:extLst xmlns:a="http://schemas.openxmlformats.org/drawingml/2006/main">
              <a:ext uri="{FF2B5EF4-FFF2-40B4-BE49-F238E27FC236}">
                <a16:creationId xmlns:a16="http://schemas.microsoft.com/office/drawing/2014/main" id="{D41C1814-8E19-41C1-A558-010004C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9-source-footer">
            <a:extLst xmlns:a="http://schemas.openxmlformats.org/drawingml/2006/main">
              <a:ext uri="{FF2B5EF4-FFF2-40B4-BE49-F238E27FC236}">
                <a16:creationId xmlns:a16="http://schemas.microsoft.com/office/drawing/2014/main" id="{C447969D-F458-449A-95BB-BA55D3A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Training Background data map</a:t>
            </a:r>
          </a:p>
        </p:txBody>
      </p:sp>
      <p:sp>
        <p:nvSpPr>
          <p:cNvPr id="9" name="STC-09-page-number">
            <a:extLst xmlns:a="http://schemas.openxmlformats.org/drawingml/2006/main">
              <a:ext uri="{FF2B5EF4-FFF2-40B4-BE49-F238E27FC236}">
                <a16:creationId xmlns:a16="http://schemas.microsoft.com/office/drawing/2014/main" id="{8A2AA582-B0BF-4246-A717-6FA4959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12</a:t>
            </a:r>
          </a:p>
        </p:txBody>
      </p:sp>
      <p:sp>
        <p:nvSpPr>
          <p:cNvPr id="11" name="STC-09-matrix-col-0">
            <a:extLst xmlns:a="http://schemas.openxmlformats.org/drawingml/2006/main">
              <a:ext uri="{FF2B5EF4-FFF2-40B4-BE49-F238E27FC236}">
                <a16:creationId xmlns:a16="http://schemas.microsoft.com/office/drawing/2014/main" id="{A1622F37-BF76-43B7-84A8-4E826F9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REAL · 원 episode·문서·tool outcome</a:t>
            </a:r>
          </a:p>
        </p:txBody>
      </p:sp>
      <p:sp>
        <p:nvSpPr>
          <p:cNvPr id="12" name="STC-09-matrix-col-1">
            <a:extLst xmlns:a="http://schemas.openxmlformats.org/drawingml/2006/main">
              <a:ext uri="{FF2B5EF4-FFF2-40B4-BE49-F238E27FC236}">
                <a16:creationId xmlns:a16="http://schemas.microsoft.com/office/drawing/2014/main" id="{CADCF27A-962A-4876-A50A-100BBDA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REPLAY · old capability 보호 example</a:t>
            </a:r>
          </a:p>
        </p:txBody>
      </p:sp>
      <p:sp>
        <p:nvSpPr>
          <p:cNvPr id="13" name="STC-09-matrix-col-2">
            <a:extLst xmlns:a="http://schemas.openxmlformats.org/drawingml/2006/main">
              <a:ext uri="{FF2B5EF4-FFF2-40B4-BE49-F238E27FC236}">
                <a16:creationId xmlns:a16="http://schemas.microsoft.com/office/drawing/2014/main" id="{DDD13F7E-EF58-4B00-9007-C34AC25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SYNTHETIC · dream·counterfactual·hard negative</a:t>
            </a:r>
          </a:p>
        </p:txBody>
      </p:sp>
      <p:sp>
        <p:nvSpPr>
          <p:cNvPr id="14" name="STC-09-matrix-col-3">
            <a:extLst xmlns:a="http://schemas.openxmlformats.org/drawingml/2006/main">
              <a:ext uri="{FF2B5EF4-FFF2-40B4-BE49-F238E27FC236}">
                <a16:creationId xmlns:a16="http://schemas.microsoft.com/office/drawing/2014/main" id="{BDD5DFCA-E93B-4A68-9CC4-C10B778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FEEDBACK · preference·correction·reward</a:t>
            </a:r>
          </a:p>
        </p:txBody>
      </p:sp>
      <p:sp>
        <p:nvSpPr>
          <p:cNvPr id="15" name="STC-09-matrix-row-0">
            <a:extLst xmlns:a="http://schemas.openxmlformats.org/drawingml/2006/main">
              <a:ext uri="{FF2B5EF4-FFF2-40B4-BE49-F238E27FC236}">
                <a16:creationId xmlns:a16="http://schemas.microsoft.com/office/drawing/2014/main" id="{48054411-FFD1-41ED-9521-D9E544C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6272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REAL · 원 episode·문서·tool outcome</a:t>
            </a:r>
          </a:p>
        </p:txBody>
      </p:sp>
      <p:sp>
        <p:nvSpPr>
          <p:cNvPr id="16" name="STC-09-matrix-cell-0-0">
            <a:extLst xmlns:a="http://schemas.openxmlformats.org/drawingml/2006/main">
              <a:ext uri="{FF2B5EF4-FFF2-40B4-BE49-F238E27FC236}">
                <a16:creationId xmlns:a16="http://schemas.microsoft.com/office/drawing/2014/main" id="{EBF3F50C-9AAA-4D85-9A41-E196717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9-matrix-cell-0-1">
            <a:extLst xmlns:a="http://schemas.openxmlformats.org/drawingml/2006/main">
              <a:ext uri="{FF2B5EF4-FFF2-40B4-BE49-F238E27FC236}">
                <a16:creationId xmlns:a16="http://schemas.microsoft.com/office/drawing/2014/main" id="{99FD277C-8063-463E-9905-A188DED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8" name="STC-09-matrix-cell-0-2">
            <a:extLst xmlns:a="http://schemas.openxmlformats.org/drawingml/2006/main">
              <a:ext uri="{FF2B5EF4-FFF2-40B4-BE49-F238E27FC236}">
                <a16:creationId xmlns:a16="http://schemas.microsoft.com/office/drawing/2014/main" id="{DA428670-4DFB-4B25-B5C2-D14877B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09-matrix-cell-0-3">
            <a:extLst xmlns:a="http://schemas.openxmlformats.org/drawingml/2006/main">
              <a:ext uri="{FF2B5EF4-FFF2-40B4-BE49-F238E27FC236}">
                <a16:creationId xmlns:a16="http://schemas.microsoft.com/office/drawing/2014/main" id="{0C5C38C6-03C4-47C2-AD56-807F93F8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0" name="STC-09-matrix-row-1">
            <a:extLst xmlns:a="http://schemas.openxmlformats.org/drawingml/2006/main">
              <a:ext uri="{FF2B5EF4-FFF2-40B4-BE49-F238E27FC236}">
                <a16:creationId xmlns:a16="http://schemas.microsoft.com/office/drawing/2014/main" id="{7940E56B-C80F-4DD2-B7CD-33C3E92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8104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REPLAY · old capability 보호 example</a:t>
            </a:r>
          </a:p>
        </p:txBody>
      </p:sp>
      <p:sp>
        <p:nvSpPr>
          <p:cNvPr id="21" name="STC-09-matrix-cell-1-0">
            <a:extLst xmlns:a="http://schemas.openxmlformats.org/drawingml/2006/main">
              <a:ext uri="{FF2B5EF4-FFF2-40B4-BE49-F238E27FC236}">
                <a16:creationId xmlns:a16="http://schemas.microsoft.com/office/drawing/2014/main" id="{4116D720-457C-45E0-A9E6-A5C9B85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09-matrix-cell-1-1">
            <a:extLst xmlns:a="http://schemas.openxmlformats.org/drawingml/2006/main">
              <a:ext uri="{FF2B5EF4-FFF2-40B4-BE49-F238E27FC236}">
                <a16:creationId xmlns:a16="http://schemas.microsoft.com/office/drawing/2014/main" id="{503E2699-DB07-4331-9D2B-342F429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3" name="STC-09-matrix-cell-1-2">
            <a:extLst xmlns:a="http://schemas.openxmlformats.org/drawingml/2006/main">
              <a:ext uri="{FF2B5EF4-FFF2-40B4-BE49-F238E27FC236}">
                <a16:creationId xmlns:a16="http://schemas.microsoft.com/office/drawing/2014/main" id="{97E4F3B9-6846-4760-BE7D-80FF27D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4" name="STC-09-matrix-cell-1-3">
            <a:extLst xmlns:a="http://schemas.openxmlformats.org/drawingml/2006/main">
              <a:ext uri="{FF2B5EF4-FFF2-40B4-BE49-F238E27FC236}">
                <a16:creationId xmlns:a16="http://schemas.microsoft.com/office/drawing/2014/main" id="{84496169-8F4D-4E6F-9027-640CD5AA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9-matrix-row-2">
            <a:extLst xmlns:a="http://schemas.openxmlformats.org/drawingml/2006/main">
              <a:ext uri="{FF2B5EF4-FFF2-40B4-BE49-F238E27FC236}">
                <a16:creationId xmlns:a16="http://schemas.microsoft.com/office/drawing/2014/main" id="{B5447A2E-9E34-4D35-B79B-9988EB5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936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SYNTHETIC · dream·counterfactual·hard negative</a:t>
            </a:r>
          </a:p>
        </p:txBody>
      </p:sp>
      <p:sp>
        <p:nvSpPr>
          <p:cNvPr id="26" name="STC-09-matrix-cell-2-0">
            <a:extLst xmlns:a="http://schemas.openxmlformats.org/drawingml/2006/main">
              <a:ext uri="{FF2B5EF4-FFF2-40B4-BE49-F238E27FC236}">
                <a16:creationId xmlns:a16="http://schemas.microsoft.com/office/drawing/2014/main" id="{FAC2E53F-B600-4470-BF9A-7BF8DFB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09-matrix-cell-2-1">
            <a:extLst xmlns:a="http://schemas.openxmlformats.org/drawingml/2006/main">
              <a:ext uri="{FF2B5EF4-FFF2-40B4-BE49-F238E27FC236}">
                <a16:creationId xmlns:a16="http://schemas.microsoft.com/office/drawing/2014/main" id="{D0B8CA6B-5C13-47E7-8118-5F49E24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8" name="STC-09-matrix-cell-2-2">
            <a:extLst xmlns:a="http://schemas.openxmlformats.org/drawingml/2006/main">
              <a:ext uri="{FF2B5EF4-FFF2-40B4-BE49-F238E27FC236}">
                <a16:creationId xmlns:a16="http://schemas.microsoft.com/office/drawing/2014/main" id="{DB91A1F1-5BE9-4F23-AB50-8503832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9-matrix-cell-2-3">
            <a:extLst xmlns:a="http://schemas.openxmlformats.org/drawingml/2006/main">
              <a:ext uri="{FF2B5EF4-FFF2-40B4-BE49-F238E27FC236}">
                <a16:creationId xmlns:a16="http://schemas.microsoft.com/office/drawing/2014/main" id="{2D2F42EF-8AEC-4FA8-8F63-9621C4E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0" name="STC-09-matrix-item-0">
            <a:extLst xmlns:a="http://schemas.openxmlformats.org/drawingml/2006/main">
              <a:ext uri="{FF2B5EF4-FFF2-40B4-BE49-F238E27FC236}">
                <a16:creationId xmlns:a16="http://schemas.microsoft.com/office/drawing/2014/main" id="{7C11B00E-E901-4952-BD96-39AC9CD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REAL</a:t>
            </a:r>
          </a:p>
        </p:txBody>
      </p:sp>
      <p:sp>
        <p:nvSpPr>
          <p:cNvPr id="31" name="STC-09-matrix-item-1">
            <a:extLst xmlns:a="http://schemas.openxmlformats.org/drawingml/2006/main">
              <a:ext uri="{FF2B5EF4-FFF2-40B4-BE49-F238E27FC236}">
                <a16:creationId xmlns:a16="http://schemas.microsoft.com/office/drawing/2014/main" id="{C09EB82D-1B40-4E0D-8EA7-35317E3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</a:t>
            </a:r>
          </a:p>
        </p:txBody>
      </p:sp>
      <p:sp>
        <p:nvSpPr>
          <p:cNvPr id="32" name="STC-09-matrix-item-2">
            <a:extLst xmlns:a="http://schemas.openxmlformats.org/drawingml/2006/main">
              <a:ext uri="{FF2B5EF4-FFF2-40B4-BE49-F238E27FC236}">
                <a16:creationId xmlns:a16="http://schemas.microsoft.com/office/drawing/2014/main" id="{0251189C-D3AD-41B8-972C-EDD23B2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SYNTHETIC</a:t>
            </a:r>
          </a:p>
        </p:txBody>
      </p:sp>
      <p:sp>
        <p:nvSpPr>
          <p:cNvPr id="33" name="STC-09-matrix-item-3">
            <a:extLst xmlns:a="http://schemas.openxmlformats.org/drawingml/2006/main">
              <a:ext uri="{FF2B5EF4-FFF2-40B4-BE49-F238E27FC236}">
                <a16:creationId xmlns:a16="http://schemas.microsoft.com/office/drawing/2014/main" id="{3DEFCD03-DAF7-46A0-BC0B-82DA91A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sleeper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Auto-Dreamer</a:t>
            </a:r>
          </a:p>
        </p:txBody>
      </p:sp>
      <p:sp>
        <p:nvSpPr>
          <p:cNvPr id="34" name="STC-09-matrix-item-4">
            <a:extLst xmlns:a="http://schemas.openxmlformats.org/drawingml/2006/main">
              <a:ext uri="{FF2B5EF4-FFF2-40B4-BE49-F238E27FC236}">
                <a16:creationId xmlns:a16="http://schemas.microsoft.com/office/drawing/2014/main" id="{20F5ABAA-F3AB-4A1E-B002-FAE254B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Cartridges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Offline Recurrence</a:t>
            </a:r>
          </a:p>
        </p:txBody>
      </p:sp>
      <p:sp>
        <p:nvSpPr>
          <p:cNvPr id="35" name="STC-09-matrix-item-5">
            <a:extLst xmlns:a="http://schemas.openxmlformats.org/drawingml/2006/main">
              <a:ext uri="{FF2B5EF4-FFF2-40B4-BE49-F238E27FC236}">
                <a16:creationId xmlns:a16="http://schemas.microsoft.com/office/drawing/2014/main" id="{846D3DCA-789E-4C4A-A897-494AC5A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REAL</a:t>
            </a:r>
          </a:p>
        </p:txBody>
      </p:sp>
      <p:sp>
        <p:nvSpPr>
          <p:cNvPr id="36" name="STC-09-matrix-item-6">
            <a:extLst xmlns:a="http://schemas.openxmlformats.org/drawingml/2006/main">
              <a:ext uri="{FF2B5EF4-FFF2-40B4-BE49-F238E27FC236}">
                <a16:creationId xmlns:a16="http://schemas.microsoft.com/office/drawing/2014/main" id="{AF6F670C-AE78-45F0-A3DB-62F1E51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</a:t>
            </a:r>
          </a:p>
        </p:txBody>
      </p:sp>
      <p:sp>
        <p:nvSpPr>
          <p:cNvPr id="37" name="STC-09-matrix-item-7">
            <a:extLst xmlns:a="http://schemas.openxmlformats.org/drawingml/2006/main">
              <a:ext uri="{FF2B5EF4-FFF2-40B4-BE49-F238E27FC236}">
                <a16:creationId xmlns:a16="http://schemas.microsoft.com/office/drawing/2014/main" id="{78FE0597-34A6-404B-BFB5-86CA375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memory-policy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pretraining</a:t>
            </a:r>
          </a:p>
        </p:txBody>
      </p:sp>
      <p:sp>
        <p:nvSpPr>
          <p:cNvPr id="38" name="STC-09-matrix-item-8">
            <a:extLst xmlns:a="http://schemas.openxmlformats.org/drawingml/2006/main">
              <a:ext uri="{FF2B5EF4-FFF2-40B4-BE49-F238E27FC236}">
                <a16:creationId xmlns:a16="http://schemas.microsoft.com/office/drawing/2014/main" id="{699699AB-8F10-46DC-93DD-EC5C2BE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FEEDBACK</a:t>
            </a:r>
          </a:p>
        </p:txBody>
      </p:sp>
      <p:sp>
        <p:nvSpPr>
          <p:cNvPr id="39" name="STC-09-matrix-item-9">
            <a:extLst xmlns:a="http://schemas.openxmlformats.org/drawingml/2006/main">
              <a:ext uri="{FF2B5EF4-FFF2-40B4-BE49-F238E27FC236}">
                <a16:creationId xmlns:a16="http://schemas.microsoft.com/office/drawing/2014/main" id="{DD8E80DC-2A77-4566-BEAE-1664E61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PROVENANCE</a:t>
            </a:r>
          </a:p>
        </p:txBody>
      </p:sp>
      <p:sp>
        <p:nvSpPr>
          <p:cNvPr id="40" name="STC-09-matrix-question-label">
            <a:extLst xmlns:a="http://schemas.openxmlformats.org/drawingml/2006/main">
              <a:ext uri="{FF2B5EF4-FFF2-40B4-BE49-F238E27FC236}">
                <a16:creationId xmlns:a16="http://schemas.microsoft.com/office/drawing/2014/main" id="{83EDD79B-52C5-495D-A2AA-84DA2A5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6577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원 episode·문서·tool outcome</a:t>
            </a:r>
          </a:p>
        </p:txBody>
      </p:sp>
      <p:sp>
        <p:nvSpPr>
          <p:cNvPr id="41" name="STC-09-matrix-question">
            <a:extLst xmlns:a="http://schemas.openxmlformats.org/drawingml/2006/main">
              <a:ext uri="{FF2B5EF4-FFF2-40B4-BE49-F238E27FC236}">
                <a16:creationId xmlns:a16="http://schemas.microsoft.com/office/drawing/2014/main" id="{85F42F15-58B1-4837-960A-A6B12D3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965192"/>
            <a:ext cx="89245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capability 보호 example</a:t>
            </a:r>
          </a:p>
        </p:txBody>
      </p:sp>
    </p:spTree>
    <p:extLst>
      <p:ext uri="{BB962C8B-B14F-4D97-AF65-F5344CB8AC3E}">
        <p14:creationId xmlns:p14="http://schemas.microsoft.com/office/powerpoint/2010/main" val="16051267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4-section">
            <a:extLst xmlns:a="http://schemas.openxmlformats.org/drawingml/2006/main">
              <a:ext uri="{FF2B5EF4-FFF2-40B4-BE49-F238E27FC236}">
                <a16:creationId xmlns:a16="http://schemas.microsoft.com/office/drawing/2014/main" id="{53FADC10-F1BA-487B-AECA-7AFE38F9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04-slide-id">
            <a:extLst xmlns:a="http://schemas.openxmlformats.org/drawingml/2006/main">
              <a:ext uri="{FF2B5EF4-FFF2-40B4-BE49-F238E27FC236}">
                <a16:creationId xmlns:a16="http://schemas.microsoft.com/office/drawing/2014/main" id="{DA28DAD6-B465-497F-824E-A065A56D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STC-013</a:t>
            </a:r>
          </a:p>
        </p:txBody>
      </p:sp>
      <p:sp>
        <p:nvSpPr>
          <p:cNvPr id="4" name="STC-04-headline">
            <a:extLst xmlns:a="http://schemas.openxmlformats.org/drawingml/2006/main">
              <a:ext uri="{FF2B5EF4-FFF2-40B4-BE49-F238E27FC236}">
                <a16:creationId xmlns:a16="http://schemas.microsoft.com/office/drawing/2014/main" id="{BAFD8BEC-042B-4C54-BA32-95AD6D9F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Fine-tuning은 full weight부터 external transform까지 연속체다</a:t>
            </a:r>
          </a:p>
        </p:txBody>
      </p:sp>
      <p:sp>
        <p:nvSpPr>
          <p:cNvPr id="5" name="STC-04-status-label">
            <a:extLst xmlns:a="http://schemas.openxmlformats.org/drawingml/2006/main">
              <a:ext uri="{FF2B5EF4-FFF2-40B4-BE49-F238E27FC236}">
                <a16:creationId xmlns:a16="http://schemas.microsoft.com/office/drawing/2014/main" id="{A9B6AF75-9B7C-4EF4-8261-45D3165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04-status-rule">
            <a:extLst xmlns:a="http://schemas.openxmlformats.org/drawingml/2006/main">
              <a:ext uri="{FF2B5EF4-FFF2-40B4-BE49-F238E27FC236}">
                <a16:creationId xmlns:a16="http://schemas.microsoft.com/office/drawing/2014/main" id="{65325794-E36F-4402-B094-B1D3FABD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4-footer-rule">
            <a:extLst xmlns:a="http://schemas.openxmlformats.org/drawingml/2006/main">
              <a:ext uri="{FF2B5EF4-FFF2-40B4-BE49-F238E27FC236}">
                <a16:creationId xmlns:a16="http://schemas.microsoft.com/office/drawing/2014/main" id="{F3B7F65E-723B-4B95-8224-34BB3551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4-source-footer">
            <a:extLst xmlns:a="http://schemas.openxmlformats.org/drawingml/2006/main">
              <a:ext uri="{FF2B5EF4-FFF2-40B4-BE49-F238E27FC236}">
                <a16:creationId xmlns:a16="http://schemas.microsoft.com/office/drawing/2014/main" id="{4809A09E-346F-44A3-84E6-61E5FE8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bg:fine-tuning · PEFT · adapter</a:t>
            </a:r>
          </a:p>
        </p:txBody>
      </p:sp>
      <p:sp>
        <p:nvSpPr>
          <p:cNvPr id="9" name="STC-04-page-number">
            <a:extLst xmlns:a="http://schemas.openxmlformats.org/drawingml/2006/main">
              <a:ext uri="{FF2B5EF4-FFF2-40B4-BE49-F238E27FC236}">
                <a16:creationId xmlns:a16="http://schemas.microsoft.com/office/drawing/2014/main" id="{1917A6E6-ACB9-4F88-88E2-4956CBD7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13</a:t>
            </a:r>
          </a:p>
        </p:txBody>
      </p:sp>
      <p:sp>
        <p:nvSpPr>
          <p:cNvPr id="11" name="STC-04-phase-tag-0">
            <a:extLst xmlns:a="http://schemas.openxmlformats.org/drawingml/2006/main">
              <a:ext uri="{FF2B5EF4-FFF2-40B4-BE49-F238E27FC236}">
                <a16:creationId xmlns:a16="http://schemas.microsoft.com/office/drawing/2014/main" id="{C9DD6422-C522-4F35-8734-5F5C027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FULL</a:t>
            </a:r>
          </a:p>
        </p:txBody>
      </p:sp>
      <p:sp>
        <p:nvSpPr>
          <p:cNvPr id="12" name="STC-04-phase-ko-0">
            <a:extLst xmlns:a="http://schemas.openxmlformats.org/drawingml/2006/main">
              <a:ext uri="{FF2B5EF4-FFF2-40B4-BE49-F238E27FC236}">
                <a16:creationId xmlns:a16="http://schemas.microsoft.com/office/drawing/2014/main" id="{5871F3EA-5A7B-4B45-BABB-C8F8E74A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모든 weight와 opti…</a:t>
            </a:r>
          </a:p>
        </p:txBody>
      </p:sp>
      <p:sp>
        <p:nvSpPr>
          <p:cNvPr id="13" name="STC-04-phase-rule-0">
            <a:extLst xmlns:a="http://schemas.openxmlformats.org/drawingml/2006/main">
              <a:ext uri="{FF2B5EF4-FFF2-40B4-BE49-F238E27FC236}">
                <a16:creationId xmlns:a16="http://schemas.microsoft.com/office/drawing/2014/main" id="{14A02415-C319-4785-964A-9C46EB21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4-phase-body-0">
            <a:extLst xmlns:a="http://schemas.openxmlformats.org/drawingml/2006/main">
              <a:ext uri="{FF2B5EF4-FFF2-40B4-BE49-F238E27FC236}">
                <a16:creationId xmlns:a16="http://schemas.microsoft.com/office/drawing/2014/main" id="{34CE0599-0B60-4E14-9735-CF98A01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 · post-train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update rule 학습</a:t>
            </a:r>
          </a:p>
        </p:txBody>
      </p:sp>
      <p:sp>
        <p:nvSpPr>
          <p:cNvPr id="15" name="STC-04-phase-arrow-0">
            <a:extLst xmlns:a="http://schemas.openxmlformats.org/drawingml/2006/main">
              <a:ext uri="{FF2B5EF4-FFF2-40B4-BE49-F238E27FC236}">
                <a16:creationId xmlns:a16="http://schemas.microsoft.com/office/drawing/2014/main" id="{658E636D-DD5E-4B81-B19B-7F08509B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04-phase-tag-1">
            <a:extLst xmlns:a="http://schemas.openxmlformats.org/drawingml/2006/main">
              <a:ext uri="{FF2B5EF4-FFF2-40B4-BE49-F238E27FC236}">
                <a16:creationId xmlns:a16="http://schemas.microsoft.com/office/drawing/2014/main" id="{5221DEAB-EBFD-411E-9CDC-BA9CFC7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PEFT</a:t>
            </a:r>
          </a:p>
        </p:txBody>
      </p:sp>
      <p:sp>
        <p:nvSpPr>
          <p:cNvPr id="17" name="STC-04-phase-ko-1">
            <a:extLst xmlns:a="http://schemas.openxmlformats.org/drawingml/2006/main">
              <a:ext uri="{FF2B5EF4-FFF2-40B4-BE49-F238E27FC236}">
                <a16:creationId xmlns:a16="http://schemas.microsoft.com/office/drawing/2014/main" id="{601A175A-AA93-4C22-B80D-90EC4248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작은 trainable su…</a:t>
            </a:r>
          </a:p>
        </p:txBody>
      </p:sp>
      <p:sp>
        <p:nvSpPr>
          <p:cNvPr id="18" name="STC-04-phase-rule-1">
            <a:extLst xmlns:a="http://schemas.openxmlformats.org/drawingml/2006/main">
              <a:ext uri="{FF2B5EF4-FFF2-40B4-BE49-F238E27FC236}">
                <a16:creationId xmlns:a16="http://schemas.microsoft.com/office/drawing/2014/main" id="{7DEB058F-6997-4D48-A0E3-0A202EFA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9" name="STC-04-phase-body-1">
            <a:extLst xmlns:a="http://schemas.openxmlformats.org/drawingml/2006/main">
              <a:ext uri="{FF2B5EF4-FFF2-40B4-BE49-F238E27FC236}">
                <a16:creationId xmlns:a16="http://schemas.microsoft.com/office/drawing/2014/main" id="{F5C88BB7-1F84-4F06-BFDA-51DAD83B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infer · retrieve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TTT · capture</a:t>
            </a:r>
          </a:p>
        </p:txBody>
      </p:sp>
      <p:sp>
        <p:nvSpPr>
          <p:cNvPr id="20" name="STC-04-phase-arrow-1">
            <a:extLst xmlns:a="http://schemas.openxmlformats.org/drawingml/2006/main">
              <a:ext uri="{FF2B5EF4-FFF2-40B4-BE49-F238E27FC236}">
                <a16:creationId xmlns:a16="http://schemas.microsoft.com/office/drawing/2014/main" id="{8ACAACEF-7188-48B0-8EDF-77A9532A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04-phase-tag-2">
            <a:extLst xmlns:a="http://schemas.openxmlformats.org/drawingml/2006/main">
              <a:ext uri="{FF2B5EF4-FFF2-40B4-BE49-F238E27FC236}">
                <a16:creationId xmlns:a16="http://schemas.microsoft.com/office/drawing/2014/main" id="{4F5789E2-5D6A-4D7B-ADE7-DBF458E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ADAPTER</a:t>
            </a:r>
          </a:p>
        </p:txBody>
      </p:sp>
      <p:sp>
        <p:nvSpPr>
          <p:cNvPr id="22" name="STC-04-phase-ko-2">
            <a:extLst xmlns:a="http://schemas.openxmlformats.org/drawingml/2006/main">
              <a:ext uri="{FF2B5EF4-FFF2-40B4-BE49-F238E27FC236}">
                <a16:creationId xmlns:a16="http://schemas.microsoft.com/office/drawing/2014/main" id="{91DE98A7-9686-4A8C-BA6A-95D7555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base와 분리된 servi…</a:t>
            </a:r>
          </a:p>
        </p:txBody>
      </p:sp>
      <p:sp>
        <p:nvSpPr>
          <p:cNvPr id="23" name="STC-04-phase-rule-2">
            <a:extLst xmlns:a="http://schemas.openxmlformats.org/drawingml/2006/main">
              <a:ext uri="{FF2B5EF4-FFF2-40B4-BE49-F238E27FC236}">
                <a16:creationId xmlns:a16="http://schemas.microsoft.com/office/drawing/2014/main" id="{0D6FC54B-5106-4D67-B82E-CF6534FF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04-phase-body-2">
            <a:extLst xmlns:a="http://schemas.openxmlformats.org/drawingml/2006/main">
              <a:ext uri="{FF2B5EF4-FFF2-40B4-BE49-F238E27FC236}">
                <a16:creationId xmlns:a16="http://schemas.microsoft.com/office/drawing/2014/main" id="{471634EC-D6A9-414F-B531-5761490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distill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compact · validate</a:t>
            </a:r>
          </a:p>
        </p:txBody>
      </p:sp>
      <p:sp>
        <p:nvSpPr>
          <p:cNvPr id="25" name="STC-04-phase-arrow-2">
            <a:extLst xmlns:a="http://schemas.openxmlformats.org/drawingml/2006/main">
              <a:ext uri="{FF2B5EF4-FFF2-40B4-BE49-F238E27FC236}">
                <a16:creationId xmlns:a16="http://schemas.microsoft.com/office/drawing/2014/main" id="{1A84B98C-770A-496F-B108-BDBE4AB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04-phase-tag-3">
            <a:extLst xmlns:a="http://schemas.openxmlformats.org/drawingml/2006/main">
              <a:ext uri="{FF2B5EF4-FFF2-40B4-BE49-F238E27FC236}">
                <a16:creationId xmlns:a16="http://schemas.microsoft.com/office/drawing/2014/main" id="{BC9D4B03-C277-4DC7-9BE2-B5368FC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EXTERNAL</a:t>
            </a:r>
          </a:p>
        </p:txBody>
      </p:sp>
      <p:sp>
        <p:nvSpPr>
          <p:cNvPr id="27" name="STC-04-phase-ko-3">
            <a:extLst xmlns:a="http://schemas.openxmlformats.org/drawingml/2006/main">
              <a:ext uri="{FF2B5EF4-FFF2-40B4-BE49-F238E27FC236}">
                <a16:creationId xmlns:a16="http://schemas.microsoft.com/office/drawing/2014/main" id="{09FB2885-27AA-4644-B54E-B480468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weight 없이 summa…</a:t>
            </a:r>
          </a:p>
        </p:txBody>
      </p:sp>
      <p:sp>
        <p:nvSpPr>
          <p:cNvPr id="28" name="STC-04-phase-rule-3">
            <a:extLst xmlns:a="http://schemas.openxmlformats.org/drawingml/2006/main">
              <a:ext uri="{FF2B5EF4-FFF2-40B4-BE49-F238E27FC236}">
                <a16:creationId xmlns:a16="http://schemas.microsoft.com/office/drawing/2014/main" id="{4B209E82-4B0A-4FA1-9861-49F3D097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04-phase-body-3">
            <a:extLst xmlns:a="http://schemas.openxmlformats.org/drawingml/2006/main">
              <a:ext uri="{FF2B5EF4-FFF2-40B4-BE49-F238E27FC236}">
                <a16:creationId xmlns:a16="http://schemas.microsoft.com/office/drawing/2014/main" id="{2D41B1D3-68C0-4663-8579-31279F19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canonical evidence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views · adapters</a:t>
            </a:r>
          </a:p>
        </p:txBody>
      </p:sp>
      <p:sp>
        <p:nvSpPr>
          <p:cNvPr id="30" name="STC-04-phase-invariant">
            <a:extLst xmlns:a="http://schemas.openxmlformats.org/drawingml/2006/main">
              <a:ext uri="{FF2B5EF4-FFF2-40B4-BE49-F238E27FC236}">
                <a16:creationId xmlns:a16="http://schemas.microsoft.com/office/drawing/2014/main" id="{FFB31772-96F0-4492-B3E6-0B8BC545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36592"/>
            <a:ext cx="981151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1" name="STC-04-phase-invariant-text">
            <a:extLst xmlns:a="http://schemas.openxmlformats.org/drawingml/2006/main">
              <a:ext uri="{FF2B5EF4-FFF2-40B4-BE49-F238E27FC236}">
                <a16:creationId xmlns:a16="http://schemas.microsoft.com/office/drawing/2014/main" id="{BC5B40AA-FC1A-4444-9704-E9F5203D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919472"/>
            <a:ext cx="93268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Update cost와 governance는 destination에 따라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55449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STC-014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LoRA는 update를 작게 만들지만 training을 없애지는 않는다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LoRA · STC-C027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14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BASE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LOW-RANK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STATE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SERVE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ΔW = B A, rank(A,B) ≪ d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공유 foundation weight는 frozen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BASE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작은 delta는 rollback 단위를 만들지만 sequential interference를 자동 해결하지 않는다.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ΔW=BA로 trainable parameter 축소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6-section">
            <a:extLst xmlns:a="http://schemas.openxmlformats.org/drawingml/2006/main">
              <a:ext uri="{FF2B5EF4-FFF2-40B4-BE49-F238E27FC236}">
                <a16:creationId xmlns:a16="http://schemas.microsoft.com/office/drawing/2014/main" id="{A4B735FE-DF76-49D0-947E-D484E8D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06-slide-id">
            <a:extLst xmlns:a="http://schemas.openxmlformats.org/drawingml/2006/main">
              <a:ext uri="{FF2B5EF4-FFF2-40B4-BE49-F238E27FC236}">
                <a16:creationId xmlns:a16="http://schemas.microsoft.com/office/drawing/2014/main" id="{CD4DCA6F-87B9-40D7-A181-4D03F6E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STC-015</a:t>
            </a:r>
          </a:p>
        </p:txBody>
      </p:sp>
      <p:sp>
        <p:nvSpPr>
          <p:cNvPr id="4" name="STC-06-headline">
            <a:extLst xmlns:a="http://schemas.openxmlformats.org/drawingml/2006/main">
              <a:ext uri="{FF2B5EF4-FFF2-40B4-BE49-F238E27FC236}">
                <a16:creationId xmlns:a16="http://schemas.microsoft.com/office/drawing/2014/main" id="{9DD72DFE-39A8-4839-A97A-56F63DF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Distillation은 behavior를 옮기지만 무엇을 버릴지도 결정한다</a:t>
            </a:r>
          </a:p>
        </p:txBody>
      </p:sp>
      <p:sp>
        <p:nvSpPr>
          <p:cNvPr id="5" name="STC-06-status-label">
            <a:extLst xmlns:a="http://schemas.openxmlformats.org/drawingml/2006/main">
              <a:ext uri="{FF2B5EF4-FFF2-40B4-BE49-F238E27FC236}">
                <a16:creationId xmlns:a16="http://schemas.microsoft.com/office/drawing/2014/main" id="{06DA1055-BF45-4F84-B55B-B645ABD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06-status-rule">
            <a:extLst xmlns:a="http://schemas.openxmlformats.org/drawingml/2006/main">
              <a:ext uri="{FF2B5EF4-FFF2-40B4-BE49-F238E27FC236}">
                <a16:creationId xmlns:a16="http://schemas.microsoft.com/office/drawing/2014/main" id="{8775D502-9A70-47CF-8196-10A02E6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6-footer-rule">
            <a:extLst xmlns:a="http://schemas.openxmlformats.org/drawingml/2006/main">
              <a:ext uri="{FF2B5EF4-FFF2-40B4-BE49-F238E27FC236}">
                <a16:creationId xmlns:a16="http://schemas.microsoft.com/office/drawing/2014/main" id="{5CC30C30-5F05-467A-9995-DBB632C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6-source-footer">
            <a:extLst xmlns:a="http://schemas.openxmlformats.org/drawingml/2006/main">
              <a:ext uri="{FF2B5EF4-FFF2-40B4-BE49-F238E27FC236}">
                <a16:creationId xmlns:a16="http://schemas.microsoft.com/office/drawing/2014/main" id="{53E02F2E-A992-49A2-A84D-9C79516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bg:distillation · teacher/student</a:t>
            </a:r>
          </a:p>
        </p:txBody>
      </p:sp>
      <p:sp>
        <p:nvSpPr>
          <p:cNvPr id="9" name="STC-06-page-number">
            <a:extLst xmlns:a="http://schemas.openxmlformats.org/drawingml/2006/main">
              <a:ext uri="{FF2B5EF4-FFF2-40B4-BE49-F238E27FC236}">
                <a16:creationId xmlns:a16="http://schemas.microsoft.com/office/drawing/2014/main" id="{514AF207-6A8F-4EA0-82CB-8A93AF2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15</a:t>
            </a:r>
          </a:p>
        </p:txBody>
      </p:sp>
      <p:sp>
        <p:nvSpPr>
          <p:cNvPr id="11" name="STC-06-bio-left-fill">
            <a:extLst xmlns:a="http://schemas.openxmlformats.org/drawingml/2006/main">
              <a:ext uri="{FF2B5EF4-FFF2-40B4-BE49-F238E27FC236}">
                <a16:creationId xmlns:a16="http://schemas.microsoft.com/office/drawing/2014/main" id="{2A7F7E40-3A07-46DA-A4BE-2190540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6-bio-left-text">
            <a:extLst xmlns:a="http://schemas.openxmlformats.org/drawingml/2006/main">
              <a:ext uri="{FF2B5EF4-FFF2-40B4-BE49-F238E27FC236}">
                <a16:creationId xmlns:a16="http://schemas.microsoft.com/office/drawing/2014/main" id="{FE9CF1DC-CD34-4A40-BC65-BBF5B48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TEACHER</a:t>
            </a:r>
          </a:p>
        </p:txBody>
      </p:sp>
      <p:sp>
        <p:nvSpPr>
          <p:cNvPr id="13" name="STC-06-bio-right-fill">
            <a:extLst xmlns:a="http://schemas.openxmlformats.org/drawingml/2006/main">
              <a:ext uri="{FF2B5EF4-FFF2-40B4-BE49-F238E27FC236}">
                <a16:creationId xmlns:a16="http://schemas.microsoft.com/office/drawing/2014/main" id="{DF8DD8DF-8E62-40AC-A5EE-9590FB4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4" name="STC-06-bio-right-text">
            <a:extLst xmlns:a="http://schemas.openxmlformats.org/drawingml/2006/main">
              <a:ext uri="{FF2B5EF4-FFF2-40B4-BE49-F238E27FC236}">
                <a16:creationId xmlns:a16="http://schemas.microsoft.com/office/drawing/2014/main" id="{CBDD6DFD-AB19-4CD6-8E2E-10FF984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STUDENT</a:t>
            </a:r>
          </a:p>
        </p:txBody>
      </p:sp>
      <p:sp>
        <p:nvSpPr>
          <p:cNvPr id="15" name="STC-06-bio-evidence-dot-0">
            <a:extLst xmlns:a="http://schemas.openxmlformats.org/drawingml/2006/main">
              <a:ext uri="{FF2B5EF4-FFF2-40B4-BE49-F238E27FC236}">
                <a16:creationId xmlns:a16="http://schemas.microsoft.com/office/drawing/2014/main" id="{53A4A694-6C62-4744-9EB8-215930F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06-bio-evidence-item-0">
            <a:extLst xmlns:a="http://schemas.openxmlformats.org/drawingml/2006/main">
              <a:ext uri="{FF2B5EF4-FFF2-40B4-BE49-F238E27FC236}">
                <a16:creationId xmlns:a16="http://schemas.microsoft.com/office/drawing/2014/main" id="{B27B9F97-BA89-4F4C-8508-55265DB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긴 context·fast memory·old model의 output</a:t>
            </a:r>
          </a:p>
        </p:txBody>
      </p:sp>
      <p:sp>
        <p:nvSpPr>
          <p:cNvPr id="17" name="STC-06-bio-evidence-dot-1">
            <a:extLst xmlns:a="http://schemas.openxmlformats.org/drawingml/2006/main">
              <a:ext uri="{FF2B5EF4-FFF2-40B4-BE49-F238E27FC236}">
                <a16:creationId xmlns:a16="http://schemas.microsoft.com/office/drawing/2014/main" id="{89E191D0-04CC-4F8E-9DEC-D875117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06-bio-evidence-item-1">
            <a:extLst xmlns:a="http://schemas.openxmlformats.org/drawingml/2006/main">
              <a:ext uri="{FF2B5EF4-FFF2-40B4-BE49-F238E27FC236}">
                <a16:creationId xmlns:a16="http://schemas.microsoft.com/office/drawing/2014/main" id="{5C1F736A-EB12-4BD9-9940-B452BDE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adapter·slow memory·compact state</a:t>
            </a:r>
          </a:p>
        </p:txBody>
      </p:sp>
      <p:sp>
        <p:nvSpPr>
          <p:cNvPr id="19" name="STC-06-bio-evidence-dot-2">
            <a:extLst xmlns:a="http://schemas.openxmlformats.org/drawingml/2006/main">
              <a:ext uri="{FF2B5EF4-FFF2-40B4-BE49-F238E27FC236}">
                <a16:creationId xmlns:a16="http://schemas.microsoft.com/office/drawing/2014/main" id="{0DBE0EE7-6412-422A-A9F1-DEC4179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0" name="STC-06-bio-evidence-item-2">
            <a:extLst xmlns:a="http://schemas.openxmlformats.org/drawingml/2006/main">
              <a:ext uri="{FF2B5EF4-FFF2-40B4-BE49-F238E27FC236}">
                <a16:creationId xmlns:a16="http://schemas.microsoft.com/office/drawing/2014/main" id="{86512795-66D6-4004-8057-A2E9A8B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logit/behavior divergence를 최소화</a:t>
            </a:r>
          </a:p>
        </p:txBody>
      </p:sp>
      <p:sp>
        <p:nvSpPr>
          <p:cNvPr id="21" name="STC-06-bio-evidence-dot-3">
            <a:extLst xmlns:a="http://schemas.openxmlformats.org/drawingml/2006/main">
              <a:ext uri="{FF2B5EF4-FFF2-40B4-BE49-F238E27FC236}">
                <a16:creationId xmlns:a16="http://schemas.microsoft.com/office/drawing/2014/main" id="{944876B1-6C90-46ED-806D-ECD71BE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2" name="STC-06-bio-evidence-item-3">
            <a:extLst xmlns:a="http://schemas.openxmlformats.org/drawingml/2006/main">
              <a:ext uri="{FF2B5EF4-FFF2-40B4-BE49-F238E27FC236}">
                <a16:creationId xmlns:a16="http://schemas.microsoft.com/office/drawing/2014/main" id="{3F6B31E1-BB59-4802-9A8F-1426976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teacher error와 rare-tail loss도 압축</a:t>
            </a:r>
          </a:p>
        </p:txBody>
      </p:sp>
      <p:sp>
        <p:nvSpPr>
          <p:cNvPr id="23" name="STC-06-bio-nonclaim-dot-0">
            <a:extLst xmlns:a="http://schemas.openxmlformats.org/drawingml/2006/main">
              <a:ext uri="{FF2B5EF4-FFF2-40B4-BE49-F238E27FC236}">
                <a16:creationId xmlns:a16="http://schemas.microsoft.com/office/drawing/2014/main" id="{C97E3534-1958-4CC2-BA51-27F3DF7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6-bio-nonclaim-item-0">
            <a:extLst xmlns:a="http://schemas.openxmlformats.org/drawingml/2006/main">
              <a:ext uri="{FF2B5EF4-FFF2-40B4-BE49-F238E27FC236}">
                <a16:creationId xmlns:a16="http://schemas.microsoft.com/office/drawing/2014/main" id="{5DFD87CB-136B-4C75-882B-BD30BEA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긴 context·fast memory·old model의 output</a:t>
            </a:r>
          </a:p>
        </p:txBody>
      </p:sp>
      <p:sp>
        <p:nvSpPr>
          <p:cNvPr id="25" name="STC-06-bio-nonclaim-dot-1">
            <a:extLst xmlns:a="http://schemas.openxmlformats.org/drawingml/2006/main">
              <a:ext uri="{FF2B5EF4-FFF2-40B4-BE49-F238E27FC236}">
                <a16:creationId xmlns:a16="http://schemas.microsoft.com/office/drawing/2014/main" id="{C736A87E-538E-4499-B03D-5D486B7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6-bio-nonclaim-item-1">
            <a:extLst xmlns:a="http://schemas.openxmlformats.org/drawingml/2006/main">
              <a:ext uri="{FF2B5EF4-FFF2-40B4-BE49-F238E27FC236}">
                <a16:creationId xmlns:a16="http://schemas.microsoft.com/office/drawing/2014/main" id="{812A62B2-5CCE-4E38-943B-22C3F2E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adapter·slow memory·compact state</a:t>
            </a:r>
          </a:p>
        </p:txBody>
      </p:sp>
      <p:sp>
        <p:nvSpPr>
          <p:cNvPr id="27" name="STC-06-bio-nonclaim-dot-2">
            <a:extLst xmlns:a="http://schemas.openxmlformats.org/drawingml/2006/main">
              <a:ext uri="{FF2B5EF4-FFF2-40B4-BE49-F238E27FC236}">
                <a16:creationId xmlns:a16="http://schemas.microsoft.com/office/drawing/2014/main" id="{894A5D0E-6427-4429-BB60-8FBB970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6-bio-nonclaim-item-2">
            <a:extLst xmlns:a="http://schemas.openxmlformats.org/drawingml/2006/main">
              <a:ext uri="{FF2B5EF4-FFF2-40B4-BE49-F238E27FC236}">
                <a16:creationId xmlns:a16="http://schemas.microsoft.com/office/drawing/2014/main" id="{F2B5C7BB-D16F-4578-891A-7F1755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logit/behavior divergence를 최소화</a:t>
            </a:r>
          </a:p>
        </p:txBody>
      </p:sp>
      <p:sp>
        <p:nvSpPr>
          <p:cNvPr id="29" name="STC-06-bio-nonclaim-dot-3">
            <a:extLst xmlns:a="http://schemas.openxmlformats.org/drawingml/2006/main">
              <a:ext uri="{FF2B5EF4-FFF2-40B4-BE49-F238E27FC236}">
                <a16:creationId xmlns:a16="http://schemas.microsoft.com/office/drawing/2014/main" id="{BA55F7BB-2727-4765-99EE-99BB0B4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6-bio-nonclaim-item-3">
            <a:extLst xmlns:a="http://schemas.openxmlformats.org/drawingml/2006/main">
              <a:ext uri="{FF2B5EF4-FFF2-40B4-BE49-F238E27FC236}">
                <a16:creationId xmlns:a16="http://schemas.microsoft.com/office/drawing/2014/main" id="{B22C231B-50D5-443C-B5A5-B875274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teacher error와 rare-tail loss도 압축</a:t>
            </a:r>
          </a:p>
        </p:txBody>
      </p:sp>
      <p:sp>
        <p:nvSpPr>
          <p:cNvPr id="31" name="STC-06-bio-divider">
            <a:extLst xmlns:a="http://schemas.openxmlformats.org/drawingml/2006/main">
              <a:ext uri="{FF2B5EF4-FFF2-40B4-BE49-F238E27FC236}">
                <a16:creationId xmlns:a16="http://schemas.microsoft.com/office/drawing/2014/main" id="{2FC2CC98-5AAE-4B2D-85D9-0DEC2281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82496"/>
            <a:ext cx="0" cy="4133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2" name="STC-06-bio-rule-label">
            <a:extLst xmlns:a="http://schemas.openxmlformats.org/drawingml/2006/main">
              <a:ext uri="{FF2B5EF4-FFF2-40B4-BE49-F238E27FC236}">
                <a16:creationId xmlns:a16="http://schemas.microsoft.com/office/drawing/2014/main" id="{42F59A1A-CF1F-4DBD-886E-C552A26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440680"/>
            <a:ext cx="3127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SIGNAL</a:t>
            </a:r>
          </a:p>
        </p:txBody>
      </p:sp>
      <p:sp>
        <p:nvSpPr>
          <p:cNvPr id="33" name="STC-06-bio-rule">
            <a:extLst xmlns:a="http://schemas.openxmlformats.org/drawingml/2006/main">
              <a:ext uri="{FF2B5EF4-FFF2-40B4-BE49-F238E27FC236}">
                <a16:creationId xmlns:a16="http://schemas.microsoft.com/office/drawing/2014/main" id="{018D8C45-50E2-47B7-B006-827C281D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5715000"/>
            <a:ext cx="82661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긴 context·fast memory·old model의 output</a:t>
            </a:r>
          </a:p>
        </p:txBody>
      </p:sp>
    </p:spTree>
    <p:extLst>
      <p:ext uri="{BB962C8B-B14F-4D97-AF65-F5344CB8AC3E}">
        <p14:creationId xmlns:p14="http://schemas.microsoft.com/office/powerpoint/2010/main" val="423133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3-section">
            <a:extLst xmlns:a="http://schemas.openxmlformats.org/drawingml/2006/main">
              <a:ext uri="{FF2B5EF4-FFF2-40B4-BE49-F238E27FC236}">
                <a16:creationId xmlns:a16="http://schemas.microsoft.com/office/drawing/2014/main" id="{9785A39F-0AAB-47A8-BDF8-756F2A6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13-slide-id">
            <a:extLst xmlns:a="http://schemas.openxmlformats.org/drawingml/2006/main">
              <a:ext uri="{FF2B5EF4-FFF2-40B4-BE49-F238E27FC236}">
                <a16:creationId xmlns:a16="http://schemas.microsoft.com/office/drawing/2014/main" id="{A4A5A903-4854-4F5D-8163-30EC8F0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STC-016</a:t>
            </a:r>
          </a:p>
        </p:txBody>
      </p:sp>
      <p:sp>
        <p:nvSpPr>
          <p:cNvPr id="4" name="STC-13-headline">
            <a:extLst xmlns:a="http://schemas.openxmlformats.org/drawingml/2006/main">
              <a:ext uri="{FF2B5EF4-FFF2-40B4-BE49-F238E27FC236}">
                <a16:creationId xmlns:a16="http://schemas.microsoft.com/office/drawing/2014/main" id="{AF17D9A0-3A93-4E7F-9D99-DE7A58D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Replay와 augmentation은 retention data plane을 만든다</a:t>
            </a:r>
          </a:p>
        </p:txBody>
      </p:sp>
      <p:sp>
        <p:nvSpPr>
          <p:cNvPr id="5" name="STC-13-status-label">
            <a:extLst xmlns:a="http://schemas.openxmlformats.org/drawingml/2006/main">
              <a:ext uri="{FF2B5EF4-FFF2-40B4-BE49-F238E27FC236}">
                <a16:creationId xmlns:a16="http://schemas.microsoft.com/office/drawing/2014/main" id="{AF94B140-BD46-4879-8C19-5B250E7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13-status-rule">
            <a:extLst xmlns:a="http://schemas.openxmlformats.org/drawingml/2006/main">
              <a:ext uri="{FF2B5EF4-FFF2-40B4-BE49-F238E27FC236}">
                <a16:creationId xmlns:a16="http://schemas.microsoft.com/office/drawing/2014/main" id="{10A8CA66-60A8-483F-AAFA-64FE278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13-footer-rule">
            <a:extLst xmlns:a="http://schemas.openxmlformats.org/drawingml/2006/main">
              <a:ext uri="{FF2B5EF4-FFF2-40B4-BE49-F238E27FC236}">
                <a16:creationId xmlns:a16="http://schemas.microsoft.com/office/drawing/2014/main" id="{B855766E-A633-4E17-89AF-6D9CFED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3-source-footer">
            <a:extLst xmlns:a="http://schemas.openxmlformats.org/drawingml/2006/main">
              <a:ext uri="{FF2B5EF4-FFF2-40B4-BE49-F238E27FC236}">
                <a16:creationId xmlns:a16="http://schemas.microsoft.com/office/drawing/2014/main" id="{83B6A81A-AACD-4674-B57C-B618824F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STC-C019 · generated replay</a:t>
            </a:r>
          </a:p>
        </p:txBody>
      </p:sp>
      <p:sp>
        <p:nvSpPr>
          <p:cNvPr id="9" name="STC-13-page-number">
            <a:extLst xmlns:a="http://schemas.openxmlformats.org/drawingml/2006/main">
              <a:ext uri="{FF2B5EF4-FFF2-40B4-BE49-F238E27FC236}">
                <a16:creationId xmlns:a16="http://schemas.microsoft.com/office/drawing/2014/main" id="{687B7F4D-F579-40DC-89A0-5805A343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16</a:t>
            </a:r>
          </a:p>
        </p:txBody>
      </p:sp>
      <p:sp>
        <p:nvSpPr>
          <p:cNvPr id="11" name="STC-13-data-layer-0">
            <a:extLst xmlns:a="http://schemas.openxmlformats.org/drawingml/2006/main">
              <a:ext uri="{FF2B5EF4-FFF2-40B4-BE49-F238E27FC236}">
                <a16:creationId xmlns:a16="http://schemas.microsoft.com/office/drawing/2014/main" id="{04820097-9F31-4DC6-A116-951B9AB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664208"/>
            <a:ext cx="8961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2" name="STC-13-data-label-0">
            <a:extLst xmlns:a="http://schemas.openxmlformats.org/drawingml/2006/main">
              <a:ext uri="{FF2B5EF4-FFF2-40B4-BE49-F238E27FC236}">
                <a16:creationId xmlns:a16="http://schemas.microsoft.com/office/drawing/2014/main" id="{A0CB3C0C-0673-4362-8DC7-0B479D4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2880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RAW REPLAY</a:t>
            </a:r>
          </a:p>
        </p:txBody>
      </p:sp>
      <p:sp>
        <p:nvSpPr>
          <p:cNvPr id="13" name="STC-13-data-body-0">
            <a:extLst xmlns:a="http://schemas.openxmlformats.org/drawingml/2006/main">
              <a:ext uri="{FF2B5EF4-FFF2-40B4-BE49-F238E27FC236}">
                <a16:creationId xmlns:a16="http://schemas.microsoft.com/office/drawing/2014/main" id="{FDCF34C4-150A-4FCF-A34D-BFC000B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755648"/>
            <a:ext cx="6995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fidelity는 높지만 storage·privacy가 큼</a:t>
            </a:r>
          </a:p>
        </p:txBody>
      </p:sp>
      <p:sp>
        <p:nvSpPr>
          <p:cNvPr id="14" name="STC-13-data-layer-1">
            <a:extLst xmlns:a="http://schemas.openxmlformats.org/drawingml/2006/main">
              <a:ext uri="{FF2B5EF4-FFF2-40B4-BE49-F238E27FC236}">
                <a16:creationId xmlns:a16="http://schemas.microsoft.com/office/drawing/2014/main" id="{9FD61A15-AE35-4A0A-A793-7FCB001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50592"/>
            <a:ext cx="76809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3-data-label-1">
            <a:extLst xmlns:a="http://schemas.openxmlformats.org/drawingml/2006/main">
              <a:ext uri="{FF2B5EF4-FFF2-40B4-BE49-F238E27FC236}">
                <a16:creationId xmlns:a16="http://schemas.microsoft.com/office/drawing/2014/main" id="{2BD731A4-F373-4370-BA0F-C0997B3B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61518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CORESET</a:t>
            </a:r>
          </a:p>
        </p:txBody>
      </p:sp>
      <p:sp>
        <p:nvSpPr>
          <p:cNvPr id="16" name="STC-13-data-body-1">
            <a:extLst xmlns:a="http://schemas.openxmlformats.org/drawingml/2006/main">
              <a:ext uri="{FF2B5EF4-FFF2-40B4-BE49-F238E27FC236}">
                <a16:creationId xmlns:a16="http://schemas.microsoft.com/office/drawing/2014/main" id="{16B27792-5397-44B1-A82E-6F6C6A78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42032"/>
            <a:ext cx="5715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대표 example만 남겨 byte 절감</a:t>
            </a:r>
          </a:p>
        </p:txBody>
      </p:sp>
      <p:sp>
        <p:nvSpPr>
          <p:cNvPr id="17" name="STC-13-data-layer-2">
            <a:extLst xmlns:a="http://schemas.openxmlformats.org/drawingml/2006/main">
              <a:ext uri="{FF2B5EF4-FFF2-40B4-BE49-F238E27FC236}">
                <a16:creationId xmlns:a16="http://schemas.microsoft.com/office/drawing/2014/main" id="{95D551C3-E938-407F-AB9B-B40AAE6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236976"/>
            <a:ext cx="64008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3-data-label-2">
            <a:extLst xmlns:a="http://schemas.openxmlformats.org/drawingml/2006/main">
              <a:ext uri="{FF2B5EF4-FFF2-40B4-BE49-F238E27FC236}">
                <a16:creationId xmlns:a16="http://schemas.microsoft.com/office/drawing/2014/main" id="{6477526C-D0F3-4FED-B9DA-BA154CE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401568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GENERATED</a:t>
            </a:r>
          </a:p>
        </p:txBody>
      </p:sp>
      <p:sp>
        <p:nvSpPr>
          <p:cNvPr id="19" name="STC-13-data-body-2">
            <a:extLst xmlns:a="http://schemas.openxmlformats.org/drawingml/2006/main">
              <a:ext uri="{FF2B5EF4-FFF2-40B4-BE49-F238E27FC236}">
                <a16:creationId xmlns:a16="http://schemas.microsoft.com/office/drawing/2014/main" id="{5CC63795-4C45-4C8C-A238-C076892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328416"/>
            <a:ext cx="4434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generator가 old distribution을 근사</a:t>
            </a:r>
          </a:p>
        </p:txBody>
      </p:sp>
      <p:sp>
        <p:nvSpPr>
          <p:cNvPr id="20" name="STC-13-data-layer-3">
            <a:extLst xmlns:a="http://schemas.openxmlformats.org/drawingml/2006/main">
              <a:ext uri="{FF2B5EF4-FFF2-40B4-BE49-F238E27FC236}">
                <a16:creationId xmlns:a16="http://schemas.microsoft.com/office/drawing/2014/main" id="{088B4A5A-4492-453D-BBB3-84168BF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023360"/>
            <a:ext cx="51206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13-data-label-3">
            <a:extLst xmlns:a="http://schemas.openxmlformats.org/drawingml/2006/main">
              <a:ext uri="{FF2B5EF4-FFF2-40B4-BE49-F238E27FC236}">
                <a16:creationId xmlns:a16="http://schemas.microsoft.com/office/drawing/2014/main" id="{8742739C-7605-40FB-A7CF-E029D14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AUGMENT</a:t>
            </a:r>
          </a:p>
        </p:txBody>
      </p:sp>
      <p:sp>
        <p:nvSpPr>
          <p:cNvPr id="22" name="STC-13-data-body-3">
            <a:extLst xmlns:a="http://schemas.openxmlformats.org/drawingml/2006/main">
              <a:ext uri="{FF2B5EF4-FFF2-40B4-BE49-F238E27FC236}">
                <a16:creationId xmlns:a16="http://schemas.microsoft.com/office/drawing/2014/main" id="{934CB71E-27CD-4272-B979-DE93472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114800"/>
            <a:ext cx="3154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counterfactual·rare case를 확장</a:t>
            </a:r>
          </a:p>
        </p:txBody>
      </p:sp>
      <p:sp>
        <p:nvSpPr>
          <p:cNvPr id="23" name="STC-13-data-layer-4">
            <a:extLst xmlns:a="http://schemas.openxmlformats.org/drawingml/2006/main">
              <a:ext uri="{FF2B5EF4-FFF2-40B4-BE49-F238E27FC236}">
                <a16:creationId xmlns:a16="http://schemas.microsoft.com/office/drawing/2014/main" id="{D505F5B5-B093-4591-A92B-C8EA912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809744"/>
            <a:ext cx="38404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24" name="STC-13-data-label-4">
            <a:extLst xmlns:a="http://schemas.openxmlformats.org/drawingml/2006/main">
              <a:ext uri="{FF2B5EF4-FFF2-40B4-BE49-F238E27FC236}">
                <a16:creationId xmlns:a16="http://schemas.microsoft.com/office/drawing/2014/main" id="{D8CEFF44-4BD7-4FC7-8DC5-F6C69BE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4336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RAW REPLAY</a:t>
            </a:r>
          </a:p>
        </p:txBody>
      </p:sp>
      <p:sp>
        <p:nvSpPr>
          <p:cNvPr id="25" name="STC-13-data-body-4">
            <a:extLst xmlns:a="http://schemas.openxmlformats.org/drawingml/2006/main">
              <a:ext uri="{FF2B5EF4-FFF2-40B4-BE49-F238E27FC236}">
                <a16:creationId xmlns:a16="http://schemas.microsoft.com/office/drawing/2014/main" id="{3E315F74-2DD1-4079-A8AD-FED1874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901184"/>
            <a:ext cx="1874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fidelity는 높지만 storage·privacy가 큼</a:t>
            </a:r>
          </a:p>
        </p:txBody>
      </p:sp>
      <p:sp>
        <p:nvSpPr>
          <p:cNvPr id="26" name="STC-13-data-warning">
            <a:extLst xmlns:a="http://schemas.openxmlformats.org/drawingml/2006/main">
              <a:ext uri="{FF2B5EF4-FFF2-40B4-BE49-F238E27FC236}">
                <a16:creationId xmlns:a16="http://schemas.microsoft.com/office/drawing/2014/main" id="{0F955075-B866-48A7-A4A2-5437508F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2356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fidelity는 높지만 storage·privacy가 큼</a:t>
            </a:r>
          </a:p>
        </p:txBody>
      </p:sp>
    </p:spTree>
    <p:extLst>
      <p:ext uri="{BB962C8B-B14F-4D97-AF65-F5344CB8AC3E}">
        <p14:creationId xmlns:p14="http://schemas.microsoft.com/office/powerpoint/2010/main" val="1419071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2-section">
            <a:extLst xmlns:a="http://schemas.openxmlformats.org/drawingml/2006/main">
              <a:ext uri="{FF2B5EF4-FFF2-40B4-BE49-F238E27FC236}">
                <a16:creationId xmlns:a16="http://schemas.microsoft.com/office/drawing/2014/main" id="{9BED9E58-00E9-465F-81C5-F51DC1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12-slide-id">
            <a:extLst xmlns:a="http://schemas.openxmlformats.org/drawingml/2006/main">
              <a:ext uri="{FF2B5EF4-FFF2-40B4-BE49-F238E27FC236}">
                <a16:creationId xmlns:a16="http://schemas.microsoft.com/office/drawing/2014/main" id="{F143FB54-340A-4C97-AFD3-7653D00B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STC-017</a:t>
            </a:r>
          </a:p>
        </p:txBody>
      </p:sp>
      <p:sp>
        <p:nvSpPr>
          <p:cNvPr id="4" name="STC-12-headline">
            <a:extLst xmlns:a="http://schemas.openxmlformats.org/drawingml/2006/main">
              <a:ext uri="{FF2B5EF4-FFF2-40B4-BE49-F238E27FC236}">
                <a16:creationId xmlns:a16="http://schemas.microsoft.com/office/drawing/2014/main" id="{B20880B4-6186-43A8-9FAD-366FE1B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RL-style sleep은 rollout→reward→update의 delayed loop다</a:t>
            </a:r>
          </a:p>
        </p:txBody>
      </p:sp>
      <p:sp>
        <p:nvSpPr>
          <p:cNvPr id="5" name="STC-12-status-label">
            <a:extLst xmlns:a="http://schemas.openxmlformats.org/drawingml/2006/main">
              <a:ext uri="{FF2B5EF4-FFF2-40B4-BE49-F238E27FC236}">
                <a16:creationId xmlns:a16="http://schemas.microsoft.com/office/drawing/2014/main" id="{0CF310CB-1928-4691-A3FB-666D399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12-status-rule">
            <a:extLst xmlns:a="http://schemas.openxmlformats.org/drawingml/2006/main">
              <a:ext uri="{FF2B5EF4-FFF2-40B4-BE49-F238E27FC236}">
                <a16:creationId xmlns:a16="http://schemas.microsoft.com/office/drawing/2014/main" id="{3E99E4B1-295E-48F2-94DF-80F4D863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2-footer-rule">
            <a:extLst xmlns:a="http://schemas.openxmlformats.org/drawingml/2006/main">
              <a:ext uri="{FF2B5EF4-FFF2-40B4-BE49-F238E27FC236}">
                <a16:creationId xmlns:a16="http://schemas.microsoft.com/office/drawing/2014/main" id="{A3C1CC2F-D951-41BA-9A0A-1723072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2-source-footer">
            <a:extLst xmlns:a="http://schemas.openxmlformats.org/drawingml/2006/main">
              <a:ext uri="{FF2B5EF4-FFF2-40B4-BE49-F238E27FC236}">
                <a16:creationId xmlns:a16="http://schemas.microsoft.com/office/drawing/2014/main" id="{04E4D685-2DD8-4371-A68D-FBB0A31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bg:policy-gradient · reward-model</a:t>
            </a:r>
          </a:p>
        </p:txBody>
      </p:sp>
      <p:sp>
        <p:nvSpPr>
          <p:cNvPr id="9" name="STC-12-page-number">
            <a:extLst xmlns:a="http://schemas.openxmlformats.org/drawingml/2006/main">
              <a:ext uri="{FF2B5EF4-FFF2-40B4-BE49-F238E27FC236}">
                <a16:creationId xmlns:a16="http://schemas.microsoft.com/office/drawing/2014/main" id="{1FABB635-BAC3-411B-B672-1373736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17</a:t>
            </a:r>
          </a:p>
        </p:txBody>
      </p:sp>
      <p:sp>
        <p:nvSpPr>
          <p:cNvPr id="11" name="STC-12-op-node-0">
            <a:extLst xmlns:a="http://schemas.openxmlformats.org/drawingml/2006/main">
              <a:ext uri="{FF2B5EF4-FFF2-40B4-BE49-F238E27FC236}">
                <a16:creationId xmlns:a16="http://schemas.microsoft.com/office/drawing/2014/main" id="{9565E26F-887E-4304-8DBF-1E174EC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56362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2" name="STC-12-op-num-0">
            <a:extLst xmlns:a="http://schemas.openxmlformats.org/drawingml/2006/main">
              <a:ext uri="{FF2B5EF4-FFF2-40B4-BE49-F238E27FC236}">
                <a16:creationId xmlns:a16="http://schemas.microsoft.com/office/drawing/2014/main" id="{D48EE726-A278-44FD-822B-C049FB2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69164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3" name="STC-12-op-tag-0">
            <a:extLst xmlns:a="http://schemas.openxmlformats.org/drawingml/2006/main">
              <a:ext uri="{FF2B5EF4-FFF2-40B4-BE49-F238E27FC236}">
                <a16:creationId xmlns:a16="http://schemas.microsoft.com/office/drawing/2014/main" id="{E816A992-8F21-4B25-BCDD-A098663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36829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ROLL OUT</a:t>
            </a:r>
          </a:p>
        </p:txBody>
      </p:sp>
      <p:sp>
        <p:nvSpPr>
          <p:cNvPr id="14" name="STC-12-op-body-0">
            <a:extLst xmlns:a="http://schemas.openxmlformats.org/drawingml/2006/main">
              <a:ext uri="{FF2B5EF4-FFF2-40B4-BE49-F238E27FC236}">
                <a16:creationId xmlns:a16="http://schemas.microsoft.com/office/drawing/2014/main" id="{165A7B8B-3F81-4002-8250-9F527A3B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7218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dream이나 future action 후보 생성</a:t>
            </a:r>
          </a:p>
        </p:txBody>
      </p:sp>
      <p:sp>
        <p:nvSpPr>
          <p:cNvPr id="15" name="STC-12-op-link-0">
            <a:extLst xmlns:a="http://schemas.openxmlformats.org/drawingml/2006/main">
              <a:ext uri="{FF2B5EF4-FFF2-40B4-BE49-F238E27FC236}">
                <a16:creationId xmlns:a16="http://schemas.microsoft.com/office/drawing/2014/main" id="{9B485991-DCDC-402B-9D7D-4F6EC04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12-op-node-1">
            <a:extLst xmlns:a="http://schemas.openxmlformats.org/drawingml/2006/main">
              <a:ext uri="{FF2B5EF4-FFF2-40B4-BE49-F238E27FC236}">
                <a16:creationId xmlns:a16="http://schemas.microsoft.com/office/drawing/2014/main" id="{F80C4FE0-F1BC-4D46-8887-D3C1757C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12-op-num-1">
            <a:extLst xmlns:a="http://schemas.openxmlformats.org/drawingml/2006/main">
              <a:ext uri="{FF2B5EF4-FFF2-40B4-BE49-F238E27FC236}">
                <a16:creationId xmlns:a16="http://schemas.microsoft.com/office/drawing/2014/main" id="{F9AAE281-2CB6-4B37-AF68-53AFB0A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8" name="STC-12-op-tag-1">
            <a:extLst xmlns:a="http://schemas.openxmlformats.org/drawingml/2006/main">
              <a:ext uri="{FF2B5EF4-FFF2-40B4-BE49-F238E27FC236}">
                <a16:creationId xmlns:a16="http://schemas.microsoft.com/office/drawing/2014/main" id="{DB376A64-3995-4E35-AD03-8003FB0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SCORE</a:t>
            </a:r>
          </a:p>
        </p:txBody>
      </p:sp>
      <p:sp>
        <p:nvSpPr>
          <p:cNvPr id="19" name="STC-12-op-body-1">
            <a:extLst xmlns:a="http://schemas.openxmlformats.org/drawingml/2006/main">
              <a:ext uri="{FF2B5EF4-FFF2-40B4-BE49-F238E27FC236}">
                <a16:creationId xmlns:a16="http://schemas.microsoft.com/office/drawing/2014/main" id="{EC50FD79-C18A-4040-9760-EDA4257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utility·semantic·safety reward</a:t>
            </a:r>
          </a:p>
        </p:txBody>
      </p:sp>
      <p:sp>
        <p:nvSpPr>
          <p:cNvPr id="20" name="STC-12-op-link-1">
            <a:extLst xmlns:a="http://schemas.openxmlformats.org/drawingml/2006/main">
              <a:ext uri="{FF2B5EF4-FFF2-40B4-BE49-F238E27FC236}">
                <a16:creationId xmlns:a16="http://schemas.microsoft.com/office/drawing/2014/main" id="{1D205391-CBC8-47B1-9F68-03FDF9A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452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2-op-node-2">
            <a:extLst xmlns:a="http://schemas.openxmlformats.org/drawingml/2006/main">
              <a:ext uri="{FF2B5EF4-FFF2-40B4-BE49-F238E27FC236}">
                <a16:creationId xmlns:a16="http://schemas.microsoft.com/office/drawing/2014/main" id="{68B4B873-F963-44E1-9F2C-50BDC97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2-op-num-2">
            <a:extLst xmlns:a="http://schemas.openxmlformats.org/drawingml/2006/main">
              <a:ext uri="{FF2B5EF4-FFF2-40B4-BE49-F238E27FC236}">
                <a16:creationId xmlns:a16="http://schemas.microsoft.com/office/drawing/2014/main" id="{DA6C6E96-24AB-49A1-8C94-F7D3A6D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3" name="STC-12-op-tag-2">
            <a:extLst xmlns:a="http://schemas.openxmlformats.org/drawingml/2006/main">
              <a:ext uri="{FF2B5EF4-FFF2-40B4-BE49-F238E27FC236}">
                <a16:creationId xmlns:a16="http://schemas.microsoft.com/office/drawing/2014/main" id="{DE77EAA3-C1E2-4BB3-A6CD-F742DF3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ASSIGN</a:t>
            </a:r>
          </a:p>
        </p:txBody>
      </p:sp>
      <p:sp>
        <p:nvSpPr>
          <p:cNvPr id="24" name="STC-12-op-body-2">
            <a:extLst xmlns:a="http://schemas.openxmlformats.org/drawingml/2006/main">
              <a:ext uri="{FF2B5EF4-FFF2-40B4-BE49-F238E27FC236}">
                <a16:creationId xmlns:a16="http://schemas.microsoft.com/office/drawing/2014/main" id="{2FAE901B-858A-4FBE-8454-E355DFA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어떤 choice가 개선을 만들었는지</a:t>
            </a:r>
          </a:p>
        </p:txBody>
      </p:sp>
      <p:sp>
        <p:nvSpPr>
          <p:cNvPr id="25" name="STC-12-op-link-2">
            <a:extLst xmlns:a="http://schemas.openxmlformats.org/drawingml/2006/main">
              <a:ext uri="{FF2B5EF4-FFF2-40B4-BE49-F238E27FC236}">
                <a16:creationId xmlns:a16="http://schemas.microsoft.com/office/drawing/2014/main" id="{1FF3F698-4B8B-4FDF-8C1C-B38373EE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35040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6" name="STC-12-op-node-3">
            <a:extLst xmlns:a="http://schemas.openxmlformats.org/drawingml/2006/main">
              <a:ext uri="{FF2B5EF4-FFF2-40B4-BE49-F238E27FC236}">
                <a16:creationId xmlns:a16="http://schemas.microsoft.com/office/drawing/2014/main" id="{18FCBE66-54BC-4BD1-85B8-B66B2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1297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12-op-num-3">
            <a:extLst xmlns:a="http://schemas.openxmlformats.org/drawingml/2006/main">
              <a:ext uri="{FF2B5EF4-FFF2-40B4-BE49-F238E27FC236}">
                <a16:creationId xmlns:a16="http://schemas.microsoft.com/office/drawing/2014/main" id="{B016CB40-821A-426B-BB69-C4EA19B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25780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8" name="STC-12-op-tag-3">
            <a:extLst xmlns:a="http://schemas.openxmlformats.org/drawingml/2006/main">
              <a:ext uri="{FF2B5EF4-FFF2-40B4-BE49-F238E27FC236}">
                <a16:creationId xmlns:a16="http://schemas.microsoft.com/office/drawing/2014/main" id="{FDF0F062-D6A7-490E-BE3A-D052AF8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593445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UPDATE</a:t>
            </a:r>
          </a:p>
        </p:txBody>
      </p:sp>
      <p:sp>
        <p:nvSpPr>
          <p:cNvPr id="29" name="STC-12-op-body-3">
            <a:extLst xmlns:a="http://schemas.openxmlformats.org/drawingml/2006/main">
              <a:ext uri="{FF2B5EF4-FFF2-40B4-BE49-F238E27FC236}">
                <a16:creationId xmlns:a16="http://schemas.microsoft.com/office/drawing/2014/main" id="{3BF79E21-1FF6-4F3B-8783-4089065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6227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policy 또는 generator를 최적화</a:t>
            </a:r>
          </a:p>
        </p:txBody>
      </p:sp>
      <p:sp>
        <p:nvSpPr>
          <p:cNvPr id="30" name="STC-12-op-link-3">
            <a:extLst xmlns:a="http://schemas.openxmlformats.org/drawingml/2006/main">
              <a:ext uri="{FF2B5EF4-FFF2-40B4-BE49-F238E27FC236}">
                <a16:creationId xmlns:a16="http://schemas.microsoft.com/office/drawing/2014/main" id="{C2D2C21F-163F-4D95-9BF0-CD645F7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44628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1" name="STC-12-op-node-4">
            <a:extLst xmlns:a="http://schemas.openxmlformats.org/drawingml/2006/main">
              <a:ext uri="{FF2B5EF4-FFF2-40B4-BE49-F238E27FC236}">
                <a16:creationId xmlns:a16="http://schemas.microsoft.com/office/drawing/2014/main" id="{15454C93-9714-40BA-A132-E320F2F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2" name="STC-12-op-num-4">
            <a:extLst xmlns:a="http://schemas.openxmlformats.org/drawingml/2006/main">
              <a:ext uri="{FF2B5EF4-FFF2-40B4-BE49-F238E27FC236}">
                <a16:creationId xmlns:a16="http://schemas.microsoft.com/office/drawing/2014/main" id="{9C622E44-8EB5-4A8F-9D61-4DAD460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33" name="STC-12-op-tag-4">
            <a:extLst xmlns:a="http://schemas.openxmlformats.org/drawingml/2006/main">
              <a:ext uri="{FF2B5EF4-FFF2-40B4-BE49-F238E27FC236}">
                <a16:creationId xmlns:a16="http://schemas.microsoft.com/office/drawing/2014/main" id="{FD53F60B-6AD4-4C55-B97A-929F8BA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34" name="STC-12-op-body-4">
            <a:extLst xmlns:a="http://schemas.openxmlformats.org/drawingml/2006/main">
              <a:ext uri="{FF2B5EF4-FFF2-40B4-BE49-F238E27FC236}">
                <a16:creationId xmlns:a16="http://schemas.microsoft.com/office/drawing/2014/main" id="{69B11EFB-0B67-4435-A518-4BD5674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 hacking과 old task regression 확인</a:t>
            </a:r>
          </a:p>
        </p:txBody>
      </p:sp>
      <p:sp>
        <p:nvSpPr>
          <p:cNvPr id="35" name="STC-12-op-link-4">
            <a:extLst xmlns:a="http://schemas.openxmlformats.org/drawingml/2006/main">
              <a:ext uri="{FF2B5EF4-FFF2-40B4-BE49-F238E27FC236}">
                <a16:creationId xmlns:a16="http://schemas.microsoft.com/office/drawing/2014/main" id="{49EA155E-1AD2-4243-9273-CD4608D5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6" name="STC-12-op-node-5">
            <a:extLst xmlns:a="http://schemas.openxmlformats.org/drawingml/2006/main">
              <a:ext uri="{FF2B5EF4-FFF2-40B4-BE49-F238E27FC236}">
                <a16:creationId xmlns:a16="http://schemas.microsoft.com/office/drawing/2014/main" id="{BCE04997-1C16-4A22-9D57-C05C3C7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7" name="STC-12-op-num-5">
            <a:extLst xmlns:a="http://schemas.openxmlformats.org/drawingml/2006/main">
              <a:ext uri="{FF2B5EF4-FFF2-40B4-BE49-F238E27FC236}">
                <a16:creationId xmlns:a16="http://schemas.microsoft.com/office/drawing/2014/main" id="{599C82AF-1ACF-4452-BAFC-2647307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38" name="STC-12-op-tag-5">
            <a:extLst xmlns:a="http://schemas.openxmlformats.org/drawingml/2006/main">
              <a:ext uri="{FF2B5EF4-FFF2-40B4-BE49-F238E27FC236}">
                <a16:creationId xmlns:a16="http://schemas.microsoft.com/office/drawing/2014/main" id="{B07599FE-D711-4F70-976F-A5A391A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ROLL OUT</a:t>
            </a:r>
          </a:p>
        </p:txBody>
      </p:sp>
      <p:sp>
        <p:nvSpPr>
          <p:cNvPr id="39" name="STC-12-op-body-5">
            <a:extLst xmlns:a="http://schemas.openxmlformats.org/drawingml/2006/main">
              <a:ext uri="{FF2B5EF4-FFF2-40B4-BE49-F238E27FC236}">
                <a16:creationId xmlns:a16="http://schemas.microsoft.com/office/drawing/2014/main" id="{423310C0-5466-447C-9A7D-22EAE19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dream이나 future action 후보 생성</a:t>
            </a:r>
          </a:p>
        </p:txBody>
      </p:sp>
      <p:sp>
        <p:nvSpPr>
          <p:cNvPr id="40" name="STC-12-op-link-5">
            <a:extLst xmlns:a="http://schemas.openxmlformats.org/drawingml/2006/main">
              <a:ext uri="{FF2B5EF4-FFF2-40B4-BE49-F238E27FC236}">
                <a16:creationId xmlns:a16="http://schemas.microsoft.com/office/drawing/2014/main" id="{F56FC784-7401-4605-B130-CFE571A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41" name="STC-12-op-center">
            <a:extLst xmlns:a="http://schemas.openxmlformats.org/drawingml/2006/main">
              <a:ext uri="{FF2B5EF4-FFF2-40B4-BE49-F238E27FC236}">
                <a16:creationId xmlns:a16="http://schemas.microsoft.com/office/drawing/2014/main" id="{768EE9E5-A371-4721-B14D-560E6C4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2" name="STC-12-op-center-text">
            <a:extLst xmlns:a="http://schemas.openxmlformats.org/drawingml/2006/main">
              <a:ext uri="{FF2B5EF4-FFF2-40B4-BE49-F238E27FC236}">
                <a16:creationId xmlns:a16="http://schemas.microsoft.com/office/drawing/2014/main" id="{742C75B8-42AB-46D8-A657-D904AEC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246120"/>
            <a:ext cx="168249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3039140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5-section">
            <a:extLst xmlns:a="http://schemas.openxmlformats.org/drawingml/2006/main">
              <a:ext uri="{FF2B5EF4-FFF2-40B4-BE49-F238E27FC236}">
                <a16:creationId xmlns:a16="http://schemas.microsoft.com/office/drawing/2014/main" id="{9B985B5E-2EB1-4A04-B32B-0879345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15-slide-id">
            <a:extLst xmlns:a="http://schemas.openxmlformats.org/drawingml/2006/main">
              <a:ext uri="{FF2B5EF4-FFF2-40B4-BE49-F238E27FC236}">
                <a16:creationId xmlns:a16="http://schemas.microsoft.com/office/drawing/2014/main" id="{F1A29C71-E06B-4C6E-A3AE-7AEE073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STC-018</a:t>
            </a:r>
          </a:p>
        </p:txBody>
      </p:sp>
      <p:sp>
        <p:nvSpPr>
          <p:cNvPr id="4" name="STC-15-headline">
            <a:extLst xmlns:a="http://schemas.openxmlformats.org/drawingml/2006/main">
              <a:ext uri="{FF2B5EF4-FFF2-40B4-BE49-F238E27FC236}">
                <a16:creationId xmlns:a16="http://schemas.microsoft.com/office/drawing/2014/main" id="{E9CBA5DA-32F0-402B-A292-5C028EDA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Continual learning은 retention과 plasticity를 동시에 요구한다</a:t>
            </a:r>
          </a:p>
        </p:txBody>
      </p:sp>
      <p:sp>
        <p:nvSpPr>
          <p:cNvPr id="5" name="STC-15-status-label">
            <a:extLst xmlns:a="http://schemas.openxmlformats.org/drawingml/2006/main">
              <a:ext uri="{FF2B5EF4-FFF2-40B4-BE49-F238E27FC236}">
                <a16:creationId xmlns:a16="http://schemas.microsoft.com/office/drawing/2014/main" id="{726F9C6C-F765-415C-9EDD-299FDE3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배경</a:t>
            </a:r>
          </a:p>
        </p:txBody>
      </p:sp>
      <p:sp>
        <p:nvSpPr>
          <p:cNvPr id="6" name="STC-15-status-rule">
            <a:extLst xmlns:a="http://schemas.openxmlformats.org/drawingml/2006/main">
              <a:ext uri="{FF2B5EF4-FFF2-40B4-BE49-F238E27FC236}">
                <a16:creationId xmlns:a16="http://schemas.microsoft.com/office/drawing/2014/main" id="{8CF1A863-1D7E-469C-B4B1-7AC5E32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5-footer-rule">
            <a:extLst xmlns:a="http://schemas.openxmlformats.org/drawingml/2006/main">
              <a:ext uri="{FF2B5EF4-FFF2-40B4-BE49-F238E27FC236}">
                <a16:creationId xmlns:a16="http://schemas.microsoft.com/office/drawing/2014/main" id="{D1917FAC-5289-4D3B-9C5F-9082A6E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5-source-footer">
            <a:extLst xmlns:a="http://schemas.openxmlformats.org/drawingml/2006/main">
              <a:ext uri="{FF2B5EF4-FFF2-40B4-BE49-F238E27FC236}">
                <a16:creationId xmlns:a16="http://schemas.microsoft.com/office/drawing/2014/main" id="{48508A8D-C8DE-42F3-81BB-4F92B9D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STC-C020–C022</a:t>
            </a:r>
          </a:p>
        </p:txBody>
      </p:sp>
      <p:sp>
        <p:nvSpPr>
          <p:cNvPr id="9" name="STC-15-page-number">
            <a:extLst xmlns:a="http://schemas.openxmlformats.org/drawingml/2006/main">
              <a:ext uri="{FF2B5EF4-FFF2-40B4-BE49-F238E27FC236}">
                <a16:creationId xmlns:a16="http://schemas.microsoft.com/office/drawing/2014/main" id="{81C944E9-1F2E-4B33-9823-786CB2A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18</a:t>
            </a:r>
          </a:p>
        </p:txBody>
      </p:sp>
      <p:sp>
        <p:nvSpPr>
          <p:cNvPr id="11" name="STC-15-cap-num-0">
            <a:extLst xmlns:a="http://schemas.openxmlformats.org/drawingml/2006/main">
              <a:ext uri="{FF2B5EF4-FFF2-40B4-BE49-F238E27FC236}">
                <a16:creationId xmlns:a16="http://schemas.microsoft.com/office/drawing/2014/main" id="{B2CF5D08-5D0C-44F1-AEA1-0745EBC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RETENTION · old trace를 recall threshold 위에 유지</a:t>
            </a:r>
          </a:p>
        </p:txBody>
      </p:sp>
      <p:sp>
        <p:nvSpPr>
          <p:cNvPr id="12" name="STC-15-cap-label-box-0">
            <a:extLst xmlns:a="http://schemas.openxmlformats.org/drawingml/2006/main">
              <a:ext uri="{FF2B5EF4-FFF2-40B4-BE49-F238E27FC236}">
                <a16:creationId xmlns:a16="http://schemas.microsoft.com/office/drawing/2014/main" id="{258E8A35-5FBA-48D0-94E7-9F07EA9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572768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3" name="STC-15-cap-label-0">
            <a:extLst xmlns:a="http://schemas.openxmlformats.org/drawingml/2006/main">
              <a:ext uri="{FF2B5EF4-FFF2-40B4-BE49-F238E27FC236}">
                <a16:creationId xmlns:a16="http://schemas.microsoft.com/office/drawing/2014/main" id="{68E3D644-65D5-4BD4-AFDF-BBEE1C3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719072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RETENTION</a:t>
            </a:r>
          </a:p>
        </p:txBody>
      </p:sp>
      <p:sp>
        <p:nvSpPr>
          <p:cNvPr id="14" name="STC-15-cap-body-0">
            <a:extLst xmlns:a="http://schemas.openxmlformats.org/drawingml/2006/main">
              <a:ext uri="{FF2B5EF4-FFF2-40B4-BE49-F238E27FC236}">
                <a16:creationId xmlns:a16="http://schemas.microsoft.com/office/drawing/2014/main" id="{38DA6B09-192B-4192-A01C-F97CF6E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664208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trace를 recall threshold 위에 유지</a:t>
            </a:r>
          </a:p>
        </p:txBody>
      </p:sp>
      <p:sp>
        <p:nvSpPr>
          <p:cNvPr id="15" name="STC-15-cap-pressure-0">
            <a:extLst xmlns:a="http://schemas.openxmlformats.org/drawingml/2006/main">
              <a:ext uri="{FF2B5EF4-FFF2-40B4-BE49-F238E27FC236}">
                <a16:creationId xmlns:a16="http://schemas.microsoft.com/office/drawing/2014/main" id="{BE21D2BC-2876-4728-9F34-2331326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664208"/>
            <a:ext cx="30175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6" name="STC-15-cap-num-1">
            <a:extLst xmlns:a="http://schemas.openxmlformats.org/drawingml/2006/main">
              <a:ext uri="{FF2B5EF4-FFF2-40B4-BE49-F238E27FC236}">
                <a16:creationId xmlns:a16="http://schemas.microsoft.com/office/drawing/2014/main" id="{A1D2B1D3-D60A-42FF-A0E2-4957D09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23744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PLASTICITY · fresh control만큼 새 task를 학습</a:t>
            </a:r>
          </a:p>
        </p:txBody>
      </p:sp>
      <p:sp>
        <p:nvSpPr>
          <p:cNvPr id="17" name="STC-15-cap-label-box-1">
            <a:extLst xmlns:a="http://schemas.openxmlformats.org/drawingml/2006/main">
              <a:ext uri="{FF2B5EF4-FFF2-40B4-BE49-F238E27FC236}">
                <a16:creationId xmlns:a16="http://schemas.microsoft.com/office/drawing/2014/main" id="{F02F6263-AC2C-47D3-B825-63D5B46F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414016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5-cap-label-1">
            <a:extLst xmlns:a="http://schemas.openxmlformats.org/drawingml/2006/main">
              <a:ext uri="{FF2B5EF4-FFF2-40B4-BE49-F238E27FC236}">
                <a16:creationId xmlns:a16="http://schemas.microsoft.com/office/drawing/2014/main" id="{17DF0D03-7D88-4052-8796-9E1DA5E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60320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PLASTICITY</a:t>
            </a:r>
          </a:p>
        </p:txBody>
      </p:sp>
      <p:sp>
        <p:nvSpPr>
          <p:cNvPr id="19" name="STC-15-cap-body-1">
            <a:extLst xmlns:a="http://schemas.openxmlformats.org/drawingml/2006/main">
              <a:ext uri="{FF2B5EF4-FFF2-40B4-BE49-F238E27FC236}">
                <a16:creationId xmlns:a16="http://schemas.microsoft.com/office/drawing/2014/main" id="{19CD937B-3AE8-4FD3-B968-FAA4691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05456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fresh control만큼 새 task를 학습</a:t>
            </a:r>
          </a:p>
        </p:txBody>
      </p:sp>
      <p:sp>
        <p:nvSpPr>
          <p:cNvPr id="20" name="STC-15-cap-pressure-1">
            <a:extLst xmlns:a="http://schemas.openxmlformats.org/drawingml/2006/main">
              <a:ext uri="{FF2B5EF4-FFF2-40B4-BE49-F238E27FC236}">
                <a16:creationId xmlns:a16="http://schemas.microsoft.com/office/drawing/2014/main" id="{F6C5BAD1-9770-4B2F-85B1-76D4DAB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05456"/>
            <a:ext cx="36576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1" name="STC-15-cap-num-2">
            <a:extLst xmlns:a="http://schemas.openxmlformats.org/drawingml/2006/main">
              <a:ext uri="{FF2B5EF4-FFF2-40B4-BE49-F238E27FC236}">
                <a16:creationId xmlns:a16="http://schemas.microsoft.com/office/drawing/2014/main" id="{10A24185-FC68-41A9-812E-4C92243D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64992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ACCESS · encoded information을 실제 answer에 적용</a:t>
            </a:r>
          </a:p>
        </p:txBody>
      </p:sp>
      <p:sp>
        <p:nvSpPr>
          <p:cNvPr id="22" name="STC-15-cap-label-box-2">
            <a:extLst xmlns:a="http://schemas.openxmlformats.org/drawingml/2006/main">
              <a:ext uri="{FF2B5EF4-FFF2-40B4-BE49-F238E27FC236}">
                <a16:creationId xmlns:a16="http://schemas.microsoft.com/office/drawing/2014/main" id="{D549D566-AFB2-4963-9BA1-3CCB892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55264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3" name="STC-15-cap-label-2">
            <a:extLst xmlns:a="http://schemas.openxmlformats.org/drawingml/2006/main">
              <a:ext uri="{FF2B5EF4-FFF2-40B4-BE49-F238E27FC236}">
                <a16:creationId xmlns:a16="http://schemas.microsoft.com/office/drawing/2014/main" id="{AB7FCE0A-E277-40B1-B47A-5210936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401568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ACCESS</a:t>
            </a:r>
          </a:p>
        </p:txBody>
      </p:sp>
      <p:sp>
        <p:nvSpPr>
          <p:cNvPr id="24" name="STC-15-cap-body-2">
            <a:extLst xmlns:a="http://schemas.openxmlformats.org/drawingml/2006/main">
              <a:ext uri="{FF2B5EF4-FFF2-40B4-BE49-F238E27FC236}">
                <a16:creationId xmlns:a16="http://schemas.microsoft.com/office/drawing/2014/main" id="{64E498CD-D488-48FD-BF94-8D246549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46704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encoded information을 실제 answer에 적용</a:t>
            </a:r>
          </a:p>
        </p:txBody>
      </p:sp>
      <p:sp>
        <p:nvSpPr>
          <p:cNvPr id="25" name="STC-15-cap-pressure-2">
            <a:extLst xmlns:a="http://schemas.openxmlformats.org/drawingml/2006/main">
              <a:ext uri="{FF2B5EF4-FFF2-40B4-BE49-F238E27FC236}">
                <a16:creationId xmlns:a16="http://schemas.microsoft.com/office/drawing/2014/main" id="{ACBFAE3F-14CE-434A-BC29-DB08824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346704"/>
            <a:ext cx="4297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6" name="STC-15-cap-num-3">
            <a:extLst xmlns:a="http://schemas.openxmlformats.org/drawingml/2006/main">
              <a:ext uri="{FF2B5EF4-FFF2-40B4-BE49-F238E27FC236}">
                <a16:creationId xmlns:a16="http://schemas.microsoft.com/office/drawing/2014/main" id="{D849C47C-75A1-4B41-BFFA-118EF30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CAPACITY · finite state에서 interference를 관리</a:t>
            </a:r>
          </a:p>
        </p:txBody>
      </p:sp>
      <p:sp>
        <p:nvSpPr>
          <p:cNvPr id="27" name="STC-15-cap-label-box-3">
            <a:extLst xmlns:a="http://schemas.openxmlformats.org/drawingml/2006/main">
              <a:ext uri="{FF2B5EF4-FFF2-40B4-BE49-F238E27FC236}">
                <a16:creationId xmlns:a16="http://schemas.microsoft.com/office/drawing/2014/main" id="{DE41F8DC-7B07-465A-B1EA-DE633FD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96512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15-cap-label-3">
            <a:extLst xmlns:a="http://schemas.openxmlformats.org/drawingml/2006/main">
              <a:ext uri="{FF2B5EF4-FFF2-40B4-BE49-F238E27FC236}">
                <a16:creationId xmlns:a16="http://schemas.microsoft.com/office/drawing/2014/main" id="{9FD8499F-CC68-47C5-BCB6-2B5318C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242816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</p:txBody>
      </p:sp>
      <p:sp>
        <p:nvSpPr>
          <p:cNvPr id="29" name="STC-15-cap-body-3">
            <a:extLst xmlns:a="http://schemas.openxmlformats.org/drawingml/2006/main">
              <a:ext uri="{FF2B5EF4-FFF2-40B4-BE49-F238E27FC236}">
                <a16:creationId xmlns:a16="http://schemas.microsoft.com/office/drawing/2014/main" id="{F8C078E8-8B00-42EF-99AB-5AF6E3C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finite state에서 interference를 관리</a:t>
            </a:r>
          </a:p>
        </p:txBody>
      </p:sp>
      <p:sp>
        <p:nvSpPr>
          <p:cNvPr id="30" name="STC-15-cap-pressure-3">
            <a:extLst xmlns:a="http://schemas.openxmlformats.org/drawingml/2006/main">
              <a:ext uri="{FF2B5EF4-FFF2-40B4-BE49-F238E27FC236}">
                <a16:creationId xmlns:a16="http://schemas.microsoft.com/office/drawing/2014/main" id="{7365CC5E-9B53-4B94-A759-5E0AA9BD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187952"/>
            <a:ext cx="3474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5-cap-num-4">
            <a:extLst xmlns:a="http://schemas.openxmlformats.org/drawingml/2006/main">
              <a:ext uri="{FF2B5EF4-FFF2-40B4-BE49-F238E27FC236}">
                <a16:creationId xmlns:a16="http://schemas.microsoft.com/office/drawing/2014/main" id="{22BFE896-64B8-4291-BBB4-F14853E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GOVERNANCE · source·delete·rollback을 보존</a:t>
            </a:r>
          </a:p>
        </p:txBody>
      </p:sp>
      <p:sp>
        <p:nvSpPr>
          <p:cNvPr id="32" name="STC-15-cap-label-box-4">
            <a:extLst xmlns:a="http://schemas.openxmlformats.org/drawingml/2006/main">
              <a:ext uri="{FF2B5EF4-FFF2-40B4-BE49-F238E27FC236}">
                <a16:creationId xmlns:a16="http://schemas.microsoft.com/office/drawing/2014/main" id="{5BE60473-EDFE-4290-A00A-50A83B8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37760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3" name="STC-15-cap-label-4">
            <a:extLst xmlns:a="http://schemas.openxmlformats.org/drawingml/2006/main">
              <a:ext uri="{FF2B5EF4-FFF2-40B4-BE49-F238E27FC236}">
                <a16:creationId xmlns:a16="http://schemas.microsoft.com/office/drawing/2014/main" id="{E2127329-8C11-491B-A475-410BEA8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084064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GOVERNANCE</a:t>
            </a:r>
          </a:p>
        </p:txBody>
      </p:sp>
      <p:sp>
        <p:nvSpPr>
          <p:cNvPr id="34" name="STC-15-cap-body-4">
            <a:extLst xmlns:a="http://schemas.openxmlformats.org/drawingml/2006/main">
              <a:ext uri="{FF2B5EF4-FFF2-40B4-BE49-F238E27FC236}">
                <a16:creationId xmlns:a16="http://schemas.microsoft.com/office/drawing/2014/main" id="{182B30D3-1D80-4FC5-A73C-A9EB406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029200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source·delete·rollback을 보존</a:t>
            </a:r>
          </a:p>
        </p:txBody>
      </p:sp>
      <p:sp>
        <p:nvSpPr>
          <p:cNvPr id="35" name="STC-15-cap-pressure-4">
            <a:extLst xmlns:a="http://schemas.openxmlformats.org/drawingml/2006/main">
              <a:ext uri="{FF2B5EF4-FFF2-40B4-BE49-F238E27FC236}">
                <a16:creationId xmlns:a16="http://schemas.microsoft.com/office/drawing/2014/main" id="{BAA86C3C-1977-4E77-8E83-BADF936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029200"/>
            <a:ext cx="39319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6" name="STC-15-cap-binding">
            <a:extLst xmlns:a="http://schemas.openxmlformats.org/drawingml/2006/main">
              <a:ext uri="{FF2B5EF4-FFF2-40B4-BE49-F238E27FC236}">
                <a16:creationId xmlns:a16="http://schemas.microsoft.com/office/drawing/2014/main" id="{556AA274-524E-4221-88C6-E14A801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66928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RETENTION</a:t>
            </a:r>
          </a:p>
        </p:txBody>
      </p:sp>
    </p:spTree>
    <p:extLst>
      <p:ext uri="{BB962C8B-B14F-4D97-AF65-F5344CB8AC3E}">
        <p14:creationId xmlns:p14="http://schemas.microsoft.com/office/powerpoint/2010/main" val="1779914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8-section">
            <a:extLst xmlns:a="http://schemas.openxmlformats.org/drawingml/2006/main">
              <a:ext uri="{FF2B5EF4-FFF2-40B4-BE49-F238E27FC236}">
                <a16:creationId xmlns:a16="http://schemas.microsoft.com/office/drawing/2014/main" id="{03FF8BA3-B545-4981-AA09-AE9216B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18-slide-id">
            <a:extLst xmlns:a="http://schemas.openxmlformats.org/drawingml/2006/main">
              <a:ext uri="{FF2B5EF4-FFF2-40B4-BE49-F238E27FC236}">
                <a16:creationId xmlns:a16="http://schemas.microsoft.com/office/drawing/2014/main" id="{C9FA6CD7-858C-4A3D-96FD-4CC651F6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STC-019</a:t>
            </a:r>
          </a:p>
        </p:txBody>
      </p:sp>
      <p:sp>
        <p:nvSpPr>
          <p:cNvPr id="4" name="STC-18-headline">
            <a:extLst xmlns:a="http://schemas.openxmlformats.org/drawingml/2006/main">
              <a:ext uri="{FF2B5EF4-FFF2-40B4-BE49-F238E27FC236}">
                <a16:creationId xmlns:a16="http://schemas.microsoft.com/office/drawing/2014/main" id="{C9C9B713-EF3A-4F15-9B5D-34C157E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Capacity는 parameter 수보다 utility가 꺾이는 경계다</a:t>
            </a:r>
          </a:p>
        </p:txBody>
      </p:sp>
      <p:sp>
        <p:nvSpPr>
          <p:cNvPr id="5" name="STC-18-status-label">
            <a:extLst xmlns:a="http://schemas.openxmlformats.org/drawingml/2006/main">
              <a:ext uri="{FF2B5EF4-FFF2-40B4-BE49-F238E27FC236}">
                <a16:creationId xmlns:a16="http://schemas.microsoft.com/office/drawing/2014/main" id="{3B46AB99-B070-4E4D-A702-12F9050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통합 추론</a:t>
            </a:r>
          </a:p>
        </p:txBody>
      </p:sp>
      <p:sp>
        <p:nvSpPr>
          <p:cNvPr id="6" name="STC-18-status-rule">
            <a:extLst xmlns:a="http://schemas.openxmlformats.org/drawingml/2006/main">
              <a:ext uri="{FF2B5EF4-FFF2-40B4-BE49-F238E27FC236}">
                <a16:creationId xmlns:a16="http://schemas.microsoft.com/office/drawing/2014/main" id="{8EFD1DA0-50D3-4AD4-87F6-7143D5EB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8-footer-rule">
            <a:extLst xmlns:a="http://schemas.openxmlformats.org/drawingml/2006/main">
              <a:ext uri="{FF2B5EF4-FFF2-40B4-BE49-F238E27FC236}">
                <a16:creationId xmlns:a16="http://schemas.microsoft.com/office/drawing/2014/main" id="{0532DB85-4109-43E6-AC94-2358F50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8-source-footer">
            <a:extLst xmlns:a="http://schemas.openxmlformats.org/drawingml/2006/main">
              <a:ext uri="{FF2B5EF4-FFF2-40B4-BE49-F238E27FC236}">
                <a16:creationId xmlns:a16="http://schemas.microsoft.com/office/drawing/2014/main" id="{F3EA8379-43EA-45C9-AC85-4061DC8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STC-C032–C034/C045</a:t>
            </a:r>
          </a:p>
        </p:txBody>
      </p:sp>
      <p:sp>
        <p:nvSpPr>
          <p:cNvPr id="9" name="STC-18-page-number">
            <a:extLst xmlns:a="http://schemas.openxmlformats.org/drawingml/2006/main">
              <a:ext uri="{FF2B5EF4-FFF2-40B4-BE49-F238E27FC236}">
                <a16:creationId xmlns:a16="http://schemas.microsoft.com/office/drawing/2014/main" id="{8DE00DF8-DD74-4458-8DDD-9413F0F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19</a:t>
            </a:r>
          </a:p>
        </p:txBody>
      </p:sp>
      <p:sp>
        <p:nvSpPr>
          <p:cNvPr id="11" name="STC-18-knee-axis-x">
            <a:extLst xmlns:a="http://schemas.openxmlformats.org/drawingml/2006/main">
              <a:ext uri="{FF2B5EF4-FFF2-40B4-BE49-F238E27FC236}">
                <a16:creationId xmlns:a16="http://schemas.microsoft.com/office/drawing/2014/main" id="{137B99DC-D78E-474C-948D-1C1A474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9280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8-knee-axis-y">
            <a:extLst xmlns:a="http://schemas.openxmlformats.org/drawingml/2006/main">
              <a:ext uri="{FF2B5EF4-FFF2-40B4-BE49-F238E27FC236}">
                <a16:creationId xmlns:a16="http://schemas.microsoft.com/office/drawing/2014/main" id="{2B1DBB35-82E7-49B9-9968-79EB961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43000" y="1691640"/>
            <a:ext cx="0" cy="3977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8-knee-axis-xlabel">
            <a:extLst xmlns:a="http://schemas.openxmlformats.org/drawingml/2006/main">
              <a:ext uri="{FF2B5EF4-FFF2-40B4-BE49-F238E27FC236}">
                <a16:creationId xmlns:a16="http://schemas.microsoft.com/office/drawing/2014/main" id="{9D4A94DC-71BA-4491-BE01-6A8FA8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8155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LOAD</a:t>
            </a:r>
          </a:p>
        </p:txBody>
      </p:sp>
      <p:sp>
        <p:nvSpPr>
          <p:cNvPr id="14" name="STC-18-knee-axis-ylabel">
            <a:extLst xmlns:a="http://schemas.openxmlformats.org/drawingml/2006/main">
              <a:ext uri="{FF2B5EF4-FFF2-40B4-BE49-F238E27FC236}">
                <a16:creationId xmlns:a16="http://schemas.microsoft.com/office/drawing/2014/main" id="{BBDB0575-EAC2-4D00-889D-30EDB84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" y="158191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5" name="STC-18-knee-seg-1">
            <a:extLst xmlns:a="http://schemas.openxmlformats.org/drawingml/2006/main">
              <a:ext uri="{FF2B5EF4-FFF2-40B4-BE49-F238E27FC236}">
                <a16:creationId xmlns:a16="http://schemas.microsoft.com/office/drawing/2014/main" id="{A875E417-9AE7-45EA-91F0-367BDDB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48840"/>
            <a:ext cx="1005840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8-knee-seg-2">
            <a:extLst xmlns:a="http://schemas.openxmlformats.org/drawingml/2006/main">
              <a:ext uri="{FF2B5EF4-FFF2-40B4-BE49-F238E27FC236}">
                <a16:creationId xmlns:a16="http://schemas.microsoft.com/office/drawing/2014/main" id="{D37E6579-10F6-4338-A1E4-70A3CAB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76272"/>
            <a:ext cx="100584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8-knee-seg-3">
            <a:extLst xmlns:a="http://schemas.openxmlformats.org/drawingml/2006/main">
              <a:ext uri="{FF2B5EF4-FFF2-40B4-BE49-F238E27FC236}">
                <a16:creationId xmlns:a16="http://schemas.microsoft.com/office/drawing/2014/main" id="{9051F1AF-A7F9-4D03-94EA-41936D1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86000"/>
            <a:ext cx="100584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18-knee-seg-4">
            <a:extLst xmlns:a="http://schemas.openxmlformats.org/drawingml/2006/main">
              <a:ext uri="{FF2B5EF4-FFF2-40B4-BE49-F238E27FC236}">
                <a16:creationId xmlns:a16="http://schemas.microsoft.com/office/drawing/2014/main" id="{B063ECE3-2EE8-45A4-A0F4-242E2ED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70048"/>
            <a:ext cx="100584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8-knee-seg-5">
            <a:extLst xmlns:a="http://schemas.openxmlformats.org/drawingml/2006/main">
              <a:ext uri="{FF2B5EF4-FFF2-40B4-BE49-F238E27FC236}">
                <a16:creationId xmlns:a16="http://schemas.microsoft.com/office/drawing/2014/main" id="{B0C6BCBB-C1A2-421E-BDCF-2B39BAFF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694176"/>
            <a:ext cx="1005840" cy="1298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8-knee-seg-6">
            <a:extLst xmlns:a="http://schemas.openxmlformats.org/drawingml/2006/main">
              <a:ext uri="{FF2B5EF4-FFF2-40B4-BE49-F238E27FC236}">
                <a16:creationId xmlns:a16="http://schemas.microsoft.com/office/drawing/2014/main" id="{C13B686D-15B9-429D-A73A-91969B5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92624"/>
            <a:ext cx="82296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18-knee-threshold">
            <a:extLst xmlns:a="http://schemas.openxmlformats.org/drawingml/2006/main">
              <a:ext uri="{FF2B5EF4-FFF2-40B4-BE49-F238E27FC236}">
                <a16:creationId xmlns:a16="http://schemas.microsoft.com/office/drawing/2014/main" id="{ED6FC06F-FE27-464D-B952-B7B3674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4368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16A"/>
            </a:solidFill>
            <a:prstDash val="solid"/>
            <a:tailEnd type="none"/>
          </a:ln>
        </p:spPr>
      </p:sp>
      <p:sp>
        <p:nvSpPr>
          <p:cNvPr id="22" name="STC-18-knee-threshold-label">
            <a:extLst xmlns:a="http://schemas.openxmlformats.org/drawingml/2006/main">
              <a:ext uri="{FF2B5EF4-FFF2-40B4-BE49-F238E27FC236}">
                <a16:creationId xmlns:a16="http://schemas.microsoft.com/office/drawing/2014/main" id="{59682FA8-3C66-4E76-91DC-8A5B116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61488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COMPACTION</a:t>
            </a:r>
          </a:p>
        </p:txBody>
      </p:sp>
      <p:sp>
        <p:nvSpPr>
          <p:cNvPr id="23" name="STC-18-knee-marker">
            <a:extLst xmlns:a="http://schemas.openxmlformats.org/drawingml/2006/main">
              <a:ext uri="{FF2B5EF4-FFF2-40B4-BE49-F238E27FC236}">
                <a16:creationId xmlns:a16="http://schemas.microsoft.com/office/drawing/2014/main" id="{8CD36708-2795-42A2-B1FE-6BF35D2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8950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8-knee-keff">
            <a:extLst xmlns:a="http://schemas.openxmlformats.org/drawingml/2006/main">
              <a:ext uri="{FF2B5EF4-FFF2-40B4-BE49-F238E27FC236}">
                <a16:creationId xmlns:a16="http://schemas.microsoft.com/office/drawing/2014/main" id="{7092C48B-E617-41E2-A6F0-6377395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394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5" name="STC-18-knee-check-title">
            <a:extLst xmlns:a="http://schemas.openxmlformats.org/drawingml/2006/main">
              <a:ext uri="{FF2B5EF4-FFF2-40B4-BE49-F238E27FC236}">
                <a16:creationId xmlns:a16="http://schemas.microsoft.com/office/drawing/2014/main" id="{864F7F11-EE93-42F3-A376-3BC591E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83080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KNEE</a:t>
            </a:r>
          </a:p>
        </p:txBody>
      </p:sp>
      <p:sp>
        <p:nvSpPr>
          <p:cNvPr id="26" name="STC-18-knee-checks-dot-0">
            <a:extLst xmlns:a="http://schemas.openxmlformats.org/drawingml/2006/main">
              <a:ext uri="{FF2B5EF4-FFF2-40B4-BE49-F238E27FC236}">
                <a16:creationId xmlns:a16="http://schemas.microsoft.com/office/drawing/2014/main" id="{4FB9D726-90DF-448D-9CB5-BD91AF1C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35000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7" name="STC-18-knee-checks-item-0">
            <a:extLst xmlns:a="http://schemas.openxmlformats.org/drawingml/2006/main">
              <a:ext uri="{FF2B5EF4-FFF2-40B4-BE49-F238E27FC236}">
                <a16:creationId xmlns:a16="http://schemas.microsoft.com/office/drawing/2014/main" id="{44C5ADE7-8C76-4DBA-8D57-28CFC56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40280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LOAD</a:t>
            </a:r>
          </a:p>
        </p:txBody>
      </p:sp>
      <p:sp>
        <p:nvSpPr>
          <p:cNvPr id="28" name="STC-18-knee-checks-dot-1">
            <a:extLst xmlns:a="http://schemas.openxmlformats.org/drawingml/2006/main">
              <a:ext uri="{FF2B5EF4-FFF2-40B4-BE49-F238E27FC236}">
                <a16:creationId xmlns:a16="http://schemas.microsoft.com/office/drawing/2014/main" id="{AFC33FA9-F997-425E-804C-0F6AB52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077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9" name="STC-18-knee-checks-item-1">
            <a:extLst xmlns:a="http://schemas.openxmlformats.org/drawingml/2006/main">
              <a:ext uri="{FF2B5EF4-FFF2-40B4-BE49-F238E27FC236}">
                <a16:creationId xmlns:a16="http://schemas.microsoft.com/office/drawing/2014/main" id="{B8D75941-BBC2-4813-A867-3514688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98064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30" name="STC-18-knee-checks-dot-2">
            <a:extLst xmlns:a="http://schemas.openxmlformats.org/drawingml/2006/main">
              <a:ext uri="{FF2B5EF4-FFF2-40B4-BE49-F238E27FC236}">
                <a16:creationId xmlns:a16="http://schemas.microsoft.com/office/drawing/2014/main" id="{66418C93-8F2D-46E2-9FD7-A0EA74B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655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8-knee-checks-item-2">
            <a:extLst xmlns:a="http://schemas.openxmlformats.org/drawingml/2006/main">
              <a:ext uri="{FF2B5EF4-FFF2-40B4-BE49-F238E27FC236}">
                <a16:creationId xmlns:a16="http://schemas.microsoft.com/office/drawing/2014/main" id="{1288401D-2643-4F1E-9987-2A81D7D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55848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COMPACTION</a:t>
            </a:r>
          </a:p>
        </p:txBody>
      </p:sp>
      <p:sp>
        <p:nvSpPr>
          <p:cNvPr id="32" name="STC-18-knee-checks-dot-3">
            <a:extLst xmlns:a="http://schemas.openxmlformats.org/drawingml/2006/main">
              <a:ext uri="{FF2B5EF4-FFF2-40B4-BE49-F238E27FC236}">
                <a16:creationId xmlns:a16="http://schemas.microsoft.com/office/drawing/2014/main" id="{DCAC003D-887C-4D38-9EDF-160C916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233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3" name="STC-18-knee-checks-item-3">
            <a:extLst xmlns:a="http://schemas.openxmlformats.org/drawingml/2006/main">
              <a:ext uri="{FF2B5EF4-FFF2-40B4-BE49-F238E27FC236}">
                <a16:creationId xmlns:a16="http://schemas.microsoft.com/office/drawing/2014/main" id="{E51C09CD-2212-4C58-8553-16C319C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13632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KNEE</a:t>
            </a:r>
          </a:p>
        </p:txBody>
      </p:sp>
      <p:sp>
        <p:nvSpPr>
          <p:cNvPr id="34" name="STC-18-knee-checks-dot-4">
            <a:extLst xmlns:a="http://schemas.openxmlformats.org/drawingml/2006/main">
              <a:ext uri="{FF2B5EF4-FFF2-40B4-BE49-F238E27FC236}">
                <a16:creationId xmlns:a16="http://schemas.microsoft.com/office/drawing/2014/main" id="{5919D9A1-A06F-4CAC-A455-916E57B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811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5" name="STC-18-knee-checks-item-4">
            <a:extLst xmlns:a="http://schemas.openxmlformats.org/drawingml/2006/main">
              <a:ext uri="{FF2B5EF4-FFF2-40B4-BE49-F238E27FC236}">
                <a16:creationId xmlns:a16="http://schemas.microsoft.com/office/drawing/2014/main" id="{D63F0508-B06F-4B5B-B222-9758774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471416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LOAD</a:t>
            </a:r>
          </a:p>
        </p:txBody>
      </p:sp>
      <p:sp>
        <p:nvSpPr>
          <p:cNvPr id="36" name="STC-18-knee-unidentified">
            <a:extLst xmlns:a="http://schemas.openxmlformats.org/drawingml/2006/main">
              <a:ext uri="{FF2B5EF4-FFF2-40B4-BE49-F238E27FC236}">
                <a16:creationId xmlns:a16="http://schemas.microsoft.com/office/drawing/2014/main" id="{2A3895EC-67C0-4742-BF11-ED63DC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230368"/>
            <a:ext cx="2706624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7" name="STC-18-knee-unidentified-text">
            <a:extLst xmlns:a="http://schemas.openxmlformats.org/drawingml/2006/main">
              <a:ext uri="{FF2B5EF4-FFF2-40B4-BE49-F238E27FC236}">
                <a16:creationId xmlns:a16="http://schemas.microsoft.com/office/drawing/2014/main" id="{3790EDB7-E6C9-4F80-B319-618B982E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404104"/>
            <a:ext cx="2432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Static memorization capacity는 lifelong safe capacity가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7168167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5-section">
            <a:extLst xmlns:a="http://schemas.openxmlformats.org/drawingml/2006/main">
              <a:ext uri="{FF2B5EF4-FFF2-40B4-BE49-F238E27FC236}">
                <a16:creationId xmlns:a16="http://schemas.microsoft.com/office/drawing/2014/main" id="{049E2E5D-0D50-4838-B45C-AD767CEE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TRAINING PRIMER</a:t>
            </a:r>
          </a:p>
        </p:txBody>
      </p:sp>
      <p:sp>
        <p:nvSpPr>
          <p:cNvPr id="3" name="STC-25-slide-id">
            <a:extLst xmlns:a="http://schemas.openxmlformats.org/drawingml/2006/main">
              <a:ext uri="{FF2B5EF4-FFF2-40B4-BE49-F238E27FC236}">
                <a16:creationId xmlns:a16="http://schemas.microsoft.com/office/drawing/2014/main" id="{4348DAE7-5788-43B0-9E7A-199C7AD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STC-020</a:t>
            </a:r>
          </a:p>
        </p:txBody>
      </p:sp>
      <p:sp>
        <p:nvSpPr>
          <p:cNvPr id="4" name="STC-25-headline">
            <a:extLst xmlns:a="http://schemas.openxmlformats.org/drawingml/2006/main">
              <a:ext uri="{FF2B5EF4-FFF2-40B4-BE49-F238E27FC236}">
                <a16:creationId xmlns:a16="http://schemas.microsoft.com/office/drawing/2014/main" id="{FC29B482-7EB9-4508-A905-F9999A5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Background paper는 mechanism을 읽기 위한 공통 언어다</a:t>
            </a:r>
          </a:p>
        </p:txBody>
      </p:sp>
      <p:sp>
        <p:nvSpPr>
          <p:cNvPr id="5" name="STC-25-status-label">
            <a:extLst xmlns:a="http://schemas.openxmlformats.org/drawingml/2006/main">
              <a:ext uri="{FF2B5EF4-FFF2-40B4-BE49-F238E27FC236}">
                <a16:creationId xmlns:a16="http://schemas.microsoft.com/office/drawing/2014/main" id="{09A505F5-90BF-4E26-987E-DF54012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안내</a:t>
            </a:r>
          </a:p>
        </p:txBody>
      </p:sp>
      <p:sp>
        <p:nvSpPr>
          <p:cNvPr id="6" name="STC-25-status-rule">
            <a:extLst xmlns:a="http://schemas.openxmlformats.org/drawingml/2006/main">
              <a:ext uri="{FF2B5EF4-FFF2-40B4-BE49-F238E27FC236}">
                <a16:creationId xmlns:a16="http://schemas.microsoft.com/office/drawing/2014/main" id="{DDD5E461-CB40-4D83-A314-159A1CAD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5-footer-rule">
            <a:extLst xmlns:a="http://schemas.openxmlformats.org/drawingml/2006/main">
              <a:ext uri="{FF2B5EF4-FFF2-40B4-BE49-F238E27FC236}">
                <a16:creationId xmlns:a16="http://schemas.microsoft.com/office/drawing/2014/main" id="{DC46E1C1-1417-4393-B3E0-A005890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5-source-footer">
            <a:extLst xmlns:a="http://schemas.openxmlformats.org/drawingml/2006/main">
              <a:ext uri="{FF2B5EF4-FFF2-40B4-BE49-F238E27FC236}">
                <a16:creationId xmlns:a16="http://schemas.microsoft.com/office/drawing/2014/main" id="{4360FC86-1290-4412-9688-C5E5F44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Training Background 57 pages</a:t>
            </a:r>
          </a:p>
        </p:txBody>
      </p:sp>
      <p:sp>
        <p:nvSpPr>
          <p:cNvPr id="9" name="STC-25-page-number">
            <a:extLst xmlns:a="http://schemas.openxmlformats.org/drawingml/2006/main">
              <a:ext uri="{FF2B5EF4-FFF2-40B4-BE49-F238E27FC236}">
                <a16:creationId xmlns:a16="http://schemas.microsoft.com/office/drawing/2014/main" id="{7E2FECCD-762F-41E7-A1C3-6893B70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20</a:t>
            </a:r>
          </a:p>
        </p:txBody>
      </p:sp>
      <p:sp>
        <p:nvSpPr>
          <p:cNvPr id="11" name="STC-25-road-num-0">
            <a:extLst xmlns:a="http://schemas.openxmlformats.org/drawingml/2006/main">
              <a:ext uri="{FF2B5EF4-FFF2-40B4-BE49-F238E27FC236}">
                <a16:creationId xmlns:a16="http://schemas.microsoft.com/office/drawing/2014/main" id="{EA0FB00B-159D-4A35-981A-68B2506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B1 · data·forward·loss·gradient·optimizer</a:t>
            </a:r>
          </a:p>
        </p:txBody>
      </p:sp>
      <p:sp>
        <p:nvSpPr>
          <p:cNvPr id="12" name="STC-25-road-rule-0">
            <a:extLst xmlns:a="http://schemas.openxmlformats.org/drawingml/2006/main">
              <a:ext uri="{FF2B5EF4-FFF2-40B4-BE49-F238E27FC236}">
                <a16:creationId xmlns:a16="http://schemas.microsoft.com/office/drawing/2014/main" id="{3ED24062-9081-4484-9D76-97AE4EB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5-road-tag-0">
            <a:extLst xmlns:a="http://schemas.openxmlformats.org/drawingml/2006/main">
              <a:ext uri="{FF2B5EF4-FFF2-40B4-BE49-F238E27FC236}">
                <a16:creationId xmlns:a16="http://schemas.microsoft.com/office/drawing/2014/main" id="{CE0189C8-687D-4B49-BF34-BFF1AA5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B1</a:t>
            </a:r>
          </a:p>
        </p:txBody>
      </p:sp>
      <p:sp>
        <p:nvSpPr>
          <p:cNvPr id="14" name="STC-25-road-body-0">
            <a:extLst xmlns:a="http://schemas.openxmlformats.org/drawingml/2006/main">
              <a:ext uri="{FF2B5EF4-FFF2-40B4-BE49-F238E27FC236}">
                <a16:creationId xmlns:a16="http://schemas.microsoft.com/office/drawing/2014/main" id="{9E957574-379F-46E9-82B3-E439207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data·forward·loss·gradient·optimizer</a:t>
            </a:r>
          </a:p>
        </p:txBody>
      </p:sp>
      <p:sp>
        <p:nvSpPr>
          <p:cNvPr id="15" name="STC-25-road-arrow-0">
            <a:extLst xmlns:a="http://schemas.openxmlformats.org/drawingml/2006/main">
              <a:ext uri="{FF2B5EF4-FFF2-40B4-BE49-F238E27FC236}">
                <a16:creationId xmlns:a16="http://schemas.microsoft.com/office/drawing/2014/main" id="{C193FB53-EB20-433A-B251-90CF225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25-road-num-1">
            <a:extLst xmlns:a="http://schemas.openxmlformats.org/drawingml/2006/main">
              <a:ext uri="{FF2B5EF4-FFF2-40B4-BE49-F238E27FC236}">
                <a16:creationId xmlns:a16="http://schemas.microsoft.com/office/drawing/2014/main" id="{1366A155-10D9-4EB3-83FD-19D04F00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B2 · fine-tuning·PEFT·LoRA·distillation</a:t>
            </a:r>
          </a:p>
        </p:txBody>
      </p:sp>
      <p:sp>
        <p:nvSpPr>
          <p:cNvPr id="17" name="STC-25-road-rule-1">
            <a:extLst xmlns:a="http://schemas.openxmlformats.org/drawingml/2006/main">
              <a:ext uri="{FF2B5EF4-FFF2-40B4-BE49-F238E27FC236}">
                <a16:creationId xmlns:a16="http://schemas.microsoft.com/office/drawing/2014/main" id="{C52D962A-822B-4075-96A0-F606A60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18" name="STC-25-road-tag-1">
            <a:extLst xmlns:a="http://schemas.openxmlformats.org/drawingml/2006/main">
              <a:ext uri="{FF2B5EF4-FFF2-40B4-BE49-F238E27FC236}">
                <a16:creationId xmlns:a16="http://schemas.microsoft.com/office/drawing/2014/main" id="{3F3AF545-DB09-42D1-A05F-4850083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B2</a:t>
            </a:r>
          </a:p>
        </p:txBody>
      </p:sp>
      <p:sp>
        <p:nvSpPr>
          <p:cNvPr id="19" name="STC-25-road-body-1">
            <a:extLst xmlns:a="http://schemas.openxmlformats.org/drawingml/2006/main">
              <a:ext uri="{FF2B5EF4-FFF2-40B4-BE49-F238E27FC236}">
                <a16:creationId xmlns:a16="http://schemas.microsoft.com/office/drawing/2014/main" id="{D24656B1-A6BF-4273-A8E5-9530D62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fine-tuning·PEFT·LoRA·distillation</a:t>
            </a:r>
          </a:p>
        </p:txBody>
      </p:sp>
      <p:sp>
        <p:nvSpPr>
          <p:cNvPr id="20" name="STC-25-road-arrow-1">
            <a:extLst xmlns:a="http://schemas.openxmlformats.org/drawingml/2006/main">
              <a:ext uri="{FF2B5EF4-FFF2-40B4-BE49-F238E27FC236}">
                <a16:creationId xmlns:a16="http://schemas.microsoft.com/office/drawing/2014/main" id="{C3F76C60-D9D3-48AA-AE43-A90E223B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25-road-num-2">
            <a:extLst xmlns:a="http://schemas.openxmlformats.org/drawingml/2006/main">
              <a:ext uri="{FF2B5EF4-FFF2-40B4-BE49-F238E27FC236}">
                <a16:creationId xmlns:a16="http://schemas.microsoft.com/office/drawing/2014/main" id="{FFE111E6-B567-483E-B154-8C22B2BA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B3 · replay·augmentation·continual learning</a:t>
            </a:r>
          </a:p>
        </p:txBody>
      </p:sp>
      <p:sp>
        <p:nvSpPr>
          <p:cNvPr id="22" name="STC-25-road-rule-2">
            <a:extLst xmlns:a="http://schemas.openxmlformats.org/drawingml/2006/main">
              <a:ext uri="{FF2B5EF4-FFF2-40B4-BE49-F238E27FC236}">
                <a16:creationId xmlns:a16="http://schemas.microsoft.com/office/drawing/2014/main" id="{0B2F0B31-EB2B-4152-9D0F-B00C524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25-road-tag-2">
            <a:extLst xmlns:a="http://schemas.openxmlformats.org/drawingml/2006/main">
              <a:ext uri="{FF2B5EF4-FFF2-40B4-BE49-F238E27FC236}">
                <a16:creationId xmlns:a16="http://schemas.microsoft.com/office/drawing/2014/main" id="{12904B6F-472F-4285-A867-B9F04289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B3</a:t>
            </a:r>
          </a:p>
        </p:txBody>
      </p:sp>
      <p:sp>
        <p:nvSpPr>
          <p:cNvPr id="24" name="STC-25-road-body-2">
            <a:extLst xmlns:a="http://schemas.openxmlformats.org/drawingml/2006/main">
              <a:ext uri="{FF2B5EF4-FFF2-40B4-BE49-F238E27FC236}">
                <a16:creationId xmlns:a16="http://schemas.microsoft.com/office/drawing/2014/main" id="{C6ABE3D5-C69F-4FC4-B164-6327DF7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replay·augmentation·continual learning</a:t>
            </a:r>
          </a:p>
        </p:txBody>
      </p:sp>
      <p:sp>
        <p:nvSpPr>
          <p:cNvPr id="25" name="STC-25-road-arrow-2">
            <a:extLst xmlns:a="http://schemas.openxmlformats.org/drawingml/2006/main">
              <a:ext uri="{FF2B5EF4-FFF2-40B4-BE49-F238E27FC236}">
                <a16:creationId xmlns:a16="http://schemas.microsoft.com/office/drawing/2014/main" id="{5393879F-E1A2-4DCD-9C7F-3361CDD6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5-road-num-3">
            <a:extLst xmlns:a="http://schemas.openxmlformats.org/drawingml/2006/main">
              <a:ext uri="{FF2B5EF4-FFF2-40B4-BE49-F238E27FC236}">
                <a16:creationId xmlns:a16="http://schemas.microsoft.com/office/drawing/2014/main" id="{105D7074-5B40-44AE-A3DE-1DB143F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B4 · RL·reward·credit assignment</a:t>
            </a:r>
          </a:p>
        </p:txBody>
      </p:sp>
      <p:sp>
        <p:nvSpPr>
          <p:cNvPr id="27" name="STC-25-road-rule-3">
            <a:extLst xmlns:a="http://schemas.openxmlformats.org/drawingml/2006/main">
              <a:ext uri="{FF2B5EF4-FFF2-40B4-BE49-F238E27FC236}">
                <a16:creationId xmlns:a16="http://schemas.microsoft.com/office/drawing/2014/main" id="{C5A89D75-EB36-4D47-BBA7-4FD618A9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28" name="STC-25-road-tag-3">
            <a:extLst xmlns:a="http://schemas.openxmlformats.org/drawingml/2006/main">
              <a:ext uri="{FF2B5EF4-FFF2-40B4-BE49-F238E27FC236}">
                <a16:creationId xmlns:a16="http://schemas.microsoft.com/office/drawing/2014/main" id="{60562162-26E4-4F17-B95A-8635F5E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B4</a:t>
            </a:r>
          </a:p>
        </p:txBody>
      </p:sp>
      <p:sp>
        <p:nvSpPr>
          <p:cNvPr id="29" name="STC-25-road-body-3">
            <a:extLst xmlns:a="http://schemas.openxmlformats.org/drawingml/2006/main">
              <a:ext uri="{FF2B5EF4-FFF2-40B4-BE49-F238E27FC236}">
                <a16:creationId xmlns:a16="http://schemas.microsoft.com/office/drawing/2014/main" id="{36B2A195-012C-4267-AD10-D1A3C98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RL·reward·credit assignment</a:t>
            </a:r>
          </a:p>
        </p:txBody>
      </p:sp>
      <p:sp>
        <p:nvSpPr>
          <p:cNvPr id="30" name="STC-25-road-arrow-3">
            <a:extLst xmlns:a="http://schemas.openxmlformats.org/drawingml/2006/main">
              <a:ext uri="{FF2B5EF4-FFF2-40B4-BE49-F238E27FC236}">
                <a16:creationId xmlns:a16="http://schemas.microsoft.com/office/drawing/2014/main" id="{396E2121-B77E-4C00-95EF-90C7208C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1" name="STC-25-road-num-4">
            <a:extLst xmlns:a="http://schemas.openxmlformats.org/drawingml/2006/main">
              <a:ext uri="{FF2B5EF4-FFF2-40B4-BE49-F238E27FC236}">
                <a16:creationId xmlns:a16="http://schemas.microsoft.com/office/drawing/2014/main" id="{8B898DB3-B976-4CEC-9AC5-2F11C3F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B5 · systems·version·rollback·observability</a:t>
            </a:r>
          </a:p>
        </p:txBody>
      </p:sp>
      <p:sp>
        <p:nvSpPr>
          <p:cNvPr id="32" name="STC-25-road-rule-4">
            <a:extLst xmlns:a="http://schemas.openxmlformats.org/drawingml/2006/main">
              <a:ext uri="{FF2B5EF4-FFF2-40B4-BE49-F238E27FC236}">
                <a16:creationId xmlns:a16="http://schemas.microsoft.com/office/drawing/2014/main" id="{F79D1670-C2ED-4E70-B50F-566D8872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33" name="STC-25-road-tag-4">
            <a:extLst xmlns:a="http://schemas.openxmlformats.org/drawingml/2006/main">
              <a:ext uri="{FF2B5EF4-FFF2-40B4-BE49-F238E27FC236}">
                <a16:creationId xmlns:a16="http://schemas.microsoft.com/office/drawing/2014/main" id="{CA5E38F6-BF8F-4DAC-AAF7-AE4E0197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B5</a:t>
            </a:r>
          </a:p>
        </p:txBody>
      </p:sp>
      <p:sp>
        <p:nvSpPr>
          <p:cNvPr id="34" name="STC-25-road-body-4">
            <a:extLst xmlns:a="http://schemas.openxmlformats.org/drawingml/2006/main">
              <a:ext uri="{FF2B5EF4-FFF2-40B4-BE49-F238E27FC236}">
                <a16:creationId xmlns:a16="http://schemas.microsoft.com/office/drawing/2014/main" id="{15F9F674-BB55-4C2D-9585-F5C5B160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systems·version·rollback·observability</a:t>
            </a:r>
          </a:p>
        </p:txBody>
      </p:sp>
      <p:sp>
        <p:nvSpPr>
          <p:cNvPr id="35" name="STC-25-road-arrow-4">
            <a:extLst xmlns:a="http://schemas.openxmlformats.org/drawingml/2006/main">
              <a:ext uri="{FF2B5EF4-FFF2-40B4-BE49-F238E27FC236}">
                <a16:creationId xmlns:a16="http://schemas.microsoft.com/office/drawing/2014/main" id="{E3F14D04-9484-4BA2-AB65-DF8BED7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6" name="STC-25-road-num-5">
            <a:extLst xmlns:a="http://schemas.openxmlformats.org/drawingml/2006/main">
              <a:ext uri="{FF2B5EF4-FFF2-40B4-BE49-F238E27FC236}">
                <a16:creationId xmlns:a16="http://schemas.microsoft.com/office/drawing/2014/main" id="{3AE88054-0F8F-42A7-A1C6-F08361B6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B1 · data·forward·loss·gradient·optimizer</a:t>
            </a:r>
          </a:p>
        </p:txBody>
      </p:sp>
      <p:sp>
        <p:nvSpPr>
          <p:cNvPr id="37" name="STC-25-road-rule-5">
            <a:extLst xmlns:a="http://schemas.openxmlformats.org/drawingml/2006/main">
              <a:ext uri="{FF2B5EF4-FFF2-40B4-BE49-F238E27FC236}">
                <a16:creationId xmlns:a16="http://schemas.microsoft.com/office/drawing/2014/main" id="{34FCA0CE-DE60-4554-87B0-1BE8522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38" name="STC-25-road-tag-5">
            <a:extLst xmlns:a="http://schemas.openxmlformats.org/drawingml/2006/main">
              <a:ext uri="{FF2B5EF4-FFF2-40B4-BE49-F238E27FC236}">
                <a16:creationId xmlns:a16="http://schemas.microsoft.com/office/drawing/2014/main" id="{16A2C964-3CCE-482C-BED5-56E7F753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B1</a:t>
            </a:r>
          </a:p>
        </p:txBody>
      </p:sp>
      <p:sp>
        <p:nvSpPr>
          <p:cNvPr id="39" name="STC-25-road-body-5">
            <a:extLst xmlns:a="http://schemas.openxmlformats.org/drawingml/2006/main">
              <a:ext uri="{FF2B5EF4-FFF2-40B4-BE49-F238E27FC236}">
                <a16:creationId xmlns:a16="http://schemas.microsoft.com/office/drawing/2014/main" id="{3553BE49-C1EE-4D75-AD69-DAE9A4A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data·forward·loss·gradient·optimizer</a:t>
            </a:r>
          </a:p>
        </p:txBody>
      </p:sp>
      <p:sp>
        <p:nvSpPr>
          <p:cNvPr id="40" name="STC-25-road-paper">
            <a:extLst xmlns:a="http://schemas.openxmlformats.org/drawingml/2006/main">
              <a:ext uri="{FF2B5EF4-FFF2-40B4-BE49-F238E27FC236}">
                <a16:creationId xmlns:a16="http://schemas.microsoft.com/office/drawing/2014/main" id="{A4843479-3B86-41C4-BF58-A226D86A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416552"/>
            <a:ext cx="97383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1" name="STC-25-road-paper-label">
            <a:extLst xmlns:a="http://schemas.openxmlformats.org/drawingml/2006/main">
              <a:ext uri="{FF2B5EF4-FFF2-40B4-BE49-F238E27FC236}">
                <a16:creationId xmlns:a16="http://schemas.microsoft.com/office/drawing/2014/main" id="{757E56D7-EC75-43C5-828A-C88D7B2F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9943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B1</a:t>
            </a:r>
          </a:p>
        </p:txBody>
      </p:sp>
      <p:sp>
        <p:nvSpPr>
          <p:cNvPr id="42" name="STC-25-road-paper-text">
            <a:extLst xmlns:a="http://schemas.openxmlformats.org/drawingml/2006/main">
              <a:ext uri="{FF2B5EF4-FFF2-40B4-BE49-F238E27FC236}">
                <a16:creationId xmlns:a16="http://schemas.microsoft.com/office/drawing/2014/main" id="{A628D630-7323-4B30-A57D-D9F399F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4590288"/>
            <a:ext cx="6995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모든 training 용어는 PDF named destination으로 연결되어 있다.</a:t>
            </a:r>
          </a:p>
        </p:txBody>
      </p:sp>
      <p:sp>
        <p:nvSpPr>
          <p:cNvPr id="43" name="STC-25-road-status">
            <a:extLst xmlns:a="http://schemas.openxmlformats.org/drawingml/2006/main">
              <a:ext uri="{FF2B5EF4-FFF2-40B4-BE49-F238E27FC236}">
                <a16:creationId xmlns:a16="http://schemas.microsoft.com/office/drawing/2014/main" id="{F8818137-BEB1-4628-9FDC-4280214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5614416"/>
            <a:ext cx="6291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89299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STC-021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Long context는 작업대이지 장기기억 lifecycle이 아니다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문제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STC-S04 · STC-C026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21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READ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WRITE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COST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GOVERN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Context capacity ≠ durable memory policy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선택한 evidence를 한 request에서 깊게 읽음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READ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Context가 커져도 admission·conflict·staleness·deletion은 남는다.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durable update·merge·delete는 별도 문제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4-section">
            <a:extLst xmlns:a="http://schemas.openxmlformats.org/drawingml/2006/main">
              <a:ext uri="{FF2B5EF4-FFF2-40B4-BE49-F238E27FC236}">
                <a16:creationId xmlns:a16="http://schemas.microsoft.com/office/drawing/2014/main" id="{DA8438B1-2F55-45B8-8A7D-DA7D25D5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14-slide-id">
            <a:extLst xmlns:a="http://schemas.openxmlformats.org/drawingml/2006/main">
              <a:ext uri="{FF2B5EF4-FFF2-40B4-BE49-F238E27FC236}">
                <a16:creationId xmlns:a16="http://schemas.microsoft.com/office/drawing/2014/main" id="{47915ABC-756B-46D8-8D62-110BAAA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STC-022</a:t>
            </a:r>
          </a:p>
        </p:txBody>
      </p:sp>
      <p:sp>
        <p:nvSpPr>
          <p:cNvPr id="4" name="STC-14-headline">
            <a:extLst xmlns:a="http://schemas.openxmlformats.org/drawingml/2006/main">
              <a:ext uri="{FF2B5EF4-FFF2-40B4-BE49-F238E27FC236}">
                <a16:creationId xmlns:a16="http://schemas.microsoft.com/office/drawing/2014/main" id="{90A5E8FC-2D8D-49F1-9E66-FBA835E2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Canonical truth와 compiled memory를 분리해야 한다</a:t>
            </a:r>
          </a:p>
        </p:txBody>
      </p:sp>
      <p:sp>
        <p:nvSpPr>
          <p:cNvPr id="5" name="STC-14-status-label">
            <a:extLst xmlns:a="http://schemas.openxmlformats.org/drawingml/2006/main">
              <a:ext uri="{FF2B5EF4-FFF2-40B4-BE49-F238E27FC236}">
                <a16:creationId xmlns:a16="http://schemas.microsoft.com/office/drawing/2014/main" id="{3A48F401-57D0-478E-955B-CD29AFD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통합 추론</a:t>
            </a:r>
          </a:p>
        </p:txBody>
      </p:sp>
      <p:sp>
        <p:nvSpPr>
          <p:cNvPr id="6" name="STC-14-status-rule">
            <a:extLst xmlns:a="http://schemas.openxmlformats.org/drawingml/2006/main">
              <a:ext uri="{FF2B5EF4-FFF2-40B4-BE49-F238E27FC236}">
                <a16:creationId xmlns:a16="http://schemas.microsoft.com/office/drawing/2014/main" id="{471D35A8-BD6E-4945-87E7-764B15C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4-footer-rule">
            <a:extLst xmlns:a="http://schemas.openxmlformats.org/drawingml/2006/main">
              <a:ext uri="{FF2B5EF4-FFF2-40B4-BE49-F238E27FC236}">
                <a16:creationId xmlns:a16="http://schemas.microsoft.com/office/drawing/2014/main" id="{8E85B6D7-7C35-4E17-A7F7-485AA5F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4-source-footer">
            <a:extLst xmlns:a="http://schemas.openxmlformats.org/drawingml/2006/main">
              <a:ext uri="{FF2B5EF4-FFF2-40B4-BE49-F238E27FC236}">
                <a16:creationId xmlns:a16="http://schemas.microsoft.com/office/drawing/2014/main" id="{797170F9-3103-4DC3-9F52-2B5C3926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STC-C040/C046</a:t>
            </a:r>
          </a:p>
        </p:txBody>
      </p:sp>
      <p:sp>
        <p:nvSpPr>
          <p:cNvPr id="9" name="STC-14-page-number">
            <a:extLst xmlns:a="http://schemas.openxmlformats.org/drawingml/2006/main">
              <a:ext uri="{FF2B5EF4-FFF2-40B4-BE49-F238E27FC236}">
                <a16:creationId xmlns:a16="http://schemas.microsoft.com/office/drawing/2014/main" id="{DACEB5B9-650E-4BA4-A150-AB4C20D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22</a:t>
            </a:r>
          </a:p>
        </p:txBody>
      </p:sp>
      <p:sp>
        <p:nvSpPr>
          <p:cNvPr id="11" name="STC-14-destination-diagonal">
            <a:extLst xmlns:a="http://schemas.openxmlformats.org/drawingml/2006/main">
              <a:ext uri="{FF2B5EF4-FFF2-40B4-BE49-F238E27FC236}">
                <a16:creationId xmlns:a16="http://schemas.microsoft.com/office/drawing/2014/main" id="{DB699066-7866-4B0E-8329-670ACF3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0120" y="2386584"/>
            <a:ext cx="10149840" cy="15179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4-dest-point-0">
            <a:extLst xmlns:a="http://schemas.openxmlformats.org/drawingml/2006/main">
              <a:ext uri="{FF2B5EF4-FFF2-40B4-BE49-F238E27FC236}">
                <a16:creationId xmlns:a16="http://schemas.microsoft.com/office/drawing/2014/main" id="{AB37E70A-44C0-4806-8860-C98B016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22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3" name="STC-14-dest-label-0">
            <a:extLst xmlns:a="http://schemas.openxmlformats.org/drawingml/2006/main">
              <a:ext uri="{FF2B5EF4-FFF2-40B4-BE49-F238E27FC236}">
                <a16:creationId xmlns:a16="http://schemas.microsoft.com/office/drawing/2014/main" id="{6EDA5268-B847-45C1-9332-FFF90424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0040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EVENT</a:t>
            </a:r>
          </a:p>
        </p:txBody>
      </p:sp>
      <p:sp>
        <p:nvSpPr>
          <p:cNvPr id="14" name="STC-14-dest-sub-0">
            <a:extLst xmlns:a="http://schemas.openxmlformats.org/drawingml/2006/main">
              <a:ext uri="{FF2B5EF4-FFF2-40B4-BE49-F238E27FC236}">
                <a16:creationId xmlns:a16="http://schemas.microsoft.com/office/drawing/2014/main" id="{98FBF89E-FDE0-44FC-996D-986B659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7939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EVENT · 원 episode와 consent가 authoritative</a:t>
            </a:r>
          </a:p>
        </p:txBody>
      </p:sp>
      <p:sp>
        <p:nvSpPr>
          <p:cNvPr id="15" name="STC-14-dest-point-1">
            <a:extLst xmlns:a="http://schemas.openxmlformats.org/drawingml/2006/main">
              <a:ext uri="{FF2B5EF4-FFF2-40B4-BE49-F238E27FC236}">
                <a16:creationId xmlns:a16="http://schemas.microsoft.com/office/drawing/2014/main" id="{23B7C88D-3F7C-447F-A35E-70F8894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2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6" name="STC-14-dest-label-1">
            <a:extLst xmlns:a="http://schemas.openxmlformats.org/drawingml/2006/main">
              <a:ext uri="{FF2B5EF4-FFF2-40B4-BE49-F238E27FC236}">
                <a16:creationId xmlns:a16="http://schemas.microsoft.com/office/drawing/2014/main" id="{DE93178E-4F7B-4289-BEC1-F42AD8C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8036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GRAPH</a:t>
            </a:r>
          </a:p>
        </p:txBody>
      </p:sp>
      <p:sp>
        <p:nvSpPr>
          <p:cNvPr id="17" name="STC-14-dest-sub-1">
            <a:extLst xmlns:a="http://schemas.openxmlformats.org/drawingml/2006/main">
              <a:ext uri="{FF2B5EF4-FFF2-40B4-BE49-F238E27FC236}">
                <a16:creationId xmlns:a16="http://schemas.microsoft.com/office/drawing/2014/main" id="{3B7A1125-E17F-466C-AE46-661F4F9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95935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GRAPH · time/version conflict를 구조화</a:t>
            </a:r>
          </a:p>
        </p:txBody>
      </p:sp>
      <p:sp>
        <p:nvSpPr>
          <p:cNvPr id="18" name="STC-14-dest-point-2">
            <a:extLst xmlns:a="http://schemas.openxmlformats.org/drawingml/2006/main">
              <a:ext uri="{FF2B5EF4-FFF2-40B4-BE49-F238E27FC236}">
                <a16:creationId xmlns:a16="http://schemas.microsoft.com/office/drawing/2014/main" id="{1C486B29-C327-492C-A867-F3528D6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63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14-dest-label-2">
            <a:extLst xmlns:a="http://schemas.openxmlformats.org/drawingml/2006/main">
              <a:ext uri="{FF2B5EF4-FFF2-40B4-BE49-F238E27FC236}">
                <a16:creationId xmlns:a16="http://schemas.microsoft.com/office/drawing/2014/main" id="{5AD0AF39-765F-41F0-A874-827B57C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542032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CACHE</a:t>
            </a:r>
          </a:p>
        </p:txBody>
      </p:sp>
      <p:sp>
        <p:nvSpPr>
          <p:cNvPr id="20" name="STC-14-dest-sub-2">
            <a:extLst xmlns:a="http://schemas.openxmlformats.org/drawingml/2006/main">
              <a:ext uri="{FF2B5EF4-FFF2-40B4-BE49-F238E27FC236}">
                <a16:creationId xmlns:a16="http://schemas.microsoft.com/office/drawing/2014/main" id="{FAFD9E53-DC97-4E02-935E-43C0113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21024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CACHE · retrieval·state를 재사용</a:t>
            </a:r>
          </a:p>
        </p:txBody>
      </p:sp>
      <p:sp>
        <p:nvSpPr>
          <p:cNvPr id="21" name="STC-14-dest-point-3">
            <a:extLst xmlns:a="http://schemas.openxmlformats.org/drawingml/2006/main">
              <a:ext uri="{FF2B5EF4-FFF2-40B4-BE49-F238E27FC236}">
                <a16:creationId xmlns:a16="http://schemas.microsoft.com/office/drawing/2014/main" id="{81BD56DE-5374-47E6-85A0-8F68AFB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4-dest-label-3">
            <a:extLst xmlns:a="http://schemas.openxmlformats.org/drawingml/2006/main">
              <a:ext uri="{FF2B5EF4-FFF2-40B4-BE49-F238E27FC236}">
                <a16:creationId xmlns:a16="http://schemas.microsoft.com/office/drawing/2014/main" id="{16BB544F-1EC5-481A-AF8B-75D2F18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2848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ADAPTER</a:t>
            </a:r>
          </a:p>
        </p:txBody>
      </p:sp>
      <p:sp>
        <p:nvSpPr>
          <p:cNvPr id="23" name="STC-14-dest-sub-3">
            <a:extLst xmlns:a="http://schemas.openxmlformats.org/drawingml/2006/main">
              <a:ext uri="{FF2B5EF4-FFF2-40B4-BE49-F238E27FC236}">
                <a16:creationId xmlns:a16="http://schemas.microsoft.com/office/drawing/2014/main" id="{3C1968AF-3020-4EF5-9FFC-B8A8397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184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ADAPTER · 고빈도 stable pattern만 compile</a:t>
            </a:r>
          </a:p>
        </p:txBody>
      </p:sp>
      <p:sp>
        <p:nvSpPr>
          <p:cNvPr id="24" name="STC-14-dest-point-4">
            <a:extLst xmlns:a="http://schemas.openxmlformats.org/drawingml/2006/main">
              <a:ext uri="{FF2B5EF4-FFF2-40B4-BE49-F238E27FC236}">
                <a16:creationId xmlns:a16="http://schemas.microsoft.com/office/drawing/2014/main" id="{FCACEA6F-573E-4989-905D-AF11172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14-dest-label-4">
            <a:extLst xmlns:a="http://schemas.openxmlformats.org/drawingml/2006/main">
              <a:ext uri="{FF2B5EF4-FFF2-40B4-BE49-F238E27FC236}">
                <a16:creationId xmlns:a16="http://schemas.microsoft.com/office/drawing/2014/main" id="{2679C120-1B1E-4E92-A950-B2B7C5F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883664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WEIGHT</a:t>
            </a:r>
          </a:p>
        </p:txBody>
      </p:sp>
      <p:sp>
        <p:nvSpPr>
          <p:cNvPr id="26" name="STC-14-dest-sub-4">
            <a:extLst xmlns:a="http://schemas.openxmlformats.org/drawingml/2006/main">
              <a:ext uri="{FF2B5EF4-FFF2-40B4-BE49-F238E27FC236}">
                <a16:creationId xmlns:a16="http://schemas.microsoft.com/office/drawing/2014/main" id="{7218E91C-0DE3-461B-AD20-8837463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962656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WEIGHT · shared model은 가장 느린 promotion</a:t>
            </a:r>
          </a:p>
        </p:txBody>
      </p:sp>
      <p:sp>
        <p:nvSpPr>
          <p:cNvPr id="27" name="STC-14-dest-left-axis">
            <a:extLst xmlns:a="http://schemas.openxmlformats.org/drawingml/2006/main">
              <a:ext uri="{FF2B5EF4-FFF2-40B4-BE49-F238E27FC236}">
                <a16:creationId xmlns:a16="http://schemas.microsoft.com/office/drawing/2014/main" id="{D6DDF594-2A5A-4772-AC3B-C477225C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01184"/>
            <a:ext cx="34015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원 episode와 consent가 authoritative</a:t>
            </a:r>
          </a:p>
        </p:txBody>
      </p:sp>
      <p:sp>
        <p:nvSpPr>
          <p:cNvPr id="28" name="STC-14-dest-right-axis">
            <a:extLst xmlns:a="http://schemas.openxmlformats.org/drawingml/2006/main">
              <a:ext uri="{FF2B5EF4-FFF2-40B4-BE49-F238E27FC236}">
                <a16:creationId xmlns:a16="http://schemas.microsoft.com/office/drawing/2014/main" id="{E90EDB08-B102-40A7-878A-3990D89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554480"/>
            <a:ext cx="38130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time/version conflict를 구조화</a:t>
            </a:r>
          </a:p>
        </p:txBody>
      </p:sp>
      <p:sp>
        <p:nvSpPr>
          <p:cNvPr id="29" name="STC-14-dest-rule">
            <a:extLst xmlns:a="http://schemas.openxmlformats.org/drawingml/2006/main">
              <a:ext uri="{FF2B5EF4-FFF2-40B4-BE49-F238E27FC236}">
                <a16:creationId xmlns:a16="http://schemas.microsoft.com/office/drawing/2014/main" id="{B5CD5C4C-7A13-4CD1-88BC-6DBC0905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5358384"/>
            <a:ext cx="801014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4-dest-rule-text">
            <a:extLst xmlns:a="http://schemas.openxmlformats.org/drawingml/2006/main">
              <a:ext uri="{FF2B5EF4-FFF2-40B4-BE49-F238E27FC236}">
                <a16:creationId xmlns:a16="http://schemas.microsoft.com/office/drawing/2014/main" id="{F7D1A0B7-B3F1-4FC9-8422-C3CA6D3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495544"/>
            <a:ext cx="7571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Derived state는 source evidence에서 재생성 가능해야 한다.</a:t>
            </a:r>
          </a:p>
        </p:txBody>
      </p:sp>
    </p:spTree>
    <p:extLst>
      <p:ext uri="{BB962C8B-B14F-4D97-AF65-F5344CB8AC3E}">
        <p14:creationId xmlns:p14="http://schemas.microsoft.com/office/powerpoint/2010/main" val="20561699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7-section">
            <a:extLst xmlns:a="http://schemas.openxmlformats.org/drawingml/2006/main">
              <a:ext uri="{FF2B5EF4-FFF2-40B4-BE49-F238E27FC236}">
                <a16:creationId xmlns:a16="http://schemas.microsoft.com/office/drawing/2014/main" id="{50A8E72E-7C75-4390-A984-644C572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17-slide-id">
            <a:extLst xmlns:a="http://schemas.openxmlformats.org/drawingml/2006/main">
              <a:ext uri="{FF2B5EF4-FFF2-40B4-BE49-F238E27FC236}">
                <a16:creationId xmlns:a16="http://schemas.microsoft.com/office/drawing/2014/main" id="{5514060C-C7EE-4371-9780-78B67F8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STC-023</a:t>
            </a:r>
          </a:p>
        </p:txBody>
      </p:sp>
      <p:sp>
        <p:nvSpPr>
          <p:cNvPr id="4" name="STC-17-headline">
            <a:extLst xmlns:a="http://schemas.openxmlformats.org/drawingml/2006/main">
              <a:ext uri="{FF2B5EF4-FFF2-40B4-BE49-F238E27FC236}">
                <a16:creationId xmlns:a16="http://schemas.microsoft.com/office/drawing/2014/main" id="{493F2B83-D8E6-4D1C-951D-0BCF9CD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Full attention의 reuse 비용이 길어질수록 state 압축이 매력적이다</a:t>
            </a:r>
          </a:p>
        </p:txBody>
      </p:sp>
      <p:sp>
        <p:nvSpPr>
          <p:cNvPr id="5" name="STC-17-status-label">
            <a:extLst xmlns:a="http://schemas.openxmlformats.org/drawingml/2006/main">
              <a:ext uri="{FF2B5EF4-FFF2-40B4-BE49-F238E27FC236}">
                <a16:creationId xmlns:a16="http://schemas.microsoft.com/office/drawing/2014/main" id="{EC050CC0-B6E7-4F49-81AD-65A5A2A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가설</a:t>
            </a:r>
          </a:p>
        </p:txBody>
      </p:sp>
      <p:sp>
        <p:nvSpPr>
          <p:cNvPr id="6" name="STC-17-status-rule">
            <a:extLst xmlns:a="http://schemas.openxmlformats.org/drawingml/2006/main">
              <a:ext uri="{FF2B5EF4-FFF2-40B4-BE49-F238E27FC236}">
                <a16:creationId xmlns:a16="http://schemas.microsoft.com/office/drawing/2014/main" id="{BE2F59F6-D180-4913-A2FC-2DA4E90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7-footer-rule">
            <a:extLst xmlns:a="http://schemas.openxmlformats.org/drawingml/2006/main">
              <a:ext uri="{FF2B5EF4-FFF2-40B4-BE49-F238E27FC236}">
                <a16:creationId xmlns:a16="http://schemas.microsoft.com/office/drawing/2014/main" id="{2866FD90-0A75-4C98-BDAD-E15B7D5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7-source-footer">
            <a:extLst xmlns:a="http://schemas.openxmlformats.org/drawingml/2006/main">
              <a:ext uri="{FF2B5EF4-FFF2-40B4-BE49-F238E27FC236}">
                <a16:creationId xmlns:a16="http://schemas.microsoft.com/office/drawing/2014/main" id="{47748FC0-BEB4-475B-A042-4C656B1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full attention vs recurrent state framing</a:t>
            </a:r>
          </a:p>
        </p:txBody>
      </p:sp>
      <p:sp>
        <p:nvSpPr>
          <p:cNvPr id="9" name="STC-17-page-number">
            <a:extLst xmlns:a="http://schemas.openxmlformats.org/drawingml/2006/main">
              <a:ext uri="{FF2B5EF4-FFF2-40B4-BE49-F238E27FC236}">
                <a16:creationId xmlns:a16="http://schemas.microsoft.com/office/drawing/2014/main" id="{BB999C45-69E3-40D6-B585-8635B07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23</a:t>
            </a:r>
          </a:p>
        </p:txBody>
      </p:sp>
      <p:sp>
        <p:nvSpPr>
          <p:cNvPr id="11" name="STC-17-scale-left-x">
            <a:extLst xmlns:a="http://schemas.openxmlformats.org/drawingml/2006/main">
              <a:ext uri="{FF2B5EF4-FFF2-40B4-BE49-F238E27FC236}">
                <a16:creationId xmlns:a16="http://schemas.microsoft.com/office/drawing/2014/main" id="{37549C12-7BA7-4F80-A013-376123D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20640"/>
            <a:ext cx="4251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7-scale-left-y">
            <a:extLst xmlns:a="http://schemas.openxmlformats.org/drawingml/2006/main">
              <a:ext uri="{FF2B5EF4-FFF2-40B4-BE49-F238E27FC236}">
                <a16:creationId xmlns:a16="http://schemas.microsoft.com/office/drawing/2014/main" id="{51B5707F-F499-486D-B754-A4C04EA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5840" y="187452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7-scale-left-xlabel">
            <a:extLst xmlns:a="http://schemas.openxmlformats.org/drawingml/2006/main">
              <a:ext uri="{FF2B5EF4-FFF2-40B4-BE49-F238E27FC236}">
                <a16:creationId xmlns:a16="http://schemas.microsoft.com/office/drawing/2014/main" id="{2BD01715-74E4-4BD3-A61D-6E5BEEA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26694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ATTENTION</a:t>
            </a:r>
          </a:p>
        </p:txBody>
      </p:sp>
      <p:sp>
        <p:nvSpPr>
          <p:cNvPr id="14" name="STC-17-scale-left-ylabel">
            <a:extLst xmlns:a="http://schemas.openxmlformats.org/drawingml/2006/main">
              <a:ext uri="{FF2B5EF4-FFF2-40B4-BE49-F238E27FC236}">
                <a16:creationId xmlns:a16="http://schemas.microsoft.com/office/drawing/2014/main" id="{8A3CB791-CC04-46DC-9F66-7EE4ED3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4360" y="176479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STATE</a:t>
            </a:r>
          </a:p>
        </p:txBody>
      </p:sp>
      <p:sp>
        <p:nvSpPr>
          <p:cNvPr id="15" name="STC-17-scale-external">
            <a:extLst xmlns:a="http://schemas.openxmlformats.org/drawingml/2006/main">
              <a:ext uri="{FF2B5EF4-FFF2-40B4-BE49-F238E27FC236}">
                <a16:creationId xmlns:a16="http://schemas.microsoft.com/office/drawing/2014/main" id="{746BD1C1-B538-42E8-980A-0422BEB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8720" y="2606040"/>
            <a:ext cx="3520440" cy="1874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7-scale-parametric">
            <a:extLst xmlns:a="http://schemas.openxmlformats.org/drawingml/2006/main">
              <a:ext uri="{FF2B5EF4-FFF2-40B4-BE49-F238E27FC236}">
                <a16:creationId xmlns:a16="http://schemas.microsoft.com/office/drawing/2014/main" id="{35D35A32-B071-4729-8C67-F37447D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3520440" cy="1965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9A442D"/>
            </a:solidFill>
            <a:prstDash val="solid"/>
            <a:tailEnd type="none"/>
          </a:ln>
        </p:spPr>
      </p:sp>
      <p:sp>
        <p:nvSpPr>
          <p:cNvPr id="17" name="STC-17-scale-cross">
            <a:extLst xmlns:a="http://schemas.openxmlformats.org/drawingml/2006/main">
              <a:ext uri="{FF2B5EF4-FFF2-40B4-BE49-F238E27FC236}">
                <a16:creationId xmlns:a16="http://schemas.microsoft.com/office/drawing/2014/main" id="{0F5C156F-BAA6-4566-8B5D-9262483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1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8" name="STC-17-scale-cross-label">
            <a:extLst xmlns:a="http://schemas.openxmlformats.org/drawingml/2006/main">
              <a:ext uri="{FF2B5EF4-FFF2-40B4-BE49-F238E27FC236}">
                <a16:creationId xmlns:a16="http://schemas.microsoft.com/office/drawing/2014/main" id="{5773B7A2-B372-4859-98D1-F909F596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54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CROSSOVER</a:t>
            </a:r>
          </a:p>
        </p:txBody>
      </p:sp>
      <p:sp>
        <p:nvSpPr>
          <p:cNvPr id="19" name="STC-17-scale-external-label">
            <a:extLst xmlns:a="http://schemas.openxmlformats.org/drawingml/2006/main">
              <a:ext uri="{FF2B5EF4-FFF2-40B4-BE49-F238E27FC236}">
                <a16:creationId xmlns:a16="http://schemas.microsoft.com/office/drawing/2014/main" id="{9E0CF856-7B4F-4375-940B-327132F4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9651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CAVEAT</a:t>
            </a:r>
          </a:p>
        </p:txBody>
      </p:sp>
      <p:sp>
        <p:nvSpPr>
          <p:cNvPr id="20" name="STC-17-scale-parametric-label">
            <a:extLst xmlns:a="http://schemas.openxmlformats.org/drawingml/2006/main">
              <a:ext uri="{FF2B5EF4-FFF2-40B4-BE49-F238E27FC236}">
                <a16:creationId xmlns:a16="http://schemas.microsoft.com/office/drawing/2014/main" id="{5574E327-F62C-4E5E-8F70-5B427094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114800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21" name="STC-17-scale-divider">
            <a:extLst xmlns:a="http://schemas.openxmlformats.org/drawingml/2006/main">
              <a:ext uri="{FF2B5EF4-FFF2-40B4-BE49-F238E27FC236}">
                <a16:creationId xmlns:a16="http://schemas.microsoft.com/office/drawing/2014/main" id="{AC5030A1-F714-4CDE-88FA-4D60E22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55648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2" name="STC-17-atlas-label-0">
            <a:extLst xmlns:a="http://schemas.openxmlformats.org/drawingml/2006/main">
              <a:ext uri="{FF2B5EF4-FFF2-40B4-BE49-F238E27FC236}">
                <a16:creationId xmlns:a16="http://schemas.microsoft.com/office/drawing/2014/main" id="{DB01B8AC-9043-4E56-A897-AB76711F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709928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ATTENTION</a:t>
            </a:r>
          </a:p>
        </p:txBody>
      </p:sp>
      <p:sp>
        <p:nvSpPr>
          <p:cNvPr id="23" name="STC-17-atlas-rule-0">
            <a:extLst xmlns:a="http://schemas.openxmlformats.org/drawingml/2006/main">
              <a:ext uri="{FF2B5EF4-FFF2-40B4-BE49-F238E27FC236}">
                <a16:creationId xmlns:a16="http://schemas.microsoft.com/office/drawing/2014/main" id="{C2D5188B-DACD-42C3-83FE-9BA504C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19656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7-atlas-body-0">
            <a:extLst xmlns:a="http://schemas.openxmlformats.org/drawingml/2006/main">
              <a:ext uri="{FF2B5EF4-FFF2-40B4-BE49-F238E27FC236}">
                <a16:creationId xmlns:a16="http://schemas.microsoft.com/office/drawing/2014/main" id="{237BC86C-5FCF-47EF-BB4A-1058775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682496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prefix load와 KV가 sequence에 따라 증가</a:t>
            </a:r>
          </a:p>
        </p:txBody>
      </p:sp>
      <p:sp>
        <p:nvSpPr>
          <p:cNvPr id="25" name="STC-17-atlas-label-1">
            <a:extLst xmlns:a="http://schemas.openxmlformats.org/drawingml/2006/main">
              <a:ext uri="{FF2B5EF4-FFF2-40B4-BE49-F238E27FC236}">
                <a16:creationId xmlns:a16="http://schemas.microsoft.com/office/drawing/2014/main" id="{E51AC899-D130-4122-8EC0-0F88697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96312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STATE</a:t>
            </a:r>
          </a:p>
        </p:txBody>
      </p:sp>
      <p:sp>
        <p:nvSpPr>
          <p:cNvPr id="26" name="STC-17-atlas-rule-1">
            <a:extLst xmlns:a="http://schemas.openxmlformats.org/drawingml/2006/main">
              <a:ext uri="{FF2B5EF4-FFF2-40B4-BE49-F238E27FC236}">
                <a16:creationId xmlns:a16="http://schemas.microsoft.com/office/drawing/2014/main" id="{DCF90CCF-A5FB-448D-9B85-20BA689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60604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27" name="STC-17-atlas-body-1">
            <a:extLst xmlns:a="http://schemas.openxmlformats.org/drawingml/2006/main">
              <a:ext uri="{FF2B5EF4-FFF2-40B4-BE49-F238E27FC236}">
                <a16:creationId xmlns:a16="http://schemas.microsoft.com/office/drawing/2014/main" id="{A01A612E-35E7-462F-8A49-6C9C86F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468880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fixed/learned state는 prefix를 압축</a:t>
            </a:r>
          </a:p>
        </p:txBody>
      </p:sp>
      <p:sp>
        <p:nvSpPr>
          <p:cNvPr id="28" name="STC-17-atlas-label-2">
            <a:extLst xmlns:a="http://schemas.openxmlformats.org/drawingml/2006/main">
              <a:ext uri="{FF2B5EF4-FFF2-40B4-BE49-F238E27FC236}">
                <a16:creationId xmlns:a16="http://schemas.microsoft.com/office/drawing/2014/main" id="{19B57C0F-66F6-4B39-99CB-991BEDD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82696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CROSSOVER</a:t>
            </a:r>
          </a:p>
        </p:txBody>
      </p:sp>
      <p:sp>
        <p:nvSpPr>
          <p:cNvPr id="29" name="STC-17-atlas-rule-2">
            <a:extLst xmlns:a="http://schemas.openxmlformats.org/drawingml/2006/main">
              <a:ext uri="{FF2B5EF4-FFF2-40B4-BE49-F238E27FC236}">
                <a16:creationId xmlns:a16="http://schemas.microsoft.com/office/drawing/2014/main" id="{843B8D43-19A2-4542-9A8B-3145F30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39242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30" name="STC-17-atlas-body-2">
            <a:extLst xmlns:a="http://schemas.openxmlformats.org/drawingml/2006/main">
              <a:ext uri="{FF2B5EF4-FFF2-40B4-BE49-F238E27FC236}">
                <a16:creationId xmlns:a16="http://schemas.microsoft.com/office/drawing/2014/main" id="{63F02158-2EE8-444A-B0A1-353C1FA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255264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reuse와 sequence 길이가 break-even 결정</a:t>
            </a:r>
          </a:p>
        </p:txBody>
      </p:sp>
      <p:sp>
        <p:nvSpPr>
          <p:cNvPr id="31" name="STC-17-atlas-label-3">
            <a:extLst xmlns:a="http://schemas.openxmlformats.org/drawingml/2006/main">
              <a:ext uri="{FF2B5EF4-FFF2-40B4-BE49-F238E27FC236}">
                <a16:creationId xmlns:a16="http://schemas.microsoft.com/office/drawing/2014/main" id="{771AA175-CCD3-4A7B-B823-58B34D5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69080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CAVEAT</a:t>
            </a:r>
          </a:p>
        </p:txBody>
      </p:sp>
      <p:sp>
        <p:nvSpPr>
          <p:cNvPr id="32" name="STC-17-atlas-rule-3">
            <a:extLst xmlns:a="http://schemas.openxmlformats.org/drawingml/2006/main">
              <a:ext uri="{FF2B5EF4-FFF2-40B4-BE49-F238E27FC236}">
                <a16:creationId xmlns:a16="http://schemas.microsoft.com/office/drawing/2014/main" id="{26DD1B80-A1E6-4568-8C93-E63110B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7880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33" name="STC-17-atlas-body-3">
            <a:extLst xmlns:a="http://schemas.openxmlformats.org/drawingml/2006/main">
              <a:ext uri="{FF2B5EF4-FFF2-40B4-BE49-F238E27FC236}">
                <a16:creationId xmlns:a16="http://schemas.microsoft.com/office/drawing/2014/main" id="{D9EA77C8-C5CD-4A30-AB25-42A22790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041648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압축 fidelity와 cache hit가 필요</a:t>
            </a:r>
          </a:p>
        </p:txBody>
      </p:sp>
      <p:sp>
        <p:nvSpPr>
          <p:cNvPr id="34" name="STC-17-atlas-label-4">
            <a:extLst xmlns:a="http://schemas.openxmlformats.org/drawingml/2006/main">
              <a:ext uri="{FF2B5EF4-FFF2-40B4-BE49-F238E27FC236}">
                <a16:creationId xmlns:a16="http://schemas.microsoft.com/office/drawing/2014/main" id="{1A9044C5-74E3-419E-A7CD-BB1CC09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55464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ATTENTION</a:t>
            </a:r>
          </a:p>
        </p:txBody>
      </p:sp>
      <p:sp>
        <p:nvSpPr>
          <p:cNvPr id="35" name="STC-17-atlas-rule-4">
            <a:extLst xmlns:a="http://schemas.openxmlformats.org/drawingml/2006/main">
              <a:ext uri="{FF2B5EF4-FFF2-40B4-BE49-F238E27FC236}">
                <a16:creationId xmlns:a16="http://schemas.microsoft.com/office/drawing/2014/main" id="{8B484F1D-3E6A-4E4D-9BF1-28386CD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96519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9616A"/>
            </a:solidFill>
            <a:prstDash val="solid"/>
            <a:tailEnd type="none"/>
          </a:ln>
        </p:spPr>
      </p:sp>
      <p:sp>
        <p:nvSpPr>
          <p:cNvPr id="36" name="STC-17-atlas-body-4">
            <a:extLst xmlns:a="http://schemas.openxmlformats.org/drawingml/2006/main">
              <a:ext uri="{FF2B5EF4-FFF2-40B4-BE49-F238E27FC236}">
                <a16:creationId xmlns:a16="http://schemas.microsoft.com/office/drawing/2014/main" id="{AD81ED4F-1A57-45B5-9758-E014A7B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828032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prefix load와 KV가 sequence에 따라 증가</a:t>
            </a:r>
          </a:p>
        </p:txBody>
      </p:sp>
      <p:sp>
        <p:nvSpPr>
          <p:cNvPr id="37" name="STC-17-scale-nonresult">
            <a:extLst xmlns:a="http://schemas.openxmlformats.org/drawingml/2006/main">
              <a:ext uri="{FF2B5EF4-FFF2-40B4-BE49-F238E27FC236}">
                <a16:creationId xmlns:a16="http://schemas.microsoft.com/office/drawing/2014/main" id="{1D42FAC3-382B-4CF4-A168-D6BE731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715000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단일 N보다 reuse×length×state-quality의 crossover atlas가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9904620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9-section">
            <a:extLst xmlns:a="http://schemas.openxmlformats.org/drawingml/2006/main">
              <a:ext uri="{FF2B5EF4-FFF2-40B4-BE49-F238E27FC236}">
                <a16:creationId xmlns:a16="http://schemas.microsoft.com/office/drawing/2014/main" id="{72735180-733F-440B-AA71-6AFB4D1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19-slide-id">
            <a:extLst xmlns:a="http://schemas.openxmlformats.org/drawingml/2006/main">
              <a:ext uri="{FF2B5EF4-FFF2-40B4-BE49-F238E27FC236}">
                <a16:creationId xmlns:a16="http://schemas.microsoft.com/office/drawing/2014/main" id="{332DE14B-FF3F-4EAE-89A9-1296907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STC-024</a:t>
            </a:r>
          </a:p>
        </p:txBody>
      </p:sp>
      <p:sp>
        <p:nvSpPr>
          <p:cNvPr id="4" name="STC-19-headline">
            <a:extLst xmlns:a="http://schemas.openxmlformats.org/drawingml/2006/main">
              <a:ext uri="{FF2B5EF4-FFF2-40B4-BE49-F238E27FC236}">
                <a16:creationId xmlns:a16="http://schemas.microsoft.com/office/drawing/2014/main" id="{7A8141DD-42BF-47AC-9E88-5319735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Recurrent model도 state cache가 없으면 serving 이득을 잃는다</a:t>
            </a:r>
          </a:p>
        </p:txBody>
      </p:sp>
      <p:sp>
        <p:nvSpPr>
          <p:cNvPr id="5" name="STC-19-status-label">
            <a:extLst xmlns:a="http://schemas.openxmlformats.org/drawingml/2006/main">
              <a:ext uri="{FF2B5EF4-FFF2-40B4-BE49-F238E27FC236}">
                <a16:creationId xmlns:a16="http://schemas.microsoft.com/office/drawing/2014/main" id="{399B087E-C0A4-444C-ABDC-29B791B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문제</a:t>
            </a:r>
          </a:p>
        </p:txBody>
      </p:sp>
      <p:sp>
        <p:nvSpPr>
          <p:cNvPr id="6" name="STC-19-status-rule">
            <a:extLst xmlns:a="http://schemas.openxmlformats.org/drawingml/2006/main">
              <a:ext uri="{FF2B5EF4-FFF2-40B4-BE49-F238E27FC236}">
                <a16:creationId xmlns:a16="http://schemas.microsoft.com/office/drawing/2014/main" id="{C9DE080A-C5CF-46E3-A596-19E1069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9-footer-rule">
            <a:extLst xmlns:a="http://schemas.openxmlformats.org/drawingml/2006/main">
              <a:ext uri="{FF2B5EF4-FFF2-40B4-BE49-F238E27FC236}">
                <a16:creationId xmlns:a16="http://schemas.microsoft.com/office/drawing/2014/main" id="{69190047-2B97-4AC6-9464-26EFF236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9-source-footer">
            <a:extLst xmlns:a="http://schemas.openxmlformats.org/drawingml/2006/main">
              <a:ext uri="{FF2B5EF4-FFF2-40B4-BE49-F238E27FC236}">
                <a16:creationId xmlns:a16="http://schemas.microsoft.com/office/drawing/2014/main" id="{488C6145-8346-431D-87E6-2FC14B1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Memory Caching · STC-C025</a:t>
            </a:r>
          </a:p>
        </p:txBody>
      </p:sp>
      <p:sp>
        <p:nvSpPr>
          <p:cNvPr id="9" name="STC-19-page-number">
            <a:extLst xmlns:a="http://schemas.openxmlformats.org/drawingml/2006/main">
              <a:ext uri="{FF2B5EF4-FFF2-40B4-BE49-F238E27FC236}">
                <a16:creationId xmlns:a16="http://schemas.microsoft.com/office/drawing/2014/main" id="{23C4055E-6D2C-4283-B0BB-5C60654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24</a:t>
            </a:r>
          </a:p>
        </p:txBody>
      </p:sp>
      <p:sp>
        <p:nvSpPr>
          <p:cNvPr id="11" name="STC-19-cadence-axis-x">
            <a:extLst xmlns:a="http://schemas.openxmlformats.org/drawingml/2006/main">
              <a:ext uri="{FF2B5EF4-FFF2-40B4-BE49-F238E27FC236}">
                <a16:creationId xmlns:a16="http://schemas.microsoft.com/office/drawing/2014/main" id="{2A58C3D7-FA95-4586-9075-AAA41EE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58384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9-cadence-axis-y">
            <a:extLst xmlns:a="http://schemas.openxmlformats.org/drawingml/2006/main">
              <a:ext uri="{FF2B5EF4-FFF2-40B4-BE49-F238E27FC236}">
                <a16:creationId xmlns:a16="http://schemas.microsoft.com/office/drawing/2014/main" id="{13842283-0E4F-434B-88BF-6BF0A06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8680" y="1810512"/>
            <a:ext cx="0" cy="3547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9-cadence-axis-xlabel">
            <a:extLst xmlns:a="http://schemas.openxmlformats.org/drawingml/2006/main">
              <a:ext uri="{FF2B5EF4-FFF2-40B4-BE49-F238E27FC236}">
                <a16:creationId xmlns:a16="http://schemas.microsoft.com/office/drawing/2014/main" id="{8F0CB04A-91D9-4A3C-8187-295C0F9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504688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KEY</a:t>
            </a:r>
          </a:p>
        </p:txBody>
      </p:sp>
      <p:sp>
        <p:nvSpPr>
          <p:cNvPr id="14" name="STC-19-cadence-axis-ylabel">
            <a:extLst xmlns:a="http://schemas.openxmlformats.org/drawingml/2006/main">
              <a:ext uri="{FF2B5EF4-FFF2-40B4-BE49-F238E27FC236}">
                <a16:creationId xmlns:a16="http://schemas.microsoft.com/office/drawing/2014/main" id="{3A60BEFB-6139-43EB-B820-ABBE8E0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57200" y="17007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MATERIALIZE</a:t>
            </a:r>
          </a:p>
        </p:txBody>
      </p:sp>
      <p:sp>
        <p:nvSpPr>
          <p:cNvPr id="15" name="STC-19-cadence-down-1">
            <a:extLst xmlns:a="http://schemas.openxmlformats.org/drawingml/2006/main">
              <a:ext uri="{FF2B5EF4-FFF2-40B4-BE49-F238E27FC236}">
                <a16:creationId xmlns:a16="http://schemas.microsoft.com/office/drawing/2014/main" id="{688872F8-DE47-43CB-95CA-7075B61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2848"/>
            <a:ext cx="7315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9-cadence-down-2">
            <a:extLst xmlns:a="http://schemas.openxmlformats.org/drawingml/2006/main">
              <a:ext uri="{FF2B5EF4-FFF2-40B4-BE49-F238E27FC236}">
                <a16:creationId xmlns:a16="http://schemas.microsoft.com/office/drawing/2014/main" id="{B09B6DF5-5CCB-4031-ADC8-AB75D62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468880"/>
            <a:ext cx="73152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9-cadence-up-1">
            <a:extLst xmlns:a="http://schemas.openxmlformats.org/drawingml/2006/main">
              <a:ext uri="{FF2B5EF4-FFF2-40B4-BE49-F238E27FC236}">
                <a16:creationId xmlns:a16="http://schemas.microsoft.com/office/drawing/2014/main" id="{F764C959-5D42-410C-80A2-122961E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999232"/>
            <a:ext cx="73152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8" name="STC-19-cadence-up-2">
            <a:extLst xmlns:a="http://schemas.openxmlformats.org/drawingml/2006/main">
              <a:ext uri="{FF2B5EF4-FFF2-40B4-BE49-F238E27FC236}">
                <a16:creationId xmlns:a16="http://schemas.microsoft.com/office/drawing/2014/main" id="{45BD15EE-A78A-4DB0-9389-F6AA9BA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639312"/>
            <a:ext cx="73152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9-cadence-up-3">
            <a:extLst xmlns:a="http://schemas.openxmlformats.org/drawingml/2006/main">
              <a:ext uri="{FF2B5EF4-FFF2-40B4-BE49-F238E27FC236}">
                <a16:creationId xmlns:a16="http://schemas.microsoft.com/office/drawing/2014/main" id="{4F71F976-E3CE-480C-A678-A81BF64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425696"/>
            <a:ext cx="77724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9-cadence-opt">
            <a:extLst xmlns:a="http://schemas.openxmlformats.org/drawingml/2006/main">
              <a:ext uri="{FF2B5EF4-FFF2-40B4-BE49-F238E27FC236}">
                <a16:creationId xmlns:a16="http://schemas.microsoft.com/office/drawing/2014/main" id="{C349F6AA-D45D-4780-8532-9F7858A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36499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9-cadence-opt-label">
            <a:extLst xmlns:a="http://schemas.openxmlformats.org/drawingml/2006/main">
              <a:ext uri="{FF2B5EF4-FFF2-40B4-BE49-F238E27FC236}">
                <a16:creationId xmlns:a16="http://schemas.microsoft.com/office/drawing/2014/main" id="{4B2F8C1A-9F81-4CEB-9FBF-7D771B4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694176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REUSE</a:t>
            </a:r>
          </a:p>
        </p:txBody>
      </p:sp>
      <p:sp>
        <p:nvSpPr>
          <p:cNvPr id="22" name="STC-19-cadence-run">
            <a:extLst xmlns:a="http://schemas.openxmlformats.org/drawingml/2006/main">
              <a:ext uri="{FF2B5EF4-FFF2-40B4-BE49-F238E27FC236}">
                <a16:creationId xmlns:a16="http://schemas.microsoft.com/office/drawing/2014/main" id="{29265B41-3F65-4BA9-B47F-97DEC33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97480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INVALIDATE</a:t>
            </a:r>
          </a:p>
        </p:txBody>
      </p:sp>
      <p:sp>
        <p:nvSpPr>
          <p:cNvPr id="23" name="STC-19-cadence-stale">
            <a:extLst xmlns:a="http://schemas.openxmlformats.org/drawingml/2006/main">
              <a:ext uri="{FF2B5EF4-FFF2-40B4-BE49-F238E27FC236}">
                <a16:creationId xmlns:a16="http://schemas.microsoft.com/office/drawing/2014/main" id="{6A86FAF2-6BD3-4891-8AA2-93F44E6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941064"/>
            <a:ext cx="9326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KEY</a:t>
            </a:r>
          </a:p>
        </p:txBody>
      </p:sp>
      <p:sp>
        <p:nvSpPr>
          <p:cNvPr id="24" name="STC-19-service-divider">
            <a:extLst xmlns:a="http://schemas.openxmlformats.org/drawingml/2006/main">
              <a:ext uri="{FF2B5EF4-FFF2-40B4-BE49-F238E27FC236}">
                <a16:creationId xmlns:a16="http://schemas.microsoft.com/office/drawing/2014/main" id="{FD0702B6-B84E-41BD-B25C-7947118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91640"/>
            <a:ext cx="0" cy="4041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5" name="STC-19-queue-title">
            <a:extLst xmlns:a="http://schemas.openxmlformats.org/drawingml/2006/main">
              <a:ext uri="{FF2B5EF4-FFF2-40B4-BE49-F238E27FC236}">
                <a16:creationId xmlns:a16="http://schemas.microsoft.com/office/drawing/2014/main" id="{136E3461-58C4-4366-AEE0-C4C5EBD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190195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MATERIALIZE</a:t>
            </a:r>
          </a:p>
        </p:txBody>
      </p:sp>
      <p:sp>
        <p:nvSpPr>
          <p:cNvPr id="26" name="STC-19-queue-equation">
            <a:extLst xmlns:a="http://schemas.openxmlformats.org/drawingml/2006/main">
              <a:ext uri="{FF2B5EF4-FFF2-40B4-BE49-F238E27FC236}">
                <a16:creationId xmlns:a16="http://schemas.microsoft.com/office/drawing/2014/main" id="{6E21EE85-C8A4-4122-A898-9DBCFE1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33172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model/adapter version + exact prefix hash</a:t>
            </a:r>
          </a:p>
        </p:txBody>
      </p:sp>
      <p:sp>
        <p:nvSpPr>
          <p:cNvPr id="27" name="STC-19-queue-list-dot-0">
            <a:extLst xmlns:a="http://schemas.openxmlformats.org/drawingml/2006/main">
              <a:ext uri="{FF2B5EF4-FFF2-40B4-BE49-F238E27FC236}">
                <a16:creationId xmlns:a16="http://schemas.microsoft.com/office/drawing/2014/main" id="{D6851AC5-7349-4D22-99A3-9D6F997C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8" name="STC-19-queue-list-item-0">
            <a:extLst xmlns:a="http://schemas.openxmlformats.org/drawingml/2006/main">
              <a:ext uri="{FF2B5EF4-FFF2-40B4-BE49-F238E27FC236}">
                <a16:creationId xmlns:a16="http://schemas.microsoft.com/office/drawing/2014/main" id="{86654F43-C2C8-4C11-AA96-6689829B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090672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KEY</a:t>
            </a:r>
          </a:p>
        </p:txBody>
      </p:sp>
      <p:sp>
        <p:nvSpPr>
          <p:cNvPr id="29" name="STC-19-queue-list-dot-1">
            <a:extLst xmlns:a="http://schemas.openxmlformats.org/drawingml/2006/main">
              <a:ext uri="{FF2B5EF4-FFF2-40B4-BE49-F238E27FC236}">
                <a16:creationId xmlns:a16="http://schemas.microsoft.com/office/drawing/2014/main" id="{40D0A80D-1E95-48FE-AE00-258C62FF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764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0" name="STC-19-queue-list-item-1">
            <a:extLst xmlns:a="http://schemas.openxmlformats.org/drawingml/2006/main">
              <a:ext uri="{FF2B5EF4-FFF2-40B4-BE49-F238E27FC236}">
                <a16:creationId xmlns:a16="http://schemas.microsoft.com/office/drawing/2014/main" id="{62249E20-CB9F-42F7-9624-CAB5E32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666744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MATERIALIZE</a:t>
            </a:r>
          </a:p>
        </p:txBody>
      </p:sp>
      <p:sp>
        <p:nvSpPr>
          <p:cNvPr id="31" name="STC-19-queue-list-dot-2">
            <a:extLst xmlns:a="http://schemas.openxmlformats.org/drawingml/2006/main">
              <a:ext uri="{FF2B5EF4-FFF2-40B4-BE49-F238E27FC236}">
                <a16:creationId xmlns:a16="http://schemas.microsoft.com/office/drawing/2014/main" id="{E496E215-F79B-469B-BBE8-CF8EF9C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3525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2" name="STC-19-queue-list-item-2">
            <a:extLst xmlns:a="http://schemas.openxmlformats.org/drawingml/2006/main">
              <a:ext uri="{FF2B5EF4-FFF2-40B4-BE49-F238E27FC236}">
                <a16:creationId xmlns:a16="http://schemas.microsoft.com/office/drawing/2014/main" id="{FFB533E4-70D8-4C8C-B351-8321BED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242816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REUSE</a:t>
            </a:r>
          </a:p>
        </p:txBody>
      </p:sp>
      <p:sp>
        <p:nvSpPr>
          <p:cNvPr id="33" name="STC-19-queue-list-dot-3">
            <a:extLst xmlns:a="http://schemas.openxmlformats.org/drawingml/2006/main">
              <a:ext uri="{FF2B5EF4-FFF2-40B4-BE49-F238E27FC236}">
                <a16:creationId xmlns:a16="http://schemas.microsoft.com/office/drawing/2014/main" id="{00CE8CBC-7ACA-42B9-B806-4B09AB7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2861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4" name="STC-19-queue-list-item-3">
            <a:extLst xmlns:a="http://schemas.openxmlformats.org/drawingml/2006/main">
              <a:ext uri="{FF2B5EF4-FFF2-40B4-BE49-F238E27FC236}">
                <a16:creationId xmlns:a16="http://schemas.microsoft.com/office/drawing/2014/main" id="{8433124C-C473-482D-BC3A-3BB5231B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818888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INVALIDATE</a:t>
            </a:r>
          </a:p>
        </p:txBody>
      </p:sp>
      <p:sp>
        <p:nvSpPr>
          <p:cNvPr id="35" name="STC-19-queue-hyp">
            <a:extLst xmlns:a="http://schemas.openxmlformats.org/drawingml/2006/main">
              <a:ext uri="{FF2B5EF4-FFF2-40B4-BE49-F238E27FC236}">
                <a16:creationId xmlns:a16="http://schemas.microsoft.com/office/drawing/2014/main" id="{F2F6C95C-6C39-4C28-A60D-0BBF415D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623560"/>
            <a:ext cx="4325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model/adapter version + exact prefix hash</a:t>
            </a:r>
          </a:p>
        </p:txBody>
      </p:sp>
    </p:spTree>
    <p:extLst>
      <p:ext uri="{BB962C8B-B14F-4D97-AF65-F5344CB8AC3E}">
        <p14:creationId xmlns:p14="http://schemas.microsoft.com/office/powerpoint/2010/main" val="12710442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1-section">
            <a:extLst xmlns:a="http://schemas.openxmlformats.org/drawingml/2006/main">
              <a:ext uri="{FF2B5EF4-FFF2-40B4-BE49-F238E27FC236}">
                <a16:creationId xmlns:a16="http://schemas.microsoft.com/office/drawing/2014/main" id="{90E97B39-DAC0-4850-BB0B-BFE3E52D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21-slide-id">
            <a:extLst xmlns:a="http://schemas.openxmlformats.org/drawingml/2006/main">
              <a:ext uri="{FF2B5EF4-FFF2-40B4-BE49-F238E27FC236}">
                <a16:creationId xmlns:a16="http://schemas.microsoft.com/office/drawing/2014/main" id="{FF931CE1-B17C-473E-92DF-2B13729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STC-025</a:t>
            </a:r>
          </a:p>
        </p:txBody>
      </p:sp>
      <p:sp>
        <p:nvSpPr>
          <p:cNvPr id="4" name="STC-21-headline">
            <a:extLst xmlns:a="http://schemas.openxmlformats.org/drawingml/2006/main">
              <a:ext uri="{FF2B5EF4-FFF2-40B4-BE49-F238E27FC236}">
                <a16:creationId xmlns:a16="http://schemas.microsoft.com/office/drawing/2014/main" id="{0C1DB336-C32F-4510-840D-F48DDE1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Stale·conflicting fact는 update가 아니라 transaction 문제다</a:t>
            </a:r>
          </a:p>
        </p:txBody>
      </p:sp>
      <p:sp>
        <p:nvSpPr>
          <p:cNvPr id="5" name="STC-21-status-label">
            <a:extLst xmlns:a="http://schemas.openxmlformats.org/drawingml/2006/main">
              <a:ext uri="{FF2B5EF4-FFF2-40B4-BE49-F238E27FC236}">
                <a16:creationId xmlns:a16="http://schemas.microsoft.com/office/drawing/2014/main" id="{A73D9096-2749-414C-848B-94BA6DFA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문제</a:t>
            </a:r>
          </a:p>
        </p:txBody>
      </p:sp>
      <p:sp>
        <p:nvSpPr>
          <p:cNvPr id="6" name="STC-21-status-rule">
            <a:extLst xmlns:a="http://schemas.openxmlformats.org/drawingml/2006/main">
              <a:ext uri="{FF2B5EF4-FFF2-40B4-BE49-F238E27FC236}">
                <a16:creationId xmlns:a16="http://schemas.microsoft.com/office/drawing/2014/main" id="{133FC5DA-3340-4946-BB90-2D1043F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1-footer-rule">
            <a:extLst xmlns:a="http://schemas.openxmlformats.org/drawingml/2006/main">
              <a:ext uri="{FF2B5EF4-FFF2-40B4-BE49-F238E27FC236}">
                <a16:creationId xmlns:a16="http://schemas.microsoft.com/office/drawing/2014/main" id="{610CEEEE-65A9-444D-926F-D80BD56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1-source-footer">
            <a:extLst xmlns:a="http://schemas.openxmlformats.org/drawingml/2006/main">
              <a:ext uri="{FF2B5EF4-FFF2-40B4-BE49-F238E27FC236}">
                <a16:creationId xmlns:a16="http://schemas.microsoft.com/office/drawing/2014/main" id="{8D120CC9-2B61-41B3-8138-E0CB1FD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STC-C010/C046</a:t>
            </a:r>
          </a:p>
        </p:txBody>
      </p:sp>
      <p:sp>
        <p:nvSpPr>
          <p:cNvPr id="9" name="STC-21-page-number">
            <a:extLst xmlns:a="http://schemas.openxmlformats.org/drawingml/2006/main">
              <a:ext uri="{FF2B5EF4-FFF2-40B4-BE49-F238E27FC236}">
                <a16:creationId xmlns:a16="http://schemas.microsoft.com/office/drawing/2014/main" id="{AF8992C2-5791-4A15-A412-8EAC353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25</a:t>
            </a:r>
          </a:p>
        </p:txBody>
      </p:sp>
      <p:sp>
        <p:nvSpPr>
          <p:cNvPr id="11" name="STC-21-tx-tag-0">
            <a:extLst xmlns:a="http://schemas.openxmlformats.org/drawingml/2006/main">
              <a:ext uri="{FF2B5EF4-FFF2-40B4-BE49-F238E27FC236}">
                <a16:creationId xmlns:a16="http://schemas.microsoft.com/office/drawing/2014/main" id="{C2C86C66-2A45-4FCE-9DFE-3011537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SNAP</a:t>
            </a:r>
          </a:p>
        </p:txBody>
      </p:sp>
      <p:sp>
        <p:nvSpPr>
          <p:cNvPr id="12" name="STC-21-tx-node-0">
            <a:extLst xmlns:a="http://schemas.openxmlformats.org/drawingml/2006/main">
              <a:ext uri="{FF2B5EF4-FFF2-40B4-BE49-F238E27FC236}">
                <a16:creationId xmlns:a16="http://schemas.microsoft.com/office/drawing/2014/main" id="{7DE25767-490F-4538-9058-75FB020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21-tx-body-0">
            <a:extLst xmlns:a="http://schemas.openxmlformats.org/drawingml/2006/main">
              <a:ext uri="{FF2B5EF4-FFF2-40B4-BE49-F238E27FC236}">
                <a16:creationId xmlns:a16="http://schemas.microsoft.com/office/drawing/2014/main" id="{EEB40A69-21BD-4FCF-975C-7CF195FC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AUTHZ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HEAD</a:t>
            </a:r>
          </a:p>
        </p:txBody>
      </p:sp>
      <p:sp>
        <p:nvSpPr>
          <p:cNvPr id="14" name="STC-21-tx-arrow-0">
            <a:extLst xmlns:a="http://schemas.openxmlformats.org/drawingml/2006/main">
              <a:ext uri="{FF2B5EF4-FFF2-40B4-BE49-F238E27FC236}">
                <a16:creationId xmlns:a16="http://schemas.microsoft.com/office/drawing/2014/main" id="{366CE66D-37A5-4DE4-857B-F0BCFBB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1-tx-tag-1">
            <a:extLst xmlns:a="http://schemas.openxmlformats.org/drawingml/2006/main">
              <a:ext uri="{FF2B5EF4-FFF2-40B4-BE49-F238E27FC236}">
                <a16:creationId xmlns:a16="http://schemas.microsoft.com/office/drawing/2014/main" id="{8ED2FA8D-7673-43AE-950C-4DA5600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CAND</a:t>
            </a:r>
          </a:p>
        </p:txBody>
      </p:sp>
      <p:sp>
        <p:nvSpPr>
          <p:cNvPr id="16" name="STC-21-tx-node-1">
            <a:extLst xmlns:a="http://schemas.openxmlformats.org/drawingml/2006/main">
              <a:ext uri="{FF2B5EF4-FFF2-40B4-BE49-F238E27FC236}">
                <a16:creationId xmlns:a16="http://schemas.microsoft.com/office/drawing/2014/main" id="{352FF0AC-DBB7-4E4C-B4E3-6E26B90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7" name="STC-21-tx-body-1">
            <a:extLst xmlns:a="http://schemas.openxmlformats.org/drawingml/2006/main">
              <a:ext uri="{FF2B5EF4-FFF2-40B4-BE49-F238E27FC236}">
                <a16:creationId xmlns:a16="http://schemas.microsoft.com/office/drawing/2014/main" id="{926F1628-7E3D-4A2B-B774-7DFCBC6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immutable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 snapshot</a:t>
            </a:r>
          </a:p>
        </p:txBody>
      </p:sp>
      <p:sp>
        <p:nvSpPr>
          <p:cNvPr id="18" name="STC-21-tx-arrow-1">
            <a:extLst xmlns:a="http://schemas.openxmlformats.org/drawingml/2006/main">
              <a:ext uri="{FF2B5EF4-FFF2-40B4-BE49-F238E27FC236}">
                <a16:creationId xmlns:a16="http://schemas.microsoft.com/office/drawing/2014/main" id="{A93C3B56-4003-45B0-8369-28562FBB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1-tx-tag-2">
            <a:extLst xmlns:a="http://schemas.openxmlformats.org/drawingml/2006/main">
              <a:ext uri="{FF2B5EF4-FFF2-40B4-BE49-F238E27FC236}">
                <a16:creationId xmlns:a16="http://schemas.microsoft.com/office/drawing/2014/main" id="{B1031615-D103-4D97-8BF8-6ADBF42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20" name="STC-21-tx-node-2">
            <a:extLst xmlns:a="http://schemas.openxmlformats.org/drawingml/2006/main">
              <a:ext uri="{FF2B5EF4-FFF2-40B4-BE49-F238E27FC236}">
                <a16:creationId xmlns:a16="http://schemas.microsoft.com/office/drawing/2014/main" id="{6B4CF136-1B67-48E4-BE19-B33D1F4D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21-tx-body-2">
            <a:extLst xmlns:a="http://schemas.openxmlformats.org/drawingml/2006/main">
              <a:ext uri="{FF2B5EF4-FFF2-40B4-BE49-F238E27FC236}">
                <a16:creationId xmlns:a16="http://schemas.microsoft.com/office/drawing/2014/main" id="{96E338C5-408D-4F1A-BB08-A642A2AC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multi-store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candidate</a:t>
            </a:r>
          </a:p>
        </p:txBody>
      </p:sp>
      <p:sp>
        <p:nvSpPr>
          <p:cNvPr id="22" name="STC-21-tx-arrow-2">
            <a:extLst xmlns:a="http://schemas.openxmlformats.org/drawingml/2006/main">
              <a:ext uri="{FF2B5EF4-FFF2-40B4-BE49-F238E27FC236}">
                <a16:creationId xmlns:a16="http://schemas.microsoft.com/office/drawing/2014/main" id="{FD3EFB9F-ACD4-43E3-B0B5-BC321B0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21-tx-tag-3">
            <a:extLst xmlns:a="http://schemas.openxmlformats.org/drawingml/2006/main">
              <a:ext uri="{FF2B5EF4-FFF2-40B4-BE49-F238E27FC236}">
                <a16:creationId xmlns:a16="http://schemas.microsoft.com/office/drawing/2014/main" id="{5D5E7B03-798E-4137-8F01-7B80830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PUBLISH</a:t>
            </a:r>
          </a:p>
        </p:txBody>
      </p:sp>
      <p:sp>
        <p:nvSpPr>
          <p:cNvPr id="24" name="STC-21-tx-node-3">
            <a:extLst xmlns:a="http://schemas.openxmlformats.org/drawingml/2006/main">
              <a:ext uri="{FF2B5EF4-FFF2-40B4-BE49-F238E27FC236}">
                <a16:creationId xmlns:a16="http://schemas.microsoft.com/office/drawing/2014/main" id="{45B2127A-0C43-4C8B-88A5-13BA11F1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5" name="STC-21-tx-body-3">
            <a:extLst xmlns:a="http://schemas.openxmlformats.org/drawingml/2006/main">
              <a:ext uri="{FF2B5EF4-FFF2-40B4-BE49-F238E27FC236}">
                <a16:creationId xmlns:a16="http://schemas.microsoft.com/office/drawing/2014/main" id="{0C97996C-F519-4B23-9480-42C6217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utility · harm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provenance</a:t>
            </a:r>
          </a:p>
        </p:txBody>
      </p:sp>
      <p:sp>
        <p:nvSpPr>
          <p:cNvPr id="26" name="STC-21-tx-arrow-3">
            <a:extLst xmlns:a="http://schemas.openxmlformats.org/drawingml/2006/main">
              <a:ext uri="{FF2B5EF4-FFF2-40B4-BE49-F238E27FC236}">
                <a16:creationId xmlns:a16="http://schemas.microsoft.com/office/drawing/2014/main" id="{EEA47463-C486-4109-89F9-46735F19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1-tx-tag-4">
            <a:extLst xmlns:a="http://schemas.openxmlformats.org/drawingml/2006/main">
              <a:ext uri="{FF2B5EF4-FFF2-40B4-BE49-F238E27FC236}">
                <a16:creationId xmlns:a16="http://schemas.microsoft.com/office/drawing/2014/main" id="{CD9F663F-76CE-479E-A83A-ACAA427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SNAP</a:t>
            </a:r>
          </a:p>
        </p:txBody>
      </p:sp>
      <p:sp>
        <p:nvSpPr>
          <p:cNvPr id="28" name="STC-21-tx-node-4">
            <a:extLst xmlns:a="http://schemas.openxmlformats.org/drawingml/2006/main">
              <a:ext uri="{FF2B5EF4-FFF2-40B4-BE49-F238E27FC236}">
                <a16:creationId xmlns:a16="http://schemas.microsoft.com/office/drawing/2014/main" id="{BA0E6807-DA92-4243-B842-C0358E97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9" name="STC-21-tx-body-4">
            <a:extLst xmlns:a="http://schemas.openxmlformats.org/drawingml/2006/main">
              <a:ext uri="{FF2B5EF4-FFF2-40B4-BE49-F238E27FC236}">
                <a16:creationId xmlns:a16="http://schemas.microsoft.com/office/drawing/2014/main" id="{FB3E6FE0-24EC-4695-BCC6-98244FF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ATOMIC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MANIFEST</a:t>
            </a:r>
          </a:p>
        </p:txBody>
      </p:sp>
      <p:sp>
        <p:nvSpPr>
          <p:cNvPr id="30" name="STC-21-tx-reject">
            <a:extLst xmlns:a="http://schemas.openxmlformats.org/drawingml/2006/main">
              <a:ext uri="{FF2B5EF4-FFF2-40B4-BE49-F238E27FC236}">
                <a16:creationId xmlns:a16="http://schemas.microsoft.com/office/drawing/2014/main" id="{B5C03707-03CB-4F77-9F19-5E3ABF9A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74920" y="3264408"/>
            <a:ext cx="3108960" cy="11247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1" name="STC-21-tx-reject-label">
            <a:extLst xmlns:a="http://schemas.openxmlformats.org/drawingml/2006/main">
              <a:ext uri="{FF2B5EF4-FFF2-40B4-BE49-F238E27FC236}">
                <a16:creationId xmlns:a16="http://schemas.microsoft.com/office/drawing/2014/main" id="{BE73F384-17EC-4EF0-8678-D136DA0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4805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SNAP</a:t>
            </a:r>
          </a:p>
        </p:txBody>
      </p:sp>
      <p:sp>
        <p:nvSpPr>
          <p:cNvPr id="32" name="STC-21-tx-invariants">
            <a:extLst xmlns:a="http://schemas.openxmlformats.org/drawingml/2006/main">
              <a:ext uri="{FF2B5EF4-FFF2-40B4-BE49-F238E27FC236}">
                <a16:creationId xmlns:a16="http://schemas.microsoft.com/office/drawing/2014/main" id="{8A62E1A8-5074-460D-A8E2-4F922609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919472"/>
            <a:ext cx="93726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3" name="STC-21-tx-invariants-text">
            <a:extLst xmlns:a="http://schemas.openxmlformats.org/drawingml/2006/main">
              <a:ext uri="{FF2B5EF4-FFF2-40B4-BE49-F238E27FC236}">
                <a16:creationId xmlns:a16="http://schemas.microsoft.com/office/drawing/2014/main" id="{B51AC285-C1AF-475D-B541-60CED42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148072"/>
            <a:ext cx="87965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In-place overwrite보다 immutable generation과 lineage가 안전하다.</a:t>
            </a:r>
          </a:p>
        </p:txBody>
      </p:sp>
      <p:sp>
        <p:nvSpPr>
          <p:cNvPr id="34" name="STC-21-tx-bottom">
            <a:extLst xmlns:a="http://schemas.openxmlformats.org/drawingml/2006/main">
              <a:ext uri="{FF2B5EF4-FFF2-40B4-BE49-F238E27FC236}">
                <a16:creationId xmlns:a16="http://schemas.microsoft.com/office/drawing/2014/main" id="{05F58A2D-3F9F-479D-8BDF-D6AE1D5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88152"/>
            <a:ext cx="8549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In-place overwrite보다 immutable generation과 lineage가 안전하다.</a:t>
            </a:r>
          </a:p>
        </p:txBody>
      </p:sp>
    </p:spTree>
    <p:extLst>
      <p:ext uri="{BB962C8B-B14F-4D97-AF65-F5344CB8AC3E}">
        <p14:creationId xmlns:p14="http://schemas.microsoft.com/office/powerpoint/2010/main" val="8751343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8-section">
            <a:extLst xmlns:a="http://schemas.openxmlformats.org/drawingml/2006/main">
              <a:ext uri="{FF2B5EF4-FFF2-40B4-BE49-F238E27FC236}">
                <a16:creationId xmlns:a16="http://schemas.microsoft.com/office/drawing/2014/main" id="{03FF8BA3-B545-4981-AA09-AE9216B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18-slide-id">
            <a:extLst xmlns:a="http://schemas.openxmlformats.org/drawingml/2006/main">
              <a:ext uri="{FF2B5EF4-FFF2-40B4-BE49-F238E27FC236}">
                <a16:creationId xmlns:a16="http://schemas.microsoft.com/office/drawing/2014/main" id="{C9FA6CD7-858C-4A3D-96FD-4CC651F6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STC-026</a:t>
            </a:r>
          </a:p>
        </p:txBody>
      </p:sp>
      <p:sp>
        <p:nvSpPr>
          <p:cNvPr id="4" name="STC-18-headline">
            <a:extLst xmlns:a="http://schemas.openxmlformats.org/drawingml/2006/main">
              <a:ext uri="{FF2B5EF4-FFF2-40B4-BE49-F238E27FC236}">
                <a16:creationId xmlns:a16="http://schemas.microsoft.com/office/drawing/2014/main" id="{C9C9B713-EF3A-4F15-9B5D-34C157E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Memory는 늘릴수록 좋다가 어느 순간 noise가 앞선다</a:t>
            </a:r>
          </a:p>
        </p:txBody>
      </p:sp>
      <p:sp>
        <p:nvSpPr>
          <p:cNvPr id="5" name="STC-18-status-label">
            <a:extLst xmlns:a="http://schemas.openxmlformats.org/drawingml/2006/main">
              <a:ext uri="{FF2B5EF4-FFF2-40B4-BE49-F238E27FC236}">
                <a16:creationId xmlns:a16="http://schemas.microsoft.com/office/drawing/2014/main" id="{3B46AB99-B070-4E4D-A702-12F9050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가설</a:t>
            </a:r>
          </a:p>
        </p:txBody>
      </p:sp>
      <p:sp>
        <p:nvSpPr>
          <p:cNvPr id="6" name="STC-18-status-rule">
            <a:extLst xmlns:a="http://schemas.openxmlformats.org/drawingml/2006/main">
              <a:ext uri="{FF2B5EF4-FFF2-40B4-BE49-F238E27FC236}">
                <a16:creationId xmlns:a16="http://schemas.microsoft.com/office/drawing/2014/main" id="{8EFD1DA0-50D3-4AD4-87F6-7143D5EB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8-footer-rule">
            <a:extLst xmlns:a="http://schemas.openxmlformats.org/drawingml/2006/main">
              <a:ext uri="{FF2B5EF4-FFF2-40B4-BE49-F238E27FC236}">
                <a16:creationId xmlns:a16="http://schemas.microsoft.com/office/drawing/2014/main" id="{0532DB85-4109-43E6-AC94-2358F50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8-source-footer">
            <a:extLst xmlns:a="http://schemas.openxmlformats.org/drawingml/2006/main">
              <a:ext uri="{FF2B5EF4-FFF2-40B4-BE49-F238E27FC236}">
                <a16:creationId xmlns:a16="http://schemas.microsoft.com/office/drawing/2014/main" id="{F3EA8379-43EA-45C9-AC85-4061DC8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STC-C045 · finite-memory knee</a:t>
            </a:r>
          </a:p>
        </p:txBody>
      </p:sp>
      <p:sp>
        <p:nvSpPr>
          <p:cNvPr id="9" name="STC-18-page-number">
            <a:extLst xmlns:a="http://schemas.openxmlformats.org/drawingml/2006/main">
              <a:ext uri="{FF2B5EF4-FFF2-40B4-BE49-F238E27FC236}">
                <a16:creationId xmlns:a16="http://schemas.microsoft.com/office/drawing/2014/main" id="{8DE00DF8-DD74-4458-8DDD-9413F0F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26</a:t>
            </a:r>
          </a:p>
        </p:txBody>
      </p:sp>
      <p:sp>
        <p:nvSpPr>
          <p:cNvPr id="11" name="STC-18-knee-axis-x">
            <a:extLst xmlns:a="http://schemas.openxmlformats.org/drawingml/2006/main">
              <a:ext uri="{FF2B5EF4-FFF2-40B4-BE49-F238E27FC236}">
                <a16:creationId xmlns:a16="http://schemas.microsoft.com/office/drawing/2014/main" id="{137B99DC-D78E-474C-948D-1C1A474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9280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8-knee-axis-y">
            <a:extLst xmlns:a="http://schemas.openxmlformats.org/drawingml/2006/main">
              <a:ext uri="{FF2B5EF4-FFF2-40B4-BE49-F238E27FC236}">
                <a16:creationId xmlns:a16="http://schemas.microsoft.com/office/drawing/2014/main" id="{2B1DBB35-82E7-49B9-9968-79EB961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43000" y="1691640"/>
            <a:ext cx="0" cy="3977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8-knee-axis-xlabel">
            <a:extLst xmlns:a="http://schemas.openxmlformats.org/drawingml/2006/main">
              <a:ext uri="{FF2B5EF4-FFF2-40B4-BE49-F238E27FC236}">
                <a16:creationId xmlns:a16="http://schemas.microsoft.com/office/drawing/2014/main" id="{9D4A94DC-71BA-4491-BE01-6A8FA8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8155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EARLY</a:t>
            </a:r>
          </a:p>
        </p:txBody>
      </p:sp>
      <p:sp>
        <p:nvSpPr>
          <p:cNvPr id="14" name="STC-18-knee-axis-ylabel">
            <a:extLst xmlns:a="http://schemas.openxmlformats.org/drawingml/2006/main">
              <a:ext uri="{FF2B5EF4-FFF2-40B4-BE49-F238E27FC236}">
                <a16:creationId xmlns:a16="http://schemas.microsoft.com/office/drawing/2014/main" id="{BBDB0575-EAC2-4D00-889D-30EDB84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" y="158191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MIDDLE</a:t>
            </a:r>
          </a:p>
        </p:txBody>
      </p:sp>
      <p:sp>
        <p:nvSpPr>
          <p:cNvPr id="15" name="STC-18-knee-seg-1">
            <a:extLst xmlns:a="http://schemas.openxmlformats.org/drawingml/2006/main">
              <a:ext uri="{FF2B5EF4-FFF2-40B4-BE49-F238E27FC236}">
                <a16:creationId xmlns:a16="http://schemas.microsoft.com/office/drawing/2014/main" id="{A875E417-9AE7-45EA-91F0-367BDDB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48840"/>
            <a:ext cx="1005840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8-knee-seg-2">
            <a:extLst xmlns:a="http://schemas.openxmlformats.org/drawingml/2006/main">
              <a:ext uri="{FF2B5EF4-FFF2-40B4-BE49-F238E27FC236}">
                <a16:creationId xmlns:a16="http://schemas.microsoft.com/office/drawing/2014/main" id="{D37E6579-10F6-4338-A1E4-70A3CAB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76272"/>
            <a:ext cx="100584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8-knee-seg-3">
            <a:extLst xmlns:a="http://schemas.openxmlformats.org/drawingml/2006/main">
              <a:ext uri="{FF2B5EF4-FFF2-40B4-BE49-F238E27FC236}">
                <a16:creationId xmlns:a16="http://schemas.microsoft.com/office/drawing/2014/main" id="{9051F1AF-A7F9-4D03-94EA-41936D1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86000"/>
            <a:ext cx="100584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18-knee-seg-4">
            <a:extLst xmlns:a="http://schemas.openxmlformats.org/drawingml/2006/main">
              <a:ext uri="{FF2B5EF4-FFF2-40B4-BE49-F238E27FC236}">
                <a16:creationId xmlns:a16="http://schemas.microsoft.com/office/drawing/2014/main" id="{B063ECE3-2EE8-45A4-A0F4-242E2ED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70048"/>
            <a:ext cx="100584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8-knee-seg-5">
            <a:extLst xmlns:a="http://schemas.openxmlformats.org/drawingml/2006/main">
              <a:ext uri="{FF2B5EF4-FFF2-40B4-BE49-F238E27FC236}">
                <a16:creationId xmlns:a16="http://schemas.microsoft.com/office/drawing/2014/main" id="{B0C6BCBB-C1A2-421E-BDCF-2B39BAFF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694176"/>
            <a:ext cx="1005840" cy="1298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8-knee-seg-6">
            <a:extLst xmlns:a="http://schemas.openxmlformats.org/drawingml/2006/main">
              <a:ext uri="{FF2B5EF4-FFF2-40B4-BE49-F238E27FC236}">
                <a16:creationId xmlns:a16="http://schemas.microsoft.com/office/drawing/2014/main" id="{C13B686D-15B9-429D-A73A-91969B5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92624"/>
            <a:ext cx="82296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18-knee-threshold">
            <a:extLst xmlns:a="http://schemas.openxmlformats.org/drawingml/2006/main">
              <a:ext uri="{FF2B5EF4-FFF2-40B4-BE49-F238E27FC236}">
                <a16:creationId xmlns:a16="http://schemas.microsoft.com/office/drawing/2014/main" id="{ED6FC06F-FE27-464D-B952-B7B3674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4368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16A"/>
            </a:solidFill>
            <a:prstDash val="solid"/>
            <a:tailEnd type="none"/>
          </a:ln>
        </p:spPr>
      </p:sp>
      <p:sp>
        <p:nvSpPr>
          <p:cNvPr id="22" name="STC-18-knee-threshold-label">
            <a:extLst xmlns:a="http://schemas.openxmlformats.org/drawingml/2006/main">
              <a:ext uri="{FF2B5EF4-FFF2-40B4-BE49-F238E27FC236}">
                <a16:creationId xmlns:a16="http://schemas.microsoft.com/office/drawing/2014/main" id="{59682FA8-3C66-4E76-91DC-8A5B116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61488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KNEE</a:t>
            </a:r>
          </a:p>
        </p:txBody>
      </p:sp>
      <p:sp>
        <p:nvSpPr>
          <p:cNvPr id="23" name="STC-18-knee-marker">
            <a:extLst xmlns:a="http://schemas.openxmlformats.org/drawingml/2006/main">
              <a:ext uri="{FF2B5EF4-FFF2-40B4-BE49-F238E27FC236}">
                <a16:creationId xmlns:a16="http://schemas.microsoft.com/office/drawing/2014/main" id="{8CD36708-2795-42A2-B1FE-6BF35D2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8950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8-knee-keff">
            <a:extLst xmlns:a="http://schemas.openxmlformats.org/drawingml/2006/main">
              <a:ext uri="{FF2B5EF4-FFF2-40B4-BE49-F238E27FC236}">
                <a16:creationId xmlns:a16="http://schemas.microsoft.com/office/drawing/2014/main" id="{7092C48B-E617-41E2-A6F0-6377395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394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5" name="STC-18-knee-check-title">
            <a:extLst xmlns:a="http://schemas.openxmlformats.org/drawingml/2006/main">
              <a:ext uri="{FF2B5EF4-FFF2-40B4-BE49-F238E27FC236}">
                <a16:creationId xmlns:a16="http://schemas.microsoft.com/office/drawing/2014/main" id="{864F7F11-EE93-42F3-A376-3BC591E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83080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AFTER</a:t>
            </a:r>
          </a:p>
        </p:txBody>
      </p:sp>
      <p:sp>
        <p:nvSpPr>
          <p:cNvPr id="26" name="STC-18-knee-checks-dot-0">
            <a:extLst xmlns:a="http://schemas.openxmlformats.org/drawingml/2006/main">
              <a:ext uri="{FF2B5EF4-FFF2-40B4-BE49-F238E27FC236}">
                <a16:creationId xmlns:a16="http://schemas.microsoft.com/office/drawing/2014/main" id="{4FB9D726-90DF-448D-9CB5-BD91AF1C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35000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7" name="STC-18-knee-checks-item-0">
            <a:extLst xmlns:a="http://schemas.openxmlformats.org/drawingml/2006/main">
              <a:ext uri="{FF2B5EF4-FFF2-40B4-BE49-F238E27FC236}">
                <a16:creationId xmlns:a16="http://schemas.microsoft.com/office/drawing/2014/main" id="{44C5ADE7-8C76-4DBA-8D57-28CFC56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40280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EARLY</a:t>
            </a:r>
          </a:p>
        </p:txBody>
      </p:sp>
      <p:sp>
        <p:nvSpPr>
          <p:cNvPr id="28" name="STC-18-knee-checks-dot-1">
            <a:extLst xmlns:a="http://schemas.openxmlformats.org/drawingml/2006/main">
              <a:ext uri="{FF2B5EF4-FFF2-40B4-BE49-F238E27FC236}">
                <a16:creationId xmlns:a16="http://schemas.microsoft.com/office/drawing/2014/main" id="{AFC33FA9-F997-425E-804C-0F6AB52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077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9" name="STC-18-knee-checks-item-1">
            <a:extLst xmlns:a="http://schemas.openxmlformats.org/drawingml/2006/main">
              <a:ext uri="{FF2B5EF4-FFF2-40B4-BE49-F238E27FC236}">
                <a16:creationId xmlns:a16="http://schemas.microsoft.com/office/drawing/2014/main" id="{B8D75941-BBC2-4813-A867-3514688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98064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MIDDLE</a:t>
            </a:r>
          </a:p>
        </p:txBody>
      </p:sp>
      <p:sp>
        <p:nvSpPr>
          <p:cNvPr id="30" name="STC-18-knee-checks-dot-2">
            <a:extLst xmlns:a="http://schemas.openxmlformats.org/drawingml/2006/main">
              <a:ext uri="{FF2B5EF4-FFF2-40B4-BE49-F238E27FC236}">
                <a16:creationId xmlns:a16="http://schemas.microsoft.com/office/drawing/2014/main" id="{66418C93-8F2D-46E2-9FD7-A0EA74B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655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8-knee-checks-item-2">
            <a:extLst xmlns:a="http://schemas.openxmlformats.org/drawingml/2006/main">
              <a:ext uri="{FF2B5EF4-FFF2-40B4-BE49-F238E27FC236}">
                <a16:creationId xmlns:a16="http://schemas.microsoft.com/office/drawing/2014/main" id="{1288401D-2643-4F1E-9987-2A81D7D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55848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KNEE</a:t>
            </a:r>
          </a:p>
        </p:txBody>
      </p:sp>
      <p:sp>
        <p:nvSpPr>
          <p:cNvPr id="32" name="STC-18-knee-checks-dot-3">
            <a:extLst xmlns:a="http://schemas.openxmlformats.org/drawingml/2006/main">
              <a:ext uri="{FF2B5EF4-FFF2-40B4-BE49-F238E27FC236}">
                <a16:creationId xmlns:a16="http://schemas.microsoft.com/office/drawing/2014/main" id="{DCAC003D-887C-4D38-9EDF-160C916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233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3" name="STC-18-knee-checks-item-3">
            <a:extLst xmlns:a="http://schemas.openxmlformats.org/drawingml/2006/main">
              <a:ext uri="{FF2B5EF4-FFF2-40B4-BE49-F238E27FC236}">
                <a16:creationId xmlns:a16="http://schemas.microsoft.com/office/drawing/2014/main" id="{E51C09CD-2212-4C58-8553-16C319C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13632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AFTER</a:t>
            </a:r>
          </a:p>
        </p:txBody>
      </p:sp>
      <p:sp>
        <p:nvSpPr>
          <p:cNvPr id="34" name="STC-18-knee-checks-dot-4">
            <a:extLst xmlns:a="http://schemas.openxmlformats.org/drawingml/2006/main">
              <a:ext uri="{FF2B5EF4-FFF2-40B4-BE49-F238E27FC236}">
                <a16:creationId xmlns:a16="http://schemas.microsoft.com/office/drawing/2014/main" id="{5919D9A1-A06F-4CAC-A455-916E57B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811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5" name="STC-18-knee-checks-item-4">
            <a:extLst xmlns:a="http://schemas.openxmlformats.org/drawingml/2006/main">
              <a:ext uri="{FF2B5EF4-FFF2-40B4-BE49-F238E27FC236}">
                <a16:creationId xmlns:a16="http://schemas.microsoft.com/office/drawing/2014/main" id="{D63F0508-B06F-4B5B-B222-9758774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471416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EARLY</a:t>
            </a:r>
          </a:p>
        </p:txBody>
      </p:sp>
      <p:sp>
        <p:nvSpPr>
          <p:cNvPr id="36" name="STC-18-knee-unidentified">
            <a:extLst xmlns:a="http://schemas.openxmlformats.org/drawingml/2006/main">
              <a:ext uri="{FF2B5EF4-FFF2-40B4-BE49-F238E27FC236}">
                <a16:creationId xmlns:a16="http://schemas.microsoft.com/office/drawing/2014/main" id="{2A3895EC-67C0-4742-BF11-ED63DC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230368"/>
            <a:ext cx="2706624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7" name="STC-18-knee-unidentified-text">
            <a:extLst xmlns:a="http://schemas.openxmlformats.org/drawingml/2006/main">
              <a:ext uri="{FF2B5EF4-FFF2-40B4-BE49-F238E27FC236}">
                <a16:creationId xmlns:a16="http://schemas.microsoft.com/office/drawing/2014/main" id="{3790EDB7-E6C9-4F80-B319-618B982E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404104"/>
            <a:ext cx="2432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Device byte와 usable memory capacity를 같은 값으로 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168167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4-section">
            <a:extLst xmlns:a="http://schemas.openxmlformats.org/drawingml/2006/main">
              <a:ext uri="{FF2B5EF4-FFF2-40B4-BE49-F238E27FC236}">
                <a16:creationId xmlns:a16="http://schemas.microsoft.com/office/drawing/2014/main" id="{D55356B8-A175-4935-B209-7BD03E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24-slide-id">
            <a:extLst xmlns:a="http://schemas.openxmlformats.org/drawingml/2006/main">
              <a:ext uri="{FF2B5EF4-FFF2-40B4-BE49-F238E27FC236}">
                <a16:creationId xmlns:a16="http://schemas.microsoft.com/office/drawing/2014/main" id="{78B2880B-1829-43C6-82F1-E91F313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STC-027</a:t>
            </a:r>
          </a:p>
        </p:txBody>
      </p:sp>
      <p:sp>
        <p:nvSpPr>
          <p:cNvPr id="4" name="STC-24-headline">
            <a:extLst xmlns:a="http://schemas.openxmlformats.org/drawingml/2006/main">
              <a:ext uri="{FF2B5EF4-FFF2-40B4-BE49-F238E27FC236}">
                <a16:creationId xmlns:a16="http://schemas.microsoft.com/office/drawing/2014/main" id="{7EFF5843-575F-446B-B829-1A50360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Poison·privacy·delete는 memory medium마다 다른 잔여 위험을 남긴다</a:t>
            </a:r>
          </a:p>
        </p:txBody>
      </p:sp>
      <p:sp>
        <p:nvSpPr>
          <p:cNvPr id="5" name="STC-24-status-label">
            <a:extLst xmlns:a="http://schemas.openxmlformats.org/drawingml/2006/main">
              <a:ext uri="{FF2B5EF4-FFF2-40B4-BE49-F238E27FC236}">
                <a16:creationId xmlns:a16="http://schemas.microsoft.com/office/drawing/2014/main" id="{BB9E5C04-3E6C-4F28-B08B-9B9AD6E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한계</a:t>
            </a:r>
          </a:p>
        </p:txBody>
      </p:sp>
      <p:sp>
        <p:nvSpPr>
          <p:cNvPr id="6" name="STC-24-status-rule">
            <a:extLst xmlns:a="http://schemas.openxmlformats.org/drawingml/2006/main">
              <a:ext uri="{FF2B5EF4-FFF2-40B4-BE49-F238E27FC236}">
                <a16:creationId xmlns:a16="http://schemas.microsoft.com/office/drawing/2014/main" id="{D1FC3B55-2A2E-45AA-95F6-0583EE5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4-footer-rule">
            <a:extLst xmlns:a="http://schemas.openxmlformats.org/drawingml/2006/main">
              <a:ext uri="{FF2B5EF4-FFF2-40B4-BE49-F238E27FC236}">
                <a16:creationId xmlns:a16="http://schemas.microsoft.com/office/drawing/2014/main" id="{0F5FF2EC-5946-4BA4-AC60-2C5FB9C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4-source-footer">
            <a:extLst xmlns:a="http://schemas.openxmlformats.org/drawingml/2006/main">
              <a:ext uri="{FF2B5EF4-FFF2-40B4-BE49-F238E27FC236}">
                <a16:creationId xmlns:a16="http://schemas.microsoft.com/office/drawing/2014/main" id="{5BD7A1B6-F31C-4947-B44A-705BBCA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STC-C037/C054</a:t>
            </a:r>
          </a:p>
        </p:txBody>
      </p:sp>
      <p:sp>
        <p:nvSpPr>
          <p:cNvPr id="9" name="STC-24-page-number">
            <a:extLst xmlns:a="http://schemas.openxmlformats.org/drawingml/2006/main">
              <a:ext uri="{FF2B5EF4-FFF2-40B4-BE49-F238E27FC236}">
                <a16:creationId xmlns:a16="http://schemas.microsoft.com/office/drawing/2014/main" id="{9DD45F5A-4477-4865-A126-C6C266F7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27</a:t>
            </a:r>
          </a:p>
        </p:txBody>
      </p:sp>
      <p:sp>
        <p:nvSpPr>
          <p:cNvPr id="11" name="STC-24-redteam-field">
            <a:extLst xmlns:a="http://schemas.openxmlformats.org/drawingml/2006/main">
              <a:ext uri="{FF2B5EF4-FFF2-40B4-BE49-F238E27FC236}">
                <a16:creationId xmlns:a16="http://schemas.microsoft.com/office/drawing/2014/main" id="{7103473D-2E31-4B30-9328-78263DD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2852928" cy="431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2" name="STC-24-redteam-31">
            <a:extLst xmlns:a="http://schemas.openxmlformats.org/drawingml/2006/main">
              <a:ext uri="{FF2B5EF4-FFF2-40B4-BE49-F238E27FC236}">
                <a16:creationId xmlns:a16="http://schemas.microsoft.com/office/drawing/2014/main" id="{8AF4504C-B767-48D4-BBCD-94EC5AF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01952"/>
            <a:ext cx="221284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04</a:t>
            </a:r>
          </a:p>
        </p:txBody>
      </p:sp>
      <p:sp>
        <p:nvSpPr>
          <p:cNvPr id="13" name="STC-24-redteam-findings">
            <a:extLst xmlns:a="http://schemas.openxmlformats.org/drawingml/2006/main">
              <a:ext uri="{FF2B5EF4-FFF2-40B4-BE49-F238E27FC236}">
                <a16:creationId xmlns:a16="http://schemas.microsoft.com/office/drawing/2014/main" id="{B01523B4-485A-4132-B232-BA11A8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16352"/>
            <a:ext cx="221284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adversarial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findings</a:t>
            </a:r>
          </a:p>
        </p:txBody>
      </p:sp>
      <p:sp>
        <p:nvSpPr>
          <p:cNvPr id="14" name="STC-24-redteam-rule">
            <a:extLst xmlns:a="http://schemas.openxmlformats.org/drawingml/2006/main">
              <a:ext uri="{FF2B5EF4-FFF2-40B4-BE49-F238E27FC236}">
                <a16:creationId xmlns:a16="http://schemas.microsoft.com/office/drawing/2014/main" id="{2BB482A1-6070-4983-A590-0667FC85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2029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5" name="STC-24-redteam-domains">
            <a:extLst xmlns:a="http://schemas.openxmlformats.org/drawingml/2006/main">
              <a:ext uri="{FF2B5EF4-FFF2-40B4-BE49-F238E27FC236}">
                <a16:creationId xmlns:a16="http://schemas.microsoft.com/office/drawing/2014/main" id="{73A03FB3-05DD-41DF-89CC-C6C2AA2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05072"/>
            <a:ext cx="2029968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statistics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systems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publication</a:t>
            </a:r>
          </a:p>
        </p:txBody>
      </p:sp>
      <p:sp>
        <p:nvSpPr>
          <p:cNvPr id="16" name="STC-24-redteam-condition-0">
            <a:extLst xmlns:a="http://schemas.openxmlformats.org/drawingml/2006/main">
              <a:ext uri="{FF2B5EF4-FFF2-40B4-BE49-F238E27FC236}">
                <a16:creationId xmlns:a16="http://schemas.microsoft.com/office/drawing/2014/main" id="{9C6EFA57-2AF4-405B-B8E0-2644092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1636776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POISON</a:t>
            </a:r>
          </a:p>
        </p:txBody>
      </p:sp>
      <p:sp>
        <p:nvSpPr>
          <p:cNvPr id="17" name="STC-24-redteam-arrow-0">
            <a:extLst xmlns:a="http://schemas.openxmlformats.org/drawingml/2006/main">
              <a:ext uri="{FF2B5EF4-FFF2-40B4-BE49-F238E27FC236}">
                <a16:creationId xmlns:a16="http://schemas.microsoft.com/office/drawing/2014/main" id="{C29B3FBD-C180-4F47-B914-ABB0151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746504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18" name="STC-24-redteam-action-0">
            <a:extLst xmlns:a="http://schemas.openxmlformats.org/drawingml/2006/main">
              <a:ext uri="{FF2B5EF4-FFF2-40B4-BE49-F238E27FC236}">
                <a16:creationId xmlns:a16="http://schemas.microsoft.com/office/drawing/2014/main" id="{F2D57FF2-40C9-475B-8ADE-71EEA69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오염된 record가 derived state로 확산</a:t>
            </a:r>
          </a:p>
        </p:txBody>
      </p:sp>
      <p:sp>
        <p:nvSpPr>
          <p:cNvPr id="19" name="STC-24-redteam-condition-1">
            <a:extLst xmlns:a="http://schemas.openxmlformats.org/drawingml/2006/main">
              <a:ext uri="{FF2B5EF4-FFF2-40B4-BE49-F238E27FC236}">
                <a16:creationId xmlns:a16="http://schemas.microsoft.com/office/drawing/2014/main" id="{BDE2CA5D-58FC-434F-A841-A08FD1A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46888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PRIVACY</a:t>
            </a:r>
          </a:p>
        </p:txBody>
      </p:sp>
      <p:sp>
        <p:nvSpPr>
          <p:cNvPr id="20" name="STC-24-redteam-arrow-1">
            <a:extLst xmlns:a="http://schemas.openxmlformats.org/drawingml/2006/main">
              <a:ext uri="{FF2B5EF4-FFF2-40B4-BE49-F238E27FC236}">
                <a16:creationId xmlns:a16="http://schemas.microsoft.com/office/drawing/2014/main" id="{4F577BF9-80F7-40D0-B459-5F8A21E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57860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1" name="STC-24-redteam-action-1">
            <a:extLst xmlns:a="http://schemas.openxmlformats.org/drawingml/2006/main">
              <a:ext uri="{FF2B5EF4-FFF2-40B4-BE49-F238E27FC236}">
                <a16:creationId xmlns:a16="http://schemas.microsoft.com/office/drawing/2014/main" id="{4B0FE478-8D2F-4712-9C23-542528B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2304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raw replay와 user delta가 sensitive data를 보존</a:t>
            </a:r>
          </a:p>
        </p:txBody>
      </p:sp>
      <p:sp>
        <p:nvSpPr>
          <p:cNvPr id="22" name="STC-24-redteam-condition-2">
            <a:extLst xmlns:a="http://schemas.openxmlformats.org/drawingml/2006/main">
              <a:ext uri="{FF2B5EF4-FFF2-40B4-BE49-F238E27FC236}">
                <a16:creationId xmlns:a16="http://schemas.microsoft.com/office/drawing/2014/main" id="{11181FB9-A935-4704-BB86-C9143D9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300984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DELETE</a:t>
            </a:r>
          </a:p>
        </p:txBody>
      </p:sp>
      <p:sp>
        <p:nvSpPr>
          <p:cNvPr id="23" name="STC-24-redteam-arrow-2">
            <a:extLst xmlns:a="http://schemas.openxmlformats.org/drawingml/2006/main">
              <a:ext uri="{FF2B5EF4-FFF2-40B4-BE49-F238E27FC236}">
                <a16:creationId xmlns:a16="http://schemas.microsoft.com/office/drawing/2014/main" id="{C90658B6-997B-4942-AA92-F0B084A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4" name="STC-24-redteam-action-2">
            <a:extLst xmlns:a="http://schemas.openxmlformats.org/drawingml/2006/main">
              <a:ext uri="{FF2B5EF4-FFF2-40B4-BE49-F238E27FC236}">
                <a16:creationId xmlns:a16="http://schemas.microsoft.com/office/drawing/2014/main" id="{6FF7ED04-6279-41A5-BFAD-89B5537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4408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summary·graph·cache·adapter까지 전파</a:t>
            </a:r>
          </a:p>
        </p:txBody>
      </p:sp>
      <p:sp>
        <p:nvSpPr>
          <p:cNvPr id="25" name="STC-24-redteam-condition-3">
            <a:extLst xmlns:a="http://schemas.openxmlformats.org/drawingml/2006/main">
              <a:ext uri="{FF2B5EF4-FFF2-40B4-BE49-F238E27FC236}">
                <a16:creationId xmlns:a16="http://schemas.microsoft.com/office/drawing/2014/main" id="{DBBCD39B-5871-4E2B-A51F-BB942E5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133088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RECOVER</a:t>
            </a:r>
          </a:p>
        </p:txBody>
      </p:sp>
      <p:sp>
        <p:nvSpPr>
          <p:cNvPr id="26" name="STC-24-redteam-arrow-3">
            <a:extLst xmlns:a="http://schemas.openxmlformats.org/drawingml/2006/main">
              <a:ext uri="{FF2B5EF4-FFF2-40B4-BE49-F238E27FC236}">
                <a16:creationId xmlns:a16="http://schemas.microsoft.com/office/drawing/2014/main" id="{9660AB56-69B6-4FBD-B813-9CBF988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42816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7" name="STC-24-redteam-action-3">
            <a:extLst xmlns:a="http://schemas.openxmlformats.org/drawingml/2006/main">
              <a:ext uri="{FF2B5EF4-FFF2-40B4-BE49-F238E27FC236}">
                <a16:creationId xmlns:a16="http://schemas.microsoft.com/office/drawing/2014/main" id="{4AA4EC1B-1A5F-4725-ACF1-86B744B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6512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lineage-driven invalidate와 rebuild</a:t>
            </a:r>
          </a:p>
        </p:txBody>
      </p:sp>
      <p:sp>
        <p:nvSpPr>
          <p:cNvPr id="28" name="STC-24-redteam-condition-4">
            <a:extLst xmlns:a="http://schemas.openxmlformats.org/drawingml/2006/main">
              <a:ext uri="{FF2B5EF4-FFF2-40B4-BE49-F238E27FC236}">
                <a16:creationId xmlns:a16="http://schemas.microsoft.com/office/drawing/2014/main" id="{1D3D302A-47E2-4D26-B565-7B54698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96519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POISON</a:t>
            </a:r>
          </a:p>
        </p:txBody>
      </p:sp>
      <p:sp>
        <p:nvSpPr>
          <p:cNvPr id="29" name="STC-24-redteam-arrow-4">
            <a:extLst xmlns:a="http://schemas.openxmlformats.org/drawingml/2006/main">
              <a:ext uri="{FF2B5EF4-FFF2-40B4-BE49-F238E27FC236}">
                <a16:creationId xmlns:a16="http://schemas.microsoft.com/office/drawing/2014/main" id="{8B4BB7C3-0894-4624-B64A-2332CAB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0749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0" name="STC-24-redteam-action-4">
            <a:extLst xmlns:a="http://schemas.openxmlformats.org/drawingml/2006/main">
              <a:ext uri="{FF2B5EF4-FFF2-40B4-BE49-F238E27FC236}">
                <a16:creationId xmlns:a16="http://schemas.microsoft.com/office/drawing/2014/main" id="{BF3F69E8-1C0C-4846-9932-4467BC7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28616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오염된 record가 derived state로 확산</a:t>
            </a:r>
          </a:p>
        </p:txBody>
      </p:sp>
      <p:sp>
        <p:nvSpPr>
          <p:cNvPr id="31" name="STC-24-redteam-bottom">
            <a:extLst xmlns:a="http://schemas.openxmlformats.org/drawingml/2006/main">
              <a:ext uri="{FF2B5EF4-FFF2-40B4-BE49-F238E27FC236}">
                <a16:creationId xmlns:a16="http://schemas.microsoft.com/office/drawing/2014/main" id="{38BBEDEE-CF7E-481C-927F-AD28491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96128"/>
            <a:ext cx="532180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삭제가 source DB에서 끝나면 sleep lifecycle은 불완전하다.</a:t>
            </a:r>
          </a:p>
        </p:txBody>
      </p:sp>
    </p:spTree>
    <p:extLst>
      <p:ext uri="{BB962C8B-B14F-4D97-AF65-F5344CB8AC3E}">
        <p14:creationId xmlns:p14="http://schemas.microsoft.com/office/powerpoint/2010/main" val="14674910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3-section">
            <a:extLst xmlns:a="http://schemas.openxmlformats.org/drawingml/2006/main">
              <a:ext uri="{FF2B5EF4-FFF2-40B4-BE49-F238E27FC236}">
                <a16:creationId xmlns:a16="http://schemas.microsoft.com/office/drawing/2014/main" id="{83B4AEDF-92CA-4038-9758-24EE0FE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PROBLEM</a:t>
            </a:r>
          </a:p>
        </p:txBody>
      </p:sp>
      <p:sp>
        <p:nvSpPr>
          <p:cNvPr id="3" name="STC-23-slide-id">
            <a:extLst xmlns:a="http://schemas.openxmlformats.org/drawingml/2006/main">
              <a:ext uri="{FF2B5EF4-FFF2-40B4-BE49-F238E27FC236}">
                <a16:creationId xmlns:a16="http://schemas.microsoft.com/office/drawing/2014/main" id="{3C7E2B13-9641-442E-9078-087BF17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STC-028</a:t>
            </a:r>
          </a:p>
        </p:txBody>
      </p:sp>
      <p:sp>
        <p:nvSpPr>
          <p:cNvPr id="4" name="STC-23-headline">
            <a:extLst xmlns:a="http://schemas.openxmlformats.org/drawingml/2006/main">
              <a:ext uri="{FF2B5EF4-FFF2-40B4-BE49-F238E27FC236}">
                <a16:creationId xmlns:a16="http://schemas.microsoft.com/office/drawing/2014/main" id="{8C690D20-B7C7-4222-9E22-12ABEE0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Research question은 여섯 개의 answerable 축으로 분해된다</a:t>
            </a:r>
          </a:p>
        </p:txBody>
      </p:sp>
      <p:sp>
        <p:nvSpPr>
          <p:cNvPr id="5" name="STC-23-status-label">
            <a:extLst xmlns:a="http://schemas.openxmlformats.org/drawingml/2006/main">
              <a:ext uri="{FF2B5EF4-FFF2-40B4-BE49-F238E27FC236}">
                <a16:creationId xmlns:a16="http://schemas.microsoft.com/office/drawing/2014/main" id="{BFF28558-5058-4081-AD1B-865AE70D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질문</a:t>
            </a:r>
          </a:p>
        </p:txBody>
      </p:sp>
      <p:sp>
        <p:nvSpPr>
          <p:cNvPr id="6" name="STC-23-status-rule">
            <a:extLst xmlns:a="http://schemas.openxmlformats.org/drawingml/2006/main">
              <a:ext uri="{FF2B5EF4-FFF2-40B4-BE49-F238E27FC236}">
                <a16:creationId xmlns:a16="http://schemas.microsoft.com/office/drawing/2014/main" id="{1CABF356-8D78-415B-A983-F30B38D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23-footer-rule">
            <a:extLst xmlns:a="http://schemas.openxmlformats.org/drawingml/2006/main">
              <a:ext uri="{FF2B5EF4-FFF2-40B4-BE49-F238E27FC236}">
                <a16:creationId xmlns:a16="http://schemas.microsoft.com/office/drawing/2014/main" id="{2487BDDB-4ACB-40EA-B813-FBD0A74F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3-source-footer">
            <a:extLst xmlns:a="http://schemas.openxmlformats.org/drawingml/2006/main">
              <a:ext uri="{FF2B5EF4-FFF2-40B4-BE49-F238E27FC236}">
                <a16:creationId xmlns:a16="http://schemas.microsoft.com/office/drawing/2014/main" id="{B11C6CD1-659A-4D4E-801E-E47DE2CA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S04/S15</a:t>
            </a:r>
          </a:p>
        </p:txBody>
      </p:sp>
      <p:sp>
        <p:nvSpPr>
          <p:cNvPr id="9" name="STC-23-page-number">
            <a:extLst xmlns:a="http://schemas.openxmlformats.org/drawingml/2006/main">
              <a:ext uri="{FF2B5EF4-FFF2-40B4-BE49-F238E27FC236}">
                <a16:creationId xmlns:a16="http://schemas.microsoft.com/office/drawing/2014/main" id="{982079F3-793C-4DBF-BC11-550ACE7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28</a:t>
            </a:r>
          </a:p>
        </p:txBody>
      </p:sp>
      <p:sp>
        <p:nvSpPr>
          <p:cNvPr id="11" name="STC-23-oq-tag-0">
            <a:extLst xmlns:a="http://schemas.openxmlformats.org/drawingml/2006/main">
              <a:ext uri="{FF2B5EF4-FFF2-40B4-BE49-F238E27FC236}">
                <a16:creationId xmlns:a16="http://schemas.microsoft.com/office/drawing/2014/main" id="{3D98CEE7-1FFC-42BA-84C8-29D8070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Q1</a:t>
            </a:r>
          </a:p>
        </p:txBody>
      </p:sp>
      <p:sp>
        <p:nvSpPr>
          <p:cNvPr id="12" name="STC-23-oq-rule-0">
            <a:extLst xmlns:a="http://schemas.openxmlformats.org/drawingml/2006/main">
              <a:ext uri="{FF2B5EF4-FFF2-40B4-BE49-F238E27FC236}">
                <a16:creationId xmlns:a16="http://schemas.microsoft.com/office/drawing/2014/main" id="{791E95A2-EE4C-4B74-B1D3-B3B075F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3-oq-list-0-dot-0">
            <a:extLst xmlns:a="http://schemas.openxmlformats.org/drawingml/2006/main">
              <a:ext uri="{FF2B5EF4-FFF2-40B4-BE49-F238E27FC236}">
                <a16:creationId xmlns:a16="http://schemas.microsoft.com/office/drawing/2014/main" id="{D890EDF2-4BE8-44C8-A8D0-A533DD32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4" name="STC-23-oq-list-0-item-0">
            <a:extLst xmlns:a="http://schemas.openxmlformats.org/drawingml/2006/main">
              <a:ext uri="{FF2B5EF4-FFF2-40B4-BE49-F238E27FC236}">
                <a16:creationId xmlns:a16="http://schemas.microsoft.com/office/drawing/2014/main" id="{808E6A56-6904-4A8B-90DE-E069838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15" name="STC-23-oq-list-0-dot-1">
            <a:extLst xmlns:a="http://schemas.openxmlformats.org/drawingml/2006/main">
              <a:ext uri="{FF2B5EF4-FFF2-40B4-BE49-F238E27FC236}">
                <a16:creationId xmlns:a16="http://schemas.microsoft.com/office/drawing/2014/main" id="{5B072EEB-AB09-446E-ADDB-54C2D26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23-oq-list-0-item-1">
            <a:extLst xmlns:a="http://schemas.openxmlformats.org/drawingml/2006/main">
              <a:ext uri="{FF2B5EF4-FFF2-40B4-BE49-F238E27FC236}">
                <a16:creationId xmlns:a16="http://schemas.microsoft.com/office/drawing/2014/main" id="{396DCCB9-FC49-46D3-ACB9-8313D85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17" name="STC-23-oq-list-0-dot-2">
            <a:extLst xmlns:a="http://schemas.openxmlformats.org/drawingml/2006/main">
              <a:ext uri="{FF2B5EF4-FFF2-40B4-BE49-F238E27FC236}">
                <a16:creationId xmlns:a16="http://schemas.microsoft.com/office/drawing/2014/main" id="{B6BB5E75-0794-4530-883D-D8C0E582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23-oq-list-0-item-2">
            <a:extLst xmlns:a="http://schemas.openxmlformats.org/drawingml/2006/main">
              <a:ext uri="{FF2B5EF4-FFF2-40B4-BE49-F238E27FC236}">
                <a16:creationId xmlns:a16="http://schemas.microsoft.com/office/drawing/2014/main" id="{B7224412-EFB4-49B2-9907-180AE11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Q3</a:t>
            </a:r>
          </a:p>
        </p:txBody>
      </p:sp>
      <p:sp>
        <p:nvSpPr>
          <p:cNvPr id="19" name="STC-23-oq-tag-1">
            <a:extLst xmlns:a="http://schemas.openxmlformats.org/drawingml/2006/main">
              <a:ext uri="{FF2B5EF4-FFF2-40B4-BE49-F238E27FC236}">
                <a16:creationId xmlns:a16="http://schemas.microsoft.com/office/drawing/2014/main" id="{41CD2AB9-6A25-4DDA-A109-E7B888F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Q2</a:t>
            </a:r>
          </a:p>
        </p:txBody>
      </p:sp>
      <p:sp>
        <p:nvSpPr>
          <p:cNvPr id="20" name="STC-23-oq-rule-1">
            <a:extLst xmlns:a="http://schemas.openxmlformats.org/drawingml/2006/main">
              <a:ext uri="{FF2B5EF4-FFF2-40B4-BE49-F238E27FC236}">
                <a16:creationId xmlns:a16="http://schemas.microsoft.com/office/drawing/2014/main" id="{9FD75D67-74B8-4747-B8EF-C615C715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23-oq-list-1-dot-0">
            <a:extLst xmlns:a="http://schemas.openxmlformats.org/drawingml/2006/main">
              <a:ext uri="{FF2B5EF4-FFF2-40B4-BE49-F238E27FC236}">
                <a16:creationId xmlns:a16="http://schemas.microsoft.com/office/drawing/2014/main" id="{E9EACF91-5739-4A48-A5A4-DAF9343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2" name="STC-23-oq-list-1-item-0">
            <a:extLst xmlns:a="http://schemas.openxmlformats.org/drawingml/2006/main">
              <a:ext uri="{FF2B5EF4-FFF2-40B4-BE49-F238E27FC236}">
                <a16:creationId xmlns:a16="http://schemas.microsoft.com/office/drawing/2014/main" id="{1AB30073-10F5-4558-867E-B98985CC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23" name="STC-23-oq-list-1-dot-1">
            <a:extLst xmlns:a="http://schemas.openxmlformats.org/drawingml/2006/main">
              <a:ext uri="{FF2B5EF4-FFF2-40B4-BE49-F238E27FC236}">
                <a16:creationId xmlns:a16="http://schemas.microsoft.com/office/drawing/2014/main" id="{B5D924D0-9846-420F-8055-25A62F2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23-oq-list-1-item-1">
            <a:extLst xmlns:a="http://schemas.openxmlformats.org/drawingml/2006/main">
              <a:ext uri="{FF2B5EF4-FFF2-40B4-BE49-F238E27FC236}">
                <a16:creationId xmlns:a16="http://schemas.microsoft.com/office/drawing/2014/main" id="{15294CC7-3B65-47BC-BD29-B52A0977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25" name="STC-23-oq-list-1-dot-2">
            <a:extLst xmlns:a="http://schemas.openxmlformats.org/drawingml/2006/main">
              <a:ext uri="{FF2B5EF4-FFF2-40B4-BE49-F238E27FC236}">
                <a16:creationId xmlns:a16="http://schemas.microsoft.com/office/drawing/2014/main" id="{3BB3ACF3-023D-4F3A-8683-4A58CB99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23-oq-list-1-item-2">
            <a:extLst xmlns:a="http://schemas.openxmlformats.org/drawingml/2006/main">
              <a:ext uri="{FF2B5EF4-FFF2-40B4-BE49-F238E27FC236}">
                <a16:creationId xmlns:a16="http://schemas.microsoft.com/office/drawing/2014/main" id="{A35398CF-A613-4CF0-819A-3B11BD9C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Q3</a:t>
            </a:r>
          </a:p>
        </p:txBody>
      </p:sp>
      <p:sp>
        <p:nvSpPr>
          <p:cNvPr id="27" name="STC-23-oq-tag-2">
            <a:extLst xmlns:a="http://schemas.openxmlformats.org/drawingml/2006/main">
              <a:ext uri="{FF2B5EF4-FFF2-40B4-BE49-F238E27FC236}">
                <a16:creationId xmlns:a16="http://schemas.microsoft.com/office/drawing/2014/main" id="{AD6ABE25-6720-4FD6-AD74-25D26678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Q3</a:t>
            </a:r>
          </a:p>
        </p:txBody>
      </p:sp>
      <p:sp>
        <p:nvSpPr>
          <p:cNvPr id="28" name="STC-23-oq-rule-2">
            <a:extLst xmlns:a="http://schemas.openxmlformats.org/drawingml/2006/main">
              <a:ext uri="{FF2B5EF4-FFF2-40B4-BE49-F238E27FC236}">
                <a16:creationId xmlns:a16="http://schemas.microsoft.com/office/drawing/2014/main" id="{365B9BA9-8C99-45B1-899A-845C87AB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23-oq-list-2-dot-0">
            <a:extLst xmlns:a="http://schemas.openxmlformats.org/drawingml/2006/main">
              <a:ext uri="{FF2B5EF4-FFF2-40B4-BE49-F238E27FC236}">
                <a16:creationId xmlns:a16="http://schemas.microsoft.com/office/drawing/2014/main" id="{B8DF43B2-7C7A-41E1-8F83-1F0AFE4B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0" name="STC-23-oq-list-2-item-0">
            <a:extLst xmlns:a="http://schemas.openxmlformats.org/drawingml/2006/main">
              <a:ext uri="{FF2B5EF4-FFF2-40B4-BE49-F238E27FC236}">
                <a16:creationId xmlns:a16="http://schemas.microsoft.com/office/drawing/2014/main" id="{AAC5CE98-8E71-49B4-887B-15BAC589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31" name="STC-23-oq-list-2-dot-1">
            <a:extLst xmlns:a="http://schemas.openxmlformats.org/drawingml/2006/main">
              <a:ext uri="{FF2B5EF4-FFF2-40B4-BE49-F238E27FC236}">
                <a16:creationId xmlns:a16="http://schemas.microsoft.com/office/drawing/2014/main" id="{2DB721A4-AA18-4AFE-BB22-5336207D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2" name="STC-23-oq-list-2-item-1">
            <a:extLst xmlns:a="http://schemas.openxmlformats.org/drawingml/2006/main">
              <a:ext uri="{FF2B5EF4-FFF2-40B4-BE49-F238E27FC236}">
                <a16:creationId xmlns:a16="http://schemas.microsoft.com/office/drawing/2014/main" id="{92348E0C-C171-4844-ADDC-EE67F153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33" name="STC-23-oq-list-2-dot-2">
            <a:extLst xmlns:a="http://schemas.openxmlformats.org/drawingml/2006/main">
              <a:ext uri="{FF2B5EF4-FFF2-40B4-BE49-F238E27FC236}">
                <a16:creationId xmlns:a16="http://schemas.microsoft.com/office/drawing/2014/main" id="{78DE9F22-B95A-4F57-AB1A-B34E018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4" name="STC-23-oq-list-2-item-2">
            <a:extLst xmlns:a="http://schemas.openxmlformats.org/drawingml/2006/main">
              <a:ext uri="{FF2B5EF4-FFF2-40B4-BE49-F238E27FC236}">
                <a16:creationId xmlns:a16="http://schemas.microsoft.com/office/drawing/2014/main" id="{E2690F74-0807-40C8-ABDD-230F6BC8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Q3</a:t>
            </a:r>
          </a:p>
        </p:txBody>
      </p:sp>
      <p:sp>
        <p:nvSpPr>
          <p:cNvPr id="35" name="STC-23-oq-div-1">
            <a:extLst xmlns:a="http://schemas.openxmlformats.org/drawingml/2006/main">
              <a:ext uri="{FF2B5EF4-FFF2-40B4-BE49-F238E27FC236}">
                <a16:creationId xmlns:a16="http://schemas.microsoft.com/office/drawing/2014/main" id="{22061BF3-0F26-4D62-8B39-6C7F326C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591056"/>
            <a:ext cx="0" cy="3182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6" name="STC-23-oq-div-2">
            <a:extLst xmlns:a="http://schemas.openxmlformats.org/drawingml/2006/main">
              <a:ext uri="{FF2B5EF4-FFF2-40B4-BE49-F238E27FC236}">
                <a16:creationId xmlns:a16="http://schemas.microsoft.com/office/drawing/2014/main" id="{83497970-4CEC-4464-8E8C-7E9B5F3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591056"/>
            <a:ext cx="0" cy="3182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7" name="STC-23-oq-hyp-title">
            <a:extLst xmlns:a="http://schemas.openxmlformats.org/drawingml/2006/main">
              <a:ext uri="{FF2B5EF4-FFF2-40B4-BE49-F238E27FC236}">
                <a16:creationId xmlns:a16="http://schemas.microsoft.com/office/drawing/2014/main" id="{C4119F67-D01C-4F2E-BF4D-BE5BC81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065776"/>
            <a:ext cx="1060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Q1</a:t>
            </a:r>
          </a:p>
        </p:txBody>
      </p:sp>
      <p:sp>
        <p:nvSpPr>
          <p:cNvPr id="38" name="STC-23-oq-hyp-list">
            <a:extLst xmlns:a="http://schemas.openxmlformats.org/drawingml/2006/main">
              <a:ext uri="{FF2B5EF4-FFF2-40B4-BE49-F238E27FC236}">
                <a16:creationId xmlns:a16="http://schemas.microsoft.com/office/drawing/2014/main" id="{6DFB4405-C980-4915-8DAE-2EA96EE9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965192"/>
            <a:ext cx="899769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각 질문은 strongest baseline과 falsifier를 가져야 한다.</a:t>
            </a:r>
          </a:p>
        </p:txBody>
      </p:sp>
    </p:spTree>
    <p:extLst>
      <p:ext uri="{BB962C8B-B14F-4D97-AF65-F5344CB8AC3E}">
        <p14:creationId xmlns:p14="http://schemas.microsoft.com/office/powerpoint/2010/main" val="6302854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5-section">
            <a:extLst xmlns:a="http://schemas.openxmlformats.org/drawingml/2006/main">
              <a:ext uri="{FF2B5EF4-FFF2-40B4-BE49-F238E27FC236}">
                <a16:creationId xmlns:a16="http://schemas.microsoft.com/office/drawing/2014/main" id="{4EB293F4-2487-4875-A051-A51EF03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3" name="STC-05-slide-id">
            <a:extLst xmlns:a="http://schemas.openxmlformats.org/drawingml/2006/main">
              <a:ext uri="{FF2B5EF4-FFF2-40B4-BE49-F238E27FC236}">
                <a16:creationId xmlns:a16="http://schemas.microsoft.com/office/drawing/2014/main" id="{ADA37B78-4681-47CC-8ABD-231FF75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STC-029</a:t>
            </a:r>
          </a:p>
        </p:txBody>
      </p:sp>
      <p:sp>
        <p:nvSpPr>
          <p:cNvPr id="4" name="STC-05-headline">
            <a:extLst xmlns:a="http://schemas.openxmlformats.org/drawingml/2006/main">
              <a:ext uri="{FF2B5EF4-FFF2-40B4-BE49-F238E27FC236}">
                <a16:creationId xmlns:a16="http://schemas.microsoft.com/office/drawing/2014/main" id="{C0042C5F-B994-40F5-9D17-CDF4F63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‘Sleep’이라는 이름보다 offline consolidation 계보가 먼저였다</a:t>
            </a:r>
          </a:p>
        </p:txBody>
      </p:sp>
      <p:sp>
        <p:nvSpPr>
          <p:cNvPr id="5" name="STC-05-status-label">
            <a:extLst xmlns:a="http://schemas.openxmlformats.org/drawingml/2006/main">
              <a:ext uri="{FF2B5EF4-FFF2-40B4-BE49-F238E27FC236}">
                <a16:creationId xmlns:a16="http://schemas.microsoft.com/office/drawing/2014/main" id="{EE32DF01-4AF9-4194-A3CD-CDD00480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계보</a:t>
            </a:r>
          </a:p>
        </p:txBody>
      </p:sp>
      <p:sp>
        <p:nvSpPr>
          <p:cNvPr id="6" name="STC-05-status-rule">
            <a:extLst xmlns:a="http://schemas.openxmlformats.org/drawingml/2006/main">
              <a:ext uri="{FF2B5EF4-FFF2-40B4-BE49-F238E27FC236}">
                <a16:creationId xmlns:a16="http://schemas.microsoft.com/office/drawing/2014/main" id="{C840C613-2B9B-42D8-81E9-9D7013B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5-footer-rule">
            <a:extLst xmlns:a="http://schemas.openxmlformats.org/drawingml/2006/main">
              <a:ext uri="{FF2B5EF4-FFF2-40B4-BE49-F238E27FC236}">
                <a16:creationId xmlns:a16="http://schemas.microsoft.com/office/drawing/2014/main" id="{0F3B0E16-5517-43D6-958E-D3025B3C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5-source-footer">
            <a:extLst xmlns:a="http://schemas.openxmlformats.org/drawingml/2006/main">
              <a:ext uri="{FF2B5EF4-FFF2-40B4-BE49-F238E27FC236}">
                <a16:creationId xmlns:a16="http://schemas.microsoft.com/office/drawing/2014/main" id="{74620DE9-3F83-42E5-883F-E8200AD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1995–2026 chronology</a:t>
            </a:r>
          </a:p>
        </p:txBody>
      </p:sp>
      <p:sp>
        <p:nvSpPr>
          <p:cNvPr id="9" name="STC-05-page-number">
            <a:extLst xmlns:a="http://schemas.openxmlformats.org/drawingml/2006/main">
              <a:ext uri="{FF2B5EF4-FFF2-40B4-BE49-F238E27FC236}">
                <a16:creationId xmlns:a16="http://schemas.microsoft.com/office/drawing/2014/main" id="{972071EA-0D7F-4941-9099-5374304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29</a:t>
            </a:r>
          </a:p>
        </p:txBody>
      </p:sp>
      <p:sp>
        <p:nvSpPr>
          <p:cNvPr id="11" name="STC-05-timeline">
            <a:extLst xmlns:a="http://schemas.openxmlformats.org/drawingml/2006/main">
              <a:ext uri="{FF2B5EF4-FFF2-40B4-BE49-F238E27FC236}">
                <a16:creationId xmlns:a16="http://schemas.microsoft.com/office/drawing/2014/main" id="{FDC06D83-4E5F-43DC-A42D-CF01BE87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2152"/>
            <a:ext cx="10241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7191C"/>
            </a:solidFill>
            <a:prstDash val="solid"/>
            <a:tailEnd type="none"/>
          </a:ln>
        </p:spPr>
      </p:sp>
      <p:sp>
        <p:nvSpPr>
          <p:cNvPr id="12" name="STC-05-event-dot-0">
            <a:extLst xmlns:a="http://schemas.openxmlformats.org/drawingml/2006/main">
              <a:ext uri="{FF2B5EF4-FFF2-40B4-BE49-F238E27FC236}">
                <a16:creationId xmlns:a16="http://schemas.microsoft.com/office/drawing/2014/main" id="{BD1AF91B-C2E9-4DDF-A0D3-EF4E5FD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3" name="STC-05-event-stem-0">
            <a:extLst xmlns:a="http://schemas.openxmlformats.org/drawingml/2006/main">
              <a:ext uri="{FF2B5EF4-FFF2-40B4-BE49-F238E27FC236}">
                <a16:creationId xmlns:a16="http://schemas.microsoft.com/office/drawing/2014/main" id="{06758DD2-7ACE-4192-A59A-B2970D0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5-event-year-0">
            <a:extLst xmlns:a="http://schemas.openxmlformats.org/drawingml/2006/main">
              <a:ext uri="{FF2B5EF4-FFF2-40B4-BE49-F238E27FC236}">
                <a16:creationId xmlns:a16="http://schemas.microsoft.com/office/drawing/2014/main" id="{5881B83D-3ECB-420F-AB81-C09B181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1995</a:t>
            </a:r>
          </a:p>
        </p:txBody>
      </p:sp>
      <p:sp>
        <p:nvSpPr>
          <p:cNvPr id="15" name="STC-05-event-label-0">
            <a:extLst xmlns:a="http://schemas.openxmlformats.org/drawingml/2006/main">
              <a:ext uri="{FF2B5EF4-FFF2-40B4-BE49-F238E27FC236}">
                <a16:creationId xmlns:a16="http://schemas.microsoft.com/office/drawing/2014/main" id="{3686FD3B-B917-4A27-8EE2-BEA2AE48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Wake–Sleep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CLS</a:t>
            </a:r>
          </a:p>
        </p:txBody>
      </p:sp>
      <p:sp>
        <p:nvSpPr>
          <p:cNvPr id="16" name="STC-05-event-dot-1">
            <a:extLst xmlns:a="http://schemas.openxmlformats.org/drawingml/2006/main">
              <a:ext uri="{FF2B5EF4-FFF2-40B4-BE49-F238E27FC236}">
                <a16:creationId xmlns:a16="http://schemas.microsoft.com/office/drawing/2014/main" id="{C8A5E224-8698-4BA8-A45B-4CED69A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5-event-stem-1">
            <a:extLst xmlns:a="http://schemas.openxmlformats.org/drawingml/2006/main">
              <a:ext uri="{FF2B5EF4-FFF2-40B4-BE49-F238E27FC236}">
                <a16:creationId xmlns:a16="http://schemas.microsoft.com/office/drawing/2014/main" id="{629A8D21-A54E-47A2-9335-41816FC3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05-event-year-1">
            <a:extLst xmlns:a="http://schemas.openxmlformats.org/drawingml/2006/main">
              <a:ext uri="{FF2B5EF4-FFF2-40B4-BE49-F238E27FC236}">
                <a16:creationId xmlns:a16="http://schemas.microsoft.com/office/drawing/2014/main" id="{EA0E4208-21CF-4C93-9736-CFC4B28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2017</a:t>
            </a:r>
          </a:p>
        </p:txBody>
      </p:sp>
      <p:sp>
        <p:nvSpPr>
          <p:cNvPr id="19" name="STC-05-event-label-1">
            <a:extLst xmlns:a="http://schemas.openxmlformats.org/drawingml/2006/main">
              <a:ext uri="{FF2B5EF4-FFF2-40B4-BE49-F238E27FC236}">
                <a16:creationId xmlns:a16="http://schemas.microsoft.com/office/drawing/2014/main" id="{FA009628-E912-4C56-8923-991C0787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EWC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TTT</a:t>
            </a:r>
          </a:p>
        </p:txBody>
      </p:sp>
      <p:sp>
        <p:nvSpPr>
          <p:cNvPr id="20" name="STC-05-event-dot-2">
            <a:extLst xmlns:a="http://schemas.openxmlformats.org/drawingml/2006/main">
              <a:ext uri="{FF2B5EF4-FFF2-40B4-BE49-F238E27FC236}">
                <a16:creationId xmlns:a16="http://schemas.microsoft.com/office/drawing/2014/main" id="{47C3E26C-C517-4853-A881-0E49672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1" name="STC-05-event-stem-2">
            <a:extLst xmlns:a="http://schemas.openxmlformats.org/drawingml/2006/main">
              <a:ext uri="{FF2B5EF4-FFF2-40B4-BE49-F238E27FC236}">
                <a16:creationId xmlns:a16="http://schemas.microsoft.com/office/drawing/2014/main" id="{C9FF1A76-5C3C-41A5-8F67-1B7483AE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22" name="STC-05-event-year-2">
            <a:extLst xmlns:a="http://schemas.openxmlformats.org/drawingml/2006/main">
              <a:ext uri="{FF2B5EF4-FFF2-40B4-BE49-F238E27FC236}">
                <a16:creationId xmlns:a16="http://schemas.microsoft.com/office/drawing/2014/main" id="{28639CBC-4980-43EB-959C-CCB8506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2018</a:t>
            </a:r>
          </a:p>
        </p:txBody>
      </p:sp>
      <p:sp>
        <p:nvSpPr>
          <p:cNvPr id="23" name="STC-05-event-label-2">
            <a:extLst xmlns:a="http://schemas.openxmlformats.org/drawingml/2006/main">
              <a:ext uri="{FF2B5EF4-FFF2-40B4-BE49-F238E27FC236}">
                <a16:creationId xmlns:a16="http://schemas.microsoft.com/office/drawing/2014/main" id="{F6AA30A3-A65B-4212-8ECD-7B2E134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PLOS SNN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PAD / replay</a:t>
            </a:r>
          </a:p>
        </p:txBody>
      </p:sp>
      <p:sp>
        <p:nvSpPr>
          <p:cNvPr id="24" name="STC-05-event-dot-3">
            <a:extLst xmlns:a="http://schemas.openxmlformats.org/drawingml/2006/main">
              <a:ext uri="{FF2B5EF4-FFF2-40B4-BE49-F238E27FC236}">
                <a16:creationId xmlns:a16="http://schemas.microsoft.com/office/drawing/2014/main" id="{A28C8910-E77D-4C8B-93B2-FC7DB93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5-event-stem-3">
            <a:extLst xmlns:a="http://schemas.openxmlformats.org/drawingml/2006/main">
              <a:ext uri="{FF2B5EF4-FFF2-40B4-BE49-F238E27FC236}">
                <a16:creationId xmlns:a16="http://schemas.microsoft.com/office/drawing/2014/main" id="{5BBE5078-49AC-4A31-A149-1F3BEDC0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63"/>
            </a:solidFill>
            <a:prstDash val="solid"/>
            <a:tailEnd type="none"/>
          </a:ln>
        </p:spPr>
      </p:sp>
      <p:sp>
        <p:nvSpPr>
          <p:cNvPr id="26" name="STC-05-event-year-3">
            <a:extLst xmlns:a="http://schemas.openxmlformats.org/drawingml/2006/main">
              <a:ext uri="{FF2B5EF4-FFF2-40B4-BE49-F238E27FC236}">
                <a16:creationId xmlns:a16="http://schemas.microsoft.com/office/drawing/2014/main" id="{B197888C-51CE-4384-A8C7-B05DFBDF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2022</a:t>
            </a:r>
          </a:p>
        </p:txBody>
      </p:sp>
      <p:sp>
        <p:nvSpPr>
          <p:cNvPr id="27" name="STC-05-event-label-3">
            <a:extLst xmlns:a="http://schemas.openxmlformats.org/drawingml/2006/main">
              <a:ext uri="{FF2B5EF4-FFF2-40B4-BE49-F238E27FC236}">
                <a16:creationId xmlns:a16="http://schemas.microsoft.com/office/drawing/2014/main" id="{42E3A0C7-3BA0-4C4E-B20A-E7F0E6E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MemGPT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latent memory</a:t>
            </a:r>
          </a:p>
        </p:txBody>
      </p:sp>
      <p:sp>
        <p:nvSpPr>
          <p:cNvPr id="28" name="STC-05-event-dot-4">
            <a:extLst xmlns:a="http://schemas.openxmlformats.org/drawingml/2006/main">
              <a:ext uri="{FF2B5EF4-FFF2-40B4-BE49-F238E27FC236}">
                <a16:creationId xmlns:a16="http://schemas.microsoft.com/office/drawing/2014/main" id="{0729C98D-FDD7-4FDA-8E5D-7762A584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5-event-stem-4">
            <a:extLst xmlns:a="http://schemas.openxmlformats.org/drawingml/2006/main">
              <a:ext uri="{FF2B5EF4-FFF2-40B4-BE49-F238E27FC236}">
                <a16:creationId xmlns:a16="http://schemas.microsoft.com/office/drawing/2014/main" id="{B4B9AB9A-6DD0-4EF4-9DEA-F4F02EF1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30" name="STC-05-event-year-4">
            <a:extLst xmlns:a="http://schemas.openxmlformats.org/drawingml/2006/main">
              <a:ext uri="{FF2B5EF4-FFF2-40B4-BE49-F238E27FC236}">
                <a16:creationId xmlns:a16="http://schemas.microsoft.com/office/drawing/2014/main" id="{B14013F7-7C70-4748-AF35-9F3DB7F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2023–25</a:t>
            </a:r>
          </a:p>
        </p:txBody>
      </p:sp>
      <p:sp>
        <p:nvSpPr>
          <p:cNvPr id="31" name="STC-05-event-label-4">
            <a:extLst xmlns:a="http://schemas.openxmlformats.org/drawingml/2006/main">
              <a:ext uri="{FF2B5EF4-FFF2-40B4-BE49-F238E27FC236}">
                <a16:creationId xmlns:a16="http://schemas.microsoft.com/office/drawing/2014/main" id="{65A91C20-EAFF-4904-A036-F8ECF8C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Sleep-time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· SMF</a:t>
            </a:r>
          </a:p>
        </p:txBody>
      </p:sp>
      <p:sp>
        <p:nvSpPr>
          <p:cNvPr id="32" name="STC-05-event-dot-5">
            <a:extLst xmlns:a="http://schemas.openxmlformats.org/drawingml/2006/main">
              <a:ext uri="{FF2B5EF4-FFF2-40B4-BE49-F238E27FC236}">
                <a16:creationId xmlns:a16="http://schemas.microsoft.com/office/drawing/2014/main" id="{25A57411-A4A0-474C-A732-B967C9E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3" name="STC-05-event-stem-5">
            <a:extLst xmlns:a="http://schemas.openxmlformats.org/drawingml/2006/main">
              <a:ext uri="{FF2B5EF4-FFF2-40B4-BE49-F238E27FC236}">
                <a16:creationId xmlns:a16="http://schemas.microsoft.com/office/drawing/2014/main" id="{A182FC75-10E1-41B2-8C35-9A1594CE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34" name="STC-05-event-year-5">
            <a:extLst xmlns:a="http://schemas.openxmlformats.org/drawingml/2006/main">
              <a:ext uri="{FF2B5EF4-FFF2-40B4-BE49-F238E27FC236}">
                <a16:creationId xmlns:a16="http://schemas.microsoft.com/office/drawing/2014/main" id="{AA8F393F-74C8-4C97-9374-730E99E9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2026</a:t>
            </a:r>
          </a:p>
        </p:txBody>
      </p:sp>
      <p:sp>
        <p:nvSpPr>
          <p:cNvPr id="35" name="STC-05-event-label-5">
            <a:extLst xmlns:a="http://schemas.openxmlformats.org/drawingml/2006/main">
              <a:ext uri="{FF2B5EF4-FFF2-40B4-BE49-F238E27FC236}">
                <a16:creationId xmlns:a16="http://schemas.microsoft.com/office/drawing/2014/main" id="{DD134BE3-6BEF-45B1-9DCC-8C1FE196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fast→slow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 sleep</a:t>
            </a:r>
          </a:p>
        </p:txBody>
      </p:sp>
      <p:sp>
        <p:nvSpPr>
          <p:cNvPr id="36" name="STC-05-chrono-warning">
            <a:extLst xmlns:a="http://schemas.openxmlformats.org/drawingml/2006/main">
              <a:ext uri="{FF2B5EF4-FFF2-40B4-BE49-F238E27FC236}">
                <a16:creationId xmlns:a16="http://schemas.microsoft.com/office/drawing/2014/main" id="{4C083F30-891B-4FEB-B8FC-4C24B4B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21808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1995</a:t>
            </a:r>
          </a:p>
        </p:txBody>
      </p:sp>
      <p:sp>
        <p:nvSpPr>
          <p:cNvPr id="37" name="STC-05-chrono-warning-text">
            <a:extLst xmlns:a="http://schemas.openxmlformats.org/drawingml/2006/main">
              <a:ext uri="{FF2B5EF4-FFF2-40B4-BE49-F238E27FC236}">
                <a16:creationId xmlns:a16="http://schemas.microsoft.com/office/drawing/2014/main" id="{394734EC-4DD3-4AC7-A25F-A48AAD57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5266944"/>
            <a:ext cx="80924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새로움은 오래된 operator를 long-lived deployment lifecycle로 묶는 데 있다.</a:t>
            </a:r>
          </a:p>
        </p:txBody>
      </p:sp>
    </p:spTree>
    <p:extLst>
      <p:ext uri="{BB962C8B-B14F-4D97-AF65-F5344CB8AC3E}">
        <p14:creationId xmlns:p14="http://schemas.microsoft.com/office/powerpoint/2010/main" val="6514831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6-section">
            <a:extLst xmlns:a="http://schemas.openxmlformats.org/drawingml/2006/main">
              <a:ext uri="{FF2B5EF4-FFF2-40B4-BE49-F238E27FC236}">
                <a16:creationId xmlns:a16="http://schemas.microsoft.com/office/drawing/2014/main" id="{A4B735FE-DF76-49D0-947E-D484E8D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3" name="STC-06-slide-id">
            <a:extLst xmlns:a="http://schemas.openxmlformats.org/drawingml/2006/main">
              <a:ext uri="{FF2B5EF4-FFF2-40B4-BE49-F238E27FC236}">
                <a16:creationId xmlns:a16="http://schemas.microsoft.com/office/drawing/2014/main" id="{CD4DCA6F-87B9-40D7-A181-4D03F6E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STC-030</a:t>
            </a:r>
          </a:p>
        </p:txBody>
      </p:sp>
      <p:sp>
        <p:nvSpPr>
          <p:cNvPr id="4" name="STC-06-headline">
            <a:extLst xmlns:a="http://schemas.openxmlformats.org/drawingml/2006/main">
              <a:ext uri="{FF2B5EF4-FFF2-40B4-BE49-F238E27FC236}">
                <a16:creationId xmlns:a16="http://schemas.microsoft.com/office/drawing/2014/main" id="{9DD72DFE-39A8-4839-A97A-56F63DF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Complementary learning systems는 fast와 slow memory 역할을 나눈다</a:t>
            </a:r>
          </a:p>
        </p:txBody>
      </p:sp>
      <p:sp>
        <p:nvSpPr>
          <p:cNvPr id="5" name="STC-06-status-label">
            <a:extLst xmlns:a="http://schemas.openxmlformats.org/drawingml/2006/main">
              <a:ext uri="{FF2B5EF4-FFF2-40B4-BE49-F238E27FC236}">
                <a16:creationId xmlns:a16="http://schemas.microsoft.com/office/drawing/2014/main" id="{06DA1055-BF45-4F84-B55B-B645ABD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이론</a:t>
            </a:r>
          </a:p>
        </p:txBody>
      </p:sp>
      <p:sp>
        <p:nvSpPr>
          <p:cNvPr id="6" name="STC-06-status-rule">
            <a:extLst xmlns:a="http://schemas.openxmlformats.org/drawingml/2006/main">
              <a:ext uri="{FF2B5EF4-FFF2-40B4-BE49-F238E27FC236}">
                <a16:creationId xmlns:a16="http://schemas.microsoft.com/office/drawing/2014/main" id="{8775D502-9A70-47CF-8196-10A02E6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6-footer-rule">
            <a:extLst xmlns:a="http://schemas.openxmlformats.org/drawingml/2006/main">
              <a:ext uri="{FF2B5EF4-FFF2-40B4-BE49-F238E27FC236}">
                <a16:creationId xmlns:a16="http://schemas.microsoft.com/office/drawing/2014/main" id="{5CC30C30-5F05-467A-9995-DBB632C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6-source-footer">
            <a:extLst xmlns:a="http://schemas.openxmlformats.org/drawingml/2006/main">
              <a:ext uri="{FF2B5EF4-FFF2-40B4-BE49-F238E27FC236}">
                <a16:creationId xmlns:a16="http://schemas.microsoft.com/office/drawing/2014/main" id="{53E02F2E-A992-49A2-A84D-9C79516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McClelland et al. 1995</a:t>
            </a:r>
          </a:p>
        </p:txBody>
      </p:sp>
      <p:sp>
        <p:nvSpPr>
          <p:cNvPr id="9" name="STC-06-page-number">
            <a:extLst xmlns:a="http://schemas.openxmlformats.org/drawingml/2006/main">
              <a:ext uri="{FF2B5EF4-FFF2-40B4-BE49-F238E27FC236}">
                <a16:creationId xmlns:a16="http://schemas.microsoft.com/office/drawing/2014/main" id="{514AF207-6A8F-4EA0-82CB-8A93AF2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30</a:t>
            </a:r>
          </a:p>
        </p:txBody>
      </p:sp>
      <p:sp>
        <p:nvSpPr>
          <p:cNvPr id="11" name="STC-06-bio-left-fill">
            <a:extLst xmlns:a="http://schemas.openxmlformats.org/drawingml/2006/main">
              <a:ext uri="{FF2B5EF4-FFF2-40B4-BE49-F238E27FC236}">
                <a16:creationId xmlns:a16="http://schemas.microsoft.com/office/drawing/2014/main" id="{2A7F7E40-3A07-46DA-A4BE-2190540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6-bio-left-text">
            <a:extLst xmlns:a="http://schemas.openxmlformats.org/drawingml/2006/main">
              <a:ext uri="{FF2B5EF4-FFF2-40B4-BE49-F238E27FC236}">
                <a16:creationId xmlns:a16="http://schemas.microsoft.com/office/drawing/2014/main" id="{FE9CF1DC-CD34-4A40-BC65-BBF5B48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FAST</a:t>
            </a:r>
          </a:p>
        </p:txBody>
      </p:sp>
      <p:sp>
        <p:nvSpPr>
          <p:cNvPr id="13" name="STC-06-bio-right-fill">
            <a:extLst xmlns:a="http://schemas.openxmlformats.org/drawingml/2006/main">
              <a:ext uri="{FF2B5EF4-FFF2-40B4-BE49-F238E27FC236}">
                <a16:creationId xmlns:a16="http://schemas.microsoft.com/office/drawing/2014/main" id="{DF8DD8DF-8E62-40AC-A5EE-9590FB4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4" name="STC-06-bio-right-text">
            <a:extLst xmlns:a="http://schemas.openxmlformats.org/drawingml/2006/main">
              <a:ext uri="{FF2B5EF4-FFF2-40B4-BE49-F238E27FC236}">
                <a16:creationId xmlns:a16="http://schemas.microsoft.com/office/drawing/2014/main" id="{CBDD6DFD-AB19-4CD6-8E2E-10FF984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SLOW</a:t>
            </a:r>
          </a:p>
        </p:txBody>
      </p:sp>
      <p:sp>
        <p:nvSpPr>
          <p:cNvPr id="15" name="STC-06-bio-evidence-dot-0">
            <a:extLst xmlns:a="http://schemas.openxmlformats.org/drawingml/2006/main">
              <a:ext uri="{FF2B5EF4-FFF2-40B4-BE49-F238E27FC236}">
                <a16:creationId xmlns:a16="http://schemas.microsoft.com/office/drawing/2014/main" id="{53A4A694-6C62-4744-9EB8-215930F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06-bio-evidence-item-0">
            <a:extLst xmlns:a="http://schemas.openxmlformats.org/drawingml/2006/main">
              <a:ext uri="{FF2B5EF4-FFF2-40B4-BE49-F238E27FC236}">
                <a16:creationId xmlns:a16="http://schemas.microsoft.com/office/drawing/2014/main" id="{B27B9F97-BA89-4F4C-8508-55265DB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episode를 빠르게 포착하는 hippocampal 역할</a:t>
            </a:r>
          </a:p>
        </p:txBody>
      </p:sp>
      <p:sp>
        <p:nvSpPr>
          <p:cNvPr id="17" name="STC-06-bio-evidence-dot-1">
            <a:extLst xmlns:a="http://schemas.openxmlformats.org/drawingml/2006/main">
              <a:ext uri="{FF2B5EF4-FFF2-40B4-BE49-F238E27FC236}">
                <a16:creationId xmlns:a16="http://schemas.microsoft.com/office/drawing/2014/main" id="{89E191D0-04CC-4F8E-9DEC-D875117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06-bio-evidence-item-1">
            <a:extLst xmlns:a="http://schemas.openxmlformats.org/drawingml/2006/main">
              <a:ext uri="{FF2B5EF4-FFF2-40B4-BE49-F238E27FC236}">
                <a16:creationId xmlns:a16="http://schemas.microsoft.com/office/drawing/2014/main" id="{5C1F736A-EB12-4BD9-9940-B452BDE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여러 episode에서 stable structure를 통합</a:t>
            </a:r>
          </a:p>
        </p:txBody>
      </p:sp>
      <p:sp>
        <p:nvSpPr>
          <p:cNvPr id="19" name="STC-06-bio-evidence-dot-2">
            <a:extLst xmlns:a="http://schemas.openxmlformats.org/drawingml/2006/main">
              <a:ext uri="{FF2B5EF4-FFF2-40B4-BE49-F238E27FC236}">
                <a16:creationId xmlns:a16="http://schemas.microsoft.com/office/drawing/2014/main" id="{0DBE0EE7-6412-422A-A9F1-DEC4179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0" name="STC-06-bio-evidence-item-2">
            <a:extLst xmlns:a="http://schemas.openxmlformats.org/drawingml/2006/main">
              <a:ext uri="{FF2B5EF4-FFF2-40B4-BE49-F238E27FC236}">
                <a16:creationId xmlns:a16="http://schemas.microsoft.com/office/drawing/2014/main" id="{86512795-66D6-4004-8057-A2E9A8B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offline reactivation으로 두 system 연결</a:t>
            </a:r>
          </a:p>
        </p:txBody>
      </p:sp>
      <p:sp>
        <p:nvSpPr>
          <p:cNvPr id="21" name="STC-06-bio-evidence-dot-3">
            <a:extLst xmlns:a="http://schemas.openxmlformats.org/drawingml/2006/main">
              <a:ext uri="{FF2B5EF4-FFF2-40B4-BE49-F238E27FC236}">
                <a16:creationId xmlns:a16="http://schemas.microsoft.com/office/drawing/2014/main" id="{944876B1-6C90-46ED-806D-ECD71BE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2" name="STC-06-bio-evidence-item-3">
            <a:extLst xmlns:a="http://schemas.openxmlformats.org/drawingml/2006/main">
              <a:ext uri="{FF2B5EF4-FFF2-40B4-BE49-F238E27FC236}">
                <a16:creationId xmlns:a16="http://schemas.microsoft.com/office/drawing/2014/main" id="{3F6B31E1-BB59-4802-9A8F-1426976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biological plausibility는 fleet economics가 아님</a:t>
            </a:r>
          </a:p>
        </p:txBody>
      </p:sp>
      <p:sp>
        <p:nvSpPr>
          <p:cNvPr id="23" name="STC-06-bio-nonclaim-dot-0">
            <a:extLst xmlns:a="http://schemas.openxmlformats.org/drawingml/2006/main">
              <a:ext uri="{FF2B5EF4-FFF2-40B4-BE49-F238E27FC236}">
                <a16:creationId xmlns:a16="http://schemas.microsoft.com/office/drawing/2014/main" id="{C97E3534-1958-4CC2-BA51-27F3DF7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6-bio-nonclaim-item-0">
            <a:extLst xmlns:a="http://schemas.openxmlformats.org/drawingml/2006/main">
              <a:ext uri="{FF2B5EF4-FFF2-40B4-BE49-F238E27FC236}">
                <a16:creationId xmlns:a16="http://schemas.microsoft.com/office/drawing/2014/main" id="{5DFD87CB-136B-4C75-882B-BD30BEA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episode를 빠르게 포착하는 hippocampal 역할</a:t>
            </a:r>
          </a:p>
        </p:txBody>
      </p:sp>
      <p:sp>
        <p:nvSpPr>
          <p:cNvPr id="25" name="STC-06-bio-nonclaim-dot-1">
            <a:extLst xmlns:a="http://schemas.openxmlformats.org/drawingml/2006/main">
              <a:ext uri="{FF2B5EF4-FFF2-40B4-BE49-F238E27FC236}">
                <a16:creationId xmlns:a16="http://schemas.microsoft.com/office/drawing/2014/main" id="{C736A87E-538E-4499-B03D-5D486B7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6-bio-nonclaim-item-1">
            <a:extLst xmlns:a="http://schemas.openxmlformats.org/drawingml/2006/main">
              <a:ext uri="{FF2B5EF4-FFF2-40B4-BE49-F238E27FC236}">
                <a16:creationId xmlns:a16="http://schemas.microsoft.com/office/drawing/2014/main" id="{812A62B2-5CCE-4E38-943B-22C3F2E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여러 episode에서 stable structure를 통합</a:t>
            </a:r>
          </a:p>
        </p:txBody>
      </p:sp>
      <p:sp>
        <p:nvSpPr>
          <p:cNvPr id="27" name="STC-06-bio-nonclaim-dot-2">
            <a:extLst xmlns:a="http://schemas.openxmlformats.org/drawingml/2006/main">
              <a:ext uri="{FF2B5EF4-FFF2-40B4-BE49-F238E27FC236}">
                <a16:creationId xmlns:a16="http://schemas.microsoft.com/office/drawing/2014/main" id="{894A5D0E-6427-4429-BB60-8FBB970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6-bio-nonclaim-item-2">
            <a:extLst xmlns:a="http://schemas.openxmlformats.org/drawingml/2006/main">
              <a:ext uri="{FF2B5EF4-FFF2-40B4-BE49-F238E27FC236}">
                <a16:creationId xmlns:a16="http://schemas.microsoft.com/office/drawing/2014/main" id="{F2B5C7BB-D16F-4578-891A-7F1755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offline reactivation으로 두 system 연결</a:t>
            </a:r>
          </a:p>
        </p:txBody>
      </p:sp>
      <p:sp>
        <p:nvSpPr>
          <p:cNvPr id="29" name="STC-06-bio-nonclaim-dot-3">
            <a:extLst xmlns:a="http://schemas.openxmlformats.org/drawingml/2006/main">
              <a:ext uri="{FF2B5EF4-FFF2-40B4-BE49-F238E27FC236}">
                <a16:creationId xmlns:a16="http://schemas.microsoft.com/office/drawing/2014/main" id="{BA55F7BB-2727-4765-99EE-99BB0B4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6-bio-nonclaim-item-3">
            <a:extLst xmlns:a="http://schemas.openxmlformats.org/drawingml/2006/main">
              <a:ext uri="{FF2B5EF4-FFF2-40B4-BE49-F238E27FC236}">
                <a16:creationId xmlns:a16="http://schemas.microsoft.com/office/drawing/2014/main" id="{B22C231B-50D5-443C-B5A5-B875274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biological plausibility는 fleet economics가 아님</a:t>
            </a:r>
          </a:p>
        </p:txBody>
      </p:sp>
      <p:sp>
        <p:nvSpPr>
          <p:cNvPr id="31" name="STC-06-bio-divider">
            <a:extLst xmlns:a="http://schemas.openxmlformats.org/drawingml/2006/main">
              <a:ext uri="{FF2B5EF4-FFF2-40B4-BE49-F238E27FC236}">
                <a16:creationId xmlns:a16="http://schemas.microsoft.com/office/drawing/2014/main" id="{2FC2CC98-5AAE-4B2D-85D9-0DEC2281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82496"/>
            <a:ext cx="0" cy="4133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2" name="STC-06-bio-rule-label">
            <a:extLst xmlns:a="http://schemas.openxmlformats.org/drawingml/2006/main">
              <a:ext uri="{FF2B5EF4-FFF2-40B4-BE49-F238E27FC236}">
                <a16:creationId xmlns:a16="http://schemas.microsoft.com/office/drawing/2014/main" id="{42F59A1A-CF1F-4DBD-886E-C552A26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440680"/>
            <a:ext cx="3127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REPLAY</a:t>
            </a:r>
          </a:p>
        </p:txBody>
      </p:sp>
      <p:sp>
        <p:nvSpPr>
          <p:cNvPr id="33" name="STC-06-bio-rule">
            <a:extLst xmlns:a="http://schemas.openxmlformats.org/drawingml/2006/main">
              <a:ext uri="{FF2B5EF4-FFF2-40B4-BE49-F238E27FC236}">
                <a16:creationId xmlns:a16="http://schemas.microsoft.com/office/drawing/2014/main" id="{018D8C45-50E2-47B7-B006-827C281D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5715000"/>
            <a:ext cx="82661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episode를 빠르게 포착하는 hippocampal 역할</a:t>
            </a:r>
          </a:p>
        </p:txBody>
      </p:sp>
    </p:spTree>
    <p:extLst>
      <p:ext uri="{BB962C8B-B14F-4D97-AF65-F5344CB8AC3E}">
        <p14:creationId xmlns:p14="http://schemas.microsoft.com/office/powerpoint/2010/main" val="4231333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STC-031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Wake–Sleep은 generative model 학습 알고리즘에서 시작했다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계보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Hinton et al. 1995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31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WAKE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LEGACY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LESSON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WAKE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SLEEP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2-section">
            <a:extLst xmlns:a="http://schemas.openxmlformats.org/drawingml/2006/main">
              <a:ext uri="{FF2B5EF4-FFF2-40B4-BE49-F238E27FC236}">
                <a16:creationId xmlns:a16="http://schemas.microsoft.com/office/drawing/2014/main" id="{9BED9E58-00E9-465F-81C5-F51DC1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3" name="STC-12-slide-id">
            <a:extLst xmlns:a="http://schemas.openxmlformats.org/drawingml/2006/main">
              <a:ext uri="{FF2B5EF4-FFF2-40B4-BE49-F238E27FC236}">
                <a16:creationId xmlns:a16="http://schemas.microsoft.com/office/drawing/2014/main" id="{F143FB54-340A-4C97-AFD3-7653D00B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STC-032</a:t>
            </a:r>
          </a:p>
        </p:txBody>
      </p:sp>
      <p:sp>
        <p:nvSpPr>
          <p:cNvPr id="4" name="STC-12-headline">
            <a:extLst xmlns:a="http://schemas.openxmlformats.org/drawingml/2006/main">
              <a:ext uri="{FF2B5EF4-FFF2-40B4-BE49-F238E27FC236}">
                <a16:creationId xmlns:a16="http://schemas.microsoft.com/office/drawing/2014/main" id="{B20880B4-6186-43A8-9FAD-366FE1B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Pseudorehearsal과 generative replay는 old data를 재구성한다</a:t>
            </a:r>
          </a:p>
        </p:txBody>
      </p:sp>
      <p:sp>
        <p:nvSpPr>
          <p:cNvPr id="5" name="STC-12-status-label">
            <a:extLst xmlns:a="http://schemas.openxmlformats.org/drawingml/2006/main">
              <a:ext uri="{FF2B5EF4-FFF2-40B4-BE49-F238E27FC236}">
                <a16:creationId xmlns:a16="http://schemas.microsoft.com/office/drawing/2014/main" id="{0CF310CB-1928-4691-A3FB-666D399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12-status-rule">
            <a:extLst xmlns:a="http://schemas.openxmlformats.org/drawingml/2006/main">
              <a:ext uri="{FF2B5EF4-FFF2-40B4-BE49-F238E27FC236}">
                <a16:creationId xmlns:a16="http://schemas.microsoft.com/office/drawing/2014/main" id="{3E99E4B1-295E-48F2-94DF-80F4D863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2-footer-rule">
            <a:extLst xmlns:a="http://schemas.openxmlformats.org/drawingml/2006/main">
              <a:ext uri="{FF2B5EF4-FFF2-40B4-BE49-F238E27FC236}">
                <a16:creationId xmlns:a16="http://schemas.microsoft.com/office/drawing/2014/main" id="{A3C1CC2F-D951-41BA-9A0A-1723072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2-source-footer">
            <a:extLst xmlns:a="http://schemas.openxmlformats.org/drawingml/2006/main">
              <a:ext uri="{FF2B5EF4-FFF2-40B4-BE49-F238E27FC236}">
                <a16:creationId xmlns:a16="http://schemas.microsoft.com/office/drawing/2014/main" id="{04E4D685-2DD8-4371-A68D-FBB0A31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Robins 1995 · Shin et al. 2017</a:t>
            </a:r>
          </a:p>
        </p:txBody>
      </p:sp>
      <p:sp>
        <p:nvSpPr>
          <p:cNvPr id="9" name="STC-12-page-number">
            <a:extLst xmlns:a="http://schemas.openxmlformats.org/drawingml/2006/main">
              <a:ext uri="{FF2B5EF4-FFF2-40B4-BE49-F238E27FC236}">
                <a16:creationId xmlns:a16="http://schemas.microsoft.com/office/drawing/2014/main" id="{1FABB635-BAC3-411B-B672-1373736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32</a:t>
            </a:r>
          </a:p>
        </p:txBody>
      </p:sp>
      <p:sp>
        <p:nvSpPr>
          <p:cNvPr id="11" name="STC-12-op-node-0">
            <a:extLst xmlns:a="http://schemas.openxmlformats.org/drawingml/2006/main">
              <a:ext uri="{FF2B5EF4-FFF2-40B4-BE49-F238E27FC236}">
                <a16:creationId xmlns:a16="http://schemas.microsoft.com/office/drawing/2014/main" id="{9565E26F-887E-4304-8DBF-1E174EC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56362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2" name="STC-12-op-num-0">
            <a:extLst xmlns:a="http://schemas.openxmlformats.org/drawingml/2006/main">
              <a:ext uri="{FF2B5EF4-FFF2-40B4-BE49-F238E27FC236}">
                <a16:creationId xmlns:a16="http://schemas.microsoft.com/office/drawing/2014/main" id="{D48EE726-A278-44FD-822B-C049FB2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69164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3" name="STC-12-op-tag-0">
            <a:extLst xmlns:a="http://schemas.openxmlformats.org/drawingml/2006/main">
              <a:ext uri="{FF2B5EF4-FFF2-40B4-BE49-F238E27FC236}">
                <a16:creationId xmlns:a16="http://schemas.microsoft.com/office/drawing/2014/main" id="{E816A992-8F21-4B25-BCDD-A098663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36829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ADMIT</a:t>
            </a:r>
          </a:p>
        </p:txBody>
      </p:sp>
      <p:sp>
        <p:nvSpPr>
          <p:cNvPr id="14" name="STC-12-op-body-0">
            <a:extLst xmlns:a="http://schemas.openxmlformats.org/drawingml/2006/main">
              <a:ext uri="{FF2B5EF4-FFF2-40B4-BE49-F238E27FC236}">
                <a16:creationId xmlns:a16="http://schemas.microsoft.com/office/drawing/2014/main" id="{165A7B8B-3F81-4002-8250-9F527A3B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7218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distribution의 대표 trace 선택</a:t>
            </a:r>
          </a:p>
        </p:txBody>
      </p:sp>
      <p:sp>
        <p:nvSpPr>
          <p:cNvPr id="15" name="STC-12-op-link-0">
            <a:extLst xmlns:a="http://schemas.openxmlformats.org/drawingml/2006/main">
              <a:ext uri="{FF2B5EF4-FFF2-40B4-BE49-F238E27FC236}">
                <a16:creationId xmlns:a16="http://schemas.microsoft.com/office/drawing/2014/main" id="{9B485991-DCDC-402B-9D7D-4F6EC04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12-op-node-1">
            <a:extLst xmlns:a="http://schemas.openxmlformats.org/drawingml/2006/main">
              <a:ext uri="{FF2B5EF4-FFF2-40B4-BE49-F238E27FC236}">
                <a16:creationId xmlns:a16="http://schemas.microsoft.com/office/drawing/2014/main" id="{F80C4FE0-F1BC-4D46-8887-D3C1757C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12-op-num-1">
            <a:extLst xmlns:a="http://schemas.openxmlformats.org/drawingml/2006/main">
              <a:ext uri="{FF2B5EF4-FFF2-40B4-BE49-F238E27FC236}">
                <a16:creationId xmlns:a16="http://schemas.microsoft.com/office/drawing/2014/main" id="{F9AAE281-2CB6-4B37-AF68-53AFB0A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8" name="STC-12-op-tag-1">
            <a:extLst xmlns:a="http://schemas.openxmlformats.org/drawingml/2006/main">
              <a:ext uri="{FF2B5EF4-FFF2-40B4-BE49-F238E27FC236}">
                <a16:creationId xmlns:a16="http://schemas.microsoft.com/office/drawing/2014/main" id="{DB376A64-3995-4E35-AD03-8003FB0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GENERATE</a:t>
            </a:r>
          </a:p>
        </p:txBody>
      </p:sp>
      <p:sp>
        <p:nvSpPr>
          <p:cNvPr id="19" name="STC-12-op-body-1">
            <a:extLst xmlns:a="http://schemas.openxmlformats.org/drawingml/2006/main">
              <a:ext uri="{FF2B5EF4-FFF2-40B4-BE49-F238E27FC236}">
                <a16:creationId xmlns:a16="http://schemas.microsoft.com/office/drawing/2014/main" id="{EC50FD79-C18A-4040-9760-EDA4257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stored exemplar 또는 pseudo-sample 재생</a:t>
            </a:r>
          </a:p>
        </p:txBody>
      </p:sp>
      <p:sp>
        <p:nvSpPr>
          <p:cNvPr id="20" name="STC-12-op-link-1">
            <a:extLst xmlns:a="http://schemas.openxmlformats.org/drawingml/2006/main">
              <a:ext uri="{FF2B5EF4-FFF2-40B4-BE49-F238E27FC236}">
                <a16:creationId xmlns:a16="http://schemas.microsoft.com/office/drawing/2014/main" id="{1D205391-CBC8-47B1-9F68-03FDF9A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452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2-op-node-2">
            <a:extLst xmlns:a="http://schemas.openxmlformats.org/drawingml/2006/main">
              <a:ext uri="{FF2B5EF4-FFF2-40B4-BE49-F238E27FC236}">
                <a16:creationId xmlns:a16="http://schemas.microsoft.com/office/drawing/2014/main" id="{68B4B873-F963-44E1-9F2C-50BDC97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2-op-num-2">
            <a:extLst xmlns:a="http://schemas.openxmlformats.org/drawingml/2006/main">
              <a:ext uri="{FF2B5EF4-FFF2-40B4-BE49-F238E27FC236}">
                <a16:creationId xmlns:a16="http://schemas.microsoft.com/office/drawing/2014/main" id="{DA6C6E96-24AB-49A1-8C94-F7D3A6D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3" name="STC-12-op-tag-2">
            <a:extLst xmlns:a="http://schemas.openxmlformats.org/drawingml/2006/main">
              <a:ext uri="{FF2B5EF4-FFF2-40B4-BE49-F238E27FC236}">
                <a16:creationId xmlns:a16="http://schemas.microsoft.com/office/drawing/2014/main" id="{DE77EAA3-C1E2-4BB3-A6CD-F742DF3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MIX</a:t>
            </a:r>
          </a:p>
        </p:txBody>
      </p:sp>
      <p:sp>
        <p:nvSpPr>
          <p:cNvPr id="24" name="STC-12-op-body-2">
            <a:extLst xmlns:a="http://schemas.openxmlformats.org/drawingml/2006/main">
              <a:ext uri="{FF2B5EF4-FFF2-40B4-BE49-F238E27FC236}">
                <a16:creationId xmlns:a16="http://schemas.microsoft.com/office/drawing/2014/main" id="{2FAE901B-858A-4FBE-8454-E355DFA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new data와 replay를 같은 batch에 결합</a:t>
            </a:r>
          </a:p>
        </p:txBody>
      </p:sp>
      <p:sp>
        <p:nvSpPr>
          <p:cNvPr id="25" name="STC-12-op-link-2">
            <a:extLst xmlns:a="http://schemas.openxmlformats.org/drawingml/2006/main">
              <a:ext uri="{FF2B5EF4-FFF2-40B4-BE49-F238E27FC236}">
                <a16:creationId xmlns:a16="http://schemas.microsoft.com/office/drawing/2014/main" id="{1FF3F698-4B8B-4FDF-8C1C-B38373EE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35040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6" name="STC-12-op-node-3">
            <a:extLst xmlns:a="http://schemas.openxmlformats.org/drawingml/2006/main">
              <a:ext uri="{FF2B5EF4-FFF2-40B4-BE49-F238E27FC236}">
                <a16:creationId xmlns:a16="http://schemas.microsoft.com/office/drawing/2014/main" id="{18FCBE66-54BC-4BD1-85B8-B66B2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1297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12-op-num-3">
            <a:extLst xmlns:a="http://schemas.openxmlformats.org/drawingml/2006/main">
              <a:ext uri="{FF2B5EF4-FFF2-40B4-BE49-F238E27FC236}">
                <a16:creationId xmlns:a16="http://schemas.microsoft.com/office/drawing/2014/main" id="{B016CB40-821A-426B-BB69-C4EA19B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25780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8" name="STC-12-op-tag-3">
            <a:extLst xmlns:a="http://schemas.openxmlformats.org/drawingml/2006/main">
              <a:ext uri="{FF2B5EF4-FFF2-40B4-BE49-F238E27FC236}">
                <a16:creationId xmlns:a16="http://schemas.microsoft.com/office/drawing/2014/main" id="{FDF0F062-D6A7-490E-BE3A-D052AF8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593445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UPDATE</a:t>
            </a:r>
          </a:p>
        </p:txBody>
      </p:sp>
      <p:sp>
        <p:nvSpPr>
          <p:cNvPr id="29" name="STC-12-op-body-3">
            <a:extLst xmlns:a="http://schemas.openxmlformats.org/drawingml/2006/main">
              <a:ext uri="{FF2B5EF4-FFF2-40B4-BE49-F238E27FC236}">
                <a16:creationId xmlns:a16="http://schemas.microsoft.com/office/drawing/2014/main" id="{3BF79E21-1FF6-4F3B-8783-4089065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6227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solver가 old/new를 함께 학습</a:t>
            </a:r>
          </a:p>
        </p:txBody>
      </p:sp>
      <p:sp>
        <p:nvSpPr>
          <p:cNvPr id="30" name="STC-12-op-link-3">
            <a:extLst xmlns:a="http://schemas.openxmlformats.org/drawingml/2006/main">
              <a:ext uri="{FF2B5EF4-FFF2-40B4-BE49-F238E27FC236}">
                <a16:creationId xmlns:a16="http://schemas.microsoft.com/office/drawing/2014/main" id="{C2D2C21F-163F-4D95-9BF0-CD645F7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44628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1" name="STC-12-op-node-4">
            <a:extLst xmlns:a="http://schemas.openxmlformats.org/drawingml/2006/main">
              <a:ext uri="{FF2B5EF4-FFF2-40B4-BE49-F238E27FC236}">
                <a16:creationId xmlns:a16="http://schemas.microsoft.com/office/drawing/2014/main" id="{15454C93-9714-40BA-A132-E320F2F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2" name="STC-12-op-num-4">
            <a:extLst xmlns:a="http://schemas.openxmlformats.org/drawingml/2006/main">
              <a:ext uri="{FF2B5EF4-FFF2-40B4-BE49-F238E27FC236}">
                <a16:creationId xmlns:a16="http://schemas.microsoft.com/office/drawing/2014/main" id="{9C622E44-8EB5-4A8F-9D61-4DAD460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33" name="STC-12-op-tag-4">
            <a:extLst xmlns:a="http://schemas.openxmlformats.org/drawingml/2006/main">
              <a:ext uri="{FF2B5EF4-FFF2-40B4-BE49-F238E27FC236}">
                <a16:creationId xmlns:a16="http://schemas.microsoft.com/office/drawing/2014/main" id="{FD53F60B-6AD4-4C55-B97A-929F8BA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RISK</a:t>
            </a:r>
          </a:p>
        </p:txBody>
      </p:sp>
      <p:sp>
        <p:nvSpPr>
          <p:cNvPr id="34" name="STC-12-op-body-4">
            <a:extLst xmlns:a="http://schemas.openxmlformats.org/drawingml/2006/main">
              <a:ext uri="{FF2B5EF4-FFF2-40B4-BE49-F238E27FC236}">
                <a16:creationId xmlns:a16="http://schemas.microsoft.com/office/drawing/2014/main" id="{69B11EFB-0B67-4435-A518-4BD5674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generator bias와 privacy trade-off</a:t>
            </a:r>
          </a:p>
        </p:txBody>
      </p:sp>
      <p:sp>
        <p:nvSpPr>
          <p:cNvPr id="35" name="STC-12-op-link-4">
            <a:extLst xmlns:a="http://schemas.openxmlformats.org/drawingml/2006/main">
              <a:ext uri="{FF2B5EF4-FFF2-40B4-BE49-F238E27FC236}">
                <a16:creationId xmlns:a16="http://schemas.microsoft.com/office/drawing/2014/main" id="{49EA155E-1AD2-4243-9273-CD4608D5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6" name="STC-12-op-node-5">
            <a:extLst xmlns:a="http://schemas.openxmlformats.org/drawingml/2006/main">
              <a:ext uri="{FF2B5EF4-FFF2-40B4-BE49-F238E27FC236}">
                <a16:creationId xmlns:a16="http://schemas.microsoft.com/office/drawing/2014/main" id="{BCE04997-1C16-4A22-9D57-C05C3C7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7" name="STC-12-op-num-5">
            <a:extLst xmlns:a="http://schemas.openxmlformats.org/drawingml/2006/main">
              <a:ext uri="{FF2B5EF4-FFF2-40B4-BE49-F238E27FC236}">
                <a16:creationId xmlns:a16="http://schemas.microsoft.com/office/drawing/2014/main" id="{599C82AF-1ACF-4452-BAFC-2647307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38" name="STC-12-op-tag-5">
            <a:extLst xmlns:a="http://schemas.openxmlformats.org/drawingml/2006/main">
              <a:ext uri="{FF2B5EF4-FFF2-40B4-BE49-F238E27FC236}">
                <a16:creationId xmlns:a16="http://schemas.microsoft.com/office/drawing/2014/main" id="{B07599FE-D711-4F70-976F-A5A391A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ADMIT</a:t>
            </a:r>
          </a:p>
        </p:txBody>
      </p:sp>
      <p:sp>
        <p:nvSpPr>
          <p:cNvPr id="39" name="STC-12-op-body-5">
            <a:extLst xmlns:a="http://schemas.openxmlformats.org/drawingml/2006/main">
              <a:ext uri="{FF2B5EF4-FFF2-40B4-BE49-F238E27FC236}">
                <a16:creationId xmlns:a16="http://schemas.microsoft.com/office/drawing/2014/main" id="{423310C0-5466-447C-9A7D-22EAE19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distribution의 대표 trace 선택</a:t>
            </a:r>
          </a:p>
        </p:txBody>
      </p:sp>
      <p:sp>
        <p:nvSpPr>
          <p:cNvPr id="40" name="STC-12-op-link-5">
            <a:extLst xmlns:a="http://schemas.openxmlformats.org/drawingml/2006/main">
              <a:ext uri="{FF2B5EF4-FFF2-40B4-BE49-F238E27FC236}">
                <a16:creationId xmlns:a16="http://schemas.microsoft.com/office/drawing/2014/main" id="{F56FC784-7401-4605-B130-CFE571A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41" name="STC-12-op-center">
            <a:extLst xmlns:a="http://schemas.openxmlformats.org/drawingml/2006/main">
              <a:ext uri="{FF2B5EF4-FFF2-40B4-BE49-F238E27FC236}">
                <a16:creationId xmlns:a16="http://schemas.microsoft.com/office/drawing/2014/main" id="{768EE9E5-A371-4721-B14D-560E6C4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2" name="STC-12-op-center-text">
            <a:extLst xmlns:a="http://schemas.openxmlformats.org/drawingml/2006/main">
              <a:ext uri="{FF2B5EF4-FFF2-40B4-BE49-F238E27FC236}">
                <a16:creationId xmlns:a16="http://schemas.microsoft.com/office/drawing/2014/main" id="{742C75B8-42AB-46D8-A657-D904AEC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246120"/>
            <a:ext cx="168249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3039140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8-section">
            <a:extLst xmlns:a="http://schemas.openxmlformats.org/drawingml/2006/main">
              <a:ext uri="{FF2B5EF4-FFF2-40B4-BE49-F238E27FC236}">
                <a16:creationId xmlns:a16="http://schemas.microsoft.com/office/drawing/2014/main" id="{7F97D696-2E76-4EC9-B686-7BF98FE5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3" name="STC-08-slide-id">
            <a:extLst xmlns:a="http://schemas.openxmlformats.org/drawingml/2006/main">
              <a:ext uri="{FF2B5EF4-FFF2-40B4-BE49-F238E27FC236}">
                <a16:creationId xmlns:a16="http://schemas.microsoft.com/office/drawing/2014/main" id="{CB9EF161-ECEF-4B7E-B74F-8D9E242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STC-033</a:t>
            </a:r>
          </a:p>
        </p:txBody>
      </p:sp>
      <p:sp>
        <p:nvSpPr>
          <p:cNvPr id="4" name="STC-08-headline">
            <a:extLst xmlns:a="http://schemas.openxmlformats.org/drawingml/2006/main">
              <a:ext uri="{FF2B5EF4-FFF2-40B4-BE49-F238E27FC236}">
                <a16:creationId xmlns:a16="http://schemas.microsoft.com/office/drawing/2014/main" id="{8E3DE000-9954-4D2C-BC94-8606B6E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EWC와 GEM은 sleep 없이 update 충돌을 줄인다</a:t>
            </a:r>
          </a:p>
        </p:txBody>
      </p:sp>
      <p:sp>
        <p:nvSpPr>
          <p:cNvPr id="5" name="STC-08-status-label">
            <a:extLst xmlns:a="http://schemas.openxmlformats.org/drawingml/2006/main">
              <a:ext uri="{FF2B5EF4-FFF2-40B4-BE49-F238E27FC236}">
                <a16:creationId xmlns:a16="http://schemas.microsoft.com/office/drawing/2014/main" id="{D07E376F-A4F0-440A-8973-16E3EED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대안</a:t>
            </a:r>
          </a:p>
        </p:txBody>
      </p:sp>
      <p:sp>
        <p:nvSpPr>
          <p:cNvPr id="6" name="STC-08-status-rule">
            <a:extLst xmlns:a="http://schemas.openxmlformats.org/drawingml/2006/main">
              <a:ext uri="{FF2B5EF4-FFF2-40B4-BE49-F238E27FC236}">
                <a16:creationId xmlns:a16="http://schemas.microsoft.com/office/drawing/2014/main" id="{0BBA66F0-9D87-4317-BBAE-8088049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8-footer-rule">
            <a:extLst xmlns:a="http://schemas.openxmlformats.org/drawingml/2006/main">
              <a:ext uri="{FF2B5EF4-FFF2-40B4-BE49-F238E27FC236}">
                <a16:creationId xmlns:a16="http://schemas.microsoft.com/office/drawing/2014/main" id="{E510CEFC-C974-4BE9-8B37-1C73B0BD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8-source-footer">
            <a:extLst xmlns:a="http://schemas.openxmlformats.org/drawingml/2006/main">
              <a:ext uri="{FF2B5EF4-FFF2-40B4-BE49-F238E27FC236}">
                <a16:creationId xmlns:a16="http://schemas.microsoft.com/office/drawing/2014/main" id="{D81DCB5E-AC73-4A09-A5F7-8F0476E3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Kirkpatrick 2017 · Lopez-Paz 2017</a:t>
            </a:r>
          </a:p>
        </p:txBody>
      </p:sp>
      <p:sp>
        <p:nvSpPr>
          <p:cNvPr id="9" name="STC-08-page-number">
            <a:extLst xmlns:a="http://schemas.openxmlformats.org/drawingml/2006/main">
              <a:ext uri="{FF2B5EF4-FFF2-40B4-BE49-F238E27FC236}">
                <a16:creationId xmlns:a16="http://schemas.microsoft.com/office/drawing/2014/main" id="{4FA5EC8D-4353-4511-9A31-1E8D1BD7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33</a:t>
            </a:r>
          </a:p>
        </p:txBody>
      </p:sp>
      <p:sp>
        <p:nvSpPr>
          <p:cNvPr id="11" name="STC-08-pad-title">
            <a:extLst xmlns:a="http://schemas.openxmlformats.org/drawingml/2006/main">
              <a:ext uri="{FF2B5EF4-FFF2-40B4-BE49-F238E27FC236}">
                <a16:creationId xmlns:a16="http://schemas.microsoft.com/office/drawing/2014/main" id="{E4CD4F9B-A815-4A88-93D1-8D51EDE9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37360"/>
            <a:ext cx="1143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EWC</a:t>
            </a:r>
          </a:p>
        </p:txBody>
      </p:sp>
      <p:sp>
        <p:nvSpPr>
          <p:cNvPr id="12" name="STC-08-pad-full">
            <a:extLst xmlns:a="http://schemas.openxmlformats.org/drawingml/2006/main">
              <a:ext uri="{FF2B5EF4-FFF2-40B4-BE49-F238E27FC236}">
                <a16:creationId xmlns:a16="http://schemas.microsoft.com/office/drawing/2014/main" id="{F6BC91A5-2B85-42D5-9D2E-91D8AF17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801368"/>
            <a:ext cx="3429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old-important parameter 이동에 Fisher penalty</a:t>
            </a:r>
          </a:p>
        </p:txBody>
      </p:sp>
      <p:sp>
        <p:nvSpPr>
          <p:cNvPr id="13" name="STC-08-pad-rule">
            <a:extLst xmlns:a="http://schemas.openxmlformats.org/drawingml/2006/main">
              <a:ext uri="{FF2B5EF4-FFF2-40B4-BE49-F238E27FC236}">
                <a16:creationId xmlns:a16="http://schemas.microsoft.com/office/drawing/2014/main" id="{9DB9E4B7-DABB-48BC-98E4-A1A02B1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331720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4" name="STC-08-pad-nrem">
            <a:extLst xmlns:a="http://schemas.openxmlformats.org/drawingml/2006/main">
              <a:ext uri="{FF2B5EF4-FFF2-40B4-BE49-F238E27FC236}">
                <a16:creationId xmlns:a16="http://schemas.microsoft.com/office/drawing/2014/main" id="{6D37CB4F-614F-4CF5-BCDA-D1AA5BF0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6148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GEM</a:t>
            </a:r>
          </a:p>
        </p:txBody>
      </p:sp>
      <p:sp>
        <p:nvSpPr>
          <p:cNvPr id="15" name="STC-08-pad-nrem-text">
            <a:extLst xmlns:a="http://schemas.openxmlformats.org/drawingml/2006/main">
              <a:ext uri="{FF2B5EF4-FFF2-40B4-BE49-F238E27FC236}">
                <a16:creationId xmlns:a16="http://schemas.microsoft.com/office/drawing/2014/main" id="{A95DE607-13BA-4084-8EBD-56D7466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06624"/>
            <a:ext cx="3611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example loss가 증가하지 않도록 gradient projection</a:t>
            </a:r>
          </a:p>
        </p:txBody>
      </p:sp>
      <p:sp>
        <p:nvSpPr>
          <p:cNvPr id="16" name="STC-08-pad-rem">
            <a:extLst xmlns:a="http://schemas.openxmlformats.org/drawingml/2006/main">
              <a:ext uri="{FF2B5EF4-FFF2-40B4-BE49-F238E27FC236}">
                <a16:creationId xmlns:a16="http://schemas.microsoft.com/office/drawing/2014/main" id="{92F4DE59-93E1-4CCB-A263-A4BEE3AE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2044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STRENGTH</a:t>
            </a:r>
          </a:p>
        </p:txBody>
      </p:sp>
      <p:sp>
        <p:nvSpPr>
          <p:cNvPr id="17" name="STC-08-pad-rem-text">
            <a:extLst xmlns:a="http://schemas.openxmlformats.org/drawingml/2006/main">
              <a:ext uri="{FF2B5EF4-FFF2-40B4-BE49-F238E27FC236}">
                <a16:creationId xmlns:a16="http://schemas.microsoft.com/office/drawing/2014/main" id="{89F9EBB8-EEDD-4462-B4B5-CB51439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465576"/>
            <a:ext cx="3611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retention 문제에 직접 대응</a:t>
            </a:r>
          </a:p>
        </p:txBody>
      </p:sp>
      <p:sp>
        <p:nvSpPr>
          <p:cNvPr id="18" name="STC-08-pad-scope">
            <a:extLst xmlns:a="http://schemas.openxmlformats.org/drawingml/2006/main">
              <a:ext uri="{FF2B5EF4-FFF2-40B4-BE49-F238E27FC236}">
                <a16:creationId xmlns:a16="http://schemas.microsoft.com/office/drawing/2014/main" id="{A67F0AFA-C6A0-42C1-9C29-58F999A9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4480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task 증가·buffer·governance debt</a:t>
            </a:r>
          </a:p>
        </p:txBody>
      </p:sp>
      <p:sp>
        <p:nvSpPr>
          <p:cNvPr id="19" name="STC-08-pad-dann-divider">
            <a:extLst xmlns:a="http://schemas.openxmlformats.org/drawingml/2006/main">
              <a:ext uri="{FF2B5EF4-FFF2-40B4-BE49-F238E27FC236}">
                <a16:creationId xmlns:a16="http://schemas.microsoft.com/office/drawing/2014/main" id="{742D8FAE-A71A-4F45-80F2-7769AB88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27632"/>
            <a:ext cx="0" cy="41696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0" name="STC-08-dann-title">
            <a:extLst xmlns:a="http://schemas.openxmlformats.org/drawingml/2006/main">
              <a:ext uri="{FF2B5EF4-FFF2-40B4-BE49-F238E27FC236}">
                <a16:creationId xmlns:a16="http://schemas.microsoft.com/office/drawing/2014/main" id="{D25E8CA2-B839-4F96-BB76-7EF8CDEC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73736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21" name="STC-08-dann-full">
            <a:extLst xmlns:a="http://schemas.openxmlformats.org/drawingml/2006/main">
              <a:ext uri="{FF2B5EF4-FFF2-40B4-BE49-F238E27FC236}">
                <a16:creationId xmlns:a16="http://schemas.microsoft.com/office/drawing/2014/main" id="{768AEA27-198E-44B7-BDBA-A296DD67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801368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old-important parameter 이동에 Fisher penalty</a:t>
            </a:r>
          </a:p>
        </p:txBody>
      </p:sp>
      <p:sp>
        <p:nvSpPr>
          <p:cNvPr id="22" name="STC-08-dann-rule">
            <a:extLst xmlns:a="http://schemas.openxmlformats.org/drawingml/2006/main">
              <a:ext uri="{FF2B5EF4-FFF2-40B4-BE49-F238E27FC236}">
                <a16:creationId xmlns:a16="http://schemas.microsoft.com/office/drawing/2014/main" id="{8B0B0EBD-BD43-4769-ABE0-8D352EA7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331720"/>
            <a:ext cx="4736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08-dann-list-dot-0">
            <a:extLst xmlns:a="http://schemas.openxmlformats.org/drawingml/2006/main">
              <a:ext uri="{FF2B5EF4-FFF2-40B4-BE49-F238E27FC236}">
                <a16:creationId xmlns:a16="http://schemas.microsoft.com/office/drawing/2014/main" id="{7282E566-6C61-47AB-8B81-E830D3BC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81635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8-dann-list-item-0">
            <a:extLst xmlns:a="http://schemas.openxmlformats.org/drawingml/2006/main">
              <a:ext uri="{FF2B5EF4-FFF2-40B4-BE49-F238E27FC236}">
                <a16:creationId xmlns:a16="http://schemas.microsoft.com/office/drawing/2014/main" id="{E8E36ADC-5F02-4647-AF50-DEA2746C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706624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EWC</a:t>
            </a:r>
          </a:p>
        </p:txBody>
      </p:sp>
      <p:sp>
        <p:nvSpPr>
          <p:cNvPr id="25" name="STC-08-dann-list-dot-1">
            <a:extLst xmlns:a="http://schemas.openxmlformats.org/drawingml/2006/main">
              <a:ext uri="{FF2B5EF4-FFF2-40B4-BE49-F238E27FC236}">
                <a16:creationId xmlns:a16="http://schemas.microsoft.com/office/drawing/2014/main" id="{84BE4F13-8468-4B45-87A2-C75EB7C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44728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8-dann-list-item-1">
            <a:extLst xmlns:a="http://schemas.openxmlformats.org/drawingml/2006/main">
              <a:ext uri="{FF2B5EF4-FFF2-40B4-BE49-F238E27FC236}">
                <a16:creationId xmlns:a16="http://schemas.microsoft.com/office/drawing/2014/main" id="{F98600DE-A19E-4E16-ABA8-A00732B1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337560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GEM</a:t>
            </a:r>
          </a:p>
        </p:txBody>
      </p:sp>
      <p:sp>
        <p:nvSpPr>
          <p:cNvPr id="27" name="STC-08-dann-list-dot-2">
            <a:extLst xmlns:a="http://schemas.openxmlformats.org/drawingml/2006/main">
              <a:ext uri="{FF2B5EF4-FFF2-40B4-BE49-F238E27FC236}">
                <a16:creationId xmlns:a16="http://schemas.microsoft.com/office/drawing/2014/main" id="{33C21D67-78A5-4FE9-B580-8E0F0CC1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0782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8-dann-list-item-2">
            <a:extLst xmlns:a="http://schemas.openxmlformats.org/drawingml/2006/main">
              <a:ext uri="{FF2B5EF4-FFF2-40B4-BE49-F238E27FC236}">
                <a16:creationId xmlns:a16="http://schemas.microsoft.com/office/drawing/2014/main" id="{72ADA370-A7BF-4E57-9C13-E03213E1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968496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STRENGTH</a:t>
            </a:r>
          </a:p>
        </p:txBody>
      </p:sp>
      <p:sp>
        <p:nvSpPr>
          <p:cNvPr id="29" name="STC-08-dann-list-dot-3">
            <a:extLst xmlns:a="http://schemas.openxmlformats.org/drawingml/2006/main">
              <a:ext uri="{FF2B5EF4-FFF2-40B4-BE49-F238E27FC236}">
                <a16:creationId xmlns:a16="http://schemas.microsoft.com/office/drawing/2014/main" id="{1061F511-2788-439D-9913-2690CD0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7091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8-dann-list-item-3">
            <a:extLst xmlns:a="http://schemas.openxmlformats.org/drawingml/2006/main">
              <a:ext uri="{FF2B5EF4-FFF2-40B4-BE49-F238E27FC236}">
                <a16:creationId xmlns:a16="http://schemas.microsoft.com/office/drawing/2014/main" id="{BBFFE852-14AD-49E7-9D9E-587FD3E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99432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LIMIT</a:t>
            </a:r>
          </a:p>
        </p:txBody>
      </p:sp>
      <p:sp>
        <p:nvSpPr>
          <p:cNvPr id="31" name="STC-08-dann-verdict">
            <a:extLst xmlns:a="http://schemas.openxmlformats.org/drawingml/2006/main">
              <a:ext uri="{FF2B5EF4-FFF2-40B4-BE49-F238E27FC236}">
                <a16:creationId xmlns:a16="http://schemas.microsoft.com/office/drawing/2014/main" id="{FEB9DA27-261C-44DF-AEC7-BDB7232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102352"/>
            <a:ext cx="4407408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2" name="STC-08-dann-verdict-text">
            <a:extLst xmlns:a="http://schemas.openxmlformats.org/drawingml/2006/main">
              <a:ext uri="{FF2B5EF4-FFF2-40B4-BE49-F238E27FC236}">
                <a16:creationId xmlns:a16="http://schemas.microsoft.com/office/drawing/2014/main" id="{D91B2882-1293-4974-8F6C-F1D8ED5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6944"/>
            <a:ext cx="4005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Sleep은 이 baseline보다 lifecycle utility에서 이겨야 한다.</a:t>
            </a:r>
          </a:p>
        </p:txBody>
      </p:sp>
    </p:spTree>
    <p:extLst>
      <p:ext uri="{BB962C8B-B14F-4D97-AF65-F5344CB8AC3E}">
        <p14:creationId xmlns:p14="http://schemas.microsoft.com/office/powerpoint/2010/main" val="2755750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STC-034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Progress &amp; Compress는 active learning과 consolidation을 교대했다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Schwarz et al. ICML 2018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34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ACTIVE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PROGRESS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COMPRESS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DIRECT LINK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ACTIVE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PROGRESS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DIRECT EVIDENCE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STC-035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2022 PLOS는 두 과제 SNN에서 sleep-like replay를 검증했다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Golden et al. PLOS CB 2022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35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WAKE 1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WAKE 2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LATER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842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WAKE 1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WAKE 2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≥10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6-section">
            <a:extLst xmlns:a="http://schemas.openxmlformats.org/drawingml/2006/main">
              <a:ext uri="{FF2B5EF4-FFF2-40B4-BE49-F238E27FC236}">
                <a16:creationId xmlns:a16="http://schemas.microsoft.com/office/drawing/2014/main" id="{A4B735FE-DF76-49D0-947E-D484E8D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BIOLOGY</a:t>
            </a:r>
          </a:p>
        </p:txBody>
      </p:sp>
      <p:sp>
        <p:nvSpPr>
          <p:cNvPr id="3" name="STC-06-slide-id">
            <a:extLst xmlns:a="http://schemas.openxmlformats.org/drawingml/2006/main">
              <a:ext uri="{FF2B5EF4-FFF2-40B4-BE49-F238E27FC236}">
                <a16:creationId xmlns:a16="http://schemas.microsoft.com/office/drawing/2014/main" id="{CD4DCA6F-87B9-40D7-A181-4D03F6E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STC-036</a:t>
            </a:r>
          </a:p>
        </p:txBody>
      </p:sp>
      <p:sp>
        <p:nvSpPr>
          <p:cNvPr id="4" name="STC-06-headline">
            <a:extLst xmlns:a="http://schemas.openxmlformats.org/drawingml/2006/main">
              <a:ext uri="{FF2B5EF4-FFF2-40B4-BE49-F238E27FC236}">
                <a16:creationId xmlns:a16="http://schemas.microsoft.com/office/drawing/2014/main" id="{9DD72DFE-39A8-4839-A97A-56F63DF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NREM/REM alternation은 integration과 protection objective를…</a:t>
            </a:r>
          </a:p>
        </p:txBody>
      </p:sp>
      <p:sp>
        <p:nvSpPr>
          <p:cNvPr id="5" name="STC-06-status-label">
            <a:extLst xmlns:a="http://schemas.openxmlformats.org/drawingml/2006/main">
              <a:ext uri="{FF2B5EF4-FFF2-40B4-BE49-F238E27FC236}">
                <a16:creationId xmlns:a16="http://schemas.microsoft.com/office/drawing/2014/main" id="{06DA1055-BF45-4F84-B55B-B645ABD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06-status-rule">
            <a:extLst xmlns:a="http://schemas.openxmlformats.org/drawingml/2006/main">
              <a:ext uri="{FF2B5EF4-FFF2-40B4-BE49-F238E27FC236}">
                <a16:creationId xmlns:a16="http://schemas.microsoft.com/office/drawing/2014/main" id="{8775D502-9A70-47CF-8196-10A02E6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6-footer-rule">
            <a:extLst xmlns:a="http://schemas.openxmlformats.org/drawingml/2006/main">
              <a:ext uri="{FF2B5EF4-FFF2-40B4-BE49-F238E27FC236}">
                <a16:creationId xmlns:a16="http://schemas.microsoft.com/office/drawing/2014/main" id="{5CC30C30-5F05-467A-9995-DBB632C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6-source-footer">
            <a:extLst xmlns:a="http://schemas.openxmlformats.org/drawingml/2006/main">
              <a:ext uri="{FF2B5EF4-FFF2-40B4-BE49-F238E27FC236}">
                <a16:creationId xmlns:a16="http://schemas.microsoft.com/office/drawing/2014/main" id="{53E02F2E-A992-49A2-A84D-9C79516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PNAS hippocampus–neocortex model</a:t>
            </a:r>
          </a:p>
        </p:txBody>
      </p:sp>
      <p:sp>
        <p:nvSpPr>
          <p:cNvPr id="9" name="STC-06-page-number">
            <a:extLst xmlns:a="http://schemas.openxmlformats.org/drawingml/2006/main">
              <a:ext uri="{FF2B5EF4-FFF2-40B4-BE49-F238E27FC236}">
                <a16:creationId xmlns:a16="http://schemas.microsoft.com/office/drawing/2014/main" id="{514AF207-6A8F-4EA0-82CB-8A93AF2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36</a:t>
            </a:r>
          </a:p>
        </p:txBody>
      </p:sp>
      <p:sp>
        <p:nvSpPr>
          <p:cNvPr id="11" name="STC-06-bio-left-fill">
            <a:extLst xmlns:a="http://schemas.openxmlformats.org/drawingml/2006/main">
              <a:ext uri="{FF2B5EF4-FFF2-40B4-BE49-F238E27FC236}">
                <a16:creationId xmlns:a16="http://schemas.microsoft.com/office/drawing/2014/main" id="{2A7F7E40-3A07-46DA-A4BE-2190540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6-bio-left-text">
            <a:extLst xmlns:a="http://schemas.openxmlformats.org/drawingml/2006/main">
              <a:ext uri="{FF2B5EF4-FFF2-40B4-BE49-F238E27FC236}">
                <a16:creationId xmlns:a16="http://schemas.microsoft.com/office/drawing/2014/main" id="{FE9CF1DC-CD34-4A40-BC65-BBF5B48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NREM</a:t>
            </a:r>
          </a:p>
        </p:txBody>
      </p:sp>
      <p:sp>
        <p:nvSpPr>
          <p:cNvPr id="13" name="STC-06-bio-right-fill">
            <a:extLst xmlns:a="http://schemas.openxmlformats.org/drawingml/2006/main">
              <a:ext uri="{FF2B5EF4-FFF2-40B4-BE49-F238E27FC236}">
                <a16:creationId xmlns:a16="http://schemas.microsoft.com/office/drawing/2014/main" id="{DF8DD8DF-8E62-40AC-A5EE-9590FB4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4" name="STC-06-bio-right-text">
            <a:extLst xmlns:a="http://schemas.openxmlformats.org/drawingml/2006/main">
              <a:ext uri="{FF2B5EF4-FFF2-40B4-BE49-F238E27FC236}">
                <a16:creationId xmlns:a16="http://schemas.microsoft.com/office/drawing/2014/main" id="{CBDD6DFD-AB19-4CD6-8E2E-10FF984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REM</a:t>
            </a:r>
          </a:p>
        </p:txBody>
      </p:sp>
      <p:sp>
        <p:nvSpPr>
          <p:cNvPr id="15" name="STC-06-bio-evidence-dot-0">
            <a:extLst xmlns:a="http://schemas.openxmlformats.org/drawingml/2006/main">
              <a:ext uri="{FF2B5EF4-FFF2-40B4-BE49-F238E27FC236}">
                <a16:creationId xmlns:a16="http://schemas.microsoft.com/office/drawing/2014/main" id="{53A4A694-6C62-4744-9EB8-215930F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06-bio-evidence-item-0">
            <a:extLst xmlns:a="http://schemas.openxmlformats.org/drawingml/2006/main">
              <a:ext uri="{FF2B5EF4-FFF2-40B4-BE49-F238E27FC236}">
                <a16:creationId xmlns:a16="http://schemas.microsoft.com/office/drawing/2014/main" id="{B27B9F97-BA89-4F4C-8508-55265DB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replay-like autonomous dynamics로 새 정보 통합</a:t>
            </a:r>
          </a:p>
        </p:txBody>
      </p:sp>
      <p:sp>
        <p:nvSpPr>
          <p:cNvPr id="17" name="STC-06-bio-evidence-dot-1">
            <a:extLst xmlns:a="http://schemas.openxmlformats.org/drawingml/2006/main">
              <a:ext uri="{FF2B5EF4-FFF2-40B4-BE49-F238E27FC236}">
                <a16:creationId xmlns:a16="http://schemas.microsoft.com/office/drawing/2014/main" id="{89E191D0-04CC-4F8E-9DEC-D875117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06-bio-evidence-item-1">
            <a:extLst xmlns:a="http://schemas.openxmlformats.org/drawingml/2006/main">
              <a:ext uri="{FF2B5EF4-FFF2-40B4-BE49-F238E27FC236}">
                <a16:creationId xmlns:a16="http://schemas.microsoft.com/office/drawing/2014/main" id="{5C1F736A-EB12-4BD9-9940-B452BDE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older cortical knowledge와의 관계 재구성</a:t>
            </a:r>
          </a:p>
        </p:txBody>
      </p:sp>
      <p:sp>
        <p:nvSpPr>
          <p:cNvPr id="19" name="STC-06-bio-evidence-dot-2">
            <a:extLst xmlns:a="http://schemas.openxmlformats.org/drawingml/2006/main">
              <a:ext uri="{FF2B5EF4-FFF2-40B4-BE49-F238E27FC236}">
                <a16:creationId xmlns:a16="http://schemas.microsoft.com/office/drawing/2014/main" id="{0DBE0EE7-6412-422A-A9F1-DEC4179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0" name="STC-06-bio-evidence-item-2">
            <a:extLst xmlns:a="http://schemas.openxmlformats.org/drawingml/2006/main">
              <a:ext uri="{FF2B5EF4-FFF2-40B4-BE49-F238E27FC236}">
                <a16:creationId xmlns:a16="http://schemas.microsoft.com/office/drawing/2014/main" id="{86512795-66D6-4004-8057-A2E9A8B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phase alternation이 interference를 조절</a:t>
            </a:r>
          </a:p>
        </p:txBody>
      </p:sp>
      <p:sp>
        <p:nvSpPr>
          <p:cNvPr id="21" name="STC-06-bio-evidence-dot-3">
            <a:extLst xmlns:a="http://schemas.openxmlformats.org/drawingml/2006/main">
              <a:ext uri="{FF2B5EF4-FFF2-40B4-BE49-F238E27FC236}">
                <a16:creationId xmlns:a16="http://schemas.microsoft.com/office/drawing/2014/main" id="{944876B1-6C90-46ED-806D-ECD71BE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2" name="STC-06-bio-evidence-item-3">
            <a:extLst xmlns:a="http://schemas.openxmlformats.org/drawingml/2006/main">
              <a:ext uri="{FF2B5EF4-FFF2-40B4-BE49-F238E27FC236}">
                <a16:creationId xmlns:a16="http://schemas.microsoft.com/office/drawing/2014/main" id="{3F6B31E1-BB59-4802-9A8F-1426976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model scale과 task abstraction이 제한적</a:t>
            </a:r>
          </a:p>
        </p:txBody>
      </p:sp>
      <p:sp>
        <p:nvSpPr>
          <p:cNvPr id="23" name="STC-06-bio-nonclaim-dot-0">
            <a:extLst xmlns:a="http://schemas.openxmlformats.org/drawingml/2006/main">
              <a:ext uri="{FF2B5EF4-FFF2-40B4-BE49-F238E27FC236}">
                <a16:creationId xmlns:a16="http://schemas.microsoft.com/office/drawing/2014/main" id="{C97E3534-1958-4CC2-BA51-27F3DF7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6-bio-nonclaim-item-0">
            <a:extLst xmlns:a="http://schemas.openxmlformats.org/drawingml/2006/main">
              <a:ext uri="{FF2B5EF4-FFF2-40B4-BE49-F238E27FC236}">
                <a16:creationId xmlns:a16="http://schemas.microsoft.com/office/drawing/2014/main" id="{5DFD87CB-136B-4C75-882B-BD30BEA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replay-like autonomous dynamics로 새 정보 통합</a:t>
            </a:r>
          </a:p>
        </p:txBody>
      </p:sp>
      <p:sp>
        <p:nvSpPr>
          <p:cNvPr id="25" name="STC-06-bio-nonclaim-dot-1">
            <a:extLst xmlns:a="http://schemas.openxmlformats.org/drawingml/2006/main">
              <a:ext uri="{FF2B5EF4-FFF2-40B4-BE49-F238E27FC236}">
                <a16:creationId xmlns:a16="http://schemas.microsoft.com/office/drawing/2014/main" id="{C736A87E-538E-4499-B03D-5D486B7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6-bio-nonclaim-item-1">
            <a:extLst xmlns:a="http://schemas.openxmlformats.org/drawingml/2006/main">
              <a:ext uri="{FF2B5EF4-FFF2-40B4-BE49-F238E27FC236}">
                <a16:creationId xmlns:a16="http://schemas.microsoft.com/office/drawing/2014/main" id="{812A62B2-5CCE-4E38-943B-22C3F2E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older cortical knowledge와의 관계 재구성</a:t>
            </a:r>
          </a:p>
        </p:txBody>
      </p:sp>
      <p:sp>
        <p:nvSpPr>
          <p:cNvPr id="27" name="STC-06-bio-nonclaim-dot-2">
            <a:extLst xmlns:a="http://schemas.openxmlformats.org/drawingml/2006/main">
              <a:ext uri="{FF2B5EF4-FFF2-40B4-BE49-F238E27FC236}">
                <a16:creationId xmlns:a16="http://schemas.microsoft.com/office/drawing/2014/main" id="{894A5D0E-6427-4429-BB60-8FBB970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6-bio-nonclaim-item-2">
            <a:extLst xmlns:a="http://schemas.openxmlformats.org/drawingml/2006/main">
              <a:ext uri="{FF2B5EF4-FFF2-40B4-BE49-F238E27FC236}">
                <a16:creationId xmlns:a16="http://schemas.microsoft.com/office/drawing/2014/main" id="{F2B5C7BB-D16F-4578-891A-7F1755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phase alternation이 interference를 조절</a:t>
            </a:r>
          </a:p>
        </p:txBody>
      </p:sp>
      <p:sp>
        <p:nvSpPr>
          <p:cNvPr id="29" name="STC-06-bio-nonclaim-dot-3">
            <a:extLst xmlns:a="http://schemas.openxmlformats.org/drawingml/2006/main">
              <a:ext uri="{FF2B5EF4-FFF2-40B4-BE49-F238E27FC236}">
                <a16:creationId xmlns:a16="http://schemas.microsoft.com/office/drawing/2014/main" id="{BA55F7BB-2727-4765-99EE-99BB0B4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6-bio-nonclaim-item-3">
            <a:extLst xmlns:a="http://schemas.openxmlformats.org/drawingml/2006/main">
              <a:ext uri="{FF2B5EF4-FFF2-40B4-BE49-F238E27FC236}">
                <a16:creationId xmlns:a16="http://schemas.microsoft.com/office/drawing/2014/main" id="{B22C231B-50D5-443C-B5A5-B875274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model scale과 task abstraction이 제한적</a:t>
            </a:r>
          </a:p>
        </p:txBody>
      </p:sp>
      <p:sp>
        <p:nvSpPr>
          <p:cNvPr id="31" name="STC-06-bio-divider">
            <a:extLst xmlns:a="http://schemas.openxmlformats.org/drawingml/2006/main">
              <a:ext uri="{FF2B5EF4-FFF2-40B4-BE49-F238E27FC236}">
                <a16:creationId xmlns:a16="http://schemas.microsoft.com/office/drawing/2014/main" id="{2FC2CC98-5AAE-4B2D-85D9-0DEC2281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82496"/>
            <a:ext cx="0" cy="4133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2" name="STC-06-bio-rule-label">
            <a:extLst xmlns:a="http://schemas.openxmlformats.org/drawingml/2006/main">
              <a:ext uri="{FF2B5EF4-FFF2-40B4-BE49-F238E27FC236}">
                <a16:creationId xmlns:a16="http://schemas.microsoft.com/office/drawing/2014/main" id="{42F59A1A-CF1F-4DBD-886E-C552A26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440680"/>
            <a:ext cx="3127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INTERLEAVE</a:t>
            </a:r>
          </a:p>
        </p:txBody>
      </p:sp>
      <p:sp>
        <p:nvSpPr>
          <p:cNvPr id="33" name="STC-06-bio-rule">
            <a:extLst xmlns:a="http://schemas.openxmlformats.org/drawingml/2006/main">
              <a:ext uri="{FF2B5EF4-FFF2-40B4-BE49-F238E27FC236}">
                <a16:creationId xmlns:a16="http://schemas.microsoft.com/office/drawing/2014/main" id="{018D8C45-50E2-47B7-B006-827C281D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5715000"/>
            <a:ext cx="82661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replay-like autonomous dynamics로 새 정보 통합</a:t>
            </a:r>
          </a:p>
        </p:txBody>
      </p:sp>
    </p:spTree>
    <p:extLst>
      <p:ext uri="{BB962C8B-B14F-4D97-AF65-F5344CB8AC3E}">
        <p14:creationId xmlns:p14="http://schemas.microsoft.com/office/powerpoint/2010/main" val="4231333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8-section">
            <a:extLst xmlns:a="http://schemas.openxmlformats.org/drawingml/2006/main">
              <a:ext uri="{FF2B5EF4-FFF2-40B4-BE49-F238E27FC236}">
                <a16:creationId xmlns:a16="http://schemas.microsoft.com/office/drawing/2014/main" id="{7F97D696-2E76-4EC9-B686-7BF98FE5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BIOLOGY</a:t>
            </a:r>
          </a:p>
        </p:txBody>
      </p:sp>
      <p:sp>
        <p:nvSpPr>
          <p:cNvPr id="3" name="STC-08-slide-id">
            <a:extLst xmlns:a="http://schemas.openxmlformats.org/drawingml/2006/main">
              <a:ext uri="{FF2B5EF4-FFF2-40B4-BE49-F238E27FC236}">
                <a16:creationId xmlns:a16="http://schemas.microsoft.com/office/drawing/2014/main" id="{CB9EF161-ECEF-4B7E-B74F-8D9E242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STC-037</a:t>
            </a:r>
          </a:p>
        </p:txBody>
      </p:sp>
      <p:sp>
        <p:nvSpPr>
          <p:cNvPr id="4" name="STC-08-headline">
            <a:extLst xmlns:a="http://schemas.openxmlformats.org/drawingml/2006/main">
              <a:ext uri="{FF2B5EF4-FFF2-40B4-BE49-F238E27FC236}">
                <a16:creationId xmlns:a16="http://schemas.microsoft.com/office/drawing/2014/main" id="{8E3DE000-9954-4D2C-BC94-8606B6E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PAD는 wake·perturbed replay·adversarial dreaming을 분리했다</a:t>
            </a:r>
          </a:p>
        </p:txBody>
      </p:sp>
      <p:sp>
        <p:nvSpPr>
          <p:cNvPr id="5" name="STC-08-status-label">
            <a:extLst xmlns:a="http://schemas.openxmlformats.org/drawingml/2006/main">
              <a:ext uri="{FF2B5EF4-FFF2-40B4-BE49-F238E27FC236}">
                <a16:creationId xmlns:a16="http://schemas.microsoft.com/office/drawing/2014/main" id="{D07E376F-A4F0-440A-8973-16E3EED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08-status-rule">
            <a:extLst xmlns:a="http://schemas.openxmlformats.org/drawingml/2006/main">
              <a:ext uri="{FF2B5EF4-FFF2-40B4-BE49-F238E27FC236}">
                <a16:creationId xmlns:a16="http://schemas.microsoft.com/office/drawing/2014/main" id="{0BBA66F0-9D87-4317-BBAE-8088049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8-footer-rule">
            <a:extLst xmlns:a="http://schemas.openxmlformats.org/drawingml/2006/main">
              <a:ext uri="{FF2B5EF4-FFF2-40B4-BE49-F238E27FC236}">
                <a16:creationId xmlns:a16="http://schemas.microsoft.com/office/drawing/2014/main" id="{E510CEFC-C974-4BE9-8B37-1C73B0BD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8-source-footer">
            <a:extLst xmlns:a="http://schemas.openxmlformats.org/drawingml/2006/main">
              <a:ext uri="{FF2B5EF4-FFF2-40B4-BE49-F238E27FC236}">
                <a16:creationId xmlns:a16="http://schemas.microsoft.com/office/drawing/2014/main" id="{D81DCB5E-AC73-4A09-A5F7-8F0476E3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Deperrois et al. eLife 2022</a:t>
            </a:r>
          </a:p>
        </p:txBody>
      </p:sp>
      <p:sp>
        <p:nvSpPr>
          <p:cNvPr id="9" name="STC-08-page-number">
            <a:extLst xmlns:a="http://schemas.openxmlformats.org/drawingml/2006/main">
              <a:ext uri="{FF2B5EF4-FFF2-40B4-BE49-F238E27FC236}">
                <a16:creationId xmlns:a16="http://schemas.microsoft.com/office/drawing/2014/main" id="{4FA5EC8D-4353-4511-9A31-1E8D1BD7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37</a:t>
            </a:r>
          </a:p>
        </p:txBody>
      </p:sp>
      <p:sp>
        <p:nvSpPr>
          <p:cNvPr id="11" name="STC-08-pad-title">
            <a:extLst xmlns:a="http://schemas.openxmlformats.org/drawingml/2006/main">
              <a:ext uri="{FF2B5EF4-FFF2-40B4-BE49-F238E27FC236}">
                <a16:creationId xmlns:a16="http://schemas.microsoft.com/office/drawing/2014/main" id="{E4CD4F9B-A815-4A88-93D1-8D51EDE9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37360"/>
            <a:ext cx="1143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WAKE</a:t>
            </a:r>
          </a:p>
        </p:txBody>
      </p:sp>
      <p:sp>
        <p:nvSpPr>
          <p:cNvPr id="12" name="STC-08-pad-full">
            <a:extLst xmlns:a="http://schemas.openxmlformats.org/drawingml/2006/main">
              <a:ext uri="{FF2B5EF4-FFF2-40B4-BE49-F238E27FC236}">
                <a16:creationId xmlns:a16="http://schemas.microsoft.com/office/drawing/2014/main" id="{F6BC91A5-2B85-42D5-9D2E-91D8AF17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801368"/>
            <a:ext cx="3429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episodic latent reconstruction</a:t>
            </a:r>
          </a:p>
        </p:txBody>
      </p:sp>
      <p:sp>
        <p:nvSpPr>
          <p:cNvPr id="13" name="STC-08-pad-rule">
            <a:extLst xmlns:a="http://schemas.openxmlformats.org/drawingml/2006/main">
              <a:ext uri="{FF2B5EF4-FFF2-40B4-BE49-F238E27FC236}">
                <a16:creationId xmlns:a16="http://schemas.microsoft.com/office/drawing/2014/main" id="{9DB9E4B7-DABB-48BC-98E4-A1A02B1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331720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4" name="STC-08-pad-nrem">
            <a:extLst xmlns:a="http://schemas.openxmlformats.org/drawingml/2006/main">
              <a:ext uri="{FF2B5EF4-FFF2-40B4-BE49-F238E27FC236}">
                <a16:creationId xmlns:a16="http://schemas.microsoft.com/office/drawing/2014/main" id="{6D37CB4F-614F-4CF5-BCDA-D1AA5BF0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6148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NREM-LIKE</a:t>
            </a:r>
          </a:p>
        </p:txBody>
      </p:sp>
      <p:sp>
        <p:nvSpPr>
          <p:cNvPr id="15" name="STC-08-pad-nrem-text">
            <a:extLst xmlns:a="http://schemas.openxmlformats.org/drawingml/2006/main">
              <a:ext uri="{FF2B5EF4-FFF2-40B4-BE49-F238E27FC236}">
                <a16:creationId xmlns:a16="http://schemas.microsoft.com/office/drawing/2014/main" id="{A95DE607-13BA-4084-8EBD-56D7466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06624"/>
            <a:ext cx="3611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noise·occlusion으로 robust replay</a:t>
            </a:r>
          </a:p>
        </p:txBody>
      </p:sp>
      <p:sp>
        <p:nvSpPr>
          <p:cNvPr id="16" name="STC-08-pad-rem">
            <a:extLst xmlns:a="http://schemas.openxmlformats.org/drawingml/2006/main">
              <a:ext uri="{FF2B5EF4-FFF2-40B4-BE49-F238E27FC236}">
                <a16:creationId xmlns:a16="http://schemas.microsoft.com/office/drawing/2014/main" id="{92F4DE59-93E1-4CCB-A263-A4BEE3AE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2044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REM-LIKE</a:t>
            </a:r>
          </a:p>
        </p:txBody>
      </p:sp>
      <p:sp>
        <p:nvSpPr>
          <p:cNvPr id="17" name="STC-08-pad-rem-text">
            <a:extLst xmlns:a="http://schemas.openxmlformats.org/drawingml/2006/main">
              <a:ext uri="{FF2B5EF4-FFF2-40B4-BE49-F238E27FC236}">
                <a16:creationId xmlns:a16="http://schemas.microsoft.com/office/drawing/2014/main" id="{89F9EBB8-EEDD-4462-B4B5-CB51439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465576"/>
            <a:ext cx="3611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adversarial dream으로 representation 확장</a:t>
            </a:r>
          </a:p>
        </p:txBody>
      </p:sp>
      <p:sp>
        <p:nvSpPr>
          <p:cNvPr id="18" name="STC-08-pad-scope">
            <a:extLst xmlns:a="http://schemas.openxmlformats.org/drawingml/2006/main">
              <a:ext uri="{FF2B5EF4-FFF2-40B4-BE49-F238E27FC236}">
                <a16:creationId xmlns:a16="http://schemas.microsoft.com/office/drawing/2014/main" id="{A67F0AFA-C6A0-42C1-9C29-58F999A9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4480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phase-specific operator 후보</a:t>
            </a:r>
          </a:p>
        </p:txBody>
      </p:sp>
      <p:sp>
        <p:nvSpPr>
          <p:cNvPr id="19" name="STC-08-pad-dann-divider">
            <a:extLst xmlns:a="http://schemas.openxmlformats.org/drawingml/2006/main">
              <a:ext uri="{FF2B5EF4-FFF2-40B4-BE49-F238E27FC236}">
                <a16:creationId xmlns:a16="http://schemas.microsoft.com/office/drawing/2014/main" id="{742D8FAE-A71A-4F45-80F2-7769AB88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27632"/>
            <a:ext cx="0" cy="41696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0" name="STC-08-dann-title">
            <a:extLst xmlns:a="http://schemas.openxmlformats.org/drawingml/2006/main">
              <a:ext uri="{FF2B5EF4-FFF2-40B4-BE49-F238E27FC236}">
                <a16:creationId xmlns:a16="http://schemas.microsoft.com/office/drawing/2014/main" id="{D25E8CA2-B839-4F96-BB76-7EF8CDEC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73736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VALUE</a:t>
            </a:r>
          </a:p>
        </p:txBody>
      </p:sp>
      <p:sp>
        <p:nvSpPr>
          <p:cNvPr id="21" name="STC-08-dann-full">
            <a:extLst xmlns:a="http://schemas.openxmlformats.org/drawingml/2006/main">
              <a:ext uri="{FF2B5EF4-FFF2-40B4-BE49-F238E27FC236}">
                <a16:creationId xmlns:a16="http://schemas.microsoft.com/office/drawing/2014/main" id="{768AEA27-198E-44B7-BDBA-A296DD67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801368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modern LLM system evidence는 아님</a:t>
            </a:r>
          </a:p>
        </p:txBody>
      </p:sp>
      <p:sp>
        <p:nvSpPr>
          <p:cNvPr id="22" name="STC-08-dann-rule">
            <a:extLst xmlns:a="http://schemas.openxmlformats.org/drawingml/2006/main">
              <a:ext uri="{FF2B5EF4-FFF2-40B4-BE49-F238E27FC236}">
                <a16:creationId xmlns:a16="http://schemas.microsoft.com/office/drawing/2014/main" id="{8B0B0EBD-BD43-4769-ABE0-8D352EA7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331720"/>
            <a:ext cx="4736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08-dann-list-dot-0">
            <a:extLst xmlns:a="http://schemas.openxmlformats.org/drawingml/2006/main">
              <a:ext uri="{FF2B5EF4-FFF2-40B4-BE49-F238E27FC236}">
                <a16:creationId xmlns:a16="http://schemas.microsoft.com/office/drawing/2014/main" id="{7282E566-6C61-47AB-8B81-E830D3BC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81635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8-dann-list-item-0">
            <a:extLst xmlns:a="http://schemas.openxmlformats.org/drawingml/2006/main">
              <a:ext uri="{FF2B5EF4-FFF2-40B4-BE49-F238E27FC236}">
                <a16:creationId xmlns:a16="http://schemas.microsoft.com/office/drawing/2014/main" id="{E8E36ADC-5F02-4647-AF50-DEA2746C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706624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</a:t>
            </a:r>
          </a:p>
        </p:txBody>
      </p:sp>
      <p:sp>
        <p:nvSpPr>
          <p:cNvPr id="25" name="STC-08-dann-list-dot-1">
            <a:extLst xmlns:a="http://schemas.openxmlformats.org/drawingml/2006/main">
              <a:ext uri="{FF2B5EF4-FFF2-40B4-BE49-F238E27FC236}">
                <a16:creationId xmlns:a16="http://schemas.microsoft.com/office/drawing/2014/main" id="{84BE4F13-8468-4B45-87A2-C75EB7C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44728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8-dann-list-item-1">
            <a:extLst xmlns:a="http://schemas.openxmlformats.org/drawingml/2006/main">
              <a:ext uri="{FF2B5EF4-FFF2-40B4-BE49-F238E27FC236}">
                <a16:creationId xmlns:a16="http://schemas.microsoft.com/office/drawing/2014/main" id="{F98600DE-A19E-4E16-ABA8-A00732B1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337560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NREM-LIKE</a:t>
            </a:r>
          </a:p>
        </p:txBody>
      </p:sp>
      <p:sp>
        <p:nvSpPr>
          <p:cNvPr id="27" name="STC-08-dann-list-dot-2">
            <a:extLst xmlns:a="http://schemas.openxmlformats.org/drawingml/2006/main">
              <a:ext uri="{FF2B5EF4-FFF2-40B4-BE49-F238E27FC236}">
                <a16:creationId xmlns:a16="http://schemas.microsoft.com/office/drawing/2014/main" id="{33C21D67-78A5-4FE9-B580-8E0F0CC1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0782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8-dann-list-item-2">
            <a:extLst xmlns:a="http://schemas.openxmlformats.org/drawingml/2006/main">
              <a:ext uri="{FF2B5EF4-FFF2-40B4-BE49-F238E27FC236}">
                <a16:creationId xmlns:a16="http://schemas.microsoft.com/office/drawing/2014/main" id="{72ADA370-A7BF-4E57-9C13-E03213E1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968496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REM-LIKE</a:t>
            </a:r>
          </a:p>
        </p:txBody>
      </p:sp>
      <p:sp>
        <p:nvSpPr>
          <p:cNvPr id="29" name="STC-08-dann-list-dot-3">
            <a:extLst xmlns:a="http://schemas.openxmlformats.org/drawingml/2006/main">
              <a:ext uri="{FF2B5EF4-FFF2-40B4-BE49-F238E27FC236}">
                <a16:creationId xmlns:a16="http://schemas.microsoft.com/office/drawing/2014/main" id="{1061F511-2788-439D-9913-2690CD0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7091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8-dann-list-item-3">
            <a:extLst xmlns:a="http://schemas.openxmlformats.org/drawingml/2006/main">
              <a:ext uri="{FF2B5EF4-FFF2-40B4-BE49-F238E27FC236}">
                <a16:creationId xmlns:a16="http://schemas.microsoft.com/office/drawing/2014/main" id="{BBFFE852-14AD-49E7-9D9E-587FD3E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99432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VALUE</a:t>
            </a:r>
          </a:p>
        </p:txBody>
      </p:sp>
      <p:sp>
        <p:nvSpPr>
          <p:cNvPr id="31" name="STC-08-dann-verdict">
            <a:extLst xmlns:a="http://schemas.openxmlformats.org/drawingml/2006/main">
              <a:ext uri="{FF2B5EF4-FFF2-40B4-BE49-F238E27FC236}">
                <a16:creationId xmlns:a16="http://schemas.microsoft.com/office/drawing/2014/main" id="{FEB9DA27-261C-44DF-AEC7-BDB7232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102352"/>
            <a:ext cx="4407408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2" name="STC-08-dann-verdict-text">
            <a:extLst xmlns:a="http://schemas.openxmlformats.org/drawingml/2006/main">
              <a:ext uri="{FF2B5EF4-FFF2-40B4-BE49-F238E27FC236}">
                <a16:creationId xmlns:a16="http://schemas.microsoft.com/office/drawing/2014/main" id="{D91B2882-1293-4974-8F6C-F1D8ED5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6944"/>
            <a:ext cx="4005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Biological label은 mechanism evidence를 대체하지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55750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0-section">
            <a:extLst xmlns:a="http://schemas.openxmlformats.org/drawingml/2006/main">
              <a:ext uri="{FF2B5EF4-FFF2-40B4-BE49-F238E27FC236}">
                <a16:creationId xmlns:a16="http://schemas.microsoft.com/office/drawing/2014/main" id="{6178F517-FA82-4D27-A68A-C76A30C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3" name="STC-10-slide-id">
            <a:extLst xmlns:a="http://schemas.openxmlformats.org/drawingml/2006/main">
              <a:ext uri="{FF2B5EF4-FFF2-40B4-BE49-F238E27FC236}">
                <a16:creationId xmlns:a16="http://schemas.microsoft.com/office/drawing/2014/main" id="{23BFEDD1-7992-476C-B56A-0EBDC97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STC-038</a:t>
            </a:r>
          </a:p>
        </p:txBody>
      </p:sp>
      <p:sp>
        <p:nvSpPr>
          <p:cNvPr id="4" name="STC-10-headline">
            <a:extLst xmlns:a="http://schemas.openxmlformats.org/drawingml/2006/main">
              <a:ext uri="{FF2B5EF4-FFF2-40B4-BE49-F238E27FC236}">
                <a16:creationId xmlns:a16="http://schemas.microsoft.com/office/drawing/2014/main" id="{F3244101-3CD2-466C-B46A-83E5807E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계보는 agent external memory와 neural memory에서 합류한다</a:t>
            </a:r>
          </a:p>
        </p:txBody>
      </p:sp>
      <p:sp>
        <p:nvSpPr>
          <p:cNvPr id="5" name="STC-10-status-label">
            <a:extLst xmlns:a="http://schemas.openxmlformats.org/drawingml/2006/main">
              <a:ext uri="{FF2B5EF4-FFF2-40B4-BE49-F238E27FC236}">
                <a16:creationId xmlns:a16="http://schemas.microsoft.com/office/drawing/2014/main" id="{54F57A0D-6695-4538-B965-B3D66DD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통합 추론</a:t>
            </a:r>
          </a:p>
        </p:txBody>
      </p:sp>
      <p:sp>
        <p:nvSpPr>
          <p:cNvPr id="6" name="STC-10-status-rule">
            <a:extLst xmlns:a="http://schemas.openxmlformats.org/drawingml/2006/main">
              <a:ext uri="{FF2B5EF4-FFF2-40B4-BE49-F238E27FC236}">
                <a16:creationId xmlns:a16="http://schemas.microsoft.com/office/drawing/2014/main" id="{17C9B6E9-5808-4884-AE2D-6C3FBC3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0-footer-rule">
            <a:extLst xmlns:a="http://schemas.openxmlformats.org/drawingml/2006/main">
              <a:ext uri="{FF2B5EF4-FFF2-40B4-BE49-F238E27FC236}">
                <a16:creationId xmlns:a16="http://schemas.microsoft.com/office/drawing/2014/main" id="{05C9EBCA-3F59-4C44-9F24-D7CFCA5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0-source-footer">
            <a:extLst xmlns:a="http://schemas.openxmlformats.org/drawingml/2006/main">
              <a:ext uri="{FF2B5EF4-FFF2-40B4-BE49-F238E27FC236}">
                <a16:creationId xmlns:a16="http://schemas.microsoft.com/office/drawing/2014/main" id="{8462DCC3-CE00-4E3B-8A0B-9C8BBC7C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MemGPT·Titans·HOPE·product dreaming</a:t>
            </a:r>
          </a:p>
        </p:txBody>
      </p:sp>
      <p:sp>
        <p:nvSpPr>
          <p:cNvPr id="9" name="STC-10-page-number">
            <a:extLst xmlns:a="http://schemas.openxmlformats.org/drawingml/2006/main">
              <a:ext uri="{FF2B5EF4-FFF2-40B4-BE49-F238E27FC236}">
                <a16:creationId xmlns:a16="http://schemas.microsoft.com/office/drawing/2014/main" id="{AE75F792-23B4-4FA6-A4AF-2B0B9E3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38</a:t>
            </a:r>
          </a:p>
        </p:txBody>
      </p:sp>
      <p:sp>
        <p:nvSpPr>
          <p:cNvPr id="11" name="STC-10-agent-year-0">
            <a:extLst xmlns:a="http://schemas.openxmlformats.org/drawingml/2006/main">
              <a:ext uri="{FF2B5EF4-FFF2-40B4-BE49-F238E27FC236}">
                <a16:creationId xmlns:a16="http://schemas.microsoft.com/office/drawing/2014/main" id="{25251CA2-F9EF-4020-B4B1-B78EBE9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6362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MEMGPT · context pressure를 OS-like paging으로 해결</a:t>
            </a:r>
          </a:p>
        </p:txBody>
      </p:sp>
      <p:sp>
        <p:nvSpPr>
          <p:cNvPr id="12" name="STC-10-agent-year-rule-0">
            <a:extLst xmlns:a="http://schemas.openxmlformats.org/drawingml/2006/main">
              <a:ext uri="{FF2B5EF4-FFF2-40B4-BE49-F238E27FC236}">
                <a16:creationId xmlns:a16="http://schemas.microsoft.com/office/drawing/2014/main" id="{B05B5567-73DB-4ABD-9003-01B2E2B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164592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0-agent-name-0">
            <a:extLst xmlns:a="http://schemas.openxmlformats.org/drawingml/2006/main">
              <a:ext uri="{FF2B5EF4-FFF2-40B4-BE49-F238E27FC236}">
                <a16:creationId xmlns:a16="http://schemas.microsoft.com/office/drawing/2014/main" id="{BC40D46F-4228-4FE1-9902-EB7A008D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49047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MEMGPT</a:t>
            </a:r>
          </a:p>
        </p:txBody>
      </p:sp>
      <p:sp>
        <p:nvSpPr>
          <p:cNvPr id="14" name="STC-10-agent-mech-0">
            <a:extLst xmlns:a="http://schemas.openxmlformats.org/drawingml/2006/main">
              <a:ext uri="{FF2B5EF4-FFF2-40B4-BE49-F238E27FC236}">
                <a16:creationId xmlns:a16="http://schemas.microsoft.com/office/drawing/2014/main" id="{3342C016-B6B9-406C-90B7-2CCB962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49961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MEMGPT · context pressure를 OS-like paging으로 해결</a:t>
            </a:r>
          </a:p>
        </p:txBody>
      </p:sp>
      <p:sp>
        <p:nvSpPr>
          <p:cNvPr id="15" name="STC-10-agent-phase-0">
            <a:extLst xmlns:a="http://schemas.openxmlformats.org/drawingml/2006/main">
              <a:ext uri="{FF2B5EF4-FFF2-40B4-BE49-F238E27FC236}">
                <a16:creationId xmlns:a16="http://schemas.microsoft.com/office/drawing/2014/main" id="{2FA4D608-E040-41FD-A396-EBBBCB3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55448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MEMGPT · context pressure를 OS-like paging으로 해결</a:t>
            </a:r>
          </a:p>
        </p:txBody>
      </p:sp>
      <p:sp>
        <p:nvSpPr>
          <p:cNvPr id="16" name="STC-10-agent-boundary-0">
            <a:extLst xmlns:a="http://schemas.openxmlformats.org/drawingml/2006/main">
              <a:ext uri="{FF2B5EF4-FFF2-40B4-BE49-F238E27FC236}">
                <a16:creationId xmlns:a16="http://schemas.microsoft.com/office/drawing/2014/main" id="{0090C02B-D2CB-498B-BBA7-5E39275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9961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MEMGPT · context pressure를 OS-like paging으로 해결</a:t>
            </a:r>
          </a:p>
        </p:txBody>
      </p:sp>
      <p:sp>
        <p:nvSpPr>
          <p:cNvPr id="17" name="STC-10-agent-year-1">
            <a:extLst xmlns:a="http://schemas.openxmlformats.org/drawingml/2006/main">
              <a:ext uri="{FF2B5EF4-FFF2-40B4-BE49-F238E27FC236}">
                <a16:creationId xmlns:a16="http://schemas.microsoft.com/office/drawing/2014/main" id="{A2331958-1754-408A-A88B-8A87BE75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7627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TITANS · test-time surprise로 neural memory 갱신</a:t>
            </a:r>
          </a:p>
        </p:txBody>
      </p:sp>
      <p:sp>
        <p:nvSpPr>
          <p:cNvPr id="18" name="STC-10-agent-year-rule-1">
            <a:extLst xmlns:a="http://schemas.openxmlformats.org/drawingml/2006/main">
              <a:ext uri="{FF2B5EF4-FFF2-40B4-BE49-F238E27FC236}">
                <a16:creationId xmlns:a16="http://schemas.microsoft.com/office/drawing/2014/main" id="{1FFEBED2-8F79-4DD6-9E58-CC7A142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25856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0-agent-name-1">
            <a:extLst xmlns:a="http://schemas.openxmlformats.org/drawingml/2006/main">
              <a:ext uri="{FF2B5EF4-FFF2-40B4-BE49-F238E27FC236}">
                <a16:creationId xmlns:a16="http://schemas.microsoft.com/office/drawing/2014/main" id="{5CB3CD68-1DE8-451A-A995-4F86123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0312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TITANS</a:t>
            </a:r>
          </a:p>
        </p:txBody>
      </p:sp>
      <p:sp>
        <p:nvSpPr>
          <p:cNvPr id="20" name="STC-10-agent-mech-1">
            <a:extLst xmlns:a="http://schemas.openxmlformats.org/drawingml/2006/main">
              <a:ext uri="{FF2B5EF4-FFF2-40B4-BE49-F238E27FC236}">
                <a16:creationId xmlns:a16="http://schemas.microsoft.com/office/drawing/2014/main" id="{FCA347A2-8320-4583-A15A-FDEC71B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1226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TITANS · test-time surprise로 neural memory 갱신</a:t>
            </a:r>
          </a:p>
        </p:txBody>
      </p:sp>
      <p:sp>
        <p:nvSpPr>
          <p:cNvPr id="21" name="STC-10-agent-phase-1">
            <a:extLst xmlns:a="http://schemas.openxmlformats.org/drawingml/2006/main">
              <a:ext uri="{FF2B5EF4-FFF2-40B4-BE49-F238E27FC236}">
                <a16:creationId xmlns:a16="http://schemas.microsoft.com/office/drawing/2014/main" id="{7FC2B479-CF0A-4D25-B56B-273D86BC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16712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TITANS · test-time surprise로 neural memory 갱신</a:t>
            </a:r>
          </a:p>
        </p:txBody>
      </p:sp>
      <p:sp>
        <p:nvSpPr>
          <p:cNvPr id="22" name="STC-10-agent-boundary-1">
            <a:extLst xmlns:a="http://schemas.openxmlformats.org/drawingml/2006/main">
              <a:ext uri="{FF2B5EF4-FFF2-40B4-BE49-F238E27FC236}">
                <a16:creationId xmlns:a16="http://schemas.microsoft.com/office/drawing/2014/main" id="{A9FC856A-E02E-427B-993C-3C3B9F8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226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TITANS · test-time surprise로 neural memory 갱신</a:t>
            </a:r>
          </a:p>
        </p:txBody>
      </p:sp>
      <p:sp>
        <p:nvSpPr>
          <p:cNvPr id="23" name="STC-10-agent-year-2">
            <a:extLst xmlns:a="http://schemas.openxmlformats.org/drawingml/2006/main">
              <a:ext uri="{FF2B5EF4-FFF2-40B4-BE49-F238E27FC236}">
                <a16:creationId xmlns:a16="http://schemas.microsoft.com/office/drawing/2014/main" id="{681F14E2-8113-44DA-88D3-B8EA611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HOPE · multi-frequency optimization을 nested memory로 해석</a:t>
            </a:r>
          </a:p>
        </p:txBody>
      </p:sp>
      <p:sp>
        <p:nvSpPr>
          <p:cNvPr id="24" name="STC-10-agent-year-rule-2">
            <a:extLst xmlns:a="http://schemas.openxmlformats.org/drawingml/2006/main">
              <a:ext uri="{FF2B5EF4-FFF2-40B4-BE49-F238E27FC236}">
                <a16:creationId xmlns:a16="http://schemas.microsoft.com/office/drawing/2014/main" id="{F383EE24-18E2-4F09-9C19-474251F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871216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0-agent-name-2">
            <a:extLst xmlns:a="http://schemas.openxmlformats.org/drawingml/2006/main">
              <a:ext uri="{FF2B5EF4-FFF2-40B4-BE49-F238E27FC236}">
                <a16:creationId xmlns:a16="http://schemas.microsoft.com/office/drawing/2014/main" id="{FF06FA14-992A-4F89-B874-9F63DE9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715768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HOPE</a:t>
            </a:r>
          </a:p>
        </p:txBody>
      </p:sp>
      <p:sp>
        <p:nvSpPr>
          <p:cNvPr id="26" name="STC-10-agent-mech-2">
            <a:extLst xmlns:a="http://schemas.openxmlformats.org/drawingml/2006/main">
              <a:ext uri="{FF2B5EF4-FFF2-40B4-BE49-F238E27FC236}">
                <a16:creationId xmlns:a16="http://schemas.microsoft.com/office/drawing/2014/main" id="{F748360A-FD80-4A88-961D-EDBCD9F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724912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HOPE · multi-frequency optimization을 nested memory로 해석</a:t>
            </a:r>
          </a:p>
        </p:txBody>
      </p:sp>
      <p:sp>
        <p:nvSpPr>
          <p:cNvPr id="27" name="STC-10-agent-phase-2">
            <a:extLst xmlns:a="http://schemas.openxmlformats.org/drawingml/2006/main">
              <a:ext uri="{FF2B5EF4-FFF2-40B4-BE49-F238E27FC236}">
                <a16:creationId xmlns:a16="http://schemas.microsoft.com/office/drawing/2014/main" id="{8EAD9F50-2E26-428D-BF70-5B5216E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779776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HOPE · multi-frequency optimization을 nested memory로 해석</a:t>
            </a:r>
          </a:p>
        </p:txBody>
      </p:sp>
      <p:sp>
        <p:nvSpPr>
          <p:cNvPr id="28" name="STC-10-agent-boundary-2">
            <a:extLst xmlns:a="http://schemas.openxmlformats.org/drawingml/2006/main">
              <a:ext uri="{FF2B5EF4-FFF2-40B4-BE49-F238E27FC236}">
                <a16:creationId xmlns:a16="http://schemas.microsoft.com/office/drawing/2014/main" id="{740FAAC8-5DB0-4FE6-B006-35813A1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912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HOPE · multi-frequency optimization을 nested memory로 해석</a:t>
            </a:r>
          </a:p>
        </p:txBody>
      </p:sp>
      <p:sp>
        <p:nvSpPr>
          <p:cNvPr id="29" name="STC-10-agent-year-3">
            <a:extLst xmlns:a="http://schemas.openxmlformats.org/drawingml/2006/main">
              <a:ext uri="{FF2B5EF4-FFF2-40B4-BE49-F238E27FC236}">
                <a16:creationId xmlns:a16="http://schemas.microsoft.com/office/drawing/2014/main" id="{617EC4F3-8F94-45EA-8AA1-D839E545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PRODUCT · background synthesis를 durable user memory에 적용</a:t>
            </a:r>
          </a:p>
        </p:txBody>
      </p:sp>
      <p:sp>
        <p:nvSpPr>
          <p:cNvPr id="30" name="STC-10-agent-year-rule-3">
            <a:extLst xmlns:a="http://schemas.openxmlformats.org/drawingml/2006/main">
              <a:ext uri="{FF2B5EF4-FFF2-40B4-BE49-F238E27FC236}">
                <a16:creationId xmlns:a16="http://schemas.microsoft.com/office/drawing/2014/main" id="{AD4377B9-CD70-4E3D-AD08-1370F5F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3483864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1" name="STC-10-agent-name-3">
            <a:extLst xmlns:a="http://schemas.openxmlformats.org/drawingml/2006/main">
              <a:ext uri="{FF2B5EF4-FFF2-40B4-BE49-F238E27FC236}">
                <a16:creationId xmlns:a16="http://schemas.microsoft.com/office/drawing/2014/main" id="{B2824170-2E76-4261-8F5E-383F606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328416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32" name="STC-10-agent-mech-3">
            <a:extLst xmlns:a="http://schemas.openxmlformats.org/drawingml/2006/main">
              <a:ext uri="{FF2B5EF4-FFF2-40B4-BE49-F238E27FC236}">
                <a16:creationId xmlns:a16="http://schemas.microsoft.com/office/drawing/2014/main" id="{59C364ED-0CEB-41CE-8D81-8E983CB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337560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PRODUCT · background synthesis를 durable user memory에 적용</a:t>
            </a:r>
          </a:p>
        </p:txBody>
      </p:sp>
      <p:sp>
        <p:nvSpPr>
          <p:cNvPr id="33" name="STC-10-agent-phase-3">
            <a:extLst xmlns:a="http://schemas.openxmlformats.org/drawingml/2006/main">
              <a:ext uri="{FF2B5EF4-FFF2-40B4-BE49-F238E27FC236}">
                <a16:creationId xmlns:a16="http://schemas.microsoft.com/office/drawing/2014/main" id="{49FBFA26-710D-4782-9673-DC902C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392424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PRODUCT · background synthesis를 durable user memory에 적용</a:t>
            </a:r>
          </a:p>
        </p:txBody>
      </p:sp>
      <p:sp>
        <p:nvSpPr>
          <p:cNvPr id="34" name="STC-10-agent-boundary-3">
            <a:extLst xmlns:a="http://schemas.openxmlformats.org/drawingml/2006/main">
              <a:ext uri="{FF2B5EF4-FFF2-40B4-BE49-F238E27FC236}">
                <a16:creationId xmlns:a16="http://schemas.microsoft.com/office/drawing/2014/main" id="{4BE343B7-E1C6-4091-AF38-B3B5D54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7560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PRODUCT · background synthesis를 durable user memory에 적용</a:t>
            </a:r>
          </a:p>
        </p:txBody>
      </p:sp>
      <p:sp>
        <p:nvSpPr>
          <p:cNvPr id="35" name="STC-10-agent-year-4">
            <a:extLst xmlns:a="http://schemas.openxmlformats.org/drawingml/2006/main">
              <a:ext uri="{FF2B5EF4-FFF2-40B4-BE49-F238E27FC236}">
                <a16:creationId xmlns:a16="http://schemas.microsoft.com/office/drawing/2014/main" id="{F37B6C32-52E8-4FDE-B201-03A8169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14216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MEMGPT · context pressure를 OS-like paging으로 해결</a:t>
            </a:r>
          </a:p>
        </p:txBody>
      </p:sp>
      <p:sp>
        <p:nvSpPr>
          <p:cNvPr id="36" name="STC-10-agent-year-rule-4">
            <a:extLst xmlns:a="http://schemas.openxmlformats.org/drawingml/2006/main">
              <a:ext uri="{FF2B5EF4-FFF2-40B4-BE49-F238E27FC236}">
                <a16:creationId xmlns:a16="http://schemas.microsoft.com/office/drawing/2014/main" id="{18822D15-B8DF-49A5-9849-28C75ED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096512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7" name="STC-10-agent-name-4">
            <a:extLst xmlns:a="http://schemas.openxmlformats.org/drawingml/2006/main">
              <a:ext uri="{FF2B5EF4-FFF2-40B4-BE49-F238E27FC236}">
                <a16:creationId xmlns:a16="http://schemas.microsoft.com/office/drawing/2014/main" id="{E8F8BDBD-0380-41D4-85F0-02E8FF3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941064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MEMGPT</a:t>
            </a:r>
          </a:p>
        </p:txBody>
      </p:sp>
      <p:sp>
        <p:nvSpPr>
          <p:cNvPr id="38" name="STC-10-agent-mech-4">
            <a:extLst xmlns:a="http://schemas.openxmlformats.org/drawingml/2006/main">
              <a:ext uri="{FF2B5EF4-FFF2-40B4-BE49-F238E27FC236}">
                <a16:creationId xmlns:a16="http://schemas.microsoft.com/office/drawing/2014/main" id="{B0BEC520-6F78-4384-8CF3-E18F8DA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950208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MEMGPT · context pressure를 OS-like paging으로 해결</a:t>
            </a:r>
          </a:p>
        </p:txBody>
      </p:sp>
      <p:sp>
        <p:nvSpPr>
          <p:cNvPr id="39" name="STC-10-agent-phase-4">
            <a:extLst xmlns:a="http://schemas.openxmlformats.org/drawingml/2006/main">
              <a:ext uri="{FF2B5EF4-FFF2-40B4-BE49-F238E27FC236}">
                <a16:creationId xmlns:a16="http://schemas.microsoft.com/office/drawing/2014/main" id="{CECEE87E-557F-43C6-AE22-ABA59E8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005072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MEMGPT · context pressure를 OS-like paging으로 해결</a:t>
            </a:r>
          </a:p>
        </p:txBody>
      </p:sp>
      <p:sp>
        <p:nvSpPr>
          <p:cNvPr id="40" name="STC-10-agent-boundary-4">
            <a:extLst xmlns:a="http://schemas.openxmlformats.org/drawingml/2006/main">
              <a:ext uri="{FF2B5EF4-FFF2-40B4-BE49-F238E27FC236}">
                <a16:creationId xmlns:a16="http://schemas.microsoft.com/office/drawing/2014/main" id="{A8C5516F-B591-4508-865B-D1A4027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50208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MEMGPT · context pressure를 OS-like paging으로 해결</a:t>
            </a:r>
          </a:p>
        </p:txBody>
      </p:sp>
      <p:sp>
        <p:nvSpPr>
          <p:cNvPr id="41" name="STC-10-agent-year-5">
            <a:extLst xmlns:a="http://schemas.openxmlformats.org/drawingml/2006/main">
              <a:ext uri="{FF2B5EF4-FFF2-40B4-BE49-F238E27FC236}">
                <a16:creationId xmlns:a16="http://schemas.microsoft.com/office/drawing/2014/main" id="{38784B05-B991-4E58-8101-AE709B8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2686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TITANS · test-time surprise로 neural memory 갱신</a:t>
            </a:r>
          </a:p>
        </p:txBody>
      </p:sp>
      <p:sp>
        <p:nvSpPr>
          <p:cNvPr id="42" name="STC-10-agent-year-rule-5">
            <a:extLst xmlns:a="http://schemas.openxmlformats.org/drawingml/2006/main">
              <a:ext uri="{FF2B5EF4-FFF2-40B4-BE49-F238E27FC236}">
                <a16:creationId xmlns:a16="http://schemas.microsoft.com/office/drawing/2014/main" id="{823A26CB-46C1-45AB-AC25-A57C1C5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70916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3" name="STC-10-agent-name-5">
            <a:extLst xmlns:a="http://schemas.openxmlformats.org/drawingml/2006/main">
              <a:ext uri="{FF2B5EF4-FFF2-40B4-BE49-F238E27FC236}">
                <a16:creationId xmlns:a16="http://schemas.microsoft.com/office/drawing/2014/main" id="{300CB451-2720-482C-BC4F-7DC7E47D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455371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TITANS</a:t>
            </a:r>
          </a:p>
        </p:txBody>
      </p:sp>
      <p:sp>
        <p:nvSpPr>
          <p:cNvPr id="44" name="STC-10-agent-mech-5">
            <a:extLst xmlns:a="http://schemas.openxmlformats.org/drawingml/2006/main">
              <a:ext uri="{FF2B5EF4-FFF2-40B4-BE49-F238E27FC236}">
                <a16:creationId xmlns:a16="http://schemas.microsoft.com/office/drawing/2014/main" id="{78EB88D9-5027-4D43-AA2F-F03DBC1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56285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TITANS · test-time surprise로 neural memory 갱신</a:t>
            </a:r>
          </a:p>
        </p:txBody>
      </p:sp>
      <p:sp>
        <p:nvSpPr>
          <p:cNvPr id="45" name="STC-10-agent-phase-5">
            <a:extLst xmlns:a="http://schemas.openxmlformats.org/drawingml/2006/main">
              <a:ext uri="{FF2B5EF4-FFF2-40B4-BE49-F238E27FC236}">
                <a16:creationId xmlns:a16="http://schemas.microsoft.com/office/drawing/2014/main" id="{8395CFDA-3309-4027-B283-8A72317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61772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TITANS · test-time surprise로 neural memory 갱신</a:t>
            </a:r>
          </a:p>
        </p:txBody>
      </p:sp>
      <p:sp>
        <p:nvSpPr>
          <p:cNvPr id="46" name="STC-10-agent-boundary-5">
            <a:extLst xmlns:a="http://schemas.openxmlformats.org/drawingml/2006/main">
              <a:ext uri="{FF2B5EF4-FFF2-40B4-BE49-F238E27FC236}">
                <a16:creationId xmlns:a16="http://schemas.microsoft.com/office/drawing/2014/main" id="{EBEFDBCD-115E-471C-988F-219CF18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85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TITANS · test-time surprise로 neural memory 갱신</a:t>
            </a:r>
          </a:p>
        </p:txBody>
      </p:sp>
      <p:sp>
        <p:nvSpPr>
          <p:cNvPr id="47" name="STC-10-agent-year-6">
            <a:extLst xmlns:a="http://schemas.openxmlformats.org/drawingml/2006/main">
              <a:ext uri="{FF2B5EF4-FFF2-40B4-BE49-F238E27FC236}">
                <a16:creationId xmlns:a16="http://schemas.microsoft.com/office/drawing/2014/main" id="{74CF84C3-0580-4951-9130-A803383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3951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HOPE · multi-frequency optimization을 nested memory로 해석</a:t>
            </a:r>
          </a:p>
        </p:txBody>
      </p:sp>
      <p:sp>
        <p:nvSpPr>
          <p:cNvPr id="48" name="STC-10-agent-year-rule-6">
            <a:extLst xmlns:a="http://schemas.openxmlformats.org/drawingml/2006/main">
              <a:ext uri="{FF2B5EF4-FFF2-40B4-BE49-F238E27FC236}">
                <a16:creationId xmlns:a16="http://schemas.microsoft.com/office/drawing/2014/main" id="{293DE8CD-F0D0-4F04-AC18-2BEE7A4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53218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9" name="STC-10-agent-name-6">
            <a:extLst xmlns:a="http://schemas.openxmlformats.org/drawingml/2006/main">
              <a:ext uri="{FF2B5EF4-FFF2-40B4-BE49-F238E27FC236}">
                <a16:creationId xmlns:a16="http://schemas.microsoft.com/office/drawing/2014/main" id="{1807C5B5-AD76-40FD-ACA6-39AF06E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516636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HOPE</a:t>
            </a:r>
          </a:p>
        </p:txBody>
      </p:sp>
      <p:sp>
        <p:nvSpPr>
          <p:cNvPr id="50" name="STC-10-agent-mech-6">
            <a:extLst xmlns:a="http://schemas.openxmlformats.org/drawingml/2006/main">
              <a:ext uri="{FF2B5EF4-FFF2-40B4-BE49-F238E27FC236}">
                <a16:creationId xmlns:a16="http://schemas.microsoft.com/office/drawing/2014/main" id="{FD46D9CE-C139-4FA8-8B21-3375826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17550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HOPE · multi-frequency optimization을 nested memory로 해석</a:t>
            </a:r>
          </a:p>
        </p:txBody>
      </p:sp>
      <p:sp>
        <p:nvSpPr>
          <p:cNvPr id="51" name="STC-10-agent-phase-6">
            <a:extLst xmlns:a="http://schemas.openxmlformats.org/drawingml/2006/main">
              <a:ext uri="{FF2B5EF4-FFF2-40B4-BE49-F238E27FC236}">
                <a16:creationId xmlns:a16="http://schemas.microsoft.com/office/drawing/2014/main" id="{3702721E-8735-44AE-9AEE-EA4ACD2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23036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HOPE · multi-frequency optimization을 nested memory로 해석</a:t>
            </a:r>
          </a:p>
        </p:txBody>
      </p:sp>
      <p:sp>
        <p:nvSpPr>
          <p:cNvPr id="52" name="STC-10-agent-boundary-6">
            <a:extLst xmlns:a="http://schemas.openxmlformats.org/drawingml/2006/main">
              <a:ext uri="{FF2B5EF4-FFF2-40B4-BE49-F238E27FC236}">
                <a16:creationId xmlns:a16="http://schemas.microsoft.com/office/drawing/2014/main" id="{8F75AA86-EFA2-4E9F-94B6-8AA8BDF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7550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HOPE · multi-frequency optimization을 nested memory로 해석</a:t>
            </a:r>
          </a:p>
        </p:txBody>
      </p:sp>
      <p:sp>
        <p:nvSpPr>
          <p:cNvPr id="53" name="STC-10-agent-version">
            <a:extLst xmlns:a="http://schemas.openxmlformats.org/drawingml/2006/main">
              <a:ext uri="{FF2B5EF4-FFF2-40B4-BE49-F238E27FC236}">
                <a16:creationId xmlns:a16="http://schemas.microsoft.com/office/drawing/2014/main" id="{DFB5828D-1409-4F7D-8657-885F03A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742432"/>
            <a:ext cx="3813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context pressure를 OS-like paging으로 해결</a:t>
            </a:r>
          </a:p>
        </p:txBody>
      </p:sp>
    </p:spTree>
    <p:extLst>
      <p:ext uri="{BB962C8B-B14F-4D97-AF65-F5344CB8AC3E}">
        <p14:creationId xmlns:p14="http://schemas.microsoft.com/office/powerpoint/2010/main" val="20143814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9-section">
            <a:extLst xmlns:a="http://schemas.openxmlformats.org/drawingml/2006/main">
              <a:ext uri="{FF2B5EF4-FFF2-40B4-BE49-F238E27FC236}">
                <a16:creationId xmlns:a16="http://schemas.microsoft.com/office/drawing/2014/main" id="{29D38A02-155B-4134-8C5B-670E758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09-slide-id">
            <a:extLst xmlns:a="http://schemas.openxmlformats.org/drawingml/2006/main">
              <a:ext uri="{FF2B5EF4-FFF2-40B4-BE49-F238E27FC236}">
                <a16:creationId xmlns:a16="http://schemas.microsoft.com/office/drawing/2014/main" id="{1762F78F-0723-499B-9FF1-EF8BC94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STC-039</a:t>
            </a:r>
          </a:p>
        </p:txBody>
      </p:sp>
      <p:sp>
        <p:nvSpPr>
          <p:cNvPr id="4" name="STC-09-headline">
            <a:extLst xmlns:a="http://schemas.openxmlformats.org/drawingml/2006/main">
              <a:ext uri="{FF2B5EF4-FFF2-40B4-BE49-F238E27FC236}">
                <a16:creationId xmlns:a16="http://schemas.microsoft.com/office/drawing/2014/main" id="{3EFE9657-A9F6-4D01-B7AA-8CD5DCC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문제마다 sleep의 strongest alternative가 다르다</a:t>
            </a:r>
          </a:p>
        </p:txBody>
      </p:sp>
      <p:sp>
        <p:nvSpPr>
          <p:cNvPr id="5" name="STC-09-status-label">
            <a:extLst xmlns:a="http://schemas.openxmlformats.org/drawingml/2006/main">
              <a:ext uri="{FF2B5EF4-FFF2-40B4-BE49-F238E27FC236}">
                <a16:creationId xmlns:a16="http://schemas.microsoft.com/office/drawing/2014/main" id="{8D0AE475-7A53-4E5A-A49D-6EA175C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비교</a:t>
            </a:r>
          </a:p>
        </p:txBody>
      </p:sp>
      <p:sp>
        <p:nvSpPr>
          <p:cNvPr id="6" name="STC-09-status-rule">
            <a:extLst xmlns:a="http://schemas.openxmlformats.org/drawingml/2006/main">
              <a:ext uri="{FF2B5EF4-FFF2-40B4-BE49-F238E27FC236}">
                <a16:creationId xmlns:a16="http://schemas.microsoft.com/office/drawing/2014/main" id="{533C7DF8-73A5-4BF8-9C5D-81FE369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9-footer-rule">
            <a:extLst xmlns:a="http://schemas.openxmlformats.org/drawingml/2006/main">
              <a:ext uri="{FF2B5EF4-FFF2-40B4-BE49-F238E27FC236}">
                <a16:creationId xmlns:a16="http://schemas.microsoft.com/office/drawing/2014/main" id="{D41C1814-8E19-41C1-A558-010004C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9-source-footer">
            <a:extLst xmlns:a="http://schemas.openxmlformats.org/drawingml/2006/main">
              <a:ext uri="{FF2B5EF4-FFF2-40B4-BE49-F238E27FC236}">
                <a16:creationId xmlns:a16="http://schemas.microsoft.com/office/drawing/2014/main" id="{C447969D-F458-449A-95BB-BA55D3A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§6–§8 · STC-F006</a:t>
            </a:r>
          </a:p>
        </p:txBody>
      </p:sp>
      <p:sp>
        <p:nvSpPr>
          <p:cNvPr id="9" name="STC-09-page-number">
            <a:extLst xmlns:a="http://schemas.openxmlformats.org/drawingml/2006/main">
              <a:ext uri="{FF2B5EF4-FFF2-40B4-BE49-F238E27FC236}">
                <a16:creationId xmlns:a16="http://schemas.microsoft.com/office/drawing/2014/main" id="{8A2AA582-B0BF-4246-A717-6FA4959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39</a:t>
            </a:r>
          </a:p>
        </p:txBody>
      </p:sp>
      <p:sp>
        <p:nvSpPr>
          <p:cNvPr id="11" name="STC-09-matrix-col-0">
            <a:extLst xmlns:a="http://schemas.openxmlformats.org/drawingml/2006/main">
              <a:ext uri="{FF2B5EF4-FFF2-40B4-BE49-F238E27FC236}">
                <a16:creationId xmlns:a16="http://schemas.microsoft.com/office/drawing/2014/main" id="{A1622F37-BF76-43B7-84A8-4E826F9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ACCESS · RAG · long context · recurrent state</a:t>
            </a:r>
          </a:p>
        </p:txBody>
      </p:sp>
      <p:sp>
        <p:nvSpPr>
          <p:cNvPr id="12" name="STC-09-matrix-col-1">
            <a:extLst xmlns:a="http://schemas.openxmlformats.org/drawingml/2006/main">
              <a:ext uri="{FF2B5EF4-FFF2-40B4-BE49-F238E27FC236}">
                <a16:creationId xmlns:a16="http://schemas.microsoft.com/office/drawing/2014/main" id="{CADCF27A-962A-4876-A50A-100BBDA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RETENTION · replay · regularization · modular growth</a:t>
            </a:r>
          </a:p>
        </p:txBody>
      </p:sp>
      <p:sp>
        <p:nvSpPr>
          <p:cNvPr id="13" name="STC-09-matrix-col-2">
            <a:extLst xmlns:a="http://schemas.openxmlformats.org/drawingml/2006/main">
              <a:ext uri="{FF2B5EF4-FFF2-40B4-BE49-F238E27FC236}">
                <a16:creationId xmlns:a16="http://schemas.microsoft.com/office/drawing/2014/main" id="{DDD13F7E-EF58-4B00-9007-C34AC25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PERSONALIZE · prompt/prefix · adapter · external profile</a:t>
            </a:r>
          </a:p>
        </p:txBody>
      </p:sp>
      <p:sp>
        <p:nvSpPr>
          <p:cNvPr id="14" name="STC-09-matrix-col-3">
            <a:extLst xmlns:a="http://schemas.openxmlformats.org/drawingml/2006/main">
              <a:ext uri="{FF2B5EF4-FFF2-40B4-BE49-F238E27FC236}">
                <a16:creationId xmlns:a16="http://schemas.microsoft.com/office/drawing/2014/main" id="{BDD5DFCA-E93B-4A68-9CC4-C10B778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COMPACT · summary · graph merge · distillation</a:t>
            </a:r>
          </a:p>
        </p:txBody>
      </p:sp>
      <p:sp>
        <p:nvSpPr>
          <p:cNvPr id="15" name="STC-09-matrix-row-0">
            <a:extLst xmlns:a="http://schemas.openxmlformats.org/drawingml/2006/main">
              <a:ext uri="{FF2B5EF4-FFF2-40B4-BE49-F238E27FC236}">
                <a16:creationId xmlns:a16="http://schemas.microsoft.com/office/drawing/2014/main" id="{48054411-FFD1-41ED-9521-D9E544C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6272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ACCESS · RAG · long context · recurrent state</a:t>
            </a:r>
          </a:p>
        </p:txBody>
      </p:sp>
      <p:sp>
        <p:nvSpPr>
          <p:cNvPr id="16" name="STC-09-matrix-cell-0-0">
            <a:extLst xmlns:a="http://schemas.openxmlformats.org/drawingml/2006/main">
              <a:ext uri="{FF2B5EF4-FFF2-40B4-BE49-F238E27FC236}">
                <a16:creationId xmlns:a16="http://schemas.microsoft.com/office/drawing/2014/main" id="{EBF3F50C-9AAA-4D85-9A41-E196717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9-matrix-cell-0-1">
            <a:extLst xmlns:a="http://schemas.openxmlformats.org/drawingml/2006/main">
              <a:ext uri="{FF2B5EF4-FFF2-40B4-BE49-F238E27FC236}">
                <a16:creationId xmlns:a16="http://schemas.microsoft.com/office/drawing/2014/main" id="{99FD277C-8063-463E-9905-A188DED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8" name="STC-09-matrix-cell-0-2">
            <a:extLst xmlns:a="http://schemas.openxmlformats.org/drawingml/2006/main">
              <a:ext uri="{FF2B5EF4-FFF2-40B4-BE49-F238E27FC236}">
                <a16:creationId xmlns:a16="http://schemas.microsoft.com/office/drawing/2014/main" id="{DA428670-4DFB-4B25-B5C2-D14877B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09-matrix-cell-0-3">
            <a:extLst xmlns:a="http://schemas.openxmlformats.org/drawingml/2006/main">
              <a:ext uri="{FF2B5EF4-FFF2-40B4-BE49-F238E27FC236}">
                <a16:creationId xmlns:a16="http://schemas.microsoft.com/office/drawing/2014/main" id="{0C5C38C6-03C4-47C2-AD56-807F93F8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0" name="STC-09-matrix-row-1">
            <a:extLst xmlns:a="http://schemas.openxmlformats.org/drawingml/2006/main">
              <a:ext uri="{FF2B5EF4-FFF2-40B4-BE49-F238E27FC236}">
                <a16:creationId xmlns:a16="http://schemas.microsoft.com/office/drawing/2014/main" id="{7940E56B-C80F-4DD2-B7CD-33C3E92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8104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RETENTION · replay · regularization · modular growth</a:t>
            </a:r>
          </a:p>
        </p:txBody>
      </p:sp>
      <p:sp>
        <p:nvSpPr>
          <p:cNvPr id="21" name="STC-09-matrix-cell-1-0">
            <a:extLst xmlns:a="http://schemas.openxmlformats.org/drawingml/2006/main">
              <a:ext uri="{FF2B5EF4-FFF2-40B4-BE49-F238E27FC236}">
                <a16:creationId xmlns:a16="http://schemas.microsoft.com/office/drawing/2014/main" id="{4116D720-457C-45E0-A9E6-A5C9B85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09-matrix-cell-1-1">
            <a:extLst xmlns:a="http://schemas.openxmlformats.org/drawingml/2006/main">
              <a:ext uri="{FF2B5EF4-FFF2-40B4-BE49-F238E27FC236}">
                <a16:creationId xmlns:a16="http://schemas.microsoft.com/office/drawing/2014/main" id="{503E2699-DB07-4331-9D2B-342F429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3" name="STC-09-matrix-cell-1-2">
            <a:extLst xmlns:a="http://schemas.openxmlformats.org/drawingml/2006/main">
              <a:ext uri="{FF2B5EF4-FFF2-40B4-BE49-F238E27FC236}">
                <a16:creationId xmlns:a16="http://schemas.microsoft.com/office/drawing/2014/main" id="{97E4F3B9-6846-4760-BE7D-80FF27D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4" name="STC-09-matrix-cell-1-3">
            <a:extLst xmlns:a="http://schemas.openxmlformats.org/drawingml/2006/main">
              <a:ext uri="{FF2B5EF4-FFF2-40B4-BE49-F238E27FC236}">
                <a16:creationId xmlns:a16="http://schemas.microsoft.com/office/drawing/2014/main" id="{84496169-8F4D-4E6F-9027-640CD5AA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9-matrix-row-2">
            <a:extLst xmlns:a="http://schemas.openxmlformats.org/drawingml/2006/main">
              <a:ext uri="{FF2B5EF4-FFF2-40B4-BE49-F238E27FC236}">
                <a16:creationId xmlns:a16="http://schemas.microsoft.com/office/drawing/2014/main" id="{B5447A2E-9E34-4D35-B79B-9988EB5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936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PERSONALIZE · prompt/prefix · adapter · external profile</a:t>
            </a:r>
          </a:p>
        </p:txBody>
      </p:sp>
      <p:sp>
        <p:nvSpPr>
          <p:cNvPr id="26" name="STC-09-matrix-cell-2-0">
            <a:extLst xmlns:a="http://schemas.openxmlformats.org/drawingml/2006/main">
              <a:ext uri="{FF2B5EF4-FFF2-40B4-BE49-F238E27FC236}">
                <a16:creationId xmlns:a16="http://schemas.microsoft.com/office/drawing/2014/main" id="{FAC2E53F-B600-4470-BF9A-7BF8DFB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09-matrix-cell-2-1">
            <a:extLst xmlns:a="http://schemas.openxmlformats.org/drawingml/2006/main">
              <a:ext uri="{FF2B5EF4-FFF2-40B4-BE49-F238E27FC236}">
                <a16:creationId xmlns:a16="http://schemas.microsoft.com/office/drawing/2014/main" id="{D0B8CA6B-5C13-47E7-8118-5F49E24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8" name="STC-09-matrix-cell-2-2">
            <a:extLst xmlns:a="http://schemas.openxmlformats.org/drawingml/2006/main">
              <a:ext uri="{FF2B5EF4-FFF2-40B4-BE49-F238E27FC236}">
                <a16:creationId xmlns:a16="http://schemas.microsoft.com/office/drawing/2014/main" id="{DB91A1F1-5BE9-4F23-AB50-8503832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9-matrix-cell-2-3">
            <a:extLst xmlns:a="http://schemas.openxmlformats.org/drawingml/2006/main">
              <a:ext uri="{FF2B5EF4-FFF2-40B4-BE49-F238E27FC236}">
                <a16:creationId xmlns:a16="http://schemas.microsoft.com/office/drawing/2014/main" id="{2D2F42EF-8AEC-4FA8-8F63-9621C4E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0" name="STC-09-matrix-item-0">
            <a:extLst xmlns:a="http://schemas.openxmlformats.org/drawingml/2006/main">
              <a:ext uri="{FF2B5EF4-FFF2-40B4-BE49-F238E27FC236}">
                <a16:creationId xmlns:a16="http://schemas.microsoft.com/office/drawing/2014/main" id="{7C11B00E-E901-4952-BD96-39AC9CD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ACCESS</a:t>
            </a:r>
          </a:p>
        </p:txBody>
      </p:sp>
      <p:sp>
        <p:nvSpPr>
          <p:cNvPr id="31" name="STC-09-matrix-item-1">
            <a:extLst xmlns:a="http://schemas.openxmlformats.org/drawingml/2006/main">
              <a:ext uri="{FF2B5EF4-FFF2-40B4-BE49-F238E27FC236}">
                <a16:creationId xmlns:a16="http://schemas.microsoft.com/office/drawing/2014/main" id="{C09EB82D-1B40-4E0D-8EA7-35317E3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RETENTION</a:t>
            </a:r>
          </a:p>
        </p:txBody>
      </p:sp>
      <p:sp>
        <p:nvSpPr>
          <p:cNvPr id="32" name="STC-09-matrix-item-2">
            <a:extLst xmlns:a="http://schemas.openxmlformats.org/drawingml/2006/main">
              <a:ext uri="{FF2B5EF4-FFF2-40B4-BE49-F238E27FC236}">
                <a16:creationId xmlns:a16="http://schemas.microsoft.com/office/drawing/2014/main" id="{0251189C-D3AD-41B8-972C-EDD23B2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PERSONALIZE</a:t>
            </a:r>
          </a:p>
        </p:txBody>
      </p:sp>
      <p:sp>
        <p:nvSpPr>
          <p:cNvPr id="33" name="STC-09-matrix-item-3">
            <a:extLst xmlns:a="http://schemas.openxmlformats.org/drawingml/2006/main">
              <a:ext uri="{FF2B5EF4-FFF2-40B4-BE49-F238E27FC236}">
                <a16:creationId xmlns:a16="http://schemas.microsoft.com/office/drawing/2014/main" id="{3DEFCD03-DAF7-46A0-BC0B-82DA91A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sleeper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Auto-Dreamer</a:t>
            </a:r>
          </a:p>
        </p:txBody>
      </p:sp>
      <p:sp>
        <p:nvSpPr>
          <p:cNvPr id="34" name="STC-09-matrix-item-4">
            <a:extLst xmlns:a="http://schemas.openxmlformats.org/drawingml/2006/main">
              <a:ext uri="{FF2B5EF4-FFF2-40B4-BE49-F238E27FC236}">
                <a16:creationId xmlns:a16="http://schemas.microsoft.com/office/drawing/2014/main" id="{20F5ABAA-F3AB-4A1E-B002-FAE254B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Cartridges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Offline Recurrence</a:t>
            </a:r>
          </a:p>
        </p:txBody>
      </p:sp>
      <p:sp>
        <p:nvSpPr>
          <p:cNvPr id="35" name="STC-09-matrix-item-5">
            <a:extLst xmlns:a="http://schemas.openxmlformats.org/drawingml/2006/main">
              <a:ext uri="{FF2B5EF4-FFF2-40B4-BE49-F238E27FC236}">
                <a16:creationId xmlns:a16="http://schemas.microsoft.com/office/drawing/2014/main" id="{846D3DCA-789E-4C4A-A897-494AC5A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ACCESS</a:t>
            </a:r>
          </a:p>
        </p:txBody>
      </p:sp>
      <p:sp>
        <p:nvSpPr>
          <p:cNvPr id="36" name="STC-09-matrix-item-6">
            <a:extLst xmlns:a="http://schemas.openxmlformats.org/drawingml/2006/main">
              <a:ext uri="{FF2B5EF4-FFF2-40B4-BE49-F238E27FC236}">
                <a16:creationId xmlns:a16="http://schemas.microsoft.com/office/drawing/2014/main" id="{AF6F670C-AE78-45F0-A3DB-62F1E51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RETENTION</a:t>
            </a:r>
          </a:p>
        </p:txBody>
      </p:sp>
      <p:sp>
        <p:nvSpPr>
          <p:cNvPr id="37" name="STC-09-matrix-item-7">
            <a:extLst xmlns:a="http://schemas.openxmlformats.org/drawingml/2006/main">
              <a:ext uri="{FF2B5EF4-FFF2-40B4-BE49-F238E27FC236}">
                <a16:creationId xmlns:a16="http://schemas.microsoft.com/office/drawing/2014/main" id="{78FE0597-34A6-404B-BFB5-86CA375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memory-policy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pretraining</a:t>
            </a:r>
          </a:p>
        </p:txBody>
      </p:sp>
      <p:sp>
        <p:nvSpPr>
          <p:cNvPr id="38" name="STC-09-matrix-item-8">
            <a:extLst xmlns:a="http://schemas.openxmlformats.org/drawingml/2006/main">
              <a:ext uri="{FF2B5EF4-FFF2-40B4-BE49-F238E27FC236}">
                <a16:creationId xmlns:a16="http://schemas.microsoft.com/office/drawing/2014/main" id="{699699AB-8F10-46DC-93DD-EC5C2BE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COMPACT</a:t>
            </a:r>
          </a:p>
        </p:txBody>
      </p:sp>
      <p:sp>
        <p:nvSpPr>
          <p:cNvPr id="39" name="STC-09-matrix-item-9">
            <a:extLst xmlns:a="http://schemas.openxmlformats.org/drawingml/2006/main">
              <a:ext uri="{FF2B5EF4-FFF2-40B4-BE49-F238E27FC236}">
                <a16:creationId xmlns:a16="http://schemas.microsoft.com/office/drawing/2014/main" id="{DD8E80DC-2A77-4566-BEAE-1664E61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GOVERN</a:t>
            </a:r>
          </a:p>
        </p:txBody>
      </p:sp>
      <p:sp>
        <p:nvSpPr>
          <p:cNvPr id="40" name="STC-09-matrix-question-label">
            <a:extLst xmlns:a="http://schemas.openxmlformats.org/drawingml/2006/main">
              <a:ext uri="{FF2B5EF4-FFF2-40B4-BE49-F238E27FC236}">
                <a16:creationId xmlns:a16="http://schemas.microsoft.com/office/drawing/2014/main" id="{83EDD79B-52C5-495D-A2AA-84DA2A5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6577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RAG · long context · recurrent state</a:t>
            </a:r>
          </a:p>
        </p:txBody>
      </p:sp>
      <p:sp>
        <p:nvSpPr>
          <p:cNvPr id="41" name="STC-09-matrix-question">
            <a:extLst xmlns:a="http://schemas.openxmlformats.org/drawingml/2006/main">
              <a:ext uri="{FF2B5EF4-FFF2-40B4-BE49-F238E27FC236}">
                <a16:creationId xmlns:a16="http://schemas.microsoft.com/office/drawing/2014/main" id="{85F42F15-58B1-4837-960A-A6B12D3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965192"/>
            <a:ext cx="89245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regularization · modular growth</a:t>
            </a:r>
          </a:p>
        </p:txBody>
      </p:sp>
    </p:spTree>
    <p:extLst>
      <p:ext uri="{BB962C8B-B14F-4D97-AF65-F5344CB8AC3E}">
        <p14:creationId xmlns:p14="http://schemas.microsoft.com/office/powerpoint/2010/main" val="160512679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7-section">
            <a:extLst xmlns:a="http://schemas.openxmlformats.org/drawingml/2006/main">
              <a:ext uri="{FF2B5EF4-FFF2-40B4-BE49-F238E27FC236}">
                <a16:creationId xmlns:a16="http://schemas.microsoft.com/office/drawing/2014/main" id="{50A8E72E-7C75-4390-A984-644C572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17-slide-id">
            <a:extLst xmlns:a="http://schemas.openxmlformats.org/drawingml/2006/main">
              <a:ext uri="{FF2B5EF4-FFF2-40B4-BE49-F238E27FC236}">
                <a16:creationId xmlns:a16="http://schemas.microsoft.com/office/drawing/2014/main" id="{5514060C-C7EE-4371-9780-78B67F8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STC-040</a:t>
            </a:r>
          </a:p>
        </p:txBody>
      </p:sp>
      <p:sp>
        <p:nvSpPr>
          <p:cNvPr id="4" name="STC-17-headline">
            <a:extLst xmlns:a="http://schemas.openxmlformats.org/drawingml/2006/main">
              <a:ext uri="{FF2B5EF4-FFF2-40B4-BE49-F238E27FC236}">
                <a16:creationId xmlns:a16="http://schemas.microsoft.com/office/drawing/2014/main" id="{493F2B83-D8E6-4D1C-951D-0BCF9CD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더 긴 inference가 memory lifecycle을 대체하지는 않는다</a:t>
            </a:r>
          </a:p>
        </p:txBody>
      </p:sp>
      <p:sp>
        <p:nvSpPr>
          <p:cNvPr id="5" name="STC-17-status-label">
            <a:extLst xmlns:a="http://schemas.openxmlformats.org/drawingml/2006/main">
              <a:ext uri="{FF2B5EF4-FFF2-40B4-BE49-F238E27FC236}">
                <a16:creationId xmlns:a16="http://schemas.microsoft.com/office/drawing/2014/main" id="{EC050CC0-B6E7-4F49-81AD-65A5A2A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대안</a:t>
            </a:r>
          </a:p>
        </p:txBody>
      </p:sp>
      <p:sp>
        <p:nvSpPr>
          <p:cNvPr id="6" name="STC-17-status-rule">
            <a:extLst xmlns:a="http://schemas.openxmlformats.org/drawingml/2006/main">
              <a:ext uri="{FF2B5EF4-FFF2-40B4-BE49-F238E27FC236}">
                <a16:creationId xmlns:a16="http://schemas.microsoft.com/office/drawing/2014/main" id="{BE2F59F6-D180-4913-A2FC-2DA4E90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7-footer-rule">
            <a:extLst xmlns:a="http://schemas.openxmlformats.org/drawingml/2006/main">
              <a:ext uri="{FF2B5EF4-FFF2-40B4-BE49-F238E27FC236}">
                <a16:creationId xmlns:a16="http://schemas.microsoft.com/office/drawing/2014/main" id="{2866FD90-0A75-4C98-BDAD-E15B7D5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7-source-footer">
            <a:extLst xmlns:a="http://schemas.openxmlformats.org/drawingml/2006/main">
              <a:ext uri="{FF2B5EF4-FFF2-40B4-BE49-F238E27FC236}">
                <a16:creationId xmlns:a16="http://schemas.microsoft.com/office/drawing/2014/main" id="{47748FC0-BEB4-475B-A042-4C656B1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Long-context and inference scaling frontier</a:t>
            </a:r>
          </a:p>
        </p:txBody>
      </p:sp>
      <p:sp>
        <p:nvSpPr>
          <p:cNvPr id="9" name="STC-17-page-number">
            <a:extLst xmlns:a="http://schemas.openxmlformats.org/drawingml/2006/main">
              <a:ext uri="{FF2B5EF4-FFF2-40B4-BE49-F238E27FC236}">
                <a16:creationId xmlns:a16="http://schemas.microsoft.com/office/drawing/2014/main" id="{BB999C45-69E3-40D6-B585-8635B07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40</a:t>
            </a:r>
          </a:p>
        </p:txBody>
      </p:sp>
      <p:sp>
        <p:nvSpPr>
          <p:cNvPr id="11" name="STC-17-scale-left-x">
            <a:extLst xmlns:a="http://schemas.openxmlformats.org/drawingml/2006/main">
              <a:ext uri="{FF2B5EF4-FFF2-40B4-BE49-F238E27FC236}">
                <a16:creationId xmlns:a16="http://schemas.microsoft.com/office/drawing/2014/main" id="{37549C12-7BA7-4F80-A013-376123D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20640"/>
            <a:ext cx="4251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7-scale-left-y">
            <a:extLst xmlns:a="http://schemas.openxmlformats.org/drawingml/2006/main">
              <a:ext uri="{FF2B5EF4-FFF2-40B4-BE49-F238E27FC236}">
                <a16:creationId xmlns:a16="http://schemas.microsoft.com/office/drawing/2014/main" id="{51B5707F-F499-486D-B754-A4C04EA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5840" y="187452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7-scale-left-xlabel">
            <a:extLst xmlns:a="http://schemas.openxmlformats.org/drawingml/2006/main">
              <a:ext uri="{FF2B5EF4-FFF2-40B4-BE49-F238E27FC236}">
                <a16:creationId xmlns:a16="http://schemas.microsoft.com/office/drawing/2014/main" id="{2BD01715-74E4-4BD3-A61D-6E5BEEA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26694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per-request quality</a:t>
            </a:r>
          </a:p>
        </p:txBody>
      </p:sp>
      <p:sp>
        <p:nvSpPr>
          <p:cNvPr id="14" name="STC-17-scale-left-ylabel">
            <a:extLst xmlns:a="http://schemas.openxmlformats.org/drawingml/2006/main">
              <a:ext uri="{FF2B5EF4-FFF2-40B4-BE49-F238E27FC236}">
                <a16:creationId xmlns:a16="http://schemas.microsoft.com/office/drawing/2014/main" id="{8A3CB791-CC04-46DC-9F66-7EE4ED3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4360" y="176479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context/compute</a:t>
            </a:r>
          </a:p>
        </p:txBody>
      </p:sp>
      <p:sp>
        <p:nvSpPr>
          <p:cNvPr id="15" name="STC-17-scale-external">
            <a:extLst xmlns:a="http://schemas.openxmlformats.org/drawingml/2006/main">
              <a:ext uri="{FF2B5EF4-FFF2-40B4-BE49-F238E27FC236}">
                <a16:creationId xmlns:a16="http://schemas.microsoft.com/office/drawing/2014/main" id="{746BD1C1-B538-42E8-980A-0422BEB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8720" y="2606040"/>
            <a:ext cx="3520440" cy="1874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7-scale-parametric">
            <a:extLst xmlns:a="http://schemas.openxmlformats.org/drawingml/2006/main">
              <a:ext uri="{FF2B5EF4-FFF2-40B4-BE49-F238E27FC236}">
                <a16:creationId xmlns:a16="http://schemas.microsoft.com/office/drawing/2014/main" id="{35D35A32-B071-4729-8C67-F37447D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3520440" cy="1965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9A442D"/>
            </a:solidFill>
            <a:prstDash val="solid"/>
            <a:tailEnd type="none"/>
          </a:ln>
        </p:spPr>
      </p:sp>
      <p:sp>
        <p:nvSpPr>
          <p:cNvPr id="17" name="STC-17-scale-cross">
            <a:extLst xmlns:a="http://schemas.openxmlformats.org/drawingml/2006/main">
              <a:ext uri="{FF2B5EF4-FFF2-40B4-BE49-F238E27FC236}">
                <a16:creationId xmlns:a16="http://schemas.microsoft.com/office/drawing/2014/main" id="{0F5C156F-BAA6-4566-8B5D-9262483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1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8" name="STC-17-scale-cross-label">
            <a:extLst xmlns:a="http://schemas.openxmlformats.org/drawingml/2006/main">
              <a:ext uri="{FF2B5EF4-FFF2-40B4-BE49-F238E27FC236}">
                <a16:creationId xmlns:a16="http://schemas.microsoft.com/office/drawing/2014/main" id="{5773B7A2-B372-4859-98D1-F909F596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54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lifecycle gap</a:t>
            </a:r>
          </a:p>
        </p:txBody>
      </p:sp>
      <p:sp>
        <p:nvSpPr>
          <p:cNvPr id="19" name="STC-17-scale-external-label">
            <a:extLst xmlns:a="http://schemas.openxmlformats.org/drawingml/2006/main">
              <a:ext uri="{FF2B5EF4-FFF2-40B4-BE49-F238E27FC236}">
                <a16:creationId xmlns:a16="http://schemas.microsoft.com/office/drawing/2014/main" id="{9E0CF856-7B4F-4375-940B-327132F4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9651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SCALE</a:t>
            </a:r>
          </a:p>
        </p:txBody>
      </p:sp>
      <p:sp>
        <p:nvSpPr>
          <p:cNvPr id="20" name="STC-17-scale-parametric-label">
            <a:extLst xmlns:a="http://schemas.openxmlformats.org/drawingml/2006/main">
              <a:ext uri="{FF2B5EF4-FFF2-40B4-BE49-F238E27FC236}">
                <a16:creationId xmlns:a16="http://schemas.microsoft.com/office/drawing/2014/main" id="{5574E327-F62C-4E5E-8F70-5B427094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114800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21" name="STC-17-scale-divider">
            <a:extLst xmlns:a="http://schemas.openxmlformats.org/drawingml/2006/main">
              <a:ext uri="{FF2B5EF4-FFF2-40B4-BE49-F238E27FC236}">
                <a16:creationId xmlns:a16="http://schemas.microsoft.com/office/drawing/2014/main" id="{AC5030A1-F714-4CDE-88FA-4D60E22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55648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2" name="STC-17-atlas-label-0">
            <a:extLst xmlns:a="http://schemas.openxmlformats.org/drawingml/2006/main">
              <a:ext uri="{FF2B5EF4-FFF2-40B4-BE49-F238E27FC236}">
                <a16:creationId xmlns:a16="http://schemas.microsoft.com/office/drawing/2014/main" id="{DB01B8AC-9043-4E56-A897-AB76711F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709928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SCALE</a:t>
            </a:r>
          </a:p>
        </p:txBody>
      </p:sp>
      <p:sp>
        <p:nvSpPr>
          <p:cNvPr id="23" name="STC-17-atlas-rule-0">
            <a:extLst xmlns:a="http://schemas.openxmlformats.org/drawingml/2006/main">
              <a:ext uri="{FF2B5EF4-FFF2-40B4-BE49-F238E27FC236}">
                <a16:creationId xmlns:a16="http://schemas.microsoft.com/office/drawing/2014/main" id="{C2D5188B-DACD-42C3-83FE-9BA504C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19656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7-atlas-body-0">
            <a:extLst xmlns:a="http://schemas.openxmlformats.org/drawingml/2006/main">
              <a:ext uri="{FF2B5EF4-FFF2-40B4-BE49-F238E27FC236}">
                <a16:creationId xmlns:a16="http://schemas.microsoft.com/office/drawing/2014/main" id="{237BC86C-5FCF-47EF-BB4A-1058775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682496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token budget·parallel samples·deliberation 증가</a:t>
            </a:r>
          </a:p>
        </p:txBody>
      </p:sp>
      <p:sp>
        <p:nvSpPr>
          <p:cNvPr id="25" name="STC-17-atlas-label-1">
            <a:extLst xmlns:a="http://schemas.openxmlformats.org/drawingml/2006/main">
              <a:ext uri="{FF2B5EF4-FFF2-40B4-BE49-F238E27FC236}">
                <a16:creationId xmlns:a16="http://schemas.microsoft.com/office/drawing/2014/main" id="{E51AC899-D130-4122-8EC0-0F88697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96312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GAIN</a:t>
            </a:r>
          </a:p>
        </p:txBody>
      </p:sp>
      <p:sp>
        <p:nvSpPr>
          <p:cNvPr id="26" name="STC-17-atlas-rule-1">
            <a:extLst xmlns:a="http://schemas.openxmlformats.org/drawingml/2006/main">
              <a:ext uri="{FF2B5EF4-FFF2-40B4-BE49-F238E27FC236}">
                <a16:creationId xmlns:a16="http://schemas.microsoft.com/office/drawing/2014/main" id="{DCF90CCF-A5FB-448D-9B85-20BA689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60604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27" name="STC-17-atlas-body-1">
            <a:extLst xmlns:a="http://schemas.openxmlformats.org/drawingml/2006/main">
              <a:ext uri="{FF2B5EF4-FFF2-40B4-BE49-F238E27FC236}">
                <a16:creationId xmlns:a16="http://schemas.microsoft.com/office/drawing/2014/main" id="{A01A612E-35E7-462F-8A49-6C9C86F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468880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현재 요청의 reasoning·evidence coverage 향상</a:t>
            </a:r>
          </a:p>
        </p:txBody>
      </p:sp>
      <p:sp>
        <p:nvSpPr>
          <p:cNvPr id="28" name="STC-17-atlas-label-2">
            <a:extLst xmlns:a="http://schemas.openxmlformats.org/drawingml/2006/main">
              <a:ext uri="{FF2B5EF4-FFF2-40B4-BE49-F238E27FC236}">
                <a16:creationId xmlns:a16="http://schemas.microsoft.com/office/drawing/2014/main" id="{19B57C0F-66F6-4B39-99CB-991BEDD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82696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COST</a:t>
            </a:r>
          </a:p>
        </p:txBody>
      </p:sp>
      <p:sp>
        <p:nvSpPr>
          <p:cNvPr id="29" name="STC-17-atlas-rule-2">
            <a:extLst xmlns:a="http://schemas.openxmlformats.org/drawingml/2006/main">
              <a:ext uri="{FF2B5EF4-FFF2-40B4-BE49-F238E27FC236}">
                <a16:creationId xmlns:a16="http://schemas.microsoft.com/office/drawing/2014/main" id="{843B8D43-19A2-4542-9A8B-3145F30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39242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30" name="STC-17-atlas-body-2">
            <a:extLst xmlns:a="http://schemas.openxmlformats.org/drawingml/2006/main">
              <a:ext uri="{FF2B5EF4-FFF2-40B4-BE49-F238E27FC236}">
                <a16:creationId xmlns:a16="http://schemas.microsoft.com/office/drawing/2014/main" id="{63F02158-2EE8-444A-B0A1-353C1FA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255264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attention/KV traffic과 serving latency 증가</a:t>
            </a:r>
          </a:p>
        </p:txBody>
      </p:sp>
      <p:sp>
        <p:nvSpPr>
          <p:cNvPr id="31" name="STC-17-atlas-label-3">
            <a:extLst xmlns:a="http://schemas.openxmlformats.org/drawingml/2006/main">
              <a:ext uri="{FF2B5EF4-FFF2-40B4-BE49-F238E27FC236}">
                <a16:creationId xmlns:a16="http://schemas.microsoft.com/office/drawing/2014/main" id="{771AA175-CCD3-4A7B-B823-58B34D5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69080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GAP</a:t>
            </a:r>
          </a:p>
        </p:txBody>
      </p:sp>
      <p:sp>
        <p:nvSpPr>
          <p:cNvPr id="32" name="STC-17-atlas-rule-3">
            <a:extLst xmlns:a="http://schemas.openxmlformats.org/drawingml/2006/main">
              <a:ext uri="{FF2B5EF4-FFF2-40B4-BE49-F238E27FC236}">
                <a16:creationId xmlns:a16="http://schemas.microsoft.com/office/drawing/2014/main" id="{26DD1B80-A1E6-4568-8C93-E63110B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7880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33" name="STC-17-atlas-body-3">
            <a:extLst xmlns:a="http://schemas.openxmlformats.org/drawingml/2006/main">
              <a:ext uri="{FF2B5EF4-FFF2-40B4-BE49-F238E27FC236}">
                <a16:creationId xmlns:a16="http://schemas.microsoft.com/office/drawing/2014/main" id="{D9EA77C8-C5CD-4A30-AB25-42A22790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041648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요청 종료 뒤 reusable state·deletion contract가 없음</a:t>
            </a:r>
          </a:p>
        </p:txBody>
      </p:sp>
      <p:sp>
        <p:nvSpPr>
          <p:cNvPr id="34" name="STC-17-atlas-label-4">
            <a:extLst xmlns:a="http://schemas.openxmlformats.org/drawingml/2006/main">
              <a:ext uri="{FF2B5EF4-FFF2-40B4-BE49-F238E27FC236}">
                <a16:creationId xmlns:a16="http://schemas.microsoft.com/office/drawing/2014/main" id="{1A9044C5-74E3-419E-A7CD-BB1CC09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55464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SCALE</a:t>
            </a:r>
          </a:p>
        </p:txBody>
      </p:sp>
      <p:sp>
        <p:nvSpPr>
          <p:cNvPr id="35" name="STC-17-atlas-rule-4">
            <a:extLst xmlns:a="http://schemas.openxmlformats.org/drawingml/2006/main">
              <a:ext uri="{FF2B5EF4-FFF2-40B4-BE49-F238E27FC236}">
                <a16:creationId xmlns:a16="http://schemas.microsoft.com/office/drawing/2014/main" id="{8B484F1D-3E6A-4E4D-9BF1-28386CD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96519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9616A"/>
            </a:solidFill>
            <a:prstDash val="solid"/>
            <a:tailEnd type="none"/>
          </a:ln>
        </p:spPr>
      </p:sp>
      <p:sp>
        <p:nvSpPr>
          <p:cNvPr id="36" name="STC-17-atlas-body-4">
            <a:extLst xmlns:a="http://schemas.openxmlformats.org/drawingml/2006/main">
              <a:ext uri="{FF2B5EF4-FFF2-40B4-BE49-F238E27FC236}">
                <a16:creationId xmlns:a16="http://schemas.microsoft.com/office/drawing/2014/main" id="{AD81ED4F-1A57-45B5-9758-E014A7B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828032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token budget·parallel samples·deliberation 증가</a:t>
            </a:r>
          </a:p>
        </p:txBody>
      </p:sp>
      <p:sp>
        <p:nvSpPr>
          <p:cNvPr id="37" name="STC-17-scale-nonresult">
            <a:extLst xmlns:a="http://schemas.openxmlformats.org/drawingml/2006/main">
              <a:ext uri="{FF2B5EF4-FFF2-40B4-BE49-F238E27FC236}">
                <a16:creationId xmlns:a16="http://schemas.microsoft.com/office/drawing/2014/main" id="{1D42FAC3-382B-4CF4-A168-D6BE731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715000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Inference scaling은 wake capability이고 sleep은 cross-request reuse 문제다.</a:t>
            </a:r>
          </a:p>
        </p:txBody>
      </p:sp>
    </p:spTree>
    <p:extLst>
      <p:ext uri="{BB962C8B-B14F-4D97-AF65-F5344CB8AC3E}">
        <p14:creationId xmlns:p14="http://schemas.microsoft.com/office/powerpoint/2010/main" val="199046208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6-section">
            <a:extLst xmlns:a="http://schemas.openxmlformats.org/drawingml/2006/main">
              <a:ext uri="{FF2B5EF4-FFF2-40B4-BE49-F238E27FC236}">
                <a16:creationId xmlns:a16="http://schemas.microsoft.com/office/drawing/2014/main" id="{A4B735FE-DF76-49D0-947E-D484E8D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06-slide-id">
            <a:extLst xmlns:a="http://schemas.openxmlformats.org/drawingml/2006/main">
              <a:ext uri="{FF2B5EF4-FFF2-40B4-BE49-F238E27FC236}">
                <a16:creationId xmlns:a16="http://schemas.microsoft.com/office/drawing/2014/main" id="{CD4DCA6F-87B9-40D7-A181-4D03F6E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STC-041</a:t>
            </a:r>
          </a:p>
        </p:txBody>
      </p:sp>
      <p:sp>
        <p:nvSpPr>
          <p:cNvPr id="4" name="STC-06-headline">
            <a:extLst xmlns:a="http://schemas.openxmlformats.org/drawingml/2006/main">
              <a:ext uri="{FF2B5EF4-FFF2-40B4-BE49-F238E27FC236}">
                <a16:creationId xmlns:a16="http://schemas.microsoft.com/office/drawing/2014/main" id="{9DD72DFE-39A8-4839-A97A-56F63DF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Prompt compression은 가장 싼 ‘sleep-like’ baseline이다</a:t>
            </a:r>
          </a:p>
        </p:txBody>
      </p:sp>
      <p:sp>
        <p:nvSpPr>
          <p:cNvPr id="5" name="STC-06-status-label">
            <a:extLst xmlns:a="http://schemas.openxmlformats.org/drawingml/2006/main">
              <a:ext uri="{FF2B5EF4-FFF2-40B4-BE49-F238E27FC236}">
                <a16:creationId xmlns:a16="http://schemas.microsoft.com/office/drawing/2014/main" id="{06DA1055-BF45-4F84-B55B-B645ABD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강한 대안</a:t>
            </a:r>
          </a:p>
        </p:txBody>
      </p:sp>
      <p:sp>
        <p:nvSpPr>
          <p:cNvPr id="6" name="STC-06-status-rule">
            <a:extLst xmlns:a="http://schemas.openxmlformats.org/drawingml/2006/main">
              <a:ext uri="{FF2B5EF4-FFF2-40B4-BE49-F238E27FC236}">
                <a16:creationId xmlns:a16="http://schemas.microsoft.com/office/drawing/2014/main" id="{8775D502-9A70-47CF-8196-10A02E6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6-footer-rule">
            <a:extLst xmlns:a="http://schemas.openxmlformats.org/drawingml/2006/main">
              <a:ext uri="{FF2B5EF4-FFF2-40B4-BE49-F238E27FC236}">
                <a16:creationId xmlns:a16="http://schemas.microsoft.com/office/drawing/2014/main" id="{5CC30C30-5F05-467A-9995-DBB632C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6-source-footer">
            <a:extLst xmlns:a="http://schemas.openxmlformats.org/drawingml/2006/main">
              <a:ext uri="{FF2B5EF4-FFF2-40B4-BE49-F238E27FC236}">
                <a16:creationId xmlns:a16="http://schemas.microsoft.com/office/drawing/2014/main" id="{53E02F2E-A992-49A2-A84D-9C79516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Summary and context compression literature</a:t>
            </a:r>
          </a:p>
        </p:txBody>
      </p:sp>
      <p:sp>
        <p:nvSpPr>
          <p:cNvPr id="9" name="STC-06-page-number">
            <a:extLst xmlns:a="http://schemas.openxmlformats.org/drawingml/2006/main">
              <a:ext uri="{FF2B5EF4-FFF2-40B4-BE49-F238E27FC236}">
                <a16:creationId xmlns:a16="http://schemas.microsoft.com/office/drawing/2014/main" id="{514AF207-6A8F-4EA0-82CB-8A93AF2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41</a:t>
            </a:r>
          </a:p>
        </p:txBody>
      </p:sp>
      <p:sp>
        <p:nvSpPr>
          <p:cNvPr id="11" name="STC-06-bio-left-fill">
            <a:extLst xmlns:a="http://schemas.openxmlformats.org/drawingml/2006/main">
              <a:ext uri="{FF2B5EF4-FFF2-40B4-BE49-F238E27FC236}">
                <a16:creationId xmlns:a16="http://schemas.microsoft.com/office/drawing/2014/main" id="{2A7F7E40-3A07-46DA-A4BE-2190540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6-bio-left-text">
            <a:extLst xmlns:a="http://schemas.openxmlformats.org/drawingml/2006/main">
              <a:ext uri="{FF2B5EF4-FFF2-40B4-BE49-F238E27FC236}">
                <a16:creationId xmlns:a16="http://schemas.microsoft.com/office/drawing/2014/main" id="{FE9CF1DC-CD34-4A40-BC65-BBF5B48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INPUT</a:t>
            </a:r>
          </a:p>
        </p:txBody>
      </p:sp>
      <p:sp>
        <p:nvSpPr>
          <p:cNvPr id="13" name="STC-06-bio-right-fill">
            <a:extLst xmlns:a="http://schemas.openxmlformats.org/drawingml/2006/main">
              <a:ext uri="{FF2B5EF4-FFF2-40B4-BE49-F238E27FC236}">
                <a16:creationId xmlns:a16="http://schemas.microsoft.com/office/drawing/2014/main" id="{DF8DD8DF-8E62-40AC-A5EE-9590FB4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4" name="STC-06-bio-right-text">
            <a:extLst xmlns:a="http://schemas.openxmlformats.org/drawingml/2006/main">
              <a:ext uri="{FF2B5EF4-FFF2-40B4-BE49-F238E27FC236}">
                <a16:creationId xmlns:a16="http://schemas.microsoft.com/office/drawing/2014/main" id="{CBDD6DFD-AB19-4CD6-8E2E-10FF984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OUTPUT</a:t>
            </a:r>
          </a:p>
        </p:txBody>
      </p:sp>
      <p:sp>
        <p:nvSpPr>
          <p:cNvPr id="15" name="STC-06-bio-evidence-dot-0">
            <a:extLst xmlns:a="http://schemas.openxmlformats.org/drawingml/2006/main">
              <a:ext uri="{FF2B5EF4-FFF2-40B4-BE49-F238E27FC236}">
                <a16:creationId xmlns:a16="http://schemas.microsoft.com/office/drawing/2014/main" id="{53A4A694-6C62-4744-9EB8-215930F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06-bio-evidence-item-0">
            <a:extLst xmlns:a="http://schemas.openxmlformats.org/drawingml/2006/main">
              <a:ext uri="{FF2B5EF4-FFF2-40B4-BE49-F238E27FC236}">
                <a16:creationId xmlns:a16="http://schemas.microsoft.com/office/drawing/2014/main" id="{B27B9F97-BA89-4F4C-8508-55265DB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긴 대화·문서를 compact representation으로 변환</a:t>
            </a:r>
          </a:p>
        </p:txBody>
      </p:sp>
      <p:sp>
        <p:nvSpPr>
          <p:cNvPr id="17" name="STC-06-bio-evidence-dot-1">
            <a:extLst xmlns:a="http://schemas.openxmlformats.org/drawingml/2006/main">
              <a:ext uri="{FF2B5EF4-FFF2-40B4-BE49-F238E27FC236}">
                <a16:creationId xmlns:a16="http://schemas.microsoft.com/office/drawing/2014/main" id="{89E191D0-04CC-4F8E-9DEC-D875117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06-bio-evidence-item-1">
            <a:extLst xmlns:a="http://schemas.openxmlformats.org/drawingml/2006/main">
              <a:ext uri="{FF2B5EF4-FFF2-40B4-BE49-F238E27FC236}">
                <a16:creationId xmlns:a16="http://schemas.microsoft.com/office/drawing/2014/main" id="{5C1F736A-EB12-4BD9-9940-B452BDE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다음 wake의 context에 다시 삽입</a:t>
            </a:r>
          </a:p>
        </p:txBody>
      </p:sp>
      <p:sp>
        <p:nvSpPr>
          <p:cNvPr id="19" name="STC-06-bio-evidence-dot-2">
            <a:extLst xmlns:a="http://schemas.openxmlformats.org/drawingml/2006/main">
              <a:ext uri="{FF2B5EF4-FFF2-40B4-BE49-F238E27FC236}">
                <a16:creationId xmlns:a16="http://schemas.microsoft.com/office/drawing/2014/main" id="{0DBE0EE7-6412-422A-A9F1-DEC4179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0" name="STC-06-bio-evidence-item-2">
            <a:extLst xmlns:a="http://schemas.openxmlformats.org/drawingml/2006/main">
              <a:ext uri="{FF2B5EF4-FFF2-40B4-BE49-F238E27FC236}">
                <a16:creationId xmlns:a16="http://schemas.microsoft.com/office/drawing/2014/main" id="{86512795-66D6-4004-8057-A2E9A8B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weight update 없이 cheap·reversible</a:t>
            </a:r>
          </a:p>
        </p:txBody>
      </p:sp>
      <p:sp>
        <p:nvSpPr>
          <p:cNvPr id="21" name="STC-06-bio-evidence-dot-3">
            <a:extLst xmlns:a="http://schemas.openxmlformats.org/drawingml/2006/main">
              <a:ext uri="{FF2B5EF4-FFF2-40B4-BE49-F238E27FC236}">
                <a16:creationId xmlns:a16="http://schemas.microsoft.com/office/drawing/2014/main" id="{944876B1-6C90-46ED-806D-ECD71BE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2" name="STC-06-bio-evidence-item-3">
            <a:extLst xmlns:a="http://schemas.openxmlformats.org/drawingml/2006/main">
              <a:ext uri="{FF2B5EF4-FFF2-40B4-BE49-F238E27FC236}">
                <a16:creationId xmlns:a16="http://schemas.microsoft.com/office/drawing/2014/main" id="{3F6B31E1-BB59-4802-9A8F-1426976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세부 손실·summary drift·citation 단절</a:t>
            </a:r>
          </a:p>
        </p:txBody>
      </p:sp>
      <p:sp>
        <p:nvSpPr>
          <p:cNvPr id="23" name="STC-06-bio-nonclaim-dot-0">
            <a:extLst xmlns:a="http://schemas.openxmlformats.org/drawingml/2006/main">
              <a:ext uri="{FF2B5EF4-FFF2-40B4-BE49-F238E27FC236}">
                <a16:creationId xmlns:a16="http://schemas.microsoft.com/office/drawing/2014/main" id="{C97E3534-1958-4CC2-BA51-27F3DF7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6-bio-nonclaim-item-0">
            <a:extLst xmlns:a="http://schemas.openxmlformats.org/drawingml/2006/main">
              <a:ext uri="{FF2B5EF4-FFF2-40B4-BE49-F238E27FC236}">
                <a16:creationId xmlns:a16="http://schemas.microsoft.com/office/drawing/2014/main" id="{5DFD87CB-136B-4C75-882B-BD30BEA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긴 대화·문서를 compact representation으로 변환</a:t>
            </a:r>
          </a:p>
        </p:txBody>
      </p:sp>
      <p:sp>
        <p:nvSpPr>
          <p:cNvPr id="25" name="STC-06-bio-nonclaim-dot-1">
            <a:extLst xmlns:a="http://schemas.openxmlformats.org/drawingml/2006/main">
              <a:ext uri="{FF2B5EF4-FFF2-40B4-BE49-F238E27FC236}">
                <a16:creationId xmlns:a16="http://schemas.microsoft.com/office/drawing/2014/main" id="{C736A87E-538E-4499-B03D-5D486B7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6-bio-nonclaim-item-1">
            <a:extLst xmlns:a="http://schemas.openxmlformats.org/drawingml/2006/main">
              <a:ext uri="{FF2B5EF4-FFF2-40B4-BE49-F238E27FC236}">
                <a16:creationId xmlns:a16="http://schemas.microsoft.com/office/drawing/2014/main" id="{812A62B2-5CCE-4E38-943B-22C3F2E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다음 wake의 context에 다시 삽입</a:t>
            </a:r>
          </a:p>
        </p:txBody>
      </p:sp>
      <p:sp>
        <p:nvSpPr>
          <p:cNvPr id="27" name="STC-06-bio-nonclaim-dot-2">
            <a:extLst xmlns:a="http://schemas.openxmlformats.org/drawingml/2006/main">
              <a:ext uri="{FF2B5EF4-FFF2-40B4-BE49-F238E27FC236}">
                <a16:creationId xmlns:a16="http://schemas.microsoft.com/office/drawing/2014/main" id="{894A5D0E-6427-4429-BB60-8FBB970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6-bio-nonclaim-item-2">
            <a:extLst xmlns:a="http://schemas.openxmlformats.org/drawingml/2006/main">
              <a:ext uri="{FF2B5EF4-FFF2-40B4-BE49-F238E27FC236}">
                <a16:creationId xmlns:a16="http://schemas.microsoft.com/office/drawing/2014/main" id="{F2B5C7BB-D16F-4578-891A-7F1755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weight update 없이 cheap·reversible</a:t>
            </a:r>
          </a:p>
        </p:txBody>
      </p:sp>
      <p:sp>
        <p:nvSpPr>
          <p:cNvPr id="29" name="STC-06-bio-nonclaim-dot-3">
            <a:extLst xmlns:a="http://schemas.openxmlformats.org/drawingml/2006/main">
              <a:ext uri="{FF2B5EF4-FFF2-40B4-BE49-F238E27FC236}">
                <a16:creationId xmlns:a16="http://schemas.microsoft.com/office/drawing/2014/main" id="{BA55F7BB-2727-4765-99EE-99BB0B4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6-bio-nonclaim-item-3">
            <a:extLst xmlns:a="http://schemas.openxmlformats.org/drawingml/2006/main">
              <a:ext uri="{FF2B5EF4-FFF2-40B4-BE49-F238E27FC236}">
                <a16:creationId xmlns:a16="http://schemas.microsoft.com/office/drawing/2014/main" id="{B22C231B-50D5-443C-B5A5-B875274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세부 손실·summary drift·citation 단절</a:t>
            </a:r>
          </a:p>
        </p:txBody>
      </p:sp>
      <p:sp>
        <p:nvSpPr>
          <p:cNvPr id="31" name="STC-06-bio-divider">
            <a:extLst xmlns:a="http://schemas.openxmlformats.org/drawingml/2006/main">
              <a:ext uri="{FF2B5EF4-FFF2-40B4-BE49-F238E27FC236}">
                <a16:creationId xmlns:a16="http://schemas.microsoft.com/office/drawing/2014/main" id="{2FC2CC98-5AAE-4B2D-85D9-0DEC2281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82496"/>
            <a:ext cx="0" cy="4133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2" name="STC-06-bio-rule-label">
            <a:extLst xmlns:a="http://schemas.openxmlformats.org/drawingml/2006/main">
              <a:ext uri="{FF2B5EF4-FFF2-40B4-BE49-F238E27FC236}">
                <a16:creationId xmlns:a16="http://schemas.microsoft.com/office/drawing/2014/main" id="{42F59A1A-CF1F-4DBD-886E-C552A26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440680"/>
            <a:ext cx="3127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STRENGTH</a:t>
            </a:r>
          </a:p>
        </p:txBody>
      </p:sp>
      <p:sp>
        <p:nvSpPr>
          <p:cNvPr id="33" name="STC-06-bio-rule">
            <a:extLst xmlns:a="http://schemas.openxmlformats.org/drawingml/2006/main">
              <a:ext uri="{FF2B5EF4-FFF2-40B4-BE49-F238E27FC236}">
                <a16:creationId xmlns:a16="http://schemas.microsoft.com/office/drawing/2014/main" id="{018D8C45-50E2-47B7-B006-827C281D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5715000"/>
            <a:ext cx="82661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긴 대화·문서를 compact representation으로 변환</a:t>
            </a:r>
          </a:p>
        </p:txBody>
      </p:sp>
    </p:spTree>
    <p:extLst>
      <p:ext uri="{BB962C8B-B14F-4D97-AF65-F5344CB8AC3E}">
        <p14:creationId xmlns:p14="http://schemas.microsoft.com/office/powerpoint/2010/main" val="4231333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0-section">
            <a:extLst xmlns:a="http://schemas.openxmlformats.org/drawingml/2006/main">
              <a:ext uri="{FF2B5EF4-FFF2-40B4-BE49-F238E27FC236}">
                <a16:creationId xmlns:a16="http://schemas.microsoft.com/office/drawing/2014/main" id="{6178F517-FA82-4D27-A68A-C76A30C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10-slide-id">
            <a:extLst xmlns:a="http://schemas.openxmlformats.org/drawingml/2006/main">
              <a:ext uri="{FF2B5EF4-FFF2-40B4-BE49-F238E27FC236}">
                <a16:creationId xmlns:a16="http://schemas.microsoft.com/office/drawing/2014/main" id="{23BFEDD1-7992-476C-B56A-0EBDC97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STC-042</a:t>
            </a:r>
          </a:p>
        </p:txBody>
      </p:sp>
      <p:sp>
        <p:nvSpPr>
          <p:cNvPr id="4" name="STC-10-headline">
            <a:extLst xmlns:a="http://schemas.openxmlformats.org/drawingml/2006/main">
              <a:ext uri="{FF2B5EF4-FFF2-40B4-BE49-F238E27FC236}">
                <a16:creationId xmlns:a16="http://schemas.microsoft.com/office/drawing/2014/main" id="{F3244101-3CD2-466C-B46A-83E5807E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Retrieval은 canonical truth와 reusable access를 분리한다</a:t>
            </a:r>
          </a:p>
        </p:txBody>
      </p:sp>
      <p:sp>
        <p:nvSpPr>
          <p:cNvPr id="5" name="STC-10-status-label">
            <a:extLst xmlns:a="http://schemas.openxmlformats.org/drawingml/2006/main">
              <a:ext uri="{FF2B5EF4-FFF2-40B4-BE49-F238E27FC236}">
                <a16:creationId xmlns:a16="http://schemas.microsoft.com/office/drawing/2014/main" id="{54F57A0D-6695-4538-B965-B3D66DD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강한 대안</a:t>
            </a:r>
          </a:p>
        </p:txBody>
      </p:sp>
      <p:sp>
        <p:nvSpPr>
          <p:cNvPr id="6" name="STC-10-status-rule">
            <a:extLst xmlns:a="http://schemas.openxmlformats.org/drawingml/2006/main">
              <a:ext uri="{FF2B5EF4-FFF2-40B4-BE49-F238E27FC236}">
                <a16:creationId xmlns:a16="http://schemas.microsoft.com/office/drawing/2014/main" id="{17C9B6E9-5808-4884-AE2D-6C3FBC3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0-footer-rule">
            <a:extLst xmlns:a="http://schemas.openxmlformats.org/drawingml/2006/main">
              <a:ext uri="{FF2B5EF4-FFF2-40B4-BE49-F238E27FC236}">
                <a16:creationId xmlns:a16="http://schemas.microsoft.com/office/drawing/2014/main" id="{05C9EBCA-3F59-4C44-9F24-D7CFCA5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0-source-footer">
            <a:extLst xmlns:a="http://schemas.openxmlformats.org/drawingml/2006/main">
              <a:ext uri="{FF2B5EF4-FFF2-40B4-BE49-F238E27FC236}">
                <a16:creationId xmlns:a16="http://schemas.microsoft.com/office/drawing/2014/main" id="{8462DCC3-CE00-4E3B-8A0B-9C8BBC7C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RAG · MemGPT · memory products</a:t>
            </a:r>
          </a:p>
        </p:txBody>
      </p:sp>
      <p:sp>
        <p:nvSpPr>
          <p:cNvPr id="9" name="STC-10-page-number">
            <a:extLst xmlns:a="http://schemas.openxmlformats.org/drawingml/2006/main">
              <a:ext uri="{FF2B5EF4-FFF2-40B4-BE49-F238E27FC236}">
                <a16:creationId xmlns:a16="http://schemas.microsoft.com/office/drawing/2014/main" id="{AE75F792-23B4-4FA6-A4AF-2B0B9E3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42</a:t>
            </a:r>
          </a:p>
        </p:txBody>
      </p:sp>
      <p:sp>
        <p:nvSpPr>
          <p:cNvPr id="11" name="STC-10-agent-year-0">
            <a:extLst xmlns:a="http://schemas.openxmlformats.org/drawingml/2006/main">
              <a:ext uri="{FF2B5EF4-FFF2-40B4-BE49-F238E27FC236}">
                <a16:creationId xmlns:a16="http://schemas.microsoft.com/office/drawing/2014/main" id="{25251CA2-F9EF-4020-B4B1-B78EBE9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6362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STORE · 원문·episode를 audit 가능한 형태로 보존</a:t>
            </a:r>
          </a:p>
        </p:txBody>
      </p:sp>
      <p:sp>
        <p:nvSpPr>
          <p:cNvPr id="12" name="STC-10-agent-year-rule-0">
            <a:extLst xmlns:a="http://schemas.openxmlformats.org/drawingml/2006/main">
              <a:ext uri="{FF2B5EF4-FFF2-40B4-BE49-F238E27FC236}">
                <a16:creationId xmlns:a16="http://schemas.microsoft.com/office/drawing/2014/main" id="{B05B5567-73DB-4ABD-9003-01B2E2B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164592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0-agent-name-0">
            <a:extLst xmlns:a="http://schemas.openxmlformats.org/drawingml/2006/main">
              <a:ext uri="{FF2B5EF4-FFF2-40B4-BE49-F238E27FC236}">
                <a16:creationId xmlns:a16="http://schemas.microsoft.com/office/drawing/2014/main" id="{BC40D46F-4228-4FE1-9902-EB7A008D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49047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</a:t>
            </a:r>
          </a:p>
        </p:txBody>
      </p:sp>
      <p:sp>
        <p:nvSpPr>
          <p:cNvPr id="14" name="STC-10-agent-mech-0">
            <a:extLst xmlns:a="http://schemas.openxmlformats.org/drawingml/2006/main">
              <a:ext uri="{FF2B5EF4-FFF2-40B4-BE49-F238E27FC236}">
                <a16:creationId xmlns:a16="http://schemas.microsoft.com/office/drawing/2014/main" id="{3342C016-B6B9-406C-90B7-2CCB962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49961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 · 원문·episode를 audit 가능한 형태로 보존</a:t>
            </a:r>
          </a:p>
        </p:txBody>
      </p:sp>
      <p:sp>
        <p:nvSpPr>
          <p:cNvPr id="15" name="STC-10-agent-phase-0">
            <a:extLst xmlns:a="http://schemas.openxmlformats.org/drawingml/2006/main">
              <a:ext uri="{FF2B5EF4-FFF2-40B4-BE49-F238E27FC236}">
                <a16:creationId xmlns:a16="http://schemas.microsoft.com/office/drawing/2014/main" id="{2FA4D608-E040-41FD-A396-EBBBCB3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55448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STORE · 원문·episode를 audit 가능한 형태로 보존</a:t>
            </a:r>
          </a:p>
        </p:txBody>
      </p:sp>
      <p:sp>
        <p:nvSpPr>
          <p:cNvPr id="16" name="STC-10-agent-boundary-0">
            <a:extLst xmlns:a="http://schemas.openxmlformats.org/drawingml/2006/main">
              <a:ext uri="{FF2B5EF4-FFF2-40B4-BE49-F238E27FC236}">
                <a16:creationId xmlns:a16="http://schemas.microsoft.com/office/drawing/2014/main" id="{0090C02B-D2CB-498B-BBA7-5E39275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9961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STORE · 원문·episode를 audit 가능한 형태로 보존</a:t>
            </a:r>
          </a:p>
        </p:txBody>
      </p:sp>
      <p:sp>
        <p:nvSpPr>
          <p:cNvPr id="17" name="STC-10-agent-year-1">
            <a:extLst xmlns:a="http://schemas.openxmlformats.org/drawingml/2006/main">
              <a:ext uri="{FF2B5EF4-FFF2-40B4-BE49-F238E27FC236}">
                <a16:creationId xmlns:a16="http://schemas.microsoft.com/office/drawing/2014/main" id="{A2331958-1754-408A-A88B-8A87BE75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7627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INDEX · vector·keyword·metadata로 candidate 생성</a:t>
            </a:r>
          </a:p>
        </p:txBody>
      </p:sp>
      <p:sp>
        <p:nvSpPr>
          <p:cNvPr id="18" name="STC-10-agent-year-rule-1">
            <a:extLst xmlns:a="http://schemas.openxmlformats.org/drawingml/2006/main">
              <a:ext uri="{FF2B5EF4-FFF2-40B4-BE49-F238E27FC236}">
                <a16:creationId xmlns:a16="http://schemas.microsoft.com/office/drawing/2014/main" id="{1FFEBED2-8F79-4DD6-9E58-CC7A142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25856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0-agent-name-1">
            <a:extLst xmlns:a="http://schemas.openxmlformats.org/drawingml/2006/main">
              <a:ext uri="{FF2B5EF4-FFF2-40B4-BE49-F238E27FC236}">
                <a16:creationId xmlns:a16="http://schemas.microsoft.com/office/drawing/2014/main" id="{5CB3CD68-1DE8-451A-A995-4F86123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0312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INDEX</a:t>
            </a:r>
          </a:p>
        </p:txBody>
      </p:sp>
      <p:sp>
        <p:nvSpPr>
          <p:cNvPr id="20" name="STC-10-agent-mech-1">
            <a:extLst xmlns:a="http://schemas.openxmlformats.org/drawingml/2006/main">
              <a:ext uri="{FF2B5EF4-FFF2-40B4-BE49-F238E27FC236}">
                <a16:creationId xmlns:a16="http://schemas.microsoft.com/office/drawing/2014/main" id="{FCA347A2-8320-4583-A15A-FDEC71B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1226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INDEX · vector·keyword·metadata로 candidate 생성</a:t>
            </a:r>
          </a:p>
        </p:txBody>
      </p:sp>
      <p:sp>
        <p:nvSpPr>
          <p:cNvPr id="21" name="STC-10-agent-phase-1">
            <a:extLst xmlns:a="http://schemas.openxmlformats.org/drawingml/2006/main">
              <a:ext uri="{FF2B5EF4-FFF2-40B4-BE49-F238E27FC236}">
                <a16:creationId xmlns:a16="http://schemas.microsoft.com/office/drawing/2014/main" id="{7FC2B479-CF0A-4D25-B56B-273D86BC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16712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INDEX · vector·keyword·metadata로 candidate 생성</a:t>
            </a:r>
          </a:p>
        </p:txBody>
      </p:sp>
      <p:sp>
        <p:nvSpPr>
          <p:cNvPr id="22" name="STC-10-agent-boundary-1">
            <a:extLst xmlns:a="http://schemas.openxmlformats.org/drawingml/2006/main">
              <a:ext uri="{FF2B5EF4-FFF2-40B4-BE49-F238E27FC236}">
                <a16:creationId xmlns:a16="http://schemas.microsoft.com/office/drawing/2014/main" id="{A9FC856A-E02E-427B-993C-3C3B9F8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226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INDEX · vector·keyword·metadata로 candidate 생성</a:t>
            </a:r>
          </a:p>
        </p:txBody>
      </p:sp>
      <p:sp>
        <p:nvSpPr>
          <p:cNvPr id="23" name="STC-10-agent-year-2">
            <a:extLst xmlns:a="http://schemas.openxmlformats.org/drawingml/2006/main">
              <a:ext uri="{FF2B5EF4-FFF2-40B4-BE49-F238E27FC236}">
                <a16:creationId xmlns:a16="http://schemas.microsoft.com/office/drawing/2014/main" id="{681F14E2-8113-44DA-88D3-B8EA611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RERANK · 현재 query와 policy로 selection</a:t>
            </a:r>
          </a:p>
        </p:txBody>
      </p:sp>
      <p:sp>
        <p:nvSpPr>
          <p:cNvPr id="24" name="STC-10-agent-year-rule-2">
            <a:extLst xmlns:a="http://schemas.openxmlformats.org/drawingml/2006/main">
              <a:ext uri="{FF2B5EF4-FFF2-40B4-BE49-F238E27FC236}">
                <a16:creationId xmlns:a16="http://schemas.microsoft.com/office/drawing/2014/main" id="{F383EE24-18E2-4F09-9C19-474251F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871216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0-agent-name-2">
            <a:extLst xmlns:a="http://schemas.openxmlformats.org/drawingml/2006/main">
              <a:ext uri="{FF2B5EF4-FFF2-40B4-BE49-F238E27FC236}">
                <a16:creationId xmlns:a16="http://schemas.microsoft.com/office/drawing/2014/main" id="{FF06FA14-992A-4F89-B874-9F63DE9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715768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RERANK</a:t>
            </a:r>
          </a:p>
        </p:txBody>
      </p:sp>
      <p:sp>
        <p:nvSpPr>
          <p:cNvPr id="26" name="STC-10-agent-mech-2">
            <a:extLst xmlns:a="http://schemas.openxmlformats.org/drawingml/2006/main">
              <a:ext uri="{FF2B5EF4-FFF2-40B4-BE49-F238E27FC236}">
                <a16:creationId xmlns:a16="http://schemas.microsoft.com/office/drawing/2014/main" id="{F748360A-FD80-4A88-961D-EDBCD9F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724912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RERANK · 현재 query와 policy로 selection</a:t>
            </a:r>
          </a:p>
        </p:txBody>
      </p:sp>
      <p:sp>
        <p:nvSpPr>
          <p:cNvPr id="27" name="STC-10-agent-phase-2">
            <a:extLst xmlns:a="http://schemas.openxmlformats.org/drawingml/2006/main">
              <a:ext uri="{FF2B5EF4-FFF2-40B4-BE49-F238E27FC236}">
                <a16:creationId xmlns:a16="http://schemas.microsoft.com/office/drawing/2014/main" id="{8EAD9F50-2E26-428D-BF70-5B5216E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779776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RERANK · 현재 query와 policy로 selection</a:t>
            </a:r>
          </a:p>
        </p:txBody>
      </p:sp>
      <p:sp>
        <p:nvSpPr>
          <p:cNvPr id="28" name="STC-10-agent-boundary-2">
            <a:extLst xmlns:a="http://schemas.openxmlformats.org/drawingml/2006/main">
              <a:ext uri="{FF2B5EF4-FFF2-40B4-BE49-F238E27FC236}">
                <a16:creationId xmlns:a16="http://schemas.microsoft.com/office/drawing/2014/main" id="{740FAAC8-5DB0-4FE6-B006-35813A1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912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RERANK · 현재 query와 policy로 selection</a:t>
            </a:r>
          </a:p>
        </p:txBody>
      </p:sp>
      <p:sp>
        <p:nvSpPr>
          <p:cNvPr id="29" name="STC-10-agent-year-3">
            <a:extLst xmlns:a="http://schemas.openxmlformats.org/drawingml/2006/main">
              <a:ext uri="{FF2B5EF4-FFF2-40B4-BE49-F238E27FC236}">
                <a16:creationId xmlns:a16="http://schemas.microsoft.com/office/drawing/2014/main" id="{617EC4F3-8F94-45EA-8AA1-D839E545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INJECT · bounded context 또는 tool result로 제공</a:t>
            </a:r>
          </a:p>
        </p:txBody>
      </p:sp>
      <p:sp>
        <p:nvSpPr>
          <p:cNvPr id="30" name="STC-10-agent-year-rule-3">
            <a:extLst xmlns:a="http://schemas.openxmlformats.org/drawingml/2006/main">
              <a:ext uri="{FF2B5EF4-FFF2-40B4-BE49-F238E27FC236}">
                <a16:creationId xmlns:a16="http://schemas.microsoft.com/office/drawing/2014/main" id="{AD4377B9-CD70-4E3D-AD08-1370F5F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3483864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1" name="STC-10-agent-name-3">
            <a:extLst xmlns:a="http://schemas.openxmlformats.org/drawingml/2006/main">
              <a:ext uri="{FF2B5EF4-FFF2-40B4-BE49-F238E27FC236}">
                <a16:creationId xmlns:a16="http://schemas.microsoft.com/office/drawing/2014/main" id="{B2824170-2E76-4261-8F5E-383F606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328416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INJECT</a:t>
            </a:r>
          </a:p>
        </p:txBody>
      </p:sp>
      <p:sp>
        <p:nvSpPr>
          <p:cNvPr id="32" name="STC-10-agent-mech-3">
            <a:extLst xmlns:a="http://schemas.openxmlformats.org/drawingml/2006/main">
              <a:ext uri="{FF2B5EF4-FFF2-40B4-BE49-F238E27FC236}">
                <a16:creationId xmlns:a16="http://schemas.microsoft.com/office/drawing/2014/main" id="{59C364ED-0CEB-41CE-8D81-8E983CB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337560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INJECT · bounded context 또는 tool result로 제공</a:t>
            </a:r>
          </a:p>
        </p:txBody>
      </p:sp>
      <p:sp>
        <p:nvSpPr>
          <p:cNvPr id="33" name="STC-10-agent-phase-3">
            <a:extLst xmlns:a="http://schemas.openxmlformats.org/drawingml/2006/main">
              <a:ext uri="{FF2B5EF4-FFF2-40B4-BE49-F238E27FC236}">
                <a16:creationId xmlns:a16="http://schemas.microsoft.com/office/drawing/2014/main" id="{49FBFA26-710D-4782-9673-DC902C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392424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INJECT · bounded context 또는 tool result로 제공</a:t>
            </a:r>
          </a:p>
        </p:txBody>
      </p:sp>
      <p:sp>
        <p:nvSpPr>
          <p:cNvPr id="34" name="STC-10-agent-boundary-3">
            <a:extLst xmlns:a="http://schemas.openxmlformats.org/drawingml/2006/main">
              <a:ext uri="{FF2B5EF4-FFF2-40B4-BE49-F238E27FC236}">
                <a16:creationId xmlns:a16="http://schemas.microsoft.com/office/drawing/2014/main" id="{4BE343B7-E1C6-4091-AF38-B3B5D54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7560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INJECT · bounded context 또는 tool result로 제공</a:t>
            </a:r>
          </a:p>
        </p:txBody>
      </p:sp>
      <p:sp>
        <p:nvSpPr>
          <p:cNvPr id="35" name="STC-10-agent-year-4">
            <a:extLst xmlns:a="http://schemas.openxmlformats.org/drawingml/2006/main">
              <a:ext uri="{FF2B5EF4-FFF2-40B4-BE49-F238E27FC236}">
                <a16:creationId xmlns:a16="http://schemas.microsoft.com/office/drawing/2014/main" id="{F37B6C32-52E8-4FDE-B201-03A8169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14216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UPDATE · delete·correct·reindex가 weight보다 직접적</a:t>
            </a:r>
          </a:p>
        </p:txBody>
      </p:sp>
      <p:sp>
        <p:nvSpPr>
          <p:cNvPr id="36" name="STC-10-agent-year-rule-4">
            <a:extLst xmlns:a="http://schemas.openxmlformats.org/drawingml/2006/main">
              <a:ext uri="{FF2B5EF4-FFF2-40B4-BE49-F238E27FC236}">
                <a16:creationId xmlns:a16="http://schemas.microsoft.com/office/drawing/2014/main" id="{18822D15-B8DF-49A5-9849-28C75ED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096512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7" name="STC-10-agent-name-4">
            <a:extLst xmlns:a="http://schemas.openxmlformats.org/drawingml/2006/main">
              <a:ext uri="{FF2B5EF4-FFF2-40B4-BE49-F238E27FC236}">
                <a16:creationId xmlns:a16="http://schemas.microsoft.com/office/drawing/2014/main" id="{E8F8BDBD-0380-41D4-85F0-02E8FF3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941064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UPDATE</a:t>
            </a:r>
          </a:p>
        </p:txBody>
      </p:sp>
      <p:sp>
        <p:nvSpPr>
          <p:cNvPr id="38" name="STC-10-agent-mech-4">
            <a:extLst xmlns:a="http://schemas.openxmlformats.org/drawingml/2006/main">
              <a:ext uri="{FF2B5EF4-FFF2-40B4-BE49-F238E27FC236}">
                <a16:creationId xmlns:a16="http://schemas.microsoft.com/office/drawing/2014/main" id="{B0BEC520-6F78-4384-8CF3-E18F8DA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950208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UPDATE · delete·correct·reindex가 weight보다 직접적</a:t>
            </a:r>
          </a:p>
        </p:txBody>
      </p:sp>
      <p:sp>
        <p:nvSpPr>
          <p:cNvPr id="39" name="STC-10-agent-phase-4">
            <a:extLst xmlns:a="http://schemas.openxmlformats.org/drawingml/2006/main">
              <a:ext uri="{FF2B5EF4-FFF2-40B4-BE49-F238E27FC236}">
                <a16:creationId xmlns:a16="http://schemas.microsoft.com/office/drawing/2014/main" id="{CECEE87E-557F-43C6-AE22-ABA59E8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005072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UPDATE · delete·correct·reindex가 weight보다 직접적</a:t>
            </a:r>
          </a:p>
        </p:txBody>
      </p:sp>
      <p:sp>
        <p:nvSpPr>
          <p:cNvPr id="40" name="STC-10-agent-boundary-4">
            <a:extLst xmlns:a="http://schemas.openxmlformats.org/drawingml/2006/main">
              <a:ext uri="{FF2B5EF4-FFF2-40B4-BE49-F238E27FC236}">
                <a16:creationId xmlns:a16="http://schemas.microsoft.com/office/drawing/2014/main" id="{A8C5516F-B591-4508-865B-D1A4027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50208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UPDATE · delete·correct·reindex가 weight보다 직접적</a:t>
            </a:r>
          </a:p>
        </p:txBody>
      </p:sp>
      <p:sp>
        <p:nvSpPr>
          <p:cNvPr id="41" name="STC-10-agent-year-5">
            <a:extLst xmlns:a="http://schemas.openxmlformats.org/drawingml/2006/main">
              <a:ext uri="{FF2B5EF4-FFF2-40B4-BE49-F238E27FC236}">
                <a16:creationId xmlns:a16="http://schemas.microsoft.com/office/drawing/2014/main" id="{38784B05-B991-4E58-8101-AE709B8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2686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STORE · 원문·episode를 audit 가능한 형태로 보존</a:t>
            </a:r>
          </a:p>
        </p:txBody>
      </p:sp>
      <p:sp>
        <p:nvSpPr>
          <p:cNvPr id="42" name="STC-10-agent-year-rule-5">
            <a:extLst xmlns:a="http://schemas.openxmlformats.org/drawingml/2006/main">
              <a:ext uri="{FF2B5EF4-FFF2-40B4-BE49-F238E27FC236}">
                <a16:creationId xmlns:a16="http://schemas.microsoft.com/office/drawing/2014/main" id="{823A26CB-46C1-45AB-AC25-A57C1C5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70916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3" name="STC-10-agent-name-5">
            <a:extLst xmlns:a="http://schemas.openxmlformats.org/drawingml/2006/main">
              <a:ext uri="{FF2B5EF4-FFF2-40B4-BE49-F238E27FC236}">
                <a16:creationId xmlns:a16="http://schemas.microsoft.com/office/drawing/2014/main" id="{300CB451-2720-482C-BC4F-7DC7E47D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455371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</a:t>
            </a:r>
          </a:p>
        </p:txBody>
      </p:sp>
      <p:sp>
        <p:nvSpPr>
          <p:cNvPr id="44" name="STC-10-agent-mech-5">
            <a:extLst xmlns:a="http://schemas.openxmlformats.org/drawingml/2006/main">
              <a:ext uri="{FF2B5EF4-FFF2-40B4-BE49-F238E27FC236}">
                <a16:creationId xmlns:a16="http://schemas.microsoft.com/office/drawing/2014/main" id="{78EB88D9-5027-4D43-AA2F-F03DBC1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56285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 · 원문·episode를 audit 가능한 형태로 보존</a:t>
            </a:r>
          </a:p>
        </p:txBody>
      </p:sp>
      <p:sp>
        <p:nvSpPr>
          <p:cNvPr id="45" name="STC-10-agent-phase-5">
            <a:extLst xmlns:a="http://schemas.openxmlformats.org/drawingml/2006/main">
              <a:ext uri="{FF2B5EF4-FFF2-40B4-BE49-F238E27FC236}">
                <a16:creationId xmlns:a16="http://schemas.microsoft.com/office/drawing/2014/main" id="{8395CFDA-3309-4027-B283-8A72317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61772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STORE · 원문·episode를 audit 가능한 형태로 보존</a:t>
            </a:r>
          </a:p>
        </p:txBody>
      </p:sp>
      <p:sp>
        <p:nvSpPr>
          <p:cNvPr id="46" name="STC-10-agent-boundary-5">
            <a:extLst xmlns:a="http://schemas.openxmlformats.org/drawingml/2006/main">
              <a:ext uri="{FF2B5EF4-FFF2-40B4-BE49-F238E27FC236}">
                <a16:creationId xmlns:a16="http://schemas.microsoft.com/office/drawing/2014/main" id="{EBEFDBCD-115E-471C-988F-219CF18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85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STORE · 원문·episode를 audit 가능한 형태로 보존</a:t>
            </a:r>
          </a:p>
        </p:txBody>
      </p:sp>
      <p:sp>
        <p:nvSpPr>
          <p:cNvPr id="47" name="STC-10-agent-year-6">
            <a:extLst xmlns:a="http://schemas.openxmlformats.org/drawingml/2006/main">
              <a:ext uri="{FF2B5EF4-FFF2-40B4-BE49-F238E27FC236}">
                <a16:creationId xmlns:a16="http://schemas.microsoft.com/office/drawing/2014/main" id="{74CF84C3-0580-4951-9130-A803383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3951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INDEX · vector·keyword·metadata로 candidate 생성</a:t>
            </a:r>
          </a:p>
        </p:txBody>
      </p:sp>
      <p:sp>
        <p:nvSpPr>
          <p:cNvPr id="48" name="STC-10-agent-year-rule-6">
            <a:extLst xmlns:a="http://schemas.openxmlformats.org/drawingml/2006/main">
              <a:ext uri="{FF2B5EF4-FFF2-40B4-BE49-F238E27FC236}">
                <a16:creationId xmlns:a16="http://schemas.microsoft.com/office/drawing/2014/main" id="{293DE8CD-F0D0-4F04-AC18-2BEE7A4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53218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9" name="STC-10-agent-name-6">
            <a:extLst xmlns:a="http://schemas.openxmlformats.org/drawingml/2006/main">
              <a:ext uri="{FF2B5EF4-FFF2-40B4-BE49-F238E27FC236}">
                <a16:creationId xmlns:a16="http://schemas.microsoft.com/office/drawing/2014/main" id="{1807C5B5-AD76-40FD-ACA6-39AF06E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516636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INDEX</a:t>
            </a:r>
          </a:p>
        </p:txBody>
      </p:sp>
      <p:sp>
        <p:nvSpPr>
          <p:cNvPr id="50" name="STC-10-agent-mech-6">
            <a:extLst xmlns:a="http://schemas.openxmlformats.org/drawingml/2006/main">
              <a:ext uri="{FF2B5EF4-FFF2-40B4-BE49-F238E27FC236}">
                <a16:creationId xmlns:a16="http://schemas.microsoft.com/office/drawing/2014/main" id="{FD46D9CE-C139-4FA8-8B21-3375826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17550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INDEX · vector·keyword·metadata로 candidate 생성</a:t>
            </a:r>
          </a:p>
        </p:txBody>
      </p:sp>
      <p:sp>
        <p:nvSpPr>
          <p:cNvPr id="51" name="STC-10-agent-phase-6">
            <a:extLst xmlns:a="http://schemas.openxmlformats.org/drawingml/2006/main">
              <a:ext uri="{FF2B5EF4-FFF2-40B4-BE49-F238E27FC236}">
                <a16:creationId xmlns:a16="http://schemas.microsoft.com/office/drawing/2014/main" id="{3702721E-8735-44AE-9AEE-EA4ACD2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23036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INDEX · vector·keyword·metadata로 candidate 생성</a:t>
            </a:r>
          </a:p>
        </p:txBody>
      </p:sp>
      <p:sp>
        <p:nvSpPr>
          <p:cNvPr id="52" name="STC-10-agent-boundary-6">
            <a:extLst xmlns:a="http://schemas.openxmlformats.org/drawingml/2006/main">
              <a:ext uri="{FF2B5EF4-FFF2-40B4-BE49-F238E27FC236}">
                <a16:creationId xmlns:a16="http://schemas.microsoft.com/office/drawing/2014/main" id="{8F75AA86-EFA2-4E9F-94B6-8AA8BDF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7550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INDEX · vector·keyword·metadata로 candidate 생성</a:t>
            </a:r>
          </a:p>
        </p:txBody>
      </p:sp>
      <p:sp>
        <p:nvSpPr>
          <p:cNvPr id="53" name="STC-10-agent-version">
            <a:extLst xmlns:a="http://schemas.openxmlformats.org/drawingml/2006/main">
              <a:ext uri="{FF2B5EF4-FFF2-40B4-BE49-F238E27FC236}">
                <a16:creationId xmlns:a16="http://schemas.microsoft.com/office/drawing/2014/main" id="{DFB5828D-1409-4F7D-8657-885F03A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742432"/>
            <a:ext cx="3813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원문·episode를 audit 가능한 형태로 보존</a:t>
            </a:r>
          </a:p>
        </p:txBody>
      </p:sp>
    </p:spTree>
    <p:extLst>
      <p:ext uri="{BB962C8B-B14F-4D97-AF65-F5344CB8AC3E}">
        <p14:creationId xmlns:p14="http://schemas.microsoft.com/office/powerpoint/2010/main" val="20143814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3-section">
            <a:extLst xmlns:a="http://schemas.openxmlformats.org/drawingml/2006/main">
              <a:ext uri="{FF2B5EF4-FFF2-40B4-BE49-F238E27FC236}">
                <a16:creationId xmlns:a16="http://schemas.microsoft.com/office/drawing/2014/main" id="{9785A39F-0AAB-47A8-BDF8-756F2A6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13-slide-id">
            <a:extLst xmlns:a="http://schemas.openxmlformats.org/drawingml/2006/main">
              <a:ext uri="{FF2B5EF4-FFF2-40B4-BE49-F238E27FC236}">
                <a16:creationId xmlns:a16="http://schemas.microsoft.com/office/drawing/2014/main" id="{A4A5A903-4854-4F5D-8163-30EC8F0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STC-043</a:t>
            </a:r>
          </a:p>
        </p:txBody>
      </p:sp>
      <p:sp>
        <p:nvSpPr>
          <p:cNvPr id="4" name="STC-13-headline">
            <a:extLst xmlns:a="http://schemas.openxmlformats.org/drawingml/2006/main">
              <a:ext uri="{FF2B5EF4-FFF2-40B4-BE49-F238E27FC236}">
                <a16:creationId xmlns:a16="http://schemas.microsoft.com/office/drawing/2014/main" id="{AF17D9A0-3A93-4E7F-9D99-DE7A58D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Graph memory는 관계·시간·충돌을 명시적으로 보존한다</a:t>
            </a:r>
          </a:p>
        </p:txBody>
      </p:sp>
      <p:sp>
        <p:nvSpPr>
          <p:cNvPr id="5" name="STC-13-status-label">
            <a:extLst xmlns:a="http://schemas.openxmlformats.org/drawingml/2006/main">
              <a:ext uri="{FF2B5EF4-FFF2-40B4-BE49-F238E27FC236}">
                <a16:creationId xmlns:a16="http://schemas.microsoft.com/office/drawing/2014/main" id="{AF94B140-BD46-4879-8C19-5B250E7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강한 대안</a:t>
            </a:r>
          </a:p>
        </p:txBody>
      </p:sp>
      <p:sp>
        <p:nvSpPr>
          <p:cNvPr id="6" name="STC-13-status-rule">
            <a:extLst xmlns:a="http://schemas.openxmlformats.org/drawingml/2006/main">
              <a:ext uri="{FF2B5EF4-FFF2-40B4-BE49-F238E27FC236}">
                <a16:creationId xmlns:a16="http://schemas.microsoft.com/office/drawing/2014/main" id="{10A8CA66-60A8-483F-AAFA-64FE278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13-footer-rule">
            <a:extLst xmlns:a="http://schemas.openxmlformats.org/drawingml/2006/main">
              <a:ext uri="{FF2B5EF4-FFF2-40B4-BE49-F238E27FC236}">
                <a16:creationId xmlns:a16="http://schemas.microsoft.com/office/drawing/2014/main" id="{B855766E-A633-4E17-89AF-6D9CFED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3-source-footer">
            <a:extLst xmlns:a="http://schemas.openxmlformats.org/drawingml/2006/main">
              <a:ext uri="{FF2B5EF4-FFF2-40B4-BE49-F238E27FC236}">
                <a16:creationId xmlns:a16="http://schemas.microsoft.com/office/drawing/2014/main" id="{83B6A81A-AACD-4674-B57C-B618824F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GraphRAG · Zep/Graphiti-style temporal graph</a:t>
            </a:r>
          </a:p>
        </p:txBody>
      </p:sp>
      <p:sp>
        <p:nvSpPr>
          <p:cNvPr id="9" name="STC-13-page-number">
            <a:extLst xmlns:a="http://schemas.openxmlformats.org/drawingml/2006/main">
              <a:ext uri="{FF2B5EF4-FFF2-40B4-BE49-F238E27FC236}">
                <a16:creationId xmlns:a16="http://schemas.microsoft.com/office/drawing/2014/main" id="{687B7F4D-F579-40DC-89A0-5805A343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43</a:t>
            </a:r>
          </a:p>
        </p:txBody>
      </p:sp>
      <p:sp>
        <p:nvSpPr>
          <p:cNvPr id="11" name="STC-13-data-layer-0">
            <a:extLst xmlns:a="http://schemas.openxmlformats.org/drawingml/2006/main">
              <a:ext uri="{FF2B5EF4-FFF2-40B4-BE49-F238E27FC236}">
                <a16:creationId xmlns:a16="http://schemas.microsoft.com/office/drawing/2014/main" id="{04820097-9F31-4DC6-A116-951B9AB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664208"/>
            <a:ext cx="8961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2" name="STC-13-data-label-0">
            <a:extLst xmlns:a="http://schemas.openxmlformats.org/drawingml/2006/main">
              <a:ext uri="{FF2B5EF4-FFF2-40B4-BE49-F238E27FC236}">
                <a16:creationId xmlns:a16="http://schemas.microsoft.com/office/drawing/2014/main" id="{A0CB3C0C-0673-4362-8DC7-0B479D4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2880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ENTITY</a:t>
            </a:r>
          </a:p>
        </p:txBody>
      </p:sp>
      <p:sp>
        <p:nvSpPr>
          <p:cNvPr id="13" name="STC-13-data-body-0">
            <a:extLst xmlns:a="http://schemas.openxmlformats.org/drawingml/2006/main">
              <a:ext uri="{FF2B5EF4-FFF2-40B4-BE49-F238E27FC236}">
                <a16:creationId xmlns:a16="http://schemas.microsoft.com/office/drawing/2014/main" id="{FDCF34C4-150A-4FCF-A34D-BFC000B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755648"/>
            <a:ext cx="6995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사람·조직·artifact를 stable node로</a:t>
            </a:r>
          </a:p>
        </p:txBody>
      </p:sp>
      <p:sp>
        <p:nvSpPr>
          <p:cNvPr id="14" name="STC-13-data-layer-1">
            <a:extLst xmlns:a="http://schemas.openxmlformats.org/drawingml/2006/main">
              <a:ext uri="{FF2B5EF4-FFF2-40B4-BE49-F238E27FC236}">
                <a16:creationId xmlns:a16="http://schemas.microsoft.com/office/drawing/2014/main" id="{9FD61A15-AE35-4A0A-A793-7FCB001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50592"/>
            <a:ext cx="76809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3-data-label-1">
            <a:extLst xmlns:a="http://schemas.openxmlformats.org/drawingml/2006/main">
              <a:ext uri="{FF2B5EF4-FFF2-40B4-BE49-F238E27FC236}">
                <a16:creationId xmlns:a16="http://schemas.microsoft.com/office/drawing/2014/main" id="{2BD731A4-F373-4370-BA0F-C0997B3B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61518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RELATION</a:t>
            </a:r>
          </a:p>
        </p:txBody>
      </p:sp>
      <p:sp>
        <p:nvSpPr>
          <p:cNvPr id="16" name="STC-13-data-body-1">
            <a:extLst xmlns:a="http://schemas.openxmlformats.org/drawingml/2006/main">
              <a:ext uri="{FF2B5EF4-FFF2-40B4-BE49-F238E27FC236}">
                <a16:creationId xmlns:a16="http://schemas.microsoft.com/office/drawing/2014/main" id="{16B27792-5397-44B1-A82E-6F6C6A78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42032"/>
            <a:ext cx="5715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사건·근거·causal link를 edge로</a:t>
            </a:r>
          </a:p>
        </p:txBody>
      </p:sp>
      <p:sp>
        <p:nvSpPr>
          <p:cNvPr id="17" name="STC-13-data-layer-2">
            <a:extLst xmlns:a="http://schemas.openxmlformats.org/drawingml/2006/main">
              <a:ext uri="{FF2B5EF4-FFF2-40B4-BE49-F238E27FC236}">
                <a16:creationId xmlns:a16="http://schemas.microsoft.com/office/drawing/2014/main" id="{95D551C3-E938-407F-AB9B-B40AAE6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236976"/>
            <a:ext cx="64008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3-data-label-2">
            <a:extLst xmlns:a="http://schemas.openxmlformats.org/drawingml/2006/main">
              <a:ext uri="{FF2B5EF4-FFF2-40B4-BE49-F238E27FC236}">
                <a16:creationId xmlns:a16="http://schemas.microsoft.com/office/drawing/2014/main" id="{6477526C-D0F3-4FED-B9DA-BA154CE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401568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TIME</a:t>
            </a:r>
          </a:p>
        </p:txBody>
      </p:sp>
      <p:sp>
        <p:nvSpPr>
          <p:cNvPr id="19" name="STC-13-data-body-2">
            <a:extLst xmlns:a="http://schemas.openxmlformats.org/drawingml/2006/main">
              <a:ext uri="{FF2B5EF4-FFF2-40B4-BE49-F238E27FC236}">
                <a16:creationId xmlns:a16="http://schemas.microsoft.com/office/drawing/2014/main" id="{5CC63795-4C45-4C8C-A238-C076892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328416"/>
            <a:ext cx="4434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valid-from/to와 episode sequence</a:t>
            </a:r>
          </a:p>
        </p:txBody>
      </p:sp>
      <p:sp>
        <p:nvSpPr>
          <p:cNvPr id="20" name="STC-13-data-layer-3">
            <a:extLst xmlns:a="http://schemas.openxmlformats.org/drawingml/2006/main">
              <a:ext uri="{FF2B5EF4-FFF2-40B4-BE49-F238E27FC236}">
                <a16:creationId xmlns:a16="http://schemas.microsoft.com/office/drawing/2014/main" id="{088B4A5A-4492-453D-BBB3-84168BF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023360"/>
            <a:ext cx="51206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13-data-label-3">
            <a:extLst xmlns:a="http://schemas.openxmlformats.org/drawingml/2006/main">
              <a:ext uri="{FF2B5EF4-FFF2-40B4-BE49-F238E27FC236}">
                <a16:creationId xmlns:a16="http://schemas.microsoft.com/office/drawing/2014/main" id="{8742739C-7605-40FB-A7CF-E029D14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CONFLICT</a:t>
            </a:r>
          </a:p>
        </p:txBody>
      </p:sp>
      <p:sp>
        <p:nvSpPr>
          <p:cNvPr id="22" name="STC-13-data-body-3">
            <a:extLst xmlns:a="http://schemas.openxmlformats.org/drawingml/2006/main">
              <a:ext uri="{FF2B5EF4-FFF2-40B4-BE49-F238E27FC236}">
                <a16:creationId xmlns:a16="http://schemas.microsoft.com/office/drawing/2014/main" id="{934CB71E-27CD-4272-B979-DE93472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114800"/>
            <a:ext cx="3154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상충 assertion을 삭제 대신 병존</a:t>
            </a:r>
          </a:p>
        </p:txBody>
      </p:sp>
      <p:sp>
        <p:nvSpPr>
          <p:cNvPr id="23" name="STC-13-data-layer-4">
            <a:extLst xmlns:a="http://schemas.openxmlformats.org/drawingml/2006/main">
              <a:ext uri="{FF2B5EF4-FFF2-40B4-BE49-F238E27FC236}">
                <a16:creationId xmlns:a16="http://schemas.microsoft.com/office/drawing/2014/main" id="{D505F5B5-B093-4591-A92B-C8EA912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809744"/>
            <a:ext cx="38404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24" name="STC-13-data-label-4">
            <a:extLst xmlns:a="http://schemas.openxmlformats.org/drawingml/2006/main">
              <a:ext uri="{FF2B5EF4-FFF2-40B4-BE49-F238E27FC236}">
                <a16:creationId xmlns:a16="http://schemas.microsoft.com/office/drawing/2014/main" id="{D8CEFF44-4BD7-4FC7-8DC5-F6C69BE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4336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QUERY</a:t>
            </a:r>
          </a:p>
        </p:txBody>
      </p:sp>
      <p:sp>
        <p:nvSpPr>
          <p:cNvPr id="25" name="STC-13-data-body-4">
            <a:extLst xmlns:a="http://schemas.openxmlformats.org/drawingml/2006/main">
              <a:ext uri="{FF2B5EF4-FFF2-40B4-BE49-F238E27FC236}">
                <a16:creationId xmlns:a16="http://schemas.microsoft.com/office/drawing/2014/main" id="{3E315F74-2DD1-4079-A8AD-FED1874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901184"/>
            <a:ext cx="1874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multi-hop retrieval과 provenance trace</a:t>
            </a:r>
          </a:p>
        </p:txBody>
      </p:sp>
      <p:sp>
        <p:nvSpPr>
          <p:cNvPr id="26" name="STC-13-data-warning">
            <a:extLst xmlns:a="http://schemas.openxmlformats.org/drawingml/2006/main">
              <a:ext uri="{FF2B5EF4-FFF2-40B4-BE49-F238E27FC236}">
                <a16:creationId xmlns:a16="http://schemas.microsoft.com/office/drawing/2014/main" id="{0F955075-B866-48A7-A4A2-5437508F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2356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사람·조직·artifact를 stable node로</a:t>
            </a:r>
          </a:p>
        </p:txBody>
      </p:sp>
    </p:spTree>
    <p:extLst>
      <p:ext uri="{BB962C8B-B14F-4D97-AF65-F5344CB8AC3E}">
        <p14:creationId xmlns:p14="http://schemas.microsoft.com/office/powerpoint/2010/main" val="14190715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1-section">
            <a:extLst xmlns:a="http://schemas.openxmlformats.org/drawingml/2006/main">
              <a:ext uri="{FF2B5EF4-FFF2-40B4-BE49-F238E27FC236}">
                <a16:creationId xmlns:a16="http://schemas.microsoft.com/office/drawing/2014/main" id="{8E42DD25-172C-485F-843C-1E0097F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11-slide-id">
            <a:extLst xmlns:a="http://schemas.openxmlformats.org/drawingml/2006/main">
              <a:ext uri="{FF2B5EF4-FFF2-40B4-BE49-F238E27FC236}">
                <a16:creationId xmlns:a16="http://schemas.microsoft.com/office/drawing/2014/main" id="{15CCABCC-156A-49B1-9FE6-98A904F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STC-044</a:t>
            </a:r>
          </a:p>
        </p:txBody>
      </p:sp>
      <p:sp>
        <p:nvSpPr>
          <p:cNvPr id="4" name="STC-11-headline">
            <a:extLst xmlns:a="http://schemas.openxmlformats.org/drawingml/2006/main">
              <a:ext uri="{FF2B5EF4-FFF2-40B4-BE49-F238E27FC236}">
                <a16:creationId xmlns:a16="http://schemas.microsoft.com/office/drawing/2014/main" id="{1939B1E3-3D98-4D57-9B42-81CE910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KV·prefix·recurrent state는 재사용 단위가 서로 다르다</a:t>
            </a:r>
          </a:p>
        </p:txBody>
      </p:sp>
      <p:sp>
        <p:nvSpPr>
          <p:cNvPr id="5" name="STC-11-status-label">
            <a:extLst xmlns:a="http://schemas.openxmlformats.org/drawingml/2006/main">
              <a:ext uri="{FF2B5EF4-FFF2-40B4-BE49-F238E27FC236}">
                <a16:creationId xmlns:a16="http://schemas.microsoft.com/office/drawing/2014/main" id="{F53A0355-622F-4A3A-9B09-65E46E9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시스템</a:t>
            </a:r>
          </a:p>
        </p:txBody>
      </p:sp>
      <p:sp>
        <p:nvSpPr>
          <p:cNvPr id="6" name="STC-11-status-rule">
            <a:extLst xmlns:a="http://schemas.openxmlformats.org/drawingml/2006/main">
              <a:ext uri="{FF2B5EF4-FFF2-40B4-BE49-F238E27FC236}">
                <a16:creationId xmlns:a16="http://schemas.microsoft.com/office/drawing/2014/main" id="{DF081263-8FB8-4033-A6EA-7F5E12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1-footer-rule">
            <a:extLst xmlns:a="http://schemas.openxmlformats.org/drawingml/2006/main">
              <a:ext uri="{FF2B5EF4-FFF2-40B4-BE49-F238E27FC236}">
                <a16:creationId xmlns:a16="http://schemas.microsoft.com/office/drawing/2014/main" id="{7B135606-A511-42FA-9D61-DF1785A3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1-source-footer">
            <a:extLst xmlns:a="http://schemas.openxmlformats.org/drawingml/2006/main">
              <a:ext uri="{FF2B5EF4-FFF2-40B4-BE49-F238E27FC236}">
                <a16:creationId xmlns:a16="http://schemas.microsoft.com/office/drawing/2014/main" id="{D47892FA-76DC-4BCC-8964-790AEF3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Serving-state comparison · HOPE/NSTM context</a:t>
            </a:r>
          </a:p>
        </p:txBody>
      </p:sp>
      <p:sp>
        <p:nvSpPr>
          <p:cNvPr id="9" name="STC-11-page-number">
            <a:extLst xmlns:a="http://schemas.openxmlformats.org/drawingml/2006/main">
              <a:ext uri="{FF2B5EF4-FFF2-40B4-BE49-F238E27FC236}">
                <a16:creationId xmlns:a16="http://schemas.microsoft.com/office/drawing/2014/main" id="{EF78823B-8CA2-4364-BF47-8CCD4F9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44</a:t>
            </a:r>
          </a:p>
        </p:txBody>
      </p:sp>
      <p:sp>
        <p:nvSpPr>
          <p:cNvPr id="11" name="STC-11-company-label-0">
            <a:extLst xmlns:a="http://schemas.openxmlformats.org/drawingml/2006/main">
              <a:ext uri="{FF2B5EF4-FFF2-40B4-BE49-F238E27FC236}">
                <a16:creationId xmlns:a16="http://schemas.microsoft.com/office/drawing/2014/main" id="{9D7CC8C7-0FE8-41DD-86E3-B1A0A99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KV CACHE</a:t>
            </a:r>
          </a:p>
        </p:txBody>
      </p:sp>
      <p:sp>
        <p:nvSpPr>
          <p:cNvPr id="12" name="STC-11-company-start-0">
            <a:extLst xmlns:a="http://schemas.openxmlformats.org/drawingml/2006/main">
              <a:ext uri="{FF2B5EF4-FFF2-40B4-BE49-F238E27FC236}">
                <a16:creationId xmlns:a16="http://schemas.microsoft.com/office/drawing/2014/main" id="{67053390-476E-48A8-B068-8AB701B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1700784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1-company-history-0">
            <a:extLst xmlns:a="http://schemas.openxmlformats.org/drawingml/2006/main">
              <a:ext uri="{FF2B5EF4-FFF2-40B4-BE49-F238E27FC236}">
                <a16:creationId xmlns:a16="http://schemas.microsoft.com/office/drawing/2014/main" id="{85BF2345-3DBD-4C16-9070-D96B00E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536192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KV CACHE</a:t>
            </a:r>
          </a:p>
        </p:txBody>
      </p:sp>
      <p:sp>
        <p:nvSpPr>
          <p:cNvPr id="14" name="STC-11-company-mid-0">
            <a:extLst xmlns:a="http://schemas.openxmlformats.org/drawingml/2006/main">
              <a:ext uri="{FF2B5EF4-FFF2-40B4-BE49-F238E27FC236}">
                <a16:creationId xmlns:a16="http://schemas.microsoft.com/office/drawing/2014/main" id="{F08AFFA2-8495-4971-B459-3603BD8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00784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5" name="STC-11-company-current-0">
            <a:extLst xmlns:a="http://schemas.openxmlformats.org/drawingml/2006/main">
              <a:ext uri="{FF2B5EF4-FFF2-40B4-BE49-F238E27FC236}">
                <a16:creationId xmlns:a16="http://schemas.microsoft.com/office/drawing/2014/main" id="{18663024-F8FE-48B0-A825-101C04A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536192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KV CACHE</a:t>
            </a:r>
          </a:p>
        </p:txBody>
      </p:sp>
      <p:sp>
        <p:nvSpPr>
          <p:cNvPr id="16" name="STC-11-company-verdict-0">
            <a:extLst xmlns:a="http://schemas.openxmlformats.org/drawingml/2006/main">
              <a:ext uri="{FF2B5EF4-FFF2-40B4-BE49-F238E27FC236}">
                <a16:creationId xmlns:a16="http://schemas.microsoft.com/office/drawing/2014/main" id="{268554DD-C7F5-4EB6-9BB2-33E9093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1545336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Serving 효율은 state reuse ratio와 invalidation granularity로 비교해야 한다.</a:t>
            </a:r>
          </a:p>
        </p:txBody>
      </p:sp>
      <p:sp>
        <p:nvSpPr>
          <p:cNvPr id="17" name="STC-11-company-label-1">
            <a:extLst xmlns:a="http://schemas.openxmlformats.org/drawingml/2006/main">
              <a:ext uri="{FF2B5EF4-FFF2-40B4-BE49-F238E27FC236}">
                <a16:creationId xmlns:a16="http://schemas.microsoft.com/office/drawing/2014/main" id="{B11192D4-BD97-4083-A82B-FC5316B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26080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PREFIX</a:t>
            </a:r>
          </a:p>
        </p:txBody>
      </p:sp>
      <p:sp>
        <p:nvSpPr>
          <p:cNvPr id="18" name="STC-11-company-start-1">
            <a:extLst xmlns:a="http://schemas.openxmlformats.org/drawingml/2006/main">
              <a:ext uri="{FF2B5EF4-FFF2-40B4-BE49-F238E27FC236}">
                <a16:creationId xmlns:a16="http://schemas.microsoft.com/office/drawing/2014/main" id="{B6B6CC22-CEF6-4BD2-884C-98735FC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054096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1-company-history-1">
            <a:extLst xmlns:a="http://schemas.openxmlformats.org/drawingml/2006/main">
              <a:ext uri="{FF2B5EF4-FFF2-40B4-BE49-F238E27FC236}">
                <a16:creationId xmlns:a16="http://schemas.microsoft.com/office/drawing/2014/main" id="{A64EC7DE-C071-4E44-922A-9E2C8EC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889504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PREFIX</a:t>
            </a:r>
          </a:p>
        </p:txBody>
      </p:sp>
      <p:sp>
        <p:nvSpPr>
          <p:cNvPr id="20" name="STC-11-company-mid-1">
            <a:extLst xmlns:a="http://schemas.openxmlformats.org/drawingml/2006/main">
              <a:ext uri="{FF2B5EF4-FFF2-40B4-BE49-F238E27FC236}">
                <a16:creationId xmlns:a16="http://schemas.microsoft.com/office/drawing/2014/main" id="{E0512254-F359-4166-A703-3EE32FA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54096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1-company-current-1">
            <a:extLst xmlns:a="http://schemas.openxmlformats.org/drawingml/2006/main">
              <a:ext uri="{FF2B5EF4-FFF2-40B4-BE49-F238E27FC236}">
                <a16:creationId xmlns:a16="http://schemas.microsoft.com/office/drawing/2014/main" id="{0D901664-53DC-4C61-9B20-59C7D22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889504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PREFIX</a:t>
            </a:r>
          </a:p>
        </p:txBody>
      </p:sp>
      <p:sp>
        <p:nvSpPr>
          <p:cNvPr id="22" name="STC-11-company-verdict-1">
            <a:extLst xmlns:a="http://schemas.openxmlformats.org/drawingml/2006/main">
              <a:ext uri="{FF2B5EF4-FFF2-40B4-BE49-F238E27FC236}">
                <a16:creationId xmlns:a16="http://schemas.microsoft.com/office/drawing/2014/main" id="{BAD33E16-72D1-4A43-AE3E-BC63989A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898648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Serving 효율은 state reuse ratio와 invalidation granularity로 비교해야 한다.</a:t>
            </a:r>
          </a:p>
        </p:txBody>
      </p:sp>
      <p:sp>
        <p:nvSpPr>
          <p:cNvPr id="23" name="STC-11-company-label-2">
            <a:extLst xmlns:a="http://schemas.openxmlformats.org/drawingml/2006/main">
              <a:ext uri="{FF2B5EF4-FFF2-40B4-BE49-F238E27FC236}">
                <a16:creationId xmlns:a16="http://schemas.microsoft.com/office/drawing/2014/main" id="{C841D7F0-7FB1-4776-86BF-20940AD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93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RNN STATE</a:t>
            </a:r>
          </a:p>
        </p:txBody>
      </p:sp>
      <p:sp>
        <p:nvSpPr>
          <p:cNvPr id="24" name="STC-11-company-start-2">
            <a:extLst xmlns:a="http://schemas.openxmlformats.org/drawingml/2006/main">
              <a:ext uri="{FF2B5EF4-FFF2-40B4-BE49-F238E27FC236}">
                <a16:creationId xmlns:a16="http://schemas.microsoft.com/office/drawing/2014/main" id="{88D88388-738D-443E-B7BE-93C3B10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4407408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1-company-history-2">
            <a:extLst xmlns:a="http://schemas.openxmlformats.org/drawingml/2006/main">
              <a:ext uri="{FF2B5EF4-FFF2-40B4-BE49-F238E27FC236}">
                <a16:creationId xmlns:a16="http://schemas.microsoft.com/office/drawing/2014/main" id="{00CAFCE2-9261-417A-858E-15703E7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242816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RNN STATE</a:t>
            </a:r>
          </a:p>
        </p:txBody>
      </p:sp>
      <p:sp>
        <p:nvSpPr>
          <p:cNvPr id="26" name="STC-11-company-mid-2">
            <a:extLst xmlns:a="http://schemas.openxmlformats.org/drawingml/2006/main">
              <a:ext uri="{FF2B5EF4-FFF2-40B4-BE49-F238E27FC236}">
                <a16:creationId xmlns:a16="http://schemas.microsoft.com/office/drawing/2014/main" id="{88DE6307-502F-4341-B0ED-6D0523D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407408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7" name="STC-11-company-current-2">
            <a:extLst xmlns:a="http://schemas.openxmlformats.org/drawingml/2006/main">
              <a:ext uri="{FF2B5EF4-FFF2-40B4-BE49-F238E27FC236}">
                <a16:creationId xmlns:a16="http://schemas.microsoft.com/office/drawing/2014/main" id="{22A4C4DD-D4BB-47C5-A953-1B8176E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242816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RNN STATE</a:t>
            </a:r>
          </a:p>
        </p:txBody>
      </p:sp>
      <p:sp>
        <p:nvSpPr>
          <p:cNvPr id="28" name="STC-11-company-verdict-2">
            <a:extLst xmlns:a="http://schemas.openxmlformats.org/drawingml/2006/main">
              <a:ext uri="{FF2B5EF4-FFF2-40B4-BE49-F238E27FC236}">
                <a16:creationId xmlns:a16="http://schemas.microsoft.com/office/drawing/2014/main" id="{ADD35A8F-6D61-4D59-8B95-3B3F770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4251960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Serving 효율은 state reuse ratio와 invalidation granularity로 비교해야 한다.</a:t>
            </a:r>
          </a:p>
        </p:txBody>
      </p:sp>
      <p:sp>
        <p:nvSpPr>
          <p:cNvPr id="29" name="STC-11-company-nonclaim">
            <a:extLst xmlns:a="http://schemas.openxmlformats.org/drawingml/2006/main">
              <a:ext uri="{FF2B5EF4-FFF2-40B4-BE49-F238E27FC236}">
                <a16:creationId xmlns:a16="http://schemas.microsoft.com/office/drawing/2014/main" id="{E3841E4A-5104-442E-9943-218AC82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41264"/>
            <a:ext cx="1046988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1-company-nonclaim-text">
            <a:extLst xmlns:a="http://schemas.openxmlformats.org/drawingml/2006/main">
              <a:ext uri="{FF2B5EF4-FFF2-40B4-BE49-F238E27FC236}">
                <a16:creationId xmlns:a16="http://schemas.microsoft.com/office/drawing/2014/main" id="{4D284CDD-8453-4329-AF3C-921A5924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669280"/>
            <a:ext cx="10058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exact prefix의 layer activation 재사용</a:t>
            </a:r>
          </a:p>
        </p:txBody>
      </p:sp>
    </p:spTree>
    <p:extLst>
      <p:ext uri="{BB962C8B-B14F-4D97-AF65-F5344CB8AC3E}">
        <p14:creationId xmlns:p14="http://schemas.microsoft.com/office/powerpoint/2010/main" val="3166265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4-section">
            <a:extLst xmlns:a="http://schemas.openxmlformats.org/drawingml/2006/main">
              <a:ext uri="{FF2B5EF4-FFF2-40B4-BE49-F238E27FC236}">
                <a16:creationId xmlns:a16="http://schemas.microsoft.com/office/drawing/2014/main" id="{DA8438B1-2F55-45B8-8A7D-DA7D25D5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14-slide-id">
            <a:extLst xmlns:a="http://schemas.openxmlformats.org/drawingml/2006/main">
              <a:ext uri="{FF2B5EF4-FFF2-40B4-BE49-F238E27FC236}">
                <a16:creationId xmlns:a16="http://schemas.microsoft.com/office/drawing/2014/main" id="{47915ABC-756B-46D8-8D62-110BAAA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STC-045</a:t>
            </a:r>
          </a:p>
        </p:txBody>
      </p:sp>
      <p:sp>
        <p:nvSpPr>
          <p:cNvPr id="4" name="STC-14-headline">
            <a:extLst xmlns:a="http://schemas.openxmlformats.org/drawingml/2006/main">
              <a:ext uri="{FF2B5EF4-FFF2-40B4-BE49-F238E27FC236}">
                <a16:creationId xmlns:a16="http://schemas.microsoft.com/office/drawing/2014/main" id="{90A5E8FC-2D8D-49F1-9E66-FBA835E2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External-first가 현재 production default인 이유</a:t>
            </a:r>
          </a:p>
        </p:txBody>
      </p:sp>
      <p:sp>
        <p:nvSpPr>
          <p:cNvPr id="5" name="STC-14-status-label">
            <a:extLst xmlns:a="http://schemas.openxmlformats.org/drawingml/2006/main">
              <a:ext uri="{FF2B5EF4-FFF2-40B4-BE49-F238E27FC236}">
                <a16:creationId xmlns:a16="http://schemas.microsoft.com/office/drawing/2014/main" id="{3A48F401-57D0-478E-955B-CD29AFD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판정</a:t>
            </a:r>
          </a:p>
        </p:txBody>
      </p:sp>
      <p:sp>
        <p:nvSpPr>
          <p:cNvPr id="6" name="STC-14-status-rule">
            <a:extLst xmlns:a="http://schemas.openxmlformats.org/drawingml/2006/main">
              <a:ext uri="{FF2B5EF4-FFF2-40B4-BE49-F238E27FC236}">
                <a16:creationId xmlns:a16="http://schemas.microsoft.com/office/drawing/2014/main" id="{471D35A8-BD6E-4945-87E7-764B15C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4-footer-rule">
            <a:extLst xmlns:a="http://schemas.openxmlformats.org/drawingml/2006/main">
              <a:ext uri="{FF2B5EF4-FFF2-40B4-BE49-F238E27FC236}">
                <a16:creationId xmlns:a16="http://schemas.microsoft.com/office/drawing/2014/main" id="{8E85B6D7-7C35-4E17-A7F7-485AA5F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4-source-footer">
            <a:extLst xmlns:a="http://schemas.openxmlformats.org/drawingml/2006/main">
              <a:ext uri="{FF2B5EF4-FFF2-40B4-BE49-F238E27FC236}">
                <a16:creationId xmlns:a16="http://schemas.microsoft.com/office/drawing/2014/main" id="{797170F9-3103-4DC3-9F52-2B5C3926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STC-C038–C040 · product evidence</a:t>
            </a:r>
          </a:p>
        </p:txBody>
      </p:sp>
      <p:sp>
        <p:nvSpPr>
          <p:cNvPr id="9" name="STC-14-page-number">
            <a:extLst xmlns:a="http://schemas.openxmlformats.org/drawingml/2006/main">
              <a:ext uri="{FF2B5EF4-FFF2-40B4-BE49-F238E27FC236}">
                <a16:creationId xmlns:a16="http://schemas.microsoft.com/office/drawing/2014/main" id="{DACEB5B9-650E-4BA4-A150-AB4C20D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45</a:t>
            </a:r>
          </a:p>
        </p:txBody>
      </p:sp>
      <p:sp>
        <p:nvSpPr>
          <p:cNvPr id="11" name="STC-14-destination-diagonal">
            <a:extLst xmlns:a="http://schemas.openxmlformats.org/drawingml/2006/main">
              <a:ext uri="{FF2B5EF4-FFF2-40B4-BE49-F238E27FC236}">
                <a16:creationId xmlns:a16="http://schemas.microsoft.com/office/drawing/2014/main" id="{DB699066-7866-4B0E-8329-670ACF3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0120" y="2386584"/>
            <a:ext cx="10149840" cy="15179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4-dest-point-0">
            <a:extLst xmlns:a="http://schemas.openxmlformats.org/drawingml/2006/main">
              <a:ext uri="{FF2B5EF4-FFF2-40B4-BE49-F238E27FC236}">
                <a16:creationId xmlns:a16="http://schemas.microsoft.com/office/drawing/2014/main" id="{AB37E70A-44C0-4806-8860-C98B016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22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3" name="STC-14-dest-label-0">
            <a:extLst xmlns:a="http://schemas.openxmlformats.org/drawingml/2006/main">
              <a:ext uri="{FF2B5EF4-FFF2-40B4-BE49-F238E27FC236}">
                <a16:creationId xmlns:a16="http://schemas.microsoft.com/office/drawing/2014/main" id="{6EDA5268-B847-45C1-9332-FFF90424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0040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REVERSIBLE</a:t>
            </a:r>
          </a:p>
        </p:txBody>
      </p:sp>
      <p:sp>
        <p:nvSpPr>
          <p:cNvPr id="14" name="STC-14-dest-sub-0">
            <a:extLst xmlns:a="http://schemas.openxmlformats.org/drawingml/2006/main">
              <a:ext uri="{FF2B5EF4-FFF2-40B4-BE49-F238E27FC236}">
                <a16:creationId xmlns:a16="http://schemas.microsoft.com/office/drawing/2014/main" id="{98FBF89E-FDE0-44FC-996D-986B659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7939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REVERSIBLE · 원본·index·summary를 재생성 가능</a:t>
            </a:r>
          </a:p>
        </p:txBody>
      </p:sp>
      <p:sp>
        <p:nvSpPr>
          <p:cNvPr id="15" name="STC-14-dest-point-1">
            <a:extLst xmlns:a="http://schemas.openxmlformats.org/drawingml/2006/main">
              <a:ext uri="{FF2B5EF4-FFF2-40B4-BE49-F238E27FC236}">
                <a16:creationId xmlns:a16="http://schemas.microsoft.com/office/drawing/2014/main" id="{23B7C88D-3F7C-447F-A35E-70F8894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2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6" name="STC-14-dest-label-1">
            <a:extLst xmlns:a="http://schemas.openxmlformats.org/drawingml/2006/main">
              <a:ext uri="{FF2B5EF4-FFF2-40B4-BE49-F238E27FC236}">
                <a16:creationId xmlns:a16="http://schemas.microsoft.com/office/drawing/2014/main" id="{DE93178E-4F7B-4289-BEC1-F42AD8C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8036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ADDRESSABLE</a:t>
            </a:r>
          </a:p>
        </p:txBody>
      </p:sp>
      <p:sp>
        <p:nvSpPr>
          <p:cNvPr id="17" name="STC-14-dest-sub-1">
            <a:extLst xmlns:a="http://schemas.openxmlformats.org/drawingml/2006/main">
              <a:ext uri="{FF2B5EF4-FFF2-40B4-BE49-F238E27FC236}">
                <a16:creationId xmlns:a16="http://schemas.microsoft.com/office/drawing/2014/main" id="{3B7A1125-E17F-466C-AE46-661F4F9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95935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ADDRESSABLE · memory ID로 inspect·edit·delete</a:t>
            </a:r>
          </a:p>
        </p:txBody>
      </p:sp>
      <p:sp>
        <p:nvSpPr>
          <p:cNvPr id="18" name="STC-14-dest-point-2">
            <a:extLst xmlns:a="http://schemas.openxmlformats.org/drawingml/2006/main">
              <a:ext uri="{FF2B5EF4-FFF2-40B4-BE49-F238E27FC236}">
                <a16:creationId xmlns:a16="http://schemas.microsoft.com/office/drawing/2014/main" id="{1C486B29-C327-492C-A867-F3528D6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63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14-dest-label-2">
            <a:extLst xmlns:a="http://schemas.openxmlformats.org/drawingml/2006/main">
              <a:ext uri="{FF2B5EF4-FFF2-40B4-BE49-F238E27FC236}">
                <a16:creationId xmlns:a16="http://schemas.microsoft.com/office/drawing/2014/main" id="{5AD0AF39-765F-41F0-A874-827B57C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542032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CHEAP</a:t>
            </a:r>
          </a:p>
        </p:txBody>
      </p:sp>
      <p:sp>
        <p:nvSpPr>
          <p:cNvPr id="20" name="STC-14-dest-sub-2">
            <a:extLst xmlns:a="http://schemas.openxmlformats.org/drawingml/2006/main">
              <a:ext uri="{FF2B5EF4-FFF2-40B4-BE49-F238E27FC236}">
                <a16:creationId xmlns:a16="http://schemas.microsoft.com/office/drawing/2014/main" id="{FAFD9E53-DC97-4E02-935E-43C0113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21024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CHEAP · per-user optimizer 없이 background transform</a:t>
            </a:r>
          </a:p>
        </p:txBody>
      </p:sp>
      <p:sp>
        <p:nvSpPr>
          <p:cNvPr id="21" name="STC-14-dest-point-3">
            <a:extLst xmlns:a="http://schemas.openxmlformats.org/drawingml/2006/main">
              <a:ext uri="{FF2B5EF4-FFF2-40B4-BE49-F238E27FC236}">
                <a16:creationId xmlns:a16="http://schemas.microsoft.com/office/drawing/2014/main" id="{81BD56DE-5374-47E6-85A0-8F68AFB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4-dest-label-3">
            <a:extLst xmlns:a="http://schemas.openxmlformats.org/drawingml/2006/main">
              <a:ext uri="{FF2B5EF4-FFF2-40B4-BE49-F238E27FC236}">
                <a16:creationId xmlns:a16="http://schemas.microsoft.com/office/drawing/2014/main" id="{16BB544F-1EC5-481A-AF8B-75D2F18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2848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SHAREABLE</a:t>
            </a:r>
          </a:p>
        </p:txBody>
      </p:sp>
      <p:sp>
        <p:nvSpPr>
          <p:cNvPr id="23" name="STC-14-dest-sub-3">
            <a:extLst xmlns:a="http://schemas.openxmlformats.org/drawingml/2006/main">
              <a:ext uri="{FF2B5EF4-FFF2-40B4-BE49-F238E27FC236}">
                <a16:creationId xmlns:a16="http://schemas.microsoft.com/office/drawing/2014/main" id="{3C1968AF-3020-4EF5-9FFC-B8A8397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184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SHAREABLE · service와 model version 사이 독립</a:t>
            </a:r>
          </a:p>
        </p:txBody>
      </p:sp>
      <p:sp>
        <p:nvSpPr>
          <p:cNvPr id="24" name="STC-14-dest-point-4">
            <a:extLst xmlns:a="http://schemas.openxmlformats.org/drawingml/2006/main">
              <a:ext uri="{FF2B5EF4-FFF2-40B4-BE49-F238E27FC236}">
                <a16:creationId xmlns:a16="http://schemas.microsoft.com/office/drawing/2014/main" id="{FCACEA6F-573E-4989-905D-AF11172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14-dest-label-4">
            <a:extLst xmlns:a="http://schemas.openxmlformats.org/drawingml/2006/main">
              <a:ext uri="{FF2B5EF4-FFF2-40B4-BE49-F238E27FC236}">
                <a16:creationId xmlns:a16="http://schemas.microsoft.com/office/drawing/2014/main" id="{2679C120-1B1E-4E92-A950-B2B7C5F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883664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LIMIT</a:t>
            </a:r>
          </a:p>
        </p:txBody>
      </p:sp>
      <p:sp>
        <p:nvSpPr>
          <p:cNvPr id="26" name="STC-14-dest-sub-4">
            <a:extLst xmlns:a="http://schemas.openxmlformats.org/drawingml/2006/main">
              <a:ext uri="{FF2B5EF4-FFF2-40B4-BE49-F238E27FC236}">
                <a16:creationId xmlns:a16="http://schemas.microsoft.com/office/drawing/2014/main" id="{7218E91C-0DE3-461B-AD20-8837463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962656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LIMIT · retrieval miss·latency·context tax</a:t>
            </a:r>
          </a:p>
        </p:txBody>
      </p:sp>
      <p:sp>
        <p:nvSpPr>
          <p:cNvPr id="27" name="STC-14-dest-left-axis">
            <a:extLst xmlns:a="http://schemas.openxmlformats.org/drawingml/2006/main">
              <a:ext uri="{FF2B5EF4-FFF2-40B4-BE49-F238E27FC236}">
                <a16:creationId xmlns:a16="http://schemas.microsoft.com/office/drawing/2014/main" id="{D6DDF594-2A5A-4772-AC3B-C477225C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01184"/>
            <a:ext cx="34015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원본·index·summary를 재생성 가능</a:t>
            </a:r>
          </a:p>
        </p:txBody>
      </p:sp>
      <p:sp>
        <p:nvSpPr>
          <p:cNvPr id="28" name="STC-14-dest-right-axis">
            <a:extLst xmlns:a="http://schemas.openxmlformats.org/drawingml/2006/main">
              <a:ext uri="{FF2B5EF4-FFF2-40B4-BE49-F238E27FC236}">
                <a16:creationId xmlns:a16="http://schemas.microsoft.com/office/drawing/2014/main" id="{E90EDB08-B102-40A7-878A-3990D89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554480"/>
            <a:ext cx="38130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memory ID로 inspect·edit·delete</a:t>
            </a:r>
          </a:p>
        </p:txBody>
      </p:sp>
      <p:sp>
        <p:nvSpPr>
          <p:cNvPr id="29" name="STC-14-dest-rule">
            <a:extLst xmlns:a="http://schemas.openxmlformats.org/drawingml/2006/main">
              <a:ext uri="{FF2B5EF4-FFF2-40B4-BE49-F238E27FC236}">
                <a16:creationId xmlns:a16="http://schemas.microsoft.com/office/drawing/2014/main" id="{B5CD5C4C-7A13-4CD1-88BC-6DBC0905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5358384"/>
            <a:ext cx="801014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4-dest-rule-text">
            <a:extLst xmlns:a="http://schemas.openxmlformats.org/drawingml/2006/main">
              <a:ext uri="{FF2B5EF4-FFF2-40B4-BE49-F238E27FC236}">
                <a16:creationId xmlns:a16="http://schemas.microsoft.com/office/drawing/2014/main" id="{F7D1A0B7-B3F1-4FC9-8422-C3CA6D3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495544"/>
            <a:ext cx="7571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External memory의 약점은 분명하지만 operational contract가 성숙하다.</a:t>
            </a:r>
          </a:p>
        </p:txBody>
      </p:sp>
    </p:spTree>
    <p:extLst>
      <p:ext uri="{BB962C8B-B14F-4D97-AF65-F5344CB8AC3E}">
        <p14:creationId xmlns:p14="http://schemas.microsoft.com/office/powerpoint/2010/main" val="205616992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4-section">
            <a:extLst xmlns:a="http://schemas.openxmlformats.org/drawingml/2006/main">
              <a:ext uri="{FF2B5EF4-FFF2-40B4-BE49-F238E27FC236}">
                <a16:creationId xmlns:a16="http://schemas.microsoft.com/office/drawing/2014/main" id="{53FADC10-F1BA-487B-AECA-7AFE38F9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04-slide-id">
            <a:extLst xmlns:a="http://schemas.openxmlformats.org/drawingml/2006/main">
              <a:ext uri="{FF2B5EF4-FFF2-40B4-BE49-F238E27FC236}">
                <a16:creationId xmlns:a16="http://schemas.microsoft.com/office/drawing/2014/main" id="{DA28DAD6-B465-497F-824E-A065A56D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STC-046</a:t>
            </a:r>
          </a:p>
        </p:txBody>
      </p:sp>
      <p:sp>
        <p:nvSpPr>
          <p:cNvPr id="4" name="STC-04-headline">
            <a:extLst xmlns:a="http://schemas.openxmlformats.org/drawingml/2006/main">
              <a:ext uri="{FF2B5EF4-FFF2-40B4-BE49-F238E27FC236}">
                <a16:creationId xmlns:a16="http://schemas.microsoft.com/office/drawing/2014/main" id="{BAFD8BEC-042B-4C54-BA32-95AD6D9F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Continual learning은 update 위치를 네 층으로 나눈다</a:t>
            </a:r>
          </a:p>
        </p:txBody>
      </p:sp>
      <p:sp>
        <p:nvSpPr>
          <p:cNvPr id="5" name="STC-04-status-label">
            <a:extLst xmlns:a="http://schemas.openxmlformats.org/drawingml/2006/main">
              <a:ext uri="{FF2B5EF4-FFF2-40B4-BE49-F238E27FC236}">
                <a16:creationId xmlns:a16="http://schemas.microsoft.com/office/drawing/2014/main" id="{A9B6AF75-9B7C-4EF4-8261-45D3165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대안</a:t>
            </a:r>
          </a:p>
        </p:txBody>
      </p:sp>
      <p:sp>
        <p:nvSpPr>
          <p:cNvPr id="6" name="STC-04-status-rule">
            <a:extLst xmlns:a="http://schemas.openxmlformats.org/drawingml/2006/main">
              <a:ext uri="{FF2B5EF4-FFF2-40B4-BE49-F238E27FC236}">
                <a16:creationId xmlns:a16="http://schemas.microsoft.com/office/drawing/2014/main" id="{65325794-E36F-4402-B094-B1D3FABD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4-footer-rule">
            <a:extLst xmlns:a="http://schemas.openxmlformats.org/drawingml/2006/main">
              <a:ext uri="{FF2B5EF4-FFF2-40B4-BE49-F238E27FC236}">
                <a16:creationId xmlns:a16="http://schemas.microsoft.com/office/drawing/2014/main" id="{F3B7F65E-723B-4B95-8224-34BB3551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4-source-footer">
            <a:extLst xmlns:a="http://schemas.openxmlformats.org/drawingml/2006/main">
              <a:ext uri="{FF2B5EF4-FFF2-40B4-BE49-F238E27FC236}">
                <a16:creationId xmlns:a16="http://schemas.microsoft.com/office/drawing/2014/main" id="{4809A09E-346F-44A3-84E6-61E5FE8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§6 · continual-learning taxonomy</a:t>
            </a:r>
          </a:p>
        </p:txBody>
      </p:sp>
      <p:sp>
        <p:nvSpPr>
          <p:cNvPr id="9" name="STC-04-page-number">
            <a:extLst xmlns:a="http://schemas.openxmlformats.org/drawingml/2006/main">
              <a:ext uri="{FF2B5EF4-FFF2-40B4-BE49-F238E27FC236}">
                <a16:creationId xmlns:a16="http://schemas.microsoft.com/office/drawing/2014/main" id="{1917A6E6-ACB9-4F88-88E2-4956CBD7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46</a:t>
            </a:r>
          </a:p>
        </p:txBody>
      </p:sp>
      <p:sp>
        <p:nvSpPr>
          <p:cNvPr id="11" name="STC-04-phase-tag-0">
            <a:extLst xmlns:a="http://schemas.openxmlformats.org/drawingml/2006/main">
              <a:ext uri="{FF2B5EF4-FFF2-40B4-BE49-F238E27FC236}">
                <a16:creationId xmlns:a16="http://schemas.microsoft.com/office/drawing/2014/main" id="{C9DD6422-C522-4F35-8734-5F5C027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DATA</a:t>
            </a:r>
          </a:p>
        </p:txBody>
      </p:sp>
      <p:sp>
        <p:nvSpPr>
          <p:cNvPr id="12" name="STC-04-phase-ko-0">
            <a:extLst xmlns:a="http://schemas.openxmlformats.org/drawingml/2006/main">
              <a:ext uri="{FF2B5EF4-FFF2-40B4-BE49-F238E27FC236}">
                <a16:creationId xmlns:a16="http://schemas.microsoft.com/office/drawing/2014/main" id="{5871F3EA-5A7B-4B45-BABB-C8F8E74A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replay buffer와…</a:t>
            </a:r>
          </a:p>
        </p:txBody>
      </p:sp>
      <p:sp>
        <p:nvSpPr>
          <p:cNvPr id="13" name="STC-04-phase-rule-0">
            <a:extLst xmlns:a="http://schemas.openxmlformats.org/drawingml/2006/main">
              <a:ext uri="{FF2B5EF4-FFF2-40B4-BE49-F238E27FC236}">
                <a16:creationId xmlns:a16="http://schemas.microsoft.com/office/drawing/2014/main" id="{14A02415-C319-4785-964A-9C46EB21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4-phase-body-0">
            <a:extLst xmlns:a="http://schemas.openxmlformats.org/drawingml/2006/main">
              <a:ext uri="{FF2B5EF4-FFF2-40B4-BE49-F238E27FC236}">
                <a16:creationId xmlns:a16="http://schemas.microsoft.com/office/drawing/2014/main" id="{34CE0599-0B60-4E14-9735-CF98A01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 · post-train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update rule 학습</a:t>
            </a:r>
          </a:p>
        </p:txBody>
      </p:sp>
      <p:sp>
        <p:nvSpPr>
          <p:cNvPr id="15" name="STC-04-phase-arrow-0">
            <a:extLst xmlns:a="http://schemas.openxmlformats.org/drawingml/2006/main">
              <a:ext uri="{FF2B5EF4-FFF2-40B4-BE49-F238E27FC236}">
                <a16:creationId xmlns:a16="http://schemas.microsoft.com/office/drawing/2014/main" id="{658E636D-DD5E-4B81-B19B-7F08509B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04-phase-tag-1">
            <a:extLst xmlns:a="http://schemas.openxmlformats.org/drawingml/2006/main">
              <a:ext uri="{FF2B5EF4-FFF2-40B4-BE49-F238E27FC236}">
                <a16:creationId xmlns:a16="http://schemas.microsoft.com/office/drawing/2014/main" id="{5221DEAB-EBFD-411E-9CDC-BA9CFC7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LOSS</a:t>
            </a:r>
          </a:p>
        </p:txBody>
      </p:sp>
      <p:sp>
        <p:nvSpPr>
          <p:cNvPr id="17" name="STC-04-phase-ko-1">
            <a:extLst xmlns:a="http://schemas.openxmlformats.org/drawingml/2006/main">
              <a:ext uri="{FF2B5EF4-FFF2-40B4-BE49-F238E27FC236}">
                <a16:creationId xmlns:a16="http://schemas.microsoft.com/office/drawing/2014/main" id="{601A175A-AA93-4C22-B80D-90EC4248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regularization</a:t>
            </a:r>
          </a:p>
        </p:txBody>
      </p:sp>
      <p:sp>
        <p:nvSpPr>
          <p:cNvPr id="18" name="STC-04-phase-rule-1">
            <a:extLst xmlns:a="http://schemas.openxmlformats.org/drawingml/2006/main">
              <a:ext uri="{FF2B5EF4-FFF2-40B4-BE49-F238E27FC236}">
                <a16:creationId xmlns:a16="http://schemas.microsoft.com/office/drawing/2014/main" id="{7DEB058F-6997-4D48-A0E3-0A202EFA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9" name="STC-04-phase-body-1">
            <a:extLst xmlns:a="http://schemas.openxmlformats.org/drawingml/2006/main">
              <a:ext uri="{FF2B5EF4-FFF2-40B4-BE49-F238E27FC236}">
                <a16:creationId xmlns:a16="http://schemas.microsoft.com/office/drawing/2014/main" id="{F5C88BB7-1F84-4F06-BFDA-51DAD83B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infer · retrieve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TTT · capture</a:t>
            </a:r>
          </a:p>
        </p:txBody>
      </p:sp>
      <p:sp>
        <p:nvSpPr>
          <p:cNvPr id="20" name="STC-04-phase-arrow-1">
            <a:extLst xmlns:a="http://schemas.openxmlformats.org/drawingml/2006/main">
              <a:ext uri="{FF2B5EF4-FFF2-40B4-BE49-F238E27FC236}">
                <a16:creationId xmlns:a16="http://schemas.microsoft.com/office/drawing/2014/main" id="{8ACAACEF-7188-48B0-8EDF-77A9532A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04-phase-tag-2">
            <a:extLst xmlns:a="http://schemas.openxmlformats.org/drawingml/2006/main">
              <a:ext uri="{FF2B5EF4-FFF2-40B4-BE49-F238E27FC236}">
                <a16:creationId xmlns:a16="http://schemas.microsoft.com/office/drawing/2014/main" id="{4F5789E2-5D6A-4D7B-ADE7-DBF458E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MODULE</a:t>
            </a:r>
          </a:p>
        </p:txBody>
      </p:sp>
      <p:sp>
        <p:nvSpPr>
          <p:cNvPr id="22" name="STC-04-phase-ko-2">
            <a:extLst xmlns:a="http://schemas.openxmlformats.org/drawingml/2006/main">
              <a:ext uri="{FF2B5EF4-FFF2-40B4-BE49-F238E27FC236}">
                <a16:creationId xmlns:a16="http://schemas.microsoft.com/office/drawing/2014/main" id="{91DE98A7-9686-4A8C-BA6A-95D7555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adapter</a:t>
            </a:r>
          </a:p>
        </p:txBody>
      </p:sp>
      <p:sp>
        <p:nvSpPr>
          <p:cNvPr id="23" name="STC-04-phase-rule-2">
            <a:extLst xmlns:a="http://schemas.openxmlformats.org/drawingml/2006/main">
              <a:ext uri="{FF2B5EF4-FFF2-40B4-BE49-F238E27FC236}">
                <a16:creationId xmlns:a16="http://schemas.microsoft.com/office/drawing/2014/main" id="{0D6FC54B-5106-4D67-B82E-CF6534FF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04-phase-body-2">
            <a:extLst xmlns:a="http://schemas.openxmlformats.org/drawingml/2006/main">
              <a:ext uri="{FF2B5EF4-FFF2-40B4-BE49-F238E27FC236}">
                <a16:creationId xmlns:a16="http://schemas.microsoft.com/office/drawing/2014/main" id="{471634EC-D6A9-414F-B531-5761490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distill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compact · validate</a:t>
            </a:r>
          </a:p>
        </p:txBody>
      </p:sp>
      <p:sp>
        <p:nvSpPr>
          <p:cNvPr id="25" name="STC-04-phase-arrow-2">
            <a:extLst xmlns:a="http://schemas.openxmlformats.org/drawingml/2006/main">
              <a:ext uri="{FF2B5EF4-FFF2-40B4-BE49-F238E27FC236}">
                <a16:creationId xmlns:a16="http://schemas.microsoft.com/office/drawing/2014/main" id="{1A84B98C-770A-496F-B108-BDBE4AB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74320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04-phase-tag-3">
            <a:extLst xmlns:a="http://schemas.openxmlformats.org/drawingml/2006/main">
              <a:ext uri="{FF2B5EF4-FFF2-40B4-BE49-F238E27FC236}">
                <a16:creationId xmlns:a16="http://schemas.microsoft.com/office/drawing/2014/main" id="{BC9D4B03-C277-4DC7-9BE2-B5368FC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75564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WEIGHT</a:t>
            </a:r>
          </a:p>
        </p:txBody>
      </p:sp>
      <p:sp>
        <p:nvSpPr>
          <p:cNvPr id="27" name="STC-04-phase-ko-3">
            <a:extLst xmlns:a="http://schemas.openxmlformats.org/drawingml/2006/main">
              <a:ext uri="{FF2B5EF4-FFF2-40B4-BE49-F238E27FC236}">
                <a16:creationId xmlns:a16="http://schemas.microsoft.com/office/drawing/2014/main" id="{09FB2885-27AA-4644-B54E-B480468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1031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shared paramete…</a:t>
            </a:r>
          </a:p>
        </p:txBody>
      </p:sp>
      <p:sp>
        <p:nvSpPr>
          <p:cNvPr id="28" name="STC-04-phase-rule-3">
            <a:extLst xmlns:a="http://schemas.openxmlformats.org/drawingml/2006/main">
              <a:ext uri="{FF2B5EF4-FFF2-40B4-BE49-F238E27FC236}">
                <a16:creationId xmlns:a16="http://schemas.microsoft.com/office/drawing/2014/main" id="{4B209E82-4B0A-4FA1-9861-49F3D097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642616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04-phase-body-3">
            <a:extLst xmlns:a="http://schemas.openxmlformats.org/drawingml/2006/main">
              <a:ext uri="{FF2B5EF4-FFF2-40B4-BE49-F238E27FC236}">
                <a16:creationId xmlns:a16="http://schemas.microsoft.com/office/drawing/2014/main" id="{2D41B1D3-68C0-4663-8579-31279F19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980944"/>
            <a:ext cx="214884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canonical evidence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views · adapters</a:t>
            </a:r>
          </a:p>
        </p:txBody>
      </p:sp>
      <p:sp>
        <p:nvSpPr>
          <p:cNvPr id="30" name="STC-04-phase-invariant">
            <a:extLst xmlns:a="http://schemas.openxmlformats.org/drawingml/2006/main">
              <a:ext uri="{FF2B5EF4-FFF2-40B4-BE49-F238E27FC236}">
                <a16:creationId xmlns:a16="http://schemas.microsoft.com/office/drawing/2014/main" id="{FFB31772-96F0-4492-B3E6-0B8BC545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36592"/>
            <a:ext cx="9811512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1" name="STC-04-phase-invariant-text">
            <a:extLst xmlns:a="http://schemas.openxmlformats.org/drawingml/2006/main">
              <a:ext uri="{FF2B5EF4-FFF2-40B4-BE49-F238E27FC236}">
                <a16:creationId xmlns:a16="http://schemas.microsoft.com/office/drawing/2014/main" id="{BC5B40AA-FC1A-4444-9704-E9F5203D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919472"/>
            <a:ext cx="93268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Sleep의 새로움은 technique보다 이들을 response 밖 lifecycle로 묶는 데 있다.</a:t>
            </a:r>
          </a:p>
        </p:txBody>
      </p:sp>
    </p:spTree>
    <p:extLst>
      <p:ext uri="{BB962C8B-B14F-4D97-AF65-F5344CB8AC3E}">
        <p14:creationId xmlns:p14="http://schemas.microsoft.com/office/powerpoint/2010/main" val="155449741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STC-047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TTT·neural memory는 wake에서 state를 즉시 바꾼다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Titans · HOPE · test-time training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47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SIGNAL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UPDATE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USE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STRENGTH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SIGNAL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UPDATE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5-section">
            <a:extLst xmlns:a="http://schemas.openxmlformats.org/drawingml/2006/main">
              <a:ext uri="{FF2B5EF4-FFF2-40B4-BE49-F238E27FC236}">
                <a16:creationId xmlns:a16="http://schemas.microsoft.com/office/drawing/2014/main" id="{9B985B5E-2EB1-4A04-B32B-0879345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ALTERNATIVES</a:t>
            </a:r>
          </a:p>
        </p:txBody>
      </p:sp>
      <p:sp>
        <p:nvSpPr>
          <p:cNvPr id="3" name="STC-15-slide-id">
            <a:extLst xmlns:a="http://schemas.openxmlformats.org/drawingml/2006/main">
              <a:ext uri="{FF2B5EF4-FFF2-40B4-BE49-F238E27FC236}">
                <a16:creationId xmlns:a16="http://schemas.microsoft.com/office/drawing/2014/main" id="{F1A29C71-E06B-4C6E-A3AE-7AEE073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STC-048</a:t>
            </a:r>
          </a:p>
        </p:txBody>
      </p:sp>
      <p:sp>
        <p:nvSpPr>
          <p:cNvPr id="4" name="STC-15-headline">
            <a:extLst xmlns:a="http://schemas.openxmlformats.org/drawingml/2006/main">
              <a:ext uri="{FF2B5EF4-FFF2-40B4-BE49-F238E27FC236}">
                <a16:creationId xmlns:a16="http://schemas.microsoft.com/office/drawing/2014/main" id="{E9CBA5DA-32F0-402B-A292-5C028EDA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Sleep이 이겨야 할 frontier는 이미 강하다</a:t>
            </a:r>
          </a:p>
        </p:txBody>
      </p:sp>
      <p:sp>
        <p:nvSpPr>
          <p:cNvPr id="5" name="STC-15-status-label">
            <a:extLst xmlns:a="http://schemas.openxmlformats.org/drawingml/2006/main">
              <a:ext uri="{FF2B5EF4-FFF2-40B4-BE49-F238E27FC236}">
                <a16:creationId xmlns:a16="http://schemas.microsoft.com/office/drawing/2014/main" id="{726F9C6C-F765-415C-9EDD-299FDE3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비교</a:t>
            </a:r>
          </a:p>
        </p:txBody>
      </p:sp>
      <p:sp>
        <p:nvSpPr>
          <p:cNvPr id="6" name="STC-15-status-rule">
            <a:extLst xmlns:a="http://schemas.openxmlformats.org/drawingml/2006/main">
              <a:ext uri="{FF2B5EF4-FFF2-40B4-BE49-F238E27FC236}">
                <a16:creationId xmlns:a16="http://schemas.microsoft.com/office/drawing/2014/main" id="{8CF1A863-1D7E-469C-B4B1-7AC5E32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5-footer-rule">
            <a:extLst xmlns:a="http://schemas.openxmlformats.org/drawingml/2006/main">
              <a:ext uri="{FF2B5EF4-FFF2-40B4-BE49-F238E27FC236}">
                <a16:creationId xmlns:a16="http://schemas.microsoft.com/office/drawing/2014/main" id="{D1917FAC-5289-4D3B-9C5F-9082A6E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5-source-footer">
            <a:extLst xmlns:a="http://schemas.openxmlformats.org/drawingml/2006/main">
              <a:ext uri="{FF2B5EF4-FFF2-40B4-BE49-F238E27FC236}">
                <a16:creationId xmlns:a16="http://schemas.microsoft.com/office/drawing/2014/main" id="{48508A8D-C8DE-42F3-81BB-4F92B9D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STC-F006 · strongest-alternatives audit</a:t>
            </a:r>
          </a:p>
        </p:txBody>
      </p:sp>
      <p:sp>
        <p:nvSpPr>
          <p:cNvPr id="9" name="STC-15-page-number">
            <a:extLst xmlns:a="http://schemas.openxmlformats.org/drawingml/2006/main">
              <a:ext uri="{FF2B5EF4-FFF2-40B4-BE49-F238E27FC236}">
                <a16:creationId xmlns:a16="http://schemas.microsoft.com/office/drawing/2014/main" id="{81C944E9-1F2E-4B33-9823-786CB2A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48</a:t>
            </a:r>
          </a:p>
        </p:txBody>
      </p:sp>
      <p:sp>
        <p:nvSpPr>
          <p:cNvPr id="11" name="STC-15-cap-num-0">
            <a:extLst xmlns:a="http://schemas.openxmlformats.org/drawingml/2006/main">
              <a:ext uri="{FF2B5EF4-FFF2-40B4-BE49-F238E27FC236}">
                <a16:creationId xmlns:a16="http://schemas.microsoft.com/office/drawing/2014/main" id="{B2CF5D08-5D0C-44F1-AEA1-0745EBC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QUALITY · long context·RAG·agentic retrieval</a:t>
            </a:r>
          </a:p>
        </p:txBody>
      </p:sp>
      <p:sp>
        <p:nvSpPr>
          <p:cNvPr id="12" name="STC-15-cap-label-box-0">
            <a:extLst xmlns:a="http://schemas.openxmlformats.org/drawingml/2006/main">
              <a:ext uri="{FF2B5EF4-FFF2-40B4-BE49-F238E27FC236}">
                <a16:creationId xmlns:a16="http://schemas.microsoft.com/office/drawing/2014/main" id="{258E8A35-5FBA-48D0-94E7-9F07EA9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572768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3" name="STC-15-cap-label-0">
            <a:extLst xmlns:a="http://schemas.openxmlformats.org/drawingml/2006/main">
              <a:ext uri="{FF2B5EF4-FFF2-40B4-BE49-F238E27FC236}">
                <a16:creationId xmlns:a16="http://schemas.microsoft.com/office/drawing/2014/main" id="{68E3D644-65D5-4BD4-AFDF-BBEE1C3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719072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QUALITY</a:t>
            </a:r>
          </a:p>
        </p:txBody>
      </p:sp>
      <p:sp>
        <p:nvSpPr>
          <p:cNvPr id="14" name="STC-15-cap-body-0">
            <a:extLst xmlns:a="http://schemas.openxmlformats.org/drawingml/2006/main">
              <a:ext uri="{FF2B5EF4-FFF2-40B4-BE49-F238E27FC236}">
                <a16:creationId xmlns:a16="http://schemas.microsoft.com/office/drawing/2014/main" id="{38DA6B09-192B-4192-A01C-F97CF6E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664208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long context·RAG·agentic retrieval</a:t>
            </a:r>
          </a:p>
        </p:txBody>
      </p:sp>
      <p:sp>
        <p:nvSpPr>
          <p:cNvPr id="15" name="STC-15-cap-pressure-0">
            <a:extLst xmlns:a="http://schemas.openxmlformats.org/drawingml/2006/main">
              <a:ext uri="{FF2B5EF4-FFF2-40B4-BE49-F238E27FC236}">
                <a16:creationId xmlns:a16="http://schemas.microsoft.com/office/drawing/2014/main" id="{BE21D2BC-2876-4728-9F34-2331326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664208"/>
            <a:ext cx="30175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6" name="STC-15-cap-num-1">
            <a:extLst xmlns:a="http://schemas.openxmlformats.org/drawingml/2006/main">
              <a:ext uri="{FF2B5EF4-FFF2-40B4-BE49-F238E27FC236}">
                <a16:creationId xmlns:a16="http://schemas.microsoft.com/office/drawing/2014/main" id="{A1D2B1D3-D60A-42FF-A0E2-4957D09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23744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RETENTION · replay·regularization·modularity</a:t>
            </a:r>
          </a:p>
        </p:txBody>
      </p:sp>
      <p:sp>
        <p:nvSpPr>
          <p:cNvPr id="17" name="STC-15-cap-label-box-1">
            <a:extLst xmlns:a="http://schemas.openxmlformats.org/drawingml/2006/main">
              <a:ext uri="{FF2B5EF4-FFF2-40B4-BE49-F238E27FC236}">
                <a16:creationId xmlns:a16="http://schemas.microsoft.com/office/drawing/2014/main" id="{F02F6263-AC2C-47D3-B825-63D5B46F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414016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5-cap-label-1">
            <a:extLst xmlns:a="http://schemas.openxmlformats.org/drawingml/2006/main">
              <a:ext uri="{FF2B5EF4-FFF2-40B4-BE49-F238E27FC236}">
                <a16:creationId xmlns:a16="http://schemas.microsoft.com/office/drawing/2014/main" id="{17DF0D03-7D88-4052-8796-9E1DA5E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60320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RETENTION</a:t>
            </a:r>
          </a:p>
        </p:txBody>
      </p:sp>
      <p:sp>
        <p:nvSpPr>
          <p:cNvPr id="19" name="STC-15-cap-body-1">
            <a:extLst xmlns:a="http://schemas.openxmlformats.org/drawingml/2006/main">
              <a:ext uri="{FF2B5EF4-FFF2-40B4-BE49-F238E27FC236}">
                <a16:creationId xmlns:a16="http://schemas.microsoft.com/office/drawing/2014/main" id="{19CD937B-3AE8-4FD3-B968-FAA4691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05456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replay·regularization·modularity</a:t>
            </a:r>
          </a:p>
        </p:txBody>
      </p:sp>
      <p:sp>
        <p:nvSpPr>
          <p:cNvPr id="20" name="STC-15-cap-pressure-1">
            <a:extLst xmlns:a="http://schemas.openxmlformats.org/drawingml/2006/main">
              <a:ext uri="{FF2B5EF4-FFF2-40B4-BE49-F238E27FC236}">
                <a16:creationId xmlns:a16="http://schemas.microsoft.com/office/drawing/2014/main" id="{F6C5BAD1-9770-4B2F-85B1-76D4DAB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05456"/>
            <a:ext cx="36576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1" name="STC-15-cap-num-2">
            <a:extLst xmlns:a="http://schemas.openxmlformats.org/drawingml/2006/main">
              <a:ext uri="{FF2B5EF4-FFF2-40B4-BE49-F238E27FC236}">
                <a16:creationId xmlns:a16="http://schemas.microsoft.com/office/drawing/2014/main" id="{10A24185-FC68-41A9-812E-4C92243D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64992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COST · summary·cache·batch rebuild</a:t>
            </a:r>
          </a:p>
        </p:txBody>
      </p:sp>
      <p:sp>
        <p:nvSpPr>
          <p:cNvPr id="22" name="STC-15-cap-label-box-2">
            <a:extLst xmlns:a="http://schemas.openxmlformats.org/drawingml/2006/main">
              <a:ext uri="{FF2B5EF4-FFF2-40B4-BE49-F238E27FC236}">
                <a16:creationId xmlns:a16="http://schemas.microsoft.com/office/drawing/2014/main" id="{D549D566-AFB2-4963-9BA1-3CCB892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55264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3" name="STC-15-cap-label-2">
            <a:extLst xmlns:a="http://schemas.openxmlformats.org/drawingml/2006/main">
              <a:ext uri="{FF2B5EF4-FFF2-40B4-BE49-F238E27FC236}">
                <a16:creationId xmlns:a16="http://schemas.microsoft.com/office/drawing/2014/main" id="{AB7FCE0A-E277-40B1-B47A-5210936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401568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COST</a:t>
            </a:r>
          </a:p>
        </p:txBody>
      </p:sp>
      <p:sp>
        <p:nvSpPr>
          <p:cNvPr id="24" name="STC-15-cap-body-2">
            <a:extLst xmlns:a="http://schemas.openxmlformats.org/drawingml/2006/main">
              <a:ext uri="{FF2B5EF4-FFF2-40B4-BE49-F238E27FC236}">
                <a16:creationId xmlns:a16="http://schemas.microsoft.com/office/drawing/2014/main" id="{64E498CD-D488-48FD-BF94-8D246549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46704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summary·cache·batch rebuild</a:t>
            </a:r>
          </a:p>
        </p:txBody>
      </p:sp>
      <p:sp>
        <p:nvSpPr>
          <p:cNvPr id="25" name="STC-15-cap-pressure-2">
            <a:extLst xmlns:a="http://schemas.openxmlformats.org/drawingml/2006/main">
              <a:ext uri="{FF2B5EF4-FFF2-40B4-BE49-F238E27FC236}">
                <a16:creationId xmlns:a16="http://schemas.microsoft.com/office/drawing/2014/main" id="{ACBFAE3F-14CE-434A-BC29-DB08824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346704"/>
            <a:ext cx="4297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6" name="STC-15-cap-num-3">
            <a:extLst xmlns:a="http://schemas.openxmlformats.org/drawingml/2006/main">
              <a:ext uri="{FF2B5EF4-FFF2-40B4-BE49-F238E27FC236}">
                <a16:creationId xmlns:a16="http://schemas.microsoft.com/office/drawing/2014/main" id="{D849C47C-75A1-4B41-BFFA-118EF30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GOVERNANCE · external truth·version·delete</a:t>
            </a:r>
          </a:p>
        </p:txBody>
      </p:sp>
      <p:sp>
        <p:nvSpPr>
          <p:cNvPr id="27" name="STC-15-cap-label-box-3">
            <a:extLst xmlns:a="http://schemas.openxmlformats.org/drawingml/2006/main">
              <a:ext uri="{FF2B5EF4-FFF2-40B4-BE49-F238E27FC236}">
                <a16:creationId xmlns:a16="http://schemas.microsoft.com/office/drawing/2014/main" id="{DE41F8DC-7B07-465A-B1EA-DE633FD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96512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15-cap-label-3">
            <a:extLst xmlns:a="http://schemas.openxmlformats.org/drawingml/2006/main">
              <a:ext uri="{FF2B5EF4-FFF2-40B4-BE49-F238E27FC236}">
                <a16:creationId xmlns:a16="http://schemas.microsoft.com/office/drawing/2014/main" id="{9FD8499F-CC68-47C5-BCB6-2B5318C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242816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GOVERNANCE</a:t>
            </a:r>
          </a:p>
        </p:txBody>
      </p:sp>
      <p:sp>
        <p:nvSpPr>
          <p:cNvPr id="29" name="STC-15-cap-body-3">
            <a:extLst xmlns:a="http://schemas.openxmlformats.org/drawingml/2006/main">
              <a:ext uri="{FF2B5EF4-FFF2-40B4-BE49-F238E27FC236}">
                <a16:creationId xmlns:a16="http://schemas.microsoft.com/office/drawing/2014/main" id="{F8C078E8-8B00-42EF-99AB-5AF6E3C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 truth·version·delete</a:t>
            </a:r>
          </a:p>
        </p:txBody>
      </p:sp>
      <p:sp>
        <p:nvSpPr>
          <p:cNvPr id="30" name="STC-15-cap-pressure-3">
            <a:extLst xmlns:a="http://schemas.openxmlformats.org/drawingml/2006/main">
              <a:ext uri="{FF2B5EF4-FFF2-40B4-BE49-F238E27FC236}">
                <a16:creationId xmlns:a16="http://schemas.microsoft.com/office/drawing/2014/main" id="{7365CC5E-9B53-4B94-A759-5E0AA9BD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187952"/>
            <a:ext cx="3474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5-cap-num-4">
            <a:extLst xmlns:a="http://schemas.openxmlformats.org/drawingml/2006/main">
              <a:ext uri="{FF2B5EF4-FFF2-40B4-BE49-F238E27FC236}">
                <a16:creationId xmlns:a16="http://schemas.microsoft.com/office/drawing/2014/main" id="{22BFE896-64B8-4291-BBB4-F14853E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LATENCY · wake TTT·recurrent memory</a:t>
            </a:r>
          </a:p>
        </p:txBody>
      </p:sp>
      <p:sp>
        <p:nvSpPr>
          <p:cNvPr id="32" name="STC-15-cap-label-box-4">
            <a:extLst xmlns:a="http://schemas.openxmlformats.org/drawingml/2006/main">
              <a:ext uri="{FF2B5EF4-FFF2-40B4-BE49-F238E27FC236}">
                <a16:creationId xmlns:a16="http://schemas.microsoft.com/office/drawing/2014/main" id="{5BE60473-EDFE-4290-A00A-50A83B8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37760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3" name="STC-15-cap-label-4">
            <a:extLst xmlns:a="http://schemas.openxmlformats.org/drawingml/2006/main">
              <a:ext uri="{FF2B5EF4-FFF2-40B4-BE49-F238E27FC236}">
                <a16:creationId xmlns:a16="http://schemas.microsoft.com/office/drawing/2014/main" id="{E2127329-8C11-491B-A475-410BEA8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084064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LATENCY</a:t>
            </a:r>
          </a:p>
        </p:txBody>
      </p:sp>
      <p:sp>
        <p:nvSpPr>
          <p:cNvPr id="34" name="STC-15-cap-body-4">
            <a:extLst xmlns:a="http://schemas.openxmlformats.org/drawingml/2006/main">
              <a:ext uri="{FF2B5EF4-FFF2-40B4-BE49-F238E27FC236}">
                <a16:creationId xmlns:a16="http://schemas.microsoft.com/office/drawing/2014/main" id="{182B30D3-1D80-4FC5-A73C-A9EB406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029200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 TTT·recurrent memory</a:t>
            </a:r>
          </a:p>
        </p:txBody>
      </p:sp>
      <p:sp>
        <p:nvSpPr>
          <p:cNvPr id="35" name="STC-15-cap-pressure-4">
            <a:extLst xmlns:a="http://schemas.openxmlformats.org/drawingml/2006/main">
              <a:ext uri="{FF2B5EF4-FFF2-40B4-BE49-F238E27FC236}">
                <a16:creationId xmlns:a16="http://schemas.microsoft.com/office/drawing/2014/main" id="{BAA86C3C-1977-4E77-8E83-BADF936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029200"/>
            <a:ext cx="39319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6" name="STC-15-cap-binding">
            <a:extLst xmlns:a="http://schemas.openxmlformats.org/drawingml/2006/main">
              <a:ext uri="{FF2B5EF4-FFF2-40B4-BE49-F238E27FC236}">
                <a16:creationId xmlns:a16="http://schemas.microsoft.com/office/drawing/2014/main" id="{556AA274-524E-4221-88C6-E14A801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66928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QUALITY</a:t>
            </a:r>
          </a:p>
        </p:txBody>
      </p:sp>
    </p:spTree>
    <p:extLst>
      <p:ext uri="{BB962C8B-B14F-4D97-AF65-F5344CB8AC3E}">
        <p14:creationId xmlns:p14="http://schemas.microsoft.com/office/powerpoint/2010/main" val="177991463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2-section">
            <a:extLst xmlns:a="http://schemas.openxmlformats.org/drawingml/2006/main">
              <a:ext uri="{FF2B5EF4-FFF2-40B4-BE49-F238E27FC236}">
                <a16:creationId xmlns:a16="http://schemas.microsoft.com/office/drawing/2014/main" id="{9BED9E58-00E9-465F-81C5-F51DC1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12-slide-id">
            <a:extLst xmlns:a="http://schemas.openxmlformats.org/drawingml/2006/main">
              <a:ext uri="{FF2B5EF4-FFF2-40B4-BE49-F238E27FC236}">
                <a16:creationId xmlns:a16="http://schemas.microsoft.com/office/drawing/2014/main" id="{F143FB54-340A-4C97-AFD3-7653D00B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STC-049</a:t>
            </a:r>
          </a:p>
        </p:txBody>
      </p:sp>
      <p:sp>
        <p:nvSpPr>
          <p:cNvPr id="4" name="STC-12-headline">
            <a:extLst xmlns:a="http://schemas.openxmlformats.org/drawingml/2006/main">
              <a:ext uri="{FF2B5EF4-FFF2-40B4-BE49-F238E27FC236}">
                <a16:creationId xmlns:a16="http://schemas.microsoft.com/office/drawing/2014/main" id="{B20880B4-6186-43A8-9FAD-366FE1B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 pipeline은 여섯 operator와 두 gate로 구성된다</a:t>
            </a:r>
          </a:p>
        </p:txBody>
      </p:sp>
      <p:sp>
        <p:nvSpPr>
          <p:cNvPr id="5" name="STC-12-status-label">
            <a:extLst xmlns:a="http://schemas.openxmlformats.org/drawingml/2006/main">
              <a:ext uri="{FF2B5EF4-FFF2-40B4-BE49-F238E27FC236}">
                <a16:creationId xmlns:a16="http://schemas.microsoft.com/office/drawing/2014/main" id="{0CF310CB-1928-4691-A3FB-666D399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제안</a:t>
            </a:r>
          </a:p>
        </p:txBody>
      </p:sp>
      <p:sp>
        <p:nvSpPr>
          <p:cNvPr id="6" name="STC-12-status-rule">
            <a:extLst xmlns:a="http://schemas.openxmlformats.org/drawingml/2006/main">
              <a:ext uri="{FF2B5EF4-FFF2-40B4-BE49-F238E27FC236}">
                <a16:creationId xmlns:a16="http://schemas.microsoft.com/office/drawing/2014/main" id="{3E99E4B1-295E-48F2-94DF-80F4D863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2-footer-rule">
            <a:extLst xmlns:a="http://schemas.openxmlformats.org/drawingml/2006/main">
              <a:ext uri="{FF2B5EF4-FFF2-40B4-BE49-F238E27FC236}">
                <a16:creationId xmlns:a16="http://schemas.microsoft.com/office/drawing/2014/main" id="{A3C1CC2F-D951-41BA-9A0A-1723072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2-source-footer">
            <a:extLst xmlns:a="http://schemas.openxmlformats.org/drawingml/2006/main">
              <a:ext uri="{FF2B5EF4-FFF2-40B4-BE49-F238E27FC236}">
                <a16:creationId xmlns:a16="http://schemas.microsoft.com/office/drawing/2014/main" id="{04E4D685-2DD8-4371-A68D-FBB0A31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§7 · STC-F008</a:t>
            </a:r>
          </a:p>
        </p:txBody>
      </p:sp>
      <p:sp>
        <p:nvSpPr>
          <p:cNvPr id="9" name="STC-12-page-number">
            <a:extLst xmlns:a="http://schemas.openxmlformats.org/drawingml/2006/main">
              <a:ext uri="{FF2B5EF4-FFF2-40B4-BE49-F238E27FC236}">
                <a16:creationId xmlns:a16="http://schemas.microsoft.com/office/drawing/2014/main" id="{1FABB635-BAC3-411B-B672-1373736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49</a:t>
            </a:r>
          </a:p>
        </p:txBody>
      </p:sp>
      <p:sp>
        <p:nvSpPr>
          <p:cNvPr id="11" name="STC-12-op-node-0">
            <a:extLst xmlns:a="http://schemas.openxmlformats.org/drawingml/2006/main">
              <a:ext uri="{FF2B5EF4-FFF2-40B4-BE49-F238E27FC236}">
                <a16:creationId xmlns:a16="http://schemas.microsoft.com/office/drawing/2014/main" id="{9565E26F-887E-4304-8DBF-1E174EC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56362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2" name="STC-12-op-num-0">
            <a:extLst xmlns:a="http://schemas.openxmlformats.org/drawingml/2006/main">
              <a:ext uri="{FF2B5EF4-FFF2-40B4-BE49-F238E27FC236}">
                <a16:creationId xmlns:a16="http://schemas.microsoft.com/office/drawing/2014/main" id="{D48EE726-A278-44FD-822B-C049FB2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69164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3" name="STC-12-op-tag-0">
            <a:extLst xmlns:a="http://schemas.openxmlformats.org/drawingml/2006/main">
              <a:ext uri="{FF2B5EF4-FFF2-40B4-BE49-F238E27FC236}">
                <a16:creationId xmlns:a16="http://schemas.microsoft.com/office/drawing/2014/main" id="{E816A992-8F21-4B25-BCDD-A098663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36829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ADMIT</a:t>
            </a:r>
          </a:p>
        </p:txBody>
      </p:sp>
      <p:sp>
        <p:nvSpPr>
          <p:cNvPr id="14" name="STC-12-op-body-0">
            <a:extLst xmlns:a="http://schemas.openxmlformats.org/drawingml/2006/main">
              <a:ext uri="{FF2B5EF4-FFF2-40B4-BE49-F238E27FC236}">
                <a16:creationId xmlns:a16="http://schemas.microsoft.com/office/drawing/2014/main" id="{165A7B8B-3F81-4002-8250-9F527A3B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7218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consent·novelty·risk로 event 선별</a:t>
            </a:r>
          </a:p>
        </p:txBody>
      </p:sp>
      <p:sp>
        <p:nvSpPr>
          <p:cNvPr id="15" name="STC-12-op-link-0">
            <a:extLst xmlns:a="http://schemas.openxmlformats.org/drawingml/2006/main">
              <a:ext uri="{FF2B5EF4-FFF2-40B4-BE49-F238E27FC236}">
                <a16:creationId xmlns:a16="http://schemas.microsoft.com/office/drawing/2014/main" id="{9B485991-DCDC-402B-9D7D-4F6EC04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12-op-node-1">
            <a:extLst xmlns:a="http://schemas.openxmlformats.org/drawingml/2006/main">
              <a:ext uri="{FF2B5EF4-FFF2-40B4-BE49-F238E27FC236}">
                <a16:creationId xmlns:a16="http://schemas.microsoft.com/office/drawing/2014/main" id="{F80C4FE0-F1BC-4D46-8887-D3C1757C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12-op-num-1">
            <a:extLst xmlns:a="http://schemas.openxmlformats.org/drawingml/2006/main">
              <a:ext uri="{FF2B5EF4-FFF2-40B4-BE49-F238E27FC236}">
                <a16:creationId xmlns:a16="http://schemas.microsoft.com/office/drawing/2014/main" id="{F9AAE281-2CB6-4B37-AF68-53AFB0A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8" name="STC-12-op-tag-1">
            <a:extLst xmlns:a="http://schemas.openxmlformats.org/drawingml/2006/main">
              <a:ext uri="{FF2B5EF4-FFF2-40B4-BE49-F238E27FC236}">
                <a16:creationId xmlns:a16="http://schemas.microsoft.com/office/drawing/2014/main" id="{DB376A64-3995-4E35-AD03-8003FB0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BUILD</a:t>
            </a:r>
          </a:p>
        </p:txBody>
      </p:sp>
      <p:sp>
        <p:nvSpPr>
          <p:cNvPr id="19" name="STC-12-op-body-1">
            <a:extLst xmlns:a="http://schemas.openxmlformats.org/drawingml/2006/main">
              <a:ext uri="{FF2B5EF4-FFF2-40B4-BE49-F238E27FC236}">
                <a16:creationId xmlns:a16="http://schemas.microsoft.com/office/drawing/2014/main" id="{EC50FD79-C18A-4040-9760-EDA4257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replay·synthetic·counterexample batch</a:t>
            </a:r>
          </a:p>
        </p:txBody>
      </p:sp>
      <p:sp>
        <p:nvSpPr>
          <p:cNvPr id="20" name="STC-12-op-link-1">
            <a:extLst xmlns:a="http://schemas.openxmlformats.org/drawingml/2006/main">
              <a:ext uri="{FF2B5EF4-FFF2-40B4-BE49-F238E27FC236}">
                <a16:creationId xmlns:a16="http://schemas.microsoft.com/office/drawing/2014/main" id="{1D205391-CBC8-47B1-9F68-03FDF9A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452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2-op-node-2">
            <a:extLst xmlns:a="http://schemas.openxmlformats.org/drawingml/2006/main">
              <a:ext uri="{FF2B5EF4-FFF2-40B4-BE49-F238E27FC236}">
                <a16:creationId xmlns:a16="http://schemas.microsoft.com/office/drawing/2014/main" id="{68B4B873-F963-44E1-9F2C-50BDC97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2-op-num-2">
            <a:extLst xmlns:a="http://schemas.openxmlformats.org/drawingml/2006/main">
              <a:ext uri="{FF2B5EF4-FFF2-40B4-BE49-F238E27FC236}">
                <a16:creationId xmlns:a16="http://schemas.microsoft.com/office/drawing/2014/main" id="{DA6C6E96-24AB-49A1-8C94-F7D3A6D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3" name="STC-12-op-tag-2">
            <a:extLst xmlns:a="http://schemas.openxmlformats.org/drawingml/2006/main">
              <a:ext uri="{FF2B5EF4-FFF2-40B4-BE49-F238E27FC236}">
                <a16:creationId xmlns:a16="http://schemas.microsoft.com/office/drawing/2014/main" id="{DE77EAA3-C1E2-4BB3-A6CD-F742DF3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TRANSFORM</a:t>
            </a:r>
          </a:p>
        </p:txBody>
      </p:sp>
      <p:sp>
        <p:nvSpPr>
          <p:cNvPr id="24" name="STC-12-op-body-2">
            <a:extLst xmlns:a="http://schemas.openxmlformats.org/drawingml/2006/main">
              <a:ext uri="{FF2B5EF4-FFF2-40B4-BE49-F238E27FC236}">
                <a16:creationId xmlns:a16="http://schemas.microsoft.com/office/drawing/2014/main" id="{2FAE901B-858A-4FBE-8454-E355DFA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merge·distill·update</a:t>
            </a:r>
          </a:p>
        </p:txBody>
      </p:sp>
      <p:sp>
        <p:nvSpPr>
          <p:cNvPr id="25" name="STC-12-op-link-2">
            <a:extLst xmlns:a="http://schemas.openxmlformats.org/drawingml/2006/main">
              <a:ext uri="{FF2B5EF4-FFF2-40B4-BE49-F238E27FC236}">
                <a16:creationId xmlns:a16="http://schemas.microsoft.com/office/drawing/2014/main" id="{1FF3F698-4B8B-4FDF-8C1C-B38373EE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35040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6" name="STC-12-op-node-3">
            <a:extLst xmlns:a="http://schemas.openxmlformats.org/drawingml/2006/main">
              <a:ext uri="{FF2B5EF4-FFF2-40B4-BE49-F238E27FC236}">
                <a16:creationId xmlns:a16="http://schemas.microsoft.com/office/drawing/2014/main" id="{18FCBE66-54BC-4BD1-85B8-B66B2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1297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12-op-num-3">
            <a:extLst xmlns:a="http://schemas.openxmlformats.org/drawingml/2006/main">
              <a:ext uri="{FF2B5EF4-FFF2-40B4-BE49-F238E27FC236}">
                <a16:creationId xmlns:a16="http://schemas.microsoft.com/office/drawing/2014/main" id="{B016CB40-821A-426B-BB69-C4EA19B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25780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8" name="STC-12-op-tag-3">
            <a:extLst xmlns:a="http://schemas.openxmlformats.org/drawingml/2006/main">
              <a:ext uri="{FF2B5EF4-FFF2-40B4-BE49-F238E27FC236}">
                <a16:creationId xmlns:a16="http://schemas.microsoft.com/office/drawing/2014/main" id="{FDF0F062-D6A7-490E-BE3A-D052AF8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593445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29" name="STC-12-op-body-3">
            <a:extLst xmlns:a="http://schemas.openxmlformats.org/drawingml/2006/main">
              <a:ext uri="{FF2B5EF4-FFF2-40B4-BE49-F238E27FC236}">
                <a16:creationId xmlns:a16="http://schemas.microsoft.com/office/drawing/2014/main" id="{3BF79E21-1FF6-4F3B-8783-4089065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6227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utility·retention·harm 평가</a:t>
            </a:r>
          </a:p>
        </p:txBody>
      </p:sp>
      <p:sp>
        <p:nvSpPr>
          <p:cNvPr id="30" name="STC-12-op-link-3">
            <a:extLst xmlns:a="http://schemas.openxmlformats.org/drawingml/2006/main">
              <a:ext uri="{FF2B5EF4-FFF2-40B4-BE49-F238E27FC236}">
                <a16:creationId xmlns:a16="http://schemas.microsoft.com/office/drawing/2014/main" id="{C2D2C21F-163F-4D95-9BF0-CD645F7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44628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1" name="STC-12-op-node-4">
            <a:extLst xmlns:a="http://schemas.openxmlformats.org/drawingml/2006/main">
              <a:ext uri="{FF2B5EF4-FFF2-40B4-BE49-F238E27FC236}">
                <a16:creationId xmlns:a16="http://schemas.microsoft.com/office/drawing/2014/main" id="{15454C93-9714-40BA-A132-E320F2F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2" name="STC-12-op-num-4">
            <a:extLst xmlns:a="http://schemas.openxmlformats.org/drawingml/2006/main">
              <a:ext uri="{FF2B5EF4-FFF2-40B4-BE49-F238E27FC236}">
                <a16:creationId xmlns:a16="http://schemas.microsoft.com/office/drawing/2014/main" id="{9C622E44-8EB5-4A8F-9D61-4DAD460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33" name="STC-12-op-tag-4">
            <a:extLst xmlns:a="http://schemas.openxmlformats.org/drawingml/2006/main">
              <a:ext uri="{FF2B5EF4-FFF2-40B4-BE49-F238E27FC236}">
                <a16:creationId xmlns:a16="http://schemas.microsoft.com/office/drawing/2014/main" id="{FD53F60B-6AD4-4C55-B97A-929F8BA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PUBLISH</a:t>
            </a:r>
          </a:p>
        </p:txBody>
      </p:sp>
      <p:sp>
        <p:nvSpPr>
          <p:cNvPr id="34" name="STC-12-op-body-4">
            <a:extLst xmlns:a="http://schemas.openxmlformats.org/drawingml/2006/main">
              <a:ext uri="{FF2B5EF4-FFF2-40B4-BE49-F238E27FC236}">
                <a16:creationId xmlns:a16="http://schemas.microsoft.com/office/drawing/2014/main" id="{69B11EFB-0B67-4435-A518-4BD5674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atomic version promotion</a:t>
            </a:r>
          </a:p>
        </p:txBody>
      </p:sp>
      <p:sp>
        <p:nvSpPr>
          <p:cNvPr id="35" name="STC-12-op-link-4">
            <a:extLst xmlns:a="http://schemas.openxmlformats.org/drawingml/2006/main">
              <a:ext uri="{FF2B5EF4-FFF2-40B4-BE49-F238E27FC236}">
                <a16:creationId xmlns:a16="http://schemas.microsoft.com/office/drawing/2014/main" id="{49EA155E-1AD2-4243-9273-CD4608D5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6" name="STC-12-op-node-5">
            <a:extLst xmlns:a="http://schemas.openxmlformats.org/drawingml/2006/main">
              <a:ext uri="{FF2B5EF4-FFF2-40B4-BE49-F238E27FC236}">
                <a16:creationId xmlns:a16="http://schemas.microsoft.com/office/drawing/2014/main" id="{BCE04997-1C16-4A22-9D57-C05C3C7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7" name="STC-12-op-num-5">
            <a:extLst xmlns:a="http://schemas.openxmlformats.org/drawingml/2006/main">
              <a:ext uri="{FF2B5EF4-FFF2-40B4-BE49-F238E27FC236}">
                <a16:creationId xmlns:a16="http://schemas.microsoft.com/office/drawing/2014/main" id="{599C82AF-1ACF-4452-BAFC-2647307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38" name="STC-12-op-tag-5">
            <a:extLst xmlns:a="http://schemas.openxmlformats.org/drawingml/2006/main">
              <a:ext uri="{FF2B5EF4-FFF2-40B4-BE49-F238E27FC236}">
                <a16:creationId xmlns:a16="http://schemas.microsoft.com/office/drawing/2014/main" id="{B07599FE-D711-4F70-976F-A5A391A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UNDO</a:t>
            </a:r>
          </a:p>
        </p:txBody>
      </p:sp>
      <p:sp>
        <p:nvSpPr>
          <p:cNvPr id="39" name="STC-12-op-body-5">
            <a:extLst xmlns:a="http://schemas.openxmlformats.org/drawingml/2006/main">
              <a:ext uri="{FF2B5EF4-FFF2-40B4-BE49-F238E27FC236}">
                <a16:creationId xmlns:a16="http://schemas.microsoft.com/office/drawing/2014/main" id="{423310C0-5466-447C-9A7D-22EAE19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rollback·delete·rebuild</a:t>
            </a:r>
          </a:p>
        </p:txBody>
      </p:sp>
      <p:sp>
        <p:nvSpPr>
          <p:cNvPr id="40" name="STC-12-op-link-5">
            <a:extLst xmlns:a="http://schemas.openxmlformats.org/drawingml/2006/main">
              <a:ext uri="{FF2B5EF4-FFF2-40B4-BE49-F238E27FC236}">
                <a16:creationId xmlns:a16="http://schemas.microsoft.com/office/drawing/2014/main" id="{F56FC784-7401-4605-B130-CFE571A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41" name="STC-12-op-center">
            <a:extLst xmlns:a="http://schemas.openxmlformats.org/drawingml/2006/main">
              <a:ext uri="{FF2B5EF4-FFF2-40B4-BE49-F238E27FC236}">
                <a16:creationId xmlns:a16="http://schemas.microsoft.com/office/drawing/2014/main" id="{768EE9E5-A371-4721-B14D-560E6C4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2" name="STC-12-op-center-text">
            <a:extLst xmlns:a="http://schemas.openxmlformats.org/drawingml/2006/main">
              <a:ext uri="{FF2B5EF4-FFF2-40B4-BE49-F238E27FC236}">
                <a16:creationId xmlns:a16="http://schemas.microsoft.com/office/drawing/2014/main" id="{742C75B8-42AB-46D8-A657-D904AEC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246120"/>
            <a:ext cx="168249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30391406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3-section">
            <a:extLst xmlns:a="http://schemas.openxmlformats.org/drawingml/2006/main">
              <a:ext uri="{FF2B5EF4-FFF2-40B4-BE49-F238E27FC236}">
                <a16:creationId xmlns:a16="http://schemas.microsoft.com/office/drawing/2014/main" id="{02A15198-0D14-4509-9329-A62092A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03-slide-id">
            <a:extLst xmlns:a="http://schemas.openxmlformats.org/drawingml/2006/main">
              <a:ext uri="{FF2B5EF4-FFF2-40B4-BE49-F238E27FC236}">
                <a16:creationId xmlns:a16="http://schemas.microsoft.com/office/drawing/2014/main" id="{5885D053-0F4B-4CBB-BF5A-EAE3A537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STC-050</a:t>
            </a:r>
          </a:p>
        </p:txBody>
      </p:sp>
      <p:sp>
        <p:nvSpPr>
          <p:cNvPr id="4" name="STC-03-headline">
            <a:extLst xmlns:a="http://schemas.openxmlformats.org/drawingml/2006/main">
              <a:ext uri="{FF2B5EF4-FFF2-40B4-BE49-F238E27FC236}">
                <a16:creationId xmlns:a16="http://schemas.microsoft.com/office/drawing/2014/main" id="{CADF224E-AEF9-4435-B15E-E13191F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Admission은 ‘많이 저장’이 아니라 expected value 판단이다</a:t>
            </a:r>
          </a:p>
        </p:txBody>
      </p:sp>
      <p:sp>
        <p:nvSpPr>
          <p:cNvPr id="5" name="STC-03-status-label">
            <a:extLst xmlns:a="http://schemas.openxmlformats.org/drawingml/2006/main">
              <a:ext uri="{FF2B5EF4-FFF2-40B4-BE49-F238E27FC236}">
                <a16:creationId xmlns:a16="http://schemas.microsoft.com/office/drawing/2014/main" id="{F4A952E9-55E5-4046-A8E1-D32DE3E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제안</a:t>
            </a:r>
          </a:p>
        </p:txBody>
      </p:sp>
      <p:sp>
        <p:nvSpPr>
          <p:cNvPr id="6" name="STC-03-status-rule">
            <a:extLst xmlns:a="http://schemas.openxmlformats.org/drawingml/2006/main">
              <a:ext uri="{FF2B5EF4-FFF2-40B4-BE49-F238E27FC236}">
                <a16:creationId xmlns:a16="http://schemas.microsoft.com/office/drawing/2014/main" id="{962B84CF-9A4F-4513-A509-82D6355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03-footer-rule">
            <a:extLst xmlns:a="http://schemas.openxmlformats.org/drawingml/2006/main">
              <a:ext uri="{FF2B5EF4-FFF2-40B4-BE49-F238E27FC236}">
                <a16:creationId xmlns:a16="http://schemas.microsoft.com/office/drawing/2014/main" id="{03E9FA29-6057-4BDB-B58B-062FCB8F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3-source-footer">
            <a:extLst xmlns:a="http://schemas.openxmlformats.org/drawingml/2006/main">
              <a:ext uri="{FF2B5EF4-FFF2-40B4-BE49-F238E27FC236}">
                <a16:creationId xmlns:a16="http://schemas.microsoft.com/office/drawing/2014/main" id="{39FC72E5-FB05-4ECA-B34C-042B625D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Capacity-aware admission policy</a:t>
            </a:r>
          </a:p>
        </p:txBody>
      </p:sp>
      <p:sp>
        <p:nvSpPr>
          <p:cNvPr id="9" name="STC-03-page-number">
            <a:extLst xmlns:a="http://schemas.openxmlformats.org/drawingml/2006/main">
              <a:ext uri="{FF2B5EF4-FFF2-40B4-BE49-F238E27FC236}">
                <a16:creationId xmlns:a16="http://schemas.microsoft.com/office/drawing/2014/main" id="{F1434D67-E687-41AF-BE09-29AA056B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50</a:t>
            </a:r>
          </a:p>
        </p:txBody>
      </p:sp>
      <p:sp>
        <p:nvSpPr>
          <p:cNvPr id="11" name="STC-03-def-num-0">
            <a:extLst xmlns:a="http://schemas.openxmlformats.org/drawingml/2006/main">
              <a:ext uri="{FF2B5EF4-FFF2-40B4-BE49-F238E27FC236}">
                <a16:creationId xmlns:a16="http://schemas.microsoft.com/office/drawing/2014/main" id="{4525BD33-13EC-4AAD-A5B3-0EE13DE8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3-def-num-text-0">
            <a:extLst xmlns:a="http://schemas.openxmlformats.org/drawingml/2006/main">
              <a:ext uri="{FF2B5EF4-FFF2-40B4-BE49-F238E27FC236}">
                <a16:creationId xmlns:a16="http://schemas.microsoft.com/office/drawing/2014/main" id="{7E22597E-3B98-4999-9E04-F761D46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미래 재사용 확률×성공 개선</a:t>
            </a:r>
          </a:p>
        </p:txBody>
      </p:sp>
      <p:sp>
        <p:nvSpPr>
          <p:cNvPr id="13" name="STC-03-def-label-0">
            <a:extLst xmlns:a="http://schemas.openxmlformats.org/drawingml/2006/main">
              <a:ext uri="{FF2B5EF4-FFF2-40B4-BE49-F238E27FC236}">
                <a16:creationId xmlns:a16="http://schemas.microsoft.com/office/drawing/2014/main" id="{03721994-FBBD-4164-94BC-AA6F0AA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UTILITY</a:t>
            </a:r>
          </a:p>
        </p:txBody>
      </p:sp>
      <p:sp>
        <p:nvSpPr>
          <p:cNvPr id="14" name="STC-03-def-body-0">
            <a:extLst xmlns:a="http://schemas.openxmlformats.org/drawingml/2006/main">
              <a:ext uri="{FF2B5EF4-FFF2-40B4-BE49-F238E27FC236}">
                <a16:creationId xmlns:a16="http://schemas.microsoft.com/office/drawing/2014/main" id="{C6F0732A-57AA-45EF-A63D-9B2F1A63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현재 사용자 action의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critical path 밖에서 실행</a:t>
            </a:r>
          </a:p>
        </p:txBody>
      </p:sp>
      <p:sp>
        <p:nvSpPr>
          <p:cNvPr id="15" name="STC-03-def-link-0">
            <a:extLst xmlns:a="http://schemas.openxmlformats.org/drawingml/2006/main">
              <a:ext uri="{FF2B5EF4-FFF2-40B4-BE49-F238E27FC236}">
                <a16:creationId xmlns:a16="http://schemas.microsoft.com/office/drawing/2014/main" id="{ECFA8D7D-6B6E-4281-AC9B-C5385CC5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648456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03-def-num-1">
            <a:extLst xmlns:a="http://schemas.openxmlformats.org/drawingml/2006/main">
              <a:ext uri="{FF2B5EF4-FFF2-40B4-BE49-F238E27FC236}">
                <a16:creationId xmlns:a16="http://schemas.microsoft.com/office/drawing/2014/main" id="{674804D3-670A-4CD6-9B43-936C18A5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3-def-num-text-1">
            <a:extLst xmlns:a="http://schemas.openxmlformats.org/drawingml/2006/main">
              <a:ext uri="{FF2B5EF4-FFF2-40B4-BE49-F238E27FC236}">
                <a16:creationId xmlns:a16="http://schemas.microsoft.com/office/drawing/2014/main" id="{917D0C1F-FA71-4E62-A401-B870403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기존 state와 중복되지 않는 정보</a:t>
            </a:r>
          </a:p>
        </p:txBody>
      </p:sp>
      <p:sp>
        <p:nvSpPr>
          <p:cNvPr id="18" name="STC-03-def-label-1">
            <a:extLst xmlns:a="http://schemas.openxmlformats.org/drawingml/2006/main">
              <a:ext uri="{FF2B5EF4-FFF2-40B4-BE49-F238E27FC236}">
                <a16:creationId xmlns:a16="http://schemas.microsoft.com/office/drawing/2014/main" id="{CD0EA142-76AF-4862-9126-5C9EE1B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NOVELTY</a:t>
            </a:r>
          </a:p>
        </p:txBody>
      </p:sp>
      <p:sp>
        <p:nvSpPr>
          <p:cNvPr id="19" name="STC-03-def-body-1">
            <a:extLst xmlns:a="http://schemas.openxmlformats.org/drawingml/2006/main">
              <a:ext uri="{FF2B5EF4-FFF2-40B4-BE49-F238E27FC236}">
                <a16:creationId xmlns:a16="http://schemas.microsoft.com/office/drawing/2014/main" id="{A0AF251A-4EFD-4670-BEB7-2A4C8B7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정적 pretraining corpus가 아니라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누적 wake experience를 변환</a:t>
            </a:r>
          </a:p>
        </p:txBody>
      </p:sp>
      <p:sp>
        <p:nvSpPr>
          <p:cNvPr id="20" name="STC-03-def-link-1">
            <a:extLst xmlns:a="http://schemas.openxmlformats.org/drawingml/2006/main">
              <a:ext uri="{FF2B5EF4-FFF2-40B4-BE49-F238E27FC236}">
                <a16:creationId xmlns:a16="http://schemas.microsoft.com/office/drawing/2014/main" id="{2060CC0F-C3F6-4F52-80CF-8123108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648456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03-def-num-2">
            <a:extLst xmlns:a="http://schemas.openxmlformats.org/drawingml/2006/main">
              <a:ext uri="{FF2B5EF4-FFF2-40B4-BE49-F238E27FC236}">
                <a16:creationId xmlns:a16="http://schemas.microsoft.com/office/drawing/2014/main" id="{0DA5ED6C-B7D0-4F81-8EC8-FD72BF3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874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2" name="STC-03-def-num-text-2">
            <a:extLst xmlns:a="http://schemas.openxmlformats.org/drawingml/2006/main">
              <a:ext uri="{FF2B5EF4-FFF2-40B4-BE49-F238E27FC236}">
                <a16:creationId xmlns:a16="http://schemas.microsoft.com/office/drawing/2014/main" id="{E268497E-9740-4B72-81FD-1F2CD701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98424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privacy·poison·conflict·copyright</a:t>
            </a:r>
          </a:p>
        </p:txBody>
      </p:sp>
      <p:sp>
        <p:nvSpPr>
          <p:cNvPr id="23" name="STC-03-def-label-2">
            <a:extLst xmlns:a="http://schemas.openxmlformats.org/drawingml/2006/main">
              <a:ext uri="{FF2B5EF4-FFF2-40B4-BE49-F238E27FC236}">
                <a16:creationId xmlns:a16="http://schemas.microsoft.com/office/drawing/2014/main" id="{8A91F7F0-8DE4-4C64-B7B8-D4A4D96D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883664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RISK</a:t>
            </a:r>
          </a:p>
        </p:txBody>
      </p:sp>
      <p:sp>
        <p:nvSpPr>
          <p:cNvPr id="24" name="STC-03-def-body-2">
            <a:extLst xmlns:a="http://schemas.openxmlformats.org/drawingml/2006/main">
              <a:ext uri="{FF2B5EF4-FFF2-40B4-BE49-F238E27FC236}">
                <a16:creationId xmlns:a16="http://schemas.microsoft.com/office/drawing/2014/main" id="{ADA2CC6B-A34B-46FF-BC42-AC155B9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267712"/>
            <a:ext cx="26700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검증된 persistent state를 publish하고</a:t>
            </a:r>
          </a:p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다음 wake가 재사용</a:t>
            </a:r>
          </a:p>
        </p:txBody>
      </p:sp>
      <p:sp>
        <p:nvSpPr>
          <p:cNvPr id="25" name="STC-03-def-separator">
            <a:extLst xmlns:a="http://schemas.openxmlformats.org/drawingml/2006/main">
              <a:ext uri="{FF2B5EF4-FFF2-40B4-BE49-F238E27FC236}">
                <a16:creationId xmlns:a16="http://schemas.microsoft.com/office/drawing/2014/main" id="{8E61728D-C9A4-4460-83C6-D5884B72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68496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none"/>
          </a:ln>
        </p:spPr>
      </p:sp>
      <p:sp>
        <p:nvSpPr>
          <p:cNvPr id="26" name="STC-03-therefore">
            <a:extLst xmlns:a="http://schemas.openxmlformats.org/drawingml/2006/main">
              <a:ext uri="{FF2B5EF4-FFF2-40B4-BE49-F238E27FC236}">
                <a16:creationId xmlns:a16="http://schemas.microsoft.com/office/drawing/2014/main" id="{965E5C0A-2FD3-4A53-873A-A1997E1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88536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UTILITY</a:t>
            </a:r>
          </a:p>
        </p:txBody>
      </p:sp>
      <p:sp>
        <p:nvSpPr>
          <p:cNvPr id="27" name="STC-03-definition-nonclaims">
            <a:extLst xmlns:a="http://schemas.openxmlformats.org/drawingml/2006/main">
              <a:ext uri="{FF2B5EF4-FFF2-40B4-BE49-F238E27FC236}">
                <a16:creationId xmlns:a16="http://schemas.microsoft.com/office/drawing/2014/main" id="{A0EE04A4-7BEC-45E5-B1FD-C822197D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224528"/>
            <a:ext cx="9217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미래 재사용 확률×성공 개선</a:t>
            </a:r>
          </a:p>
        </p:txBody>
      </p:sp>
      <p:sp>
        <p:nvSpPr>
          <p:cNvPr id="28" name="STC-03-definition-bottom">
            <a:extLst xmlns:a="http://schemas.openxmlformats.org/drawingml/2006/main">
              <a:ext uri="{FF2B5EF4-FFF2-40B4-BE49-F238E27FC236}">
                <a16:creationId xmlns:a16="http://schemas.microsoft.com/office/drawing/2014/main" id="{D9012F04-98F8-4EB6-9D51-2E280DFE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10912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낮은 reuse와 높은 risk의 기억은 durable layer로 승격하지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4863728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STC-051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batch는 new·old·negative를 함께 담아야 한다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학습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Replay and continual-learning basis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51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NEW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OLD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NEGATIVE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MIX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NEW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OLD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STC-052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Distillation은 memory를 줄이지만 entropy를 공짜로 없애지 못한다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학습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Knowledge distillation · compression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52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TEACHER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STUDENT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LOSS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TRADE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min L_task + αL_retain + βC_state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원 episode+retrieval+larger model의 target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TEACHER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Compression ratio는 accuracy뿐 아니라 reversibility와 deletion cost로 제한된다.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summary·adapter·compact state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8-section">
            <a:extLst xmlns:a="http://schemas.openxmlformats.org/drawingml/2006/main">
              <a:ext uri="{FF2B5EF4-FFF2-40B4-BE49-F238E27FC236}">
                <a16:creationId xmlns:a16="http://schemas.microsoft.com/office/drawing/2014/main" id="{7F97D696-2E76-4EC9-B686-7BF98FE5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08-slide-id">
            <a:extLst xmlns:a="http://schemas.openxmlformats.org/drawingml/2006/main">
              <a:ext uri="{FF2B5EF4-FFF2-40B4-BE49-F238E27FC236}">
                <a16:creationId xmlns:a16="http://schemas.microsoft.com/office/drawing/2014/main" id="{CB9EF161-ECEF-4B7E-B74F-8D9E242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STC-053</a:t>
            </a:r>
          </a:p>
        </p:txBody>
      </p:sp>
      <p:sp>
        <p:nvSpPr>
          <p:cNvPr id="4" name="STC-08-headline">
            <a:extLst xmlns:a="http://schemas.openxmlformats.org/drawingml/2006/main">
              <a:ext uri="{FF2B5EF4-FFF2-40B4-BE49-F238E27FC236}">
                <a16:creationId xmlns:a16="http://schemas.microsoft.com/office/drawing/2014/main" id="{8E3DE000-9954-4D2C-BC94-8606B6E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Dream data는 coverage를 늘리지만 오류도 증폭할 수 있다</a:t>
            </a:r>
          </a:p>
        </p:txBody>
      </p:sp>
      <p:sp>
        <p:nvSpPr>
          <p:cNvPr id="5" name="STC-08-status-label">
            <a:extLst xmlns:a="http://schemas.openxmlformats.org/drawingml/2006/main">
              <a:ext uri="{FF2B5EF4-FFF2-40B4-BE49-F238E27FC236}">
                <a16:creationId xmlns:a16="http://schemas.microsoft.com/office/drawing/2014/main" id="{D07E376F-A4F0-440A-8973-16E3EED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학습</a:t>
            </a:r>
          </a:p>
        </p:txBody>
      </p:sp>
      <p:sp>
        <p:nvSpPr>
          <p:cNvPr id="6" name="STC-08-status-rule">
            <a:extLst xmlns:a="http://schemas.openxmlformats.org/drawingml/2006/main">
              <a:ext uri="{FF2B5EF4-FFF2-40B4-BE49-F238E27FC236}">
                <a16:creationId xmlns:a16="http://schemas.microsoft.com/office/drawing/2014/main" id="{0BBA66F0-9D87-4317-BBAE-8088049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8-footer-rule">
            <a:extLst xmlns:a="http://schemas.openxmlformats.org/drawingml/2006/main">
              <a:ext uri="{FF2B5EF4-FFF2-40B4-BE49-F238E27FC236}">
                <a16:creationId xmlns:a16="http://schemas.microsoft.com/office/drawing/2014/main" id="{E510CEFC-C974-4BE9-8B37-1C73B0BD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8-source-footer">
            <a:extLst xmlns:a="http://schemas.openxmlformats.org/drawingml/2006/main">
              <a:ext uri="{FF2B5EF4-FFF2-40B4-BE49-F238E27FC236}">
                <a16:creationId xmlns:a16="http://schemas.microsoft.com/office/drawing/2014/main" id="{D81DCB5E-AC73-4A09-A5F7-8F0476E3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Synthetic replay · PAD · self-improvement</a:t>
            </a:r>
          </a:p>
        </p:txBody>
      </p:sp>
      <p:sp>
        <p:nvSpPr>
          <p:cNvPr id="9" name="STC-08-page-number">
            <a:extLst xmlns:a="http://schemas.openxmlformats.org/drawingml/2006/main">
              <a:ext uri="{FF2B5EF4-FFF2-40B4-BE49-F238E27FC236}">
                <a16:creationId xmlns:a16="http://schemas.microsoft.com/office/drawing/2014/main" id="{4FA5EC8D-4353-4511-9A31-1E8D1BD7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53</a:t>
            </a:r>
          </a:p>
        </p:txBody>
      </p:sp>
      <p:sp>
        <p:nvSpPr>
          <p:cNvPr id="11" name="STC-08-pad-title">
            <a:extLst xmlns:a="http://schemas.openxmlformats.org/drawingml/2006/main">
              <a:ext uri="{FF2B5EF4-FFF2-40B4-BE49-F238E27FC236}">
                <a16:creationId xmlns:a16="http://schemas.microsoft.com/office/drawing/2014/main" id="{E4CD4F9B-A815-4A88-93D1-8D51EDE9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37360"/>
            <a:ext cx="1143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PERTURB</a:t>
            </a:r>
          </a:p>
        </p:txBody>
      </p:sp>
      <p:sp>
        <p:nvSpPr>
          <p:cNvPr id="12" name="STC-08-pad-full">
            <a:extLst xmlns:a="http://schemas.openxmlformats.org/drawingml/2006/main">
              <a:ext uri="{FF2B5EF4-FFF2-40B4-BE49-F238E27FC236}">
                <a16:creationId xmlns:a16="http://schemas.microsoft.com/office/drawing/2014/main" id="{F6BC91A5-2B85-42D5-9D2E-91D8AF17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801368"/>
            <a:ext cx="3429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noise·occlusion·counterfactual로 robustness</a:t>
            </a:r>
          </a:p>
        </p:txBody>
      </p:sp>
      <p:sp>
        <p:nvSpPr>
          <p:cNvPr id="13" name="STC-08-pad-rule">
            <a:extLst xmlns:a="http://schemas.openxmlformats.org/drawingml/2006/main">
              <a:ext uri="{FF2B5EF4-FFF2-40B4-BE49-F238E27FC236}">
                <a16:creationId xmlns:a16="http://schemas.microsoft.com/office/drawing/2014/main" id="{9DB9E4B7-DABB-48BC-98E4-A1A02B1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331720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4" name="STC-08-pad-nrem">
            <a:extLst xmlns:a="http://schemas.openxmlformats.org/drawingml/2006/main">
              <a:ext uri="{FF2B5EF4-FFF2-40B4-BE49-F238E27FC236}">
                <a16:creationId xmlns:a16="http://schemas.microsoft.com/office/drawing/2014/main" id="{6D37CB4F-614F-4CF5-BCDA-D1AA5BF0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6148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GENERATE</a:t>
            </a:r>
          </a:p>
        </p:txBody>
      </p:sp>
      <p:sp>
        <p:nvSpPr>
          <p:cNvPr id="15" name="STC-08-pad-nrem-text">
            <a:extLst xmlns:a="http://schemas.openxmlformats.org/drawingml/2006/main">
              <a:ext uri="{FF2B5EF4-FFF2-40B4-BE49-F238E27FC236}">
                <a16:creationId xmlns:a16="http://schemas.microsoft.com/office/drawing/2014/main" id="{A95DE607-13BA-4084-8EBD-56D7466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06624"/>
            <a:ext cx="3611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희소 scenario·hard negative 보충</a:t>
            </a:r>
          </a:p>
        </p:txBody>
      </p:sp>
      <p:sp>
        <p:nvSpPr>
          <p:cNvPr id="16" name="STC-08-pad-rem">
            <a:extLst xmlns:a="http://schemas.openxmlformats.org/drawingml/2006/main">
              <a:ext uri="{FF2B5EF4-FFF2-40B4-BE49-F238E27FC236}">
                <a16:creationId xmlns:a16="http://schemas.microsoft.com/office/drawing/2014/main" id="{92F4DE59-93E1-4CCB-A263-A4BEE3AE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2044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CRITIQUE</a:t>
            </a:r>
          </a:p>
        </p:txBody>
      </p:sp>
      <p:sp>
        <p:nvSpPr>
          <p:cNvPr id="17" name="STC-08-pad-rem-text">
            <a:extLst xmlns:a="http://schemas.openxmlformats.org/drawingml/2006/main">
              <a:ext uri="{FF2B5EF4-FFF2-40B4-BE49-F238E27FC236}">
                <a16:creationId xmlns:a16="http://schemas.microsoft.com/office/drawing/2014/main" id="{89F9EBB8-EEDD-4462-B4B5-CB51439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465576"/>
            <a:ext cx="3611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generator와 evaluator를 분리</a:t>
            </a:r>
          </a:p>
        </p:txBody>
      </p:sp>
      <p:sp>
        <p:nvSpPr>
          <p:cNvPr id="18" name="STC-08-pad-scope">
            <a:extLst xmlns:a="http://schemas.openxmlformats.org/drawingml/2006/main">
              <a:ext uri="{FF2B5EF4-FFF2-40B4-BE49-F238E27FC236}">
                <a16:creationId xmlns:a16="http://schemas.microsoft.com/office/drawing/2014/main" id="{A67F0AFA-C6A0-42C1-9C29-58F999A9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4480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grounding·novelty·safety gate</a:t>
            </a:r>
          </a:p>
        </p:txBody>
      </p:sp>
      <p:sp>
        <p:nvSpPr>
          <p:cNvPr id="19" name="STC-08-pad-dann-divider">
            <a:extLst xmlns:a="http://schemas.openxmlformats.org/drawingml/2006/main">
              <a:ext uri="{FF2B5EF4-FFF2-40B4-BE49-F238E27FC236}">
                <a16:creationId xmlns:a16="http://schemas.microsoft.com/office/drawing/2014/main" id="{742D8FAE-A71A-4F45-80F2-7769AB88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27632"/>
            <a:ext cx="0" cy="41696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0" name="STC-08-dann-title">
            <a:extLst xmlns:a="http://schemas.openxmlformats.org/drawingml/2006/main">
              <a:ext uri="{FF2B5EF4-FFF2-40B4-BE49-F238E27FC236}">
                <a16:creationId xmlns:a16="http://schemas.microsoft.com/office/drawing/2014/main" id="{D25E8CA2-B839-4F96-BB76-7EF8CDEC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73736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FILTER</a:t>
            </a:r>
          </a:p>
        </p:txBody>
      </p:sp>
      <p:sp>
        <p:nvSpPr>
          <p:cNvPr id="21" name="STC-08-dann-full">
            <a:extLst xmlns:a="http://schemas.openxmlformats.org/drawingml/2006/main">
              <a:ext uri="{FF2B5EF4-FFF2-40B4-BE49-F238E27FC236}">
                <a16:creationId xmlns:a16="http://schemas.microsoft.com/office/drawing/2014/main" id="{768AEA27-198E-44B7-BDBA-A296DD67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801368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model collapse·reward hacking·hallucinated memory</a:t>
            </a:r>
          </a:p>
        </p:txBody>
      </p:sp>
      <p:sp>
        <p:nvSpPr>
          <p:cNvPr id="22" name="STC-08-dann-rule">
            <a:extLst xmlns:a="http://schemas.openxmlformats.org/drawingml/2006/main">
              <a:ext uri="{FF2B5EF4-FFF2-40B4-BE49-F238E27FC236}">
                <a16:creationId xmlns:a16="http://schemas.microsoft.com/office/drawing/2014/main" id="{8B0B0EBD-BD43-4769-ABE0-8D352EA7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331720"/>
            <a:ext cx="4736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08-dann-list-dot-0">
            <a:extLst xmlns:a="http://schemas.openxmlformats.org/drawingml/2006/main">
              <a:ext uri="{FF2B5EF4-FFF2-40B4-BE49-F238E27FC236}">
                <a16:creationId xmlns:a16="http://schemas.microsoft.com/office/drawing/2014/main" id="{7282E566-6C61-47AB-8B81-E830D3BC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81635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8-dann-list-item-0">
            <a:extLst xmlns:a="http://schemas.openxmlformats.org/drawingml/2006/main">
              <a:ext uri="{FF2B5EF4-FFF2-40B4-BE49-F238E27FC236}">
                <a16:creationId xmlns:a16="http://schemas.microsoft.com/office/drawing/2014/main" id="{E8E36ADC-5F02-4647-AF50-DEA2746C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706624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PERTURB</a:t>
            </a:r>
          </a:p>
        </p:txBody>
      </p:sp>
      <p:sp>
        <p:nvSpPr>
          <p:cNvPr id="25" name="STC-08-dann-list-dot-1">
            <a:extLst xmlns:a="http://schemas.openxmlformats.org/drawingml/2006/main">
              <a:ext uri="{FF2B5EF4-FFF2-40B4-BE49-F238E27FC236}">
                <a16:creationId xmlns:a16="http://schemas.microsoft.com/office/drawing/2014/main" id="{84BE4F13-8468-4B45-87A2-C75EB7C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44728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8-dann-list-item-1">
            <a:extLst xmlns:a="http://schemas.openxmlformats.org/drawingml/2006/main">
              <a:ext uri="{FF2B5EF4-FFF2-40B4-BE49-F238E27FC236}">
                <a16:creationId xmlns:a16="http://schemas.microsoft.com/office/drawing/2014/main" id="{F98600DE-A19E-4E16-ABA8-A00732B1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337560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GENERATE</a:t>
            </a:r>
          </a:p>
        </p:txBody>
      </p:sp>
      <p:sp>
        <p:nvSpPr>
          <p:cNvPr id="27" name="STC-08-dann-list-dot-2">
            <a:extLst xmlns:a="http://schemas.openxmlformats.org/drawingml/2006/main">
              <a:ext uri="{FF2B5EF4-FFF2-40B4-BE49-F238E27FC236}">
                <a16:creationId xmlns:a16="http://schemas.microsoft.com/office/drawing/2014/main" id="{33C21D67-78A5-4FE9-B580-8E0F0CC1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0782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8-dann-list-item-2">
            <a:extLst xmlns:a="http://schemas.openxmlformats.org/drawingml/2006/main">
              <a:ext uri="{FF2B5EF4-FFF2-40B4-BE49-F238E27FC236}">
                <a16:creationId xmlns:a16="http://schemas.microsoft.com/office/drawing/2014/main" id="{72ADA370-A7BF-4E57-9C13-E03213E1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968496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CRITIQUE</a:t>
            </a:r>
          </a:p>
        </p:txBody>
      </p:sp>
      <p:sp>
        <p:nvSpPr>
          <p:cNvPr id="29" name="STC-08-dann-list-dot-3">
            <a:extLst xmlns:a="http://schemas.openxmlformats.org/drawingml/2006/main">
              <a:ext uri="{FF2B5EF4-FFF2-40B4-BE49-F238E27FC236}">
                <a16:creationId xmlns:a16="http://schemas.microsoft.com/office/drawing/2014/main" id="{1061F511-2788-439D-9913-2690CD0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7091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8-dann-list-item-3">
            <a:extLst xmlns:a="http://schemas.openxmlformats.org/drawingml/2006/main">
              <a:ext uri="{FF2B5EF4-FFF2-40B4-BE49-F238E27FC236}">
                <a16:creationId xmlns:a16="http://schemas.microsoft.com/office/drawing/2014/main" id="{BBFFE852-14AD-49E7-9D9E-587FD3E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99432"/>
            <a:ext cx="42153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FILTER</a:t>
            </a:r>
          </a:p>
        </p:txBody>
      </p:sp>
      <p:sp>
        <p:nvSpPr>
          <p:cNvPr id="31" name="STC-08-dann-verdict">
            <a:extLst xmlns:a="http://schemas.openxmlformats.org/drawingml/2006/main">
              <a:ext uri="{FF2B5EF4-FFF2-40B4-BE49-F238E27FC236}">
                <a16:creationId xmlns:a16="http://schemas.microsoft.com/office/drawing/2014/main" id="{FEB9DA27-261C-44DF-AEC7-BDB7232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102352"/>
            <a:ext cx="4407408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2" name="STC-08-dann-verdict-text">
            <a:extLst xmlns:a="http://schemas.openxmlformats.org/drawingml/2006/main">
              <a:ext uri="{FF2B5EF4-FFF2-40B4-BE49-F238E27FC236}">
                <a16:creationId xmlns:a16="http://schemas.microsoft.com/office/drawing/2014/main" id="{D91B2882-1293-4974-8F6C-F1D8ED5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6944"/>
            <a:ext cx="4005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Dream은 truth source가 아니라 검증 전 candidate data다.</a:t>
            </a:r>
          </a:p>
        </p:txBody>
      </p:sp>
    </p:spTree>
    <p:extLst>
      <p:ext uri="{BB962C8B-B14F-4D97-AF65-F5344CB8AC3E}">
        <p14:creationId xmlns:p14="http://schemas.microsoft.com/office/powerpoint/2010/main" val="27557504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2-section">
            <a:extLst xmlns:a="http://schemas.openxmlformats.org/drawingml/2006/main">
              <a:ext uri="{FF2B5EF4-FFF2-40B4-BE49-F238E27FC236}">
                <a16:creationId xmlns:a16="http://schemas.microsoft.com/office/drawing/2014/main" id="{4180C3F7-6A15-4C91-AC40-C6EFAC3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22-slide-id">
            <a:extLst xmlns:a="http://schemas.openxmlformats.org/drawingml/2006/main">
              <a:ext uri="{FF2B5EF4-FFF2-40B4-BE49-F238E27FC236}">
                <a16:creationId xmlns:a16="http://schemas.microsoft.com/office/drawing/2014/main" id="{3804CF65-2A49-4297-AA78-B81BECD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STC-054</a:t>
            </a:r>
          </a:p>
        </p:txBody>
      </p:sp>
      <p:sp>
        <p:nvSpPr>
          <p:cNvPr id="4" name="STC-22-headline">
            <a:extLst xmlns:a="http://schemas.openxmlformats.org/drawingml/2006/main">
              <a:ext uri="{FF2B5EF4-FFF2-40B4-BE49-F238E27FC236}">
                <a16:creationId xmlns:a16="http://schemas.microsoft.com/office/drawing/2014/main" id="{C6C623A0-9133-4826-A8FC-64607D4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Promotion은 utility·retention·harm 세 축을 동시에 통과해야 한다</a:t>
            </a:r>
          </a:p>
        </p:txBody>
      </p:sp>
      <p:sp>
        <p:nvSpPr>
          <p:cNvPr id="5" name="STC-22-status-label">
            <a:extLst xmlns:a="http://schemas.openxmlformats.org/drawingml/2006/main">
              <a:ext uri="{FF2B5EF4-FFF2-40B4-BE49-F238E27FC236}">
                <a16:creationId xmlns:a16="http://schemas.microsoft.com/office/drawing/2014/main" id="{92F9BE62-8C46-4417-BE9C-5FC4092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검증</a:t>
            </a:r>
          </a:p>
        </p:txBody>
      </p:sp>
      <p:sp>
        <p:nvSpPr>
          <p:cNvPr id="6" name="STC-22-status-rule">
            <a:extLst xmlns:a="http://schemas.openxmlformats.org/drawingml/2006/main">
              <a:ext uri="{FF2B5EF4-FFF2-40B4-BE49-F238E27FC236}">
                <a16:creationId xmlns:a16="http://schemas.microsoft.com/office/drawing/2014/main" id="{2396AE1D-4459-4B08-B4DD-3923B63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2-footer-rule">
            <a:extLst xmlns:a="http://schemas.openxmlformats.org/drawingml/2006/main">
              <a:ext uri="{FF2B5EF4-FFF2-40B4-BE49-F238E27FC236}">
                <a16:creationId xmlns:a16="http://schemas.microsoft.com/office/drawing/2014/main" id="{1472DC8A-989B-45B0-A5DE-A3E5DA4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2-source-footer">
            <a:extLst xmlns:a="http://schemas.openxmlformats.org/drawingml/2006/main">
              <a:ext uri="{FF2B5EF4-FFF2-40B4-BE49-F238E27FC236}">
                <a16:creationId xmlns:a16="http://schemas.microsoft.com/office/drawing/2014/main" id="{49A30577-C7E9-4496-A776-32411A5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Benchmark blueprint · STC-F014</a:t>
            </a:r>
          </a:p>
        </p:txBody>
      </p:sp>
      <p:sp>
        <p:nvSpPr>
          <p:cNvPr id="9" name="STC-22-page-number">
            <a:extLst xmlns:a="http://schemas.openxmlformats.org/drawingml/2006/main">
              <a:ext uri="{FF2B5EF4-FFF2-40B4-BE49-F238E27FC236}">
                <a16:creationId xmlns:a16="http://schemas.microsoft.com/office/drawing/2014/main" id="{ADEE1784-A5FA-41A8-B67A-05D8BBDB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54</a:t>
            </a:r>
          </a:p>
        </p:txBody>
      </p:sp>
      <p:sp>
        <p:nvSpPr>
          <p:cNvPr id="11" name="STC-22-bench-297">
            <a:extLst xmlns:a="http://schemas.openxmlformats.org/drawingml/2006/main">
              <a:ext uri="{FF2B5EF4-FFF2-40B4-BE49-F238E27FC236}">
                <a16:creationId xmlns:a16="http://schemas.microsoft.com/office/drawing/2014/main" id="{C6602EC3-F3A6-4416-8E17-A21555A2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73352"/>
            <a:ext cx="18745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+ΔU</a:t>
            </a:r>
          </a:p>
        </p:txBody>
      </p:sp>
      <p:sp>
        <p:nvSpPr>
          <p:cNvPr id="12" name="STC-22-bench-logical">
            <a:extLst xmlns:a="http://schemas.openxmlformats.org/drawingml/2006/main">
              <a:ext uri="{FF2B5EF4-FFF2-40B4-BE49-F238E27FC236}">
                <a16:creationId xmlns:a16="http://schemas.microsoft.com/office/drawing/2014/main" id="{8DA20E08-D255-4B2F-93C4-AD9CCA39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8775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UTILITY</a:t>
            </a:r>
          </a:p>
        </p:txBody>
      </p:sp>
      <p:sp>
        <p:nvSpPr>
          <p:cNvPr id="13" name="STC-22-bench-arrow-1">
            <a:extLst xmlns:a="http://schemas.openxmlformats.org/drawingml/2006/main">
              <a:ext uri="{FF2B5EF4-FFF2-40B4-BE49-F238E27FC236}">
                <a16:creationId xmlns:a16="http://schemas.microsoft.com/office/drawing/2014/main" id="{090B24F6-7D86-4F9D-8B04-FC92B68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210312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22-bench-matrix-0">
            <a:extLst xmlns:a="http://schemas.openxmlformats.org/drawingml/2006/main">
              <a:ext uri="{FF2B5EF4-FFF2-40B4-BE49-F238E27FC236}">
                <a16:creationId xmlns:a16="http://schemas.microsoft.com/office/drawing/2014/main" id="{5B2DD893-8316-4CAB-A1C4-244B051B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627632"/>
            <a:ext cx="354787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5" name="STC-22-bench-matrix-num-0">
            <a:extLst xmlns:a="http://schemas.openxmlformats.org/drawingml/2006/main">
              <a:ext uri="{FF2B5EF4-FFF2-40B4-BE49-F238E27FC236}">
                <a16:creationId xmlns:a16="http://schemas.microsoft.com/office/drawing/2014/main" id="{4291DB3E-D2CA-4231-AF01-98422450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810512"/>
            <a:ext cx="9326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≤ε</a:t>
            </a:r>
          </a:p>
        </p:txBody>
      </p:sp>
      <p:sp>
        <p:nvSpPr>
          <p:cNvPr id="16" name="STC-22-bench-matrix-label-0">
            <a:extLst xmlns:a="http://schemas.openxmlformats.org/drawingml/2006/main">
              <a:ext uri="{FF2B5EF4-FFF2-40B4-BE49-F238E27FC236}">
                <a16:creationId xmlns:a16="http://schemas.microsoft.com/office/drawing/2014/main" id="{CF17F528-0F0F-4BD2-9158-AFD153C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74520"/>
            <a:ext cx="2148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UTILITY</a:t>
            </a:r>
          </a:p>
        </p:txBody>
      </p:sp>
      <p:sp>
        <p:nvSpPr>
          <p:cNvPr id="17" name="STC-22-bench-matrix-formula-0">
            <a:extLst xmlns:a="http://schemas.openxmlformats.org/drawingml/2006/main">
              <a:ext uri="{FF2B5EF4-FFF2-40B4-BE49-F238E27FC236}">
                <a16:creationId xmlns:a16="http://schemas.microsoft.com/office/drawing/2014/main" id="{730A2054-9EC9-4A4A-ABB0-968B976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1720"/>
            <a:ext cx="314553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6 deployable × 3 reuse × 3 pressure × 3 seeds = 162</a:t>
            </a:r>
          </a:p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+ oracle on 27 operating cells</a:t>
            </a:r>
          </a:p>
        </p:txBody>
      </p:sp>
      <p:sp>
        <p:nvSpPr>
          <p:cNvPr id="18" name="STC-22-bench-matrix-1">
            <a:extLst xmlns:a="http://schemas.openxmlformats.org/drawingml/2006/main">
              <a:ext uri="{FF2B5EF4-FFF2-40B4-BE49-F238E27FC236}">
                <a16:creationId xmlns:a16="http://schemas.microsoft.com/office/drawing/2014/main" id="{F8A43887-ABDF-4499-851D-156E88E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627632"/>
            <a:ext cx="354787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9" name="STC-22-bench-matrix-num-1">
            <a:extLst xmlns:a="http://schemas.openxmlformats.org/drawingml/2006/main">
              <a:ext uri="{FF2B5EF4-FFF2-40B4-BE49-F238E27FC236}">
                <a16:creationId xmlns:a16="http://schemas.microsoft.com/office/drawing/2014/main" id="{8254FB44-CB56-423F-A461-E5BAB04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1810512"/>
            <a:ext cx="9326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0</a:t>
            </a:r>
          </a:p>
        </p:txBody>
      </p:sp>
      <p:sp>
        <p:nvSpPr>
          <p:cNvPr id="20" name="STC-22-bench-matrix-label-1">
            <a:extLst xmlns:a="http://schemas.openxmlformats.org/drawingml/2006/main">
              <a:ext uri="{FF2B5EF4-FFF2-40B4-BE49-F238E27FC236}">
                <a16:creationId xmlns:a16="http://schemas.microsoft.com/office/drawing/2014/main" id="{42992EE3-0B0C-4A56-B736-5BE828E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874520"/>
            <a:ext cx="2148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RETENTION</a:t>
            </a:r>
          </a:p>
        </p:txBody>
      </p:sp>
      <p:sp>
        <p:nvSpPr>
          <p:cNvPr id="21" name="STC-22-bench-matrix-formula-1">
            <a:extLst xmlns:a="http://schemas.openxmlformats.org/drawingml/2006/main">
              <a:ext uri="{FF2B5EF4-FFF2-40B4-BE49-F238E27FC236}">
                <a16:creationId xmlns:a16="http://schemas.microsoft.com/office/drawing/2014/main" id="{B6B3CFFE-5D9D-4BC9-95BA-6ADFD9C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31720"/>
            <a:ext cx="314553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2 schedules × 2 operators × 3 reuse</a:t>
            </a:r>
          </a:p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× 3 pressure × 3 seeds</a:t>
            </a:r>
          </a:p>
        </p:txBody>
      </p:sp>
      <p:sp>
        <p:nvSpPr>
          <p:cNvPr id="22" name="STC-22-bench-divider">
            <a:extLst xmlns:a="http://schemas.openxmlformats.org/drawingml/2006/main">
              <a:ext uri="{FF2B5EF4-FFF2-40B4-BE49-F238E27FC236}">
                <a16:creationId xmlns:a16="http://schemas.microsoft.com/office/drawing/2014/main" id="{B53D7724-8EB6-4595-9871-D63BC21B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29584"/>
            <a:ext cx="10378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3" name="STC-22-bench-contract-num-0">
            <a:extLst xmlns:a="http://schemas.openxmlformats.org/drawingml/2006/main">
              <a:ext uri="{FF2B5EF4-FFF2-40B4-BE49-F238E27FC236}">
                <a16:creationId xmlns:a16="http://schemas.microsoft.com/office/drawing/2014/main" id="{667AE726-162D-490B-8CDA-EA136F7A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+ΔU</a:t>
            </a:r>
          </a:p>
        </p:txBody>
      </p:sp>
      <p:sp>
        <p:nvSpPr>
          <p:cNvPr id="24" name="STC-22-bench-contract-body-0">
            <a:extLst xmlns:a="http://schemas.openxmlformats.org/drawingml/2006/main">
              <a:ext uri="{FF2B5EF4-FFF2-40B4-BE49-F238E27FC236}">
                <a16:creationId xmlns:a16="http://schemas.microsoft.com/office/drawing/2014/main" id="{A28454A5-E173-4BDA-B5F6-1FB8797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fixed blocks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16 families × 3 seeds</a:t>
            </a:r>
          </a:p>
        </p:txBody>
      </p:sp>
      <p:sp>
        <p:nvSpPr>
          <p:cNvPr id="25" name="STC-22-bench-contract-num-1">
            <a:extLst xmlns:a="http://schemas.openxmlformats.org/drawingml/2006/main">
              <a:ext uri="{FF2B5EF4-FFF2-40B4-BE49-F238E27FC236}">
                <a16:creationId xmlns:a16="http://schemas.microsoft.com/office/drawing/2014/main" id="{B198C229-D1BA-4293-9989-58293C7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≤ budget</a:t>
            </a:r>
          </a:p>
        </p:txBody>
      </p:sp>
      <p:sp>
        <p:nvSpPr>
          <p:cNvPr id="26" name="STC-22-bench-contract-body-1">
            <a:extLst xmlns:a="http://schemas.openxmlformats.org/drawingml/2006/main">
              <a:ext uri="{FF2B5EF4-FFF2-40B4-BE49-F238E27FC236}">
                <a16:creationId xmlns:a16="http://schemas.microsoft.com/office/drawing/2014/main" id="{E4E1D573-6364-4D77-971F-CE6956AE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global rows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104 continuous + 27 RF</a:t>
            </a:r>
          </a:p>
        </p:txBody>
      </p:sp>
      <p:sp>
        <p:nvSpPr>
          <p:cNvPr id="27" name="STC-22-bench-contract-num-2">
            <a:extLst xmlns:a="http://schemas.openxmlformats.org/drawingml/2006/main">
              <a:ext uri="{FF2B5EF4-FFF2-40B4-BE49-F238E27FC236}">
                <a16:creationId xmlns:a16="http://schemas.microsoft.com/office/drawing/2014/main" id="{507068AE-9B0D-4DB4-ACB9-4F81615E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0 critical</a:t>
            </a:r>
          </a:p>
        </p:txBody>
      </p:sp>
      <p:sp>
        <p:nvSpPr>
          <p:cNvPr id="28" name="STC-22-bench-contract-body-2">
            <a:extLst xmlns:a="http://schemas.openxmlformats.org/drawingml/2006/main">
              <a:ext uri="{FF2B5EF4-FFF2-40B4-BE49-F238E27FC236}">
                <a16:creationId xmlns:a16="http://schemas.microsoft.com/office/drawing/2014/main" id="{926A2AFF-8F8C-42EC-A85F-DBF2AF1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blocked paired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bootstrap</a:t>
            </a:r>
          </a:p>
        </p:txBody>
      </p:sp>
      <p:sp>
        <p:nvSpPr>
          <p:cNvPr id="29" name="STC-22-bench-contract-num-3">
            <a:extLst xmlns:a="http://schemas.openxmlformats.org/drawingml/2006/main">
              <a:ext uri="{FF2B5EF4-FFF2-40B4-BE49-F238E27FC236}">
                <a16:creationId xmlns:a16="http://schemas.microsoft.com/office/drawing/2014/main" id="{2F60808A-E3BB-41F8-BE26-1EA47FA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reported</a:t>
            </a:r>
          </a:p>
        </p:txBody>
      </p:sp>
      <p:sp>
        <p:nvSpPr>
          <p:cNvPr id="30" name="STC-22-bench-contract-body-3">
            <a:extLst xmlns:a="http://schemas.openxmlformats.org/drawingml/2006/main">
              <a:ext uri="{FF2B5EF4-FFF2-40B4-BE49-F238E27FC236}">
                <a16:creationId xmlns:a16="http://schemas.microsoft.com/office/drawing/2014/main" id="{D829B34A-0180-4173-A0AD-83E4FFF6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joule·HBM byte·wall time·storage</a:t>
            </a:r>
          </a:p>
        </p:txBody>
      </p:sp>
      <p:sp>
        <p:nvSpPr>
          <p:cNvPr id="31" name="STC-22-bench-status">
            <a:extLst xmlns:a="http://schemas.openxmlformats.org/drawingml/2006/main">
              <a:ext uri="{FF2B5EF4-FFF2-40B4-BE49-F238E27FC236}">
                <a16:creationId xmlns:a16="http://schemas.microsoft.com/office/drawing/2014/main" id="{7ADBCEA5-EC84-4F10-AFAF-6D6CC751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04011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2" name="STC-22-bench-status-text">
            <a:extLst xmlns:a="http://schemas.openxmlformats.org/drawingml/2006/main">
              <a:ext uri="{FF2B5EF4-FFF2-40B4-BE49-F238E27FC236}">
                <a16:creationId xmlns:a16="http://schemas.microsoft.com/office/drawing/2014/main" id="{9A1A47B0-A494-4D74-8CAD-87501998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1536"/>
            <a:ext cx="9582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+ΔU</a:t>
            </a:r>
          </a:p>
        </p:txBody>
      </p:sp>
    </p:spTree>
    <p:extLst>
      <p:ext uri="{BB962C8B-B14F-4D97-AF65-F5344CB8AC3E}">
        <p14:creationId xmlns:p14="http://schemas.microsoft.com/office/powerpoint/2010/main" val="77444618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1-section">
            <a:extLst xmlns:a="http://schemas.openxmlformats.org/drawingml/2006/main">
              <a:ext uri="{FF2B5EF4-FFF2-40B4-BE49-F238E27FC236}">
                <a16:creationId xmlns:a16="http://schemas.microsoft.com/office/drawing/2014/main" id="{90E97B39-DAC0-4850-BB0B-BFE3E52D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21-slide-id">
            <a:extLst xmlns:a="http://schemas.openxmlformats.org/drawingml/2006/main">
              <a:ext uri="{FF2B5EF4-FFF2-40B4-BE49-F238E27FC236}">
                <a16:creationId xmlns:a16="http://schemas.microsoft.com/office/drawing/2014/main" id="{FF931CE1-B17C-473E-92DF-2B13729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STC-055</a:t>
            </a:r>
          </a:p>
        </p:txBody>
      </p:sp>
      <p:sp>
        <p:nvSpPr>
          <p:cNvPr id="4" name="STC-21-headline">
            <a:extLst xmlns:a="http://schemas.openxmlformats.org/drawingml/2006/main">
              <a:ext uri="{FF2B5EF4-FFF2-40B4-BE49-F238E27FC236}">
                <a16:creationId xmlns:a16="http://schemas.microsoft.com/office/drawing/2014/main" id="{0C1DB336-C32F-4510-840D-F48DDE1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Publish는 파일 복사가 아니라 state transaction이다</a:t>
            </a:r>
          </a:p>
        </p:txBody>
      </p:sp>
      <p:sp>
        <p:nvSpPr>
          <p:cNvPr id="5" name="STC-21-status-label">
            <a:extLst xmlns:a="http://schemas.openxmlformats.org/drawingml/2006/main">
              <a:ext uri="{FF2B5EF4-FFF2-40B4-BE49-F238E27FC236}">
                <a16:creationId xmlns:a16="http://schemas.microsoft.com/office/drawing/2014/main" id="{A73D9096-2749-414C-848B-94BA6DFA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시스템</a:t>
            </a:r>
          </a:p>
        </p:txBody>
      </p:sp>
      <p:sp>
        <p:nvSpPr>
          <p:cNvPr id="6" name="STC-21-status-rule">
            <a:extLst xmlns:a="http://schemas.openxmlformats.org/drawingml/2006/main">
              <a:ext uri="{FF2B5EF4-FFF2-40B4-BE49-F238E27FC236}">
                <a16:creationId xmlns:a16="http://schemas.microsoft.com/office/drawing/2014/main" id="{133FC5DA-3340-4946-BB90-2D1043F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1-footer-rule">
            <a:extLst xmlns:a="http://schemas.openxmlformats.org/drawingml/2006/main">
              <a:ext uri="{FF2B5EF4-FFF2-40B4-BE49-F238E27FC236}">
                <a16:creationId xmlns:a16="http://schemas.microsoft.com/office/drawing/2014/main" id="{610CEEEE-65A9-444D-926F-D80BD56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1-source-footer">
            <a:extLst xmlns:a="http://schemas.openxmlformats.org/drawingml/2006/main">
              <a:ext uri="{FF2B5EF4-FFF2-40B4-BE49-F238E27FC236}">
                <a16:creationId xmlns:a16="http://schemas.microsoft.com/office/drawing/2014/main" id="{8D120CC9-2B61-41B3-8138-E0CB1FD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STC-F011 · lifecycle transaction</a:t>
            </a:r>
          </a:p>
        </p:txBody>
      </p:sp>
      <p:sp>
        <p:nvSpPr>
          <p:cNvPr id="9" name="STC-21-page-number">
            <a:extLst xmlns:a="http://schemas.openxmlformats.org/drawingml/2006/main">
              <a:ext uri="{FF2B5EF4-FFF2-40B4-BE49-F238E27FC236}">
                <a16:creationId xmlns:a16="http://schemas.microsoft.com/office/drawing/2014/main" id="{AF8992C2-5791-4A15-A412-8EAC353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55</a:t>
            </a:r>
          </a:p>
        </p:txBody>
      </p:sp>
      <p:sp>
        <p:nvSpPr>
          <p:cNvPr id="11" name="STC-21-tx-tag-0">
            <a:extLst xmlns:a="http://schemas.openxmlformats.org/drawingml/2006/main">
              <a:ext uri="{FF2B5EF4-FFF2-40B4-BE49-F238E27FC236}">
                <a16:creationId xmlns:a16="http://schemas.microsoft.com/office/drawing/2014/main" id="{C2C86C66-2A45-4FCE-9DFE-3011537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PREPARE</a:t>
            </a:r>
          </a:p>
        </p:txBody>
      </p:sp>
      <p:sp>
        <p:nvSpPr>
          <p:cNvPr id="12" name="STC-21-tx-node-0">
            <a:extLst xmlns:a="http://schemas.openxmlformats.org/drawingml/2006/main">
              <a:ext uri="{FF2B5EF4-FFF2-40B4-BE49-F238E27FC236}">
                <a16:creationId xmlns:a16="http://schemas.microsoft.com/office/drawing/2014/main" id="{7DE25767-490F-4538-9058-75FB020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21-tx-body-0">
            <a:extLst xmlns:a="http://schemas.openxmlformats.org/drawingml/2006/main">
              <a:ext uri="{FF2B5EF4-FFF2-40B4-BE49-F238E27FC236}">
                <a16:creationId xmlns:a16="http://schemas.microsoft.com/office/drawing/2014/main" id="{EEB40A69-21BD-4FCF-975C-7CF195FC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AUTHZ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HEAD</a:t>
            </a:r>
          </a:p>
        </p:txBody>
      </p:sp>
      <p:sp>
        <p:nvSpPr>
          <p:cNvPr id="14" name="STC-21-tx-arrow-0">
            <a:extLst xmlns:a="http://schemas.openxmlformats.org/drawingml/2006/main">
              <a:ext uri="{FF2B5EF4-FFF2-40B4-BE49-F238E27FC236}">
                <a16:creationId xmlns:a16="http://schemas.microsoft.com/office/drawing/2014/main" id="{366CE66D-37A5-4DE4-857B-F0BCFBB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1-tx-tag-1">
            <a:extLst xmlns:a="http://schemas.openxmlformats.org/drawingml/2006/main">
              <a:ext uri="{FF2B5EF4-FFF2-40B4-BE49-F238E27FC236}">
                <a16:creationId xmlns:a16="http://schemas.microsoft.com/office/drawing/2014/main" id="{8ED2FA8D-7673-43AE-950C-4DA5600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VALIDATE</a:t>
            </a:r>
          </a:p>
        </p:txBody>
      </p:sp>
      <p:sp>
        <p:nvSpPr>
          <p:cNvPr id="16" name="STC-21-tx-node-1">
            <a:extLst xmlns:a="http://schemas.openxmlformats.org/drawingml/2006/main">
              <a:ext uri="{FF2B5EF4-FFF2-40B4-BE49-F238E27FC236}">
                <a16:creationId xmlns:a16="http://schemas.microsoft.com/office/drawing/2014/main" id="{352FF0AC-DBB7-4E4C-B4E3-6E26B90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7" name="STC-21-tx-body-1">
            <a:extLst xmlns:a="http://schemas.openxmlformats.org/drawingml/2006/main">
              <a:ext uri="{FF2B5EF4-FFF2-40B4-BE49-F238E27FC236}">
                <a16:creationId xmlns:a16="http://schemas.microsoft.com/office/drawing/2014/main" id="{926F1628-7E3D-4A2B-B774-7DFCBC6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immutable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 snapshot</a:t>
            </a:r>
          </a:p>
        </p:txBody>
      </p:sp>
      <p:sp>
        <p:nvSpPr>
          <p:cNvPr id="18" name="STC-21-tx-arrow-1">
            <a:extLst xmlns:a="http://schemas.openxmlformats.org/drawingml/2006/main">
              <a:ext uri="{FF2B5EF4-FFF2-40B4-BE49-F238E27FC236}">
                <a16:creationId xmlns:a16="http://schemas.microsoft.com/office/drawing/2014/main" id="{A93C3B56-4003-45B0-8369-28562FBB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1-tx-tag-2">
            <a:extLst xmlns:a="http://schemas.openxmlformats.org/drawingml/2006/main">
              <a:ext uri="{FF2B5EF4-FFF2-40B4-BE49-F238E27FC236}">
                <a16:creationId xmlns:a16="http://schemas.microsoft.com/office/drawing/2014/main" id="{B1031615-D103-4D97-8BF8-6ADBF42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COMMIT</a:t>
            </a:r>
          </a:p>
        </p:txBody>
      </p:sp>
      <p:sp>
        <p:nvSpPr>
          <p:cNvPr id="20" name="STC-21-tx-node-2">
            <a:extLst xmlns:a="http://schemas.openxmlformats.org/drawingml/2006/main">
              <a:ext uri="{FF2B5EF4-FFF2-40B4-BE49-F238E27FC236}">
                <a16:creationId xmlns:a16="http://schemas.microsoft.com/office/drawing/2014/main" id="{6B4CF136-1B67-48E4-BE19-B33D1F4D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21-tx-body-2">
            <a:extLst xmlns:a="http://schemas.openxmlformats.org/drawingml/2006/main">
              <a:ext uri="{FF2B5EF4-FFF2-40B4-BE49-F238E27FC236}">
                <a16:creationId xmlns:a16="http://schemas.microsoft.com/office/drawing/2014/main" id="{96E338C5-408D-4F1A-BB08-A642A2AC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multi-store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candidate</a:t>
            </a:r>
          </a:p>
        </p:txBody>
      </p:sp>
      <p:sp>
        <p:nvSpPr>
          <p:cNvPr id="22" name="STC-21-tx-arrow-2">
            <a:extLst xmlns:a="http://schemas.openxmlformats.org/drawingml/2006/main">
              <a:ext uri="{FF2B5EF4-FFF2-40B4-BE49-F238E27FC236}">
                <a16:creationId xmlns:a16="http://schemas.microsoft.com/office/drawing/2014/main" id="{FD3EFB9F-ACD4-43E3-B0B5-BC321B0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21-tx-tag-3">
            <a:extLst xmlns:a="http://schemas.openxmlformats.org/drawingml/2006/main">
              <a:ext uri="{FF2B5EF4-FFF2-40B4-BE49-F238E27FC236}">
                <a16:creationId xmlns:a16="http://schemas.microsoft.com/office/drawing/2014/main" id="{5D5E7B03-798E-4137-8F01-7B80830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OBSERVE</a:t>
            </a:r>
          </a:p>
        </p:txBody>
      </p:sp>
      <p:sp>
        <p:nvSpPr>
          <p:cNvPr id="24" name="STC-21-tx-node-3">
            <a:extLst xmlns:a="http://schemas.openxmlformats.org/drawingml/2006/main">
              <a:ext uri="{FF2B5EF4-FFF2-40B4-BE49-F238E27FC236}">
                <a16:creationId xmlns:a16="http://schemas.microsoft.com/office/drawing/2014/main" id="{45B2127A-0C43-4C8B-88A5-13BA11F1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5" name="STC-21-tx-body-3">
            <a:extLst xmlns:a="http://schemas.openxmlformats.org/drawingml/2006/main">
              <a:ext uri="{FF2B5EF4-FFF2-40B4-BE49-F238E27FC236}">
                <a16:creationId xmlns:a16="http://schemas.microsoft.com/office/drawing/2014/main" id="{0C97996C-F519-4B23-9480-42C6217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utility · harm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provenance</a:t>
            </a:r>
          </a:p>
        </p:txBody>
      </p:sp>
      <p:sp>
        <p:nvSpPr>
          <p:cNvPr id="26" name="STC-21-tx-arrow-3">
            <a:extLst xmlns:a="http://schemas.openxmlformats.org/drawingml/2006/main">
              <a:ext uri="{FF2B5EF4-FFF2-40B4-BE49-F238E27FC236}">
                <a16:creationId xmlns:a16="http://schemas.microsoft.com/office/drawing/2014/main" id="{EEA47463-C486-4109-89F9-46735F19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1-tx-tag-4">
            <a:extLst xmlns:a="http://schemas.openxmlformats.org/drawingml/2006/main">
              <a:ext uri="{FF2B5EF4-FFF2-40B4-BE49-F238E27FC236}">
                <a16:creationId xmlns:a16="http://schemas.microsoft.com/office/drawing/2014/main" id="{CD9F663F-76CE-479E-A83A-ACAA427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ROLLBACK</a:t>
            </a:r>
          </a:p>
        </p:txBody>
      </p:sp>
      <p:sp>
        <p:nvSpPr>
          <p:cNvPr id="28" name="STC-21-tx-node-4">
            <a:extLst xmlns:a="http://schemas.openxmlformats.org/drawingml/2006/main">
              <a:ext uri="{FF2B5EF4-FFF2-40B4-BE49-F238E27FC236}">
                <a16:creationId xmlns:a16="http://schemas.microsoft.com/office/drawing/2014/main" id="{BA0E6807-DA92-4243-B842-C0358E97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9" name="STC-21-tx-body-4">
            <a:extLst xmlns:a="http://schemas.openxmlformats.org/drawingml/2006/main">
              <a:ext uri="{FF2B5EF4-FFF2-40B4-BE49-F238E27FC236}">
                <a16:creationId xmlns:a16="http://schemas.microsoft.com/office/drawing/2014/main" id="{FB3E6FE0-24EC-4695-BCC6-98244FF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ATOMIC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MANIFEST</a:t>
            </a:r>
          </a:p>
        </p:txBody>
      </p:sp>
      <p:sp>
        <p:nvSpPr>
          <p:cNvPr id="30" name="STC-21-tx-reject">
            <a:extLst xmlns:a="http://schemas.openxmlformats.org/drawingml/2006/main">
              <a:ext uri="{FF2B5EF4-FFF2-40B4-BE49-F238E27FC236}">
                <a16:creationId xmlns:a16="http://schemas.microsoft.com/office/drawing/2014/main" id="{B5C03707-03CB-4F77-9F19-5E3ABF9A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74920" y="3264408"/>
            <a:ext cx="3108960" cy="11247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1" name="STC-21-tx-reject-label">
            <a:extLst xmlns:a="http://schemas.openxmlformats.org/drawingml/2006/main">
              <a:ext uri="{FF2B5EF4-FFF2-40B4-BE49-F238E27FC236}">
                <a16:creationId xmlns:a16="http://schemas.microsoft.com/office/drawing/2014/main" id="{BE73F384-17EC-4EF0-8678-D136DA0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4805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PREPARE</a:t>
            </a:r>
          </a:p>
        </p:txBody>
      </p:sp>
      <p:sp>
        <p:nvSpPr>
          <p:cNvPr id="32" name="STC-21-tx-invariants">
            <a:extLst xmlns:a="http://schemas.openxmlformats.org/drawingml/2006/main">
              <a:ext uri="{FF2B5EF4-FFF2-40B4-BE49-F238E27FC236}">
                <a16:creationId xmlns:a16="http://schemas.microsoft.com/office/drawing/2014/main" id="{8A62E1A8-5074-460D-A8E2-4F922609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919472"/>
            <a:ext cx="93726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3" name="STC-21-tx-invariants-text">
            <a:extLst xmlns:a="http://schemas.openxmlformats.org/drawingml/2006/main">
              <a:ext uri="{FF2B5EF4-FFF2-40B4-BE49-F238E27FC236}">
                <a16:creationId xmlns:a16="http://schemas.microsoft.com/office/drawing/2014/main" id="{B51AC285-C1AF-475D-B541-60CED42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148072"/>
            <a:ext cx="87965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Mutable memory는 model binary와 같은 release discipline이 필요하다.</a:t>
            </a:r>
          </a:p>
        </p:txBody>
      </p:sp>
      <p:sp>
        <p:nvSpPr>
          <p:cNvPr id="34" name="STC-21-tx-bottom">
            <a:extLst xmlns:a="http://schemas.openxmlformats.org/drawingml/2006/main">
              <a:ext uri="{FF2B5EF4-FFF2-40B4-BE49-F238E27FC236}">
                <a16:creationId xmlns:a16="http://schemas.microsoft.com/office/drawing/2014/main" id="{05F58A2D-3F9F-479D-8BDF-D6AE1D5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88152"/>
            <a:ext cx="8549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Mutable memory는 model binary와 같은 release discipline이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87513437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6-section">
            <a:extLst xmlns:a="http://schemas.openxmlformats.org/drawingml/2006/main">
              <a:ext uri="{FF2B5EF4-FFF2-40B4-BE49-F238E27FC236}">
                <a16:creationId xmlns:a16="http://schemas.microsoft.com/office/drawing/2014/main" id="{A4B735FE-DF76-49D0-947E-D484E8D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06-slide-id">
            <a:extLst xmlns:a="http://schemas.openxmlformats.org/drawingml/2006/main">
              <a:ext uri="{FF2B5EF4-FFF2-40B4-BE49-F238E27FC236}">
                <a16:creationId xmlns:a16="http://schemas.microsoft.com/office/drawing/2014/main" id="{CD4DCA6F-87B9-40D7-A181-4D03F6E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STC-056</a:t>
            </a:r>
          </a:p>
        </p:txBody>
      </p:sp>
      <p:sp>
        <p:nvSpPr>
          <p:cNvPr id="4" name="STC-06-headline">
            <a:extLst xmlns:a="http://schemas.openxmlformats.org/drawingml/2006/main">
              <a:ext uri="{FF2B5EF4-FFF2-40B4-BE49-F238E27FC236}">
                <a16:creationId xmlns:a16="http://schemas.microsoft.com/office/drawing/2014/main" id="{9DD72DFE-39A8-4839-A97A-56F63DF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 destination은 update 반경으로 구분한다</a:t>
            </a:r>
          </a:p>
        </p:txBody>
      </p:sp>
      <p:sp>
        <p:nvSpPr>
          <p:cNvPr id="5" name="STC-06-status-label">
            <a:extLst xmlns:a="http://schemas.openxmlformats.org/drawingml/2006/main">
              <a:ext uri="{FF2B5EF4-FFF2-40B4-BE49-F238E27FC236}">
                <a16:creationId xmlns:a16="http://schemas.microsoft.com/office/drawing/2014/main" id="{06DA1055-BF45-4F84-B55B-B645ABD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06-status-rule">
            <a:extLst xmlns:a="http://schemas.openxmlformats.org/drawingml/2006/main">
              <a:ext uri="{FF2B5EF4-FFF2-40B4-BE49-F238E27FC236}">
                <a16:creationId xmlns:a16="http://schemas.microsoft.com/office/drawing/2014/main" id="{8775D502-9A70-47CF-8196-10A02E6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6-footer-rule">
            <a:extLst xmlns:a="http://schemas.openxmlformats.org/drawingml/2006/main">
              <a:ext uri="{FF2B5EF4-FFF2-40B4-BE49-F238E27FC236}">
                <a16:creationId xmlns:a16="http://schemas.microsoft.com/office/drawing/2014/main" id="{5CC30C30-5F05-467A-9995-DBB632C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6-source-footer">
            <a:extLst xmlns:a="http://schemas.openxmlformats.org/drawingml/2006/main">
              <a:ext uri="{FF2B5EF4-FFF2-40B4-BE49-F238E27FC236}">
                <a16:creationId xmlns:a16="http://schemas.microsoft.com/office/drawing/2014/main" id="{53E02F2E-A992-49A2-A84D-9C79516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Adapter-to-shared-weight promotion ladder</a:t>
            </a:r>
          </a:p>
        </p:txBody>
      </p:sp>
      <p:sp>
        <p:nvSpPr>
          <p:cNvPr id="9" name="STC-06-page-number">
            <a:extLst xmlns:a="http://schemas.openxmlformats.org/drawingml/2006/main">
              <a:ext uri="{FF2B5EF4-FFF2-40B4-BE49-F238E27FC236}">
                <a16:creationId xmlns:a16="http://schemas.microsoft.com/office/drawing/2014/main" id="{514AF207-6A8F-4EA0-82CB-8A93AF2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56</a:t>
            </a:r>
          </a:p>
        </p:txBody>
      </p:sp>
      <p:sp>
        <p:nvSpPr>
          <p:cNvPr id="11" name="STC-06-bio-left-fill">
            <a:extLst xmlns:a="http://schemas.openxmlformats.org/drawingml/2006/main">
              <a:ext uri="{FF2B5EF4-FFF2-40B4-BE49-F238E27FC236}">
                <a16:creationId xmlns:a16="http://schemas.microsoft.com/office/drawing/2014/main" id="{2A7F7E40-3A07-46DA-A4BE-2190540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06-bio-left-text">
            <a:extLst xmlns:a="http://schemas.openxmlformats.org/drawingml/2006/main">
              <a:ext uri="{FF2B5EF4-FFF2-40B4-BE49-F238E27FC236}">
                <a16:creationId xmlns:a16="http://schemas.microsoft.com/office/drawing/2014/main" id="{FE9CF1DC-CD34-4A40-BC65-BBF5B48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FAST STATE</a:t>
            </a:r>
          </a:p>
        </p:txBody>
      </p:sp>
      <p:sp>
        <p:nvSpPr>
          <p:cNvPr id="13" name="STC-06-bio-right-fill">
            <a:extLst xmlns:a="http://schemas.openxmlformats.org/drawingml/2006/main">
              <a:ext uri="{FF2B5EF4-FFF2-40B4-BE49-F238E27FC236}">
                <a16:creationId xmlns:a16="http://schemas.microsoft.com/office/drawing/2014/main" id="{DF8DD8DF-8E62-40AC-A5EE-9590FB4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627632"/>
            <a:ext cx="4892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4" name="STC-06-bio-right-text">
            <a:extLst xmlns:a="http://schemas.openxmlformats.org/drawingml/2006/main">
              <a:ext uri="{FF2B5EF4-FFF2-40B4-BE49-F238E27FC236}">
                <a16:creationId xmlns:a16="http://schemas.microsoft.com/office/drawing/2014/main" id="{CBDD6DFD-AB19-4CD6-8E2E-10FF984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00784"/>
            <a:ext cx="46725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USER ADAPTER</a:t>
            </a:r>
          </a:p>
        </p:txBody>
      </p:sp>
      <p:sp>
        <p:nvSpPr>
          <p:cNvPr id="15" name="STC-06-bio-evidence-dot-0">
            <a:extLst xmlns:a="http://schemas.openxmlformats.org/drawingml/2006/main">
              <a:ext uri="{FF2B5EF4-FFF2-40B4-BE49-F238E27FC236}">
                <a16:creationId xmlns:a16="http://schemas.microsoft.com/office/drawing/2014/main" id="{53A4A694-6C62-4744-9EB8-215930F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06-bio-evidence-item-0">
            <a:extLst xmlns:a="http://schemas.openxmlformats.org/drawingml/2006/main">
              <a:ext uri="{FF2B5EF4-FFF2-40B4-BE49-F238E27FC236}">
                <a16:creationId xmlns:a16="http://schemas.microsoft.com/office/drawing/2014/main" id="{B27B9F97-BA89-4F4C-8508-55265DB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한 sequence·session 안에서만 유효</a:t>
            </a:r>
          </a:p>
        </p:txBody>
      </p:sp>
      <p:sp>
        <p:nvSpPr>
          <p:cNvPr id="17" name="STC-06-bio-evidence-dot-1">
            <a:extLst xmlns:a="http://schemas.openxmlformats.org/drawingml/2006/main">
              <a:ext uri="{FF2B5EF4-FFF2-40B4-BE49-F238E27FC236}">
                <a16:creationId xmlns:a16="http://schemas.microsoft.com/office/drawing/2014/main" id="{89E191D0-04CC-4F8E-9DEC-D875117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06-bio-evidence-item-1">
            <a:extLst xmlns:a="http://schemas.openxmlformats.org/drawingml/2006/main">
              <a:ext uri="{FF2B5EF4-FFF2-40B4-BE49-F238E27FC236}">
                <a16:creationId xmlns:a16="http://schemas.microsoft.com/office/drawing/2014/main" id="{5C1F736A-EB12-4BD9-9940-B452BDE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개인 scope와 명시적 version</a:t>
            </a:r>
          </a:p>
        </p:txBody>
      </p:sp>
      <p:sp>
        <p:nvSpPr>
          <p:cNvPr id="19" name="STC-06-bio-evidence-dot-2">
            <a:extLst xmlns:a="http://schemas.openxmlformats.org/drawingml/2006/main">
              <a:ext uri="{FF2B5EF4-FFF2-40B4-BE49-F238E27FC236}">
                <a16:creationId xmlns:a16="http://schemas.microsoft.com/office/drawing/2014/main" id="{0DBE0EE7-6412-422A-A9F1-DEC4179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0" name="STC-06-bio-evidence-item-2">
            <a:extLst xmlns:a="http://schemas.openxmlformats.org/drawingml/2006/main">
              <a:ext uri="{FF2B5EF4-FFF2-40B4-BE49-F238E27FC236}">
                <a16:creationId xmlns:a16="http://schemas.microsoft.com/office/drawing/2014/main" id="{86512795-66D6-4004-8057-A2E9A8B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많은 사용자에서 검증된 reusable delta</a:t>
            </a:r>
          </a:p>
        </p:txBody>
      </p:sp>
      <p:sp>
        <p:nvSpPr>
          <p:cNvPr id="21" name="STC-06-bio-evidence-dot-3">
            <a:extLst xmlns:a="http://schemas.openxmlformats.org/drawingml/2006/main">
              <a:ext uri="{FF2B5EF4-FFF2-40B4-BE49-F238E27FC236}">
                <a16:creationId xmlns:a16="http://schemas.microsoft.com/office/drawing/2014/main" id="{944876B1-6C90-46ED-806D-ECD71BE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2" name="STC-06-bio-evidence-item-3">
            <a:extLst xmlns:a="http://schemas.openxmlformats.org/drawingml/2006/main">
              <a:ext uri="{FF2B5EF4-FFF2-40B4-BE49-F238E27FC236}">
                <a16:creationId xmlns:a16="http://schemas.microsoft.com/office/drawing/2014/main" id="{3F6B31E1-BB59-4802-9A8F-1426976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넓은 blast radius의 마지막 승격</a:t>
            </a:r>
          </a:p>
        </p:txBody>
      </p:sp>
      <p:sp>
        <p:nvSpPr>
          <p:cNvPr id="23" name="STC-06-bio-nonclaim-dot-0">
            <a:extLst xmlns:a="http://schemas.openxmlformats.org/drawingml/2006/main">
              <a:ext uri="{FF2B5EF4-FFF2-40B4-BE49-F238E27FC236}">
                <a16:creationId xmlns:a16="http://schemas.microsoft.com/office/drawing/2014/main" id="{C97E3534-1958-4CC2-BA51-27F3DF7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3774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06-bio-nonclaim-item-0">
            <a:extLst xmlns:a="http://schemas.openxmlformats.org/drawingml/2006/main">
              <a:ext uri="{FF2B5EF4-FFF2-40B4-BE49-F238E27FC236}">
                <a16:creationId xmlns:a16="http://schemas.microsoft.com/office/drawing/2014/main" id="{5DFD87CB-136B-4C75-882B-BD30BEA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267712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한 sequence·session 안에서만 유효</a:t>
            </a:r>
          </a:p>
        </p:txBody>
      </p:sp>
      <p:sp>
        <p:nvSpPr>
          <p:cNvPr id="25" name="STC-06-bio-nonclaim-dot-1">
            <a:extLst xmlns:a="http://schemas.openxmlformats.org/drawingml/2006/main">
              <a:ext uri="{FF2B5EF4-FFF2-40B4-BE49-F238E27FC236}">
                <a16:creationId xmlns:a16="http://schemas.microsoft.com/office/drawing/2014/main" id="{C736A87E-538E-4499-B03D-5D486B7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0906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06-bio-nonclaim-item-1">
            <a:extLst xmlns:a="http://schemas.openxmlformats.org/drawingml/2006/main">
              <a:ext uri="{FF2B5EF4-FFF2-40B4-BE49-F238E27FC236}">
                <a16:creationId xmlns:a16="http://schemas.microsoft.com/office/drawing/2014/main" id="{812A62B2-5CCE-4E38-943B-22C3F2E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980944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개인 scope와 명시적 version</a:t>
            </a:r>
          </a:p>
        </p:txBody>
      </p:sp>
      <p:sp>
        <p:nvSpPr>
          <p:cNvPr id="27" name="STC-06-bio-nonclaim-dot-2">
            <a:extLst xmlns:a="http://schemas.openxmlformats.org/drawingml/2006/main">
              <a:ext uri="{FF2B5EF4-FFF2-40B4-BE49-F238E27FC236}">
                <a16:creationId xmlns:a16="http://schemas.microsoft.com/office/drawing/2014/main" id="{894A5D0E-6427-4429-BB60-8FBB970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039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06-bio-nonclaim-item-2">
            <a:extLst xmlns:a="http://schemas.openxmlformats.org/drawingml/2006/main">
              <a:ext uri="{FF2B5EF4-FFF2-40B4-BE49-F238E27FC236}">
                <a16:creationId xmlns:a16="http://schemas.microsoft.com/office/drawing/2014/main" id="{F2B5C7BB-D16F-4578-891A-7F1755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694176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많은 사용자에서 검증된 reusable delta</a:t>
            </a:r>
          </a:p>
        </p:txBody>
      </p:sp>
      <p:sp>
        <p:nvSpPr>
          <p:cNvPr id="29" name="STC-06-bio-nonclaim-dot-3">
            <a:extLst xmlns:a="http://schemas.openxmlformats.org/drawingml/2006/main">
              <a:ext uri="{FF2B5EF4-FFF2-40B4-BE49-F238E27FC236}">
                <a16:creationId xmlns:a16="http://schemas.microsoft.com/office/drawing/2014/main" id="{BA55F7BB-2727-4765-99EE-99BB0B4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5171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0" name="STC-06-bio-nonclaim-item-3">
            <a:extLst xmlns:a="http://schemas.openxmlformats.org/drawingml/2006/main">
              <a:ext uri="{FF2B5EF4-FFF2-40B4-BE49-F238E27FC236}">
                <a16:creationId xmlns:a16="http://schemas.microsoft.com/office/drawing/2014/main" id="{B22C231B-50D5-443C-B5A5-B875274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407408"/>
            <a:ext cx="43891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넓은 blast radius의 마지막 승격</a:t>
            </a:r>
          </a:p>
        </p:txBody>
      </p:sp>
      <p:sp>
        <p:nvSpPr>
          <p:cNvPr id="31" name="STC-06-bio-divider">
            <a:extLst xmlns:a="http://schemas.openxmlformats.org/drawingml/2006/main">
              <a:ext uri="{FF2B5EF4-FFF2-40B4-BE49-F238E27FC236}">
                <a16:creationId xmlns:a16="http://schemas.microsoft.com/office/drawing/2014/main" id="{2FC2CC98-5AAE-4B2D-85D9-0DEC2281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82496"/>
            <a:ext cx="0" cy="4133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2" name="STC-06-bio-rule-label">
            <a:extLst xmlns:a="http://schemas.openxmlformats.org/drawingml/2006/main">
              <a:ext uri="{FF2B5EF4-FFF2-40B4-BE49-F238E27FC236}">
                <a16:creationId xmlns:a16="http://schemas.microsoft.com/office/drawing/2014/main" id="{42F59A1A-CF1F-4DBD-886E-C552A26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440680"/>
            <a:ext cx="3127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DOMAIN MODULE</a:t>
            </a:r>
          </a:p>
        </p:txBody>
      </p:sp>
      <p:sp>
        <p:nvSpPr>
          <p:cNvPr id="33" name="STC-06-bio-rule">
            <a:extLst xmlns:a="http://schemas.openxmlformats.org/drawingml/2006/main">
              <a:ext uri="{FF2B5EF4-FFF2-40B4-BE49-F238E27FC236}">
                <a16:creationId xmlns:a16="http://schemas.microsoft.com/office/drawing/2014/main" id="{018D8C45-50E2-47B7-B006-827C281D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5715000"/>
            <a:ext cx="82661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한 sequence·session 안에서만 유효</a:t>
            </a:r>
          </a:p>
        </p:txBody>
      </p:sp>
    </p:spTree>
    <p:extLst>
      <p:ext uri="{BB962C8B-B14F-4D97-AF65-F5344CB8AC3E}">
        <p14:creationId xmlns:p14="http://schemas.microsoft.com/office/powerpoint/2010/main" val="42313338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STC-057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LoRA promotion에는 utility 외 네 가지 gate가 더 필요하다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제안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PEFT governance contract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57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RETENTION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ROUTING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COMPAT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DELETE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RETENTION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ROUTING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4-section">
            <a:extLst xmlns:a="http://schemas.openxmlformats.org/drawingml/2006/main">
              <a:ext uri="{FF2B5EF4-FFF2-40B4-BE49-F238E27FC236}">
                <a16:creationId xmlns:a16="http://schemas.microsoft.com/office/drawing/2014/main" id="{D55356B8-A175-4935-B209-7BD03E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24-slide-id">
            <a:extLst xmlns:a="http://schemas.openxmlformats.org/drawingml/2006/main">
              <a:ext uri="{FF2B5EF4-FFF2-40B4-BE49-F238E27FC236}">
                <a16:creationId xmlns:a16="http://schemas.microsoft.com/office/drawing/2014/main" id="{78B2880B-1829-43C6-82F1-E91F313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STC-058</a:t>
            </a:r>
          </a:p>
        </p:txBody>
      </p:sp>
      <p:sp>
        <p:nvSpPr>
          <p:cNvPr id="4" name="STC-24-headline">
            <a:extLst xmlns:a="http://schemas.openxmlformats.org/drawingml/2006/main">
              <a:ext uri="{FF2B5EF4-FFF2-40B4-BE49-F238E27FC236}">
                <a16:creationId xmlns:a16="http://schemas.microsoft.com/office/drawing/2014/main" id="{7EFF5843-575F-446B-B829-1A50360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Shared-weight sleep은 가장 강한 반증을 요구한다</a:t>
            </a:r>
          </a:p>
        </p:txBody>
      </p:sp>
      <p:sp>
        <p:nvSpPr>
          <p:cNvPr id="5" name="STC-24-status-label">
            <a:extLst xmlns:a="http://schemas.openxmlformats.org/drawingml/2006/main">
              <a:ext uri="{FF2B5EF4-FFF2-40B4-BE49-F238E27FC236}">
                <a16:creationId xmlns:a16="http://schemas.microsoft.com/office/drawing/2014/main" id="{BB9E5C04-3E6C-4F28-B08B-9B9AD6E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Red team</a:t>
            </a:r>
          </a:p>
        </p:txBody>
      </p:sp>
      <p:sp>
        <p:nvSpPr>
          <p:cNvPr id="6" name="STC-24-status-rule">
            <a:extLst xmlns:a="http://schemas.openxmlformats.org/drawingml/2006/main">
              <a:ext uri="{FF2B5EF4-FFF2-40B4-BE49-F238E27FC236}">
                <a16:creationId xmlns:a16="http://schemas.microsoft.com/office/drawing/2014/main" id="{D1FC3B55-2A2E-45AA-95F6-0583EE5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4-footer-rule">
            <a:extLst xmlns:a="http://schemas.openxmlformats.org/drawingml/2006/main">
              <a:ext uri="{FF2B5EF4-FFF2-40B4-BE49-F238E27FC236}">
                <a16:creationId xmlns:a16="http://schemas.microsoft.com/office/drawing/2014/main" id="{0F5FF2EC-5946-4BA4-AC60-2C5FB9C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4-source-footer">
            <a:extLst xmlns:a="http://schemas.openxmlformats.org/drawingml/2006/main">
              <a:ext uri="{FF2B5EF4-FFF2-40B4-BE49-F238E27FC236}">
                <a16:creationId xmlns:a16="http://schemas.microsoft.com/office/drawing/2014/main" id="{5BD7A1B6-F31C-4947-B44A-705BBCA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Negative-evidence and safety audit</a:t>
            </a:r>
          </a:p>
        </p:txBody>
      </p:sp>
      <p:sp>
        <p:nvSpPr>
          <p:cNvPr id="9" name="STC-24-page-number">
            <a:extLst xmlns:a="http://schemas.openxmlformats.org/drawingml/2006/main">
              <a:ext uri="{FF2B5EF4-FFF2-40B4-BE49-F238E27FC236}">
                <a16:creationId xmlns:a16="http://schemas.microsoft.com/office/drawing/2014/main" id="{9DD45F5A-4477-4865-A126-C6C266F7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58</a:t>
            </a:r>
          </a:p>
        </p:txBody>
      </p:sp>
      <p:sp>
        <p:nvSpPr>
          <p:cNvPr id="11" name="STC-24-redteam-field">
            <a:extLst xmlns:a="http://schemas.openxmlformats.org/drawingml/2006/main">
              <a:ext uri="{FF2B5EF4-FFF2-40B4-BE49-F238E27FC236}">
                <a16:creationId xmlns:a16="http://schemas.microsoft.com/office/drawing/2014/main" id="{7103473D-2E31-4B30-9328-78263DD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2852928" cy="431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2" name="STC-24-redteam-31">
            <a:extLst xmlns:a="http://schemas.openxmlformats.org/drawingml/2006/main">
              <a:ext uri="{FF2B5EF4-FFF2-40B4-BE49-F238E27FC236}">
                <a16:creationId xmlns:a16="http://schemas.microsoft.com/office/drawing/2014/main" id="{8AF4504C-B767-48D4-BBCD-94EC5AF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01952"/>
            <a:ext cx="221284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05</a:t>
            </a:r>
          </a:p>
        </p:txBody>
      </p:sp>
      <p:sp>
        <p:nvSpPr>
          <p:cNvPr id="13" name="STC-24-redteam-findings">
            <a:extLst xmlns:a="http://schemas.openxmlformats.org/drawingml/2006/main">
              <a:ext uri="{FF2B5EF4-FFF2-40B4-BE49-F238E27FC236}">
                <a16:creationId xmlns:a16="http://schemas.microsoft.com/office/drawing/2014/main" id="{B01523B4-485A-4132-B232-BA11A8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16352"/>
            <a:ext cx="221284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adversarial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findings</a:t>
            </a:r>
          </a:p>
        </p:txBody>
      </p:sp>
      <p:sp>
        <p:nvSpPr>
          <p:cNvPr id="14" name="STC-24-redteam-rule">
            <a:extLst xmlns:a="http://schemas.openxmlformats.org/drawingml/2006/main">
              <a:ext uri="{FF2B5EF4-FFF2-40B4-BE49-F238E27FC236}">
                <a16:creationId xmlns:a16="http://schemas.microsoft.com/office/drawing/2014/main" id="{2BB482A1-6070-4983-A590-0667FC85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2029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5" name="STC-24-redteam-domains">
            <a:extLst xmlns:a="http://schemas.openxmlformats.org/drawingml/2006/main">
              <a:ext uri="{FF2B5EF4-FFF2-40B4-BE49-F238E27FC236}">
                <a16:creationId xmlns:a16="http://schemas.microsoft.com/office/drawing/2014/main" id="{73A03FB3-05DD-41DF-89CC-C6C2AA2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05072"/>
            <a:ext cx="2029968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statistics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systems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publication</a:t>
            </a:r>
          </a:p>
        </p:txBody>
      </p:sp>
      <p:sp>
        <p:nvSpPr>
          <p:cNvPr id="16" name="STC-24-redteam-condition-0">
            <a:extLst xmlns:a="http://schemas.openxmlformats.org/drawingml/2006/main">
              <a:ext uri="{FF2B5EF4-FFF2-40B4-BE49-F238E27FC236}">
                <a16:creationId xmlns:a16="http://schemas.microsoft.com/office/drawing/2014/main" id="{9C6EFA57-2AF4-405B-B8E0-2644092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1636776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INTERFERENCE</a:t>
            </a:r>
          </a:p>
        </p:txBody>
      </p:sp>
      <p:sp>
        <p:nvSpPr>
          <p:cNvPr id="17" name="STC-24-redteam-arrow-0">
            <a:extLst xmlns:a="http://schemas.openxmlformats.org/drawingml/2006/main">
              <a:ext uri="{FF2B5EF4-FFF2-40B4-BE49-F238E27FC236}">
                <a16:creationId xmlns:a16="http://schemas.microsoft.com/office/drawing/2014/main" id="{C29B3FBD-C180-4F47-B914-ABB0151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746504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18" name="STC-24-redteam-action-0">
            <a:extLst xmlns:a="http://schemas.openxmlformats.org/drawingml/2006/main">
              <a:ext uri="{FF2B5EF4-FFF2-40B4-BE49-F238E27FC236}">
                <a16:creationId xmlns:a16="http://schemas.microsoft.com/office/drawing/2014/main" id="{F2D57FF2-40C9-475B-8ADE-71EEA69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unrelated capability가 조용히 변함</a:t>
            </a:r>
          </a:p>
        </p:txBody>
      </p:sp>
      <p:sp>
        <p:nvSpPr>
          <p:cNvPr id="19" name="STC-24-redteam-condition-1">
            <a:extLst xmlns:a="http://schemas.openxmlformats.org/drawingml/2006/main">
              <a:ext uri="{FF2B5EF4-FFF2-40B4-BE49-F238E27FC236}">
                <a16:creationId xmlns:a16="http://schemas.microsoft.com/office/drawing/2014/main" id="{BDE2CA5D-58FC-434F-A841-A08FD1A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46888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UNLEARNING</a:t>
            </a:r>
          </a:p>
        </p:txBody>
      </p:sp>
      <p:sp>
        <p:nvSpPr>
          <p:cNvPr id="20" name="STC-24-redteam-arrow-1">
            <a:extLst xmlns:a="http://schemas.openxmlformats.org/drawingml/2006/main">
              <a:ext uri="{FF2B5EF4-FFF2-40B4-BE49-F238E27FC236}">
                <a16:creationId xmlns:a16="http://schemas.microsoft.com/office/drawing/2014/main" id="{4F577BF9-80F7-40D0-B459-5F8A21E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57860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1" name="STC-24-redteam-action-1">
            <a:extLst xmlns:a="http://schemas.openxmlformats.org/drawingml/2006/main">
              <a:ext uri="{FF2B5EF4-FFF2-40B4-BE49-F238E27FC236}">
                <a16:creationId xmlns:a16="http://schemas.microsoft.com/office/drawing/2014/main" id="{4B0FE478-8D2F-4712-9C23-542528B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2304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한 사용자의 삭제가 global rebuild로 확대</a:t>
            </a:r>
          </a:p>
        </p:txBody>
      </p:sp>
      <p:sp>
        <p:nvSpPr>
          <p:cNvPr id="22" name="STC-24-redteam-condition-2">
            <a:extLst xmlns:a="http://schemas.openxmlformats.org/drawingml/2006/main">
              <a:ext uri="{FF2B5EF4-FFF2-40B4-BE49-F238E27FC236}">
                <a16:creationId xmlns:a16="http://schemas.microsoft.com/office/drawing/2014/main" id="{11181FB9-A935-4704-BB86-C9143D9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300984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POISON</a:t>
            </a:r>
          </a:p>
        </p:txBody>
      </p:sp>
      <p:sp>
        <p:nvSpPr>
          <p:cNvPr id="23" name="STC-24-redteam-arrow-2">
            <a:extLst xmlns:a="http://schemas.openxmlformats.org/drawingml/2006/main">
              <a:ext uri="{FF2B5EF4-FFF2-40B4-BE49-F238E27FC236}">
                <a16:creationId xmlns:a16="http://schemas.microsoft.com/office/drawing/2014/main" id="{C90658B6-997B-4942-AA92-F0B084A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4" name="STC-24-redteam-action-2">
            <a:extLst xmlns:a="http://schemas.openxmlformats.org/drawingml/2006/main">
              <a:ext uri="{FF2B5EF4-FFF2-40B4-BE49-F238E27FC236}">
                <a16:creationId xmlns:a16="http://schemas.microsoft.com/office/drawing/2014/main" id="{6FF7ED04-6279-41A5-BFAD-89B5537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4408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작은 malicious stream이 durable bias 생성</a:t>
            </a:r>
          </a:p>
        </p:txBody>
      </p:sp>
      <p:sp>
        <p:nvSpPr>
          <p:cNvPr id="25" name="STC-24-redteam-condition-3">
            <a:extLst xmlns:a="http://schemas.openxmlformats.org/drawingml/2006/main">
              <a:ext uri="{FF2B5EF4-FFF2-40B4-BE49-F238E27FC236}">
                <a16:creationId xmlns:a16="http://schemas.microsoft.com/office/drawing/2014/main" id="{DBBCD39B-5871-4E2B-A51F-BB942E5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133088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IDENTITY</a:t>
            </a:r>
          </a:p>
        </p:txBody>
      </p:sp>
      <p:sp>
        <p:nvSpPr>
          <p:cNvPr id="26" name="STC-24-redteam-arrow-3">
            <a:extLst xmlns:a="http://schemas.openxmlformats.org/drawingml/2006/main">
              <a:ext uri="{FF2B5EF4-FFF2-40B4-BE49-F238E27FC236}">
                <a16:creationId xmlns:a16="http://schemas.microsoft.com/office/drawing/2014/main" id="{9660AB56-69B6-4FBD-B813-9CBF988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42816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7" name="STC-24-redteam-action-3">
            <a:extLst xmlns:a="http://schemas.openxmlformats.org/drawingml/2006/main">
              <a:ext uri="{FF2B5EF4-FFF2-40B4-BE49-F238E27FC236}">
                <a16:creationId xmlns:a16="http://schemas.microsoft.com/office/drawing/2014/main" id="{4AA4EC1B-1A5F-4725-ACF1-86B744B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6512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개인 preference가 shared policy와 충돌</a:t>
            </a:r>
          </a:p>
        </p:txBody>
      </p:sp>
      <p:sp>
        <p:nvSpPr>
          <p:cNvPr id="28" name="STC-24-redteam-condition-4">
            <a:extLst xmlns:a="http://schemas.openxmlformats.org/drawingml/2006/main">
              <a:ext uri="{FF2B5EF4-FFF2-40B4-BE49-F238E27FC236}">
                <a16:creationId xmlns:a16="http://schemas.microsoft.com/office/drawing/2014/main" id="{1D3D302A-47E2-4D26-B565-7B54698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96519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ECONOMICS</a:t>
            </a:r>
          </a:p>
        </p:txBody>
      </p:sp>
      <p:sp>
        <p:nvSpPr>
          <p:cNvPr id="29" name="STC-24-redteam-arrow-4">
            <a:extLst xmlns:a="http://schemas.openxmlformats.org/drawingml/2006/main">
              <a:ext uri="{FF2B5EF4-FFF2-40B4-BE49-F238E27FC236}">
                <a16:creationId xmlns:a16="http://schemas.microsoft.com/office/drawing/2014/main" id="{8B4BB7C3-0894-4624-B64A-2332CAB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0749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0" name="STC-24-redteam-action-4">
            <a:extLst xmlns:a="http://schemas.openxmlformats.org/drawingml/2006/main">
              <a:ext uri="{FF2B5EF4-FFF2-40B4-BE49-F238E27FC236}">
                <a16:creationId xmlns:a16="http://schemas.microsoft.com/office/drawing/2014/main" id="{BF3F69E8-1C0C-4846-9932-4467BC7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28616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optimizer·validation cost가 reuse gain 초과</a:t>
            </a:r>
          </a:p>
        </p:txBody>
      </p:sp>
      <p:sp>
        <p:nvSpPr>
          <p:cNvPr id="31" name="STC-24-redteam-bottom">
            <a:extLst xmlns:a="http://schemas.openxmlformats.org/drawingml/2006/main">
              <a:ext uri="{FF2B5EF4-FFF2-40B4-BE49-F238E27FC236}">
                <a16:creationId xmlns:a16="http://schemas.microsoft.com/office/drawing/2014/main" id="{38BBEDEE-CF7E-481C-927F-AD28491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96128"/>
            <a:ext cx="532180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Per-user foundation-weight rewrite를 기본값으로 두지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6749100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0-section">
            <a:extLst xmlns:a="http://schemas.openxmlformats.org/drawingml/2006/main">
              <a:ext uri="{FF2B5EF4-FFF2-40B4-BE49-F238E27FC236}">
                <a16:creationId xmlns:a16="http://schemas.microsoft.com/office/drawing/2014/main" id="{6178F517-FA82-4D27-A68A-C76A30C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10-slide-id">
            <a:extLst xmlns:a="http://schemas.openxmlformats.org/drawingml/2006/main">
              <a:ext uri="{FF2B5EF4-FFF2-40B4-BE49-F238E27FC236}">
                <a16:creationId xmlns:a16="http://schemas.microsoft.com/office/drawing/2014/main" id="{23BFEDD1-7992-476C-B56A-0EBDC97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STC-059</a:t>
            </a:r>
          </a:p>
        </p:txBody>
      </p:sp>
      <p:sp>
        <p:nvSpPr>
          <p:cNvPr id="4" name="STC-10-headline">
            <a:extLst xmlns:a="http://schemas.openxmlformats.org/drawingml/2006/main">
              <a:ext uri="{FF2B5EF4-FFF2-40B4-BE49-F238E27FC236}">
                <a16:creationId xmlns:a16="http://schemas.microsoft.com/office/drawing/2014/main" id="{F3244101-3CD2-466C-B46A-83E5807E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 destination도 raw→derived 계층을 분리해야 한다</a:t>
            </a:r>
          </a:p>
        </p:txBody>
      </p:sp>
      <p:sp>
        <p:nvSpPr>
          <p:cNvPr id="5" name="STC-10-status-label">
            <a:extLst xmlns:a="http://schemas.openxmlformats.org/drawingml/2006/main">
              <a:ext uri="{FF2B5EF4-FFF2-40B4-BE49-F238E27FC236}">
                <a16:creationId xmlns:a16="http://schemas.microsoft.com/office/drawing/2014/main" id="{54F57A0D-6695-4538-B965-B3D66DD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10-status-rule">
            <a:extLst xmlns:a="http://schemas.openxmlformats.org/drawingml/2006/main">
              <a:ext uri="{FF2B5EF4-FFF2-40B4-BE49-F238E27FC236}">
                <a16:creationId xmlns:a16="http://schemas.microsoft.com/office/drawing/2014/main" id="{17C9B6E9-5808-4884-AE2D-6C3FBC3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0-footer-rule">
            <a:extLst xmlns:a="http://schemas.openxmlformats.org/drawingml/2006/main">
              <a:ext uri="{FF2B5EF4-FFF2-40B4-BE49-F238E27FC236}">
                <a16:creationId xmlns:a16="http://schemas.microsoft.com/office/drawing/2014/main" id="{05C9EBCA-3F59-4C44-9F24-D7CFCA5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0-source-footer">
            <a:extLst xmlns:a="http://schemas.openxmlformats.org/drawingml/2006/main">
              <a:ext uri="{FF2B5EF4-FFF2-40B4-BE49-F238E27FC236}">
                <a16:creationId xmlns:a16="http://schemas.microsoft.com/office/drawing/2014/main" id="{8462DCC3-CE00-4E3B-8A0B-9C8BBC7C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External memory hierarchy</a:t>
            </a:r>
          </a:p>
        </p:txBody>
      </p:sp>
      <p:sp>
        <p:nvSpPr>
          <p:cNvPr id="9" name="STC-10-page-number">
            <a:extLst xmlns:a="http://schemas.openxmlformats.org/drawingml/2006/main">
              <a:ext uri="{FF2B5EF4-FFF2-40B4-BE49-F238E27FC236}">
                <a16:creationId xmlns:a16="http://schemas.microsoft.com/office/drawing/2014/main" id="{AE75F792-23B4-4FA6-A4AF-2B0B9E3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59</a:t>
            </a:r>
          </a:p>
        </p:txBody>
      </p:sp>
      <p:sp>
        <p:nvSpPr>
          <p:cNvPr id="11" name="STC-10-agent-year-0">
            <a:extLst xmlns:a="http://schemas.openxmlformats.org/drawingml/2006/main">
              <a:ext uri="{FF2B5EF4-FFF2-40B4-BE49-F238E27FC236}">
                <a16:creationId xmlns:a16="http://schemas.microsoft.com/office/drawing/2014/main" id="{25251CA2-F9EF-4020-B4B1-B78EBE9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6362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L0 RAW · immutable event·document·tool trace</a:t>
            </a:r>
          </a:p>
        </p:txBody>
      </p:sp>
      <p:sp>
        <p:nvSpPr>
          <p:cNvPr id="12" name="STC-10-agent-year-rule-0">
            <a:extLst xmlns:a="http://schemas.openxmlformats.org/drawingml/2006/main">
              <a:ext uri="{FF2B5EF4-FFF2-40B4-BE49-F238E27FC236}">
                <a16:creationId xmlns:a16="http://schemas.microsoft.com/office/drawing/2014/main" id="{B05B5567-73DB-4ABD-9003-01B2E2B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164592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0-agent-name-0">
            <a:extLst xmlns:a="http://schemas.openxmlformats.org/drawingml/2006/main">
              <a:ext uri="{FF2B5EF4-FFF2-40B4-BE49-F238E27FC236}">
                <a16:creationId xmlns:a16="http://schemas.microsoft.com/office/drawing/2014/main" id="{BC40D46F-4228-4FE1-9902-EB7A008D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49047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L0 RAW</a:t>
            </a:r>
          </a:p>
        </p:txBody>
      </p:sp>
      <p:sp>
        <p:nvSpPr>
          <p:cNvPr id="14" name="STC-10-agent-mech-0">
            <a:extLst xmlns:a="http://schemas.openxmlformats.org/drawingml/2006/main">
              <a:ext uri="{FF2B5EF4-FFF2-40B4-BE49-F238E27FC236}">
                <a16:creationId xmlns:a16="http://schemas.microsoft.com/office/drawing/2014/main" id="{3342C016-B6B9-406C-90B7-2CCB962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49961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L0 RAW · immutable event·document·tool trace</a:t>
            </a:r>
          </a:p>
        </p:txBody>
      </p:sp>
      <p:sp>
        <p:nvSpPr>
          <p:cNvPr id="15" name="STC-10-agent-phase-0">
            <a:extLst xmlns:a="http://schemas.openxmlformats.org/drawingml/2006/main">
              <a:ext uri="{FF2B5EF4-FFF2-40B4-BE49-F238E27FC236}">
                <a16:creationId xmlns:a16="http://schemas.microsoft.com/office/drawing/2014/main" id="{2FA4D608-E040-41FD-A396-EBBBCB3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55448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L0 RAW · immutable event·document·tool trace</a:t>
            </a:r>
          </a:p>
        </p:txBody>
      </p:sp>
      <p:sp>
        <p:nvSpPr>
          <p:cNvPr id="16" name="STC-10-agent-boundary-0">
            <a:extLst xmlns:a="http://schemas.openxmlformats.org/drawingml/2006/main">
              <a:ext uri="{FF2B5EF4-FFF2-40B4-BE49-F238E27FC236}">
                <a16:creationId xmlns:a16="http://schemas.microsoft.com/office/drawing/2014/main" id="{0090C02B-D2CB-498B-BBA7-5E39275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9961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L0 RAW · immutable event·document·tool trace</a:t>
            </a:r>
          </a:p>
        </p:txBody>
      </p:sp>
      <p:sp>
        <p:nvSpPr>
          <p:cNvPr id="17" name="STC-10-agent-year-1">
            <a:extLst xmlns:a="http://schemas.openxmlformats.org/drawingml/2006/main">
              <a:ext uri="{FF2B5EF4-FFF2-40B4-BE49-F238E27FC236}">
                <a16:creationId xmlns:a16="http://schemas.microsoft.com/office/drawing/2014/main" id="{A2331958-1754-408A-A88B-8A87BE75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7627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L1 FACT · source-linked assertion와 temporal validity</a:t>
            </a:r>
          </a:p>
        </p:txBody>
      </p:sp>
      <p:sp>
        <p:nvSpPr>
          <p:cNvPr id="18" name="STC-10-agent-year-rule-1">
            <a:extLst xmlns:a="http://schemas.openxmlformats.org/drawingml/2006/main">
              <a:ext uri="{FF2B5EF4-FFF2-40B4-BE49-F238E27FC236}">
                <a16:creationId xmlns:a16="http://schemas.microsoft.com/office/drawing/2014/main" id="{1FFEBED2-8F79-4DD6-9E58-CC7A142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25856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0-agent-name-1">
            <a:extLst xmlns:a="http://schemas.openxmlformats.org/drawingml/2006/main">
              <a:ext uri="{FF2B5EF4-FFF2-40B4-BE49-F238E27FC236}">
                <a16:creationId xmlns:a16="http://schemas.microsoft.com/office/drawing/2014/main" id="{5CB3CD68-1DE8-451A-A995-4F86123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0312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L1 FACT</a:t>
            </a:r>
          </a:p>
        </p:txBody>
      </p:sp>
      <p:sp>
        <p:nvSpPr>
          <p:cNvPr id="20" name="STC-10-agent-mech-1">
            <a:extLst xmlns:a="http://schemas.openxmlformats.org/drawingml/2006/main">
              <a:ext uri="{FF2B5EF4-FFF2-40B4-BE49-F238E27FC236}">
                <a16:creationId xmlns:a16="http://schemas.microsoft.com/office/drawing/2014/main" id="{FCA347A2-8320-4583-A15A-FDEC71B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1226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L1 FACT · source-linked assertion와 temporal validity</a:t>
            </a:r>
          </a:p>
        </p:txBody>
      </p:sp>
      <p:sp>
        <p:nvSpPr>
          <p:cNvPr id="21" name="STC-10-agent-phase-1">
            <a:extLst xmlns:a="http://schemas.openxmlformats.org/drawingml/2006/main">
              <a:ext uri="{FF2B5EF4-FFF2-40B4-BE49-F238E27FC236}">
                <a16:creationId xmlns:a16="http://schemas.microsoft.com/office/drawing/2014/main" id="{7FC2B479-CF0A-4D25-B56B-273D86BC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16712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L1 FACT · source-linked assertion와 temporal validity</a:t>
            </a:r>
          </a:p>
        </p:txBody>
      </p:sp>
      <p:sp>
        <p:nvSpPr>
          <p:cNvPr id="22" name="STC-10-agent-boundary-1">
            <a:extLst xmlns:a="http://schemas.openxmlformats.org/drawingml/2006/main">
              <a:ext uri="{FF2B5EF4-FFF2-40B4-BE49-F238E27FC236}">
                <a16:creationId xmlns:a16="http://schemas.microsoft.com/office/drawing/2014/main" id="{A9FC856A-E02E-427B-993C-3C3B9F8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226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L1 FACT · source-linked assertion와 temporal validity</a:t>
            </a:r>
          </a:p>
        </p:txBody>
      </p:sp>
      <p:sp>
        <p:nvSpPr>
          <p:cNvPr id="23" name="STC-10-agent-year-2">
            <a:extLst xmlns:a="http://schemas.openxmlformats.org/drawingml/2006/main">
              <a:ext uri="{FF2B5EF4-FFF2-40B4-BE49-F238E27FC236}">
                <a16:creationId xmlns:a16="http://schemas.microsoft.com/office/drawing/2014/main" id="{681F14E2-8113-44DA-88D3-B8EA611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L2 INDEX · vector·keyword·graph access path</a:t>
            </a:r>
          </a:p>
        </p:txBody>
      </p:sp>
      <p:sp>
        <p:nvSpPr>
          <p:cNvPr id="24" name="STC-10-agent-year-rule-2">
            <a:extLst xmlns:a="http://schemas.openxmlformats.org/drawingml/2006/main">
              <a:ext uri="{FF2B5EF4-FFF2-40B4-BE49-F238E27FC236}">
                <a16:creationId xmlns:a16="http://schemas.microsoft.com/office/drawing/2014/main" id="{F383EE24-18E2-4F09-9C19-474251F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871216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0-agent-name-2">
            <a:extLst xmlns:a="http://schemas.openxmlformats.org/drawingml/2006/main">
              <a:ext uri="{FF2B5EF4-FFF2-40B4-BE49-F238E27FC236}">
                <a16:creationId xmlns:a16="http://schemas.microsoft.com/office/drawing/2014/main" id="{FF06FA14-992A-4F89-B874-9F63DE9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715768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L2 INDEX</a:t>
            </a:r>
          </a:p>
        </p:txBody>
      </p:sp>
      <p:sp>
        <p:nvSpPr>
          <p:cNvPr id="26" name="STC-10-agent-mech-2">
            <a:extLst xmlns:a="http://schemas.openxmlformats.org/drawingml/2006/main">
              <a:ext uri="{FF2B5EF4-FFF2-40B4-BE49-F238E27FC236}">
                <a16:creationId xmlns:a16="http://schemas.microsoft.com/office/drawing/2014/main" id="{F748360A-FD80-4A88-961D-EDBCD9F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724912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L2 INDEX · vector·keyword·graph access path</a:t>
            </a:r>
          </a:p>
        </p:txBody>
      </p:sp>
      <p:sp>
        <p:nvSpPr>
          <p:cNvPr id="27" name="STC-10-agent-phase-2">
            <a:extLst xmlns:a="http://schemas.openxmlformats.org/drawingml/2006/main">
              <a:ext uri="{FF2B5EF4-FFF2-40B4-BE49-F238E27FC236}">
                <a16:creationId xmlns:a16="http://schemas.microsoft.com/office/drawing/2014/main" id="{8EAD9F50-2E26-428D-BF70-5B5216E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779776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L2 INDEX · vector·keyword·graph access path</a:t>
            </a:r>
          </a:p>
        </p:txBody>
      </p:sp>
      <p:sp>
        <p:nvSpPr>
          <p:cNvPr id="28" name="STC-10-agent-boundary-2">
            <a:extLst xmlns:a="http://schemas.openxmlformats.org/drawingml/2006/main">
              <a:ext uri="{FF2B5EF4-FFF2-40B4-BE49-F238E27FC236}">
                <a16:creationId xmlns:a16="http://schemas.microsoft.com/office/drawing/2014/main" id="{740FAAC8-5DB0-4FE6-B006-35813A1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912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L2 INDEX · vector·keyword·graph access path</a:t>
            </a:r>
          </a:p>
        </p:txBody>
      </p:sp>
      <p:sp>
        <p:nvSpPr>
          <p:cNvPr id="29" name="STC-10-agent-year-3">
            <a:extLst xmlns:a="http://schemas.openxmlformats.org/drawingml/2006/main">
              <a:ext uri="{FF2B5EF4-FFF2-40B4-BE49-F238E27FC236}">
                <a16:creationId xmlns:a16="http://schemas.microsoft.com/office/drawing/2014/main" id="{617EC4F3-8F94-45EA-8AA1-D839E545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L3 SUMMARY · task-oriented compiled view</a:t>
            </a:r>
          </a:p>
        </p:txBody>
      </p:sp>
      <p:sp>
        <p:nvSpPr>
          <p:cNvPr id="30" name="STC-10-agent-year-rule-3">
            <a:extLst xmlns:a="http://schemas.openxmlformats.org/drawingml/2006/main">
              <a:ext uri="{FF2B5EF4-FFF2-40B4-BE49-F238E27FC236}">
                <a16:creationId xmlns:a16="http://schemas.microsoft.com/office/drawing/2014/main" id="{AD4377B9-CD70-4E3D-AD08-1370F5F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3483864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1" name="STC-10-agent-name-3">
            <a:extLst xmlns:a="http://schemas.openxmlformats.org/drawingml/2006/main">
              <a:ext uri="{FF2B5EF4-FFF2-40B4-BE49-F238E27FC236}">
                <a16:creationId xmlns:a16="http://schemas.microsoft.com/office/drawing/2014/main" id="{B2824170-2E76-4261-8F5E-383F606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328416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L3 SUMMARY</a:t>
            </a:r>
          </a:p>
        </p:txBody>
      </p:sp>
      <p:sp>
        <p:nvSpPr>
          <p:cNvPr id="32" name="STC-10-agent-mech-3">
            <a:extLst xmlns:a="http://schemas.openxmlformats.org/drawingml/2006/main">
              <a:ext uri="{FF2B5EF4-FFF2-40B4-BE49-F238E27FC236}">
                <a16:creationId xmlns:a16="http://schemas.microsoft.com/office/drawing/2014/main" id="{59C364ED-0CEB-41CE-8D81-8E983CB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337560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L3 SUMMARY · task-oriented compiled view</a:t>
            </a:r>
          </a:p>
        </p:txBody>
      </p:sp>
      <p:sp>
        <p:nvSpPr>
          <p:cNvPr id="33" name="STC-10-agent-phase-3">
            <a:extLst xmlns:a="http://schemas.openxmlformats.org/drawingml/2006/main">
              <a:ext uri="{FF2B5EF4-FFF2-40B4-BE49-F238E27FC236}">
                <a16:creationId xmlns:a16="http://schemas.microsoft.com/office/drawing/2014/main" id="{49FBFA26-710D-4782-9673-DC902C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392424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L3 SUMMARY · task-oriented compiled view</a:t>
            </a:r>
          </a:p>
        </p:txBody>
      </p:sp>
      <p:sp>
        <p:nvSpPr>
          <p:cNvPr id="34" name="STC-10-agent-boundary-3">
            <a:extLst xmlns:a="http://schemas.openxmlformats.org/drawingml/2006/main">
              <a:ext uri="{FF2B5EF4-FFF2-40B4-BE49-F238E27FC236}">
                <a16:creationId xmlns:a16="http://schemas.microsoft.com/office/drawing/2014/main" id="{4BE343B7-E1C6-4091-AF38-B3B5D54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7560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L3 SUMMARY · task-oriented compiled view</a:t>
            </a:r>
          </a:p>
        </p:txBody>
      </p:sp>
      <p:sp>
        <p:nvSpPr>
          <p:cNvPr id="35" name="STC-10-agent-year-4">
            <a:extLst xmlns:a="http://schemas.openxmlformats.org/drawingml/2006/main">
              <a:ext uri="{FF2B5EF4-FFF2-40B4-BE49-F238E27FC236}">
                <a16:creationId xmlns:a16="http://schemas.microsoft.com/office/drawing/2014/main" id="{F37B6C32-52E8-4FDE-B201-03A8169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14216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L4 CACHE · hot query·prefix·state artifact</a:t>
            </a:r>
          </a:p>
        </p:txBody>
      </p:sp>
      <p:sp>
        <p:nvSpPr>
          <p:cNvPr id="36" name="STC-10-agent-year-rule-4">
            <a:extLst xmlns:a="http://schemas.openxmlformats.org/drawingml/2006/main">
              <a:ext uri="{FF2B5EF4-FFF2-40B4-BE49-F238E27FC236}">
                <a16:creationId xmlns:a16="http://schemas.microsoft.com/office/drawing/2014/main" id="{18822D15-B8DF-49A5-9849-28C75ED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096512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7" name="STC-10-agent-name-4">
            <a:extLst xmlns:a="http://schemas.openxmlformats.org/drawingml/2006/main">
              <a:ext uri="{FF2B5EF4-FFF2-40B4-BE49-F238E27FC236}">
                <a16:creationId xmlns:a16="http://schemas.microsoft.com/office/drawing/2014/main" id="{E8F8BDBD-0380-41D4-85F0-02E8FF3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941064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L4 CACHE</a:t>
            </a:r>
          </a:p>
        </p:txBody>
      </p:sp>
      <p:sp>
        <p:nvSpPr>
          <p:cNvPr id="38" name="STC-10-agent-mech-4">
            <a:extLst xmlns:a="http://schemas.openxmlformats.org/drawingml/2006/main">
              <a:ext uri="{FF2B5EF4-FFF2-40B4-BE49-F238E27FC236}">
                <a16:creationId xmlns:a16="http://schemas.microsoft.com/office/drawing/2014/main" id="{B0BEC520-6F78-4384-8CF3-E18F8DA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950208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L4 CACHE · hot query·prefix·state artifact</a:t>
            </a:r>
          </a:p>
        </p:txBody>
      </p:sp>
      <p:sp>
        <p:nvSpPr>
          <p:cNvPr id="39" name="STC-10-agent-phase-4">
            <a:extLst xmlns:a="http://schemas.openxmlformats.org/drawingml/2006/main">
              <a:ext uri="{FF2B5EF4-FFF2-40B4-BE49-F238E27FC236}">
                <a16:creationId xmlns:a16="http://schemas.microsoft.com/office/drawing/2014/main" id="{CECEE87E-557F-43C6-AE22-ABA59E8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005072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L4 CACHE · hot query·prefix·state artifact</a:t>
            </a:r>
          </a:p>
        </p:txBody>
      </p:sp>
      <p:sp>
        <p:nvSpPr>
          <p:cNvPr id="40" name="STC-10-agent-boundary-4">
            <a:extLst xmlns:a="http://schemas.openxmlformats.org/drawingml/2006/main">
              <a:ext uri="{FF2B5EF4-FFF2-40B4-BE49-F238E27FC236}">
                <a16:creationId xmlns:a16="http://schemas.microsoft.com/office/drawing/2014/main" id="{A8C5516F-B591-4508-865B-D1A4027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50208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L4 CACHE · hot query·prefix·state artifact</a:t>
            </a:r>
          </a:p>
        </p:txBody>
      </p:sp>
      <p:sp>
        <p:nvSpPr>
          <p:cNvPr id="41" name="STC-10-agent-year-5">
            <a:extLst xmlns:a="http://schemas.openxmlformats.org/drawingml/2006/main">
              <a:ext uri="{FF2B5EF4-FFF2-40B4-BE49-F238E27FC236}">
                <a16:creationId xmlns:a16="http://schemas.microsoft.com/office/drawing/2014/main" id="{38784B05-B991-4E58-8101-AE709B8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2686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L0 RAW · immutable event·document·tool trace</a:t>
            </a:r>
          </a:p>
        </p:txBody>
      </p:sp>
      <p:sp>
        <p:nvSpPr>
          <p:cNvPr id="42" name="STC-10-agent-year-rule-5">
            <a:extLst xmlns:a="http://schemas.openxmlformats.org/drawingml/2006/main">
              <a:ext uri="{FF2B5EF4-FFF2-40B4-BE49-F238E27FC236}">
                <a16:creationId xmlns:a16="http://schemas.microsoft.com/office/drawing/2014/main" id="{823A26CB-46C1-45AB-AC25-A57C1C5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70916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3" name="STC-10-agent-name-5">
            <a:extLst xmlns:a="http://schemas.openxmlformats.org/drawingml/2006/main">
              <a:ext uri="{FF2B5EF4-FFF2-40B4-BE49-F238E27FC236}">
                <a16:creationId xmlns:a16="http://schemas.microsoft.com/office/drawing/2014/main" id="{300CB451-2720-482C-BC4F-7DC7E47D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455371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L0 RAW</a:t>
            </a:r>
          </a:p>
        </p:txBody>
      </p:sp>
      <p:sp>
        <p:nvSpPr>
          <p:cNvPr id="44" name="STC-10-agent-mech-5">
            <a:extLst xmlns:a="http://schemas.openxmlformats.org/drawingml/2006/main">
              <a:ext uri="{FF2B5EF4-FFF2-40B4-BE49-F238E27FC236}">
                <a16:creationId xmlns:a16="http://schemas.microsoft.com/office/drawing/2014/main" id="{78EB88D9-5027-4D43-AA2F-F03DBC1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56285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L0 RAW · immutable event·document·tool trace</a:t>
            </a:r>
          </a:p>
        </p:txBody>
      </p:sp>
      <p:sp>
        <p:nvSpPr>
          <p:cNvPr id="45" name="STC-10-agent-phase-5">
            <a:extLst xmlns:a="http://schemas.openxmlformats.org/drawingml/2006/main">
              <a:ext uri="{FF2B5EF4-FFF2-40B4-BE49-F238E27FC236}">
                <a16:creationId xmlns:a16="http://schemas.microsoft.com/office/drawing/2014/main" id="{8395CFDA-3309-4027-B283-8A72317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61772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L0 RAW · immutable event·document·tool trace</a:t>
            </a:r>
          </a:p>
        </p:txBody>
      </p:sp>
      <p:sp>
        <p:nvSpPr>
          <p:cNvPr id="46" name="STC-10-agent-boundary-5">
            <a:extLst xmlns:a="http://schemas.openxmlformats.org/drawingml/2006/main">
              <a:ext uri="{FF2B5EF4-FFF2-40B4-BE49-F238E27FC236}">
                <a16:creationId xmlns:a16="http://schemas.microsoft.com/office/drawing/2014/main" id="{EBEFDBCD-115E-471C-988F-219CF18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85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L0 RAW · immutable event·document·tool trace</a:t>
            </a:r>
          </a:p>
        </p:txBody>
      </p:sp>
      <p:sp>
        <p:nvSpPr>
          <p:cNvPr id="47" name="STC-10-agent-year-6">
            <a:extLst xmlns:a="http://schemas.openxmlformats.org/drawingml/2006/main">
              <a:ext uri="{FF2B5EF4-FFF2-40B4-BE49-F238E27FC236}">
                <a16:creationId xmlns:a16="http://schemas.microsoft.com/office/drawing/2014/main" id="{74CF84C3-0580-4951-9130-A803383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3951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L1 FACT · source-linked assertion와 temporal validity</a:t>
            </a:r>
          </a:p>
        </p:txBody>
      </p:sp>
      <p:sp>
        <p:nvSpPr>
          <p:cNvPr id="48" name="STC-10-agent-year-rule-6">
            <a:extLst xmlns:a="http://schemas.openxmlformats.org/drawingml/2006/main">
              <a:ext uri="{FF2B5EF4-FFF2-40B4-BE49-F238E27FC236}">
                <a16:creationId xmlns:a16="http://schemas.microsoft.com/office/drawing/2014/main" id="{293DE8CD-F0D0-4F04-AC18-2BEE7A4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53218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9" name="STC-10-agent-name-6">
            <a:extLst xmlns:a="http://schemas.openxmlformats.org/drawingml/2006/main">
              <a:ext uri="{FF2B5EF4-FFF2-40B4-BE49-F238E27FC236}">
                <a16:creationId xmlns:a16="http://schemas.microsoft.com/office/drawing/2014/main" id="{1807C5B5-AD76-40FD-ACA6-39AF06E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516636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L1 FACT</a:t>
            </a:r>
          </a:p>
        </p:txBody>
      </p:sp>
      <p:sp>
        <p:nvSpPr>
          <p:cNvPr id="50" name="STC-10-agent-mech-6">
            <a:extLst xmlns:a="http://schemas.openxmlformats.org/drawingml/2006/main">
              <a:ext uri="{FF2B5EF4-FFF2-40B4-BE49-F238E27FC236}">
                <a16:creationId xmlns:a16="http://schemas.microsoft.com/office/drawing/2014/main" id="{FD46D9CE-C139-4FA8-8B21-3375826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17550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L1 FACT · source-linked assertion와 temporal validity</a:t>
            </a:r>
          </a:p>
        </p:txBody>
      </p:sp>
      <p:sp>
        <p:nvSpPr>
          <p:cNvPr id="51" name="STC-10-agent-phase-6">
            <a:extLst xmlns:a="http://schemas.openxmlformats.org/drawingml/2006/main">
              <a:ext uri="{FF2B5EF4-FFF2-40B4-BE49-F238E27FC236}">
                <a16:creationId xmlns:a16="http://schemas.microsoft.com/office/drawing/2014/main" id="{3702721E-8735-44AE-9AEE-EA4ACD2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23036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L1 FACT · source-linked assertion와 temporal validity</a:t>
            </a:r>
          </a:p>
        </p:txBody>
      </p:sp>
      <p:sp>
        <p:nvSpPr>
          <p:cNvPr id="52" name="STC-10-agent-boundary-6">
            <a:extLst xmlns:a="http://schemas.openxmlformats.org/drawingml/2006/main">
              <a:ext uri="{FF2B5EF4-FFF2-40B4-BE49-F238E27FC236}">
                <a16:creationId xmlns:a16="http://schemas.microsoft.com/office/drawing/2014/main" id="{8F75AA86-EFA2-4E9F-94B6-8AA8BDF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7550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L1 FACT · source-linked assertion와 temporal validity</a:t>
            </a:r>
          </a:p>
        </p:txBody>
      </p:sp>
      <p:sp>
        <p:nvSpPr>
          <p:cNvPr id="53" name="STC-10-agent-version">
            <a:extLst xmlns:a="http://schemas.openxmlformats.org/drawingml/2006/main">
              <a:ext uri="{FF2B5EF4-FFF2-40B4-BE49-F238E27FC236}">
                <a16:creationId xmlns:a16="http://schemas.microsoft.com/office/drawing/2014/main" id="{DFB5828D-1409-4F7D-8657-885F03A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742432"/>
            <a:ext cx="3813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immutable event·document·tool trace</a:t>
            </a:r>
          </a:p>
        </p:txBody>
      </p:sp>
    </p:spTree>
    <p:extLst>
      <p:ext uri="{BB962C8B-B14F-4D97-AF65-F5344CB8AC3E}">
        <p14:creationId xmlns:p14="http://schemas.microsoft.com/office/powerpoint/2010/main" val="201438142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8-section">
            <a:extLst xmlns:a="http://schemas.openxmlformats.org/drawingml/2006/main">
              <a:ext uri="{FF2B5EF4-FFF2-40B4-BE49-F238E27FC236}">
                <a16:creationId xmlns:a16="http://schemas.microsoft.com/office/drawing/2014/main" id="{03FF8BA3-B545-4981-AA09-AE9216B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18-slide-id">
            <a:extLst xmlns:a="http://schemas.openxmlformats.org/drawingml/2006/main">
              <a:ext uri="{FF2B5EF4-FFF2-40B4-BE49-F238E27FC236}">
                <a16:creationId xmlns:a16="http://schemas.microsoft.com/office/drawing/2014/main" id="{C9FA6CD7-858C-4A3D-96FD-4CC651F6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STC-060</a:t>
            </a:r>
          </a:p>
        </p:txBody>
      </p:sp>
      <p:sp>
        <p:nvSpPr>
          <p:cNvPr id="4" name="STC-18-headline">
            <a:extLst xmlns:a="http://schemas.openxmlformats.org/drawingml/2006/main">
              <a:ext uri="{FF2B5EF4-FFF2-40B4-BE49-F238E27FC236}">
                <a16:creationId xmlns:a16="http://schemas.microsoft.com/office/drawing/2014/main" id="{C9C9B713-EF3A-4F15-9B5D-34C157E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Capacity는 가득 찬 뒤가 아니라 knee 전에 관리한다</a:t>
            </a:r>
          </a:p>
        </p:txBody>
      </p:sp>
      <p:sp>
        <p:nvSpPr>
          <p:cNvPr id="5" name="STC-18-status-label">
            <a:extLst xmlns:a="http://schemas.openxmlformats.org/drawingml/2006/main">
              <a:ext uri="{FF2B5EF4-FFF2-40B4-BE49-F238E27FC236}">
                <a16:creationId xmlns:a16="http://schemas.microsoft.com/office/drawing/2014/main" id="{3B46AB99-B070-4E4D-A702-12F9050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이론</a:t>
            </a:r>
          </a:p>
        </p:txBody>
      </p:sp>
      <p:sp>
        <p:nvSpPr>
          <p:cNvPr id="6" name="STC-18-status-rule">
            <a:extLst xmlns:a="http://schemas.openxmlformats.org/drawingml/2006/main">
              <a:ext uri="{FF2B5EF4-FFF2-40B4-BE49-F238E27FC236}">
                <a16:creationId xmlns:a16="http://schemas.microsoft.com/office/drawing/2014/main" id="{8EFD1DA0-50D3-4AD4-87F6-7143D5EB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8-footer-rule">
            <a:extLst xmlns:a="http://schemas.openxmlformats.org/drawingml/2006/main">
              <a:ext uri="{FF2B5EF4-FFF2-40B4-BE49-F238E27FC236}">
                <a16:creationId xmlns:a16="http://schemas.microsoft.com/office/drawing/2014/main" id="{0532DB85-4109-43E6-AC94-2358F50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8-source-footer">
            <a:extLst xmlns:a="http://schemas.openxmlformats.org/drawingml/2006/main">
              <a:ext uri="{FF2B5EF4-FFF2-40B4-BE49-F238E27FC236}">
                <a16:creationId xmlns:a16="http://schemas.microsoft.com/office/drawing/2014/main" id="{F3EA8379-43EA-45C9-AC85-4061DC8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Capacity and interference synthesis · STC-F009</a:t>
            </a:r>
          </a:p>
        </p:txBody>
      </p:sp>
      <p:sp>
        <p:nvSpPr>
          <p:cNvPr id="9" name="STC-18-page-number">
            <a:extLst xmlns:a="http://schemas.openxmlformats.org/drawingml/2006/main">
              <a:ext uri="{FF2B5EF4-FFF2-40B4-BE49-F238E27FC236}">
                <a16:creationId xmlns:a16="http://schemas.microsoft.com/office/drawing/2014/main" id="{8DE00DF8-DD74-4458-8DDD-9413F0F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60</a:t>
            </a:r>
          </a:p>
        </p:txBody>
      </p:sp>
      <p:sp>
        <p:nvSpPr>
          <p:cNvPr id="11" name="STC-18-knee-axis-x">
            <a:extLst xmlns:a="http://schemas.openxmlformats.org/drawingml/2006/main">
              <a:ext uri="{FF2B5EF4-FFF2-40B4-BE49-F238E27FC236}">
                <a16:creationId xmlns:a16="http://schemas.microsoft.com/office/drawing/2014/main" id="{137B99DC-D78E-474C-948D-1C1A474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9280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8-knee-axis-y">
            <a:extLst xmlns:a="http://schemas.openxmlformats.org/drawingml/2006/main">
              <a:ext uri="{FF2B5EF4-FFF2-40B4-BE49-F238E27FC236}">
                <a16:creationId xmlns:a16="http://schemas.microsoft.com/office/drawing/2014/main" id="{2B1DBB35-82E7-49B9-9968-79EB961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43000" y="1691640"/>
            <a:ext cx="0" cy="3977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8-knee-axis-xlabel">
            <a:extLst xmlns:a="http://schemas.openxmlformats.org/drawingml/2006/main">
              <a:ext uri="{FF2B5EF4-FFF2-40B4-BE49-F238E27FC236}">
                <a16:creationId xmlns:a16="http://schemas.microsoft.com/office/drawing/2014/main" id="{9D4A94DC-71BA-4491-BE01-6A8FA8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8155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retained utility</a:t>
            </a:r>
          </a:p>
        </p:txBody>
      </p:sp>
      <p:sp>
        <p:nvSpPr>
          <p:cNvPr id="14" name="STC-18-knee-axis-ylabel">
            <a:extLst xmlns:a="http://schemas.openxmlformats.org/drawingml/2006/main">
              <a:ext uri="{FF2B5EF4-FFF2-40B4-BE49-F238E27FC236}">
                <a16:creationId xmlns:a16="http://schemas.microsoft.com/office/drawing/2014/main" id="{BBDB0575-EAC2-4D00-889D-30EDB84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" y="158191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state bytes</a:t>
            </a:r>
          </a:p>
        </p:txBody>
      </p:sp>
      <p:sp>
        <p:nvSpPr>
          <p:cNvPr id="15" name="STC-18-knee-seg-1">
            <a:extLst xmlns:a="http://schemas.openxmlformats.org/drawingml/2006/main">
              <a:ext uri="{FF2B5EF4-FFF2-40B4-BE49-F238E27FC236}">
                <a16:creationId xmlns:a16="http://schemas.microsoft.com/office/drawing/2014/main" id="{A875E417-9AE7-45EA-91F0-367BDDB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48840"/>
            <a:ext cx="1005840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8-knee-seg-2">
            <a:extLst xmlns:a="http://schemas.openxmlformats.org/drawingml/2006/main">
              <a:ext uri="{FF2B5EF4-FFF2-40B4-BE49-F238E27FC236}">
                <a16:creationId xmlns:a16="http://schemas.microsoft.com/office/drawing/2014/main" id="{D37E6579-10F6-4338-A1E4-70A3CAB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76272"/>
            <a:ext cx="100584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8-knee-seg-3">
            <a:extLst xmlns:a="http://schemas.openxmlformats.org/drawingml/2006/main">
              <a:ext uri="{FF2B5EF4-FFF2-40B4-BE49-F238E27FC236}">
                <a16:creationId xmlns:a16="http://schemas.microsoft.com/office/drawing/2014/main" id="{9051F1AF-A7F9-4D03-94EA-41936D1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86000"/>
            <a:ext cx="100584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18-knee-seg-4">
            <a:extLst xmlns:a="http://schemas.openxmlformats.org/drawingml/2006/main">
              <a:ext uri="{FF2B5EF4-FFF2-40B4-BE49-F238E27FC236}">
                <a16:creationId xmlns:a16="http://schemas.microsoft.com/office/drawing/2014/main" id="{B063ECE3-2EE8-45A4-A0F4-242E2ED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70048"/>
            <a:ext cx="100584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8-knee-seg-5">
            <a:extLst xmlns:a="http://schemas.openxmlformats.org/drawingml/2006/main">
              <a:ext uri="{FF2B5EF4-FFF2-40B4-BE49-F238E27FC236}">
                <a16:creationId xmlns:a16="http://schemas.microsoft.com/office/drawing/2014/main" id="{B0C6BCBB-C1A2-421E-BDCF-2B39BAFF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694176"/>
            <a:ext cx="1005840" cy="1298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8-knee-seg-6">
            <a:extLst xmlns:a="http://schemas.openxmlformats.org/drawingml/2006/main">
              <a:ext uri="{FF2B5EF4-FFF2-40B4-BE49-F238E27FC236}">
                <a16:creationId xmlns:a16="http://schemas.microsoft.com/office/drawing/2014/main" id="{C13B686D-15B9-429D-A73A-91969B5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92624"/>
            <a:ext cx="82296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18-knee-threshold">
            <a:extLst xmlns:a="http://schemas.openxmlformats.org/drawingml/2006/main">
              <a:ext uri="{FF2B5EF4-FFF2-40B4-BE49-F238E27FC236}">
                <a16:creationId xmlns:a16="http://schemas.microsoft.com/office/drawing/2014/main" id="{ED6FC06F-FE27-464D-B952-B7B3674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4368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16A"/>
            </a:solidFill>
            <a:prstDash val="solid"/>
            <a:tailEnd type="none"/>
          </a:ln>
        </p:spPr>
      </p:sp>
      <p:sp>
        <p:nvSpPr>
          <p:cNvPr id="22" name="STC-18-knee-threshold-label">
            <a:extLst xmlns:a="http://schemas.openxmlformats.org/drawingml/2006/main">
              <a:ext uri="{FF2B5EF4-FFF2-40B4-BE49-F238E27FC236}">
                <a16:creationId xmlns:a16="http://schemas.microsoft.com/office/drawing/2014/main" id="{59682FA8-3C66-4E76-91DC-8A5B116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61488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interference knee</a:t>
            </a:r>
          </a:p>
        </p:txBody>
      </p:sp>
      <p:sp>
        <p:nvSpPr>
          <p:cNvPr id="23" name="STC-18-knee-marker">
            <a:extLst xmlns:a="http://schemas.openxmlformats.org/drawingml/2006/main">
              <a:ext uri="{FF2B5EF4-FFF2-40B4-BE49-F238E27FC236}">
                <a16:creationId xmlns:a16="http://schemas.microsoft.com/office/drawing/2014/main" id="{8CD36708-2795-42A2-B1FE-6BF35D2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8950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8-knee-keff">
            <a:extLst xmlns:a="http://schemas.openxmlformats.org/drawingml/2006/main">
              <a:ext uri="{FF2B5EF4-FFF2-40B4-BE49-F238E27FC236}">
                <a16:creationId xmlns:a16="http://schemas.microsoft.com/office/drawing/2014/main" id="{7092C48B-E617-41E2-A6F0-6377395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394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5" name="STC-18-knee-check-title">
            <a:extLst xmlns:a="http://schemas.openxmlformats.org/drawingml/2006/main">
              <a:ext uri="{FF2B5EF4-FFF2-40B4-BE49-F238E27FC236}">
                <a16:creationId xmlns:a16="http://schemas.microsoft.com/office/drawing/2014/main" id="{864F7F11-EE93-42F3-A376-3BC591E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83080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ADMIT</a:t>
            </a:r>
          </a:p>
        </p:txBody>
      </p:sp>
      <p:sp>
        <p:nvSpPr>
          <p:cNvPr id="26" name="STC-18-knee-checks-dot-0">
            <a:extLst xmlns:a="http://schemas.openxmlformats.org/drawingml/2006/main">
              <a:ext uri="{FF2B5EF4-FFF2-40B4-BE49-F238E27FC236}">
                <a16:creationId xmlns:a16="http://schemas.microsoft.com/office/drawing/2014/main" id="{4FB9D726-90DF-448D-9CB5-BD91AF1C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35000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7" name="STC-18-knee-checks-item-0">
            <a:extLst xmlns:a="http://schemas.openxmlformats.org/drawingml/2006/main">
              <a:ext uri="{FF2B5EF4-FFF2-40B4-BE49-F238E27FC236}">
                <a16:creationId xmlns:a16="http://schemas.microsoft.com/office/drawing/2014/main" id="{44C5ADE7-8C76-4DBA-8D57-28CFC56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40280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ADMIT</a:t>
            </a:r>
          </a:p>
        </p:txBody>
      </p:sp>
      <p:sp>
        <p:nvSpPr>
          <p:cNvPr id="28" name="STC-18-knee-checks-dot-1">
            <a:extLst xmlns:a="http://schemas.openxmlformats.org/drawingml/2006/main">
              <a:ext uri="{FF2B5EF4-FFF2-40B4-BE49-F238E27FC236}">
                <a16:creationId xmlns:a16="http://schemas.microsoft.com/office/drawing/2014/main" id="{AFC33FA9-F997-425E-804C-0F6AB52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077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9" name="STC-18-knee-checks-item-1">
            <a:extLst xmlns:a="http://schemas.openxmlformats.org/drawingml/2006/main">
              <a:ext uri="{FF2B5EF4-FFF2-40B4-BE49-F238E27FC236}">
                <a16:creationId xmlns:a16="http://schemas.microsoft.com/office/drawing/2014/main" id="{B8D75941-BBC2-4813-A867-3514688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98064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DEDUP</a:t>
            </a:r>
          </a:p>
        </p:txBody>
      </p:sp>
      <p:sp>
        <p:nvSpPr>
          <p:cNvPr id="30" name="STC-18-knee-checks-dot-2">
            <a:extLst xmlns:a="http://schemas.openxmlformats.org/drawingml/2006/main">
              <a:ext uri="{FF2B5EF4-FFF2-40B4-BE49-F238E27FC236}">
                <a16:creationId xmlns:a16="http://schemas.microsoft.com/office/drawing/2014/main" id="{66418C93-8F2D-46E2-9FD7-A0EA74B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655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8-knee-checks-item-2">
            <a:extLst xmlns:a="http://schemas.openxmlformats.org/drawingml/2006/main">
              <a:ext uri="{FF2B5EF4-FFF2-40B4-BE49-F238E27FC236}">
                <a16:creationId xmlns:a16="http://schemas.microsoft.com/office/drawing/2014/main" id="{1288401D-2643-4F1E-9987-2A81D7D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55848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COMPRESS</a:t>
            </a:r>
          </a:p>
        </p:txBody>
      </p:sp>
      <p:sp>
        <p:nvSpPr>
          <p:cNvPr id="32" name="STC-18-knee-checks-dot-3">
            <a:extLst xmlns:a="http://schemas.openxmlformats.org/drawingml/2006/main">
              <a:ext uri="{FF2B5EF4-FFF2-40B4-BE49-F238E27FC236}">
                <a16:creationId xmlns:a16="http://schemas.microsoft.com/office/drawing/2014/main" id="{DCAC003D-887C-4D38-9EDF-160C916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233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3" name="STC-18-knee-checks-item-3">
            <a:extLst xmlns:a="http://schemas.openxmlformats.org/drawingml/2006/main">
              <a:ext uri="{FF2B5EF4-FFF2-40B4-BE49-F238E27FC236}">
                <a16:creationId xmlns:a16="http://schemas.microsoft.com/office/drawing/2014/main" id="{E51C09CD-2212-4C58-8553-16C319C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13632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EVICT</a:t>
            </a:r>
          </a:p>
        </p:txBody>
      </p:sp>
      <p:sp>
        <p:nvSpPr>
          <p:cNvPr id="34" name="STC-18-knee-checks-dot-4">
            <a:extLst xmlns:a="http://schemas.openxmlformats.org/drawingml/2006/main">
              <a:ext uri="{FF2B5EF4-FFF2-40B4-BE49-F238E27FC236}">
                <a16:creationId xmlns:a16="http://schemas.microsoft.com/office/drawing/2014/main" id="{5919D9A1-A06F-4CAC-A455-916E57B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811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5" name="STC-18-knee-checks-item-4">
            <a:extLst xmlns:a="http://schemas.openxmlformats.org/drawingml/2006/main">
              <a:ext uri="{FF2B5EF4-FFF2-40B4-BE49-F238E27FC236}">
                <a16:creationId xmlns:a16="http://schemas.microsoft.com/office/drawing/2014/main" id="{D63F0508-B06F-4B5B-B222-9758774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471416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REBUILD</a:t>
            </a:r>
          </a:p>
        </p:txBody>
      </p:sp>
      <p:sp>
        <p:nvSpPr>
          <p:cNvPr id="36" name="STC-18-knee-unidentified">
            <a:extLst xmlns:a="http://schemas.openxmlformats.org/drawingml/2006/main">
              <a:ext uri="{FF2B5EF4-FFF2-40B4-BE49-F238E27FC236}">
                <a16:creationId xmlns:a16="http://schemas.microsoft.com/office/drawing/2014/main" id="{2A3895EC-67C0-4742-BF11-ED63DC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230368"/>
            <a:ext cx="2706624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7" name="STC-18-knee-unidentified-text">
            <a:extLst xmlns:a="http://schemas.openxmlformats.org/drawingml/2006/main">
              <a:ext uri="{FF2B5EF4-FFF2-40B4-BE49-F238E27FC236}">
                <a16:creationId xmlns:a16="http://schemas.microsoft.com/office/drawing/2014/main" id="{3790EDB7-E6C9-4F80-B319-618B982E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404104"/>
            <a:ext cx="2432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용량 문제의 해법은 무한 weight가 아니라 value-aware lifecycle이다.</a:t>
            </a:r>
          </a:p>
        </p:txBody>
      </p:sp>
    </p:spTree>
    <p:extLst>
      <p:ext uri="{BB962C8B-B14F-4D97-AF65-F5344CB8AC3E}">
        <p14:creationId xmlns:p14="http://schemas.microsoft.com/office/powerpoint/2010/main" val="171681671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0-section">
            <a:extLst xmlns:a="http://schemas.openxmlformats.org/drawingml/2006/main">
              <a:ext uri="{FF2B5EF4-FFF2-40B4-BE49-F238E27FC236}">
                <a16:creationId xmlns:a16="http://schemas.microsoft.com/office/drawing/2014/main" id="{5EDCD299-655D-4523-82A0-59F49E1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20-slide-id">
            <a:extLst xmlns:a="http://schemas.openxmlformats.org/drawingml/2006/main">
              <a:ext uri="{FF2B5EF4-FFF2-40B4-BE49-F238E27FC236}">
                <a16:creationId xmlns:a16="http://schemas.microsoft.com/office/drawing/2014/main" id="{32C07A66-97D7-4CD1-9893-C311EE67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STC-061</a:t>
            </a:r>
          </a:p>
        </p:txBody>
      </p:sp>
      <p:sp>
        <p:nvSpPr>
          <p:cNvPr id="4" name="STC-20-headline">
            <a:extLst xmlns:a="http://schemas.openxmlformats.org/drawingml/2006/main">
              <a:ext uri="{FF2B5EF4-FFF2-40B4-BE49-F238E27FC236}">
                <a16:creationId xmlns:a16="http://schemas.microsoft.com/office/drawing/2014/main" id="{AFFB7CDB-FED7-4E9E-B7ED-F4E38A0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Delete는 모든 derived state를 따라가는 역방향 graph다</a:t>
            </a:r>
          </a:p>
        </p:txBody>
      </p:sp>
      <p:sp>
        <p:nvSpPr>
          <p:cNvPr id="5" name="STC-20-status-label">
            <a:extLst xmlns:a="http://schemas.openxmlformats.org/drawingml/2006/main">
              <a:ext uri="{FF2B5EF4-FFF2-40B4-BE49-F238E27FC236}">
                <a16:creationId xmlns:a16="http://schemas.microsoft.com/office/drawing/2014/main" id="{F1C132A5-F1B4-4EA3-B9D4-9A19BA1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거버넌스</a:t>
            </a:r>
          </a:p>
        </p:txBody>
      </p:sp>
      <p:sp>
        <p:nvSpPr>
          <p:cNvPr id="6" name="STC-20-status-rule">
            <a:extLst xmlns:a="http://schemas.openxmlformats.org/drawingml/2006/main">
              <a:ext uri="{FF2B5EF4-FFF2-40B4-BE49-F238E27FC236}">
                <a16:creationId xmlns:a16="http://schemas.microsoft.com/office/drawing/2014/main" id="{296C999B-3F04-4907-A607-49A7D916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0-footer-rule">
            <a:extLst xmlns:a="http://schemas.openxmlformats.org/drawingml/2006/main">
              <a:ext uri="{FF2B5EF4-FFF2-40B4-BE49-F238E27FC236}">
                <a16:creationId xmlns:a16="http://schemas.microsoft.com/office/drawing/2014/main" id="{1A414E08-3FD3-4CA5-B702-E3371BE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0-source-footer">
            <a:extLst xmlns:a="http://schemas.openxmlformats.org/drawingml/2006/main">
              <a:ext uri="{FF2B5EF4-FFF2-40B4-BE49-F238E27FC236}">
                <a16:creationId xmlns:a16="http://schemas.microsoft.com/office/drawing/2014/main" id="{6436493B-B3AE-4CC7-B707-EBD083C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Provenance and erasure contract</a:t>
            </a:r>
          </a:p>
        </p:txBody>
      </p:sp>
      <p:sp>
        <p:nvSpPr>
          <p:cNvPr id="9" name="STC-20-page-number">
            <a:extLst xmlns:a="http://schemas.openxmlformats.org/drawingml/2006/main">
              <a:ext uri="{FF2B5EF4-FFF2-40B4-BE49-F238E27FC236}">
                <a16:creationId xmlns:a16="http://schemas.microsoft.com/office/drawing/2014/main" id="{46D728FE-DB3F-48C1-9245-25AAC00F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61</a:t>
            </a:r>
          </a:p>
        </p:txBody>
      </p:sp>
      <p:sp>
        <p:nvSpPr>
          <p:cNvPr id="11" name="STC-20-infra-plane-0">
            <a:extLst xmlns:a="http://schemas.openxmlformats.org/drawingml/2006/main">
              <a:ext uri="{FF2B5EF4-FFF2-40B4-BE49-F238E27FC236}">
                <a16:creationId xmlns:a16="http://schemas.microsoft.com/office/drawing/2014/main" id="{CBC7ECDF-7F2F-49BF-846B-5F658CEE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20-infra-label-0">
            <a:extLst xmlns:a="http://schemas.openxmlformats.org/drawingml/2006/main">
              <a:ext uri="{FF2B5EF4-FFF2-40B4-BE49-F238E27FC236}">
                <a16:creationId xmlns:a16="http://schemas.microsoft.com/office/drawing/2014/main" id="{F18FAA3C-6D4D-499D-A88F-E1242B5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REQUEST</a:t>
            </a:r>
          </a:p>
        </p:txBody>
      </p:sp>
      <p:sp>
        <p:nvSpPr>
          <p:cNvPr id="13" name="STC-20-infra-body-0">
            <a:extLst xmlns:a="http://schemas.openxmlformats.org/drawingml/2006/main">
              <a:ext uri="{FF2B5EF4-FFF2-40B4-BE49-F238E27FC236}">
                <a16:creationId xmlns:a16="http://schemas.microsoft.com/office/drawing/2014/main" id="{9D63F807-406F-4AAB-B362-0899B4EA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infer · retrieve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capture · fast state</a:t>
            </a:r>
          </a:p>
        </p:txBody>
      </p:sp>
      <p:sp>
        <p:nvSpPr>
          <p:cNvPr id="14" name="STC-20-infra-arrow-0">
            <a:extLst xmlns:a="http://schemas.openxmlformats.org/drawingml/2006/main">
              <a:ext uri="{FF2B5EF4-FFF2-40B4-BE49-F238E27FC236}">
                <a16:creationId xmlns:a16="http://schemas.microsoft.com/office/drawing/2014/main" id="{686EF61D-766A-4F59-A67A-D542EE95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0-infra-plane-1">
            <a:extLst xmlns:a="http://schemas.openxmlformats.org/drawingml/2006/main">
              <a:ext uri="{FF2B5EF4-FFF2-40B4-BE49-F238E27FC236}">
                <a16:creationId xmlns:a16="http://schemas.microsoft.com/office/drawing/2014/main" id="{6EB93AC2-1EEC-40A8-BDA3-326E731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6" name="STC-20-infra-label-1">
            <a:extLst xmlns:a="http://schemas.openxmlformats.org/drawingml/2006/main">
              <a:ext uri="{FF2B5EF4-FFF2-40B4-BE49-F238E27FC236}">
                <a16:creationId xmlns:a16="http://schemas.microsoft.com/office/drawing/2014/main" id="{76D2C227-9C88-4716-987B-28A3086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TRACE</a:t>
            </a:r>
          </a:p>
        </p:txBody>
      </p:sp>
      <p:sp>
        <p:nvSpPr>
          <p:cNvPr id="17" name="STC-20-infra-body-1">
            <a:extLst xmlns:a="http://schemas.openxmlformats.org/drawingml/2006/main">
              <a:ext uri="{FF2B5EF4-FFF2-40B4-BE49-F238E27FC236}">
                <a16:creationId xmlns:a16="http://schemas.microsoft.com/office/drawing/2014/main" id="{2E42E4C3-670F-4E90-9903-77393A2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dream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FT · RL · compact</a:t>
            </a:r>
          </a:p>
        </p:txBody>
      </p:sp>
      <p:sp>
        <p:nvSpPr>
          <p:cNvPr id="18" name="STC-20-infra-arrow-1">
            <a:extLst xmlns:a="http://schemas.openxmlformats.org/drawingml/2006/main">
              <a:ext uri="{FF2B5EF4-FFF2-40B4-BE49-F238E27FC236}">
                <a16:creationId xmlns:a16="http://schemas.microsoft.com/office/drawing/2014/main" id="{061AB89C-33F6-4FD5-A9DA-EA94532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0-infra-plane-2">
            <a:extLst xmlns:a="http://schemas.openxmlformats.org/drawingml/2006/main">
              <a:ext uri="{FF2B5EF4-FFF2-40B4-BE49-F238E27FC236}">
                <a16:creationId xmlns:a16="http://schemas.microsoft.com/office/drawing/2014/main" id="{531F132B-E335-4FCA-874C-13A5E6F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0" name="STC-20-infra-label-2">
            <a:extLst xmlns:a="http://schemas.openxmlformats.org/drawingml/2006/main">
              <a:ext uri="{FF2B5EF4-FFF2-40B4-BE49-F238E27FC236}">
                <a16:creationId xmlns:a16="http://schemas.microsoft.com/office/drawing/2014/main" id="{D32271A5-B68E-44CF-A333-8BA3B692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INVALIDATE</a:t>
            </a:r>
          </a:p>
        </p:txBody>
      </p:sp>
      <p:sp>
        <p:nvSpPr>
          <p:cNvPr id="21" name="STC-20-infra-body-2">
            <a:extLst xmlns:a="http://schemas.openxmlformats.org/drawingml/2006/main">
              <a:ext uri="{FF2B5EF4-FFF2-40B4-BE49-F238E27FC236}">
                <a16:creationId xmlns:a16="http://schemas.microsoft.com/office/drawing/2014/main" id="{2921410A-C2D5-4759-9995-967B22B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text · vector · graph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latent · adapter</a:t>
            </a:r>
          </a:p>
        </p:txBody>
      </p:sp>
      <p:sp>
        <p:nvSpPr>
          <p:cNvPr id="22" name="STC-20-infra-control">
            <a:extLst xmlns:a="http://schemas.openxmlformats.org/drawingml/2006/main">
              <a:ext uri="{FF2B5EF4-FFF2-40B4-BE49-F238E27FC236}">
                <a16:creationId xmlns:a16="http://schemas.microsoft.com/office/drawing/2014/main" id="{EB2E378A-3527-4AE5-B759-8DD164A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35608"/>
            <a:ext cx="8183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3" name="STC-20-infra-control-text">
            <a:extLst xmlns:a="http://schemas.openxmlformats.org/drawingml/2006/main">
              <a:ext uri="{FF2B5EF4-FFF2-40B4-BE49-F238E27FC236}">
                <a16:creationId xmlns:a16="http://schemas.microsoft.com/office/drawing/2014/main" id="{EA823CF8-DAED-47E5-A2BB-36514B86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1655064"/>
            <a:ext cx="76078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Lineage 없는 consolidation은 정확한 삭제를 약속할 수 없다.</a:t>
            </a:r>
          </a:p>
        </p:txBody>
      </p:sp>
      <p:sp>
        <p:nvSpPr>
          <p:cNvPr id="24" name="STC-20-infra-control-wake">
            <a:extLst xmlns:a="http://schemas.openxmlformats.org/drawingml/2006/main">
              <a:ext uri="{FF2B5EF4-FFF2-40B4-BE49-F238E27FC236}">
                <a16:creationId xmlns:a16="http://schemas.microsoft.com/office/drawing/2014/main" id="{9B142056-ABC8-4618-9D3D-5AEC5C05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5" name="STC-20-infra-control-sleep">
            <a:extLst xmlns:a="http://schemas.openxmlformats.org/drawingml/2006/main">
              <a:ext uri="{FF2B5EF4-FFF2-40B4-BE49-F238E27FC236}">
                <a16:creationId xmlns:a16="http://schemas.microsoft.com/office/drawing/2014/main" id="{8EC43546-90F6-4417-AD13-507CAF6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0-infra-control-memory">
            <a:extLst xmlns:a="http://schemas.openxmlformats.org/drawingml/2006/main">
              <a:ext uri="{FF2B5EF4-FFF2-40B4-BE49-F238E27FC236}">
                <a16:creationId xmlns:a16="http://schemas.microsoft.com/office/drawing/2014/main" id="{BA605134-8AB7-4A3F-9199-4019F5E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0-infra-ledger">
            <a:extLst xmlns:a="http://schemas.openxmlformats.org/drawingml/2006/main">
              <a:ext uri="{FF2B5EF4-FFF2-40B4-BE49-F238E27FC236}">
                <a16:creationId xmlns:a16="http://schemas.microsoft.com/office/drawing/2014/main" id="{A73ED90F-3148-4029-A4D4-B7D1D3A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1435608"/>
            <a:ext cx="941832" cy="3255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8" name="STC-20-infra-ledger-text">
            <a:extLst xmlns:a="http://schemas.openxmlformats.org/drawingml/2006/main">
              <a:ext uri="{FF2B5EF4-FFF2-40B4-BE49-F238E27FC236}">
                <a16:creationId xmlns:a16="http://schemas.microsoft.com/office/drawing/2014/main" id="{F6FB2E6C-106E-4656-AF22-77F175B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05872" y="2487168"/>
            <a:ext cx="6675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RESOURCE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LEDGER</a:t>
            </a:r>
          </a:p>
        </p:txBody>
      </p:sp>
      <p:sp>
        <p:nvSpPr>
          <p:cNvPr id="29" name="STC-20-infra-latency">
            <a:extLst xmlns:a="http://schemas.openxmlformats.org/drawingml/2006/main">
              <a:ext uri="{FF2B5EF4-FFF2-40B4-BE49-F238E27FC236}">
                <a16:creationId xmlns:a16="http://schemas.microsoft.com/office/drawing/2014/main" id="{21EA4BBA-62FC-4813-BFAE-9B708D3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30" name="STC-20-infra-throughput">
            <a:extLst xmlns:a="http://schemas.openxmlformats.org/drawingml/2006/main">
              <a:ext uri="{FF2B5EF4-FFF2-40B4-BE49-F238E27FC236}">
                <a16:creationId xmlns:a16="http://schemas.microsoft.com/office/drawing/2014/main" id="{BA6519A4-B643-4AA6-A6AF-14794E1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TRACE</a:t>
            </a:r>
          </a:p>
        </p:txBody>
      </p:sp>
      <p:sp>
        <p:nvSpPr>
          <p:cNvPr id="31" name="STC-20-infra-tiered">
            <a:extLst xmlns:a="http://schemas.openxmlformats.org/drawingml/2006/main">
              <a:ext uri="{FF2B5EF4-FFF2-40B4-BE49-F238E27FC236}">
                <a16:creationId xmlns:a16="http://schemas.microsoft.com/office/drawing/2014/main" id="{371A383A-78E9-4C9B-A376-3815FE7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INVALIDATE</a:t>
            </a:r>
          </a:p>
        </p:txBody>
      </p:sp>
    </p:spTree>
    <p:extLst>
      <p:ext uri="{BB962C8B-B14F-4D97-AF65-F5344CB8AC3E}">
        <p14:creationId xmlns:p14="http://schemas.microsoft.com/office/powerpoint/2010/main" val="75178982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9-section">
            <a:extLst xmlns:a="http://schemas.openxmlformats.org/drawingml/2006/main">
              <a:ext uri="{FF2B5EF4-FFF2-40B4-BE49-F238E27FC236}">
                <a16:creationId xmlns:a16="http://schemas.microsoft.com/office/drawing/2014/main" id="{72735180-733F-440B-AA71-6AFB4D1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MECHANISM</a:t>
            </a:r>
          </a:p>
        </p:txBody>
      </p:sp>
      <p:sp>
        <p:nvSpPr>
          <p:cNvPr id="3" name="STC-19-slide-id">
            <a:extLst xmlns:a="http://schemas.openxmlformats.org/drawingml/2006/main">
              <a:ext uri="{FF2B5EF4-FFF2-40B4-BE49-F238E27FC236}">
                <a16:creationId xmlns:a16="http://schemas.microsoft.com/office/drawing/2014/main" id="{332DE14B-FF3F-4EAE-89A9-1296907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STC-062</a:t>
            </a:r>
          </a:p>
        </p:txBody>
      </p:sp>
      <p:sp>
        <p:nvSpPr>
          <p:cNvPr id="4" name="STC-19-headline">
            <a:extLst xmlns:a="http://schemas.openxmlformats.org/drawingml/2006/main">
              <a:ext uri="{FF2B5EF4-FFF2-40B4-BE49-F238E27FC236}">
                <a16:creationId xmlns:a16="http://schemas.microsoft.com/office/drawing/2014/main" id="{7A8141DD-42BF-47AC-9E88-5319735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 cadence는 queue value와 staleness SLO로 정한다</a:t>
            </a:r>
          </a:p>
        </p:txBody>
      </p:sp>
      <p:sp>
        <p:nvSpPr>
          <p:cNvPr id="5" name="STC-19-status-label">
            <a:extLst xmlns:a="http://schemas.openxmlformats.org/drawingml/2006/main">
              <a:ext uri="{FF2B5EF4-FFF2-40B4-BE49-F238E27FC236}">
                <a16:creationId xmlns:a16="http://schemas.microsoft.com/office/drawing/2014/main" id="{399B087E-C0A4-444C-ABDC-29B791B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시스템</a:t>
            </a:r>
          </a:p>
        </p:txBody>
      </p:sp>
      <p:sp>
        <p:nvSpPr>
          <p:cNvPr id="6" name="STC-19-status-rule">
            <a:extLst xmlns:a="http://schemas.openxmlformats.org/drawingml/2006/main">
              <a:ext uri="{FF2B5EF4-FFF2-40B4-BE49-F238E27FC236}">
                <a16:creationId xmlns:a16="http://schemas.microsoft.com/office/drawing/2014/main" id="{C9DE080A-C5CF-46E3-A596-19E1069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9-footer-rule">
            <a:extLst xmlns:a="http://schemas.openxmlformats.org/drawingml/2006/main">
              <a:ext uri="{FF2B5EF4-FFF2-40B4-BE49-F238E27FC236}">
                <a16:creationId xmlns:a16="http://schemas.microsoft.com/office/drawing/2014/main" id="{69190047-2B97-4AC6-9464-26EFF236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9-source-footer">
            <a:extLst xmlns:a="http://schemas.openxmlformats.org/drawingml/2006/main">
              <a:ext uri="{FF2B5EF4-FFF2-40B4-BE49-F238E27FC236}">
                <a16:creationId xmlns:a16="http://schemas.microsoft.com/office/drawing/2014/main" id="{488C6145-8346-431D-87E6-2FC14B1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Scheduler model · STC-F013</a:t>
            </a:r>
          </a:p>
        </p:txBody>
      </p:sp>
      <p:sp>
        <p:nvSpPr>
          <p:cNvPr id="9" name="STC-19-page-number">
            <a:extLst xmlns:a="http://schemas.openxmlformats.org/drawingml/2006/main">
              <a:ext uri="{FF2B5EF4-FFF2-40B4-BE49-F238E27FC236}">
                <a16:creationId xmlns:a16="http://schemas.microsoft.com/office/drawing/2014/main" id="{23C4055E-6D2C-4283-B0BB-5C60654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62</a:t>
            </a:r>
          </a:p>
        </p:txBody>
      </p:sp>
      <p:sp>
        <p:nvSpPr>
          <p:cNvPr id="11" name="STC-19-cadence-axis-x">
            <a:extLst xmlns:a="http://schemas.openxmlformats.org/drawingml/2006/main">
              <a:ext uri="{FF2B5EF4-FFF2-40B4-BE49-F238E27FC236}">
                <a16:creationId xmlns:a16="http://schemas.microsoft.com/office/drawing/2014/main" id="{2A58C3D7-FA95-4586-9075-AAA41EE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58384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9-cadence-axis-y">
            <a:extLst xmlns:a="http://schemas.openxmlformats.org/drawingml/2006/main">
              <a:ext uri="{FF2B5EF4-FFF2-40B4-BE49-F238E27FC236}">
                <a16:creationId xmlns:a16="http://schemas.microsoft.com/office/drawing/2014/main" id="{13842283-0E4F-434B-88BF-6BF0A06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8680" y="1810512"/>
            <a:ext cx="0" cy="3547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9-cadence-axis-xlabel">
            <a:extLst xmlns:a="http://schemas.openxmlformats.org/drawingml/2006/main">
              <a:ext uri="{FF2B5EF4-FFF2-40B4-BE49-F238E27FC236}">
                <a16:creationId xmlns:a16="http://schemas.microsoft.com/office/drawing/2014/main" id="{8F0CB04A-91D9-4A3C-8187-295C0F9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504688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TRIGGER</a:t>
            </a:r>
          </a:p>
        </p:txBody>
      </p:sp>
      <p:sp>
        <p:nvSpPr>
          <p:cNvPr id="14" name="STC-19-cadence-axis-ylabel">
            <a:extLst xmlns:a="http://schemas.openxmlformats.org/drawingml/2006/main">
              <a:ext uri="{FF2B5EF4-FFF2-40B4-BE49-F238E27FC236}">
                <a16:creationId xmlns:a16="http://schemas.microsoft.com/office/drawing/2014/main" id="{3A60BEFB-6139-43EB-B820-ABBE8E0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57200" y="17007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BATCH</a:t>
            </a:r>
          </a:p>
        </p:txBody>
      </p:sp>
      <p:sp>
        <p:nvSpPr>
          <p:cNvPr id="15" name="STC-19-cadence-down-1">
            <a:extLst xmlns:a="http://schemas.openxmlformats.org/drawingml/2006/main">
              <a:ext uri="{FF2B5EF4-FFF2-40B4-BE49-F238E27FC236}">
                <a16:creationId xmlns:a16="http://schemas.microsoft.com/office/drawing/2014/main" id="{688872F8-DE47-43CB-95CA-7075B61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2848"/>
            <a:ext cx="7315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9-cadence-down-2">
            <a:extLst xmlns:a="http://schemas.openxmlformats.org/drawingml/2006/main">
              <a:ext uri="{FF2B5EF4-FFF2-40B4-BE49-F238E27FC236}">
                <a16:creationId xmlns:a16="http://schemas.microsoft.com/office/drawing/2014/main" id="{B09B6DF5-5CCB-4031-ADC8-AB75D62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468880"/>
            <a:ext cx="73152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9-cadence-up-1">
            <a:extLst xmlns:a="http://schemas.openxmlformats.org/drawingml/2006/main">
              <a:ext uri="{FF2B5EF4-FFF2-40B4-BE49-F238E27FC236}">
                <a16:creationId xmlns:a16="http://schemas.microsoft.com/office/drawing/2014/main" id="{F764C959-5D42-410C-80A2-122961E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999232"/>
            <a:ext cx="73152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8" name="STC-19-cadence-up-2">
            <a:extLst xmlns:a="http://schemas.openxmlformats.org/drawingml/2006/main">
              <a:ext uri="{FF2B5EF4-FFF2-40B4-BE49-F238E27FC236}">
                <a16:creationId xmlns:a16="http://schemas.microsoft.com/office/drawing/2014/main" id="{45BD15EE-A78A-4DB0-9389-F6AA9BA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639312"/>
            <a:ext cx="73152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9-cadence-up-3">
            <a:extLst xmlns:a="http://schemas.openxmlformats.org/drawingml/2006/main">
              <a:ext uri="{FF2B5EF4-FFF2-40B4-BE49-F238E27FC236}">
                <a16:creationId xmlns:a16="http://schemas.microsoft.com/office/drawing/2014/main" id="{4F71F976-E3CE-480C-A678-A81BF64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425696"/>
            <a:ext cx="77724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9-cadence-opt">
            <a:extLst xmlns:a="http://schemas.openxmlformats.org/drawingml/2006/main">
              <a:ext uri="{FF2B5EF4-FFF2-40B4-BE49-F238E27FC236}">
                <a16:creationId xmlns:a16="http://schemas.microsoft.com/office/drawing/2014/main" id="{C349F6AA-D45D-4780-8532-9F7858A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36499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9-cadence-opt-label">
            <a:extLst xmlns:a="http://schemas.openxmlformats.org/drawingml/2006/main">
              <a:ext uri="{FF2B5EF4-FFF2-40B4-BE49-F238E27FC236}">
                <a16:creationId xmlns:a16="http://schemas.microsoft.com/office/drawing/2014/main" id="{4B2F8C1A-9F81-4CEB-9FBF-7D771B4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694176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BUDGET</a:t>
            </a:r>
          </a:p>
        </p:txBody>
      </p:sp>
      <p:sp>
        <p:nvSpPr>
          <p:cNvPr id="22" name="STC-19-cadence-run">
            <a:extLst xmlns:a="http://schemas.openxmlformats.org/drawingml/2006/main">
              <a:ext uri="{FF2B5EF4-FFF2-40B4-BE49-F238E27FC236}">
                <a16:creationId xmlns:a16="http://schemas.microsoft.com/office/drawing/2014/main" id="{29265B41-3F65-4BA9-B47F-97DEC33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97480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PREEMPT</a:t>
            </a:r>
          </a:p>
        </p:txBody>
      </p:sp>
      <p:sp>
        <p:nvSpPr>
          <p:cNvPr id="23" name="STC-19-cadence-stale">
            <a:extLst xmlns:a="http://schemas.openxmlformats.org/drawingml/2006/main">
              <a:ext uri="{FF2B5EF4-FFF2-40B4-BE49-F238E27FC236}">
                <a16:creationId xmlns:a16="http://schemas.microsoft.com/office/drawing/2014/main" id="{6A86FAF2-6BD3-4891-8AA2-93F44E6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941064"/>
            <a:ext cx="9326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DEADLINE</a:t>
            </a:r>
          </a:p>
        </p:txBody>
      </p:sp>
      <p:sp>
        <p:nvSpPr>
          <p:cNvPr id="24" name="STC-19-service-divider">
            <a:extLst xmlns:a="http://schemas.openxmlformats.org/drawingml/2006/main">
              <a:ext uri="{FF2B5EF4-FFF2-40B4-BE49-F238E27FC236}">
                <a16:creationId xmlns:a16="http://schemas.microsoft.com/office/drawing/2014/main" id="{FD0702B6-B84E-41BD-B25C-7947118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91640"/>
            <a:ext cx="0" cy="4041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5" name="STC-19-queue-title">
            <a:extLst xmlns:a="http://schemas.openxmlformats.org/drawingml/2006/main">
              <a:ext uri="{FF2B5EF4-FFF2-40B4-BE49-F238E27FC236}">
                <a16:creationId xmlns:a16="http://schemas.microsoft.com/office/drawing/2014/main" id="{136E3461-58C4-4366-AEE0-C4C5EBD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190195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TRIGGER</a:t>
            </a:r>
          </a:p>
        </p:txBody>
      </p:sp>
      <p:sp>
        <p:nvSpPr>
          <p:cNvPr id="26" name="STC-19-queue-equation">
            <a:extLst xmlns:a="http://schemas.openxmlformats.org/drawingml/2006/main">
              <a:ext uri="{FF2B5EF4-FFF2-40B4-BE49-F238E27FC236}">
                <a16:creationId xmlns:a16="http://schemas.microsoft.com/office/drawing/2014/main" id="{6E21EE85-C8A4-4122-A898-9DBCFE1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33172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idle·deadline·queue depth·risk event</a:t>
            </a:r>
          </a:p>
        </p:txBody>
      </p:sp>
      <p:sp>
        <p:nvSpPr>
          <p:cNvPr id="27" name="STC-19-queue-list-dot-0">
            <a:extLst xmlns:a="http://schemas.openxmlformats.org/drawingml/2006/main">
              <a:ext uri="{FF2B5EF4-FFF2-40B4-BE49-F238E27FC236}">
                <a16:creationId xmlns:a16="http://schemas.microsoft.com/office/drawing/2014/main" id="{D6851AC5-7349-4D22-99A3-9D6F997C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8" name="STC-19-queue-list-item-0">
            <a:extLst xmlns:a="http://schemas.openxmlformats.org/drawingml/2006/main">
              <a:ext uri="{FF2B5EF4-FFF2-40B4-BE49-F238E27FC236}">
                <a16:creationId xmlns:a16="http://schemas.microsoft.com/office/drawing/2014/main" id="{86654F43-C2C8-4C11-AA96-6689829B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090672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TRIGGER</a:t>
            </a:r>
          </a:p>
        </p:txBody>
      </p:sp>
      <p:sp>
        <p:nvSpPr>
          <p:cNvPr id="29" name="STC-19-queue-list-dot-1">
            <a:extLst xmlns:a="http://schemas.openxmlformats.org/drawingml/2006/main">
              <a:ext uri="{FF2B5EF4-FFF2-40B4-BE49-F238E27FC236}">
                <a16:creationId xmlns:a16="http://schemas.microsoft.com/office/drawing/2014/main" id="{40D0A80D-1E95-48FE-AE00-258C62FF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764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0" name="STC-19-queue-list-item-1">
            <a:extLst xmlns:a="http://schemas.openxmlformats.org/drawingml/2006/main">
              <a:ext uri="{FF2B5EF4-FFF2-40B4-BE49-F238E27FC236}">
                <a16:creationId xmlns:a16="http://schemas.microsoft.com/office/drawing/2014/main" id="{62249E20-CB9F-42F7-9624-CAB5E32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666744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BATCH</a:t>
            </a:r>
          </a:p>
        </p:txBody>
      </p:sp>
      <p:sp>
        <p:nvSpPr>
          <p:cNvPr id="31" name="STC-19-queue-list-dot-2">
            <a:extLst xmlns:a="http://schemas.openxmlformats.org/drawingml/2006/main">
              <a:ext uri="{FF2B5EF4-FFF2-40B4-BE49-F238E27FC236}">
                <a16:creationId xmlns:a16="http://schemas.microsoft.com/office/drawing/2014/main" id="{E496E215-F79B-469B-BBE8-CF8EF9C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3525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2" name="STC-19-queue-list-item-2">
            <a:extLst xmlns:a="http://schemas.openxmlformats.org/drawingml/2006/main">
              <a:ext uri="{FF2B5EF4-FFF2-40B4-BE49-F238E27FC236}">
                <a16:creationId xmlns:a16="http://schemas.microsoft.com/office/drawing/2014/main" id="{FFB533E4-70D8-4C8C-B351-8321BED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242816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BUDGET</a:t>
            </a:r>
          </a:p>
        </p:txBody>
      </p:sp>
      <p:sp>
        <p:nvSpPr>
          <p:cNvPr id="33" name="STC-19-queue-list-dot-3">
            <a:extLst xmlns:a="http://schemas.openxmlformats.org/drawingml/2006/main">
              <a:ext uri="{FF2B5EF4-FFF2-40B4-BE49-F238E27FC236}">
                <a16:creationId xmlns:a16="http://schemas.microsoft.com/office/drawing/2014/main" id="{00CE8CBC-7ACA-42B9-B806-4B09AB7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2861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4" name="STC-19-queue-list-item-3">
            <a:extLst xmlns:a="http://schemas.openxmlformats.org/drawingml/2006/main">
              <a:ext uri="{FF2B5EF4-FFF2-40B4-BE49-F238E27FC236}">
                <a16:creationId xmlns:a16="http://schemas.microsoft.com/office/drawing/2014/main" id="{8433124C-C473-482D-BC3A-3BB5231B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818888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PREEMPT</a:t>
            </a:r>
          </a:p>
        </p:txBody>
      </p:sp>
      <p:sp>
        <p:nvSpPr>
          <p:cNvPr id="35" name="STC-19-queue-hyp">
            <a:extLst xmlns:a="http://schemas.openxmlformats.org/drawingml/2006/main">
              <a:ext uri="{FF2B5EF4-FFF2-40B4-BE49-F238E27FC236}">
                <a16:creationId xmlns:a16="http://schemas.microsoft.com/office/drawing/2014/main" id="{F2F6C95C-6C39-4C28-A60D-0BBF415D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623560"/>
            <a:ext cx="4325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idle·deadline·queue depth·risk event</a:t>
            </a:r>
          </a:p>
        </p:txBody>
      </p:sp>
    </p:spTree>
    <p:extLst>
      <p:ext uri="{BB962C8B-B14F-4D97-AF65-F5344CB8AC3E}">
        <p14:creationId xmlns:p14="http://schemas.microsoft.com/office/powerpoint/2010/main" val="127104427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5-section">
            <a:extLst xmlns:a="http://schemas.openxmlformats.org/drawingml/2006/main">
              <a:ext uri="{FF2B5EF4-FFF2-40B4-BE49-F238E27FC236}">
                <a16:creationId xmlns:a16="http://schemas.microsoft.com/office/drawing/2014/main" id="{4EB293F4-2487-4875-A051-A51EF03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EVIDENCE</a:t>
            </a:r>
          </a:p>
        </p:txBody>
      </p:sp>
      <p:sp>
        <p:nvSpPr>
          <p:cNvPr id="3" name="STC-05-slide-id">
            <a:extLst xmlns:a="http://schemas.openxmlformats.org/drawingml/2006/main">
              <a:ext uri="{FF2B5EF4-FFF2-40B4-BE49-F238E27FC236}">
                <a16:creationId xmlns:a16="http://schemas.microsoft.com/office/drawing/2014/main" id="{ADA37B78-4681-47CC-8ABD-231FF75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STC-063</a:t>
            </a:r>
          </a:p>
        </p:txBody>
      </p:sp>
      <p:sp>
        <p:nvSpPr>
          <p:cNvPr id="4" name="STC-05-headline">
            <a:extLst xmlns:a="http://schemas.openxmlformats.org/drawingml/2006/main">
              <a:ext uri="{FF2B5EF4-FFF2-40B4-BE49-F238E27FC236}">
                <a16:creationId xmlns:a16="http://schemas.microsoft.com/office/drawing/2014/main" id="{C0042C5F-B994-40F5-9D17-CDF4F63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Evidence는 이름이 아니라 성숙도 ladder로 읽는다</a:t>
            </a:r>
          </a:p>
        </p:txBody>
      </p:sp>
      <p:sp>
        <p:nvSpPr>
          <p:cNvPr id="5" name="STC-05-status-label">
            <a:extLst xmlns:a="http://schemas.openxmlformats.org/drawingml/2006/main">
              <a:ext uri="{FF2B5EF4-FFF2-40B4-BE49-F238E27FC236}">
                <a16:creationId xmlns:a16="http://schemas.microsoft.com/office/drawing/2014/main" id="{EE32DF01-4AF9-4194-A3CD-CDD00480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방법</a:t>
            </a:r>
          </a:p>
        </p:txBody>
      </p:sp>
      <p:sp>
        <p:nvSpPr>
          <p:cNvPr id="6" name="STC-05-status-rule">
            <a:extLst xmlns:a="http://schemas.openxmlformats.org/drawingml/2006/main">
              <a:ext uri="{FF2B5EF4-FFF2-40B4-BE49-F238E27FC236}">
                <a16:creationId xmlns:a16="http://schemas.microsoft.com/office/drawing/2014/main" id="{C840C613-2B9B-42D8-81E9-9D7013B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5-footer-rule">
            <a:extLst xmlns:a="http://schemas.openxmlformats.org/drawingml/2006/main">
              <a:ext uri="{FF2B5EF4-FFF2-40B4-BE49-F238E27FC236}">
                <a16:creationId xmlns:a16="http://schemas.microsoft.com/office/drawing/2014/main" id="{0F3B0E16-5517-43D6-958E-D3025B3C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5-source-footer">
            <a:extLst xmlns:a="http://schemas.openxmlformats.org/drawingml/2006/main">
              <a:ext uri="{FF2B5EF4-FFF2-40B4-BE49-F238E27FC236}">
                <a16:creationId xmlns:a16="http://schemas.microsoft.com/office/drawing/2014/main" id="{74620DE9-3F83-42E5-883F-E8200AD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§9 · date-frozen corpus</a:t>
            </a:r>
          </a:p>
        </p:txBody>
      </p:sp>
      <p:sp>
        <p:nvSpPr>
          <p:cNvPr id="9" name="STC-05-page-number">
            <a:extLst xmlns:a="http://schemas.openxmlformats.org/drawingml/2006/main">
              <a:ext uri="{FF2B5EF4-FFF2-40B4-BE49-F238E27FC236}">
                <a16:creationId xmlns:a16="http://schemas.microsoft.com/office/drawing/2014/main" id="{972071EA-0D7F-4941-9099-5374304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63</a:t>
            </a:r>
          </a:p>
        </p:txBody>
      </p:sp>
      <p:sp>
        <p:nvSpPr>
          <p:cNvPr id="11" name="STC-05-timeline">
            <a:extLst xmlns:a="http://schemas.openxmlformats.org/drawingml/2006/main">
              <a:ext uri="{FF2B5EF4-FFF2-40B4-BE49-F238E27FC236}">
                <a16:creationId xmlns:a16="http://schemas.microsoft.com/office/drawing/2014/main" id="{FDC06D83-4E5F-43DC-A42D-CF01BE87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2152"/>
            <a:ext cx="10241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7191C"/>
            </a:solidFill>
            <a:prstDash val="solid"/>
            <a:tailEnd type="none"/>
          </a:ln>
        </p:spPr>
      </p:sp>
      <p:sp>
        <p:nvSpPr>
          <p:cNvPr id="12" name="STC-05-event-dot-0">
            <a:extLst xmlns:a="http://schemas.openxmlformats.org/drawingml/2006/main">
              <a:ext uri="{FF2B5EF4-FFF2-40B4-BE49-F238E27FC236}">
                <a16:creationId xmlns:a16="http://schemas.microsoft.com/office/drawing/2014/main" id="{BD1AF91B-C2E9-4DDF-A0D3-EF4E5FD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3" name="STC-05-event-stem-0">
            <a:extLst xmlns:a="http://schemas.openxmlformats.org/drawingml/2006/main">
              <a:ext uri="{FF2B5EF4-FFF2-40B4-BE49-F238E27FC236}">
                <a16:creationId xmlns:a16="http://schemas.microsoft.com/office/drawing/2014/main" id="{06758DD2-7ACE-4192-A59A-B2970D0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5-event-year-0">
            <a:extLst xmlns:a="http://schemas.openxmlformats.org/drawingml/2006/main">
              <a:ext uri="{FF2B5EF4-FFF2-40B4-BE49-F238E27FC236}">
                <a16:creationId xmlns:a16="http://schemas.microsoft.com/office/drawing/2014/main" id="{5881B83D-3ECB-420F-AB81-C09B181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E0</a:t>
            </a:r>
          </a:p>
        </p:txBody>
      </p:sp>
      <p:sp>
        <p:nvSpPr>
          <p:cNvPr id="15" name="STC-05-event-label-0">
            <a:extLst xmlns:a="http://schemas.openxmlformats.org/drawingml/2006/main">
              <a:ext uri="{FF2B5EF4-FFF2-40B4-BE49-F238E27FC236}">
                <a16:creationId xmlns:a16="http://schemas.microsoft.com/office/drawing/2014/main" id="{3686FD3B-B917-4A27-8EE2-BEA2AE48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Wake–Sleep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CLS</a:t>
            </a:r>
          </a:p>
        </p:txBody>
      </p:sp>
      <p:sp>
        <p:nvSpPr>
          <p:cNvPr id="16" name="STC-05-event-dot-1">
            <a:extLst xmlns:a="http://schemas.openxmlformats.org/drawingml/2006/main">
              <a:ext uri="{FF2B5EF4-FFF2-40B4-BE49-F238E27FC236}">
                <a16:creationId xmlns:a16="http://schemas.microsoft.com/office/drawing/2014/main" id="{C8A5E224-8698-4BA8-A45B-4CED69A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5-event-stem-1">
            <a:extLst xmlns:a="http://schemas.openxmlformats.org/drawingml/2006/main">
              <a:ext uri="{FF2B5EF4-FFF2-40B4-BE49-F238E27FC236}">
                <a16:creationId xmlns:a16="http://schemas.microsoft.com/office/drawing/2014/main" id="{629A8D21-A54E-47A2-9335-41816FC3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05-event-year-1">
            <a:extLst xmlns:a="http://schemas.openxmlformats.org/drawingml/2006/main">
              <a:ext uri="{FF2B5EF4-FFF2-40B4-BE49-F238E27FC236}">
                <a16:creationId xmlns:a16="http://schemas.microsoft.com/office/drawing/2014/main" id="{EA0E4208-21CF-4C93-9736-CFC4B28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E1</a:t>
            </a:r>
          </a:p>
        </p:txBody>
      </p:sp>
      <p:sp>
        <p:nvSpPr>
          <p:cNvPr id="19" name="STC-05-event-label-1">
            <a:extLst xmlns:a="http://schemas.openxmlformats.org/drawingml/2006/main">
              <a:ext uri="{FF2B5EF4-FFF2-40B4-BE49-F238E27FC236}">
                <a16:creationId xmlns:a16="http://schemas.microsoft.com/office/drawing/2014/main" id="{FA009628-E912-4C56-8923-991C0787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EWC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TTT</a:t>
            </a:r>
          </a:p>
        </p:txBody>
      </p:sp>
      <p:sp>
        <p:nvSpPr>
          <p:cNvPr id="20" name="STC-05-event-dot-2">
            <a:extLst xmlns:a="http://schemas.openxmlformats.org/drawingml/2006/main">
              <a:ext uri="{FF2B5EF4-FFF2-40B4-BE49-F238E27FC236}">
                <a16:creationId xmlns:a16="http://schemas.microsoft.com/office/drawing/2014/main" id="{47C3E26C-C517-4853-A881-0E49672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1" name="STC-05-event-stem-2">
            <a:extLst xmlns:a="http://schemas.openxmlformats.org/drawingml/2006/main">
              <a:ext uri="{FF2B5EF4-FFF2-40B4-BE49-F238E27FC236}">
                <a16:creationId xmlns:a16="http://schemas.microsoft.com/office/drawing/2014/main" id="{C9FF1A76-5C3C-41A5-8F67-1B7483AE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22" name="STC-05-event-year-2">
            <a:extLst xmlns:a="http://schemas.openxmlformats.org/drawingml/2006/main">
              <a:ext uri="{FF2B5EF4-FFF2-40B4-BE49-F238E27FC236}">
                <a16:creationId xmlns:a16="http://schemas.microsoft.com/office/drawing/2014/main" id="{28639CBC-4980-43EB-959C-CCB8506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E2</a:t>
            </a:r>
          </a:p>
        </p:txBody>
      </p:sp>
      <p:sp>
        <p:nvSpPr>
          <p:cNvPr id="23" name="STC-05-event-label-2">
            <a:extLst xmlns:a="http://schemas.openxmlformats.org/drawingml/2006/main">
              <a:ext uri="{FF2B5EF4-FFF2-40B4-BE49-F238E27FC236}">
                <a16:creationId xmlns:a16="http://schemas.microsoft.com/office/drawing/2014/main" id="{F6AA30A3-A65B-4212-8ECD-7B2E134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PLOS SNN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PAD / replay</a:t>
            </a:r>
          </a:p>
        </p:txBody>
      </p:sp>
      <p:sp>
        <p:nvSpPr>
          <p:cNvPr id="24" name="STC-05-event-dot-3">
            <a:extLst xmlns:a="http://schemas.openxmlformats.org/drawingml/2006/main">
              <a:ext uri="{FF2B5EF4-FFF2-40B4-BE49-F238E27FC236}">
                <a16:creationId xmlns:a16="http://schemas.microsoft.com/office/drawing/2014/main" id="{A28C8910-E77D-4C8B-93B2-FC7DB93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5-event-stem-3">
            <a:extLst xmlns:a="http://schemas.openxmlformats.org/drawingml/2006/main">
              <a:ext uri="{FF2B5EF4-FFF2-40B4-BE49-F238E27FC236}">
                <a16:creationId xmlns:a16="http://schemas.microsoft.com/office/drawing/2014/main" id="{5BBE5078-49AC-4A31-A149-1F3BEDC0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63"/>
            </a:solidFill>
            <a:prstDash val="solid"/>
            <a:tailEnd type="none"/>
          </a:ln>
        </p:spPr>
      </p:sp>
      <p:sp>
        <p:nvSpPr>
          <p:cNvPr id="26" name="STC-05-event-year-3">
            <a:extLst xmlns:a="http://schemas.openxmlformats.org/drawingml/2006/main">
              <a:ext uri="{FF2B5EF4-FFF2-40B4-BE49-F238E27FC236}">
                <a16:creationId xmlns:a16="http://schemas.microsoft.com/office/drawing/2014/main" id="{B197888C-51CE-4384-A8C7-B05DFBDF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E3</a:t>
            </a:r>
          </a:p>
        </p:txBody>
      </p:sp>
      <p:sp>
        <p:nvSpPr>
          <p:cNvPr id="27" name="STC-05-event-label-3">
            <a:extLst xmlns:a="http://schemas.openxmlformats.org/drawingml/2006/main">
              <a:ext uri="{FF2B5EF4-FFF2-40B4-BE49-F238E27FC236}">
                <a16:creationId xmlns:a16="http://schemas.microsoft.com/office/drawing/2014/main" id="{42E3A0C7-3BA0-4C4E-B20A-E7F0E6E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MemGPT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latent memory</a:t>
            </a:r>
          </a:p>
        </p:txBody>
      </p:sp>
      <p:sp>
        <p:nvSpPr>
          <p:cNvPr id="28" name="STC-05-event-dot-4">
            <a:extLst xmlns:a="http://schemas.openxmlformats.org/drawingml/2006/main">
              <a:ext uri="{FF2B5EF4-FFF2-40B4-BE49-F238E27FC236}">
                <a16:creationId xmlns:a16="http://schemas.microsoft.com/office/drawing/2014/main" id="{0729C98D-FDD7-4FDA-8E5D-7762A584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5-event-stem-4">
            <a:extLst xmlns:a="http://schemas.openxmlformats.org/drawingml/2006/main">
              <a:ext uri="{FF2B5EF4-FFF2-40B4-BE49-F238E27FC236}">
                <a16:creationId xmlns:a16="http://schemas.microsoft.com/office/drawing/2014/main" id="{B4B9AB9A-6DD0-4EF4-9DEA-F4F02EF1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30" name="STC-05-event-year-4">
            <a:extLst xmlns:a="http://schemas.openxmlformats.org/drawingml/2006/main">
              <a:ext uri="{FF2B5EF4-FFF2-40B4-BE49-F238E27FC236}">
                <a16:creationId xmlns:a16="http://schemas.microsoft.com/office/drawing/2014/main" id="{B14013F7-7C70-4748-AF35-9F3DB7F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E4</a:t>
            </a:r>
          </a:p>
        </p:txBody>
      </p:sp>
      <p:sp>
        <p:nvSpPr>
          <p:cNvPr id="31" name="STC-05-event-label-4">
            <a:extLst xmlns:a="http://schemas.openxmlformats.org/drawingml/2006/main">
              <a:ext uri="{FF2B5EF4-FFF2-40B4-BE49-F238E27FC236}">
                <a16:creationId xmlns:a16="http://schemas.microsoft.com/office/drawing/2014/main" id="{65A91C20-EAFF-4904-A036-F8ECF8C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Sleep-time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· SMF</a:t>
            </a:r>
          </a:p>
        </p:txBody>
      </p:sp>
      <p:sp>
        <p:nvSpPr>
          <p:cNvPr id="32" name="STC-05-event-dot-5">
            <a:extLst xmlns:a="http://schemas.openxmlformats.org/drawingml/2006/main">
              <a:ext uri="{FF2B5EF4-FFF2-40B4-BE49-F238E27FC236}">
                <a16:creationId xmlns:a16="http://schemas.microsoft.com/office/drawing/2014/main" id="{25A57411-A4A0-474C-A732-B967C9E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3" name="STC-05-event-stem-5">
            <a:extLst xmlns:a="http://schemas.openxmlformats.org/drawingml/2006/main">
              <a:ext uri="{FF2B5EF4-FFF2-40B4-BE49-F238E27FC236}">
                <a16:creationId xmlns:a16="http://schemas.microsoft.com/office/drawing/2014/main" id="{A182FC75-10E1-41B2-8C35-9A1594CE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34" name="STC-05-event-year-5">
            <a:extLst xmlns:a="http://schemas.openxmlformats.org/drawingml/2006/main">
              <a:ext uri="{FF2B5EF4-FFF2-40B4-BE49-F238E27FC236}">
                <a16:creationId xmlns:a16="http://schemas.microsoft.com/office/drawing/2014/main" id="{AA8F393F-74C8-4C97-9374-730E99E9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E5</a:t>
            </a:r>
          </a:p>
        </p:txBody>
      </p:sp>
      <p:sp>
        <p:nvSpPr>
          <p:cNvPr id="35" name="STC-05-event-label-5">
            <a:extLst xmlns:a="http://schemas.openxmlformats.org/drawingml/2006/main">
              <a:ext uri="{FF2B5EF4-FFF2-40B4-BE49-F238E27FC236}">
                <a16:creationId xmlns:a16="http://schemas.microsoft.com/office/drawing/2014/main" id="{DD134BE3-6BEF-45B1-9DCC-8C1FE196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fast→slow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 sleep</a:t>
            </a:r>
          </a:p>
        </p:txBody>
      </p:sp>
      <p:sp>
        <p:nvSpPr>
          <p:cNvPr id="36" name="STC-05-chrono-warning">
            <a:extLst xmlns:a="http://schemas.openxmlformats.org/drawingml/2006/main">
              <a:ext uri="{FF2B5EF4-FFF2-40B4-BE49-F238E27FC236}">
                <a16:creationId xmlns:a16="http://schemas.microsoft.com/office/drawing/2014/main" id="{4C083F30-891B-4FEB-B8FC-4C24B4B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21808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E0</a:t>
            </a:r>
          </a:p>
        </p:txBody>
      </p:sp>
      <p:sp>
        <p:nvSpPr>
          <p:cNvPr id="37" name="STC-05-chrono-warning-text">
            <a:extLst xmlns:a="http://schemas.openxmlformats.org/drawingml/2006/main">
              <a:ext uri="{FF2B5EF4-FFF2-40B4-BE49-F238E27FC236}">
                <a16:creationId xmlns:a16="http://schemas.microsoft.com/office/drawing/2014/main" id="{394734EC-4DD3-4AC7-A25F-A48AAD57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5266944"/>
            <a:ext cx="80924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Expected value가 커도 evidence maturity가 자동으로 높아지지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5148316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2-section">
            <a:extLst xmlns:a="http://schemas.openxmlformats.org/drawingml/2006/main">
              <a:ext uri="{FF2B5EF4-FFF2-40B4-BE49-F238E27FC236}">
                <a16:creationId xmlns:a16="http://schemas.microsoft.com/office/drawing/2014/main" id="{4180C3F7-6A15-4C91-AC40-C6EFAC3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DIRECT EVIDENCE</a:t>
            </a:r>
          </a:p>
        </p:txBody>
      </p:sp>
      <p:sp>
        <p:nvSpPr>
          <p:cNvPr id="3" name="STC-22-slide-id">
            <a:extLst xmlns:a="http://schemas.openxmlformats.org/drawingml/2006/main">
              <a:ext uri="{FF2B5EF4-FFF2-40B4-BE49-F238E27FC236}">
                <a16:creationId xmlns:a16="http://schemas.microsoft.com/office/drawing/2014/main" id="{3804CF65-2A49-4297-AA78-B81BECD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STC-064</a:t>
            </a:r>
          </a:p>
        </p:txBody>
      </p:sp>
      <p:sp>
        <p:nvSpPr>
          <p:cNvPr id="4" name="STC-22-headline">
            <a:extLst xmlns:a="http://schemas.openxmlformats.org/drawingml/2006/main">
              <a:ext uri="{FF2B5EF4-FFF2-40B4-BE49-F238E27FC236}">
                <a16:creationId xmlns:a16="http://schemas.microsoft.com/office/drawing/2014/main" id="{C6C623A0-9133-4826-A8FC-64607D4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2025 STC는 ‘질의 전 reasoning’의 직접 이득을 보였다</a:t>
            </a:r>
          </a:p>
        </p:txBody>
      </p:sp>
      <p:sp>
        <p:nvSpPr>
          <p:cNvPr id="5" name="STC-22-status-label">
            <a:extLst xmlns:a="http://schemas.openxmlformats.org/drawingml/2006/main">
              <a:ext uri="{FF2B5EF4-FFF2-40B4-BE49-F238E27FC236}">
                <a16:creationId xmlns:a16="http://schemas.microsoft.com/office/drawing/2014/main" id="{92F9BE62-8C46-4417-BE9C-5FC4092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22-status-rule">
            <a:extLst xmlns:a="http://schemas.openxmlformats.org/drawingml/2006/main">
              <a:ext uri="{FF2B5EF4-FFF2-40B4-BE49-F238E27FC236}">
                <a16:creationId xmlns:a16="http://schemas.microsoft.com/office/drawing/2014/main" id="{2396AE1D-4459-4B08-B4DD-3923B63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2-footer-rule">
            <a:extLst xmlns:a="http://schemas.openxmlformats.org/drawingml/2006/main">
              <a:ext uri="{FF2B5EF4-FFF2-40B4-BE49-F238E27FC236}">
                <a16:creationId xmlns:a16="http://schemas.microsoft.com/office/drawing/2014/main" id="{1472DC8A-989B-45B0-A5DE-A3E5DA4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2-source-footer">
            <a:extLst xmlns:a="http://schemas.openxmlformats.org/drawingml/2006/main">
              <a:ext uri="{FF2B5EF4-FFF2-40B4-BE49-F238E27FC236}">
                <a16:creationId xmlns:a16="http://schemas.microsoft.com/office/drawing/2014/main" id="{49A30577-C7E9-4496-A776-32411A5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Lin et al. 2025 · STC-T01</a:t>
            </a:r>
          </a:p>
        </p:txBody>
      </p:sp>
      <p:sp>
        <p:nvSpPr>
          <p:cNvPr id="9" name="STC-22-page-number">
            <a:extLst xmlns:a="http://schemas.openxmlformats.org/drawingml/2006/main">
              <a:ext uri="{FF2B5EF4-FFF2-40B4-BE49-F238E27FC236}">
                <a16:creationId xmlns:a16="http://schemas.microsoft.com/office/drawing/2014/main" id="{ADEE1784-A5FA-41A8-B67A-05D8BBDB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64</a:t>
            </a:r>
          </a:p>
        </p:txBody>
      </p:sp>
      <p:sp>
        <p:nvSpPr>
          <p:cNvPr id="11" name="STC-22-bench-297">
            <a:extLst xmlns:a="http://schemas.openxmlformats.org/drawingml/2006/main">
              <a:ext uri="{FF2B5EF4-FFF2-40B4-BE49-F238E27FC236}">
                <a16:creationId xmlns:a16="http://schemas.microsoft.com/office/drawing/2014/main" id="{C6602EC3-F3A6-4416-8E17-A21555A2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73352"/>
            <a:ext cx="18745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≈5×</a:t>
            </a:r>
          </a:p>
        </p:txBody>
      </p:sp>
      <p:sp>
        <p:nvSpPr>
          <p:cNvPr id="12" name="STC-22-bench-logical">
            <a:extLst xmlns:a="http://schemas.openxmlformats.org/drawingml/2006/main">
              <a:ext uri="{FF2B5EF4-FFF2-40B4-BE49-F238E27FC236}">
                <a16:creationId xmlns:a16="http://schemas.microsoft.com/office/drawing/2014/main" id="{8DA20E08-D255-4B2F-93C4-AD9CCA39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8775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LATENCY</a:t>
            </a:r>
          </a:p>
        </p:txBody>
      </p:sp>
      <p:sp>
        <p:nvSpPr>
          <p:cNvPr id="13" name="STC-22-bench-arrow-1">
            <a:extLst xmlns:a="http://schemas.openxmlformats.org/drawingml/2006/main">
              <a:ext uri="{FF2B5EF4-FFF2-40B4-BE49-F238E27FC236}">
                <a16:creationId xmlns:a16="http://schemas.microsoft.com/office/drawing/2014/main" id="{090B24F6-7D86-4F9D-8B04-FC92B68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210312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22-bench-matrix-0">
            <a:extLst xmlns:a="http://schemas.openxmlformats.org/drawingml/2006/main">
              <a:ext uri="{FF2B5EF4-FFF2-40B4-BE49-F238E27FC236}">
                <a16:creationId xmlns:a16="http://schemas.microsoft.com/office/drawing/2014/main" id="{5B2DD893-8316-4CAB-A1C4-244B051B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627632"/>
            <a:ext cx="354787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5" name="STC-22-bench-matrix-num-0">
            <a:extLst xmlns:a="http://schemas.openxmlformats.org/drawingml/2006/main">
              <a:ext uri="{FF2B5EF4-FFF2-40B4-BE49-F238E27FC236}">
                <a16:creationId xmlns:a16="http://schemas.microsoft.com/office/drawing/2014/main" id="{4291DB3E-D2CA-4231-AF01-98422450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810512"/>
            <a:ext cx="9326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+13%</a:t>
            </a:r>
          </a:p>
        </p:txBody>
      </p:sp>
      <p:sp>
        <p:nvSpPr>
          <p:cNvPr id="16" name="STC-22-bench-matrix-label-0">
            <a:extLst xmlns:a="http://schemas.openxmlformats.org/drawingml/2006/main">
              <a:ext uri="{FF2B5EF4-FFF2-40B4-BE49-F238E27FC236}">
                <a16:creationId xmlns:a16="http://schemas.microsoft.com/office/drawing/2014/main" id="{CF17F528-0F0F-4BD2-9158-AFD153C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74520"/>
            <a:ext cx="2148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LATENCY</a:t>
            </a:r>
          </a:p>
        </p:txBody>
      </p:sp>
      <p:sp>
        <p:nvSpPr>
          <p:cNvPr id="17" name="STC-22-bench-matrix-formula-0">
            <a:extLst xmlns:a="http://schemas.openxmlformats.org/drawingml/2006/main">
              <a:ext uri="{FF2B5EF4-FFF2-40B4-BE49-F238E27FC236}">
                <a16:creationId xmlns:a16="http://schemas.microsoft.com/office/drawing/2014/main" id="{730A2054-9EC9-4A4A-ABB0-968B976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1720"/>
            <a:ext cx="314553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6 deployable × 3 reuse × 3 pressure × 3 seeds = 162</a:t>
            </a:r>
          </a:p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+ oracle on 27 operating cells</a:t>
            </a:r>
          </a:p>
        </p:txBody>
      </p:sp>
      <p:sp>
        <p:nvSpPr>
          <p:cNvPr id="18" name="STC-22-bench-matrix-1">
            <a:extLst xmlns:a="http://schemas.openxmlformats.org/drawingml/2006/main">
              <a:ext uri="{FF2B5EF4-FFF2-40B4-BE49-F238E27FC236}">
                <a16:creationId xmlns:a16="http://schemas.microsoft.com/office/drawing/2014/main" id="{F8A43887-ABDF-4499-851D-156E88E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627632"/>
            <a:ext cx="354787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9" name="STC-22-bench-matrix-num-1">
            <a:extLst xmlns:a="http://schemas.openxmlformats.org/drawingml/2006/main">
              <a:ext uri="{FF2B5EF4-FFF2-40B4-BE49-F238E27FC236}">
                <a16:creationId xmlns:a16="http://schemas.microsoft.com/office/drawing/2014/main" id="{8254FB44-CB56-423F-A461-E5BAB04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1810512"/>
            <a:ext cx="9326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+18%</a:t>
            </a:r>
          </a:p>
        </p:txBody>
      </p:sp>
      <p:sp>
        <p:nvSpPr>
          <p:cNvPr id="20" name="STC-22-bench-matrix-label-1">
            <a:extLst xmlns:a="http://schemas.openxmlformats.org/drawingml/2006/main">
              <a:ext uri="{FF2B5EF4-FFF2-40B4-BE49-F238E27FC236}">
                <a16:creationId xmlns:a16="http://schemas.microsoft.com/office/drawing/2014/main" id="{42992EE3-0B0C-4A56-B736-5BE828E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874520"/>
            <a:ext cx="2148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GSM</a:t>
            </a:r>
          </a:p>
        </p:txBody>
      </p:sp>
      <p:sp>
        <p:nvSpPr>
          <p:cNvPr id="21" name="STC-22-bench-matrix-formula-1">
            <a:extLst xmlns:a="http://schemas.openxmlformats.org/drawingml/2006/main">
              <a:ext uri="{FF2B5EF4-FFF2-40B4-BE49-F238E27FC236}">
                <a16:creationId xmlns:a16="http://schemas.microsoft.com/office/drawing/2014/main" id="{B6B3CFFE-5D9D-4BC9-95BA-6ADFD9C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31720"/>
            <a:ext cx="314553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2 schedules × 2 operators × 3 reuse</a:t>
            </a:r>
          </a:p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× 3 pressure × 3 seeds</a:t>
            </a:r>
          </a:p>
        </p:txBody>
      </p:sp>
      <p:sp>
        <p:nvSpPr>
          <p:cNvPr id="22" name="STC-22-bench-divider">
            <a:extLst xmlns:a="http://schemas.openxmlformats.org/drawingml/2006/main">
              <a:ext uri="{FF2B5EF4-FFF2-40B4-BE49-F238E27FC236}">
                <a16:creationId xmlns:a16="http://schemas.microsoft.com/office/drawing/2014/main" id="{B53D7724-8EB6-4595-9871-D63BC21B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29584"/>
            <a:ext cx="10378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3" name="STC-22-bench-contract-num-0">
            <a:extLst xmlns:a="http://schemas.openxmlformats.org/drawingml/2006/main">
              <a:ext uri="{FF2B5EF4-FFF2-40B4-BE49-F238E27FC236}">
                <a16:creationId xmlns:a16="http://schemas.microsoft.com/office/drawing/2014/main" id="{667AE726-162D-490B-8CDA-EA136F7A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2.5×</a:t>
            </a:r>
          </a:p>
        </p:txBody>
      </p:sp>
      <p:sp>
        <p:nvSpPr>
          <p:cNvPr id="24" name="STC-22-bench-contract-body-0">
            <a:extLst xmlns:a="http://schemas.openxmlformats.org/drawingml/2006/main">
              <a:ext uri="{FF2B5EF4-FFF2-40B4-BE49-F238E27FC236}">
                <a16:creationId xmlns:a16="http://schemas.microsoft.com/office/drawing/2014/main" id="{A28454A5-E173-4BDA-B5F6-1FB8797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fixed blocks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16 families × 3 seeds</a:t>
            </a:r>
          </a:p>
        </p:txBody>
      </p:sp>
      <p:sp>
        <p:nvSpPr>
          <p:cNvPr id="25" name="STC-22-bench-contract-num-1">
            <a:extLst xmlns:a="http://schemas.openxmlformats.org/drawingml/2006/main">
              <a:ext uri="{FF2B5EF4-FFF2-40B4-BE49-F238E27FC236}">
                <a16:creationId xmlns:a16="http://schemas.microsoft.com/office/drawing/2014/main" id="{B198C229-D1BA-4293-9989-58293C7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≈5×↓</a:t>
            </a:r>
          </a:p>
        </p:txBody>
      </p:sp>
      <p:sp>
        <p:nvSpPr>
          <p:cNvPr id="26" name="STC-22-bench-contract-body-1">
            <a:extLst xmlns:a="http://schemas.openxmlformats.org/drawingml/2006/main">
              <a:ext uri="{FF2B5EF4-FFF2-40B4-BE49-F238E27FC236}">
                <a16:creationId xmlns:a16="http://schemas.microsoft.com/office/drawing/2014/main" id="{E4E1D573-6364-4D77-971F-CE6956AE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global rows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104 continuous + 27 RF</a:t>
            </a:r>
          </a:p>
        </p:txBody>
      </p:sp>
      <p:sp>
        <p:nvSpPr>
          <p:cNvPr id="27" name="STC-22-bench-contract-num-2">
            <a:extLst xmlns:a="http://schemas.openxmlformats.org/drawingml/2006/main">
              <a:ext uri="{FF2B5EF4-FFF2-40B4-BE49-F238E27FC236}">
                <a16:creationId xmlns:a16="http://schemas.microsoft.com/office/drawing/2014/main" id="{507068AE-9B0D-4DB4-ACB9-4F81615E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+13% max</a:t>
            </a:r>
          </a:p>
        </p:txBody>
      </p:sp>
      <p:sp>
        <p:nvSpPr>
          <p:cNvPr id="28" name="STC-22-bench-contract-body-2">
            <a:extLst xmlns:a="http://schemas.openxmlformats.org/drawingml/2006/main">
              <a:ext uri="{FF2B5EF4-FFF2-40B4-BE49-F238E27FC236}">
                <a16:creationId xmlns:a16="http://schemas.microsoft.com/office/drawing/2014/main" id="{926A2AFF-8F8C-42EC-A85F-DBF2AF1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blocked paired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bootstrap</a:t>
            </a:r>
          </a:p>
        </p:txBody>
      </p:sp>
      <p:sp>
        <p:nvSpPr>
          <p:cNvPr id="29" name="STC-22-bench-contract-num-3">
            <a:extLst xmlns:a="http://schemas.openxmlformats.org/drawingml/2006/main">
              <a:ext uri="{FF2B5EF4-FFF2-40B4-BE49-F238E27FC236}">
                <a16:creationId xmlns:a16="http://schemas.microsoft.com/office/drawing/2014/main" id="{2F60808A-E3BB-41F8-BE26-1EA47FA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+18% max</a:t>
            </a:r>
          </a:p>
        </p:txBody>
      </p:sp>
      <p:sp>
        <p:nvSpPr>
          <p:cNvPr id="30" name="STC-22-bench-contract-body-3">
            <a:extLst xmlns:a="http://schemas.openxmlformats.org/drawingml/2006/main">
              <a:ext uri="{FF2B5EF4-FFF2-40B4-BE49-F238E27FC236}">
                <a16:creationId xmlns:a16="http://schemas.microsoft.com/office/drawing/2014/main" id="{D829B34A-0180-4173-A0AD-83E4FFF6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질의당 평균 비용</a:t>
            </a:r>
          </a:p>
        </p:txBody>
      </p:sp>
      <p:sp>
        <p:nvSpPr>
          <p:cNvPr id="31" name="STC-22-bench-status">
            <a:extLst xmlns:a="http://schemas.openxmlformats.org/drawingml/2006/main">
              <a:ext uri="{FF2B5EF4-FFF2-40B4-BE49-F238E27FC236}">
                <a16:creationId xmlns:a16="http://schemas.microsoft.com/office/drawing/2014/main" id="{7ADBCEA5-EC84-4F10-AFAF-6D6CC751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04011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2" name="STC-22-bench-status-text">
            <a:extLst xmlns:a="http://schemas.openxmlformats.org/drawingml/2006/main">
              <a:ext uri="{FF2B5EF4-FFF2-40B4-BE49-F238E27FC236}">
                <a16:creationId xmlns:a16="http://schemas.microsoft.com/office/drawing/2014/main" id="{9A1A47B0-A494-4D74-8CAD-87501998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1536"/>
            <a:ext cx="9582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2.5×↓</a:t>
            </a:r>
          </a:p>
        </p:txBody>
      </p:sp>
    </p:spTree>
    <p:extLst>
      <p:ext uri="{BB962C8B-B14F-4D97-AF65-F5344CB8AC3E}">
        <p14:creationId xmlns:p14="http://schemas.microsoft.com/office/powerpoint/2010/main" val="77444618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DIRECT EVIDENCE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STC-065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2026 ‘Language Models Need Sleep’은 parametric sleep을 구성했다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Behrouz et al. 2026 · STC-T02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65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EXPAND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SEED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DREAM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EVAL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EXPAND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SEED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4-section">
            <a:extLst xmlns:a="http://schemas.openxmlformats.org/drawingml/2006/main">
              <a:ext uri="{FF2B5EF4-FFF2-40B4-BE49-F238E27FC236}">
                <a16:creationId xmlns:a16="http://schemas.microsoft.com/office/drawing/2014/main" id="{D55356B8-A175-4935-B209-7BD03E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NEGATIVE EVIDENCE</a:t>
            </a:r>
          </a:p>
        </p:txBody>
      </p:sp>
      <p:sp>
        <p:nvSpPr>
          <p:cNvPr id="3" name="STC-24-slide-id">
            <a:extLst xmlns:a="http://schemas.openxmlformats.org/drawingml/2006/main">
              <a:ext uri="{FF2B5EF4-FFF2-40B4-BE49-F238E27FC236}">
                <a16:creationId xmlns:a16="http://schemas.microsoft.com/office/drawing/2014/main" id="{78B2880B-1829-43C6-82F1-E91F313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STC-066</a:t>
            </a:r>
          </a:p>
        </p:txBody>
      </p:sp>
      <p:sp>
        <p:nvSpPr>
          <p:cNvPr id="4" name="STC-24-headline">
            <a:extLst xmlns:a="http://schemas.openxmlformats.org/drawingml/2006/main">
              <a:ext uri="{FF2B5EF4-FFF2-40B4-BE49-F238E27FC236}">
                <a16:creationId xmlns:a16="http://schemas.microsoft.com/office/drawing/2014/main" id="{7EFF5843-575F-446B-B829-1A50360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2026 continual fact study는 weight write의 reachability를 반박…</a:t>
            </a:r>
          </a:p>
        </p:txBody>
      </p:sp>
      <p:sp>
        <p:nvSpPr>
          <p:cNvPr id="5" name="STC-24-status-label">
            <a:extLst xmlns:a="http://schemas.openxmlformats.org/drawingml/2006/main">
              <a:ext uri="{FF2B5EF4-FFF2-40B4-BE49-F238E27FC236}">
                <a16:creationId xmlns:a16="http://schemas.microsoft.com/office/drawing/2014/main" id="{BB9E5C04-3E6C-4F28-B08B-9B9AD6E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직접 반증</a:t>
            </a:r>
          </a:p>
        </p:txBody>
      </p:sp>
      <p:sp>
        <p:nvSpPr>
          <p:cNvPr id="6" name="STC-24-status-rule">
            <a:extLst xmlns:a="http://schemas.openxmlformats.org/drawingml/2006/main">
              <a:ext uri="{FF2B5EF4-FFF2-40B4-BE49-F238E27FC236}">
                <a16:creationId xmlns:a16="http://schemas.microsoft.com/office/drawing/2014/main" id="{D1FC3B55-2A2E-45AA-95F6-0583EE5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4-footer-rule">
            <a:extLst xmlns:a="http://schemas.openxmlformats.org/drawingml/2006/main">
              <a:ext uri="{FF2B5EF4-FFF2-40B4-BE49-F238E27FC236}">
                <a16:creationId xmlns:a16="http://schemas.microsoft.com/office/drawing/2014/main" id="{0F5FF2EC-5946-4BA4-AC60-2C5FB9C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4-source-footer">
            <a:extLst xmlns:a="http://schemas.openxmlformats.org/drawingml/2006/main">
              <a:ext uri="{FF2B5EF4-FFF2-40B4-BE49-F238E27FC236}">
                <a16:creationId xmlns:a16="http://schemas.microsoft.com/office/drawing/2014/main" id="{5BD7A1B6-F31C-4947-B44A-705BBCA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STC-T03 · sequential fact writes</a:t>
            </a:r>
          </a:p>
        </p:txBody>
      </p:sp>
      <p:sp>
        <p:nvSpPr>
          <p:cNvPr id="9" name="STC-24-page-number">
            <a:extLst xmlns:a="http://schemas.openxmlformats.org/drawingml/2006/main">
              <a:ext uri="{FF2B5EF4-FFF2-40B4-BE49-F238E27FC236}">
                <a16:creationId xmlns:a16="http://schemas.microsoft.com/office/drawing/2014/main" id="{9DD45F5A-4477-4865-A126-C6C266F7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66</a:t>
            </a:r>
          </a:p>
        </p:txBody>
      </p:sp>
      <p:sp>
        <p:nvSpPr>
          <p:cNvPr id="11" name="STC-24-redteam-field">
            <a:extLst xmlns:a="http://schemas.openxmlformats.org/drawingml/2006/main">
              <a:ext uri="{FF2B5EF4-FFF2-40B4-BE49-F238E27FC236}">
                <a16:creationId xmlns:a16="http://schemas.microsoft.com/office/drawing/2014/main" id="{7103473D-2E31-4B30-9328-78263DD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2852928" cy="431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2" name="STC-24-redteam-31">
            <a:extLst xmlns:a="http://schemas.openxmlformats.org/drawingml/2006/main">
              <a:ext uri="{FF2B5EF4-FFF2-40B4-BE49-F238E27FC236}">
                <a16:creationId xmlns:a16="http://schemas.microsoft.com/office/drawing/2014/main" id="{8AF4504C-B767-48D4-BBCD-94EC5AF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01952"/>
            <a:ext cx="221284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05</a:t>
            </a:r>
          </a:p>
        </p:txBody>
      </p:sp>
      <p:sp>
        <p:nvSpPr>
          <p:cNvPr id="13" name="STC-24-redteam-findings">
            <a:extLst xmlns:a="http://schemas.openxmlformats.org/drawingml/2006/main">
              <a:ext uri="{FF2B5EF4-FFF2-40B4-BE49-F238E27FC236}">
                <a16:creationId xmlns:a16="http://schemas.microsoft.com/office/drawing/2014/main" id="{B01523B4-485A-4132-B232-BA11A8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16352"/>
            <a:ext cx="221284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adversarial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findings</a:t>
            </a:r>
          </a:p>
        </p:txBody>
      </p:sp>
      <p:sp>
        <p:nvSpPr>
          <p:cNvPr id="14" name="STC-24-redteam-rule">
            <a:extLst xmlns:a="http://schemas.openxmlformats.org/drawingml/2006/main">
              <a:ext uri="{FF2B5EF4-FFF2-40B4-BE49-F238E27FC236}">
                <a16:creationId xmlns:a16="http://schemas.microsoft.com/office/drawing/2014/main" id="{2BB482A1-6070-4983-A590-0667FC85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2029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5" name="STC-24-redteam-domains">
            <a:extLst xmlns:a="http://schemas.openxmlformats.org/drawingml/2006/main">
              <a:ext uri="{FF2B5EF4-FFF2-40B4-BE49-F238E27FC236}">
                <a16:creationId xmlns:a16="http://schemas.microsoft.com/office/drawing/2014/main" id="{73A03FB3-05DD-41DF-89CC-C6C2AA2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05072"/>
            <a:ext cx="2029968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statistics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systems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publication</a:t>
            </a:r>
          </a:p>
        </p:txBody>
      </p:sp>
      <p:sp>
        <p:nvSpPr>
          <p:cNvPr id="16" name="STC-24-redteam-condition-0">
            <a:extLst xmlns:a="http://schemas.openxmlformats.org/drawingml/2006/main">
              <a:ext uri="{FF2B5EF4-FFF2-40B4-BE49-F238E27FC236}">
                <a16:creationId xmlns:a16="http://schemas.microsoft.com/office/drawing/2014/main" id="{9C6EFA57-2AF4-405B-B8E0-2644092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1636776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BREADTH</a:t>
            </a:r>
          </a:p>
        </p:txBody>
      </p:sp>
      <p:sp>
        <p:nvSpPr>
          <p:cNvPr id="17" name="STC-24-redteam-arrow-0">
            <a:extLst xmlns:a="http://schemas.openxmlformats.org/drawingml/2006/main">
              <a:ext uri="{FF2B5EF4-FFF2-40B4-BE49-F238E27FC236}">
                <a16:creationId xmlns:a16="http://schemas.microsoft.com/office/drawing/2014/main" id="{C29B3FBD-C180-4F47-B914-ABB0151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746504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18" name="STC-24-redteam-action-0">
            <a:extLst xmlns:a="http://schemas.openxmlformats.org/drawingml/2006/main">
              <a:ext uri="{FF2B5EF4-FFF2-40B4-BE49-F238E27FC236}">
                <a16:creationId xmlns:a16="http://schemas.microsoft.com/office/drawing/2014/main" id="{F2D57FF2-40C9-475B-8ADE-71EEA69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study data가 bare statement보다 application/com…</a:t>
            </a:r>
          </a:p>
        </p:txBody>
      </p:sp>
      <p:sp>
        <p:nvSpPr>
          <p:cNvPr id="19" name="STC-24-redteam-condition-1">
            <a:extLst xmlns:a="http://schemas.openxmlformats.org/drawingml/2006/main">
              <a:ext uri="{FF2B5EF4-FFF2-40B4-BE49-F238E27FC236}">
                <a16:creationId xmlns:a16="http://schemas.microsoft.com/office/drawing/2014/main" id="{BDE2CA5D-58FC-434F-A841-A08FD1A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46888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PLATEAU</a:t>
            </a:r>
          </a:p>
        </p:txBody>
      </p:sp>
      <p:sp>
        <p:nvSpPr>
          <p:cNvPr id="20" name="STC-24-redteam-arrow-1">
            <a:extLst xmlns:a="http://schemas.openxmlformats.org/drawingml/2006/main">
              <a:ext uri="{FF2B5EF4-FFF2-40B4-BE49-F238E27FC236}">
                <a16:creationId xmlns:a16="http://schemas.microsoft.com/office/drawing/2014/main" id="{4F577BF9-80F7-40D0-B459-5F8A21E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57860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1" name="STC-24-redteam-action-1">
            <a:extLst xmlns:a="http://schemas.openxmlformats.org/drawingml/2006/main">
              <a:ext uri="{FF2B5EF4-FFF2-40B4-BE49-F238E27FC236}">
                <a16:creationId xmlns:a16="http://schemas.microsoft.com/office/drawing/2014/main" id="{4B0FE478-8D2F-4712-9C23-542528B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2304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sequential write 뒤 old-fact survival이 낮은 수준에…</a:t>
            </a:r>
          </a:p>
        </p:txBody>
      </p:sp>
      <p:sp>
        <p:nvSpPr>
          <p:cNvPr id="22" name="STC-24-redteam-condition-2">
            <a:extLst xmlns:a="http://schemas.openxmlformats.org/drawingml/2006/main">
              <a:ext uri="{FF2B5EF4-FFF2-40B4-BE49-F238E27FC236}">
                <a16:creationId xmlns:a16="http://schemas.microsoft.com/office/drawing/2014/main" id="{11181FB9-A935-4704-BB86-C9143D9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300984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MISROUTE</a:t>
            </a:r>
          </a:p>
        </p:txBody>
      </p:sp>
      <p:sp>
        <p:nvSpPr>
          <p:cNvPr id="23" name="STC-24-redteam-arrow-2">
            <a:extLst xmlns:a="http://schemas.openxmlformats.org/drawingml/2006/main">
              <a:ext uri="{FF2B5EF4-FFF2-40B4-BE49-F238E27FC236}">
                <a16:creationId xmlns:a16="http://schemas.microsoft.com/office/drawing/2014/main" id="{C90658B6-997B-4942-AA92-F0B084A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4" name="STC-24-redteam-action-2">
            <a:extLst xmlns:a="http://schemas.openxmlformats.org/drawingml/2006/main">
              <a:ext uri="{FF2B5EF4-FFF2-40B4-BE49-F238E27FC236}">
                <a16:creationId xmlns:a16="http://schemas.microsoft.com/office/drawing/2014/main" id="{6FF7ED04-6279-41A5-BFAD-89B5537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4408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잊힌 응답의 다수가 최신 fact로 routing</a:t>
            </a:r>
          </a:p>
        </p:txBody>
      </p:sp>
      <p:sp>
        <p:nvSpPr>
          <p:cNvPr id="25" name="STC-24-redteam-condition-3">
            <a:extLst xmlns:a="http://schemas.openxmlformats.org/drawingml/2006/main">
              <a:ext uri="{FF2B5EF4-FFF2-40B4-BE49-F238E27FC236}">
                <a16:creationId xmlns:a16="http://schemas.microsoft.com/office/drawing/2014/main" id="{DBBCD39B-5871-4E2B-A51F-BB942E5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133088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RECOVER</a:t>
            </a:r>
          </a:p>
        </p:txBody>
      </p:sp>
      <p:sp>
        <p:nvSpPr>
          <p:cNvPr id="26" name="STC-24-redteam-arrow-3">
            <a:extLst xmlns:a="http://schemas.openxmlformats.org/drawingml/2006/main">
              <a:ext uri="{FF2B5EF4-FFF2-40B4-BE49-F238E27FC236}">
                <a16:creationId xmlns:a16="http://schemas.microsoft.com/office/drawing/2014/main" id="{9660AB56-69B6-4FBD-B813-9CBF988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42816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7" name="STC-24-redteam-action-3">
            <a:extLst xmlns:a="http://schemas.openxmlformats.org/drawingml/2006/main">
              <a:ext uri="{FF2B5EF4-FFF2-40B4-BE49-F238E27FC236}">
                <a16:creationId xmlns:a16="http://schemas.microsoft.com/office/drawing/2014/main" id="{4AA4EC1B-1A5F-4725-ACF1-86B744B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6512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fact를 context에 넣으면 77–80% 회복</a:t>
            </a:r>
          </a:p>
        </p:txBody>
      </p:sp>
      <p:sp>
        <p:nvSpPr>
          <p:cNvPr id="28" name="STC-24-redteam-condition-4">
            <a:extLst xmlns:a="http://schemas.openxmlformats.org/drawingml/2006/main">
              <a:ext uri="{FF2B5EF4-FFF2-40B4-BE49-F238E27FC236}">
                <a16:creationId xmlns:a16="http://schemas.microsoft.com/office/drawing/2014/main" id="{1D3D302A-47E2-4D26-B565-7B54698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96519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IMPLICATION</a:t>
            </a:r>
          </a:p>
        </p:txBody>
      </p:sp>
      <p:sp>
        <p:nvSpPr>
          <p:cNvPr id="29" name="STC-24-redteam-arrow-4">
            <a:extLst xmlns:a="http://schemas.openxmlformats.org/drawingml/2006/main">
              <a:ext uri="{FF2B5EF4-FFF2-40B4-BE49-F238E27FC236}">
                <a16:creationId xmlns:a16="http://schemas.microsoft.com/office/drawing/2014/main" id="{8B4BB7C3-0894-4624-B64A-2332CAB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0749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0" name="STC-24-redteam-action-4">
            <a:extLst xmlns:a="http://schemas.openxmlformats.org/drawingml/2006/main">
              <a:ext uri="{FF2B5EF4-FFF2-40B4-BE49-F238E27FC236}">
                <a16:creationId xmlns:a16="http://schemas.microsoft.com/office/drawing/2014/main" id="{BF3F69E8-1C0C-4846-9932-4467BC7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28616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stored와 behaviorally reachable은 다름</a:t>
            </a:r>
          </a:p>
        </p:txBody>
      </p:sp>
      <p:sp>
        <p:nvSpPr>
          <p:cNvPr id="31" name="STC-24-redteam-bottom">
            <a:extLst xmlns:a="http://schemas.openxmlformats.org/drawingml/2006/main">
              <a:ext uri="{FF2B5EF4-FFF2-40B4-BE49-F238E27FC236}">
                <a16:creationId xmlns:a16="http://schemas.microsoft.com/office/drawing/2014/main" id="{38BBEDEE-CF7E-481C-927F-AD28491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96128"/>
            <a:ext cx="532180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Weight에 흔적이 남았다는 것만으로 usable long-term memory가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46749100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1-section">
            <a:extLst xmlns:a="http://schemas.openxmlformats.org/drawingml/2006/main">
              <a:ext uri="{FF2B5EF4-FFF2-40B4-BE49-F238E27FC236}">
                <a16:creationId xmlns:a16="http://schemas.microsoft.com/office/drawing/2014/main" id="{8E42DD25-172C-485F-843C-1E0097F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DIRECT EVIDENCE</a:t>
            </a:r>
          </a:p>
        </p:txBody>
      </p:sp>
      <p:sp>
        <p:nvSpPr>
          <p:cNvPr id="3" name="STC-11-slide-id">
            <a:extLst xmlns:a="http://schemas.openxmlformats.org/drawingml/2006/main">
              <a:ext uri="{FF2B5EF4-FFF2-40B4-BE49-F238E27FC236}">
                <a16:creationId xmlns:a16="http://schemas.microsoft.com/office/drawing/2014/main" id="{15CCABCC-156A-49B1-9FE6-98A904F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STC-067</a:t>
            </a:r>
          </a:p>
        </p:txBody>
      </p:sp>
      <p:sp>
        <p:nvSpPr>
          <p:cNvPr id="4" name="STC-11-headline">
            <a:extLst xmlns:a="http://schemas.openxmlformats.org/drawingml/2006/main">
              <a:ext uri="{FF2B5EF4-FFF2-40B4-BE49-F238E27FC236}">
                <a16:creationId xmlns:a16="http://schemas.microsoft.com/office/drawing/2014/main" id="{1939B1E3-3D98-4D57-9B42-81CE910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 Caching은 RNN state reuse와 growing capacity를 연결한다</a:t>
            </a:r>
          </a:p>
        </p:txBody>
      </p:sp>
      <p:sp>
        <p:nvSpPr>
          <p:cNvPr id="5" name="STC-11-status-label">
            <a:extLst xmlns:a="http://schemas.openxmlformats.org/drawingml/2006/main">
              <a:ext uri="{FF2B5EF4-FFF2-40B4-BE49-F238E27FC236}">
                <a16:creationId xmlns:a16="http://schemas.microsoft.com/office/drawing/2014/main" id="{F53A0355-622F-4A3A-9B09-65E46E9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11-status-rule">
            <a:extLst xmlns:a="http://schemas.openxmlformats.org/drawingml/2006/main">
              <a:ext uri="{FF2B5EF4-FFF2-40B4-BE49-F238E27FC236}">
                <a16:creationId xmlns:a16="http://schemas.microsoft.com/office/drawing/2014/main" id="{DF081263-8FB8-4033-A6EA-7F5E12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1-footer-rule">
            <a:extLst xmlns:a="http://schemas.openxmlformats.org/drawingml/2006/main">
              <a:ext uri="{FF2B5EF4-FFF2-40B4-BE49-F238E27FC236}">
                <a16:creationId xmlns:a16="http://schemas.microsoft.com/office/drawing/2014/main" id="{7B135606-A511-42FA-9D61-DF1785A3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1-source-footer">
            <a:extLst xmlns:a="http://schemas.openxmlformats.org/drawingml/2006/main">
              <a:ext uri="{FF2B5EF4-FFF2-40B4-BE49-F238E27FC236}">
                <a16:creationId xmlns:a16="http://schemas.microsoft.com/office/drawing/2014/main" id="{D47892FA-76DC-4BCC-8964-790AEF3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Behrouz et al. 2026 · STC-T11</a:t>
            </a:r>
          </a:p>
        </p:txBody>
      </p:sp>
      <p:sp>
        <p:nvSpPr>
          <p:cNvPr id="9" name="STC-11-page-number">
            <a:extLst xmlns:a="http://schemas.openxmlformats.org/drawingml/2006/main">
              <a:ext uri="{FF2B5EF4-FFF2-40B4-BE49-F238E27FC236}">
                <a16:creationId xmlns:a16="http://schemas.microsoft.com/office/drawing/2014/main" id="{EF78823B-8CA2-4364-BF47-8CCD4F9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67</a:t>
            </a:r>
          </a:p>
        </p:txBody>
      </p:sp>
      <p:sp>
        <p:nvSpPr>
          <p:cNvPr id="11" name="STC-11-company-label-0">
            <a:extLst xmlns:a="http://schemas.openxmlformats.org/drawingml/2006/main">
              <a:ext uri="{FF2B5EF4-FFF2-40B4-BE49-F238E27FC236}">
                <a16:creationId xmlns:a16="http://schemas.microsoft.com/office/drawing/2014/main" id="{9D7CC8C7-0FE8-41DD-86E3-B1A0A99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CHECKPOINT</a:t>
            </a:r>
          </a:p>
        </p:txBody>
      </p:sp>
      <p:sp>
        <p:nvSpPr>
          <p:cNvPr id="12" name="STC-11-company-start-0">
            <a:extLst xmlns:a="http://schemas.openxmlformats.org/drawingml/2006/main">
              <a:ext uri="{FF2B5EF4-FFF2-40B4-BE49-F238E27FC236}">
                <a16:creationId xmlns:a16="http://schemas.microsoft.com/office/drawing/2014/main" id="{67053390-476E-48A8-B068-8AB701B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1700784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1-company-history-0">
            <a:extLst xmlns:a="http://schemas.openxmlformats.org/drawingml/2006/main">
              <a:ext uri="{FF2B5EF4-FFF2-40B4-BE49-F238E27FC236}">
                <a16:creationId xmlns:a16="http://schemas.microsoft.com/office/drawing/2014/main" id="{85BF2345-3DBD-4C16-9070-D96B00E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536192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CHECKPOINT</a:t>
            </a:r>
          </a:p>
        </p:txBody>
      </p:sp>
      <p:sp>
        <p:nvSpPr>
          <p:cNvPr id="14" name="STC-11-company-mid-0">
            <a:extLst xmlns:a="http://schemas.openxmlformats.org/drawingml/2006/main">
              <a:ext uri="{FF2B5EF4-FFF2-40B4-BE49-F238E27FC236}">
                <a16:creationId xmlns:a16="http://schemas.microsoft.com/office/drawing/2014/main" id="{F08AFFA2-8495-4971-B459-3603BD8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00784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5" name="STC-11-company-current-0">
            <a:extLst xmlns:a="http://schemas.openxmlformats.org/drawingml/2006/main">
              <a:ext uri="{FF2B5EF4-FFF2-40B4-BE49-F238E27FC236}">
                <a16:creationId xmlns:a16="http://schemas.microsoft.com/office/drawing/2014/main" id="{18663024-F8FE-48B0-A825-101C04A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536192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CHECKPOINT</a:t>
            </a:r>
          </a:p>
        </p:txBody>
      </p:sp>
      <p:sp>
        <p:nvSpPr>
          <p:cNvPr id="16" name="STC-11-company-verdict-0">
            <a:extLst xmlns:a="http://schemas.openxmlformats.org/drawingml/2006/main">
              <a:ext uri="{FF2B5EF4-FFF2-40B4-BE49-F238E27FC236}">
                <a16:creationId xmlns:a16="http://schemas.microsoft.com/office/drawing/2014/main" id="{268554DD-C7F5-4EB6-9BB2-33E9093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1545336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Subquadratic model도 오래 살려면 state cache policy가 필요하다.</a:t>
            </a:r>
          </a:p>
        </p:txBody>
      </p:sp>
      <p:sp>
        <p:nvSpPr>
          <p:cNvPr id="17" name="STC-11-company-label-1">
            <a:extLst xmlns:a="http://schemas.openxmlformats.org/drawingml/2006/main">
              <a:ext uri="{FF2B5EF4-FFF2-40B4-BE49-F238E27FC236}">
                <a16:creationId xmlns:a16="http://schemas.microsoft.com/office/drawing/2014/main" id="{B11192D4-BD97-4083-A82B-FC5316B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26080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AGGREGATE</a:t>
            </a:r>
          </a:p>
        </p:txBody>
      </p:sp>
      <p:sp>
        <p:nvSpPr>
          <p:cNvPr id="18" name="STC-11-company-start-1">
            <a:extLst xmlns:a="http://schemas.openxmlformats.org/drawingml/2006/main">
              <a:ext uri="{FF2B5EF4-FFF2-40B4-BE49-F238E27FC236}">
                <a16:creationId xmlns:a16="http://schemas.microsoft.com/office/drawing/2014/main" id="{B6B6CC22-CEF6-4BD2-884C-98735FC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054096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1-company-history-1">
            <a:extLst xmlns:a="http://schemas.openxmlformats.org/drawingml/2006/main">
              <a:ext uri="{FF2B5EF4-FFF2-40B4-BE49-F238E27FC236}">
                <a16:creationId xmlns:a16="http://schemas.microsoft.com/office/drawing/2014/main" id="{A64EC7DE-C071-4E44-922A-9E2C8EC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889504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AGGREGATE</a:t>
            </a:r>
          </a:p>
        </p:txBody>
      </p:sp>
      <p:sp>
        <p:nvSpPr>
          <p:cNvPr id="20" name="STC-11-company-mid-1">
            <a:extLst xmlns:a="http://schemas.openxmlformats.org/drawingml/2006/main">
              <a:ext uri="{FF2B5EF4-FFF2-40B4-BE49-F238E27FC236}">
                <a16:creationId xmlns:a16="http://schemas.microsoft.com/office/drawing/2014/main" id="{E0512254-F359-4166-A703-3EE32FA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54096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1-company-current-1">
            <a:extLst xmlns:a="http://schemas.openxmlformats.org/drawingml/2006/main">
              <a:ext uri="{FF2B5EF4-FFF2-40B4-BE49-F238E27FC236}">
                <a16:creationId xmlns:a16="http://schemas.microsoft.com/office/drawing/2014/main" id="{0D901664-53DC-4C61-9B20-59C7D22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889504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AGGREGATE</a:t>
            </a:r>
          </a:p>
        </p:txBody>
      </p:sp>
      <p:sp>
        <p:nvSpPr>
          <p:cNvPr id="22" name="STC-11-company-verdict-1">
            <a:extLst xmlns:a="http://schemas.openxmlformats.org/drawingml/2006/main">
              <a:ext uri="{FF2B5EF4-FFF2-40B4-BE49-F238E27FC236}">
                <a16:creationId xmlns:a16="http://schemas.microsoft.com/office/drawing/2014/main" id="{BAD33E16-72D1-4A43-AE3E-BC63989A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898648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Subquadratic model도 오래 살려면 state cache policy가 필요하다.</a:t>
            </a:r>
          </a:p>
        </p:txBody>
      </p:sp>
      <p:sp>
        <p:nvSpPr>
          <p:cNvPr id="23" name="STC-11-company-label-2">
            <a:extLst xmlns:a="http://schemas.openxmlformats.org/drawingml/2006/main">
              <a:ext uri="{FF2B5EF4-FFF2-40B4-BE49-F238E27FC236}">
                <a16:creationId xmlns:a16="http://schemas.microsoft.com/office/drawing/2014/main" id="{C841D7F0-7FB1-4776-86BF-20940AD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93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</p:txBody>
      </p:sp>
      <p:sp>
        <p:nvSpPr>
          <p:cNvPr id="24" name="STC-11-company-start-2">
            <a:extLst xmlns:a="http://schemas.openxmlformats.org/drawingml/2006/main">
              <a:ext uri="{FF2B5EF4-FFF2-40B4-BE49-F238E27FC236}">
                <a16:creationId xmlns:a16="http://schemas.microsoft.com/office/drawing/2014/main" id="{88D88388-738D-443E-B7BE-93C3B10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4407408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1-company-history-2">
            <a:extLst xmlns:a="http://schemas.openxmlformats.org/drawingml/2006/main">
              <a:ext uri="{FF2B5EF4-FFF2-40B4-BE49-F238E27FC236}">
                <a16:creationId xmlns:a16="http://schemas.microsoft.com/office/drawing/2014/main" id="{00CAFCE2-9261-417A-858E-15703E7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242816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CAPACITY</a:t>
            </a:r>
          </a:p>
        </p:txBody>
      </p:sp>
      <p:sp>
        <p:nvSpPr>
          <p:cNvPr id="26" name="STC-11-company-mid-2">
            <a:extLst xmlns:a="http://schemas.openxmlformats.org/drawingml/2006/main">
              <a:ext uri="{FF2B5EF4-FFF2-40B4-BE49-F238E27FC236}">
                <a16:creationId xmlns:a16="http://schemas.microsoft.com/office/drawing/2014/main" id="{88DE6307-502F-4341-B0ED-6D0523D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407408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7" name="STC-11-company-current-2">
            <a:extLst xmlns:a="http://schemas.openxmlformats.org/drawingml/2006/main">
              <a:ext uri="{FF2B5EF4-FFF2-40B4-BE49-F238E27FC236}">
                <a16:creationId xmlns:a16="http://schemas.microsoft.com/office/drawing/2014/main" id="{22A4C4DD-D4BB-47C5-A953-1B8176E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242816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CAPACITY</a:t>
            </a:r>
          </a:p>
        </p:txBody>
      </p:sp>
      <p:sp>
        <p:nvSpPr>
          <p:cNvPr id="28" name="STC-11-company-verdict-2">
            <a:extLst xmlns:a="http://schemas.openxmlformats.org/drawingml/2006/main">
              <a:ext uri="{FF2B5EF4-FFF2-40B4-BE49-F238E27FC236}">
                <a16:creationId xmlns:a16="http://schemas.microsoft.com/office/drawing/2014/main" id="{ADD35A8F-6D61-4D59-8B95-3B3F770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4251960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Subquadratic model도 오래 살려면 state cache policy가 필요하다.</a:t>
            </a:r>
          </a:p>
        </p:txBody>
      </p:sp>
      <p:sp>
        <p:nvSpPr>
          <p:cNvPr id="29" name="STC-11-company-nonclaim">
            <a:extLst xmlns:a="http://schemas.openxmlformats.org/drawingml/2006/main">
              <a:ext uri="{FF2B5EF4-FFF2-40B4-BE49-F238E27FC236}">
                <a16:creationId xmlns:a16="http://schemas.microsoft.com/office/drawing/2014/main" id="{E3841E4A-5104-442E-9943-218AC82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41264"/>
            <a:ext cx="1046988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1-company-nonclaim-text">
            <a:extLst xmlns:a="http://schemas.openxmlformats.org/drawingml/2006/main">
              <a:ext uri="{FF2B5EF4-FFF2-40B4-BE49-F238E27FC236}">
                <a16:creationId xmlns:a16="http://schemas.microsoft.com/office/drawing/2014/main" id="{4D284CDD-8453-4329-AF3C-921A5924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669280"/>
            <a:ext cx="10058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segment 끝 recurrent memory state 저장</a:t>
            </a:r>
          </a:p>
        </p:txBody>
      </p:sp>
    </p:spTree>
    <p:extLst>
      <p:ext uri="{BB962C8B-B14F-4D97-AF65-F5344CB8AC3E}">
        <p14:creationId xmlns:p14="http://schemas.microsoft.com/office/powerpoint/2010/main" val="31662653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THEORY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STC-068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Rate–distortion은 모든 memory layer의 공통 한계를 준다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STC-T12 · layer-agnostic compaction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68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RATE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DISTORTION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QUERY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COMPOSE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R ≥ I*(Q) or D&gt;0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byte·token·state dimension·fact budget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RATE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Budget 아래에서는 모든 것을 기억할 수 없고 query uncertainty가 최저 비용을 정한다.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원 history 대비 downstream output 변화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8-section">
            <a:extLst xmlns:a="http://schemas.openxmlformats.org/drawingml/2006/main">
              <a:ext uri="{FF2B5EF4-FFF2-40B4-BE49-F238E27FC236}">
                <a16:creationId xmlns:a16="http://schemas.microsoft.com/office/drawing/2014/main" id="{03FF8BA3-B545-4981-AA09-AE9216B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DIRECT EVIDENCE</a:t>
            </a:r>
          </a:p>
        </p:txBody>
      </p:sp>
      <p:sp>
        <p:nvSpPr>
          <p:cNvPr id="3" name="STC-18-slide-id">
            <a:extLst xmlns:a="http://schemas.openxmlformats.org/drawingml/2006/main">
              <a:ext uri="{FF2B5EF4-FFF2-40B4-BE49-F238E27FC236}">
                <a16:creationId xmlns:a16="http://schemas.microsoft.com/office/drawing/2014/main" id="{C9FA6CD7-858C-4A3D-96FD-4CC651F6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STC-069</a:t>
            </a:r>
          </a:p>
        </p:txBody>
      </p:sp>
      <p:sp>
        <p:nvSpPr>
          <p:cNvPr id="4" name="STC-18-headline">
            <a:extLst xmlns:a="http://schemas.openxmlformats.org/drawingml/2006/main">
              <a:ext uri="{FF2B5EF4-FFF2-40B4-BE49-F238E27FC236}">
                <a16:creationId xmlns:a16="http://schemas.microsoft.com/office/drawing/2014/main" id="{C9C9B713-EF3A-4F15-9B5D-34C157E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LoRA memory에도 finite capacity와 saturation knee가 있다</a:t>
            </a:r>
          </a:p>
        </p:txBody>
      </p:sp>
      <p:sp>
        <p:nvSpPr>
          <p:cNvPr id="5" name="STC-18-status-label">
            <a:extLst xmlns:a="http://schemas.openxmlformats.org/drawingml/2006/main">
              <a:ext uri="{FF2B5EF4-FFF2-40B4-BE49-F238E27FC236}">
                <a16:creationId xmlns:a16="http://schemas.microsoft.com/office/drawing/2014/main" id="{3B46AB99-B070-4E4D-A702-12F9050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직접 근거</a:t>
            </a:r>
          </a:p>
        </p:txBody>
      </p:sp>
      <p:sp>
        <p:nvSpPr>
          <p:cNvPr id="6" name="STC-18-status-rule">
            <a:extLst xmlns:a="http://schemas.openxmlformats.org/drawingml/2006/main">
              <a:ext uri="{FF2B5EF4-FFF2-40B4-BE49-F238E27FC236}">
                <a16:creationId xmlns:a16="http://schemas.microsoft.com/office/drawing/2014/main" id="{8EFD1DA0-50D3-4AD4-87F6-7143D5EB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8-footer-rule">
            <a:extLst xmlns:a="http://schemas.openxmlformats.org/drawingml/2006/main">
              <a:ext uri="{FF2B5EF4-FFF2-40B4-BE49-F238E27FC236}">
                <a16:creationId xmlns:a16="http://schemas.microsoft.com/office/drawing/2014/main" id="{0532DB85-4109-43E6-AC94-2358F50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8-source-footer">
            <a:extLst xmlns:a="http://schemas.openxmlformats.org/drawingml/2006/main">
              <a:ext uri="{FF2B5EF4-FFF2-40B4-BE49-F238E27FC236}">
                <a16:creationId xmlns:a16="http://schemas.microsoft.com/office/drawing/2014/main" id="{F3EA8379-43EA-45C9-AC85-4061DC8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STC-T15 · LoRA as Knowledge Memory</a:t>
            </a:r>
          </a:p>
        </p:txBody>
      </p:sp>
      <p:sp>
        <p:nvSpPr>
          <p:cNvPr id="9" name="STC-18-page-number">
            <a:extLst xmlns:a="http://schemas.openxmlformats.org/drawingml/2006/main">
              <a:ext uri="{FF2B5EF4-FFF2-40B4-BE49-F238E27FC236}">
                <a16:creationId xmlns:a16="http://schemas.microsoft.com/office/drawing/2014/main" id="{8DE00DF8-DD74-4458-8DDD-9413F0F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69</a:t>
            </a:r>
          </a:p>
        </p:txBody>
      </p:sp>
      <p:sp>
        <p:nvSpPr>
          <p:cNvPr id="11" name="STC-18-knee-axis-x">
            <a:extLst xmlns:a="http://schemas.openxmlformats.org/drawingml/2006/main">
              <a:ext uri="{FF2B5EF4-FFF2-40B4-BE49-F238E27FC236}">
                <a16:creationId xmlns:a16="http://schemas.microsoft.com/office/drawing/2014/main" id="{137B99DC-D78E-474C-948D-1C1A474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9280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8-knee-axis-y">
            <a:extLst xmlns:a="http://schemas.openxmlformats.org/drawingml/2006/main">
              <a:ext uri="{FF2B5EF4-FFF2-40B4-BE49-F238E27FC236}">
                <a16:creationId xmlns:a16="http://schemas.microsoft.com/office/drawing/2014/main" id="{2B1DBB35-82E7-49B9-9968-79EB961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43000" y="1691640"/>
            <a:ext cx="0" cy="3977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8-knee-axis-xlabel">
            <a:extLst xmlns:a="http://schemas.openxmlformats.org/drawingml/2006/main">
              <a:ext uri="{FF2B5EF4-FFF2-40B4-BE49-F238E27FC236}">
                <a16:creationId xmlns:a16="http://schemas.microsoft.com/office/drawing/2014/main" id="{9D4A94DC-71BA-4491-BE01-6A8FA8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8155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usable facts</a:t>
            </a:r>
          </a:p>
        </p:txBody>
      </p:sp>
      <p:sp>
        <p:nvSpPr>
          <p:cNvPr id="14" name="STC-18-knee-axis-ylabel">
            <a:extLst xmlns:a="http://schemas.openxmlformats.org/drawingml/2006/main">
              <a:ext uri="{FF2B5EF4-FFF2-40B4-BE49-F238E27FC236}">
                <a16:creationId xmlns:a16="http://schemas.microsoft.com/office/drawing/2014/main" id="{BBDB0575-EAC2-4D00-889D-30EDB84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" y="158191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adapter bytes</a:t>
            </a:r>
          </a:p>
        </p:txBody>
      </p:sp>
      <p:sp>
        <p:nvSpPr>
          <p:cNvPr id="15" name="STC-18-knee-seg-1">
            <a:extLst xmlns:a="http://schemas.openxmlformats.org/drawingml/2006/main">
              <a:ext uri="{FF2B5EF4-FFF2-40B4-BE49-F238E27FC236}">
                <a16:creationId xmlns:a16="http://schemas.microsoft.com/office/drawing/2014/main" id="{A875E417-9AE7-45EA-91F0-367BDDB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48840"/>
            <a:ext cx="1005840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8-knee-seg-2">
            <a:extLst xmlns:a="http://schemas.openxmlformats.org/drawingml/2006/main">
              <a:ext uri="{FF2B5EF4-FFF2-40B4-BE49-F238E27FC236}">
                <a16:creationId xmlns:a16="http://schemas.microsoft.com/office/drawing/2014/main" id="{D37E6579-10F6-4338-A1E4-70A3CAB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76272"/>
            <a:ext cx="100584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8-knee-seg-3">
            <a:extLst xmlns:a="http://schemas.openxmlformats.org/drawingml/2006/main">
              <a:ext uri="{FF2B5EF4-FFF2-40B4-BE49-F238E27FC236}">
                <a16:creationId xmlns:a16="http://schemas.microsoft.com/office/drawing/2014/main" id="{9051F1AF-A7F9-4D03-94EA-41936D1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86000"/>
            <a:ext cx="100584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18-knee-seg-4">
            <a:extLst xmlns:a="http://schemas.openxmlformats.org/drawingml/2006/main">
              <a:ext uri="{FF2B5EF4-FFF2-40B4-BE49-F238E27FC236}">
                <a16:creationId xmlns:a16="http://schemas.microsoft.com/office/drawing/2014/main" id="{B063ECE3-2EE8-45A4-A0F4-242E2ED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70048"/>
            <a:ext cx="100584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8-knee-seg-5">
            <a:extLst xmlns:a="http://schemas.openxmlformats.org/drawingml/2006/main">
              <a:ext uri="{FF2B5EF4-FFF2-40B4-BE49-F238E27FC236}">
                <a16:creationId xmlns:a16="http://schemas.microsoft.com/office/drawing/2014/main" id="{B0C6BCBB-C1A2-421E-BDCF-2B39BAFF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694176"/>
            <a:ext cx="1005840" cy="1298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8-knee-seg-6">
            <a:extLst xmlns:a="http://schemas.openxmlformats.org/drawingml/2006/main">
              <a:ext uri="{FF2B5EF4-FFF2-40B4-BE49-F238E27FC236}">
                <a16:creationId xmlns:a16="http://schemas.microsoft.com/office/drawing/2014/main" id="{C13B686D-15B9-429D-A73A-91969B5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92624"/>
            <a:ext cx="82296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18-knee-threshold">
            <a:extLst xmlns:a="http://schemas.openxmlformats.org/drawingml/2006/main">
              <a:ext uri="{FF2B5EF4-FFF2-40B4-BE49-F238E27FC236}">
                <a16:creationId xmlns:a16="http://schemas.microsoft.com/office/drawing/2014/main" id="{ED6FC06F-FE27-464D-B952-B7B3674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4368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16A"/>
            </a:solidFill>
            <a:prstDash val="solid"/>
            <a:tailEnd type="none"/>
          </a:ln>
        </p:spPr>
      </p:sp>
      <p:sp>
        <p:nvSpPr>
          <p:cNvPr id="22" name="STC-18-knee-threshold-label">
            <a:extLst xmlns:a="http://schemas.openxmlformats.org/drawingml/2006/main">
              <a:ext uri="{FF2B5EF4-FFF2-40B4-BE49-F238E27FC236}">
                <a16:creationId xmlns:a16="http://schemas.microsoft.com/office/drawing/2014/main" id="{59682FA8-3C66-4E76-91DC-8A5B116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61488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saturation</a:t>
            </a:r>
          </a:p>
        </p:txBody>
      </p:sp>
      <p:sp>
        <p:nvSpPr>
          <p:cNvPr id="23" name="STC-18-knee-marker">
            <a:extLst xmlns:a="http://schemas.openxmlformats.org/drawingml/2006/main">
              <a:ext uri="{FF2B5EF4-FFF2-40B4-BE49-F238E27FC236}">
                <a16:creationId xmlns:a16="http://schemas.microsoft.com/office/drawing/2014/main" id="{8CD36708-2795-42A2-B1FE-6BF35D2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8950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8-knee-keff">
            <a:extLst xmlns:a="http://schemas.openxmlformats.org/drawingml/2006/main">
              <a:ext uri="{FF2B5EF4-FFF2-40B4-BE49-F238E27FC236}">
                <a16:creationId xmlns:a16="http://schemas.microsoft.com/office/drawing/2014/main" id="{7092C48B-E617-41E2-A6F0-6377395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394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5" name="STC-18-knee-check-title">
            <a:extLst xmlns:a="http://schemas.openxmlformats.org/drawingml/2006/main">
              <a:ext uri="{FF2B5EF4-FFF2-40B4-BE49-F238E27FC236}">
                <a16:creationId xmlns:a16="http://schemas.microsoft.com/office/drawing/2014/main" id="{864F7F11-EE93-42F3-A376-3BC591E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83080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RANK</a:t>
            </a:r>
          </a:p>
        </p:txBody>
      </p:sp>
      <p:sp>
        <p:nvSpPr>
          <p:cNvPr id="26" name="STC-18-knee-checks-dot-0">
            <a:extLst xmlns:a="http://schemas.openxmlformats.org/drawingml/2006/main">
              <a:ext uri="{FF2B5EF4-FFF2-40B4-BE49-F238E27FC236}">
                <a16:creationId xmlns:a16="http://schemas.microsoft.com/office/drawing/2014/main" id="{4FB9D726-90DF-448D-9CB5-BD91AF1C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35000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7" name="STC-18-knee-checks-item-0">
            <a:extLst xmlns:a="http://schemas.openxmlformats.org/drawingml/2006/main">
              <a:ext uri="{FF2B5EF4-FFF2-40B4-BE49-F238E27FC236}">
                <a16:creationId xmlns:a16="http://schemas.microsoft.com/office/drawing/2014/main" id="{44C5ADE7-8C76-4DBA-8D57-28CFC56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40280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RANK</a:t>
            </a:r>
          </a:p>
        </p:txBody>
      </p:sp>
      <p:sp>
        <p:nvSpPr>
          <p:cNvPr id="28" name="STC-18-knee-checks-dot-1">
            <a:extLst xmlns:a="http://schemas.openxmlformats.org/drawingml/2006/main">
              <a:ext uri="{FF2B5EF4-FFF2-40B4-BE49-F238E27FC236}">
                <a16:creationId xmlns:a16="http://schemas.microsoft.com/office/drawing/2014/main" id="{AFC33FA9-F997-425E-804C-0F6AB52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077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9" name="STC-18-knee-checks-item-1">
            <a:extLst xmlns:a="http://schemas.openxmlformats.org/drawingml/2006/main">
              <a:ext uri="{FF2B5EF4-FFF2-40B4-BE49-F238E27FC236}">
                <a16:creationId xmlns:a16="http://schemas.microsoft.com/office/drawing/2014/main" id="{B8D75941-BBC2-4813-A867-3514688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98064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DATA</a:t>
            </a:r>
          </a:p>
        </p:txBody>
      </p:sp>
      <p:sp>
        <p:nvSpPr>
          <p:cNvPr id="30" name="STC-18-knee-checks-dot-2">
            <a:extLst xmlns:a="http://schemas.openxmlformats.org/drawingml/2006/main">
              <a:ext uri="{FF2B5EF4-FFF2-40B4-BE49-F238E27FC236}">
                <a16:creationId xmlns:a16="http://schemas.microsoft.com/office/drawing/2014/main" id="{66418C93-8F2D-46E2-9FD7-A0EA74B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655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8-knee-checks-item-2">
            <a:extLst xmlns:a="http://schemas.openxmlformats.org/drawingml/2006/main">
              <a:ext uri="{FF2B5EF4-FFF2-40B4-BE49-F238E27FC236}">
                <a16:creationId xmlns:a16="http://schemas.microsoft.com/office/drawing/2014/main" id="{1288401D-2643-4F1E-9987-2A81D7D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55848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MODULE</a:t>
            </a:r>
          </a:p>
        </p:txBody>
      </p:sp>
      <p:sp>
        <p:nvSpPr>
          <p:cNvPr id="32" name="STC-18-knee-checks-dot-3">
            <a:extLst xmlns:a="http://schemas.openxmlformats.org/drawingml/2006/main">
              <a:ext uri="{FF2B5EF4-FFF2-40B4-BE49-F238E27FC236}">
                <a16:creationId xmlns:a16="http://schemas.microsoft.com/office/drawing/2014/main" id="{DCAC003D-887C-4D38-9EDF-160C916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233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3" name="STC-18-knee-checks-item-3">
            <a:extLst xmlns:a="http://schemas.openxmlformats.org/drawingml/2006/main">
              <a:ext uri="{FF2B5EF4-FFF2-40B4-BE49-F238E27FC236}">
                <a16:creationId xmlns:a16="http://schemas.microsoft.com/office/drawing/2014/main" id="{E51C09CD-2212-4C58-8553-16C319C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13632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SYSTEM</a:t>
            </a:r>
          </a:p>
        </p:txBody>
      </p:sp>
      <p:sp>
        <p:nvSpPr>
          <p:cNvPr id="34" name="STC-18-knee-checks-dot-4">
            <a:extLst xmlns:a="http://schemas.openxmlformats.org/drawingml/2006/main">
              <a:ext uri="{FF2B5EF4-FFF2-40B4-BE49-F238E27FC236}">
                <a16:creationId xmlns:a16="http://schemas.microsoft.com/office/drawing/2014/main" id="{5919D9A1-A06F-4CAC-A455-916E57B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811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5" name="STC-18-knee-checks-item-4">
            <a:extLst xmlns:a="http://schemas.openxmlformats.org/drawingml/2006/main">
              <a:ext uri="{FF2B5EF4-FFF2-40B4-BE49-F238E27FC236}">
                <a16:creationId xmlns:a16="http://schemas.microsoft.com/office/drawing/2014/main" id="{D63F0508-B06F-4B5B-B222-9758774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471416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HYBRID</a:t>
            </a:r>
          </a:p>
        </p:txBody>
      </p:sp>
      <p:sp>
        <p:nvSpPr>
          <p:cNvPr id="36" name="STC-18-knee-unidentified">
            <a:extLst xmlns:a="http://schemas.openxmlformats.org/drawingml/2006/main">
              <a:ext uri="{FF2B5EF4-FFF2-40B4-BE49-F238E27FC236}">
                <a16:creationId xmlns:a16="http://schemas.microsoft.com/office/drawing/2014/main" id="{2A3895EC-67C0-4742-BF11-ED63DC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230368"/>
            <a:ext cx="2706624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7" name="STC-18-knee-unidentified-text">
            <a:extLst xmlns:a="http://schemas.openxmlformats.org/drawingml/2006/main">
              <a:ext uri="{FF2B5EF4-FFF2-40B4-BE49-F238E27FC236}">
                <a16:creationId xmlns:a16="http://schemas.microsoft.com/office/drawing/2014/main" id="{3790EDB7-E6C9-4F80-B319-618B982E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404104"/>
            <a:ext cx="2432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Adapter는 유망한 compiled cache이지 무한한 truth store가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71681671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4-section">
            <a:extLst xmlns:a="http://schemas.openxmlformats.org/drawingml/2006/main">
              <a:ext uri="{FF2B5EF4-FFF2-40B4-BE49-F238E27FC236}">
                <a16:creationId xmlns:a16="http://schemas.microsoft.com/office/drawing/2014/main" id="{D55356B8-A175-4935-B209-7BD03E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EVIDENCE HYGIENE</a:t>
            </a:r>
          </a:p>
        </p:txBody>
      </p:sp>
      <p:sp>
        <p:nvSpPr>
          <p:cNvPr id="3" name="STC-24-slide-id">
            <a:extLst xmlns:a="http://schemas.openxmlformats.org/drawingml/2006/main">
              <a:ext uri="{FF2B5EF4-FFF2-40B4-BE49-F238E27FC236}">
                <a16:creationId xmlns:a16="http://schemas.microsoft.com/office/drawing/2014/main" id="{78B2880B-1829-43C6-82F1-E91F313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STC-070</a:t>
            </a:r>
          </a:p>
        </p:txBody>
      </p:sp>
      <p:sp>
        <p:nvSpPr>
          <p:cNvPr id="4" name="STC-24-headline">
            <a:extLst xmlns:a="http://schemas.openxmlformats.org/drawingml/2006/main">
              <a:ext uri="{FF2B5EF4-FFF2-40B4-BE49-F238E27FC236}">
                <a16:creationId xmlns:a16="http://schemas.microsoft.com/office/drawing/2014/main" id="{7EFF5843-575F-446B-B829-1A50360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DANN의 강한 문구는 현재 낮은 증거 등급으로 둔다</a:t>
            </a:r>
          </a:p>
        </p:txBody>
      </p:sp>
      <p:sp>
        <p:nvSpPr>
          <p:cNvPr id="5" name="STC-24-status-label">
            <a:extLst xmlns:a="http://schemas.openxmlformats.org/drawingml/2006/main">
              <a:ext uri="{FF2B5EF4-FFF2-40B4-BE49-F238E27FC236}">
                <a16:creationId xmlns:a16="http://schemas.microsoft.com/office/drawing/2014/main" id="{BB9E5C04-3E6C-4F28-B08B-9B9AD6E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경계</a:t>
            </a:r>
          </a:p>
        </p:txBody>
      </p:sp>
      <p:sp>
        <p:nvSpPr>
          <p:cNvPr id="6" name="STC-24-status-rule">
            <a:extLst xmlns:a="http://schemas.openxmlformats.org/drawingml/2006/main">
              <a:ext uri="{FF2B5EF4-FFF2-40B4-BE49-F238E27FC236}">
                <a16:creationId xmlns:a16="http://schemas.microsoft.com/office/drawing/2014/main" id="{D1FC3B55-2A2E-45AA-95F6-0583EE5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4-footer-rule">
            <a:extLst xmlns:a="http://schemas.openxmlformats.org/drawingml/2006/main">
              <a:ext uri="{FF2B5EF4-FFF2-40B4-BE49-F238E27FC236}">
                <a16:creationId xmlns:a16="http://schemas.microsoft.com/office/drawing/2014/main" id="{0F5FF2EC-5946-4BA4-AC60-2C5FB9C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4-source-footer">
            <a:extLst xmlns:a="http://schemas.openxmlformats.org/drawingml/2006/main">
              <a:ext uri="{FF2B5EF4-FFF2-40B4-BE49-F238E27FC236}">
                <a16:creationId xmlns:a16="http://schemas.microsoft.com/office/drawing/2014/main" id="{5BD7A1B6-F31C-4947-B44A-705BBCA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DANN SSRN 2025 · abstract-only audit</a:t>
            </a:r>
          </a:p>
        </p:txBody>
      </p:sp>
      <p:sp>
        <p:nvSpPr>
          <p:cNvPr id="9" name="STC-24-page-number">
            <a:extLst xmlns:a="http://schemas.openxmlformats.org/drawingml/2006/main">
              <a:ext uri="{FF2B5EF4-FFF2-40B4-BE49-F238E27FC236}">
                <a16:creationId xmlns:a16="http://schemas.microsoft.com/office/drawing/2014/main" id="{9DD45F5A-4477-4865-A126-C6C266F7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70</a:t>
            </a:r>
          </a:p>
        </p:txBody>
      </p:sp>
      <p:sp>
        <p:nvSpPr>
          <p:cNvPr id="11" name="STC-24-redteam-field">
            <a:extLst xmlns:a="http://schemas.openxmlformats.org/drawingml/2006/main">
              <a:ext uri="{FF2B5EF4-FFF2-40B4-BE49-F238E27FC236}">
                <a16:creationId xmlns:a16="http://schemas.microsoft.com/office/drawing/2014/main" id="{7103473D-2E31-4B30-9328-78263DD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2852928" cy="431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2" name="STC-24-redteam-31">
            <a:extLst xmlns:a="http://schemas.openxmlformats.org/drawingml/2006/main">
              <a:ext uri="{FF2B5EF4-FFF2-40B4-BE49-F238E27FC236}">
                <a16:creationId xmlns:a16="http://schemas.microsoft.com/office/drawing/2014/main" id="{8AF4504C-B767-48D4-BBCD-94EC5AF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01952"/>
            <a:ext cx="221284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05</a:t>
            </a:r>
          </a:p>
        </p:txBody>
      </p:sp>
      <p:sp>
        <p:nvSpPr>
          <p:cNvPr id="13" name="STC-24-redteam-findings">
            <a:extLst xmlns:a="http://schemas.openxmlformats.org/drawingml/2006/main">
              <a:ext uri="{FF2B5EF4-FFF2-40B4-BE49-F238E27FC236}">
                <a16:creationId xmlns:a16="http://schemas.microsoft.com/office/drawing/2014/main" id="{B01523B4-485A-4132-B232-BA11A8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16352"/>
            <a:ext cx="221284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adversarial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findings</a:t>
            </a:r>
          </a:p>
        </p:txBody>
      </p:sp>
      <p:sp>
        <p:nvSpPr>
          <p:cNvPr id="14" name="STC-24-redteam-rule">
            <a:extLst xmlns:a="http://schemas.openxmlformats.org/drawingml/2006/main">
              <a:ext uri="{FF2B5EF4-FFF2-40B4-BE49-F238E27FC236}">
                <a16:creationId xmlns:a16="http://schemas.microsoft.com/office/drawing/2014/main" id="{2BB482A1-6070-4983-A590-0667FC85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2029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5" name="STC-24-redteam-domains">
            <a:extLst xmlns:a="http://schemas.openxmlformats.org/drawingml/2006/main">
              <a:ext uri="{FF2B5EF4-FFF2-40B4-BE49-F238E27FC236}">
                <a16:creationId xmlns:a16="http://schemas.microsoft.com/office/drawing/2014/main" id="{73A03FB3-05DD-41DF-89CC-C6C2AA2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05072"/>
            <a:ext cx="2029968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statistics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systems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publication</a:t>
            </a:r>
          </a:p>
        </p:txBody>
      </p:sp>
      <p:sp>
        <p:nvSpPr>
          <p:cNvPr id="16" name="STC-24-redteam-condition-0">
            <a:extLst xmlns:a="http://schemas.openxmlformats.org/drawingml/2006/main">
              <a:ext uri="{FF2B5EF4-FFF2-40B4-BE49-F238E27FC236}">
                <a16:creationId xmlns:a16="http://schemas.microsoft.com/office/drawing/2014/main" id="{9C6EFA57-2AF4-405B-B8E0-2644092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1636776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CLAIM</a:t>
            </a:r>
          </a:p>
        </p:txBody>
      </p:sp>
      <p:sp>
        <p:nvSpPr>
          <p:cNvPr id="17" name="STC-24-redteam-arrow-0">
            <a:extLst xmlns:a="http://schemas.openxmlformats.org/drawingml/2006/main">
              <a:ext uri="{FF2B5EF4-FFF2-40B4-BE49-F238E27FC236}">
                <a16:creationId xmlns:a16="http://schemas.microsoft.com/office/drawing/2014/main" id="{C29B3FBD-C180-4F47-B914-ABB0151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746504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18" name="STC-24-redteam-action-0">
            <a:extLst xmlns:a="http://schemas.openxmlformats.org/drawingml/2006/main">
              <a:ext uri="{FF2B5EF4-FFF2-40B4-BE49-F238E27FC236}">
                <a16:creationId xmlns:a16="http://schemas.microsoft.com/office/drawing/2014/main" id="{F2D57FF2-40C9-475B-8ADE-71EEA69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synthetic sleep·zero forgetting·vision/NLP</a:t>
            </a:r>
          </a:p>
        </p:txBody>
      </p:sp>
      <p:sp>
        <p:nvSpPr>
          <p:cNvPr id="19" name="STC-24-redteam-condition-1">
            <a:extLst xmlns:a="http://schemas.openxmlformats.org/drawingml/2006/main">
              <a:ext uri="{FF2B5EF4-FFF2-40B4-BE49-F238E27FC236}">
                <a16:creationId xmlns:a16="http://schemas.microsoft.com/office/drawing/2014/main" id="{BDE2CA5D-58FC-434F-A841-A08FD1A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46888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ACCESS</a:t>
            </a:r>
          </a:p>
        </p:txBody>
      </p:sp>
      <p:sp>
        <p:nvSpPr>
          <p:cNvPr id="20" name="STC-24-redteam-arrow-1">
            <a:extLst xmlns:a="http://schemas.openxmlformats.org/drawingml/2006/main">
              <a:ext uri="{FF2B5EF4-FFF2-40B4-BE49-F238E27FC236}">
                <a16:creationId xmlns:a16="http://schemas.microsoft.com/office/drawing/2014/main" id="{4F577BF9-80F7-40D0-B459-5F8A21E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57860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1" name="STC-24-redteam-action-1">
            <a:extLst xmlns:a="http://schemas.openxmlformats.org/drawingml/2006/main">
              <a:ext uri="{FF2B5EF4-FFF2-40B4-BE49-F238E27FC236}">
                <a16:creationId xmlns:a16="http://schemas.microsoft.com/office/drawing/2014/main" id="{4B0FE478-8D2F-4712-9C23-542528B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2304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동결 시점 full text·code·tables 검증 불가</a:t>
            </a:r>
          </a:p>
        </p:txBody>
      </p:sp>
      <p:sp>
        <p:nvSpPr>
          <p:cNvPr id="22" name="STC-24-redteam-condition-2">
            <a:extLst xmlns:a="http://schemas.openxmlformats.org/drawingml/2006/main">
              <a:ext uri="{FF2B5EF4-FFF2-40B4-BE49-F238E27FC236}">
                <a16:creationId xmlns:a16="http://schemas.microsoft.com/office/drawing/2014/main" id="{11181FB9-A935-4704-BB86-C9143D9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300984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RISK</a:t>
            </a:r>
          </a:p>
        </p:txBody>
      </p:sp>
      <p:sp>
        <p:nvSpPr>
          <p:cNvPr id="23" name="STC-24-redteam-arrow-2">
            <a:extLst xmlns:a="http://schemas.openxmlformats.org/drawingml/2006/main">
              <a:ext uri="{FF2B5EF4-FFF2-40B4-BE49-F238E27FC236}">
                <a16:creationId xmlns:a16="http://schemas.microsoft.com/office/drawing/2014/main" id="{C90658B6-997B-4942-AA92-F0B084A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4" name="STC-24-redteam-action-2">
            <a:extLst xmlns:a="http://schemas.openxmlformats.org/drawingml/2006/main">
              <a:ext uri="{FF2B5EF4-FFF2-40B4-BE49-F238E27FC236}">
                <a16:creationId xmlns:a16="http://schemas.microsoft.com/office/drawing/2014/main" id="{6FF7ED04-6279-41A5-BFAD-89B5537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4408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abstract 수치를 direct evidence처럼 인용할 수 없음</a:t>
            </a:r>
          </a:p>
        </p:txBody>
      </p:sp>
      <p:sp>
        <p:nvSpPr>
          <p:cNvPr id="25" name="STC-24-redteam-condition-3">
            <a:extLst xmlns:a="http://schemas.openxmlformats.org/drawingml/2006/main">
              <a:ext uri="{FF2B5EF4-FFF2-40B4-BE49-F238E27FC236}">
                <a16:creationId xmlns:a16="http://schemas.microsoft.com/office/drawing/2014/main" id="{DBBCD39B-5871-4E2B-A51F-BB942E5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133088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USE</a:t>
            </a:r>
          </a:p>
        </p:txBody>
      </p:sp>
      <p:sp>
        <p:nvSpPr>
          <p:cNvPr id="26" name="STC-24-redteam-arrow-3">
            <a:extLst xmlns:a="http://schemas.openxmlformats.org/drawingml/2006/main">
              <a:ext uri="{FF2B5EF4-FFF2-40B4-BE49-F238E27FC236}">
                <a16:creationId xmlns:a16="http://schemas.microsoft.com/office/drawing/2014/main" id="{9660AB56-69B6-4FBD-B813-9CBF988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42816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7" name="STC-24-redteam-action-3">
            <a:extLst xmlns:a="http://schemas.openxmlformats.org/drawingml/2006/main">
              <a:ext uri="{FF2B5EF4-FFF2-40B4-BE49-F238E27FC236}">
                <a16:creationId xmlns:a16="http://schemas.microsoft.com/office/drawing/2014/main" id="{4AA4EC1B-1A5F-4725-ACF1-86B744B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6512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hypothesis generator로만 유지</a:t>
            </a:r>
          </a:p>
        </p:txBody>
      </p:sp>
      <p:sp>
        <p:nvSpPr>
          <p:cNvPr id="28" name="STC-24-redteam-condition-4">
            <a:extLst xmlns:a="http://schemas.openxmlformats.org/drawingml/2006/main">
              <a:ext uri="{FF2B5EF4-FFF2-40B4-BE49-F238E27FC236}">
                <a16:creationId xmlns:a16="http://schemas.microsoft.com/office/drawing/2014/main" id="{1D3D302A-47E2-4D26-B565-7B54698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96519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UPGRADE</a:t>
            </a:r>
          </a:p>
        </p:txBody>
      </p:sp>
      <p:sp>
        <p:nvSpPr>
          <p:cNvPr id="29" name="STC-24-redteam-arrow-4">
            <a:extLst xmlns:a="http://schemas.openxmlformats.org/drawingml/2006/main">
              <a:ext uri="{FF2B5EF4-FFF2-40B4-BE49-F238E27FC236}">
                <a16:creationId xmlns:a16="http://schemas.microsoft.com/office/drawing/2014/main" id="{8B4BB7C3-0894-4624-B64A-2332CAB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0749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0" name="STC-24-redteam-action-4">
            <a:extLst xmlns:a="http://schemas.openxmlformats.org/drawingml/2006/main">
              <a:ext uri="{FF2B5EF4-FFF2-40B4-BE49-F238E27FC236}">
                <a16:creationId xmlns:a16="http://schemas.microsoft.com/office/drawing/2014/main" id="{BF3F69E8-1C0C-4846-9932-4467BC7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28616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full artifact·baseline·cycle curve 공개 필요</a:t>
            </a:r>
          </a:p>
        </p:txBody>
      </p:sp>
      <p:sp>
        <p:nvSpPr>
          <p:cNvPr id="31" name="STC-24-redteam-bottom">
            <a:extLst xmlns:a="http://schemas.openxmlformats.org/drawingml/2006/main">
              <a:ext uri="{FF2B5EF4-FFF2-40B4-BE49-F238E27FC236}">
                <a16:creationId xmlns:a16="http://schemas.microsoft.com/office/drawing/2014/main" id="{38BBEDEE-CF7E-481C-927F-AD28491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96128"/>
            <a:ext cx="532180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‘Zero forgetting’은 검증 가능한 repeated-cycle trace가 나올 때까지 결론이 아니다.</a:t>
            </a:r>
          </a:p>
        </p:txBody>
      </p:sp>
    </p:spTree>
    <p:extLst>
      <p:ext uri="{BB962C8B-B14F-4D97-AF65-F5344CB8AC3E}">
        <p14:creationId xmlns:p14="http://schemas.microsoft.com/office/powerpoint/2010/main" val="146749100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INDUSTRY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STC-071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OpenAI Dreaming은 strict external lifecycle STC의 제품 신호다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제품 근거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Official ChatGPT memory releases · freeze 2026-08-05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71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INPUT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BACKGROUND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OUTPUT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CONTROL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INPUT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BACKGROUND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2-section">
            <a:extLst xmlns:a="http://schemas.openxmlformats.org/drawingml/2006/main">
              <a:ext uri="{FF2B5EF4-FFF2-40B4-BE49-F238E27FC236}">
                <a16:creationId xmlns:a16="http://schemas.microsoft.com/office/drawing/2014/main" id="{9BED9E58-00E9-465F-81C5-F51DC1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INDUSTRY</a:t>
            </a:r>
          </a:p>
        </p:txBody>
      </p:sp>
      <p:sp>
        <p:nvSpPr>
          <p:cNvPr id="3" name="STC-12-slide-id">
            <a:extLst xmlns:a="http://schemas.openxmlformats.org/drawingml/2006/main">
              <a:ext uri="{FF2B5EF4-FFF2-40B4-BE49-F238E27FC236}">
                <a16:creationId xmlns:a16="http://schemas.microsoft.com/office/drawing/2014/main" id="{F143FB54-340A-4C97-AFD3-7653D00B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STC-072</a:t>
            </a:r>
          </a:p>
        </p:txBody>
      </p:sp>
      <p:sp>
        <p:nvSpPr>
          <p:cNvPr id="4" name="STC-12-headline">
            <a:extLst xmlns:a="http://schemas.openxmlformats.org/drawingml/2006/main">
              <a:ext uri="{FF2B5EF4-FFF2-40B4-BE49-F238E27FC236}">
                <a16:creationId xmlns:a16="http://schemas.microsoft.com/office/drawing/2014/main" id="{B20880B4-6186-43A8-9FAD-366FE1B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Letta는 sleeptime agent를 pre-query memory compiler로 구현한다</a:t>
            </a:r>
          </a:p>
        </p:txBody>
      </p:sp>
      <p:sp>
        <p:nvSpPr>
          <p:cNvPr id="5" name="STC-12-status-label">
            <a:extLst xmlns:a="http://schemas.openxmlformats.org/drawingml/2006/main">
              <a:ext uri="{FF2B5EF4-FFF2-40B4-BE49-F238E27FC236}">
                <a16:creationId xmlns:a16="http://schemas.microsoft.com/office/drawing/2014/main" id="{0CF310CB-1928-4691-A3FB-666D399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코드 근거</a:t>
            </a:r>
          </a:p>
        </p:txBody>
      </p:sp>
      <p:sp>
        <p:nvSpPr>
          <p:cNvPr id="6" name="STC-12-status-rule">
            <a:extLst xmlns:a="http://schemas.openxmlformats.org/drawingml/2006/main">
              <a:ext uri="{FF2B5EF4-FFF2-40B4-BE49-F238E27FC236}">
                <a16:creationId xmlns:a16="http://schemas.microsoft.com/office/drawing/2014/main" id="{3E99E4B1-295E-48F2-94DF-80F4D863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2-footer-rule">
            <a:extLst xmlns:a="http://schemas.openxmlformats.org/drawingml/2006/main">
              <a:ext uri="{FF2B5EF4-FFF2-40B4-BE49-F238E27FC236}">
                <a16:creationId xmlns:a16="http://schemas.microsoft.com/office/drawing/2014/main" id="{A3C1CC2F-D951-41BA-9A0A-1723072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2-source-footer">
            <a:extLst xmlns:a="http://schemas.openxmlformats.org/drawingml/2006/main">
              <a:ext uri="{FF2B5EF4-FFF2-40B4-BE49-F238E27FC236}">
                <a16:creationId xmlns:a16="http://schemas.microsoft.com/office/drawing/2014/main" id="{04E4D685-2DD8-4371-A68D-FBB0A31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Letta sleeptime multi-agent lineage</a:t>
            </a:r>
          </a:p>
        </p:txBody>
      </p:sp>
      <p:sp>
        <p:nvSpPr>
          <p:cNvPr id="9" name="STC-12-page-number">
            <a:extLst xmlns:a="http://schemas.openxmlformats.org/drawingml/2006/main">
              <a:ext uri="{FF2B5EF4-FFF2-40B4-BE49-F238E27FC236}">
                <a16:creationId xmlns:a16="http://schemas.microsoft.com/office/drawing/2014/main" id="{1FABB635-BAC3-411B-B672-1373736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72</a:t>
            </a:r>
          </a:p>
        </p:txBody>
      </p:sp>
      <p:sp>
        <p:nvSpPr>
          <p:cNvPr id="11" name="STC-12-op-node-0">
            <a:extLst xmlns:a="http://schemas.openxmlformats.org/drawingml/2006/main">
              <a:ext uri="{FF2B5EF4-FFF2-40B4-BE49-F238E27FC236}">
                <a16:creationId xmlns:a16="http://schemas.microsoft.com/office/drawing/2014/main" id="{9565E26F-887E-4304-8DBF-1E174EC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56362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2" name="STC-12-op-num-0">
            <a:extLst xmlns:a="http://schemas.openxmlformats.org/drawingml/2006/main">
              <a:ext uri="{FF2B5EF4-FFF2-40B4-BE49-F238E27FC236}">
                <a16:creationId xmlns:a16="http://schemas.microsoft.com/office/drawing/2014/main" id="{D48EE726-A278-44FD-822B-C049FB2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69164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3" name="STC-12-op-tag-0">
            <a:extLst xmlns:a="http://schemas.openxmlformats.org/drawingml/2006/main">
              <a:ext uri="{FF2B5EF4-FFF2-40B4-BE49-F238E27FC236}">
                <a16:creationId xmlns:a16="http://schemas.microsoft.com/office/drawing/2014/main" id="{E816A992-8F21-4B25-BCDD-A098663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36829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FOREGROUND</a:t>
            </a:r>
          </a:p>
        </p:txBody>
      </p:sp>
      <p:sp>
        <p:nvSpPr>
          <p:cNvPr id="14" name="STC-12-op-body-0">
            <a:extLst xmlns:a="http://schemas.openxmlformats.org/drawingml/2006/main">
              <a:ext uri="{FF2B5EF4-FFF2-40B4-BE49-F238E27FC236}">
                <a16:creationId xmlns:a16="http://schemas.microsoft.com/office/drawing/2014/main" id="{165A7B8B-3F81-4002-8250-9F527A3B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7218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user-facing agent가 interaction 수행</a:t>
            </a:r>
          </a:p>
        </p:txBody>
      </p:sp>
      <p:sp>
        <p:nvSpPr>
          <p:cNvPr id="15" name="STC-12-op-link-0">
            <a:extLst xmlns:a="http://schemas.openxmlformats.org/drawingml/2006/main">
              <a:ext uri="{FF2B5EF4-FFF2-40B4-BE49-F238E27FC236}">
                <a16:creationId xmlns:a16="http://schemas.microsoft.com/office/drawing/2014/main" id="{9B485991-DCDC-402B-9D7D-4F6EC04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12-op-node-1">
            <a:extLst xmlns:a="http://schemas.openxmlformats.org/drawingml/2006/main">
              <a:ext uri="{FF2B5EF4-FFF2-40B4-BE49-F238E27FC236}">
                <a16:creationId xmlns:a16="http://schemas.microsoft.com/office/drawing/2014/main" id="{F80C4FE0-F1BC-4D46-8887-D3C1757C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12-op-num-1">
            <a:extLst xmlns:a="http://schemas.openxmlformats.org/drawingml/2006/main">
              <a:ext uri="{FF2B5EF4-FFF2-40B4-BE49-F238E27FC236}">
                <a16:creationId xmlns:a16="http://schemas.microsoft.com/office/drawing/2014/main" id="{F9AAE281-2CB6-4B37-AF68-53AFB0A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8" name="STC-12-op-tag-1">
            <a:extLst xmlns:a="http://schemas.openxmlformats.org/drawingml/2006/main">
              <a:ext uri="{FF2B5EF4-FFF2-40B4-BE49-F238E27FC236}">
                <a16:creationId xmlns:a16="http://schemas.microsoft.com/office/drawing/2014/main" id="{DB376A64-3995-4E35-AD03-8003FB0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BUFFER</a:t>
            </a:r>
          </a:p>
        </p:txBody>
      </p:sp>
      <p:sp>
        <p:nvSpPr>
          <p:cNvPr id="19" name="STC-12-op-body-1">
            <a:extLst xmlns:a="http://schemas.openxmlformats.org/drawingml/2006/main">
              <a:ext uri="{FF2B5EF4-FFF2-40B4-BE49-F238E27FC236}">
                <a16:creationId xmlns:a16="http://schemas.microsoft.com/office/drawing/2014/main" id="{EC50FD79-C18A-4040-9760-EDA4257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shared memory block에 event 축적</a:t>
            </a:r>
          </a:p>
        </p:txBody>
      </p:sp>
      <p:sp>
        <p:nvSpPr>
          <p:cNvPr id="20" name="STC-12-op-link-1">
            <a:extLst xmlns:a="http://schemas.openxmlformats.org/drawingml/2006/main">
              <a:ext uri="{FF2B5EF4-FFF2-40B4-BE49-F238E27FC236}">
                <a16:creationId xmlns:a16="http://schemas.microsoft.com/office/drawing/2014/main" id="{1D205391-CBC8-47B1-9F68-03FDF9A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452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2-op-node-2">
            <a:extLst xmlns:a="http://schemas.openxmlformats.org/drawingml/2006/main">
              <a:ext uri="{FF2B5EF4-FFF2-40B4-BE49-F238E27FC236}">
                <a16:creationId xmlns:a16="http://schemas.microsoft.com/office/drawing/2014/main" id="{68B4B873-F963-44E1-9F2C-50BDC97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2-op-num-2">
            <a:extLst xmlns:a="http://schemas.openxmlformats.org/drawingml/2006/main">
              <a:ext uri="{FF2B5EF4-FFF2-40B4-BE49-F238E27FC236}">
                <a16:creationId xmlns:a16="http://schemas.microsoft.com/office/drawing/2014/main" id="{DA6C6E96-24AB-49A1-8C94-F7D3A6D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3" name="STC-12-op-tag-2">
            <a:extLst xmlns:a="http://schemas.openxmlformats.org/drawingml/2006/main">
              <a:ext uri="{FF2B5EF4-FFF2-40B4-BE49-F238E27FC236}">
                <a16:creationId xmlns:a16="http://schemas.microsoft.com/office/drawing/2014/main" id="{DE77EAA3-C1E2-4BB3-A6CD-F742DF3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SLEEPER</a:t>
            </a:r>
          </a:p>
        </p:txBody>
      </p:sp>
      <p:sp>
        <p:nvSpPr>
          <p:cNvPr id="24" name="STC-12-op-body-2">
            <a:extLst xmlns:a="http://schemas.openxmlformats.org/drawingml/2006/main">
              <a:ext uri="{FF2B5EF4-FFF2-40B4-BE49-F238E27FC236}">
                <a16:creationId xmlns:a16="http://schemas.microsoft.com/office/drawing/2014/main" id="{2FAE901B-858A-4FBE-8454-E355DFA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별도 agent가 memory를 정리·수정</a:t>
            </a:r>
          </a:p>
        </p:txBody>
      </p:sp>
      <p:sp>
        <p:nvSpPr>
          <p:cNvPr id="25" name="STC-12-op-link-2">
            <a:extLst xmlns:a="http://schemas.openxmlformats.org/drawingml/2006/main">
              <a:ext uri="{FF2B5EF4-FFF2-40B4-BE49-F238E27FC236}">
                <a16:creationId xmlns:a16="http://schemas.microsoft.com/office/drawing/2014/main" id="{1FF3F698-4B8B-4FDF-8C1C-B38373EE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35040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6" name="STC-12-op-node-3">
            <a:extLst xmlns:a="http://schemas.openxmlformats.org/drawingml/2006/main">
              <a:ext uri="{FF2B5EF4-FFF2-40B4-BE49-F238E27FC236}">
                <a16:creationId xmlns:a16="http://schemas.microsoft.com/office/drawing/2014/main" id="{18FCBE66-54BC-4BD1-85B8-B66B2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1297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12-op-num-3">
            <a:extLst xmlns:a="http://schemas.openxmlformats.org/drawingml/2006/main">
              <a:ext uri="{FF2B5EF4-FFF2-40B4-BE49-F238E27FC236}">
                <a16:creationId xmlns:a16="http://schemas.microsoft.com/office/drawing/2014/main" id="{B016CB40-821A-426B-BB69-C4EA19B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25780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8" name="STC-12-op-tag-3">
            <a:extLst xmlns:a="http://schemas.openxmlformats.org/drawingml/2006/main">
              <a:ext uri="{FF2B5EF4-FFF2-40B4-BE49-F238E27FC236}">
                <a16:creationId xmlns:a16="http://schemas.microsoft.com/office/drawing/2014/main" id="{FDF0F062-D6A7-490E-BE3A-D052AF8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593445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REUSE</a:t>
            </a:r>
          </a:p>
        </p:txBody>
      </p:sp>
      <p:sp>
        <p:nvSpPr>
          <p:cNvPr id="29" name="STC-12-op-body-3">
            <a:extLst xmlns:a="http://schemas.openxmlformats.org/drawingml/2006/main">
              <a:ext uri="{FF2B5EF4-FFF2-40B4-BE49-F238E27FC236}">
                <a16:creationId xmlns:a16="http://schemas.microsoft.com/office/drawing/2014/main" id="{3BF79E21-1FF6-4F3B-8783-4089065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6227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다음 query 전에 compiled token-space state 제공</a:t>
            </a:r>
          </a:p>
        </p:txBody>
      </p:sp>
      <p:sp>
        <p:nvSpPr>
          <p:cNvPr id="30" name="STC-12-op-link-3">
            <a:extLst xmlns:a="http://schemas.openxmlformats.org/drawingml/2006/main">
              <a:ext uri="{FF2B5EF4-FFF2-40B4-BE49-F238E27FC236}">
                <a16:creationId xmlns:a16="http://schemas.microsoft.com/office/drawing/2014/main" id="{C2D2C21F-163F-4D95-9BF0-CD645F7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44628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1" name="STC-12-op-node-4">
            <a:extLst xmlns:a="http://schemas.openxmlformats.org/drawingml/2006/main">
              <a:ext uri="{FF2B5EF4-FFF2-40B4-BE49-F238E27FC236}">
                <a16:creationId xmlns:a16="http://schemas.microsoft.com/office/drawing/2014/main" id="{15454C93-9714-40BA-A132-E320F2F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2" name="STC-12-op-num-4">
            <a:extLst xmlns:a="http://schemas.openxmlformats.org/drawingml/2006/main">
              <a:ext uri="{FF2B5EF4-FFF2-40B4-BE49-F238E27FC236}">
                <a16:creationId xmlns:a16="http://schemas.microsoft.com/office/drawing/2014/main" id="{9C622E44-8EB5-4A8F-9D61-4DAD460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33" name="STC-12-op-tag-4">
            <a:extLst xmlns:a="http://schemas.openxmlformats.org/drawingml/2006/main">
              <a:ext uri="{FF2B5EF4-FFF2-40B4-BE49-F238E27FC236}">
                <a16:creationId xmlns:a16="http://schemas.microsoft.com/office/drawing/2014/main" id="{FD53F60B-6AD4-4C55-B97A-929F8BA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LIMIT</a:t>
            </a:r>
          </a:p>
        </p:txBody>
      </p:sp>
      <p:sp>
        <p:nvSpPr>
          <p:cNvPr id="34" name="STC-12-op-body-4">
            <a:extLst xmlns:a="http://schemas.openxmlformats.org/drawingml/2006/main">
              <a:ext uri="{FF2B5EF4-FFF2-40B4-BE49-F238E27FC236}">
                <a16:creationId xmlns:a16="http://schemas.microsoft.com/office/drawing/2014/main" id="{69B11EFB-0B67-4435-A518-4BD5674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학습 weight·independent production trace는 아님</a:t>
            </a:r>
          </a:p>
        </p:txBody>
      </p:sp>
      <p:sp>
        <p:nvSpPr>
          <p:cNvPr id="35" name="STC-12-op-link-4">
            <a:extLst xmlns:a="http://schemas.openxmlformats.org/drawingml/2006/main">
              <a:ext uri="{FF2B5EF4-FFF2-40B4-BE49-F238E27FC236}">
                <a16:creationId xmlns:a16="http://schemas.microsoft.com/office/drawing/2014/main" id="{49EA155E-1AD2-4243-9273-CD4608D5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6" name="STC-12-op-node-5">
            <a:extLst xmlns:a="http://schemas.openxmlformats.org/drawingml/2006/main">
              <a:ext uri="{FF2B5EF4-FFF2-40B4-BE49-F238E27FC236}">
                <a16:creationId xmlns:a16="http://schemas.microsoft.com/office/drawing/2014/main" id="{BCE04997-1C16-4A22-9D57-C05C3C7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7" name="STC-12-op-num-5">
            <a:extLst xmlns:a="http://schemas.openxmlformats.org/drawingml/2006/main">
              <a:ext uri="{FF2B5EF4-FFF2-40B4-BE49-F238E27FC236}">
                <a16:creationId xmlns:a16="http://schemas.microsoft.com/office/drawing/2014/main" id="{599C82AF-1ACF-4452-BAFC-2647307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38" name="STC-12-op-tag-5">
            <a:extLst xmlns:a="http://schemas.openxmlformats.org/drawingml/2006/main">
              <a:ext uri="{FF2B5EF4-FFF2-40B4-BE49-F238E27FC236}">
                <a16:creationId xmlns:a16="http://schemas.microsoft.com/office/drawing/2014/main" id="{B07599FE-D711-4F70-976F-A5A391A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FOREGROUND</a:t>
            </a:r>
          </a:p>
        </p:txBody>
      </p:sp>
      <p:sp>
        <p:nvSpPr>
          <p:cNvPr id="39" name="STC-12-op-body-5">
            <a:extLst xmlns:a="http://schemas.openxmlformats.org/drawingml/2006/main">
              <a:ext uri="{FF2B5EF4-FFF2-40B4-BE49-F238E27FC236}">
                <a16:creationId xmlns:a16="http://schemas.microsoft.com/office/drawing/2014/main" id="{423310C0-5466-447C-9A7D-22EAE19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user-facing agent가 interaction 수행</a:t>
            </a:r>
          </a:p>
        </p:txBody>
      </p:sp>
      <p:sp>
        <p:nvSpPr>
          <p:cNvPr id="40" name="STC-12-op-link-5">
            <a:extLst xmlns:a="http://schemas.openxmlformats.org/drawingml/2006/main">
              <a:ext uri="{FF2B5EF4-FFF2-40B4-BE49-F238E27FC236}">
                <a16:creationId xmlns:a16="http://schemas.microsoft.com/office/drawing/2014/main" id="{F56FC784-7401-4605-B130-CFE571A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41" name="STC-12-op-center">
            <a:extLst xmlns:a="http://schemas.openxmlformats.org/drawingml/2006/main">
              <a:ext uri="{FF2B5EF4-FFF2-40B4-BE49-F238E27FC236}">
                <a16:creationId xmlns:a16="http://schemas.microsoft.com/office/drawing/2014/main" id="{768EE9E5-A371-4721-B14D-560E6C4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2" name="STC-12-op-center-text">
            <a:extLst xmlns:a="http://schemas.openxmlformats.org/drawingml/2006/main">
              <a:ext uri="{FF2B5EF4-FFF2-40B4-BE49-F238E27FC236}">
                <a16:creationId xmlns:a16="http://schemas.microsoft.com/office/drawing/2014/main" id="{742C75B8-42AB-46D8-A657-D904AEC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246120"/>
            <a:ext cx="168249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30391406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0-section">
            <a:extLst xmlns:a="http://schemas.openxmlformats.org/drawingml/2006/main">
              <a:ext uri="{FF2B5EF4-FFF2-40B4-BE49-F238E27FC236}">
                <a16:creationId xmlns:a16="http://schemas.microsoft.com/office/drawing/2014/main" id="{6178F517-FA82-4D27-A68A-C76A30C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INDUSTRY</a:t>
            </a:r>
          </a:p>
        </p:txBody>
      </p:sp>
      <p:sp>
        <p:nvSpPr>
          <p:cNvPr id="3" name="STC-10-slide-id">
            <a:extLst xmlns:a="http://schemas.openxmlformats.org/drawingml/2006/main">
              <a:ext uri="{FF2B5EF4-FFF2-40B4-BE49-F238E27FC236}">
                <a16:creationId xmlns:a16="http://schemas.microsoft.com/office/drawing/2014/main" id="{23BFEDD1-7992-476C-B56A-0EBDC97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STC-073</a:t>
            </a:r>
          </a:p>
        </p:txBody>
      </p:sp>
      <p:sp>
        <p:nvSpPr>
          <p:cNvPr id="4" name="STC-10-headline">
            <a:extLst xmlns:a="http://schemas.openxmlformats.org/drawingml/2006/main">
              <a:ext uri="{FF2B5EF4-FFF2-40B4-BE49-F238E27FC236}">
                <a16:creationId xmlns:a16="http://schemas.microsoft.com/office/drawing/2014/main" id="{F3244101-3CD2-466C-B46A-83E5807E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Mem0는 extraction·update·graph를 background memory로 묶는다</a:t>
            </a:r>
          </a:p>
        </p:txBody>
      </p:sp>
      <p:sp>
        <p:nvSpPr>
          <p:cNvPr id="5" name="STC-10-status-label">
            <a:extLst xmlns:a="http://schemas.openxmlformats.org/drawingml/2006/main">
              <a:ext uri="{FF2B5EF4-FFF2-40B4-BE49-F238E27FC236}">
                <a16:creationId xmlns:a16="http://schemas.microsoft.com/office/drawing/2014/main" id="{54F57A0D-6695-4538-B965-B3D66DD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제품/논문 근거</a:t>
            </a:r>
          </a:p>
        </p:txBody>
      </p:sp>
      <p:sp>
        <p:nvSpPr>
          <p:cNvPr id="6" name="STC-10-status-rule">
            <a:extLst xmlns:a="http://schemas.openxmlformats.org/drawingml/2006/main">
              <a:ext uri="{FF2B5EF4-FFF2-40B4-BE49-F238E27FC236}">
                <a16:creationId xmlns:a16="http://schemas.microsoft.com/office/drawing/2014/main" id="{17C9B6E9-5808-4884-AE2D-6C3FBC3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0-footer-rule">
            <a:extLst xmlns:a="http://schemas.openxmlformats.org/drawingml/2006/main">
              <a:ext uri="{FF2B5EF4-FFF2-40B4-BE49-F238E27FC236}">
                <a16:creationId xmlns:a16="http://schemas.microsoft.com/office/drawing/2014/main" id="{05C9EBCA-3F59-4C44-9F24-D7CFCA5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0-source-footer">
            <a:extLst xmlns:a="http://schemas.openxmlformats.org/drawingml/2006/main">
              <a:ext uri="{FF2B5EF4-FFF2-40B4-BE49-F238E27FC236}">
                <a16:creationId xmlns:a16="http://schemas.microsoft.com/office/drawing/2014/main" id="{8462DCC3-CE00-4E3B-8A0B-9C8BBC7C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Mem0 production-ready memory architecture</a:t>
            </a:r>
          </a:p>
        </p:txBody>
      </p:sp>
      <p:sp>
        <p:nvSpPr>
          <p:cNvPr id="9" name="STC-10-page-number">
            <a:extLst xmlns:a="http://schemas.openxmlformats.org/drawingml/2006/main">
              <a:ext uri="{FF2B5EF4-FFF2-40B4-BE49-F238E27FC236}">
                <a16:creationId xmlns:a16="http://schemas.microsoft.com/office/drawing/2014/main" id="{AE75F792-23B4-4FA6-A4AF-2B0B9E3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73</a:t>
            </a:r>
          </a:p>
        </p:txBody>
      </p:sp>
      <p:sp>
        <p:nvSpPr>
          <p:cNvPr id="11" name="STC-10-agent-year-0">
            <a:extLst xmlns:a="http://schemas.openxmlformats.org/drawingml/2006/main">
              <a:ext uri="{FF2B5EF4-FFF2-40B4-BE49-F238E27FC236}">
                <a16:creationId xmlns:a16="http://schemas.microsoft.com/office/drawing/2014/main" id="{25251CA2-F9EF-4020-B4B1-B78EBE9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6362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EXTRACT · conversation에서 candidate memory 생성</a:t>
            </a:r>
          </a:p>
        </p:txBody>
      </p:sp>
      <p:sp>
        <p:nvSpPr>
          <p:cNvPr id="12" name="STC-10-agent-year-rule-0">
            <a:extLst xmlns:a="http://schemas.openxmlformats.org/drawingml/2006/main">
              <a:ext uri="{FF2B5EF4-FFF2-40B4-BE49-F238E27FC236}">
                <a16:creationId xmlns:a16="http://schemas.microsoft.com/office/drawing/2014/main" id="{B05B5567-73DB-4ABD-9003-01B2E2B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164592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0-agent-name-0">
            <a:extLst xmlns:a="http://schemas.openxmlformats.org/drawingml/2006/main">
              <a:ext uri="{FF2B5EF4-FFF2-40B4-BE49-F238E27FC236}">
                <a16:creationId xmlns:a16="http://schemas.microsoft.com/office/drawing/2014/main" id="{BC40D46F-4228-4FE1-9902-EB7A008D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49047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EXTRACT</a:t>
            </a:r>
          </a:p>
        </p:txBody>
      </p:sp>
      <p:sp>
        <p:nvSpPr>
          <p:cNvPr id="14" name="STC-10-agent-mech-0">
            <a:extLst xmlns:a="http://schemas.openxmlformats.org/drawingml/2006/main">
              <a:ext uri="{FF2B5EF4-FFF2-40B4-BE49-F238E27FC236}">
                <a16:creationId xmlns:a16="http://schemas.microsoft.com/office/drawing/2014/main" id="{3342C016-B6B9-406C-90B7-2CCB962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49961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EXTRACT · conversation에서 candidate memory 생성</a:t>
            </a:r>
          </a:p>
        </p:txBody>
      </p:sp>
      <p:sp>
        <p:nvSpPr>
          <p:cNvPr id="15" name="STC-10-agent-phase-0">
            <a:extLst xmlns:a="http://schemas.openxmlformats.org/drawingml/2006/main">
              <a:ext uri="{FF2B5EF4-FFF2-40B4-BE49-F238E27FC236}">
                <a16:creationId xmlns:a16="http://schemas.microsoft.com/office/drawing/2014/main" id="{2FA4D608-E040-41FD-A396-EBBBCB3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55448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EXTRACT · conversation에서 candidate memory 생성</a:t>
            </a:r>
          </a:p>
        </p:txBody>
      </p:sp>
      <p:sp>
        <p:nvSpPr>
          <p:cNvPr id="16" name="STC-10-agent-boundary-0">
            <a:extLst xmlns:a="http://schemas.openxmlformats.org/drawingml/2006/main">
              <a:ext uri="{FF2B5EF4-FFF2-40B4-BE49-F238E27FC236}">
                <a16:creationId xmlns:a16="http://schemas.microsoft.com/office/drawing/2014/main" id="{0090C02B-D2CB-498B-BBA7-5E39275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9961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EXTRACT · conversation에서 candidate memory 생성</a:t>
            </a:r>
          </a:p>
        </p:txBody>
      </p:sp>
      <p:sp>
        <p:nvSpPr>
          <p:cNvPr id="17" name="STC-10-agent-year-1">
            <a:extLst xmlns:a="http://schemas.openxmlformats.org/drawingml/2006/main">
              <a:ext uri="{FF2B5EF4-FFF2-40B4-BE49-F238E27FC236}">
                <a16:creationId xmlns:a16="http://schemas.microsoft.com/office/drawing/2014/main" id="{A2331958-1754-408A-A88B-8A87BE75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7627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DECIDE · add·update·delete·no-op</a:t>
            </a:r>
          </a:p>
        </p:txBody>
      </p:sp>
      <p:sp>
        <p:nvSpPr>
          <p:cNvPr id="18" name="STC-10-agent-year-rule-1">
            <a:extLst xmlns:a="http://schemas.openxmlformats.org/drawingml/2006/main">
              <a:ext uri="{FF2B5EF4-FFF2-40B4-BE49-F238E27FC236}">
                <a16:creationId xmlns:a16="http://schemas.microsoft.com/office/drawing/2014/main" id="{1FFEBED2-8F79-4DD6-9E58-CC7A142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25856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0-agent-name-1">
            <a:extLst xmlns:a="http://schemas.openxmlformats.org/drawingml/2006/main">
              <a:ext uri="{FF2B5EF4-FFF2-40B4-BE49-F238E27FC236}">
                <a16:creationId xmlns:a16="http://schemas.microsoft.com/office/drawing/2014/main" id="{5CB3CD68-1DE8-451A-A995-4F86123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0312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DECIDE</a:t>
            </a:r>
          </a:p>
        </p:txBody>
      </p:sp>
      <p:sp>
        <p:nvSpPr>
          <p:cNvPr id="20" name="STC-10-agent-mech-1">
            <a:extLst xmlns:a="http://schemas.openxmlformats.org/drawingml/2006/main">
              <a:ext uri="{FF2B5EF4-FFF2-40B4-BE49-F238E27FC236}">
                <a16:creationId xmlns:a16="http://schemas.microsoft.com/office/drawing/2014/main" id="{FCA347A2-8320-4583-A15A-FDEC71B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1226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DECIDE · add·update·delete·no-op</a:t>
            </a:r>
          </a:p>
        </p:txBody>
      </p:sp>
      <p:sp>
        <p:nvSpPr>
          <p:cNvPr id="21" name="STC-10-agent-phase-1">
            <a:extLst xmlns:a="http://schemas.openxmlformats.org/drawingml/2006/main">
              <a:ext uri="{FF2B5EF4-FFF2-40B4-BE49-F238E27FC236}">
                <a16:creationId xmlns:a16="http://schemas.microsoft.com/office/drawing/2014/main" id="{7FC2B479-CF0A-4D25-B56B-273D86BC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16712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DECIDE · add·update·delete·no-op</a:t>
            </a:r>
          </a:p>
        </p:txBody>
      </p:sp>
      <p:sp>
        <p:nvSpPr>
          <p:cNvPr id="22" name="STC-10-agent-boundary-1">
            <a:extLst xmlns:a="http://schemas.openxmlformats.org/drawingml/2006/main">
              <a:ext uri="{FF2B5EF4-FFF2-40B4-BE49-F238E27FC236}">
                <a16:creationId xmlns:a16="http://schemas.microsoft.com/office/drawing/2014/main" id="{A9FC856A-E02E-427B-993C-3C3B9F8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226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DECIDE · add·update·delete·no-op</a:t>
            </a:r>
          </a:p>
        </p:txBody>
      </p:sp>
      <p:sp>
        <p:nvSpPr>
          <p:cNvPr id="23" name="STC-10-agent-year-2">
            <a:extLst xmlns:a="http://schemas.openxmlformats.org/drawingml/2006/main">
              <a:ext uri="{FF2B5EF4-FFF2-40B4-BE49-F238E27FC236}">
                <a16:creationId xmlns:a16="http://schemas.microsoft.com/office/drawing/2014/main" id="{681F14E2-8113-44DA-88D3-B8EA611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STORE · vector/graph와 metadata 갱신</a:t>
            </a:r>
          </a:p>
        </p:txBody>
      </p:sp>
      <p:sp>
        <p:nvSpPr>
          <p:cNvPr id="24" name="STC-10-agent-year-rule-2">
            <a:extLst xmlns:a="http://schemas.openxmlformats.org/drawingml/2006/main">
              <a:ext uri="{FF2B5EF4-FFF2-40B4-BE49-F238E27FC236}">
                <a16:creationId xmlns:a16="http://schemas.microsoft.com/office/drawing/2014/main" id="{F383EE24-18E2-4F09-9C19-474251F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871216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0-agent-name-2">
            <a:extLst xmlns:a="http://schemas.openxmlformats.org/drawingml/2006/main">
              <a:ext uri="{FF2B5EF4-FFF2-40B4-BE49-F238E27FC236}">
                <a16:creationId xmlns:a16="http://schemas.microsoft.com/office/drawing/2014/main" id="{FF06FA14-992A-4F89-B874-9F63DE9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715768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</a:t>
            </a:r>
          </a:p>
        </p:txBody>
      </p:sp>
      <p:sp>
        <p:nvSpPr>
          <p:cNvPr id="26" name="STC-10-agent-mech-2">
            <a:extLst xmlns:a="http://schemas.openxmlformats.org/drawingml/2006/main">
              <a:ext uri="{FF2B5EF4-FFF2-40B4-BE49-F238E27FC236}">
                <a16:creationId xmlns:a16="http://schemas.microsoft.com/office/drawing/2014/main" id="{F748360A-FD80-4A88-961D-EDBCD9F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724912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STORE · vector/graph와 metadata 갱신</a:t>
            </a:r>
          </a:p>
        </p:txBody>
      </p:sp>
      <p:sp>
        <p:nvSpPr>
          <p:cNvPr id="27" name="STC-10-agent-phase-2">
            <a:extLst xmlns:a="http://schemas.openxmlformats.org/drawingml/2006/main">
              <a:ext uri="{FF2B5EF4-FFF2-40B4-BE49-F238E27FC236}">
                <a16:creationId xmlns:a16="http://schemas.microsoft.com/office/drawing/2014/main" id="{8EAD9F50-2E26-428D-BF70-5B5216E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779776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STORE · vector/graph와 metadata 갱신</a:t>
            </a:r>
          </a:p>
        </p:txBody>
      </p:sp>
      <p:sp>
        <p:nvSpPr>
          <p:cNvPr id="28" name="STC-10-agent-boundary-2">
            <a:extLst xmlns:a="http://schemas.openxmlformats.org/drawingml/2006/main">
              <a:ext uri="{FF2B5EF4-FFF2-40B4-BE49-F238E27FC236}">
                <a16:creationId xmlns:a16="http://schemas.microsoft.com/office/drawing/2014/main" id="{740FAAC8-5DB0-4FE6-B006-35813A1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912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STORE · vector/graph와 metadata 갱신</a:t>
            </a:r>
          </a:p>
        </p:txBody>
      </p:sp>
      <p:sp>
        <p:nvSpPr>
          <p:cNvPr id="29" name="STC-10-agent-year-3">
            <a:extLst xmlns:a="http://schemas.openxmlformats.org/drawingml/2006/main">
              <a:ext uri="{FF2B5EF4-FFF2-40B4-BE49-F238E27FC236}">
                <a16:creationId xmlns:a16="http://schemas.microsoft.com/office/drawing/2014/main" id="{617EC4F3-8F94-45EA-8AA1-D839E545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SERVE · query-time retrieval로 context 축소</a:t>
            </a:r>
          </a:p>
        </p:txBody>
      </p:sp>
      <p:sp>
        <p:nvSpPr>
          <p:cNvPr id="30" name="STC-10-agent-year-rule-3">
            <a:extLst xmlns:a="http://schemas.openxmlformats.org/drawingml/2006/main">
              <a:ext uri="{FF2B5EF4-FFF2-40B4-BE49-F238E27FC236}">
                <a16:creationId xmlns:a16="http://schemas.microsoft.com/office/drawing/2014/main" id="{AD4377B9-CD70-4E3D-AD08-1370F5F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3483864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1" name="STC-10-agent-name-3">
            <a:extLst xmlns:a="http://schemas.openxmlformats.org/drawingml/2006/main">
              <a:ext uri="{FF2B5EF4-FFF2-40B4-BE49-F238E27FC236}">
                <a16:creationId xmlns:a16="http://schemas.microsoft.com/office/drawing/2014/main" id="{B2824170-2E76-4261-8F5E-383F606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328416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SERVE</a:t>
            </a:r>
          </a:p>
        </p:txBody>
      </p:sp>
      <p:sp>
        <p:nvSpPr>
          <p:cNvPr id="32" name="STC-10-agent-mech-3">
            <a:extLst xmlns:a="http://schemas.openxmlformats.org/drawingml/2006/main">
              <a:ext uri="{FF2B5EF4-FFF2-40B4-BE49-F238E27FC236}">
                <a16:creationId xmlns:a16="http://schemas.microsoft.com/office/drawing/2014/main" id="{59C364ED-0CEB-41CE-8D81-8E983CB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337560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SERVE · query-time retrieval로 context 축소</a:t>
            </a:r>
          </a:p>
        </p:txBody>
      </p:sp>
      <p:sp>
        <p:nvSpPr>
          <p:cNvPr id="33" name="STC-10-agent-phase-3">
            <a:extLst xmlns:a="http://schemas.openxmlformats.org/drawingml/2006/main">
              <a:ext uri="{FF2B5EF4-FFF2-40B4-BE49-F238E27FC236}">
                <a16:creationId xmlns:a16="http://schemas.microsoft.com/office/drawing/2014/main" id="{49FBFA26-710D-4782-9673-DC902C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392424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SERVE · query-time retrieval로 context 축소</a:t>
            </a:r>
          </a:p>
        </p:txBody>
      </p:sp>
      <p:sp>
        <p:nvSpPr>
          <p:cNvPr id="34" name="STC-10-agent-boundary-3">
            <a:extLst xmlns:a="http://schemas.openxmlformats.org/drawingml/2006/main">
              <a:ext uri="{FF2B5EF4-FFF2-40B4-BE49-F238E27FC236}">
                <a16:creationId xmlns:a16="http://schemas.microsoft.com/office/drawing/2014/main" id="{4BE343B7-E1C6-4091-AF38-B3B5D54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7560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SERVE · query-time retrieval로 context 축소</a:t>
            </a:r>
          </a:p>
        </p:txBody>
      </p:sp>
      <p:sp>
        <p:nvSpPr>
          <p:cNvPr id="35" name="STC-10-agent-year-4">
            <a:extLst xmlns:a="http://schemas.openxmlformats.org/drawingml/2006/main">
              <a:ext uri="{FF2B5EF4-FFF2-40B4-BE49-F238E27FC236}">
                <a16:creationId xmlns:a16="http://schemas.microsoft.com/office/drawing/2014/main" id="{F37B6C32-52E8-4FDE-B201-03A8169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14216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EVIDENCE · 제품·benchmark 신호; weight consolidation 아님</a:t>
            </a:r>
          </a:p>
        </p:txBody>
      </p:sp>
      <p:sp>
        <p:nvSpPr>
          <p:cNvPr id="36" name="STC-10-agent-year-rule-4">
            <a:extLst xmlns:a="http://schemas.openxmlformats.org/drawingml/2006/main">
              <a:ext uri="{FF2B5EF4-FFF2-40B4-BE49-F238E27FC236}">
                <a16:creationId xmlns:a16="http://schemas.microsoft.com/office/drawing/2014/main" id="{18822D15-B8DF-49A5-9849-28C75ED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096512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7" name="STC-10-agent-name-4">
            <a:extLst xmlns:a="http://schemas.openxmlformats.org/drawingml/2006/main">
              <a:ext uri="{FF2B5EF4-FFF2-40B4-BE49-F238E27FC236}">
                <a16:creationId xmlns:a16="http://schemas.microsoft.com/office/drawing/2014/main" id="{E8F8BDBD-0380-41D4-85F0-02E8FF3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941064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EVIDENCE</a:t>
            </a:r>
          </a:p>
        </p:txBody>
      </p:sp>
      <p:sp>
        <p:nvSpPr>
          <p:cNvPr id="38" name="STC-10-agent-mech-4">
            <a:extLst xmlns:a="http://schemas.openxmlformats.org/drawingml/2006/main">
              <a:ext uri="{FF2B5EF4-FFF2-40B4-BE49-F238E27FC236}">
                <a16:creationId xmlns:a16="http://schemas.microsoft.com/office/drawing/2014/main" id="{B0BEC520-6F78-4384-8CF3-E18F8DA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950208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EVIDENCE · 제품·benchmark 신호; weight consolidation 아님</a:t>
            </a:r>
          </a:p>
        </p:txBody>
      </p:sp>
      <p:sp>
        <p:nvSpPr>
          <p:cNvPr id="39" name="STC-10-agent-phase-4">
            <a:extLst xmlns:a="http://schemas.openxmlformats.org/drawingml/2006/main">
              <a:ext uri="{FF2B5EF4-FFF2-40B4-BE49-F238E27FC236}">
                <a16:creationId xmlns:a16="http://schemas.microsoft.com/office/drawing/2014/main" id="{CECEE87E-557F-43C6-AE22-ABA59E8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005072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EVIDENCE · 제품·benchmark 신호; weight consolidation 아님</a:t>
            </a:r>
          </a:p>
        </p:txBody>
      </p:sp>
      <p:sp>
        <p:nvSpPr>
          <p:cNvPr id="40" name="STC-10-agent-boundary-4">
            <a:extLst xmlns:a="http://schemas.openxmlformats.org/drawingml/2006/main">
              <a:ext uri="{FF2B5EF4-FFF2-40B4-BE49-F238E27FC236}">
                <a16:creationId xmlns:a16="http://schemas.microsoft.com/office/drawing/2014/main" id="{A8C5516F-B591-4508-865B-D1A4027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50208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EVIDENCE · 제품·benchmark 신호; weight consolidation 아님</a:t>
            </a:r>
          </a:p>
        </p:txBody>
      </p:sp>
      <p:sp>
        <p:nvSpPr>
          <p:cNvPr id="41" name="STC-10-agent-year-5">
            <a:extLst xmlns:a="http://schemas.openxmlformats.org/drawingml/2006/main">
              <a:ext uri="{FF2B5EF4-FFF2-40B4-BE49-F238E27FC236}">
                <a16:creationId xmlns:a16="http://schemas.microsoft.com/office/drawing/2014/main" id="{38784B05-B991-4E58-8101-AE709B8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26864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EXTRACT · conversation에서 candidate memory 생성</a:t>
            </a:r>
          </a:p>
        </p:txBody>
      </p:sp>
      <p:sp>
        <p:nvSpPr>
          <p:cNvPr id="42" name="STC-10-agent-year-rule-5">
            <a:extLst xmlns:a="http://schemas.openxmlformats.org/drawingml/2006/main">
              <a:ext uri="{FF2B5EF4-FFF2-40B4-BE49-F238E27FC236}">
                <a16:creationId xmlns:a16="http://schemas.microsoft.com/office/drawing/2014/main" id="{823A26CB-46C1-45AB-AC25-A57C1C5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70916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3" name="STC-10-agent-name-5">
            <a:extLst xmlns:a="http://schemas.openxmlformats.org/drawingml/2006/main">
              <a:ext uri="{FF2B5EF4-FFF2-40B4-BE49-F238E27FC236}">
                <a16:creationId xmlns:a16="http://schemas.microsoft.com/office/drawing/2014/main" id="{300CB451-2720-482C-BC4F-7DC7E47D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4553712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EXTRACT</a:t>
            </a:r>
          </a:p>
        </p:txBody>
      </p:sp>
      <p:sp>
        <p:nvSpPr>
          <p:cNvPr id="44" name="STC-10-agent-mech-5">
            <a:extLst xmlns:a="http://schemas.openxmlformats.org/drawingml/2006/main">
              <a:ext uri="{FF2B5EF4-FFF2-40B4-BE49-F238E27FC236}">
                <a16:creationId xmlns:a16="http://schemas.microsoft.com/office/drawing/2014/main" id="{78EB88D9-5027-4D43-AA2F-F03DBC1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562856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EXTRACT · conversation에서 candidate memory 생성</a:t>
            </a:r>
          </a:p>
        </p:txBody>
      </p:sp>
      <p:sp>
        <p:nvSpPr>
          <p:cNvPr id="45" name="STC-10-agent-phase-5">
            <a:extLst xmlns:a="http://schemas.openxmlformats.org/drawingml/2006/main">
              <a:ext uri="{FF2B5EF4-FFF2-40B4-BE49-F238E27FC236}">
                <a16:creationId xmlns:a16="http://schemas.microsoft.com/office/drawing/2014/main" id="{8395CFDA-3309-4027-B283-8A72317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617720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EXTRACT · conversation에서 candidate memory 생성</a:t>
            </a:r>
          </a:p>
        </p:txBody>
      </p:sp>
      <p:sp>
        <p:nvSpPr>
          <p:cNvPr id="46" name="STC-10-agent-boundary-5">
            <a:extLst xmlns:a="http://schemas.openxmlformats.org/drawingml/2006/main">
              <a:ext uri="{FF2B5EF4-FFF2-40B4-BE49-F238E27FC236}">
                <a16:creationId xmlns:a16="http://schemas.microsoft.com/office/drawing/2014/main" id="{EBEFDBCD-115E-471C-988F-219CF18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856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EXTRACT · conversation에서 candidate memory 생성</a:t>
            </a:r>
          </a:p>
        </p:txBody>
      </p:sp>
      <p:sp>
        <p:nvSpPr>
          <p:cNvPr id="47" name="STC-10-agent-year-6">
            <a:extLst xmlns:a="http://schemas.openxmlformats.org/drawingml/2006/main">
              <a:ext uri="{FF2B5EF4-FFF2-40B4-BE49-F238E27FC236}">
                <a16:creationId xmlns:a16="http://schemas.microsoft.com/office/drawing/2014/main" id="{74CF84C3-0580-4951-9130-A803383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39512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DECIDE · add·update·delete·no-op</a:t>
            </a:r>
          </a:p>
        </p:txBody>
      </p:sp>
      <p:sp>
        <p:nvSpPr>
          <p:cNvPr id="48" name="STC-10-agent-year-rule-6">
            <a:extLst xmlns:a="http://schemas.openxmlformats.org/drawingml/2006/main">
              <a:ext uri="{FF2B5EF4-FFF2-40B4-BE49-F238E27FC236}">
                <a16:creationId xmlns:a16="http://schemas.microsoft.com/office/drawing/2014/main" id="{293DE8CD-F0D0-4F04-AC18-2BEE7A4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53218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9" name="STC-10-agent-name-6">
            <a:extLst xmlns:a="http://schemas.openxmlformats.org/drawingml/2006/main">
              <a:ext uri="{FF2B5EF4-FFF2-40B4-BE49-F238E27FC236}">
                <a16:creationId xmlns:a16="http://schemas.microsoft.com/office/drawing/2014/main" id="{1807C5B5-AD76-40FD-ACA6-39AF06E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5166360"/>
            <a:ext cx="20848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DECIDE</a:t>
            </a:r>
          </a:p>
        </p:txBody>
      </p:sp>
      <p:sp>
        <p:nvSpPr>
          <p:cNvPr id="50" name="STC-10-agent-mech-6">
            <a:extLst xmlns:a="http://schemas.openxmlformats.org/drawingml/2006/main">
              <a:ext uri="{FF2B5EF4-FFF2-40B4-BE49-F238E27FC236}">
                <a16:creationId xmlns:a16="http://schemas.microsoft.com/office/drawing/2014/main" id="{FD46D9CE-C139-4FA8-8B21-3375826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175504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1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DECIDE · add·update·delete·no-op</a:t>
            </a:r>
          </a:p>
        </p:txBody>
      </p:sp>
      <p:sp>
        <p:nvSpPr>
          <p:cNvPr id="51" name="STC-10-agent-phase-6">
            <a:extLst xmlns:a="http://schemas.openxmlformats.org/drawingml/2006/main">
              <a:ext uri="{FF2B5EF4-FFF2-40B4-BE49-F238E27FC236}">
                <a16:creationId xmlns:a16="http://schemas.microsoft.com/office/drawing/2014/main" id="{3702721E-8735-44AE-9AEE-EA4ACD2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230368"/>
            <a:ext cx="1298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DECIDE · add·update·delete·no-op</a:t>
            </a:r>
          </a:p>
        </p:txBody>
      </p:sp>
      <p:sp>
        <p:nvSpPr>
          <p:cNvPr id="52" name="STC-10-agent-boundary-6">
            <a:extLst xmlns:a="http://schemas.openxmlformats.org/drawingml/2006/main">
              <a:ext uri="{FF2B5EF4-FFF2-40B4-BE49-F238E27FC236}">
                <a16:creationId xmlns:a16="http://schemas.microsoft.com/office/drawing/2014/main" id="{8F75AA86-EFA2-4E9F-94B6-8AA8BDF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75504"/>
            <a:ext cx="21671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1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DECIDE · add·update·delete·no-op</a:t>
            </a:r>
          </a:p>
        </p:txBody>
      </p:sp>
      <p:sp>
        <p:nvSpPr>
          <p:cNvPr id="53" name="STC-10-agent-version">
            <a:extLst xmlns:a="http://schemas.openxmlformats.org/drawingml/2006/main">
              <a:ext uri="{FF2B5EF4-FFF2-40B4-BE49-F238E27FC236}">
                <a16:creationId xmlns:a16="http://schemas.microsoft.com/office/drawing/2014/main" id="{DFB5828D-1409-4F7D-8657-885F03A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742432"/>
            <a:ext cx="3813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4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conversation에서 candidate memory 생성</a:t>
            </a:r>
          </a:p>
        </p:txBody>
      </p:sp>
    </p:spTree>
    <p:extLst>
      <p:ext uri="{BB962C8B-B14F-4D97-AF65-F5344CB8AC3E}">
        <p14:creationId xmlns:p14="http://schemas.microsoft.com/office/powerpoint/2010/main" val="201438142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3-section">
            <a:extLst xmlns:a="http://schemas.openxmlformats.org/drawingml/2006/main">
              <a:ext uri="{FF2B5EF4-FFF2-40B4-BE49-F238E27FC236}">
                <a16:creationId xmlns:a16="http://schemas.microsoft.com/office/drawing/2014/main" id="{9785A39F-0AAB-47A8-BDF8-756F2A6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INDUSTRY</a:t>
            </a:r>
          </a:p>
        </p:txBody>
      </p:sp>
      <p:sp>
        <p:nvSpPr>
          <p:cNvPr id="3" name="STC-13-slide-id">
            <a:extLst xmlns:a="http://schemas.openxmlformats.org/drawingml/2006/main">
              <a:ext uri="{FF2B5EF4-FFF2-40B4-BE49-F238E27FC236}">
                <a16:creationId xmlns:a16="http://schemas.microsoft.com/office/drawing/2014/main" id="{A4A5A903-4854-4F5D-8163-30EC8F0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STC-074</a:t>
            </a:r>
          </a:p>
        </p:txBody>
      </p:sp>
      <p:sp>
        <p:nvSpPr>
          <p:cNvPr id="4" name="STC-13-headline">
            <a:extLst xmlns:a="http://schemas.openxmlformats.org/drawingml/2006/main">
              <a:ext uri="{FF2B5EF4-FFF2-40B4-BE49-F238E27FC236}">
                <a16:creationId xmlns:a16="http://schemas.microsoft.com/office/drawing/2014/main" id="{AF17D9A0-3A93-4E7F-9D99-DE7A58D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Zep은 memory를 temporal truth-maintenance 문제로 본다</a:t>
            </a:r>
          </a:p>
        </p:txBody>
      </p:sp>
      <p:sp>
        <p:nvSpPr>
          <p:cNvPr id="5" name="STC-13-status-label">
            <a:extLst xmlns:a="http://schemas.openxmlformats.org/drawingml/2006/main">
              <a:ext uri="{FF2B5EF4-FFF2-40B4-BE49-F238E27FC236}">
                <a16:creationId xmlns:a16="http://schemas.microsoft.com/office/drawing/2014/main" id="{AF94B140-BD46-4879-8C19-5B250E7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논문/제품 근거</a:t>
            </a:r>
          </a:p>
        </p:txBody>
      </p:sp>
      <p:sp>
        <p:nvSpPr>
          <p:cNvPr id="6" name="STC-13-status-rule">
            <a:extLst xmlns:a="http://schemas.openxmlformats.org/drawingml/2006/main">
              <a:ext uri="{FF2B5EF4-FFF2-40B4-BE49-F238E27FC236}">
                <a16:creationId xmlns:a16="http://schemas.microsoft.com/office/drawing/2014/main" id="{10A8CA66-60A8-483F-AAFA-64FE278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13-footer-rule">
            <a:extLst xmlns:a="http://schemas.openxmlformats.org/drawingml/2006/main">
              <a:ext uri="{FF2B5EF4-FFF2-40B4-BE49-F238E27FC236}">
                <a16:creationId xmlns:a16="http://schemas.microsoft.com/office/drawing/2014/main" id="{B855766E-A633-4E17-89AF-6D9CFED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3-source-footer">
            <a:extLst xmlns:a="http://schemas.openxmlformats.org/drawingml/2006/main">
              <a:ext uri="{FF2B5EF4-FFF2-40B4-BE49-F238E27FC236}">
                <a16:creationId xmlns:a16="http://schemas.microsoft.com/office/drawing/2014/main" id="{83B6A81A-AACD-4674-B57C-B618824F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Zep/Graphiti temporal knowledge graph · STC-T09</a:t>
            </a:r>
          </a:p>
        </p:txBody>
      </p:sp>
      <p:sp>
        <p:nvSpPr>
          <p:cNvPr id="9" name="STC-13-page-number">
            <a:extLst xmlns:a="http://schemas.openxmlformats.org/drawingml/2006/main">
              <a:ext uri="{FF2B5EF4-FFF2-40B4-BE49-F238E27FC236}">
                <a16:creationId xmlns:a16="http://schemas.microsoft.com/office/drawing/2014/main" id="{687B7F4D-F579-40DC-89A0-5805A343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74</a:t>
            </a:r>
          </a:p>
        </p:txBody>
      </p:sp>
      <p:sp>
        <p:nvSpPr>
          <p:cNvPr id="11" name="STC-13-data-layer-0">
            <a:extLst xmlns:a="http://schemas.openxmlformats.org/drawingml/2006/main">
              <a:ext uri="{FF2B5EF4-FFF2-40B4-BE49-F238E27FC236}">
                <a16:creationId xmlns:a16="http://schemas.microsoft.com/office/drawing/2014/main" id="{04820097-9F31-4DC6-A116-951B9AB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664208"/>
            <a:ext cx="8961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2" name="STC-13-data-label-0">
            <a:extLst xmlns:a="http://schemas.openxmlformats.org/drawingml/2006/main">
              <a:ext uri="{FF2B5EF4-FFF2-40B4-BE49-F238E27FC236}">
                <a16:creationId xmlns:a16="http://schemas.microsoft.com/office/drawing/2014/main" id="{A0CB3C0C-0673-4362-8DC7-0B479D4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2880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EPISODE</a:t>
            </a:r>
          </a:p>
        </p:txBody>
      </p:sp>
      <p:sp>
        <p:nvSpPr>
          <p:cNvPr id="13" name="STC-13-data-body-0">
            <a:extLst xmlns:a="http://schemas.openxmlformats.org/drawingml/2006/main">
              <a:ext uri="{FF2B5EF4-FFF2-40B4-BE49-F238E27FC236}">
                <a16:creationId xmlns:a16="http://schemas.microsoft.com/office/drawing/2014/main" id="{FDCF34C4-150A-4FCF-A34D-BFC000B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755648"/>
            <a:ext cx="6995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 대화·event를 보존</a:t>
            </a:r>
          </a:p>
        </p:txBody>
      </p:sp>
      <p:sp>
        <p:nvSpPr>
          <p:cNvPr id="14" name="STC-13-data-layer-1">
            <a:extLst xmlns:a="http://schemas.openxmlformats.org/drawingml/2006/main">
              <a:ext uri="{FF2B5EF4-FFF2-40B4-BE49-F238E27FC236}">
                <a16:creationId xmlns:a16="http://schemas.microsoft.com/office/drawing/2014/main" id="{9FD61A15-AE35-4A0A-A793-7FCB001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50592"/>
            <a:ext cx="76809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3-data-label-1">
            <a:extLst xmlns:a="http://schemas.openxmlformats.org/drawingml/2006/main">
              <a:ext uri="{FF2B5EF4-FFF2-40B4-BE49-F238E27FC236}">
                <a16:creationId xmlns:a16="http://schemas.microsoft.com/office/drawing/2014/main" id="{2BD731A4-F373-4370-BA0F-C0997B3B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61518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ENTITY</a:t>
            </a:r>
          </a:p>
        </p:txBody>
      </p:sp>
      <p:sp>
        <p:nvSpPr>
          <p:cNvPr id="16" name="STC-13-data-body-1">
            <a:extLst xmlns:a="http://schemas.openxmlformats.org/drawingml/2006/main">
              <a:ext uri="{FF2B5EF4-FFF2-40B4-BE49-F238E27FC236}">
                <a16:creationId xmlns:a16="http://schemas.microsoft.com/office/drawing/2014/main" id="{16B27792-5397-44B1-A82E-6F6C6A78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42032"/>
            <a:ext cx="5715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stable node와 semantic relation</a:t>
            </a:r>
          </a:p>
        </p:txBody>
      </p:sp>
      <p:sp>
        <p:nvSpPr>
          <p:cNvPr id="17" name="STC-13-data-layer-2">
            <a:extLst xmlns:a="http://schemas.openxmlformats.org/drawingml/2006/main">
              <a:ext uri="{FF2B5EF4-FFF2-40B4-BE49-F238E27FC236}">
                <a16:creationId xmlns:a16="http://schemas.microsoft.com/office/drawing/2014/main" id="{95D551C3-E938-407F-AB9B-B40AAE6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236976"/>
            <a:ext cx="64008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3-data-label-2">
            <a:extLst xmlns:a="http://schemas.openxmlformats.org/drawingml/2006/main">
              <a:ext uri="{FF2B5EF4-FFF2-40B4-BE49-F238E27FC236}">
                <a16:creationId xmlns:a16="http://schemas.microsoft.com/office/drawing/2014/main" id="{6477526C-D0F3-4FED-B9DA-BA154CE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401568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TIME</a:t>
            </a:r>
          </a:p>
        </p:txBody>
      </p:sp>
      <p:sp>
        <p:nvSpPr>
          <p:cNvPr id="19" name="STC-13-data-body-2">
            <a:extLst xmlns:a="http://schemas.openxmlformats.org/drawingml/2006/main">
              <a:ext uri="{FF2B5EF4-FFF2-40B4-BE49-F238E27FC236}">
                <a16:creationId xmlns:a16="http://schemas.microsoft.com/office/drawing/2014/main" id="{5CC63795-4C45-4C8C-A238-C076892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328416"/>
            <a:ext cx="4434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validity와 chronology</a:t>
            </a:r>
          </a:p>
        </p:txBody>
      </p:sp>
      <p:sp>
        <p:nvSpPr>
          <p:cNvPr id="20" name="STC-13-data-layer-3">
            <a:extLst xmlns:a="http://schemas.openxmlformats.org/drawingml/2006/main">
              <a:ext uri="{FF2B5EF4-FFF2-40B4-BE49-F238E27FC236}">
                <a16:creationId xmlns:a16="http://schemas.microsoft.com/office/drawing/2014/main" id="{088B4A5A-4492-453D-BBB3-84168BF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023360"/>
            <a:ext cx="51206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13-data-label-3">
            <a:extLst xmlns:a="http://schemas.openxmlformats.org/drawingml/2006/main">
              <a:ext uri="{FF2B5EF4-FFF2-40B4-BE49-F238E27FC236}">
                <a16:creationId xmlns:a16="http://schemas.microsoft.com/office/drawing/2014/main" id="{8742739C-7605-40FB-A7CF-E029D14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CONFLICT</a:t>
            </a:r>
          </a:p>
        </p:txBody>
      </p:sp>
      <p:sp>
        <p:nvSpPr>
          <p:cNvPr id="22" name="STC-13-data-body-3">
            <a:extLst xmlns:a="http://schemas.openxmlformats.org/drawingml/2006/main">
              <a:ext uri="{FF2B5EF4-FFF2-40B4-BE49-F238E27FC236}">
                <a16:creationId xmlns:a16="http://schemas.microsoft.com/office/drawing/2014/main" id="{934CB71E-27CD-4272-B979-DE93472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114800"/>
            <a:ext cx="3154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새 assertion이 old를 supersede</a:t>
            </a:r>
          </a:p>
        </p:txBody>
      </p:sp>
      <p:sp>
        <p:nvSpPr>
          <p:cNvPr id="23" name="STC-13-data-layer-4">
            <a:extLst xmlns:a="http://schemas.openxmlformats.org/drawingml/2006/main">
              <a:ext uri="{FF2B5EF4-FFF2-40B4-BE49-F238E27FC236}">
                <a16:creationId xmlns:a16="http://schemas.microsoft.com/office/drawing/2014/main" id="{D505F5B5-B093-4591-A92B-C8EA912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809744"/>
            <a:ext cx="38404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24" name="STC-13-data-label-4">
            <a:extLst xmlns:a="http://schemas.openxmlformats.org/drawingml/2006/main">
              <a:ext uri="{FF2B5EF4-FFF2-40B4-BE49-F238E27FC236}">
                <a16:creationId xmlns:a16="http://schemas.microsoft.com/office/drawing/2014/main" id="{D8CEFF44-4BD7-4FC7-8DC5-F6C69BE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4336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RETRIEVE</a:t>
            </a:r>
          </a:p>
        </p:txBody>
      </p:sp>
      <p:sp>
        <p:nvSpPr>
          <p:cNvPr id="25" name="STC-13-data-body-4">
            <a:extLst xmlns:a="http://schemas.openxmlformats.org/drawingml/2006/main">
              <a:ext uri="{FF2B5EF4-FFF2-40B4-BE49-F238E27FC236}">
                <a16:creationId xmlns:a16="http://schemas.microsoft.com/office/drawing/2014/main" id="{3E315F74-2DD1-4079-A8AD-FED1874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901184"/>
            <a:ext cx="1874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current-state와 historical provenance를 함께 제공</a:t>
            </a:r>
          </a:p>
        </p:txBody>
      </p:sp>
      <p:sp>
        <p:nvSpPr>
          <p:cNvPr id="26" name="STC-13-data-warning">
            <a:extLst xmlns:a="http://schemas.openxmlformats.org/drawingml/2006/main">
              <a:ext uri="{FF2B5EF4-FFF2-40B4-BE49-F238E27FC236}">
                <a16:creationId xmlns:a16="http://schemas.microsoft.com/office/drawing/2014/main" id="{0F955075-B866-48A7-A4A2-5437508F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2356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원 대화·event를 보존</a:t>
            </a:r>
          </a:p>
        </p:txBody>
      </p:sp>
    </p:spTree>
    <p:extLst>
      <p:ext uri="{BB962C8B-B14F-4D97-AF65-F5344CB8AC3E}">
        <p14:creationId xmlns:p14="http://schemas.microsoft.com/office/powerpoint/2010/main" val="141907151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1-section">
            <a:extLst xmlns:a="http://schemas.openxmlformats.org/drawingml/2006/main">
              <a:ext uri="{FF2B5EF4-FFF2-40B4-BE49-F238E27FC236}">
                <a16:creationId xmlns:a16="http://schemas.microsoft.com/office/drawing/2014/main" id="{8E42DD25-172C-485F-843C-1E0097F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PORTFOLIO</a:t>
            </a:r>
          </a:p>
        </p:txBody>
      </p:sp>
      <p:sp>
        <p:nvSpPr>
          <p:cNvPr id="3" name="STC-11-slide-id">
            <a:extLst xmlns:a="http://schemas.openxmlformats.org/drawingml/2006/main">
              <a:ext uri="{FF2B5EF4-FFF2-40B4-BE49-F238E27FC236}">
                <a16:creationId xmlns:a16="http://schemas.microsoft.com/office/drawing/2014/main" id="{15CCABCC-156A-49B1-9FE6-98A904F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STC-075</a:t>
            </a:r>
          </a:p>
        </p:txBody>
      </p:sp>
      <p:sp>
        <p:nvSpPr>
          <p:cNvPr id="4" name="STC-11-headline">
            <a:extLst xmlns:a="http://schemas.openxmlformats.org/drawingml/2006/main">
              <a:ext uri="{FF2B5EF4-FFF2-40B4-BE49-F238E27FC236}">
                <a16:creationId xmlns:a16="http://schemas.microsoft.com/office/drawing/2014/main" id="{1939B1E3-3D98-4D57-9B42-81CE910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Google은 parametric sleep과 external self-evolution을 병렬 탐색한다</a:t>
            </a:r>
          </a:p>
        </p:txBody>
      </p:sp>
      <p:sp>
        <p:nvSpPr>
          <p:cNvPr id="5" name="STC-11-status-label">
            <a:extLst xmlns:a="http://schemas.openxmlformats.org/drawingml/2006/main">
              <a:ext uri="{FF2B5EF4-FFF2-40B4-BE49-F238E27FC236}">
                <a16:creationId xmlns:a16="http://schemas.microsoft.com/office/drawing/2014/main" id="{F53A0355-622F-4A3A-9B09-65E46E9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산업/학계</a:t>
            </a:r>
          </a:p>
        </p:txBody>
      </p:sp>
      <p:sp>
        <p:nvSpPr>
          <p:cNvPr id="6" name="STC-11-status-rule">
            <a:extLst xmlns:a="http://schemas.openxmlformats.org/drawingml/2006/main">
              <a:ext uri="{FF2B5EF4-FFF2-40B4-BE49-F238E27FC236}">
                <a16:creationId xmlns:a16="http://schemas.microsoft.com/office/drawing/2014/main" id="{DF081263-8FB8-4033-A6EA-7F5E12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1-footer-rule">
            <a:extLst xmlns:a="http://schemas.openxmlformats.org/drawingml/2006/main">
              <a:ext uri="{FF2B5EF4-FFF2-40B4-BE49-F238E27FC236}">
                <a16:creationId xmlns:a16="http://schemas.microsoft.com/office/drawing/2014/main" id="{7B135606-A511-42FA-9D61-DF1785A3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1-source-footer">
            <a:extLst xmlns:a="http://schemas.openxmlformats.org/drawingml/2006/main">
              <a:ext uri="{FF2B5EF4-FFF2-40B4-BE49-F238E27FC236}">
                <a16:creationId xmlns:a16="http://schemas.microsoft.com/office/drawing/2014/main" id="{D47892FA-76DC-4BCC-8964-790AEF3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Google/DeepMind portfolio audit</a:t>
            </a:r>
          </a:p>
        </p:txBody>
      </p:sp>
      <p:sp>
        <p:nvSpPr>
          <p:cNvPr id="9" name="STC-11-page-number">
            <a:extLst xmlns:a="http://schemas.openxmlformats.org/drawingml/2006/main">
              <a:ext uri="{FF2B5EF4-FFF2-40B4-BE49-F238E27FC236}">
                <a16:creationId xmlns:a16="http://schemas.microsoft.com/office/drawing/2014/main" id="{EF78823B-8CA2-4364-BF47-8CCD4F9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75</a:t>
            </a:r>
          </a:p>
        </p:txBody>
      </p:sp>
      <p:sp>
        <p:nvSpPr>
          <p:cNvPr id="11" name="STC-11-company-label-0">
            <a:extLst xmlns:a="http://schemas.openxmlformats.org/drawingml/2006/main">
              <a:ext uri="{FF2B5EF4-FFF2-40B4-BE49-F238E27FC236}">
                <a16:creationId xmlns:a16="http://schemas.microsoft.com/office/drawing/2014/main" id="{9D7CC8C7-0FE8-41DD-86E3-B1A0A99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</p:txBody>
      </p:sp>
      <p:sp>
        <p:nvSpPr>
          <p:cNvPr id="12" name="STC-11-company-start-0">
            <a:extLst xmlns:a="http://schemas.openxmlformats.org/drawingml/2006/main">
              <a:ext uri="{FF2B5EF4-FFF2-40B4-BE49-F238E27FC236}">
                <a16:creationId xmlns:a16="http://schemas.microsoft.com/office/drawing/2014/main" id="{67053390-476E-48A8-B068-8AB701B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1700784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1-company-history-0">
            <a:extLst xmlns:a="http://schemas.openxmlformats.org/drawingml/2006/main">
              <a:ext uri="{FF2B5EF4-FFF2-40B4-BE49-F238E27FC236}">
                <a16:creationId xmlns:a16="http://schemas.microsoft.com/office/drawing/2014/main" id="{85BF2345-3DBD-4C16-9070-D96B00E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536192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</a:t>
            </a:r>
          </a:p>
        </p:txBody>
      </p:sp>
      <p:sp>
        <p:nvSpPr>
          <p:cNvPr id="14" name="STC-11-company-mid-0">
            <a:extLst xmlns:a="http://schemas.openxmlformats.org/drawingml/2006/main">
              <a:ext uri="{FF2B5EF4-FFF2-40B4-BE49-F238E27FC236}">
                <a16:creationId xmlns:a16="http://schemas.microsoft.com/office/drawing/2014/main" id="{F08AFFA2-8495-4971-B459-3603BD8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00784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5" name="STC-11-company-current-0">
            <a:extLst xmlns:a="http://schemas.openxmlformats.org/drawingml/2006/main">
              <a:ext uri="{FF2B5EF4-FFF2-40B4-BE49-F238E27FC236}">
                <a16:creationId xmlns:a16="http://schemas.microsoft.com/office/drawing/2014/main" id="{18663024-F8FE-48B0-A825-101C04A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536192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</a:t>
            </a:r>
          </a:p>
        </p:txBody>
      </p:sp>
      <p:sp>
        <p:nvSpPr>
          <p:cNvPr id="16" name="STC-11-company-verdict-0">
            <a:extLst xmlns:a="http://schemas.openxmlformats.org/drawingml/2006/main">
              <a:ext uri="{FF2B5EF4-FFF2-40B4-BE49-F238E27FC236}">
                <a16:creationId xmlns:a16="http://schemas.microsoft.com/office/drawing/2014/main" id="{268554DD-C7F5-4EB6-9BB2-33E9093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1545336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Research convergence는 강하지만 product parametric adoption은 아직 미확인이다.</a:t>
            </a:r>
          </a:p>
        </p:txBody>
      </p:sp>
      <p:sp>
        <p:nvSpPr>
          <p:cNvPr id="17" name="STC-11-company-label-1">
            <a:extLst xmlns:a="http://schemas.openxmlformats.org/drawingml/2006/main">
              <a:ext uri="{FF2B5EF4-FFF2-40B4-BE49-F238E27FC236}">
                <a16:creationId xmlns:a16="http://schemas.microsoft.com/office/drawing/2014/main" id="{B11192D4-BD97-4083-A82B-FC5316B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26080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NESTED</a:t>
            </a:r>
          </a:p>
        </p:txBody>
      </p:sp>
      <p:sp>
        <p:nvSpPr>
          <p:cNvPr id="18" name="STC-11-company-start-1">
            <a:extLst xmlns:a="http://schemas.openxmlformats.org/drawingml/2006/main">
              <a:ext uri="{FF2B5EF4-FFF2-40B4-BE49-F238E27FC236}">
                <a16:creationId xmlns:a16="http://schemas.microsoft.com/office/drawing/2014/main" id="{B6B6CC22-CEF6-4BD2-884C-98735FC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054096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1-company-history-1">
            <a:extLst xmlns:a="http://schemas.openxmlformats.org/drawingml/2006/main">
              <a:ext uri="{FF2B5EF4-FFF2-40B4-BE49-F238E27FC236}">
                <a16:creationId xmlns:a16="http://schemas.microsoft.com/office/drawing/2014/main" id="{A64EC7DE-C071-4E44-922A-9E2C8EC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889504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NESTED</a:t>
            </a:r>
          </a:p>
        </p:txBody>
      </p:sp>
      <p:sp>
        <p:nvSpPr>
          <p:cNvPr id="20" name="STC-11-company-mid-1">
            <a:extLst xmlns:a="http://schemas.openxmlformats.org/drawingml/2006/main">
              <a:ext uri="{FF2B5EF4-FFF2-40B4-BE49-F238E27FC236}">
                <a16:creationId xmlns:a16="http://schemas.microsoft.com/office/drawing/2014/main" id="{E0512254-F359-4166-A703-3EE32FA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54096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1-company-current-1">
            <a:extLst xmlns:a="http://schemas.openxmlformats.org/drawingml/2006/main">
              <a:ext uri="{FF2B5EF4-FFF2-40B4-BE49-F238E27FC236}">
                <a16:creationId xmlns:a16="http://schemas.microsoft.com/office/drawing/2014/main" id="{0D901664-53DC-4C61-9B20-59C7D22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889504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NESTED</a:t>
            </a:r>
          </a:p>
        </p:txBody>
      </p:sp>
      <p:sp>
        <p:nvSpPr>
          <p:cNvPr id="22" name="STC-11-company-verdict-1">
            <a:extLst xmlns:a="http://schemas.openxmlformats.org/drawingml/2006/main">
              <a:ext uri="{FF2B5EF4-FFF2-40B4-BE49-F238E27FC236}">
                <a16:creationId xmlns:a16="http://schemas.microsoft.com/office/drawing/2014/main" id="{BAD33E16-72D1-4A43-AE3E-BC63989A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898648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Research convergence는 강하지만 product parametric adoption은 아직 미확인이다.</a:t>
            </a:r>
          </a:p>
        </p:txBody>
      </p:sp>
      <p:sp>
        <p:nvSpPr>
          <p:cNvPr id="23" name="STC-11-company-label-2">
            <a:extLst xmlns:a="http://schemas.openxmlformats.org/drawingml/2006/main">
              <a:ext uri="{FF2B5EF4-FFF2-40B4-BE49-F238E27FC236}">
                <a16:creationId xmlns:a16="http://schemas.microsoft.com/office/drawing/2014/main" id="{C841D7F0-7FB1-4776-86BF-20940AD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93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REASONINGBANK</a:t>
            </a:r>
          </a:p>
        </p:txBody>
      </p:sp>
      <p:sp>
        <p:nvSpPr>
          <p:cNvPr id="24" name="STC-11-company-start-2">
            <a:extLst xmlns:a="http://schemas.openxmlformats.org/drawingml/2006/main">
              <a:ext uri="{FF2B5EF4-FFF2-40B4-BE49-F238E27FC236}">
                <a16:creationId xmlns:a16="http://schemas.microsoft.com/office/drawing/2014/main" id="{88D88388-738D-443E-B7BE-93C3B10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4407408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1-company-history-2">
            <a:extLst xmlns:a="http://schemas.openxmlformats.org/drawingml/2006/main">
              <a:ext uri="{FF2B5EF4-FFF2-40B4-BE49-F238E27FC236}">
                <a16:creationId xmlns:a16="http://schemas.microsoft.com/office/drawing/2014/main" id="{00CAFCE2-9261-417A-858E-15703E7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242816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REASONINGBANK</a:t>
            </a:r>
          </a:p>
        </p:txBody>
      </p:sp>
      <p:sp>
        <p:nvSpPr>
          <p:cNvPr id="26" name="STC-11-company-mid-2">
            <a:extLst xmlns:a="http://schemas.openxmlformats.org/drawingml/2006/main">
              <a:ext uri="{FF2B5EF4-FFF2-40B4-BE49-F238E27FC236}">
                <a16:creationId xmlns:a16="http://schemas.microsoft.com/office/drawing/2014/main" id="{88DE6307-502F-4341-B0ED-6D0523D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407408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7" name="STC-11-company-current-2">
            <a:extLst xmlns:a="http://schemas.openxmlformats.org/drawingml/2006/main">
              <a:ext uri="{FF2B5EF4-FFF2-40B4-BE49-F238E27FC236}">
                <a16:creationId xmlns:a16="http://schemas.microsoft.com/office/drawing/2014/main" id="{22A4C4DD-D4BB-47C5-A953-1B8176E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242816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REASONINGBANK</a:t>
            </a:r>
          </a:p>
        </p:txBody>
      </p:sp>
      <p:sp>
        <p:nvSpPr>
          <p:cNvPr id="28" name="STC-11-company-verdict-2">
            <a:extLst xmlns:a="http://schemas.openxmlformats.org/drawingml/2006/main">
              <a:ext uri="{FF2B5EF4-FFF2-40B4-BE49-F238E27FC236}">
                <a16:creationId xmlns:a16="http://schemas.microsoft.com/office/drawing/2014/main" id="{ADD35A8F-6D61-4D59-8B95-3B3F770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4251960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Research convergence는 강하지만 product parametric adoption은 아직 미확인이다.</a:t>
            </a:r>
          </a:p>
        </p:txBody>
      </p:sp>
      <p:sp>
        <p:nvSpPr>
          <p:cNvPr id="29" name="STC-11-company-nonclaim">
            <a:extLst xmlns:a="http://schemas.openxmlformats.org/drawingml/2006/main">
              <a:ext uri="{FF2B5EF4-FFF2-40B4-BE49-F238E27FC236}">
                <a16:creationId xmlns:a16="http://schemas.microsoft.com/office/drawing/2014/main" id="{E3841E4A-5104-442E-9943-218AC82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41264"/>
            <a:ext cx="1046988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1-company-nonclaim-text">
            <a:extLst xmlns:a="http://schemas.openxmlformats.org/drawingml/2006/main">
              <a:ext uri="{FF2B5EF4-FFF2-40B4-BE49-F238E27FC236}">
                <a16:creationId xmlns:a16="http://schemas.microsoft.com/office/drawing/2014/main" id="{4D284CDD-8453-4329-AF3C-921A5924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669280"/>
            <a:ext cx="10058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Knowledge Seeding·Dreaming의 offline adaptation</a:t>
            </a:r>
          </a:p>
        </p:txBody>
      </p:sp>
    </p:spTree>
    <p:extLst>
      <p:ext uri="{BB962C8B-B14F-4D97-AF65-F5344CB8AC3E}">
        <p14:creationId xmlns:p14="http://schemas.microsoft.com/office/powerpoint/2010/main" val="31662653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1-section">
            <a:extLst xmlns:a="http://schemas.openxmlformats.org/drawingml/2006/main">
              <a:ext uri="{FF2B5EF4-FFF2-40B4-BE49-F238E27FC236}">
                <a16:creationId xmlns:a16="http://schemas.microsoft.com/office/drawing/2014/main" id="{8E42DD25-172C-485F-843C-1E0097F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PORTFOLIO</a:t>
            </a:r>
          </a:p>
        </p:txBody>
      </p:sp>
      <p:sp>
        <p:nvSpPr>
          <p:cNvPr id="3" name="STC-11-slide-id">
            <a:extLst xmlns:a="http://schemas.openxmlformats.org/drawingml/2006/main">
              <a:ext uri="{FF2B5EF4-FFF2-40B4-BE49-F238E27FC236}">
                <a16:creationId xmlns:a16="http://schemas.microsoft.com/office/drawing/2014/main" id="{15CCABCC-156A-49B1-9FE6-98A904F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STC-076</a:t>
            </a:r>
          </a:p>
        </p:txBody>
      </p:sp>
      <p:sp>
        <p:nvSpPr>
          <p:cNvPr id="4" name="STC-11-headline">
            <a:extLst xmlns:a="http://schemas.openxmlformats.org/drawingml/2006/main">
              <a:ext uri="{FF2B5EF4-FFF2-40B4-BE49-F238E27FC236}">
                <a16:creationId xmlns:a16="http://schemas.microsoft.com/office/drawing/2014/main" id="{1939B1E3-3D98-4D57-9B42-81CE910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Meta는 explicit memory와 self-editable agent program을 연구한다</a:t>
            </a:r>
          </a:p>
        </p:txBody>
      </p:sp>
      <p:sp>
        <p:nvSpPr>
          <p:cNvPr id="5" name="STC-11-status-label">
            <a:extLst xmlns:a="http://schemas.openxmlformats.org/drawingml/2006/main">
              <a:ext uri="{FF2B5EF4-FFF2-40B4-BE49-F238E27FC236}">
                <a16:creationId xmlns:a16="http://schemas.microsoft.com/office/drawing/2014/main" id="{F53A0355-622F-4A3A-9B09-65E46E9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산업/학계</a:t>
            </a:r>
          </a:p>
        </p:txBody>
      </p:sp>
      <p:sp>
        <p:nvSpPr>
          <p:cNvPr id="6" name="STC-11-status-rule">
            <a:extLst xmlns:a="http://schemas.openxmlformats.org/drawingml/2006/main">
              <a:ext uri="{FF2B5EF4-FFF2-40B4-BE49-F238E27FC236}">
                <a16:creationId xmlns:a16="http://schemas.microsoft.com/office/drawing/2014/main" id="{DF081263-8FB8-4033-A6EA-7F5E12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1-footer-rule">
            <a:extLst xmlns:a="http://schemas.openxmlformats.org/drawingml/2006/main">
              <a:ext uri="{FF2B5EF4-FFF2-40B4-BE49-F238E27FC236}">
                <a16:creationId xmlns:a16="http://schemas.microsoft.com/office/drawing/2014/main" id="{7B135606-A511-42FA-9D61-DF1785A3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1-source-footer">
            <a:extLst xmlns:a="http://schemas.openxmlformats.org/drawingml/2006/main">
              <a:ext uri="{FF2B5EF4-FFF2-40B4-BE49-F238E27FC236}">
                <a16:creationId xmlns:a16="http://schemas.microsoft.com/office/drawing/2014/main" id="{D47892FA-76DC-4BCC-8964-790AEF3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PAHF · HyperAgents official research</a:t>
            </a:r>
          </a:p>
        </p:txBody>
      </p:sp>
      <p:sp>
        <p:nvSpPr>
          <p:cNvPr id="9" name="STC-11-page-number">
            <a:extLst xmlns:a="http://schemas.openxmlformats.org/drawingml/2006/main">
              <a:ext uri="{FF2B5EF4-FFF2-40B4-BE49-F238E27FC236}">
                <a16:creationId xmlns:a16="http://schemas.microsoft.com/office/drawing/2014/main" id="{EF78823B-8CA2-4364-BF47-8CCD4F9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76</a:t>
            </a:r>
          </a:p>
        </p:txBody>
      </p:sp>
      <p:sp>
        <p:nvSpPr>
          <p:cNvPr id="11" name="STC-11-company-label-0">
            <a:extLst xmlns:a="http://schemas.openxmlformats.org/drawingml/2006/main">
              <a:ext uri="{FF2B5EF4-FFF2-40B4-BE49-F238E27FC236}">
                <a16:creationId xmlns:a16="http://schemas.microsoft.com/office/drawing/2014/main" id="{9D7CC8C7-0FE8-41DD-86E3-B1A0A99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PAHF</a:t>
            </a:r>
          </a:p>
        </p:txBody>
      </p:sp>
      <p:sp>
        <p:nvSpPr>
          <p:cNvPr id="12" name="STC-11-company-start-0">
            <a:extLst xmlns:a="http://schemas.openxmlformats.org/drawingml/2006/main">
              <a:ext uri="{FF2B5EF4-FFF2-40B4-BE49-F238E27FC236}">
                <a16:creationId xmlns:a16="http://schemas.microsoft.com/office/drawing/2014/main" id="{67053390-476E-48A8-B068-8AB701B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1700784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1-company-history-0">
            <a:extLst xmlns:a="http://schemas.openxmlformats.org/drawingml/2006/main">
              <a:ext uri="{FF2B5EF4-FFF2-40B4-BE49-F238E27FC236}">
                <a16:creationId xmlns:a16="http://schemas.microsoft.com/office/drawing/2014/main" id="{85BF2345-3DBD-4C16-9070-D96B00E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536192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PAHF</a:t>
            </a:r>
          </a:p>
        </p:txBody>
      </p:sp>
      <p:sp>
        <p:nvSpPr>
          <p:cNvPr id="14" name="STC-11-company-mid-0">
            <a:extLst xmlns:a="http://schemas.openxmlformats.org/drawingml/2006/main">
              <a:ext uri="{FF2B5EF4-FFF2-40B4-BE49-F238E27FC236}">
                <a16:creationId xmlns:a16="http://schemas.microsoft.com/office/drawing/2014/main" id="{F08AFFA2-8495-4971-B459-3603BD8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00784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5" name="STC-11-company-current-0">
            <a:extLst xmlns:a="http://schemas.openxmlformats.org/drawingml/2006/main">
              <a:ext uri="{FF2B5EF4-FFF2-40B4-BE49-F238E27FC236}">
                <a16:creationId xmlns:a16="http://schemas.microsoft.com/office/drawing/2014/main" id="{18663024-F8FE-48B0-A825-101C04A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536192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PAHF</a:t>
            </a:r>
          </a:p>
        </p:txBody>
      </p:sp>
      <p:sp>
        <p:nvSpPr>
          <p:cNvPr id="16" name="STC-11-company-verdict-0">
            <a:extLst xmlns:a="http://schemas.openxmlformats.org/drawingml/2006/main">
              <a:ext uri="{FF2B5EF4-FFF2-40B4-BE49-F238E27FC236}">
                <a16:creationId xmlns:a16="http://schemas.microsoft.com/office/drawing/2014/main" id="{268554DD-C7F5-4EB6-9BB2-33E9093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1545336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Self-improving agent와 sleep lifecycle은 겹치지만 동일하지 않다.</a:t>
            </a:r>
          </a:p>
        </p:txBody>
      </p:sp>
      <p:sp>
        <p:nvSpPr>
          <p:cNvPr id="17" name="STC-11-company-label-1">
            <a:extLst xmlns:a="http://schemas.openxmlformats.org/drawingml/2006/main">
              <a:ext uri="{FF2B5EF4-FFF2-40B4-BE49-F238E27FC236}">
                <a16:creationId xmlns:a16="http://schemas.microsoft.com/office/drawing/2014/main" id="{B11192D4-BD97-4083-A82B-FC5316B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26080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HYPERAGENT</a:t>
            </a:r>
          </a:p>
        </p:txBody>
      </p:sp>
      <p:sp>
        <p:nvSpPr>
          <p:cNvPr id="18" name="STC-11-company-start-1">
            <a:extLst xmlns:a="http://schemas.openxmlformats.org/drawingml/2006/main">
              <a:ext uri="{FF2B5EF4-FFF2-40B4-BE49-F238E27FC236}">
                <a16:creationId xmlns:a16="http://schemas.microsoft.com/office/drawing/2014/main" id="{B6B6CC22-CEF6-4BD2-884C-98735FC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054096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1-company-history-1">
            <a:extLst xmlns:a="http://schemas.openxmlformats.org/drawingml/2006/main">
              <a:ext uri="{FF2B5EF4-FFF2-40B4-BE49-F238E27FC236}">
                <a16:creationId xmlns:a16="http://schemas.microsoft.com/office/drawing/2014/main" id="{A64EC7DE-C071-4E44-922A-9E2C8EC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889504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HYPERAGENT</a:t>
            </a:r>
          </a:p>
        </p:txBody>
      </p:sp>
      <p:sp>
        <p:nvSpPr>
          <p:cNvPr id="20" name="STC-11-company-mid-1">
            <a:extLst xmlns:a="http://schemas.openxmlformats.org/drawingml/2006/main">
              <a:ext uri="{FF2B5EF4-FFF2-40B4-BE49-F238E27FC236}">
                <a16:creationId xmlns:a16="http://schemas.microsoft.com/office/drawing/2014/main" id="{E0512254-F359-4166-A703-3EE32FA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54096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1-company-current-1">
            <a:extLst xmlns:a="http://schemas.openxmlformats.org/drawingml/2006/main">
              <a:ext uri="{FF2B5EF4-FFF2-40B4-BE49-F238E27FC236}">
                <a16:creationId xmlns:a16="http://schemas.microsoft.com/office/drawing/2014/main" id="{0D901664-53DC-4C61-9B20-59C7D22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889504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HYPERAGENT</a:t>
            </a:r>
          </a:p>
        </p:txBody>
      </p:sp>
      <p:sp>
        <p:nvSpPr>
          <p:cNvPr id="22" name="STC-11-company-verdict-1">
            <a:extLst xmlns:a="http://schemas.openxmlformats.org/drawingml/2006/main">
              <a:ext uri="{FF2B5EF4-FFF2-40B4-BE49-F238E27FC236}">
                <a16:creationId xmlns:a16="http://schemas.microsoft.com/office/drawing/2014/main" id="{BAD33E16-72D1-4A43-AE3E-BC63989A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898648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Self-improving agent와 sleep lifecycle은 겹치지만 동일하지 않다.</a:t>
            </a:r>
          </a:p>
        </p:txBody>
      </p:sp>
      <p:sp>
        <p:nvSpPr>
          <p:cNvPr id="23" name="STC-11-company-label-2">
            <a:extLst xmlns:a="http://schemas.openxmlformats.org/drawingml/2006/main">
              <a:ext uri="{FF2B5EF4-FFF2-40B4-BE49-F238E27FC236}">
                <a16:creationId xmlns:a16="http://schemas.microsoft.com/office/drawing/2014/main" id="{C841D7F0-7FB1-4776-86BF-20940AD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93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SIGNAL</a:t>
            </a:r>
          </a:p>
        </p:txBody>
      </p:sp>
      <p:sp>
        <p:nvSpPr>
          <p:cNvPr id="24" name="STC-11-company-start-2">
            <a:extLst xmlns:a="http://schemas.openxmlformats.org/drawingml/2006/main">
              <a:ext uri="{FF2B5EF4-FFF2-40B4-BE49-F238E27FC236}">
                <a16:creationId xmlns:a16="http://schemas.microsoft.com/office/drawing/2014/main" id="{88D88388-738D-443E-B7BE-93C3B10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4407408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1-company-history-2">
            <a:extLst xmlns:a="http://schemas.openxmlformats.org/drawingml/2006/main">
              <a:ext uri="{FF2B5EF4-FFF2-40B4-BE49-F238E27FC236}">
                <a16:creationId xmlns:a16="http://schemas.microsoft.com/office/drawing/2014/main" id="{00CAFCE2-9261-417A-858E-15703E7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242816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SIGNAL</a:t>
            </a:r>
          </a:p>
        </p:txBody>
      </p:sp>
      <p:sp>
        <p:nvSpPr>
          <p:cNvPr id="26" name="STC-11-company-mid-2">
            <a:extLst xmlns:a="http://schemas.openxmlformats.org/drawingml/2006/main">
              <a:ext uri="{FF2B5EF4-FFF2-40B4-BE49-F238E27FC236}">
                <a16:creationId xmlns:a16="http://schemas.microsoft.com/office/drawing/2014/main" id="{88DE6307-502F-4341-B0ED-6D0523D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407408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7" name="STC-11-company-current-2">
            <a:extLst xmlns:a="http://schemas.openxmlformats.org/drawingml/2006/main">
              <a:ext uri="{FF2B5EF4-FFF2-40B4-BE49-F238E27FC236}">
                <a16:creationId xmlns:a16="http://schemas.microsoft.com/office/drawing/2014/main" id="{22A4C4DD-D4BB-47C5-A953-1B8176E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242816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SIGNAL</a:t>
            </a:r>
          </a:p>
        </p:txBody>
      </p:sp>
      <p:sp>
        <p:nvSpPr>
          <p:cNvPr id="28" name="STC-11-company-verdict-2">
            <a:extLst xmlns:a="http://schemas.openxmlformats.org/drawingml/2006/main">
              <a:ext uri="{FF2B5EF4-FFF2-40B4-BE49-F238E27FC236}">
                <a16:creationId xmlns:a16="http://schemas.microsoft.com/office/drawing/2014/main" id="{ADD35A8F-6D61-4D59-8B95-3B3F770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4251960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Self-improving agent와 sleep lifecycle은 겹치지만 동일하지 않다.</a:t>
            </a:r>
          </a:p>
        </p:txBody>
      </p:sp>
      <p:sp>
        <p:nvSpPr>
          <p:cNvPr id="29" name="STC-11-company-nonclaim">
            <a:extLst xmlns:a="http://schemas.openxmlformats.org/drawingml/2006/main">
              <a:ext uri="{FF2B5EF4-FFF2-40B4-BE49-F238E27FC236}">
                <a16:creationId xmlns:a16="http://schemas.microsoft.com/office/drawing/2014/main" id="{E3841E4A-5104-442E-9943-218AC82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41264"/>
            <a:ext cx="1046988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1-company-nonclaim-text">
            <a:extLst xmlns:a="http://schemas.openxmlformats.org/drawingml/2006/main">
              <a:ext uri="{FF2B5EF4-FFF2-40B4-BE49-F238E27FC236}">
                <a16:creationId xmlns:a16="http://schemas.microsoft.com/office/drawing/2014/main" id="{4D284CDD-8453-4329-AF3C-921A5924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669280"/>
            <a:ext cx="10058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clarification·feedback을 per-user external memory에 반영</a:t>
            </a:r>
          </a:p>
        </p:txBody>
      </p:sp>
    </p:spTree>
    <p:extLst>
      <p:ext uri="{BB962C8B-B14F-4D97-AF65-F5344CB8AC3E}">
        <p14:creationId xmlns:p14="http://schemas.microsoft.com/office/powerpoint/2010/main" val="31662653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1-section">
            <a:extLst xmlns:a="http://schemas.openxmlformats.org/drawingml/2006/main">
              <a:ext uri="{FF2B5EF4-FFF2-40B4-BE49-F238E27FC236}">
                <a16:creationId xmlns:a16="http://schemas.microsoft.com/office/drawing/2014/main" id="{8E42DD25-172C-485F-843C-1E0097F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PORTFOLIO</a:t>
            </a:r>
          </a:p>
        </p:txBody>
      </p:sp>
      <p:sp>
        <p:nvSpPr>
          <p:cNvPr id="3" name="STC-11-slide-id">
            <a:extLst xmlns:a="http://schemas.openxmlformats.org/drawingml/2006/main">
              <a:ext uri="{FF2B5EF4-FFF2-40B4-BE49-F238E27FC236}">
                <a16:creationId xmlns:a16="http://schemas.microsoft.com/office/drawing/2014/main" id="{15CCABCC-156A-49B1-9FE6-98A904F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STC-077</a:t>
            </a:r>
          </a:p>
        </p:txBody>
      </p:sp>
      <p:sp>
        <p:nvSpPr>
          <p:cNvPr id="4" name="STC-11-headline">
            <a:extLst xmlns:a="http://schemas.openxmlformats.org/drawingml/2006/main">
              <a:ext uri="{FF2B5EF4-FFF2-40B4-BE49-F238E27FC236}">
                <a16:creationId xmlns:a16="http://schemas.microsoft.com/office/drawing/2014/main" id="{1939B1E3-3D98-4D57-9B42-81CE910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Microsoft는 destination-neutral memory benchmark를 강화한다</a:t>
            </a:r>
          </a:p>
        </p:txBody>
      </p:sp>
      <p:sp>
        <p:nvSpPr>
          <p:cNvPr id="5" name="STC-11-status-label">
            <a:extLst xmlns:a="http://schemas.openxmlformats.org/drawingml/2006/main">
              <a:ext uri="{FF2B5EF4-FFF2-40B4-BE49-F238E27FC236}">
                <a16:creationId xmlns:a16="http://schemas.microsoft.com/office/drawing/2014/main" id="{F53A0355-622F-4A3A-9B09-65E46E9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산업/학계</a:t>
            </a:r>
          </a:p>
        </p:txBody>
      </p:sp>
      <p:sp>
        <p:nvSpPr>
          <p:cNvPr id="6" name="STC-11-status-rule">
            <a:extLst xmlns:a="http://schemas.openxmlformats.org/drawingml/2006/main">
              <a:ext uri="{FF2B5EF4-FFF2-40B4-BE49-F238E27FC236}">
                <a16:creationId xmlns:a16="http://schemas.microsoft.com/office/drawing/2014/main" id="{DF081263-8FB8-4033-A6EA-7F5E12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1-footer-rule">
            <a:extLst xmlns:a="http://schemas.openxmlformats.org/drawingml/2006/main">
              <a:ext uri="{FF2B5EF4-FFF2-40B4-BE49-F238E27FC236}">
                <a16:creationId xmlns:a16="http://schemas.microsoft.com/office/drawing/2014/main" id="{7B135606-A511-42FA-9D61-DF1785A3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1-source-footer">
            <a:extLst xmlns:a="http://schemas.openxmlformats.org/drawingml/2006/main">
              <a:ext uri="{FF2B5EF4-FFF2-40B4-BE49-F238E27FC236}">
                <a16:creationId xmlns:a16="http://schemas.microsoft.com/office/drawing/2014/main" id="{D47892FA-76DC-4BCC-8964-790AEF3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LongMem · GenerativeAdapter · STATE-Bench</a:t>
            </a:r>
          </a:p>
        </p:txBody>
      </p:sp>
      <p:sp>
        <p:nvSpPr>
          <p:cNvPr id="9" name="STC-11-page-number">
            <a:extLst xmlns:a="http://schemas.openxmlformats.org/drawingml/2006/main">
              <a:ext uri="{FF2B5EF4-FFF2-40B4-BE49-F238E27FC236}">
                <a16:creationId xmlns:a16="http://schemas.microsoft.com/office/drawing/2014/main" id="{EF78823B-8CA2-4364-BF47-8CCD4F9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77</a:t>
            </a:r>
          </a:p>
        </p:txBody>
      </p:sp>
      <p:sp>
        <p:nvSpPr>
          <p:cNvPr id="11" name="STC-11-company-label-0">
            <a:extLst xmlns:a="http://schemas.openxmlformats.org/drawingml/2006/main">
              <a:ext uri="{FF2B5EF4-FFF2-40B4-BE49-F238E27FC236}">
                <a16:creationId xmlns:a16="http://schemas.microsoft.com/office/drawing/2014/main" id="{9D7CC8C7-0FE8-41DD-86E3-B1A0A99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7276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EXTERNAL</a:t>
            </a:r>
          </a:p>
        </p:txBody>
      </p:sp>
      <p:sp>
        <p:nvSpPr>
          <p:cNvPr id="12" name="STC-11-company-start-0">
            <a:extLst xmlns:a="http://schemas.openxmlformats.org/drawingml/2006/main">
              <a:ext uri="{FF2B5EF4-FFF2-40B4-BE49-F238E27FC236}">
                <a16:creationId xmlns:a16="http://schemas.microsoft.com/office/drawing/2014/main" id="{67053390-476E-48A8-B068-8AB701B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1700784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1-company-history-0">
            <a:extLst xmlns:a="http://schemas.openxmlformats.org/drawingml/2006/main">
              <a:ext uri="{FF2B5EF4-FFF2-40B4-BE49-F238E27FC236}">
                <a16:creationId xmlns:a16="http://schemas.microsoft.com/office/drawing/2014/main" id="{85BF2345-3DBD-4C16-9070-D96B00E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536192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</a:t>
            </a:r>
          </a:p>
        </p:txBody>
      </p:sp>
      <p:sp>
        <p:nvSpPr>
          <p:cNvPr id="14" name="STC-11-company-mid-0">
            <a:extLst xmlns:a="http://schemas.openxmlformats.org/drawingml/2006/main">
              <a:ext uri="{FF2B5EF4-FFF2-40B4-BE49-F238E27FC236}">
                <a16:creationId xmlns:a16="http://schemas.microsoft.com/office/drawing/2014/main" id="{F08AFFA2-8495-4971-B459-3603BD8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00784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5" name="STC-11-company-current-0">
            <a:extLst xmlns:a="http://schemas.openxmlformats.org/drawingml/2006/main">
              <a:ext uri="{FF2B5EF4-FFF2-40B4-BE49-F238E27FC236}">
                <a16:creationId xmlns:a16="http://schemas.microsoft.com/office/drawing/2014/main" id="{18663024-F8FE-48B0-A825-101C04A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536192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</a:t>
            </a:r>
          </a:p>
        </p:txBody>
      </p:sp>
      <p:sp>
        <p:nvSpPr>
          <p:cNvPr id="16" name="STC-11-company-verdict-0">
            <a:extLst xmlns:a="http://schemas.openxmlformats.org/drawingml/2006/main">
              <a:ext uri="{FF2B5EF4-FFF2-40B4-BE49-F238E27FC236}">
                <a16:creationId xmlns:a16="http://schemas.microsoft.com/office/drawing/2014/main" id="{268554DD-C7F5-4EB6-9BB2-33E9093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1545336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업계는 ‘기억이 있는가’보다 실제 task value를 측정하는 방향으로 이동한다.</a:t>
            </a:r>
          </a:p>
        </p:txBody>
      </p:sp>
      <p:sp>
        <p:nvSpPr>
          <p:cNvPr id="17" name="STC-11-company-label-1">
            <a:extLst xmlns:a="http://schemas.openxmlformats.org/drawingml/2006/main">
              <a:ext uri="{FF2B5EF4-FFF2-40B4-BE49-F238E27FC236}">
                <a16:creationId xmlns:a16="http://schemas.microsoft.com/office/drawing/2014/main" id="{B11192D4-BD97-4083-A82B-FC5316B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26080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PARAMETRIC</a:t>
            </a:r>
          </a:p>
        </p:txBody>
      </p:sp>
      <p:sp>
        <p:nvSpPr>
          <p:cNvPr id="18" name="STC-11-company-start-1">
            <a:extLst xmlns:a="http://schemas.openxmlformats.org/drawingml/2006/main">
              <a:ext uri="{FF2B5EF4-FFF2-40B4-BE49-F238E27FC236}">
                <a16:creationId xmlns:a16="http://schemas.microsoft.com/office/drawing/2014/main" id="{B6B6CC22-CEF6-4BD2-884C-98735FC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054096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1-company-history-1">
            <a:extLst xmlns:a="http://schemas.openxmlformats.org/drawingml/2006/main">
              <a:ext uri="{FF2B5EF4-FFF2-40B4-BE49-F238E27FC236}">
                <a16:creationId xmlns:a16="http://schemas.microsoft.com/office/drawing/2014/main" id="{A64EC7DE-C071-4E44-922A-9E2C8EC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889504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</a:t>
            </a:r>
          </a:p>
        </p:txBody>
      </p:sp>
      <p:sp>
        <p:nvSpPr>
          <p:cNvPr id="20" name="STC-11-company-mid-1">
            <a:extLst xmlns:a="http://schemas.openxmlformats.org/drawingml/2006/main">
              <a:ext uri="{FF2B5EF4-FFF2-40B4-BE49-F238E27FC236}">
                <a16:creationId xmlns:a16="http://schemas.microsoft.com/office/drawing/2014/main" id="{E0512254-F359-4166-A703-3EE32FA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54096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1-company-current-1">
            <a:extLst xmlns:a="http://schemas.openxmlformats.org/drawingml/2006/main">
              <a:ext uri="{FF2B5EF4-FFF2-40B4-BE49-F238E27FC236}">
                <a16:creationId xmlns:a16="http://schemas.microsoft.com/office/drawing/2014/main" id="{0D901664-53DC-4C61-9B20-59C7D22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889504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</a:t>
            </a:r>
          </a:p>
        </p:txBody>
      </p:sp>
      <p:sp>
        <p:nvSpPr>
          <p:cNvPr id="22" name="STC-11-company-verdict-1">
            <a:extLst xmlns:a="http://schemas.openxmlformats.org/drawingml/2006/main">
              <a:ext uri="{FF2B5EF4-FFF2-40B4-BE49-F238E27FC236}">
                <a16:creationId xmlns:a16="http://schemas.microsoft.com/office/drawing/2014/main" id="{BAD33E16-72D1-4A43-AE3E-BC63989A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898648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업계는 ‘기억이 있는가’보다 실제 task value를 측정하는 방향으로 이동한다.</a:t>
            </a:r>
          </a:p>
        </p:txBody>
      </p:sp>
      <p:sp>
        <p:nvSpPr>
          <p:cNvPr id="23" name="STC-11-company-label-2">
            <a:extLst xmlns:a="http://schemas.openxmlformats.org/drawingml/2006/main">
              <a:ext uri="{FF2B5EF4-FFF2-40B4-BE49-F238E27FC236}">
                <a16:creationId xmlns:a16="http://schemas.microsoft.com/office/drawing/2014/main" id="{C841D7F0-7FB1-4776-86BF-20940AD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93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BENCH</a:t>
            </a:r>
          </a:p>
        </p:txBody>
      </p:sp>
      <p:sp>
        <p:nvSpPr>
          <p:cNvPr id="24" name="STC-11-company-start-2">
            <a:extLst xmlns:a="http://schemas.openxmlformats.org/drawingml/2006/main">
              <a:ext uri="{FF2B5EF4-FFF2-40B4-BE49-F238E27FC236}">
                <a16:creationId xmlns:a16="http://schemas.microsoft.com/office/drawing/2014/main" id="{88D88388-738D-443E-B7BE-93C3B10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4407408"/>
            <a:ext cx="822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1-company-history-2">
            <a:extLst xmlns:a="http://schemas.openxmlformats.org/drawingml/2006/main">
              <a:ext uri="{FF2B5EF4-FFF2-40B4-BE49-F238E27FC236}">
                <a16:creationId xmlns:a16="http://schemas.microsoft.com/office/drawing/2014/main" id="{00CAFCE2-9261-417A-858E-15703E7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242816"/>
            <a:ext cx="23957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BENCH</a:t>
            </a:r>
          </a:p>
        </p:txBody>
      </p:sp>
      <p:sp>
        <p:nvSpPr>
          <p:cNvPr id="26" name="STC-11-company-mid-2">
            <a:extLst xmlns:a="http://schemas.openxmlformats.org/drawingml/2006/main">
              <a:ext uri="{FF2B5EF4-FFF2-40B4-BE49-F238E27FC236}">
                <a16:creationId xmlns:a16="http://schemas.microsoft.com/office/drawing/2014/main" id="{88DE6307-502F-4341-B0ED-6D0523D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407408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7" name="STC-11-company-current-2">
            <a:extLst xmlns:a="http://schemas.openxmlformats.org/drawingml/2006/main">
              <a:ext uri="{FF2B5EF4-FFF2-40B4-BE49-F238E27FC236}">
                <a16:creationId xmlns:a16="http://schemas.microsoft.com/office/drawing/2014/main" id="{22A4C4DD-D4BB-47C5-A953-1B8176E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242816"/>
            <a:ext cx="245059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BENCH</a:t>
            </a:r>
          </a:p>
        </p:txBody>
      </p:sp>
      <p:sp>
        <p:nvSpPr>
          <p:cNvPr id="28" name="STC-11-company-verdict-2">
            <a:extLst xmlns:a="http://schemas.openxmlformats.org/drawingml/2006/main">
              <a:ext uri="{FF2B5EF4-FFF2-40B4-BE49-F238E27FC236}">
                <a16:creationId xmlns:a16="http://schemas.microsoft.com/office/drawing/2014/main" id="{ADD35A8F-6D61-4D59-8B95-3B3F770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4251960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업계는 ‘기억이 있는가’보다 실제 task value를 측정하는 방향으로 이동한다.</a:t>
            </a:r>
          </a:p>
        </p:txBody>
      </p:sp>
      <p:sp>
        <p:nvSpPr>
          <p:cNvPr id="29" name="STC-11-company-nonclaim">
            <a:extLst xmlns:a="http://schemas.openxmlformats.org/drawingml/2006/main">
              <a:ext uri="{FF2B5EF4-FFF2-40B4-BE49-F238E27FC236}">
                <a16:creationId xmlns:a16="http://schemas.microsoft.com/office/drawing/2014/main" id="{E3841E4A-5104-442E-9943-218AC82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41264"/>
            <a:ext cx="1046988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1-company-nonclaim-text">
            <a:extLst xmlns:a="http://schemas.openxmlformats.org/drawingml/2006/main">
              <a:ext uri="{FF2B5EF4-FFF2-40B4-BE49-F238E27FC236}">
                <a16:creationId xmlns:a16="http://schemas.microsoft.com/office/drawing/2014/main" id="{4D284CDD-8453-4329-AF3C-921A5924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669280"/>
            <a:ext cx="10058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LongMem의 frozen backbone+side memory</a:t>
            </a:r>
          </a:p>
        </p:txBody>
      </p:sp>
    </p:spTree>
    <p:extLst>
      <p:ext uri="{BB962C8B-B14F-4D97-AF65-F5344CB8AC3E}">
        <p14:creationId xmlns:p14="http://schemas.microsoft.com/office/powerpoint/2010/main" val="31662653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5-section">
            <a:extLst xmlns:a="http://schemas.openxmlformats.org/drawingml/2006/main">
              <a:ext uri="{FF2B5EF4-FFF2-40B4-BE49-F238E27FC236}">
                <a16:creationId xmlns:a16="http://schemas.microsoft.com/office/drawing/2014/main" id="{4EB293F4-2487-4875-A051-A51EF03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TRAJECTORY</a:t>
            </a:r>
          </a:p>
        </p:txBody>
      </p:sp>
      <p:sp>
        <p:nvSpPr>
          <p:cNvPr id="3" name="STC-05-slide-id">
            <a:extLst xmlns:a="http://schemas.openxmlformats.org/drawingml/2006/main">
              <a:ext uri="{FF2B5EF4-FFF2-40B4-BE49-F238E27FC236}">
                <a16:creationId xmlns:a16="http://schemas.microsoft.com/office/drawing/2014/main" id="{ADA37B78-4681-47CC-8ABD-231FF75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STC-078</a:t>
            </a:r>
          </a:p>
        </p:txBody>
      </p:sp>
      <p:sp>
        <p:nvSpPr>
          <p:cNvPr id="4" name="STC-05-headline">
            <a:extLst xmlns:a="http://schemas.openxmlformats.org/drawingml/2006/main">
              <a:ext uri="{FF2B5EF4-FFF2-40B4-BE49-F238E27FC236}">
                <a16:creationId xmlns:a16="http://schemas.microsoft.com/office/drawing/2014/main" id="{C0042C5F-B994-40F5-9D17-CDF4F63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학계는 네 계보가 lifecycle 관점에서 수렴한다</a:t>
            </a:r>
          </a:p>
        </p:txBody>
      </p:sp>
      <p:sp>
        <p:nvSpPr>
          <p:cNvPr id="5" name="STC-05-status-label">
            <a:extLst xmlns:a="http://schemas.openxmlformats.org/drawingml/2006/main">
              <a:ext uri="{FF2B5EF4-FFF2-40B4-BE49-F238E27FC236}">
                <a16:creationId xmlns:a16="http://schemas.microsoft.com/office/drawing/2014/main" id="{EE32DF01-4AF9-4194-A3CD-CDD00480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통합 추론</a:t>
            </a:r>
          </a:p>
        </p:txBody>
      </p:sp>
      <p:sp>
        <p:nvSpPr>
          <p:cNvPr id="6" name="STC-05-status-rule">
            <a:extLst xmlns:a="http://schemas.openxmlformats.org/drawingml/2006/main">
              <a:ext uri="{FF2B5EF4-FFF2-40B4-BE49-F238E27FC236}">
                <a16:creationId xmlns:a16="http://schemas.microsoft.com/office/drawing/2014/main" id="{C840C613-2B9B-42D8-81E9-9D7013B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5-footer-rule">
            <a:extLst xmlns:a="http://schemas.openxmlformats.org/drawingml/2006/main">
              <a:ext uri="{FF2B5EF4-FFF2-40B4-BE49-F238E27FC236}">
                <a16:creationId xmlns:a16="http://schemas.microsoft.com/office/drawing/2014/main" id="{0F3B0E16-5517-43D6-958E-D3025B3C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5-source-footer">
            <a:extLst xmlns:a="http://schemas.openxmlformats.org/drawingml/2006/main">
              <a:ext uri="{FF2B5EF4-FFF2-40B4-BE49-F238E27FC236}">
                <a16:creationId xmlns:a16="http://schemas.microsoft.com/office/drawing/2014/main" id="{74620DE9-3F83-42E5-883F-E8200AD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chronology · STC-F005</a:t>
            </a:r>
          </a:p>
        </p:txBody>
      </p:sp>
      <p:sp>
        <p:nvSpPr>
          <p:cNvPr id="9" name="STC-05-page-number">
            <a:extLst xmlns:a="http://schemas.openxmlformats.org/drawingml/2006/main">
              <a:ext uri="{FF2B5EF4-FFF2-40B4-BE49-F238E27FC236}">
                <a16:creationId xmlns:a16="http://schemas.microsoft.com/office/drawing/2014/main" id="{972071EA-0D7F-4941-9099-5374304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78</a:t>
            </a:r>
          </a:p>
        </p:txBody>
      </p:sp>
      <p:sp>
        <p:nvSpPr>
          <p:cNvPr id="11" name="STC-05-timeline">
            <a:extLst xmlns:a="http://schemas.openxmlformats.org/drawingml/2006/main">
              <a:ext uri="{FF2B5EF4-FFF2-40B4-BE49-F238E27FC236}">
                <a16:creationId xmlns:a16="http://schemas.microsoft.com/office/drawing/2014/main" id="{FDC06D83-4E5F-43DC-A42D-CF01BE87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2152"/>
            <a:ext cx="10241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7191C"/>
            </a:solidFill>
            <a:prstDash val="solid"/>
            <a:tailEnd type="none"/>
          </a:ln>
        </p:spPr>
      </p:sp>
      <p:sp>
        <p:nvSpPr>
          <p:cNvPr id="12" name="STC-05-event-dot-0">
            <a:extLst xmlns:a="http://schemas.openxmlformats.org/drawingml/2006/main">
              <a:ext uri="{FF2B5EF4-FFF2-40B4-BE49-F238E27FC236}">
                <a16:creationId xmlns:a16="http://schemas.microsoft.com/office/drawing/2014/main" id="{BD1AF91B-C2E9-4DDF-A0D3-EF4E5FD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3" name="STC-05-event-stem-0">
            <a:extLst xmlns:a="http://schemas.openxmlformats.org/drawingml/2006/main">
              <a:ext uri="{FF2B5EF4-FFF2-40B4-BE49-F238E27FC236}">
                <a16:creationId xmlns:a16="http://schemas.microsoft.com/office/drawing/2014/main" id="{06758DD2-7ACE-4192-A59A-B2970D0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5-event-year-0">
            <a:extLst xmlns:a="http://schemas.openxmlformats.org/drawingml/2006/main">
              <a:ext uri="{FF2B5EF4-FFF2-40B4-BE49-F238E27FC236}">
                <a16:creationId xmlns:a16="http://schemas.microsoft.com/office/drawing/2014/main" id="{5881B83D-3ECB-420F-AB81-C09B181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REPLAY</a:t>
            </a:r>
          </a:p>
        </p:txBody>
      </p:sp>
      <p:sp>
        <p:nvSpPr>
          <p:cNvPr id="15" name="STC-05-event-label-0">
            <a:extLst xmlns:a="http://schemas.openxmlformats.org/drawingml/2006/main">
              <a:ext uri="{FF2B5EF4-FFF2-40B4-BE49-F238E27FC236}">
                <a16:creationId xmlns:a16="http://schemas.microsoft.com/office/drawing/2014/main" id="{3686FD3B-B917-4A27-8EE2-BEA2AE48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Wake–Sleep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CLS</a:t>
            </a:r>
          </a:p>
        </p:txBody>
      </p:sp>
      <p:sp>
        <p:nvSpPr>
          <p:cNvPr id="16" name="STC-05-event-dot-1">
            <a:extLst xmlns:a="http://schemas.openxmlformats.org/drawingml/2006/main">
              <a:ext uri="{FF2B5EF4-FFF2-40B4-BE49-F238E27FC236}">
                <a16:creationId xmlns:a16="http://schemas.microsoft.com/office/drawing/2014/main" id="{C8A5E224-8698-4BA8-A45B-4CED69A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5-event-stem-1">
            <a:extLst xmlns:a="http://schemas.openxmlformats.org/drawingml/2006/main">
              <a:ext uri="{FF2B5EF4-FFF2-40B4-BE49-F238E27FC236}">
                <a16:creationId xmlns:a16="http://schemas.microsoft.com/office/drawing/2014/main" id="{629A8D21-A54E-47A2-9335-41816FC3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05-event-year-1">
            <a:extLst xmlns:a="http://schemas.openxmlformats.org/drawingml/2006/main">
              <a:ext uri="{FF2B5EF4-FFF2-40B4-BE49-F238E27FC236}">
                <a16:creationId xmlns:a16="http://schemas.microsoft.com/office/drawing/2014/main" id="{EA0E4208-21CF-4C93-9736-CFC4B28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PLASTICITY</a:t>
            </a:r>
          </a:p>
        </p:txBody>
      </p:sp>
      <p:sp>
        <p:nvSpPr>
          <p:cNvPr id="19" name="STC-05-event-label-1">
            <a:extLst xmlns:a="http://schemas.openxmlformats.org/drawingml/2006/main">
              <a:ext uri="{FF2B5EF4-FFF2-40B4-BE49-F238E27FC236}">
                <a16:creationId xmlns:a16="http://schemas.microsoft.com/office/drawing/2014/main" id="{FA009628-E912-4C56-8923-991C0787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EWC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TTT</a:t>
            </a:r>
          </a:p>
        </p:txBody>
      </p:sp>
      <p:sp>
        <p:nvSpPr>
          <p:cNvPr id="20" name="STC-05-event-dot-2">
            <a:extLst xmlns:a="http://schemas.openxmlformats.org/drawingml/2006/main">
              <a:ext uri="{FF2B5EF4-FFF2-40B4-BE49-F238E27FC236}">
                <a16:creationId xmlns:a16="http://schemas.microsoft.com/office/drawing/2014/main" id="{47C3E26C-C517-4853-A881-0E49672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1" name="STC-05-event-stem-2">
            <a:extLst xmlns:a="http://schemas.openxmlformats.org/drawingml/2006/main">
              <a:ext uri="{FF2B5EF4-FFF2-40B4-BE49-F238E27FC236}">
                <a16:creationId xmlns:a16="http://schemas.microsoft.com/office/drawing/2014/main" id="{C9FF1A76-5C3C-41A5-8F67-1B7483AE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22" name="STC-05-event-year-2">
            <a:extLst xmlns:a="http://schemas.openxmlformats.org/drawingml/2006/main">
              <a:ext uri="{FF2B5EF4-FFF2-40B4-BE49-F238E27FC236}">
                <a16:creationId xmlns:a16="http://schemas.microsoft.com/office/drawing/2014/main" id="{28639CBC-4980-43EB-959C-CCB8506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NEURAL MEMORY</a:t>
            </a:r>
          </a:p>
        </p:txBody>
      </p:sp>
      <p:sp>
        <p:nvSpPr>
          <p:cNvPr id="23" name="STC-05-event-label-2">
            <a:extLst xmlns:a="http://schemas.openxmlformats.org/drawingml/2006/main">
              <a:ext uri="{FF2B5EF4-FFF2-40B4-BE49-F238E27FC236}">
                <a16:creationId xmlns:a16="http://schemas.microsoft.com/office/drawing/2014/main" id="{F6AA30A3-A65B-4212-8ECD-7B2E134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PLOS SNN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PAD / replay</a:t>
            </a:r>
          </a:p>
        </p:txBody>
      </p:sp>
      <p:sp>
        <p:nvSpPr>
          <p:cNvPr id="24" name="STC-05-event-dot-3">
            <a:extLst xmlns:a="http://schemas.openxmlformats.org/drawingml/2006/main">
              <a:ext uri="{FF2B5EF4-FFF2-40B4-BE49-F238E27FC236}">
                <a16:creationId xmlns:a16="http://schemas.microsoft.com/office/drawing/2014/main" id="{A28C8910-E77D-4C8B-93B2-FC7DB93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5-event-stem-3">
            <a:extLst xmlns:a="http://schemas.openxmlformats.org/drawingml/2006/main">
              <a:ext uri="{FF2B5EF4-FFF2-40B4-BE49-F238E27FC236}">
                <a16:creationId xmlns:a16="http://schemas.microsoft.com/office/drawing/2014/main" id="{5BBE5078-49AC-4A31-A149-1F3BEDC0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6B63"/>
            </a:solidFill>
            <a:prstDash val="solid"/>
            <a:tailEnd type="none"/>
          </a:ln>
        </p:spPr>
      </p:sp>
      <p:sp>
        <p:nvSpPr>
          <p:cNvPr id="26" name="STC-05-event-year-3">
            <a:extLst xmlns:a="http://schemas.openxmlformats.org/drawingml/2006/main">
              <a:ext uri="{FF2B5EF4-FFF2-40B4-BE49-F238E27FC236}">
                <a16:creationId xmlns:a16="http://schemas.microsoft.com/office/drawing/2014/main" id="{B197888C-51CE-4384-A8C7-B05DFBDF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COMPACTION</a:t>
            </a:r>
          </a:p>
        </p:txBody>
      </p:sp>
      <p:sp>
        <p:nvSpPr>
          <p:cNvPr id="27" name="STC-05-event-label-3">
            <a:extLst xmlns:a="http://schemas.openxmlformats.org/drawingml/2006/main">
              <a:ext uri="{FF2B5EF4-FFF2-40B4-BE49-F238E27FC236}">
                <a16:creationId xmlns:a16="http://schemas.microsoft.com/office/drawing/2014/main" id="{42E3A0C7-3BA0-4C4E-B20A-E7F0E6E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MemGPT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latent memory</a:t>
            </a:r>
          </a:p>
        </p:txBody>
      </p:sp>
      <p:sp>
        <p:nvSpPr>
          <p:cNvPr id="28" name="STC-05-event-dot-4">
            <a:extLst xmlns:a="http://schemas.openxmlformats.org/drawingml/2006/main">
              <a:ext uri="{FF2B5EF4-FFF2-40B4-BE49-F238E27FC236}">
                <a16:creationId xmlns:a16="http://schemas.microsoft.com/office/drawing/2014/main" id="{0729C98D-FDD7-4FDA-8E5D-7762A584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5-event-stem-4">
            <a:extLst xmlns:a="http://schemas.openxmlformats.org/drawingml/2006/main">
              <a:ext uri="{FF2B5EF4-FFF2-40B4-BE49-F238E27FC236}">
                <a16:creationId xmlns:a16="http://schemas.microsoft.com/office/drawing/2014/main" id="{B4B9AB9A-6DD0-4EF4-9DEA-F4F02EF1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24912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30" name="STC-05-event-year-4">
            <a:extLst xmlns:a="http://schemas.openxmlformats.org/drawingml/2006/main">
              <a:ext uri="{FF2B5EF4-FFF2-40B4-BE49-F238E27FC236}">
                <a16:creationId xmlns:a16="http://schemas.microsoft.com/office/drawing/2014/main" id="{B14013F7-7C70-4748-AF35-9F3DB7F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4208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REPLAY</a:t>
            </a:r>
          </a:p>
        </p:txBody>
      </p:sp>
      <p:sp>
        <p:nvSpPr>
          <p:cNvPr id="31" name="STC-05-event-label-4">
            <a:extLst xmlns:a="http://schemas.openxmlformats.org/drawingml/2006/main">
              <a:ext uri="{FF2B5EF4-FFF2-40B4-BE49-F238E27FC236}">
                <a16:creationId xmlns:a16="http://schemas.microsoft.com/office/drawing/2014/main" id="{65A91C20-EAFF-4904-A036-F8ECF8C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20824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Sleep-time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· SMF</a:t>
            </a:r>
          </a:p>
        </p:txBody>
      </p:sp>
      <p:sp>
        <p:nvSpPr>
          <p:cNvPr id="32" name="STC-05-event-dot-5">
            <a:extLst xmlns:a="http://schemas.openxmlformats.org/drawingml/2006/main">
              <a:ext uri="{FF2B5EF4-FFF2-40B4-BE49-F238E27FC236}">
                <a16:creationId xmlns:a16="http://schemas.microsoft.com/office/drawing/2014/main" id="{25A57411-A4A0-474C-A732-B967C9E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3319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3" name="STC-05-event-stem-5">
            <a:extLst xmlns:a="http://schemas.openxmlformats.org/drawingml/2006/main">
              <a:ext uri="{FF2B5EF4-FFF2-40B4-BE49-F238E27FC236}">
                <a16:creationId xmlns:a16="http://schemas.microsoft.com/office/drawing/2014/main" id="{A182FC75-10E1-41B2-8C35-9A1594CE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85032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34" name="STC-05-event-year-5">
            <a:extLst xmlns:a="http://schemas.openxmlformats.org/drawingml/2006/main">
              <a:ext uri="{FF2B5EF4-FFF2-40B4-BE49-F238E27FC236}">
                <a16:creationId xmlns:a16="http://schemas.microsoft.com/office/drawing/2014/main" id="{AA8F393F-74C8-4C97-9374-730E99E9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06908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PLASTICITY</a:t>
            </a:r>
          </a:p>
        </p:txBody>
      </p:sp>
      <p:sp>
        <p:nvSpPr>
          <p:cNvPr id="35" name="STC-05-event-label-5">
            <a:extLst xmlns:a="http://schemas.openxmlformats.org/drawingml/2006/main">
              <a:ext uri="{FF2B5EF4-FFF2-40B4-BE49-F238E27FC236}">
                <a16:creationId xmlns:a16="http://schemas.microsoft.com/office/drawing/2014/main" id="{DD134BE3-6BEF-45B1-9DCC-8C1FE196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425696"/>
            <a:ext cx="148132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fast→slow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 sleep</a:t>
            </a:r>
          </a:p>
        </p:txBody>
      </p:sp>
      <p:sp>
        <p:nvSpPr>
          <p:cNvPr id="36" name="STC-05-chrono-warning">
            <a:extLst xmlns:a="http://schemas.openxmlformats.org/drawingml/2006/main">
              <a:ext uri="{FF2B5EF4-FFF2-40B4-BE49-F238E27FC236}">
                <a16:creationId xmlns:a16="http://schemas.microsoft.com/office/drawing/2014/main" id="{4C083F30-891B-4FEB-B8FC-4C24B4B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21808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REPLAY</a:t>
            </a:r>
          </a:p>
        </p:txBody>
      </p:sp>
      <p:sp>
        <p:nvSpPr>
          <p:cNvPr id="37" name="STC-05-chrono-warning-text">
            <a:extLst xmlns:a="http://schemas.openxmlformats.org/drawingml/2006/main">
              <a:ext uri="{FF2B5EF4-FFF2-40B4-BE49-F238E27FC236}">
                <a16:creationId xmlns:a16="http://schemas.microsoft.com/office/drawing/2014/main" id="{394734EC-4DD3-4AC7-A25F-A48AAD57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5266944"/>
            <a:ext cx="80924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주류가 되는 것은 하나의 sleep algorithm보다 lifecycle composition일 가능성이 높다.</a:t>
            </a:r>
          </a:p>
        </p:txBody>
      </p:sp>
    </p:spTree>
    <p:extLst>
      <p:ext uri="{BB962C8B-B14F-4D97-AF65-F5344CB8AC3E}">
        <p14:creationId xmlns:p14="http://schemas.microsoft.com/office/powerpoint/2010/main" val="65148316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5-section">
            <a:extLst xmlns:a="http://schemas.openxmlformats.org/drawingml/2006/main">
              <a:ext uri="{FF2B5EF4-FFF2-40B4-BE49-F238E27FC236}">
                <a16:creationId xmlns:a16="http://schemas.microsoft.com/office/drawing/2014/main" id="{9B985B5E-2EB1-4A04-B32B-0879345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VERDICT</a:t>
            </a:r>
          </a:p>
        </p:txBody>
      </p:sp>
      <p:sp>
        <p:nvSpPr>
          <p:cNvPr id="3" name="STC-15-slide-id">
            <a:extLst xmlns:a="http://schemas.openxmlformats.org/drawingml/2006/main">
              <a:ext uri="{FF2B5EF4-FFF2-40B4-BE49-F238E27FC236}">
                <a16:creationId xmlns:a16="http://schemas.microsoft.com/office/drawing/2014/main" id="{F1A29C71-E06B-4C6E-A3AE-7AEE073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STC-079</a:t>
            </a:r>
          </a:p>
        </p:txBody>
      </p:sp>
      <p:sp>
        <p:nvSpPr>
          <p:cNvPr id="4" name="STC-15-headline">
            <a:extLst xmlns:a="http://schemas.openxmlformats.org/drawingml/2006/main">
              <a:ext uri="{FF2B5EF4-FFF2-40B4-BE49-F238E27FC236}">
                <a16:creationId xmlns:a16="http://schemas.microsoft.com/office/drawing/2014/main" id="{E9CBA5DA-32F0-402B-A292-5C028EDA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여섯 핵심 주장 중 강한 결론은 두 개뿐이다</a:t>
            </a:r>
          </a:p>
        </p:txBody>
      </p:sp>
      <p:sp>
        <p:nvSpPr>
          <p:cNvPr id="5" name="STC-15-status-label">
            <a:extLst xmlns:a="http://schemas.openxmlformats.org/drawingml/2006/main">
              <a:ext uri="{FF2B5EF4-FFF2-40B4-BE49-F238E27FC236}">
                <a16:creationId xmlns:a16="http://schemas.microsoft.com/office/drawing/2014/main" id="{726F9C6C-F765-415C-9EDD-299FDE3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조건부 결론</a:t>
            </a:r>
          </a:p>
        </p:txBody>
      </p:sp>
      <p:sp>
        <p:nvSpPr>
          <p:cNvPr id="6" name="STC-15-status-rule">
            <a:extLst xmlns:a="http://schemas.openxmlformats.org/drawingml/2006/main">
              <a:ext uri="{FF2B5EF4-FFF2-40B4-BE49-F238E27FC236}">
                <a16:creationId xmlns:a16="http://schemas.microsoft.com/office/drawing/2014/main" id="{8CF1A863-1D7E-469C-B4B1-7AC5E32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5-footer-rule">
            <a:extLst xmlns:a="http://schemas.openxmlformats.org/drawingml/2006/main">
              <a:ext uri="{FF2B5EF4-FFF2-40B4-BE49-F238E27FC236}">
                <a16:creationId xmlns:a16="http://schemas.microsoft.com/office/drawing/2014/main" id="{D1917FAC-5289-4D3B-9C5F-9082A6E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5-source-footer">
            <a:extLst xmlns:a="http://schemas.openxmlformats.org/drawingml/2006/main">
              <a:ext uri="{FF2B5EF4-FFF2-40B4-BE49-F238E27FC236}">
                <a16:creationId xmlns:a16="http://schemas.microsoft.com/office/drawing/2014/main" id="{48508A8D-C8DE-42F3-81BB-4F92B9D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§10 · six-verdict table</a:t>
            </a:r>
          </a:p>
        </p:txBody>
      </p:sp>
      <p:sp>
        <p:nvSpPr>
          <p:cNvPr id="9" name="STC-15-page-number">
            <a:extLst xmlns:a="http://schemas.openxmlformats.org/drawingml/2006/main">
              <a:ext uri="{FF2B5EF4-FFF2-40B4-BE49-F238E27FC236}">
                <a16:creationId xmlns:a16="http://schemas.microsoft.com/office/drawing/2014/main" id="{81C944E9-1F2E-4B33-9823-786CB2A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79</a:t>
            </a:r>
          </a:p>
        </p:txBody>
      </p:sp>
      <p:sp>
        <p:nvSpPr>
          <p:cNvPr id="11" name="STC-15-cap-num-0">
            <a:extLst xmlns:a="http://schemas.openxmlformats.org/drawingml/2006/main">
              <a:ext uri="{FF2B5EF4-FFF2-40B4-BE49-F238E27FC236}">
                <a16:creationId xmlns:a16="http://schemas.microsoft.com/office/drawing/2014/main" id="{B2CF5D08-5D0C-44F1-AEA1-0745EBC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NEW AXIS · 질의 전/후 reusable computation은 실재</a:t>
            </a:r>
          </a:p>
        </p:txBody>
      </p:sp>
      <p:sp>
        <p:nvSpPr>
          <p:cNvPr id="12" name="STC-15-cap-label-box-0">
            <a:extLst xmlns:a="http://schemas.openxmlformats.org/drawingml/2006/main">
              <a:ext uri="{FF2B5EF4-FFF2-40B4-BE49-F238E27FC236}">
                <a16:creationId xmlns:a16="http://schemas.microsoft.com/office/drawing/2014/main" id="{258E8A35-5FBA-48D0-94E7-9F07EA9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572768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3" name="STC-15-cap-label-0">
            <a:extLst xmlns:a="http://schemas.openxmlformats.org/drawingml/2006/main">
              <a:ext uri="{FF2B5EF4-FFF2-40B4-BE49-F238E27FC236}">
                <a16:creationId xmlns:a16="http://schemas.microsoft.com/office/drawing/2014/main" id="{68E3D644-65D5-4BD4-AFDF-BBEE1C3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719072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NEW AXIS</a:t>
            </a:r>
          </a:p>
        </p:txBody>
      </p:sp>
      <p:sp>
        <p:nvSpPr>
          <p:cNvPr id="14" name="STC-15-cap-body-0">
            <a:extLst xmlns:a="http://schemas.openxmlformats.org/drawingml/2006/main">
              <a:ext uri="{FF2B5EF4-FFF2-40B4-BE49-F238E27FC236}">
                <a16:creationId xmlns:a16="http://schemas.microsoft.com/office/drawing/2014/main" id="{38DA6B09-192B-4192-A01C-F97CF6E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664208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질의 전/후 reusable computation은 실재</a:t>
            </a:r>
          </a:p>
        </p:txBody>
      </p:sp>
      <p:sp>
        <p:nvSpPr>
          <p:cNvPr id="15" name="STC-15-cap-pressure-0">
            <a:extLst xmlns:a="http://schemas.openxmlformats.org/drawingml/2006/main">
              <a:ext uri="{FF2B5EF4-FFF2-40B4-BE49-F238E27FC236}">
                <a16:creationId xmlns:a16="http://schemas.microsoft.com/office/drawing/2014/main" id="{BE21D2BC-2876-4728-9F34-2331326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664208"/>
            <a:ext cx="30175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A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6" name="STC-15-cap-num-1">
            <a:extLst xmlns:a="http://schemas.openxmlformats.org/drawingml/2006/main">
              <a:ext uri="{FF2B5EF4-FFF2-40B4-BE49-F238E27FC236}">
                <a16:creationId xmlns:a16="http://schemas.microsoft.com/office/drawing/2014/main" id="{A1D2B1D3-D60A-42FF-A0E2-4957D09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23744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MAINSTREAM · lifecycle은 likely, 명칭은 uncertain</a:t>
            </a:r>
          </a:p>
        </p:txBody>
      </p:sp>
      <p:sp>
        <p:nvSpPr>
          <p:cNvPr id="17" name="STC-15-cap-label-box-1">
            <a:extLst xmlns:a="http://schemas.openxmlformats.org/drawingml/2006/main">
              <a:ext uri="{FF2B5EF4-FFF2-40B4-BE49-F238E27FC236}">
                <a16:creationId xmlns:a16="http://schemas.microsoft.com/office/drawing/2014/main" id="{F02F6263-AC2C-47D3-B825-63D5B46F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414016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5-cap-label-1">
            <a:extLst xmlns:a="http://schemas.openxmlformats.org/drawingml/2006/main">
              <a:ext uri="{FF2B5EF4-FFF2-40B4-BE49-F238E27FC236}">
                <a16:creationId xmlns:a16="http://schemas.microsoft.com/office/drawing/2014/main" id="{17DF0D03-7D88-4052-8796-9E1DA5E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60320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MAINSTREAM</a:t>
            </a:r>
          </a:p>
        </p:txBody>
      </p:sp>
      <p:sp>
        <p:nvSpPr>
          <p:cNvPr id="19" name="STC-15-cap-body-1">
            <a:extLst xmlns:a="http://schemas.openxmlformats.org/drawingml/2006/main">
              <a:ext uri="{FF2B5EF4-FFF2-40B4-BE49-F238E27FC236}">
                <a16:creationId xmlns:a16="http://schemas.microsoft.com/office/drawing/2014/main" id="{19CD937B-3AE8-4FD3-B968-FAA4691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05456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lifecycle은 likely, 명칭은 uncertain</a:t>
            </a:r>
          </a:p>
        </p:txBody>
      </p:sp>
      <p:sp>
        <p:nvSpPr>
          <p:cNvPr id="20" name="STC-15-cap-pressure-1">
            <a:extLst xmlns:a="http://schemas.openxmlformats.org/drawingml/2006/main">
              <a:ext uri="{FF2B5EF4-FFF2-40B4-BE49-F238E27FC236}">
                <a16:creationId xmlns:a16="http://schemas.microsoft.com/office/drawing/2014/main" id="{F6C5BAD1-9770-4B2F-85B1-76D4DAB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05456"/>
            <a:ext cx="36576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1" name="STC-15-cap-num-2">
            <a:extLst xmlns:a="http://schemas.openxmlformats.org/drawingml/2006/main">
              <a:ext uri="{FF2B5EF4-FFF2-40B4-BE49-F238E27FC236}">
                <a16:creationId xmlns:a16="http://schemas.microsoft.com/office/drawing/2014/main" id="{10A24185-FC68-41A9-812E-4C92243D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64992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LONG CONTEXT · 특정 reuse workload에서만 우월</a:t>
            </a:r>
          </a:p>
        </p:txBody>
      </p:sp>
      <p:sp>
        <p:nvSpPr>
          <p:cNvPr id="22" name="STC-15-cap-label-box-2">
            <a:extLst xmlns:a="http://schemas.openxmlformats.org/drawingml/2006/main">
              <a:ext uri="{FF2B5EF4-FFF2-40B4-BE49-F238E27FC236}">
                <a16:creationId xmlns:a16="http://schemas.microsoft.com/office/drawing/2014/main" id="{D549D566-AFB2-4963-9BA1-3CCB892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55264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3" name="STC-15-cap-label-2">
            <a:extLst xmlns:a="http://schemas.openxmlformats.org/drawingml/2006/main">
              <a:ext uri="{FF2B5EF4-FFF2-40B4-BE49-F238E27FC236}">
                <a16:creationId xmlns:a16="http://schemas.microsoft.com/office/drawing/2014/main" id="{AB7FCE0A-E277-40B1-B47A-5210936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401568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LONG CONTEXT</a:t>
            </a:r>
          </a:p>
        </p:txBody>
      </p:sp>
      <p:sp>
        <p:nvSpPr>
          <p:cNvPr id="24" name="STC-15-cap-body-2">
            <a:extLst xmlns:a="http://schemas.openxmlformats.org/drawingml/2006/main">
              <a:ext uri="{FF2B5EF4-FFF2-40B4-BE49-F238E27FC236}">
                <a16:creationId xmlns:a16="http://schemas.microsoft.com/office/drawing/2014/main" id="{64E498CD-D488-48FD-BF94-8D246549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46704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특정 reuse workload에서만 우월</a:t>
            </a:r>
          </a:p>
        </p:txBody>
      </p:sp>
      <p:sp>
        <p:nvSpPr>
          <p:cNvPr id="25" name="STC-15-cap-pressure-2">
            <a:extLst xmlns:a="http://schemas.openxmlformats.org/drawingml/2006/main">
              <a:ext uri="{FF2B5EF4-FFF2-40B4-BE49-F238E27FC236}">
                <a16:creationId xmlns:a16="http://schemas.microsoft.com/office/drawing/2014/main" id="{ACBFAE3F-14CE-434A-BC29-DB08824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346704"/>
            <a:ext cx="4297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6" name="STC-15-cap-num-3">
            <a:extLst xmlns:a="http://schemas.openxmlformats.org/drawingml/2006/main">
              <a:ext uri="{FF2B5EF4-FFF2-40B4-BE49-F238E27FC236}">
                <a16:creationId xmlns:a16="http://schemas.microsoft.com/office/drawing/2014/main" id="{D849C47C-75A1-4B41-BFFA-118EF30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CONTINUAL · 보조하지만 forgetting 해결 증거 부족</a:t>
            </a:r>
          </a:p>
        </p:txBody>
      </p:sp>
      <p:sp>
        <p:nvSpPr>
          <p:cNvPr id="27" name="STC-15-cap-label-box-3">
            <a:extLst xmlns:a="http://schemas.openxmlformats.org/drawingml/2006/main">
              <a:ext uri="{FF2B5EF4-FFF2-40B4-BE49-F238E27FC236}">
                <a16:creationId xmlns:a16="http://schemas.microsoft.com/office/drawing/2014/main" id="{DE41F8DC-7B07-465A-B1EA-DE633FD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96512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8" name="STC-15-cap-label-3">
            <a:extLst xmlns:a="http://schemas.openxmlformats.org/drawingml/2006/main">
              <a:ext uri="{FF2B5EF4-FFF2-40B4-BE49-F238E27FC236}">
                <a16:creationId xmlns:a16="http://schemas.microsoft.com/office/drawing/2014/main" id="{9FD8499F-CC68-47C5-BCB6-2B5318C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242816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CONTINUAL</a:t>
            </a:r>
          </a:p>
        </p:txBody>
      </p:sp>
      <p:sp>
        <p:nvSpPr>
          <p:cNvPr id="29" name="STC-15-cap-body-3">
            <a:extLst xmlns:a="http://schemas.openxmlformats.org/drawingml/2006/main">
              <a:ext uri="{FF2B5EF4-FFF2-40B4-BE49-F238E27FC236}">
                <a16:creationId xmlns:a16="http://schemas.microsoft.com/office/drawing/2014/main" id="{F8C078E8-8B00-42EF-99AB-5AF6E3C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보조하지만 forgetting 해결 증거 부족</a:t>
            </a:r>
          </a:p>
        </p:txBody>
      </p:sp>
      <p:sp>
        <p:nvSpPr>
          <p:cNvPr id="30" name="STC-15-cap-pressure-3">
            <a:extLst xmlns:a="http://schemas.openxmlformats.org/drawingml/2006/main">
              <a:ext uri="{FF2B5EF4-FFF2-40B4-BE49-F238E27FC236}">
                <a16:creationId xmlns:a16="http://schemas.microsoft.com/office/drawing/2014/main" id="{7365CC5E-9B53-4B94-A759-5E0AA9BD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187952"/>
            <a:ext cx="3474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5-cap-num-4">
            <a:extLst xmlns:a="http://schemas.openxmlformats.org/drawingml/2006/main">
              <a:ext uri="{FF2B5EF4-FFF2-40B4-BE49-F238E27FC236}">
                <a16:creationId xmlns:a16="http://schemas.microsoft.com/office/drawing/2014/main" id="{22BFE896-64B8-4291-BBB4-F14853E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530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PARAMETRIC · external보다 보편 우월하지 않음</a:t>
            </a:r>
          </a:p>
        </p:txBody>
      </p:sp>
      <p:sp>
        <p:nvSpPr>
          <p:cNvPr id="32" name="STC-15-cap-label-box-4">
            <a:extLst xmlns:a="http://schemas.openxmlformats.org/drawingml/2006/main">
              <a:ext uri="{FF2B5EF4-FFF2-40B4-BE49-F238E27FC236}">
                <a16:creationId xmlns:a16="http://schemas.microsoft.com/office/drawing/2014/main" id="{5BE60473-EDFE-4290-A00A-50A83B8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37760"/>
            <a:ext cx="199339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3" name="STC-15-cap-label-4">
            <a:extLst xmlns:a="http://schemas.openxmlformats.org/drawingml/2006/main">
              <a:ext uri="{FF2B5EF4-FFF2-40B4-BE49-F238E27FC236}">
                <a16:creationId xmlns:a16="http://schemas.microsoft.com/office/drawing/2014/main" id="{E2127329-8C11-491B-A475-410BEA8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084064"/>
            <a:ext cx="16824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PARAMETRIC</a:t>
            </a:r>
          </a:p>
        </p:txBody>
      </p:sp>
      <p:sp>
        <p:nvSpPr>
          <p:cNvPr id="34" name="STC-15-cap-body-4">
            <a:extLst xmlns:a="http://schemas.openxmlformats.org/drawingml/2006/main">
              <a:ext uri="{FF2B5EF4-FFF2-40B4-BE49-F238E27FC236}">
                <a16:creationId xmlns:a16="http://schemas.microsoft.com/office/drawing/2014/main" id="{182B30D3-1D80-4FC5-A73C-A9EB406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029200"/>
            <a:ext cx="3675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external보다 보편 우월하지 않음</a:t>
            </a:r>
          </a:p>
        </p:txBody>
      </p:sp>
      <p:sp>
        <p:nvSpPr>
          <p:cNvPr id="35" name="STC-15-cap-pressure-4">
            <a:extLst xmlns:a="http://schemas.openxmlformats.org/drawingml/2006/main">
              <a:ext uri="{FF2B5EF4-FFF2-40B4-BE49-F238E27FC236}">
                <a16:creationId xmlns:a16="http://schemas.microsoft.com/office/drawing/2014/main" id="{BAA86C3C-1977-4E77-8E83-BADF936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029200"/>
            <a:ext cx="39319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6" name="STC-15-cap-binding">
            <a:extLst xmlns:a="http://schemas.openxmlformats.org/drawingml/2006/main">
              <a:ext uri="{FF2B5EF4-FFF2-40B4-BE49-F238E27FC236}">
                <a16:creationId xmlns:a16="http://schemas.microsoft.com/office/drawing/2014/main" id="{556AA274-524E-4221-88C6-E14A801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66928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NEW AXIS</a:t>
            </a:r>
          </a:p>
        </p:txBody>
      </p:sp>
    </p:spTree>
    <p:extLst>
      <p:ext uri="{BB962C8B-B14F-4D97-AF65-F5344CB8AC3E}">
        <p14:creationId xmlns:p14="http://schemas.microsoft.com/office/powerpoint/2010/main" val="177991463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9-section">
            <a:extLst xmlns:a="http://schemas.openxmlformats.org/drawingml/2006/main">
              <a:ext uri="{FF2B5EF4-FFF2-40B4-BE49-F238E27FC236}">
                <a16:creationId xmlns:a16="http://schemas.microsoft.com/office/drawing/2014/main" id="{29D38A02-155B-4134-8C5B-670E758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VERDICT</a:t>
            </a:r>
          </a:p>
        </p:txBody>
      </p:sp>
      <p:sp>
        <p:nvSpPr>
          <p:cNvPr id="3" name="STC-09-slide-id">
            <a:extLst xmlns:a="http://schemas.openxmlformats.org/drawingml/2006/main">
              <a:ext uri="{FF2B5EF4-FFF2-40B4-BE49-F238E27FC236}">
                <a16:creationId xmlns:a16="http://schemas.microsoft.com/office/drawing/2014/main" id="{1762F78F-0723-499B-9FF1-EF8BC94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STC-080</a:t>
            </a:r>
          </a:p>
        </p:txBody>
      </p:sp>
      <p:sp>
        <p:nvSpPr>
          <p:cNvPr id="4" name="STC-09-headline">
            <a:extLst xmlns:a="http://schemas.openxmlformats.org/drawingml/2006/main">
              <a:ext uri="{FF2B5EF4-FFF2-40B4-BE49-F238E27FC236}">
                <a16:creationId xmlns:a16="http://schemas.microsoft.com/office/drawing/2014/main" id="{3EFE9657-A9F6-4D01-B7AA-8CD5DCC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가치는 reuse·stability·verifiability가 높은 workload에 집중된다</a:t>
            </a:r>
          </a:p>
        </p:txBody>
      </p:sp>
      <p:sp>
        <p:nvSpPr>
          <p:cNvPr id="5" name="STC-09-status-label">
            <a:extLst xmlns:a="http://schemas.openxmlformats.org/drawingml/2006/main">
              <a:ext uri="{FF2B5EF4-FFF2-40B4-BE49-F238E27FC236}">
                <a16:creationId xmlns:a16="http://schemas.microsoft.com/office/drawing/2014/main" id="{8D0AE475-7A53-4E5A-A49D-6EA175C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판정</a:t>
            </a:r>
          </a:p>
        </p:txBody>
      </p:sp>
      <p:sp>
        <p:nvSpPr>
          <p:cNvPr id="6" name="STC-09-status-rule">
            <a:extLst xmlns:a="http://schemas.openxmlformats.org/drawingml/2006/main">
              <a:ext uri="{FF2B5EF4-FFF2-40B4-BE49-F238E27FC236}">
                <a16:creationId xmlns:a16="http://schemas.microsoft.com/office/drawing/2014/main" id="{533C7DF8-73A5-4BF8-9C5D-81FE369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9-footer-rule">
            <a:extLst xmlns:a="http://schemas.openxmlformats.org/drawingml/2006/main">
              <a:ext uri="{FF2B5EF4-FFF2-40B4-BE49-F238E27FC236}">
                <a16:creationId xmlns:a16="http://schemas.microsoft.com/office/drawing/2014/main" id="{D41C1814-8E19-41C1-A558-010004C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9-source-footer">
            <a:extLst xmlns:a="http://schemas.openxmlformats.org/drawingml/2006/main">
              <a:ext uri="{FF2B5EF4-FFF2-40B4-BE49-F238E27FC236}">
                <a16:creationId xmlns:a16="http://schemas.microsoft.com/office/drawing/2014/main" id="{C447969D-F458-449A-95BB-BA55D3A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Workload promisingness matrix · STC-F007</a:t>
            </a:r>
          </a:p>
        </p:txBody>
      </p:sp>
      <p:sp>
        <p:nvSpPr>
          <p:cNvPr id="9" name="STC-09-page-number">
            <a:extLst xmlns:a="http://schemas.openxmlformats.org/drawingml/2006/main">
              <a:ext uri="{FF2B5EF4-FFF2-40B4-BE49-F238E27FC236}">
                <a16:creationId xmlns:a16="http://schemas.microsoft.com/office/drawing/2014/main" id="{8A2AA582-B0BF-4246-A717-6FA4959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80</a:t>
            </a:r>
          </a:p>
        </p:txBody>
      </p:sp>
      <p:sp>
        <p:nvSpPr>
          <p:cNvPr id="11" name="STC-09-matrix-col-0">
            <a:extLst xmlns:a="http://schemas.openxmlformats.org/drawingml/2006/main">
              <a:ext uri="{FF2B5EF4-FFF2-40B4-BE49-F238E27FC236}">
                <a16:creationId xmlns:a16="http://schemas.microsoft.com/office/drawing/2014/main" id="{A1622F37-BF76-43B7-84A8-4E826F9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CODEBASE · 반복 query·stable repository → 높음</a:t>
            </a:r>
          </a:p>
        </p:txBody>
      </p:sp>
      <p:sp>
        <p:nvSpPr>
          <p:cNvPr id="12" name="STC-09-matrix-col-1">
            <a:extLst xmlns:a="http://schemas.openxmlformats.org/drawingml/2006/main">
              <a:ext uri="{FF2B5EF4-FFF2-40B4-BE49-F238E27FC236}">
                <a16:creationId xmlns:a16="http://schemas.microsoft.com/office/drawing/2014/main" id="{CADCF27A-962A-4876-A50A-100BBDA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PERSONAL · high reuse이나 privacy/volatility gate → 중간</a:t>
            </a:r>
          </a:p>
        </p:txBody>
      </p:sp>
      <p:sp>
        <p:nvSpPr>
          <p:cNvPr id="13" name="STC-09-matrix-col-2">
            <a:extLst xmlns:a="http://schemas.openxmlformats.org/drawingml/2006/main">
              <a:ext uri="{FF2B5EF4-FFF2-40B4-BE49-F238E27FC236}">
                <a16:creationId xmlns:a16="http://schemas.microsoft.com/office/drawing/2014/main" id="{DDD13F7E-EF58-4B00-9007-C34AC25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ENTERPRISE · evidence·delete 요구가 높아 external 우세</a:t>
            </a:r>
          </a:p>
        </p:txBody>
      </p:sp>
      <p:sp>
        <p:nvSpPr>
          <p:cNvPr id="14" name="STC-09-matrix-col-3">
            <a:extLst xmlns:a="http://schemas.openxmlformats.org/drawingml/2006/main">
              <a:ext uri="{FF2B5EF4-FFF2-40B4-BE49-F238E27FC236}">
                <a16:creationId xmlns:a16="http://schemas.microsoft.com/office/drawing/2014/main" id="{BDD5DFCA-E93B-4A68-9CC4-C10B778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NEWS · volatile truth → parametric 낮음</a:t>
            </a:r>
          </a:p>
        </p:txBody>
      </p:sp>
      <p:sp>
        <p:nvSpPr>
          <p:cNvPr id="15" name="STC-09-matrix-row-0">
            <a:extLst xmlns:a="http://schemas.openxmlformats.org/drawingml/2006/main">
              <a:ext uri="{FF2B5EF4-FFF2-40B4-BE49-F238E27FC236}">
                <a16:creationId xmlns:a16="http://schemas.microsoft.com/office/drawing/2014/main" id="{48054411-FFD1-41ED-9521-D9E544C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6272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CODEBASE · 반복 query·stable repository → 높음</a:t>
            </a:r>
          </a:p>
        </p:txBody>
      </p:sp>
      <p:sp>
        <p:nvSpPr>
          <p:cNvPr id="16" name="STC-09-matrix-cell-0-0">
            <a:extLst xmlns:a="http://schemas.openxmlformats.org/drawingml/2006/main">
              <a:ext uri="{FF2B5EF4-FFF2-40B4-BE49-F238E27FC236}">
                <a16:creationId xmlns:a16="http://schemas.microsoft.com/office/drawing/2014/main" id="{EBF3F50C-9AAA-4D85-9A41-E196717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9-matrix-cell-0-1">
            <a:extLst xmlns:a="http://schemas.openxmlformats.org/drawingml/2006/main">
              <a:ext uri="{FF2B5EF4-FFF2-40B4-BE49-F238E27FC236}">
                <a16:creationId xmlns:a16="http://schemas.microsoft.com/office/drawing/2014/main" id="{99FD277C-8063-463E-9905-A188DED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8" name="STC-09-matrix-cell-0-2">
            <a:extLst xmlns:a="http://schemas.openxmlformats.org/drawingml/2006/main">
              <a:ext uri="{FF2B5EF4-FFF2-40B4-BE49-F238E27FC236}">
                <a16:creationId xmlns:a16="http://schemas.microsoft.com/office/drawing/2014/main" id="{DA428670-4DFB-4B25-B5C2-D14877B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09-matrix-cell-0-3">
            <a:extLst xmlns:a="http://schemas.openxmlformats.org/drawingml/2006/main">
              <a:ext uri="{FF2B5EF4-FFF2-40B4-BE49-F238E27FC236}">
                <a16:creationId xmlns:a16="http://schemas.microsoft.com/office/drawing/2014/main" id="{0C5C38C6-03C4-47C2-AD56-807F93F8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0" name="STC-09-matrix-row-1">
            <a:extLst xmlns:a="http://schemas.openxmlformats.org/drawingml/2006/main">
              <a:ext uri="{FF2B5EF4-FFF2-40B4-BE49-F238E27FC236}">
                <a16:creationId xmlns:a16="http://schemas.microsoft.com/office/drawing/2014/main" id="{7940E56B-C80F-4DD2-B7CD-33C3E92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8104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PERSONAL · high reuse이나 privacy/volatility gate → 중간</a:t>
            </a:r>
          </a:p>
        </p:txBody>
      </p:sp>
      <p:sp>
        <p:nvSpPr>
          <p:cNvPr id="21" name="STC-09-matrix-cell-1-0">
            <a:extLst xmlns:a="http://schemas.openxmlformats.org/drawingml/2006/main">
              <a:ext uri="{FF2B5EF4-FFF2-40B4-BE49-F238E27FC236}">
                <a16:creationId xmlns:a16="http://schemas.microsoft.com/office/drawing/2014/main" id="{4116D720-457C-45E0-A9E6-A5C9B85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09-matrix-cell-1-1">
            <a:extLst xmlns:a="http://schemas.openxmlformats.org/drawingml/2006/main">
              <a:ext uri="{FF2B5EF4-FFF2-40B4-BE49-F238E27FC236}">
                <a16:creationId xmlns:a16="http://schemas.microsoft.com/office/drawing/2014/main" id="{503E2699-DB07-4331-9D2B-342F429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3" name="STC-09-matrix-cell-1-2">
            <a:extLst xmlns:a="http://schemas.openxmlformats.org/drawingml/2006/main">
              <a:ext uri="{FF2B5EF4-FFF2-40B4-BE49-F238E27FC236}">
                <a16:creationId xmlns:a16="http://schemas.microsoft.com/office/drawing/2014/main" id="{97E4F3B9-6846-4760-BE7D-80FF27D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4" name="STC-09-matrix-cell-1-3">
            <a:extLst xmlns:a="http://schemas.openxmlformats.org/drawingml/2006/main">
              <a:ext uri="{FF2B5EF4-FFF2-40B4-BE49-F238E27FC236}">
                <a16:creationId xmlns:a16="http://schemas.microsoft.com/office/drawing/2014/main" id="{84496169-8F4D-4E6F-9027-640CD5AA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9-matrix-row-2">
            <a:extLst xmlns:a="http://schemas.openxmlformats.org/drawingml/2006/main">
              <a:ext uri="{FF2B5EF4-FFF2-40B4-BE49-F238E27FC236}">
                <a16:creationId xmlns:a16="http://schemas.microsoft.com/office/drawing/2014/main" id="{B5447A2E-9E34-4D35-B79B-9988EB5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936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ENTERPRISE · evidence·delete 요구가 높아 external 우세</a:t>
            </a:r>
          </a:p>
        </p:txBody>
      </p:sp>
      <p:sp>
        <p:nvSpPr>
          <p:cNvPr id="26" name="STC-09-matrix-cell-2-0">
            <a:extLst xmlns:a="http://schemas.openxmlformats.org/drawingml/2006/main">
              <a:ext uri="{FF2B5EF4-FFF2-40B4-BE49-F238E27FC236}">
                <a16:creationId xmlns:a16="http://schemas.microsoft.com/office/drawing/2014/main" id="{FAC2E53F-B600-4470-BF9A-7BF8DFB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09-matrix-cell-2-1">
            <a:extLst xmlns:a="http://schemas.openxmlformats.org/drawingml/2006/main">
              <a:ext uri="{FF2B5EF4-FFF2-40B4-BE49-F238E27FC236}">
                <a16:creationId xmlns:a16="http://schemas.microsoft.com/office/drawing/2014/main" id="{D0B8CA6B-5C13-47E7-8118-5F49E24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8" name="STC-09-matrix-cell-2-2">
            <a:extLst xmlns:a="http://schemas.openxmlformats.org/drawingml/2006/main">
              <a:ext uri="{FF2B5EF4-FFF2-40B4-BE49-F238E27FC236}">
                <a16:creationId xmlns:a16="http://schemas.microsoft.com/office/drawing/2014/main" id="{DB91A1F1-5BE9-4F23-AB50-8503832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9-matrix-cell-2-3">
            <a:extLst xmlns:a="http://schemas.openxmlformats.org/drawingml/2006/main">
              <a:ext uri="{FF2B5EF4-FFF2-40B4-BE49-F238E27FC236}">
                <a16:creationId xmlns:a16="http://schemas.microsoft.com/office/drawing/2014/main" id="{2D2F42EF-8AEC-4FA8-8F63-9621C4E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0" name="STC-09-matrix-item-0">
            <a:extLst xmlns:a="http://schemas.openxmlformats.org/drawingml/2006/main">
              <a:ext uri="{FF2B5EF4-FFF2-40B4-BE49-F238E27FC236}">
                <a16:creationId xmlns:a16="http://schemas.microsoft.com/office/drawing/2014/main" id="{7C11B00E-E901-4952-BD96-39AC9CD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CODEBASE</a:t>
            </a:r>
          </a:p>
        </p:txBody>
      </p:sp>
      <p:sp>
        <p:nvSpPr>
          <p:cNvPr id="31" name="STC-09-matrix-item-1">
            <a:extLst xmlns:a="http://schemas.openxmlformats.org/drawingml/2006/main">
              <a:ext uri="{FF2B5EF4-FFF2-40B4-BE49-F238E27FC236}">
                <a16:creationId xmlns:a16="http://schemas.microsoft.com/office/drawing/2014/main" id="{C09EB82D-1B40-4E0D-8EA7-35317E3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PERSONAL</a:t>
            </a:r>
          </a:p>
        </p:txBody>
      </p:sp>
      <p:sp>
        <p:nvSpPr>
          <p:cNvPr id="32" name="STC-09-matrix-item-2">
            <a:extLst xmlns:a="http://schemas.openxmlformats.org/drawingml/2006/main">
              <a:ext uri="{FF2B5EF4-FFF2-40B4-BE49-F238E27FC236}">
                <a16:creationId xmlns:a16="http://schemas.microsoft.com/office/drawing/2014/main" id="{0251189C-D3AD-41B8-972C-EDD23B2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ENTERPRISE</a:t>
            </a:r>
          </a:p>
        </p:txBody>
      </p:sp>
      <p:sp>
        <p:nvSpPr>
          <p:cNvPr id="33" name="STC-09-matrix-item-3">
            <a:extLst xmlns:a="http://schemas.openxmlformats.org/drawingml/2006/main">
              <a:ext uri="{FF2B5EF4-FFF2-40B4-BE49-F238E27FC236}">
                <a16:creationId xmlns:a16="http://schemas.microsoft.com/office/drawing/2014/main" id="{3DEFCD03-DAF7-46A0-BC0B-82DA91A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sleeper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Auto-Dreamer</a:t>
            </a:r>
          </a:p>
        </p:txBody>
      </p:sp>
      <p:sp>
        <p:nvSpPr>
          <p:cNvPr id="34" name="STC-09-matrix-item-4">
            <a:extLst xmlns:a="http://schemas.openxmlformats.org/drawingml/2006/main">
              <a:ext uri="{FF2B5EF4-FFF2-40B4-BE49-F238E27FC236}">
                <a16:creationId xmlns:a16="http://schemas.microsoft.com/office/drawing/2014/main" id="{20F5ABAA-F3AB-4A1E-B002-FAE254B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Cartridges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Offline Recurrence</a:t>
            </a:r>
          </a:p>
        </p:txBody>
      </p:sp>
      <p:sp>
        <p:nvSpPr>
          <p:cNvPr id="35" name="STC-09-matrix-item-5">
            <a:extLst xmlns:a="http://schemas.openxmlformats.org/drawingml/2006/main">
              <a:ext uri="{FF2B5EF4-FFF2-40B4-BE49-F238E27FC236}">
                <a16:creationId xmlns:a16="http://schemas.microsoft.com/office/drawing/2014/main" id="{846D3DCA-789E-4C4A-A897-494AC5A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CODEBASE</a:t>
            </a:r>
          </a:p>
        </p:txBody>
      </p:sp>
      <p:sp>
        <p:nvSpPr>
          <p:cNvPr id="36" name="STC-09-matrix-item-6">
            <a:extLst xmlns:a="http://schemas.openxmlformats.org/drawingml/2006/main">
              <a:ext uri="{FF2B5EF4-FFF2-40B4-BE49-F238E27FC236}">
                <a16:creationId xmlns:a16="http://schemas.microsoft.com/office/drawing/2014/main" id="{AF6F670C-AE78-45F0-A3DB-62F1E51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PERSONAL</a:t>
            </a:r>
          </a:p>
        </p:txBody>
      </p:sp>
      <p:sp>
        <p:nvSpPr>
          <p:cNvPr id="37" name="STC-09-matrix-item-7">
            <a:extLst xmlns:a="http://schemas.openxmlformats.org/drawingml/2006/main">
              <a:ext uri="{FF2B5EF4-FFF2-40B4-BE49-F238E27FC236}">
                <a16:creationId xmlns:a16="http://schemas.microsoft.com/office/drawing/2014/main" id="{78FE0597-34A6-404B-BFB5-86CA375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memory-policy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pretraining</a:t>
            </a:r>
          </a:p>
        </p:txBody>
      </p:sp>
      <p:sp>
        <p:nvSpPr>
          <p:cNvPr id="38" name="STC-09-matrix-item-8">
            <a:extLst xmlns:a="http://schemas.openxmlformats.org/drawingml/2006/main">
              <a:ext uri="{FF2B5EF4-FFF2-40B4-BE49-F238E27FC236}">
                <a16:creationId xmlns:a16="http://schemas.microsoft.com/office/drawing/2014/main" id="{699699AB-8F10-46DC-93DD-EC5C2BE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NEWS</a:t>
            </a:r>
          </a:p>
        </p:txBody>
      </p:sp>
      <p:sp>
        <p:nvSpPr>
          <p:cNvPr id="39" name="STC-09-matrix-item-9">
            <a:extLst xmlns:a="http://schemas.openxmlformats.org/drawingml/2006/main">
              <a:ext uri="{FF2B5EF4-FFF2-40B4-BE49-F238E27FC236}">
                <a16:creationId xmlns:a16="http://schemas.microsoft.com/office/drawing/2014/main" id="{DD8E80DC-2A77-4566-BEAE-1664E61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ONE-SHOT</a:t>
            </a:r>
          </a:p>
        </p:txBody>
      </p:sp>
      <p:sp>
        <p:nvSpPr>
          <p:cNvPr id="40" name="STC-09-matrix-question-label">
            <a:extLst xmlns:a="http://schemas.openxmlformats.org/drawingml/2006/main">
              <a:ext uri="{FF2B5EF4-FFF2-40B4-BE49-F238E27FC236}">
                <a16:creationId xmlns:a16="http://schemas.microsoft.com/office/drawing/2014/main" id="{83EDD79B-52C5-495D-A2AA-84DA2A5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6577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반복 query·stable repository → 높음</a:t>
            </a:r>
          </a:p>
        </p:txBody>
      </p:sp>
      <p:sp>
        <p:nvSpPr>
          <p:cNvPr id="41" name="STC-09-matrix-question">
            <a:extLst xmlns:a="http://schemas.openxmlformats.org/drawingml/2006/main">
              <a:ext uri="{FF2B5EF4-FFF2-40B4-BE49-F238E27FC236}">
                <a16:creationId xmlns:a16="http://schemas.microsoft.com/office/drawing/2014/main" id="{85F42F15-58B1-4837-960A-A6B12D3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965192"/>
            <a:ext cx="89245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high reuse이나 privacy/volatility gate → 중간</a:t>
            </a:r>
          </a:p>
        </p:txBody>
      </p:sp>
    </p:spTree>
    <p:extLst>
      <p:ext uri="{BB962C8B-B14F-4D97-AF65-F5344CB8AC3E}">
        <p14:creationId xmlns:p14="http://schemas.microsoft.com/office/powerpoint/2010/main" val="160512679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3-section">
            <a:extLst xmlns:a="http://schemas.openxmlformats.org/drawingml/2006/main">
              <a:ext uri="{FF2B5EF4-FFF2-40B4-BE49-F238E27FC236}">
                <a16:creationId xmlns:a16="http://schemas.microsoft.com/office/drawing/2014/main" id="{83B4AEDF-92CA-4038-9758-24EE0FE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MAINSTREAM</a:t>
            </a:r>
          </a:p>
        </p:txBody>
      </p:sp>
      <p:sp>
        <p:nvSpPr>
          <p:cNvPr id="3" name="STC-23-slide-id">
            <a:extLst xmlns:a="http://schemas.openxmlformats.org/drawingml/2006/main">
              <a:ext uri="{FF2B5EF4-FFF2-40B4-BE49-F238E27FC236}">
                <a16:creationId xmlns:a16="http://schemas.microsoft.com/office/drawing/2014/main" id="{3C7E2B13-9641-442E-9078-087BF17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STC-081</a:t>
            </a:r>
          </a:p>
        </p:txBody>
      </p:sp>
      <p:sp>
        <p:nvSpPr>
          <p:cNvPr id="4" name="STC-23-headline">
            <a:extLst xmlns:a="http://schemas.openxmlformats.org/drawingml/2006/main">
              <a:ext uri="{FF2B5EF4-FFF2-40B4-BE49-F238E27FC236}">
                <a16:creationId xmlns:a16="http://schemas.microsoft.com/office/drawing/2014/main" id="{8C690D20-B7C7-4222-9E22-12ABEE0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주류화 여부는 다섯 시나리오로 추적한다</a:t>
            </a:r>
          </a:p>
        </p:txBody>
      </p:sp>
      <p:sp>
        <p:nvSpPr>
          <p:cNvPr id="5" name="STC-23-status-label">
            <a:extLst xmlns:a="http://schemas.openxmlformats.org/drawingml/2006/main">
              <a:ext uri="{FF2B5EF4-FFF2-40B4-BE49-F238E27FC236}">
                <a16:creationId xmlns:a16="http://schemas.microsoft.com/office/drawing/2014/main" id="{BFF28558-5058-4081-AD1B-865AE70D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전망</a:t>
            </a:r>
          </a:p>
        </p:txBody>
      </p:sp>
      <p:sp>
        <p:nvSpPr>
          <p:cNvPr id="6" name="STC-23-status-rule">
            <a:extLst xmlns:a="http://schemas.openxmlformats.org/drawingml/2006/main">
              <a:ext uri="{FF2B5EF4-FFF2-40B4-BE49-F238E27FC236}">
                <a16:creationId xmlns:a16="http://schemas.microsoft.com/office/drawing/2014/main" id="{1CABF356-8D78-415B-A983-F30B38D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23-footer-rule">
            <a:extLst xmlns:a="http://schemas.openxmlformats.org/drawingml/2006/main">
              <a:ext uri="{FF2B5EF4-FFF2-40B4-BE49-F238E27FC236}">
                <a16:creationId xmlns:a16="http://schemas.microsoft.com/office/drawing/2014/main" id="{2487BDDB-4ACB-40EA-B813-FBD0A74F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3-source-footer">
            <a:extLst xmlns:a="http://schemas.openxmlformats.org/drawingml/2006/main">
              <a:ext uri="{FF2B5EF4-FFF2-40B4-BE49-F238E27FC236}">
                <a16:creationId xmlns:a16="http://schemas.microsoft.com/office/drawing/2014/main" id="{B11C6CD1-659A-4D4E-801E-E47DE2CA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§11 · scenario signals</a:t>
            </a:r>
          </a:p>
        </p:txBody>
      </p:sp>
      <p:sp>
        <p:nvSpPr>
          <p:cNvPr id="9" name="STC-23-page-number">
            <a:extLst xmlns:a="http://schemas.openxmlformats.org/drawingml/2006/main">
              <a:ext uri="{FF2B5EF4-FFF2-40B4-BE49-F238E27FC236}">
                <a16:creationId xmlns:a16="http://schemas.microsoft.com/office/drawing/2014/main" id="{982079F3-793C-4DBF-BC11-550ACE7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81</a:t>
            </a:r>
          </a:p>
        </p:txBody>
      </p:sp>
      <p:sp>
        <p:nvSpPr>
          <p:cNvPr id="11" name="STC-23-oq-tag-0">
            <a:extLst xmlns:a="http://schemas.openxmlformats.org/drawingml/2006/main">
              <a:ext uri="{FF2B5EF4-FFF2-40B4-BE49-F238E27FC236}">
                <a16:creationId xmlns:a16="http://schemas.microsoft.com/office/drawing/2014/main" id="{3D98CEE7-1FFC-42BA-84C8-29D8070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EXTERNAL DEFAULT</a:t>
            </a:r>
          </a:p>
        </p:txBody>
      </p:sp>
      <p:sp>
        <p:nvSpPr>
          <p:cNvPr id="12" name="STC-23-oq-rule-0">
            <a:extLst xmlns:a="http://schemas.openxmlformats.org/drawingml/2006/main">
              <a:ext uri="{FF2B5EF4-FFF2-40B4-BE49-F238E27FC236}">
                <a16:creationId xmlns:a16="http://schemas.microsoft.com/office/drawing/2014/main" id="{791E95A2-EE4C-4B74-B1D3-B3B075F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3-oq-list-0-dot-0">
            <a:extLst xmlns:a="http://schemas.openxmlformats.org/drawingml/2006/main">
              <a:ext uri="{FF2B5EF4-FFF2-40B4-BE49-F238E27FC236}">
                <a16:creationId xmlns:a16="http://schemas.microsoft.com/office/drawing/2014/main" id="{D890EDF2-4BE8-44C8-A8D0-A533DD32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4" name="STC-23-oq-list-0-item-0">
            <a:extLst xmlns:a="http://schemas.openxmlformats.org/drawingml/2006/main">
              <a:ext uri="{FF2B5EF4-FFF2-40B4-BE49-F238E27FC236}">
                <a16:creationId xmlns:a16="http://schemas.microsoft.com/office/drawing/2014/main" id="{808E6A56-6904-4A8B-90DE-E069838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 DEFAULT</a:t>
            </a:r>
          </a:p>
        </p:txBody>
      </p:sp>
      <p:sp>
        <p:nvSpPr>
          <p:cNvPr id="15" name="STC-23-oq-list-0-dot-1">
            <a:extLst xmlns:a="http://schemas.openxmlformats.org/drawingml/2006/main">
              <a:ext uri="{FF2B5EF4-FFF2-40B4-BE49-F238E27FC236}">
                <a16:creationId xmlns:a16="http://schemas.microsoft.com/office/drawing/2014/main" id="{5B072EEB-AB09-446E-ADDB-54C2D26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23-oq-list-0-item-1">
            <a:extLst xmlns:a="http://schemas.openxmlformats.org/drawingml/2006/main">
              <a:ext uri="{FF2B5EF4-FFF2-40B4-BE49-F238E27FC236}">
                <a16:creationId xmlns:a16="http://schemas.microsoft.com/office/drawing/2014/main" id="{396DCCB9-FC49-46D3-ACB9-8313D85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HYBRID</a:t>
            </a:r>
          </a:p>
        </p:txBody>
      </p:sp>
      <p:sp>
        <p:nvSpPr>
          <p:cNvPr id="17" name="STC-23-oq-list-0-dot-2">
            <a:extLst xmlns:a="http://schemas.openxmlformats.org/drawingml/2006/main">
              <a:ext uri="{FF2B5EF4-FFF2-40B4-BE49-F238E27FC236}">
                <a16:creationId xmlns:a16="http://schemas.microsoft.com/office/drawing/2014/main" id="{B6BB5E75-0794-4530-883D-D8C0E582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23-oq-list-0-item-2">
            <a:extLst xmlns:a="http://schemas.openxmlformats.org/drawingml/2006/main">
              <a:ext uri="{FF2B5EF4-FFF2-40B4-BE49-F238E27FC236}">
                <a16:creationId xmlns:a16="http://schemas.microsoft.com/office/drawing/2014/main" id="{B7224412-EFB4-49B2-9907-180AE11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 NICHE</a:t>
            </a:r>
          </a:p>
        </p:txBody>
      </p:sp>
      <p:sp>
        <p:nvSpPr>
          <p:cNvPr id="19" name="STC-23-oq-tag-1">
            <a:extLst xmlns:a="http://schemas.openxmlformats.org/drawingml/2006/main">
              <a:ext uri="{FF2B5EF4-FFF2-40B4-BE49-F238E27FC236}">
                <a16:creationId xmlns:a16="http://schemas.microsoft.com/office/drawing/2014/main" id="{41CD2AB9-6A25-4DDA-A109-E7B888F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HYBRID</a:t>
            </a:r>
          </a:p>
        </p:txBody>
      </p:sp>
      <p:sp>
        <p:nvSpPr>
          <p:cNvPr id="20" name="STC-23-oq-rule-1">
            <a:extLst xmlns:a="http://schemas.openxmlformats.org/drawingml/2006/main">
              <a:ext uri="{FF2B5EF4-FFF2-40B4-BE49-F238E27FC236}">
                <a16:creationId xmlns:a16="http://schemas.microsoft.com/office/drawing/2014/main" id="{9FD75D67-74B8-4747-B8EF-C615C715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23-oq-list-1-dot-0">
            <a:extLst xmlns:a="http://schemas.openxmlformats.org/drawingml/2006/main">
              <a:ext uri="{FF2B5EF4-FFF2-40B4-BE49-F238E27FC236}">
                <a16:creationId xmlns:a16="http://schemas.microsoft.com/office/drawing/2014/main" id="{E9EACF91-5739-4A48-A5A4-DAF9343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2" name="STC-23-oq-list-1-item-0">
            <a:extLst xmlns:a="http://schemas.openxmlformats.org/drawingml/2006/main">
              <a:ext uri="{FF2B5EF4-FFF2-40B4-BE49-F238E27FC236}">
                <a16:creationId xmlns:a16="http://schemas.microsoft.com/office/drawing/2014/main" id="{1AB30073-10F5-4558-867E-B98985CC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 DEFAULT</a:t>
            </a:r>
          </a:p>
        </p:txBody>
      </p:sp>
      <p:sp>
        <p:nvSpPr>
          <p:cNvPr id="23" name="STC-23-oq-list-1-dot-1">
            <a:extLst xmlns:a="http://schemas.openxmlformats.org/drawingml/2006/main">
              <a:ext uri="{FF2B5EF4-FFF2-40B4-BE49-F238E27FC236}">
                <a16:creationId xmlns:a16="http://schemas.microsoft.com/office/drawing/2014/main" id="{B5D924D0-9846-420F-8055-25A62F2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23-oq-list-1-item-1">
            <a:extLst xmlns:a="http://schemas.openxmlformats.org/drawingml/2006/main">
              <a:ext uri="{FF2B5EF4-FFF2-40B4-BE49-F238E27FC236}">
                <a16:creationId xmlns:a16="http://schemas.microsoft.com/office/drawing/2014/main" id="{15294CC7-3B65-47BC-BD29-B52A0977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HYBRID</a:t>
            </a:r>
          </a:p>
        </p:txBody>
      </p:sp>
      <p:sp>
        <p:nvSpPr>
          <p:cNvPr id="25" name="STC-23-oq-list-1-dot-2">
            <a:extLst xmlns:a="http://schemas.openxmlformats.org/drawingml/2006/main">
              <a:ext uri="{FF2B5EF4-FFF2-40B4-BE49-F238E27FC236}">
                <a16:creationId xmlns:a16="http://schemas.microsoft.com/office/drawing/2014/main" id="{3BB3ACF3-023D-4F3A-8683-4A58CB99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23-oq-list-1-item-2">
            <a:extLst xmlns:a="http://schemas.openxmlformats.org/drawingml/2006/main">
              <a:ext uri="{FF2B5EF4-FFF2-40B4-BE49-F238E27FC236}">
                <a16:creationId xmlns:a16="http://schemas.microsoft.com/office/drawing/2014/main" id="{A35398CF-A613-4CF0-819A-3B11BD9C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 NICHE</a:t>
            </a:r>
          </a:p>
        </p:txBody>
      </p:sp>
      <p:sp>
        <p:nvSpPr>
          <p:cNvPr id="27" name="STC-23-oq-tag-2">
            <a:extLst xmlns:a="http://schemas.openxmlformats.org/drawingml/2006/main">
              <a:ext uri="{FF2B5EF4-FFF2-40B4-BE49-F238E27FC236}">
                <a16:creationId xmlns:a16="http://schemas.microsoft.com/office/drawing/2014/main" id="{AD6ABE25-6720-4FD6-AD74-25D26678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PARAMETRIC NICHE</a:t>
            </a:r>
          </a:p>
        </p:txBody>
      </p:sp>
      <p:sp>
        <p:nvSpPr>
          <p:cNvPr id="28" name="STC-23-oq-rule-2">
            <a:extLst xmlns:a="http://schemas.openxmlformats.org/drawingml/2006/main">
              <a:ext uri="{FF2B5EF4-FFF2-40B4-BE49-F238E27FC236}">
                <a16:creationId xmlns:a16="http://schemas.microsoft.com/office/drawing/2014/main" id="{365B9BA9-8C99-45B1-899A-845C87AB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23-oq-list-2-dot-0">
            <a:extLst xmlns:a="http://schemas.openxmlformats.org/drawingml/2006/main">
              <a:ext uri="{FF2B5EF4-FFF2-40B4-BE49-F238E27FC236}">
                <a16:creationId xmlns:a16="http://schemas.microsoft.com/office/drawing/2014/main" id="{B8DF43B2-7C7A-41E1-8F83-1F0AFE4B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0" name="STC-23-oq-list-2-item-0">
            <a:extLst xmlns:a="http://schemas.openxmlformats.org/drawingml/2006/main">
              <a:ext uri="{FF2B5EF4-FFF2-40B4-BE49-F238E27FC236}">
                <a16:creationId xmlns:a16="http://schemas.microsoft.com/office/drawing/2014/main" id="{AAC5CE98-8E71-49B4-887B-15BAC589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 DEFAULT</a:t>
            </a:r>
          </a:p>
        </p:txBody>
      </p:sp>
      <p:sp>
        <p:nvSpPr>
          <p:cNvPr id="31" name="STC-23-oq-list-2-dot-1">
            <a:extLst xmlns:a="http://schemas.openxmlformats.org/drawingml/2006/main">
              <a:ext uri="{FF2B5EF4-FFF2-40B4-BE49-F238E27FC236}">
                <a16:creationId xmlns:a16="http://schemas.microsoft.com/office/drawing/2014/main" id="{2DB721A4-AA18-4AFE-BB22-5336207D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2" name="STC-23-oq-list-2-item-1">
            <a:extLst xmlns:a="http://schemas.openxmlformats.org/drawingml/2006/main">
              <a:ext uri="{FF2B5EF4-FFF2-40B4-BE49-F238E27FC236}">
                <a16:creationId xmlns:a16="http://schemas.microsoft.com/office/drawing/2014/main" id="{92348E0C-C171-4844-ADDC-EE67F153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HYBRID</a:t>
            </a:r>
          </a:p>
        </p:txBody>
      </p:sp>
      <p:sp>
        <p:nvSpPr>
          <p:cNvPr id="33" name="STC-23-oq-list-2-dot-2">
            <a:extLst xmlns:a="http://schemas.openxmlformats.org/drawingml/2006/main">
              <a:ext uri="{FF2B5EF4-FFF2-40B4-BE49-F238E27FC236}">
                <a16:creationId xmlns:a16="http://schemas.microsoft.com/office/drawing/2014/main" id="{78DE9F22-B95A-4F57-AB1A-B34E018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4" name="STC-23-oq-list-2-item-2">
            <a:extLst xmlns:a="http://schemas.openxmlformats.org/drawingml/2006/main">
              <a:ext uri="{FF2B5EF4-FFF2-40B4-BE49-F238E27FC236}">
                <a16:creationId xmlns:a16="http://schemas.microsoft.com/office/drawing/2014/main" id="{E2690F74-0807-40C8-ABDD-230F6BC8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PARAMETRIC NICHE</a:t>
            </a:r>
          </a:p>
        </p:txBody>
      </p:sp>
      <p:sp>
        <p:nvSpPr>
          <p:cNvPr id="35" name="STC-23-oq-div-1">
            <a:extLst xmlns:a="http://schemas.openxmlformats.org/drawingml/2006/main">
              <a:ext uri="{FF2B5EF4-FFF2-40B4-BE49-F238E27FC236}">
                <a16:creationId xmlns:a16="http://schemas.microsoft.com/office/drawing/2014/main" id="{22061BF3-0F26-4D62-8B39-6C7F326C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591056"/>
            <a:ext cx="0" cy="3182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6" name="STC-23-oq-div-2">
            <a:extLst xmlns:a="http://schemas.openxmlformats.org/drawingml/2006/main">
              <a:ext uri="{FF2B5EF4-FFF2-40B4-BE49-F238E27FC236}">
                <a16:creationId xmlns:a16="http://schemas.microsoft.com/office/drawing/2014/main" id="{83497970-4CEC-4464-8E8C-7E9B5F3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591056"/>
            <a:ext cx="0" cy="3182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7" name="STC-23-oq-hyp-title">
            <a:extLst xmlns:a="http://schemas.openxmlformats.org/drawingml/2006/main">
              <a:ext uri="{FF2B5EF4-FFF2-40B4-BE49-F238E27FC236}">
                <a16:creationId xmlns:a16="http://schemas.microsoft.com/office/drawing/2014/main" id="{C4119F67-D01C-4F2E-BF4D-BE5BC81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065776"/>
            <a:ext cx="1060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EXTERNAL DEFAULT</a:t>
            </a:r>
          </a:p>
        </p:txBody>
      </p:sp>
      <p:sp>
        <p:nvSpPr>
          <p:cNvPr id="38" name="STC-23-oq-hyp-list">
            <a:extLst xmlns:a="http://schemas.openxmlformats.org/drawingml/2006/main">
              <a:ext uri="{FF2B5EF4-FFF2-40B4-BE49-F238E27FC236}">
                <a16:creationId xmlns:a16="http://schemas.microsoft.com/office/drawing/2014/main" id="{6DFB4405-C980-4915-8DAE-2EA96EE9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965192"/>
            <a:ext cx="899769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달력 예측 대신 각 시나리오의 leading indicator와 falsifier를 본다.</a:t>
            </a:r>
          </a:p>
        </p:txBody>
      </p:sp>
    </p:spTree>
    <p:extLst>
      <p:ext uri="{BB962C8B-B14F-4D97-AF65-F5344CB8AC3E}">
        <p14:creationId xmlns:p14="http://schemas.microsoft.com/office/powerpoint/2010/main" val="63028543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4-section">
            <a:extLst xmlns:a="http://schemas.openxmlformats.org/drawingml/2006/main">
              <a:ext uri="{FF2B5EF4-FFF2-40B4-BE49-F238E27FC236}">
                <a16:creationId xmlns:a16="http://schemas.microsoft.com/office/drawing/2014/main" id="{DA8438B1-2F55-45B8-8A7D-DA7D25D5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BASE CASE</a:t>
            </a:r>
          </a:p>
        </p:txBody>
      </p:sp>
      <p:sp>
        <p:nvSpPr>
          <p:cNvPr id="3" name="STC-14-slide-id">
            <a:extLst xmlns:a="http://schemas.openxmlformats.org/drawingml/2006/main">
              <a:ext uri="{FF2B5EF4-FFF2-40B4-BE49-F238E27FC236}">
                <a16:creationId xmlns:a16="http://schemas.microsoft.com/office/drawing/2014/main" id="{47915ABC-756B-46D8-8D62-110BAAA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STC-082</a:t>
            </a:r>
          </a:p>
        </p:txBody>
      </p:sp>
      <p:sp>
        <p:nvSpPr>
          <p:cNvPr id="4" name="STC-14-headline">
            <a:extLst xmlns:a="http://schemas.openxmlformats.org/drawingml/2006/main">
              <a:ext uri="{FF2B5EF4-FFF2-40B4-BE49-F238E27FC236}">
                <a16:creationId xmlns:a16="http://schemas.microsoft.com/office/drawing/2014/main" id="{90A5E8FC-2D8D-49F1-9E66-FBA835E2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가장 가능성 높은 경로는 lifecycle mainstream·parameter niche다</a:t>
            </a:r>
          </a:p>
        </p:txBody>
      </p:sp>
      <p:sp>
        <p:nvSpPr>
          <p:cNvPr id="5" name="STC-14-status-label">
            <a:extLst xmlns:a="http://schemas.openxmlformats.org/drawingml/2006/main">
              <a:ext uri="{FF2B5EF4-FFF2-40B4-BE49-F238E27FC236}">
                <a16:creationId xmlns:a16="http://schemas.microsoft.com/office/drawing/2014/main" id="{3A48F401-57D0-478E-955B-CD29AFD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조건부 결론</a:t>
            </a:r>
          </a:p>
        </p:txBody>
      </p:sp>
      <p:sp>
        <p:nvSpPr>
          <p:cNvPr id="6" name="STC-14-status-rule">
            <a:extLst xmlns:a="http://schemas.openxmlformats.org/drawingml/2006/main">
              <a:ext uri="{FF2B5EF4-FFF2-40B4-BE49-F238E27FC236}">
                <a16:creationId xmlns:a16="http://schemas.microsoft.com/office/drawing/2014/main" id="{471D35A8-BD6E-4945-87E7-764B15C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4-footer-rule">
            <a:extLst xmlns:a="http://schemas.openxmlformats.org/drawingml/2006/main">
              <a:ext uri="{FF2B5EF4-FFF2-40B4-BE49-F238E27FC236}">
                <a16:creationId xmlns:a16="http://schemas.microsoft.com/office/drawing/2014/main" id="{8E85B6D7-7C35-4E17-A7F7-485AA5F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4-source-footer">
            <a:extLst xmlns:a="http://schemas.openxmlformats.org/drawingml/2006/main">
              <a:ext uri="{FF2B5EF4-FFF2-40B4-BE49-F238E27FC236}">
                <a16:creationId xmlns:a16="http://schemas.microsoft.com/office/drawing/2014/main" id="{797170F9-3103-4DC3-9F52-2B5C3926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Date freeze 2026-08-05 · synthesis</a:t>
            </a:r>
          </a:p>
        </p:txBody>
      </p:sp>
      <p:sp>
        <p:nvSpPr>
          <p:cNvPr id="9" name="STC-14-page-number">
            <a:extLst xmlns:a="http://schemas.openxmlformats.org/drawingml/2006/main">
              <a:ext uri="{FF2B5EF4-FFF2-40B4-BE49-F238E27FC236}">
                <a16:creationId xmlns:a16="http://schemas.microsoft.com/office/drawing/2014/main" id="{DACEB5B9-650E-4BA4-A150-AB4C20D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82</a:t>
            </a:r>
          </a:p>
        </p:txBody>
      </p:sp>
      <p:sp>
        <p:nvSpPr>
          <p:cNvPr id="11" name="STC-14-destination-diagonal">
            <a:extLst xmlns:a="http://schemas.openxmlformats.org/drawingml/2006/main">
              <a:ext uri="{FF2B5EF4-FFF2-40B4-BE49-F238E27FC236}">
                <a16:creationId xmlns:a16="http://schemas.microsoft.com/office/drawing/2014/main" id="{DB699066-7866-4B0E-8329-670ACF3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0120" y="2386584"/>
            <a:ext cx="10149840" cy="15179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4-dest-point-0">
            <a:extLst xmlns:a="http://schemas.openxmlformats.org/drawingml/2006/main">
              <a:ext uri="{FF2B5EF4-FFF2-40B4-BE49-F238E27FC236}">
                <a16:creationId xmlns:a16="http://schemas.microsoft.com/office/drawing/2014/main" id="{AB37E70A-44C0-4806-8860-C98B016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22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3" name="STC-14-dest-label-0">
            <a:extLst xmlns:a="http://schemas.openxmlformats.org/drawingml/2006/main">
              <a:ext uri="{FF2B5EF4-FFF2-40B4-BE49-F238E27FC236}">
                <a16:creationId xmlns:a16="http://schemas.microsoft.com/office/drawing/2014/main" id="{6EDA5268-B847-45C1-9332-FFF90424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0040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NOW</a:t>
            </a:r>
          </a:p>
        </p:txBody>
      </p:sp>
      <p:sp>
        <p:nvSpPr>
          <p:cNvPr id="14" name="STC-14-dest-sub-0">
            <a:extLst xmlns:a="http://schemas.openxmlformats.org/drawingml/2006/main">
              <a:ext uri="{FF2B5EF4-FFF2-40B4-BE49-F238E27FC236}">
                <a16:creationId xmlns:a16="http://schemas.microsoft.com/office/drawing/2014/main" id="{98FBF89E-FDE0-44FC-996D-986B659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7939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NOW · external background synthesis와 memory policy 확산</a:t>
            </a:r>
          </a:p>
        </p:txBody>
      </p:sp>
      <p:sp>
        <p:nvSpPr>
          <p:cNvPr id="15" name="STC-14-dest-point-1">
            <a:extLst xmlns:a="http://schemas.openxmlformats.org/drawingml/2006/main">
              <a:ext uri="{FF2B5EF4-FFF2-40B4-BE49-F238E27FC236}">
                <a16:creationId xmlns:a16="http://schemas.microsoft.com/office/drawing/2014/main" id="{23B7C88D-3F7C-447F-A35E-70F8894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2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6" name="STC-14-dest-label-1">
            <a:extLst xmlns:a="http://schemas.openxmlformats.org/drawingml/2006/main">
              <a:ext uri="{FF2B5EF4-FFF2-40B4-BE49-F238E27FC236}">
                <a16:creationId xmlns:a16="http://schemas.microsoft.com/office/drawing/2014/main" id="{DE93178E-4F7B-4289-BEC1-F42AD8C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80360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NEXT</a:t>
            </a:r>
          </a:p>
        </p:txBody>
      </p:sp>
      <p:sp>
        <p:nvSpPr>
          <p:cNvPr id="17" name="STC-14-dest-sub-1">
            <a:extLst xmlns:a="http://schemas.openxmlformats.org/drawingml/2006/main">
              <a:ext uri="{FF2B5EF4-FFF2-40B4-BE49-F238E27FC236}">
                <a16:creationId xmlns:a16="http://schemas.microsoft.com/office/drawing/2014/main" id="{3B7A1125-E17F-466C-AE46-661F4F9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95935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NEXT · adapter·neural state를 high-reuse artifact로 추가</a:t>
            </a:r>
          </a:p>
        </p:txBody>
      </p:sp>
      <p:sp>
        <p:nvSpPr>
          <p:cNvPr id="18" name="STC-14-dest-point-2">
            <a:extLst xmlns:a="http://schemas.openxmlformats.org/drawingml/2006/main">
              <a:ext uri="{FF2B5EF4-FFF2-40B4-BE49-F238E27FC236}">
                <a16:creationId xmlns:a16="http://schemas.microsoft.com/office/drawing/2014/main" id="{1C486B29-C327-492C-A867-F3528D6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63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14-dest-label-2">
            <a:extLst xmlns:a="http://schemas.openxmlformats.org/drawingml/2006/main">
              <a:ext uri="{FF2B5EF4-FFF2-40B4-BE49-F238E27FC236}">
                <a16:creationId xmlns:a16="http://schemas.microsoft.com/office/drawing/2014/main" id="{5AD0AF39-765F-41F0-A874-827B57C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542032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LATER</a:t>
            </a:r>
          </a:p>
        </p:txBody>
      </p:sp>
      <p:sp>
        <p:nvSpPr>
          <p:cNvPr id="20" name="STC-14-dest-sub-2">
            <a:extLst xmlns:a="http://schemas.openxmlformats.org/drawingml/2006/main">
              <a:ext uri="{FF2B5EF4-FFF2-40B4-BE49-F238E27FC236}">
                <a16:creationId xmlns:a16="http://schemas.microsoft.com/office/drawing/2014/main" id="{FAFD9E53-DC97-4E02-935E-43C0113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21024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LATER · shared-weight promotion은 evidence가 축적된 subset</a:t>
            </a:r>
          </a:p>
        </p:txBody>
      </p:sp>
      <p:sp>
        <p:nvSpPr>
          <p:cNvPr id="21" name="STC-14-dest-point-3">
            <a:extLst xmlns:a="http://schemas.openxmlformats.org/drawingml/2006/main">
              <a:ext uri="{FF2B5EF4-FFF2-40B4-BE49-F238E27FC236}">
                <a16:creationId xmlns:a16="http://schemas.microsoft.com/office/drawing/2014/main" id="{81BD56DE-5374-47E6-85A0-8F68AFB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4-dest-label-3">
            <a:extLst xmlns:a="http://schemas.openxmlformats.org/drawingml/2006/main">
              <a:ext uri="{FF2B5EF4-FFF2-40B4-BE49-F238E27FC236}">
                <a16:creationId xmlns:a16="http://schemas.microsoft.com/office/drawing/2014/main" id="{16BB544F-1EC5-481A-AF8B-75D2F18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2848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NOT YET</a:t>
            </a:r>
          </a:p>
        </p:txBody>
      </p:sp>
      <p:sp>
        <p:nvSpPr>
          <p:cNvPr id="23" name="STC-14-dest-sub-3">
            <a:extLst xmlns:a="http://schemas.openxmlformats.org/drawingml/2006/main">
              <a:ext uri="{FF2B5EF4-FFF2-40B4-BE49-F238E27FC236}">
                <a16:creationId xmlns:a16="http://schemas.microsoft.com/office/drawing/2014/main" id="{3C1968AF-3020-4EF5-9FFC-B8A8397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184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NOT YET · unbounded per-user self-training은 base case 아님</a:t>
            </a:r>
          </a:p>
        </p:txBody>
      </p:sp>
      <p:sp>
        <p:nvSpPr>
          <p:cNvPr id="24" name="STC-14-dest-point-4">
            <a:extLst xmlns:a="http://schemas.openxmlformats.org/drawingml/2006/main">
              <a:ext uri="{FF2B5EF4-FFF2-40B4-BE49-F238E27FC236}">
                <a16:creationId xmlns:a16="http://schemas.microsoft.com/office/drawing/2014/main" id="{FCACEA6F-573E-4989-905D-AF11172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14-dest-label-4">
            <a:extLst xmlns:a="http://schemas.openxmlformats.org/drawingml/2006/main">
              <a:ext uri="{FF2B5EF4-FFF2-40B4-BE49-F238E27FC236}">
                <a16:creationId xmlns:a16="http://schemas.microsoft.com/office/drawing/2014/main" id="{2679C120-1B1E-4E92-A950-B2B7C5F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883664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NOW</a:t>
            </a:r>
          </a:p>
        </p:txBody>
      </p:sp>
      <p:sp>
        <p:nvSpPr>
          <p:cNvPr id="26" name="STC-14-dest-sub-4">
            <a:extLst xmlns:a="http://schemas.openxmlformats.org/drawingml/2006/main">
              <a:ext uri="{FF2B5EF4-FFF2-40B4-BE49-F238E27FC236}">
                <a16:creationId xmlns:a16="http://schemas.microsoft.com/office/drawing/2014/main" id="{7218E91C-0DE3-461B-AD20-8837463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962656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NOW · external background synthesis와 memory policy 확산</a:t>
            </a:r>
          </a:p>
        </p:txBody>
      </p:sp>
      <p:sp>
        <p:nvSpPr>
          <p:cNvPr id="27" name="STC-14-dest-left-axis">
            <a:extLst xmlns:a="http://schemas.openxmlformats.org/drawingml/2006/main">
              <a:ext uri="{FF2B5EF4-FFF2-40B4-BE49-F238E27FC236}">
                <a16:creationId xmlns:a16="http://schemas.microsoft.com/office/drawing/2014/main" id="{D6DDF594-2A5A-4772-AC3B-C477225C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01184"/>
            <a:ext cx="34015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external background synthesis와 memory policy 확산</a:t>
            </a:r>
          </a:p>
        </p:txBody>
      </p:sp>
      <p:sp>
        <p:nvSpPr>
          <p:cNvPr id="28" name="STC-14-dest-right-axis">
            <a:extLst xmlns:a="http://schemas.openxmlformats.org/drawingml/2006/main">
              <a:ext uri="{FF2B5EF4-FFF2-40B4-BE49-F238E27FC236}">
                <a16:creationId xmlns:a16="http://schemas.microsoft.com/office/drawing/2014/main" id="{E90EDB08-B102-40A7-878A-3990D89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554480"/>
            <a:ext cx="38130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adapter·neural state를 high-reuse artifact로 추가</a:t>
            </a:r>
          </a:p>
        </p:txBody>
      </p:sp>
      <p:sp>
        <p:nvSpPr>
          <p:cNvPr id="29" name="STC-14-dest-rule">
            <a:extLst xmlns:a="http://schemas.openxmlformats.org/drawingml/2006/main">
              <a:ext uri="{FF2B5EF4-FFF2-40B4-BE49-F238E27FC236}">
                <a16:creationId xmlns:a16="http://schemas.microsoft.com/office/drawing/2014/main" id="{B5CD5C4C-7A13-4CD1-88BC-6DBC0905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5358384"/>
            <a:ext cx="801014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0" name="STC-14-dest-rule-text">
            <a:extLst xmlns:a="http://schemas.openxmlformats.org/drawingml/2006/main">
              <a:ext uri="{FF2B5EF4-FFF2-40B4-BE49-F238E27FC236}">
                <a16:creationId xmlns:a16="http://schemas.microsoft.com/office/drawing/2014/main" id="{F7D1A0B7-B3F1-4FC9-8422-C3CA6D3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495544"/>
            <a:ext cx="7571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이 축은 주류가 될 수 있지만 대부분 ‘sleep’이라는 이름이나 full-weight training 형태는 아닐 것이다.</a:t>
            </a:r>
          </a:p>
        </p:txBody>
      </p:sp>
    </p:spTree>
    <p:extLst>
      <p:ext uri="{BB962C8B-B14F-4D97-AF65-F5344CB8AC3E}">
        <p14:creationId xmlns:p14="http://schemas.microsoft.com/office/powerpoint/2010/main" val="205616992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STC-083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 scaling은 compute를 미래 query에 선불 배분하는 법칙이다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가설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§12 · STC-F016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83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WAKE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REUSE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GAIN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C̄ = C_wake + C_sleep / N_reuse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query 전 transform·training budget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SLEEP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총 FLOP보다 누가 언제 기다리고 몇 번 재사용하는지가 새 축을 만든다.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query가 도착한 뒤 latency-critical budget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STC-084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순가치는 quality gain에서 다섯 비용을 뺀 값이다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가설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Decision rule · STC-C035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84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VALUE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BUILD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SERVE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V = E_q[ΔU_q] − λC_build − αC_verify − βC_serve − γC_gov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future query 분포에서의 expected utility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VALUE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 budget은 gain이 아니라 lifecycle net value로 결정한다.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generate·train·compact 비용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7-section">
            <a:extLst xmlns:a="http://schemas.openxmlformats.org/drawingml/2006/main">
              <a:ext uri="{FF2B5EF4-FFF2-40B4-BE49-F238E27FC236}">
                <a16:creationId xmlns:a16="http://schemas.microsoft.com/office/drawing/2014/main" id="{50A8E72E-7C75-4390-A984-644C572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7-slide-id">
            <a:extLst xmlns:a="http://schemas.openxmlformats.org/drawingml/2006/main">
              <a:ext uri="{FF2B5EF4-FFF2-40B4-BE49-F238E27FC236}">
                <a16:creationId xmlns:a16="http://schemas.microsoft.com/office/drawing/2014/main" id="{5514060C-C7EE-4371-9780-78B67F8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STC-085</a:t>
            </a:r>
          </a:p>
        </p:txBody>
      </p:sp>
      <p:sp>
        <p:nvSpPr>
          <p:cNvPr id="4" name="STC-17-headline">
            <a:extLst xmlns:a="http://schemas.openxmlformats.org/drawingml/2006/main">
              <a:ext uri="{FF2B5EF4-FFF2-40B4-BE49-F238E27FC236}">
                <a16:creationId xmlns:a16="http://schemas.microsoft.com/office/drawing/2014/main" id="{493F2B83-D8E6-4D1C-951D-0BCF9CD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Compute scaling은 초기에 이득이 크고 뒤에는 포화한다</a:t>
            </a:r>
          </a:p>
        </p:txBody>
      </p:sp>
      <p:sp>
        <p:nvSpPr>
          <p:cNvPr id="5" name="STC-17-status-label">
            <a:extLst xmlns:a="http://schemas.openxmlformats.org/drawingml/2006/main">
              <a:ext uri="{FF2B5EF4-FFF2-40B4-BE49-F238E27FC236}">
                <a16:creationId xmlns:a16="http://schemas.microsoft.com/office/drawing/2014/main" id="{EC050CC0-B6E7-4F49-81AD-65A5A2A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검증 전 가설</a:t>
            </a:r>
          </a:p>
        </p:txBody>
      </p:sp>
      <p:sp>
        <p:nvSpPr>
          <p:cNvPr id="6" name="STC-17-status-rule">
            <a:extLst xmlns:a="http://schemas.openxmlformats.org/drawingml/2006/main">
              <a:ext uri="{FF2B5EF4-FFF2-40B4-BE49-F238E27FC236}">
                <a16:creationId xmlns:a16="http://schemas.microsoft.com/office/drawing/2014/main" id="{BE2F59F6-D180-4913-A2FC-2DA4E90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7-footer-rule">
            <a:extLst xmlns:a="http://schemas.openxmlformats.org/drawingml/2006/main">
              <a:ext uri="{FF2B5EF4-FFF2-40B4-BE49-F238E27FC236}">
                <a16:creationId xmlns:a16="http://schemas.microsoft.com/office/drawing/2014/main" id="{2866FD90-0A75-4C98-BDAD-E15B7D5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7-source-footer">
            <a:extLst xmlns:a="http://schemas.openxmlformats.org/drawingml/2006/main">
              <a:ext uri="{FF2B5EF4-FFF2-40B4-BE49-F238E27FC236}">
                <a16:creationId xmlns:a16="http://schemas.microsoft.com/office/drawing/2014/main" id="{47748FC0-BEB4-475B-A042-4C656B1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H1: sleep-compute response curve</a:t>
            </a:r>
          </a:p>
        </p:txBody>
      </p:sp>
      <p:sp>
        <p:nvSpPr>
          <p:cNvPr id="9" name="STC-17-page-number">
            <a:extLst xmlns:a="http://schemas.openxmlformats.org/drawingml/2006/main">
              <a:ext uri="{FF2B5EF4-FFF2-40B4-BE49-F238E27FC236}">
                <a16:creationId xmlns:a16="http://schemas.microsoft.com/office/drawing/2014/main" id="{BB999C45-69E3-40D6-B585-8635B07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85</a:t>
            </a:r>
          </a:p>
        </p:txBody>
      </p:sp>
      <p:sp>
        <p:nvSpPr>
          <p:cNvPr id="11" name="STC-17-scale-left-x">
            <a:extLst xmlns:a="http://schemas.openxmlformats.org/drawingml/2006/main">
              <a:ext uri="{FF2B5EF4-FFF2-40B4-BE49-F238E27FC236}">
                <a16:creationId xmlns:a16="http://schemas.microsoft.com/office/drawing/2014/main" id="{37549C12-7BA7-4F80-A013-376123D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20640"/>
            <a:ext cx="4251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7-scale-left-y">
            <a:extLst xmlns:a="http://schemas.openxmlformats.org/drawingml/2006/main">
              <a:ext uri="{FF2B5EF4-FFF2-40B4-BE49-F238E27FC236}">
                <a16:creationId xmlns:a16="http://schemas.microsoft.com/office/drawing/2014/main" id="{51B5707F-F499-486D-B754-A4C04EA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5840" y="187452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7-scale-left-xlabel">
            <a:extLst xmlns:a="http://schemas.openxmlformats.org/drawingml/2006/main">
              <a:ext uri="{FF2B5EF4-FFF2-40B4-BE49-F238E27FC236}">
                <a16:creationId xmlns:a16="http://schemas.microsoft.com/office/drawing/2014/main" id="{2BD01715-74E4-4BD3-A61D-6E5BEEA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26694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utility</a:t>
            </a:r>
          </a:p>
        </p:txBody>
      </p:sp>
      <p:sp>
        <p:nvSpPr>
          <p:cNvPr id="14" name="STC-17-scale-left-ylabel">
            <a:extLst xmlns:a="http://schemas.openxmlformats.org/drawingml/2006/main">
              <a:ext uri="{FF2B5EF4-FFF2-40B4-BE49-F238E27FC236}">
                <a16:creationId xmlns:a16="http://schemas.microsoft.com/office/drawing/2014/main" id="{8A3CB791-CC04-46DC-9F66-7EE4ED3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4360" y="176479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sleep compute</a:t>
            </a:r>
          </a:p>
        </p:txBody>
      </p:sp>
      <p:sp>
        <p:nvSpPr>
          <p:cNvPr id="15" name="STC-17-scale-external">
            <a:extLst xmlns:a="http://schemas.openxmlformats.org/drawingml/2006/main">
              <a:ext uri="{FF2B5EF4-FFF2-40B4-BE49-F238E27FC236}">
                <a16:creationId xmlns:a16="http://schemas.microsoft.com/office/drawing/2014/main" id="{746BD1C1-B538-42E8-980A-0422BEB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8720" y="2606040"/>
            <a:ext cx="3520440" cy="1874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7-scale-parametric">
            <a:extLst xmlns:a="http://schemas.openxmlformats.org/drawingml/2006/main">
              <a:ext uri="{FF2B5EF4-FFF2-40B4-BE49-F238E27FC236}">
                <a16:creationId xmlns:a16="http://schemas.microsoft.com/office/drawing/2014/main" id="{35D35A32-B071-4729-8C67-F37447D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3520440" cy="1965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9A442D"/>
            </a:solidFill>
            <a:prstDash val="solid"/>
            <a:tailEnd type="none"/>
          </a:ln>
        </p:spPr>
      </p:sp>
      <p:sp>
        <p:nvSpPr>
          <p:cNvPr id="17" name="STC-17-scale-cross">
            <a:extLst xmlns:a="http://schemas.openxmlformats.org/drawingml/2006/main">
              <a:ext uri="{FF2B5EF4-FFF2-40B4-BE49-F238E27FC236}">
                <a16:creationId xmlns:a16="http://schemas.microsoft.com/office/drawing/2014/main" id="{0F5C156F-BAA6-4566-8B5D-9262483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1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8" name="STC-17-scale-cross-label">
            <a:extLst xmlns:a="http://schemas.openxmlformats.org/drawingml/2006/main">
              <a:ext uri="{FF2B5EF4-FFF2-40B4-BE49-F238E27FC236}">
                <a16:creationId xmlns:a16="http://schemas.microsoft.com/office/drawing/2014/main" id="{5773B7A2-B372-4859-98D1-F909F596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54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saturation</a:t>
            </a:r>
          </a:p>
        </p:txBody>
      </p:sp>
      <p:sp>
        <p:nvSpPr>
          <p:cNvPr id="19" name="STC-17-scale-external-label">
            <a:extLst xmlns:a="http://schemas.openxmlformats.org/drawingml/2006/main">
              <a:ext uri="{FF2B5EF4-FFF2-40B4-BE49-F238E27FC236}">
                <a16:creationId xmlns:a16="http://schemas.microsoft.com/office/drawing/2014/main" id="{9E0CF856-7B4F-4375-940B-327132F4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9651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LOW</a:t>
            </a:r>
          </a:p>
        </p:txBody>
      </p:sp>
      <p:sp>
        <p:nvSpPr>
          <p:cNvPr id="20" name="STC-17-scale-parametric-label">
            <a:extLst xmlns:a="http://schemas.openxmlformats.org/drawingml/2006/main">
              <a:ext uri="{FF2B5EF4-FFF2-40B4-BE49-F238E27FC236}">
                <a16:creationId xmlns:a16="http://schemas.microsoft.com/office/drawing/2014/main" id="{5574E327-F62C-4E5E-8F70-5B427094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114800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21" name="STC-17-scale-divider">
            <a:extLst xmlns:a="http://schemas.openxmlformats.org/drawingml/2006/main">
              <a:ext uri="{FF2B5EF4-FFF2-40B4-BE49-F238E27FC236}">
                <a16:creationId xmlns:a16="http://schemas.microsoft.com/office/drawing/2014/main" id="{AC5030A1-F714-4CDE-88FA-4D60E22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55648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2" name="STC-17-atlas-label-0">
            <a:extLst xmlns:a="http://schemas.openxmlformats.org/drawingml/2006/main">
              <a:ext uri="{FF2B5EF4-FFF2-40B4-BE49-F238E27FC236}">
                <a16:creationId xmlns:a16="http://schemas.microsoft.com/office/drawing/2014/main" id="{DB01B8AC-9043-4E56-A897-AB76711F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709928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LOW</a:t>
            </a:r>
          </a:p>
        </p:txBody>
      </p:sp>
      <p:sp>
        <p:nvSpPr>
          <p:cNvPr id="23" name="STC-17-atlas-rule-0">
            <a:extLst xmlns:a="http://schemas.openxmlformats.org/drawingml/2006/main">
              <a:ext uri="{FF2B5EF4-FFF2-40B4-BE49-F238E27FC236}">
                <a16:creationId xmlns:a16="http://schemas.microsoft.com/office/drawing/2014/main" id="{C2D5188B-DACD-42C3-83FE-9BA504C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19656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7-atlas-body-0">
            <a:extLst xmlns:a="http://schemas.openxmlformats.org/drawingml/2006/main">
              <a:ext uri="{FF2B5EF4-FFF2-40B4-BE49-F238E27FC236}">
                <a16:creationId xmlns:a16="http://schemas.microsoft.com/office/drawing/2014/main" id="{237BC86C-5FCF-47EF-BB4A-1058775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682496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coverage 부족: 중요한 relation 미계산</a:t>
            </a:r>
          </a:p>
        </p:txBody>
      </p:sp>
      <p:sp>
        <p:nvSpPr>
          <p:cNvPr id="25" name="STC-17-atlas-label-1">
            <a:extLst xmlns:a="http://schemas.openxmlformats.org/drawingml/2006/main">
              <a:ext uri="{FF2B5EF4-FFF2-40B4-BE49-F238E27FC236}">
                <a16:creationId xmlns:a16="http://schemas.microsoft.com/office/drawing/2014/main" id="{E51AC899-D130-4122-8EC0-0F88697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96312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MID</a:t>
            </a:r>
          </a:p>
        </p:txBody>
      </p:sp>
      <p:sp>
        <p:nvSpPr>
          <p:cNvPr id="26" name="STC-17-atlas-rule-1">
            <a:extLst xmlns:a="http://schemas.openxmlformats.org/drawingml/2006/main">
              <a:ext uri="{FF2B5EF4-FFF2-40B4-BE49-F238E27FC236}">
                <a16:creationId xmlns:a16="http://schemas.microsoft.com/office/drawing/2014/main" id="{DCF90CCF-A5FB-448D-9B85-20BA689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60604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27" name="STC-17-atlas-body-1">
            <a:extLst xmlns:a="http://schemas.openxmlformats.org/drawingml/2006/main">
              <a:ext uri="{FF2B5EF4-FFF2-40B4-BE49-F238E27FC236}">
                <a16:creationId xmlns:a16="http://schemas.microsoft.com/office/drawing/2014/main" id="{A01A612E-35E7-462F-8A49-6C9C86F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468880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high-probability query를 빠르게 precompute</a:t>
            </a:r>
          </a:p>
        </p:txBody>
      </p:sp>
      <p:sp>
        <p:nvSpPr>
          <p:cNvPr id="28" name="STC-17-atlas-label-2">
            <a:extLst xmlns:a="http://schemas.openxmlformats.org/drawingml/2006/main">
              <a:ext uri="{FF2B5EF4-FFF2-40B4-BE49-F238E27FC236}">
                <a16:creationId xmlns:a16="http://schemas.microsoft.com/office/drawing/2014/main" id="{19B57C0F-66F6-4B39-99CB-991BEDD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82696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HIGH</a:t>
            </a:r>
          </a:p>
        </p:txBody>
      </p:sp>
      <p:sp>
        <p:nvSpPr>
          <p:cNvPr id="29" name="STC-17-atlas-rule-2">
            <a:extLst xmlns:a="http://schemas.openxmlformats.org/drawingml/2006/main">
              <a:ext uri="{FF2B5EF4-FFF2-40B4-BE49-F238E27FC236}">
                <a16:creationId xmlns:a16="http://schemas.microsoft.com/office/drawing/2014/main" id="{843B8D43-19A2-4542-9A8B-3145F30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39242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30" name="STC-17-atlas-body-2">
            <a:extLst xmlns:a="http://schemas.openxmlformats.org/drawingml/2006/main">
              <a:ext uri="{FF2B5EF4-FFF2-40B4-BE49-F238E27FC236}">
                <a16:creationId xmlns:a16="http://schemas.microsoft.com/office/drawing/2014/main" id="{63F02158-2EE8-444A-B0A1-353C1FA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255264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중복·irrelevant dream·verification debt 증가</a:t>
            </a:r>
          </a:p>
        </p:txBody>
      </p:sp>
      <p:sp>
        <p:nvSpPr>
          <p:cNvPr id="31" name="STC-17-atlas-label-3">
            <a:extLst xmlns:a="http://schemas.openxmlformats.org/drawingml/2006/main">
              <a:ext uri="{FF2B5EF4-FFF2-40B4-BE49-F238E27FC236}">
                <a16:creationId xmlns:a16="http://schemas.microsoft.com/office/drawing/2014/main" id="{771AA175-CCD3-4A7B-B823-58B34D5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69080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SHIFT</a:t>
            </a:r>
          </a:p>
        </p:txBody>
      </p:sp>
      <p:sp>
        <p:nvSpPr>
          <p:cNvPr id="32" name="STC-17-atlas-rule-3">
            <a:extLst xmlns:a="http://schemas.openxmlformats.org/drawingml/2006/main">
              <a:ext uri="{FF2B5EF4-FFF2-40B4-BE49-F238E27FC236}">
                <a16:creationId xmlns:a16="http://schemas.microsoft.com/office/drawing/2014/main" id="{26DD1B80-A1E6-4568-8C93-E63110B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7880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33" name="STC-17-atlas-body-3">
            <a:extLst xmlns:a="http://schemas.openxmlformats.org/drawingml/2006/main">
              <a:ext uri="{FF2B5EF4-FFF2-40B4-BE49-F238E27FC236}">
                <a16:creationId xmlns:a16="http://schemas.microsoft.com/office/drawing/2014/main" id="{D9EA77C8-C5CD-4A30-AB25-42A22790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041648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better policy가 curve를 위/왼쪽으로 이동</a:t>
            </a:r>
          </a:p>
        </p:txBody>
      </p:sp>
      <p:sp>
        <p:nvSpPr>
          <p:cNvPr id="34" name="STC-17-atlas-label-4">
            <a:extLst xmlns:a="http://schemas.openxmlformats.org/drawingml/2006/main">
              <a:ext uri="{FF2B5EF4-FFF2-40B4-BE49-F238E27FC236}">
                <a16:creationId xmlns:a16="http://schemas.microsoft.com/office/drawing/2014/main" id="{1A9044C5-74E3-419E-A7CD-BB1CC09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55464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LOW</a:t>
            </a:r>
          </a:p>
        </p:txBody>
      </p:sp>
      <p:sp>
        <p:nvSpPr>
          <p:cNvPr id="35" name="STC-17-atlas-rule-4">
            <a:extLst xmlns:a="http://schemas.openxmlformats.org/drawingml/2006/main">
              <a:ext uri="{FF2B5EF4-FFF2-40B4-BE49-F238E27FC236}">
                <a16:creationId xmlns:a16="http://schemas.microsoft.com/office/drawing/2014/main" id="{8B484F1D-3E6A-4E4D-9BF1-28386CD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96519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9616A"/>
            </a:solidFill>
            <a:prstDash val="solid"/>
            <a:tailEnd type="none"/>
          </a:ln>
        </p:spPr>
      </p:sp>
      <p:sp>
        <p:nvSpPr>
          <p:cNvPr id="36" name="STC-17-atlas-body-4">
            <a:extLst xmlns:a="http://schemas.openxmlformats.org/drawingml/2006/main">
              <a:ext uri="{FF2B5EF4-FFF2-40B4-BE49-F238E27FC236}">
                <a16:creationId xmlns:a16="http://schemas.microsoft.com/office/drawing/2014/main" id="{AD81ED4F-1A57-45B5-9758-E014A7B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828032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coverage 부족: 중요한 relation 미계산</a:t>
            </a:r>
          </a:p>
        </p:txBody>
      </p:sp>
      <p:sp>
        <p:nvSpPr>
          <p:cNvPr id="37" name="STC-17-scale-nonresult">
            <a:extLst xmlns:a="http://schemas.openxmlformats.org/drawingml/2006/main">
              <a:ext uri="{FF2B5EF4-FFF2-40B4-BE49-F238E27FC236}">
                <a16:creationId xmlns:a16="http://schemas.microsoft.com/office/drawing/2014/main" id="{1D42FAC3-382B-4CF4-A168-D6BE731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715000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무제한 sleep FLOP이 아니라 policy-conditioned diminishing return을 예상한다.</a:t>
            </a:r>
          </a:p>
        </p:txBody>
      </p:sp>
    </p:spTree>
    <p:extLst>
      <p:ext uri="{BB962C8B-B14F-4D97-AF65-F5344CB8AC3E}">
        <p14:creationId xmlns:p14="http://schemas.microsoft.com/office/powerpoint/2010/main" val="199046208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7-section">
            <a:extLst xmlns:a="http://schemas.openxmlformats.org/drawingml/2006/main">
              <a:ext uri="{FF2B5EF4-FFF2-40B4-BE49-F238E27FC236}">
                <a16:creationId xmlns:a16="http://schemas.microsoft.com/office/drawing/2014/main" id="{50A8E72E-7C75-4390-A984-644C572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7-slide-id">
            <a:extLst xmlns:a="http://schemas.openxmlformats.org/drawingml/2006/main">
              <a:ext uri="{FF2B5EF4-FFF2-40B4-BE49-F238E27FC236}">
                <a16:creationId xmlns:a16="http://schemas.microsoft.com/office/drawing/2014/main" id="{5514060C-C7EE-4371-9780-78B67F8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STC-086</a:t>
            </a:r>
          </a:p>
        </p:txBody>
      </p:sp>
      <p:sp>
        <p:nvSpPr>
          <p:cNvPr id="4" name="STC-17-headline">
            <a:extLst xmlns:a="http://schemas.openxmlformats.org/drawingml/2006/main">
              <a:ext uri="{FF2B5EF4-FFF2-40B4-BE49-F238E27FC236}">
                <a16:creationId xmlns:a16="http://schemas.microsoft.com/office/drawing/2014/main" id="{493F2B83-D8E6-4D1C-951D-0BCF9CD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Data scaling의 독립변수는 sample 수가 아니라 valid diversity다</a:t>
            </a:r>
          </a:p>
        </p:txBody>
      </p:sp>
      <p:sp>
        <p:nvSpPr>
          <p:cNvPr id="5" name="STC-17-status-label">
            <a:extLst xmlns:a="http://schemas.openxmlformats.org/drawingml/2006/main">
              <a:ext uri="{FF2B5EF4-FFF2-40B4-BE49-F238E27FC236}">
                <a16:creationId xmlns:a16="http://schemas.microsoft.com/office/drawing/2014/main" id="{EC050CC0-B6E7-4F49-81AD-65A5A2A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검증 전 가설</a:t>
            </a:r>
          </a:p>
        </p:txBody>
      </p:sp>
      <p:sp>
        <p:nvSpPr>
          <p:cNvPr id="6" name="STC-17-status-rule">
            <a:extLst xmlns:a="http://schemas.openxmlformats.org/drawingml/2006/main">
              <a:ext uri="{FF2B5EF4-FFF2-40B4-BE49-F238E27FC236}">
                <a16:creationId xmlns:a16="http://schemas.microsoft.com/office/drawing/2014/main" id="{BE2F59F6-D180-4913-A2FC-2DA4E90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7-footer-rule">
            <a:extLst xmlns:a="http://schemas.openxmlformats.org/drawingml/2006/main">
              <a:ext uri="{FF2B5EF4-FFF2-40B4-BE49-F238E27FC236}">
                <a16:creationId xmlns:a16="http://schemas.microsoft.com/office/drawing/2014/main" id="{2866FD90-0A75-4C98-BDAD-E15B7D5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7-source-footer">
            <a:extLst xmlns:a="http://schemas.openxmlformats.org/drawingml/2006/main">
              <a:ext uri="{FF2B5EF4-FFF2-40B4-BE49-F238E27FC236}">
                <a16:creationId xmlns:a16="http://schemas.microsoft.com/office/drawing/2014/main" id="{47748FC0-BEB4-475B-A042-4C656B1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H2: evidence-quality scaling</a:t>
            </a:r>
          </a:p>
        </p:txBody>
      </p:sp>
      <p:sp>
        <p:nvSpPr>
          <p:cNvPr id="9" name="STC-17-page-number">
            <a:extLst xmlns:a="http://schemas.openxmlformats.org/drawingml/2006/main">
              <a:ext uri="{FF2B5EF4-FFF2-40B4-BE49-F238E27FC236}">
                <a16:creationId xmlns:a16="http://schemas.microsoft.com/office/drawing/2014/main" id="{BB999C45-69E3-40D6-B585-8635B07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86</a:t>
            </a:r>
          </a:p>
        </p:txBody>
      </p:sp>
      <p:sp>
        <p:nvSpPr>
          <p:cNvPr id="11" name="STC-17-scale-left-x">
            <a:extLst xmlns:a="http://schemas.openxmlformats.org/drawingml/2006/main">
              <a:ext uri="{FF2B5EF4-FFF2-40B4-BE49-F238E27FC236}">
                <a16:creationId xmlns:a16="http://schemas.microsoft.com/office/drawing/2014/main" id="{37549C12-7BA7-4F80-A013-376123D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20640"/>
            <a:ext cx="4251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7-scale-left-y">
            <a:extLst xmlns:a="http://schemas.openxmlformats.org/drawingml/2006/main">
              <a:ext uri="{FF2B5EF4-FFF2-40B4-BE49-F238E27FC236}">
                <a16:creationId xmlns:a16="http://schemas.microsoft.com/office/drawing/2014/main" id="{51B5707F-F499-486D-B754-A4C04EA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5840" y="187452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7-scale-left-xlabel">
            <a:extLst xmlns:a="http://schemas.openxmlformats.org/drawingml/2006/main">
              <a:ext uri="{FF2B5EF4-FFF2-40B4-BE49-F238E27FC236}">
                <a16:creationId xmlns:a16="http://schemas.microsoft.com/office/drawing/2014/main" id="{2BD01715-74E4-4BD3-A61D-6E5BEEA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26694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VALID</a:t>
            </a:r>
          </a:p>
        </p:txBody>
      </p:sp>
      <p:sp>
        <p:nvSpPr>
          <p:cNvPr id="14" name="STC-17-scale-left-ylabel">
            <a:extLst xmlns:a="http://schemas.openxmlformats.org/drawingml/2006/main">
              <a:ext uri="{FF2B5EF4-FFF2-40B4-BE49-F238E27FC236}">
                <a16:creationId xmlns:a16="http://schemas.microsoft.com/office/drawing/2014/main" id="{8A3CB791-CC04-46DC-9F66-7EE4ED3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4360" y="176479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DIVERSE</a:t>
            </a:r>
          </a:p>
        </p:txBody>
      </p:sp>
      <p:sp>
        <p:nvSpPr>
          <p:cNvPr id="15" name="STC-17-scale-external">
            <a:extLst xmlns:a="http://schemas.openxmlformats.org/drawingml/2006/main">
              <a:ext uri="{FF2B5EF4-FFF2-40B4-BE49-F238E27FC236}">
                <a16:creationId xmlns:a16="http://schemas.microsoft.com/office/drawing/2014/main" id="{746BD1C1-B538-42E8-980A-0422BEB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8720" y="2606040"/>
            <a:ext cx="3520440" cy="1874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7-scale-parametric">
            <a:extLst xmlns:a="http://schemas.openxmlformats.org/drawingml/2006/main">
              <a:ext uri="{FF2B5EF4-FFF2-40B4-BE49-F238E27FC236}">
                <a16:creationId xmlns:a16="http://schemas.microsoft.com/office/drawing/2014/main" id="{35D35A32-B071-4729-8C67-F37447D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3520440" cy="1965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9A442D"/>
            </a:solidFill>
            <a:prstDash val="solid"/>
            <a:tailEnd type="none"/>
          </a:ln>
        </p:spPr>
      </p:sp>
      <p:sp>
        <p:nvSpPr>
          <p:cNvPr id="17" name="STC-17-scale-cross">
            <a:extLst xmlns:a="http://schemas.openxmlformats.org/drawingml/2006/main">
              <a:ext uri="{FF2B5EF4-FFF2-40B4-BE49-F238E27FC236}">
                <a16:creationId xmlns:a16="http://schemas.microsoft.com/office/drawing/2014/main" id="{0F5C156F-BAA6-4566-8B5D-9262483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1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8" name="STC-17-scale-cross-label">
            <a:extLst xmlns:a="http://schemas.openxmlformats.org/drawingml/2006/main">
              <a:ext uri="{FF2B5EF4-FFF2-40B4-BE49-F238E27FC236}">
                <a16:creationId xmlns:a16="http://schemas.microsoft.com/office/drawing/2014/main" id="{5773B7A2-B372-4859-98D1-F909F596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54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</a:t>
            </a:r>
          </a:p>
        </p:txBody>
      </p:sp>
      <p:sp>
        <p:nvSpPr>
          <p:cNvPr id="19" name="STC-17-scale-external-label">
            <a:extLst xmlns:a="http://schemas.openxmlformats.org/drawingml/2006/main">
              <a:ext uri="{FF2B5EF4-FFF2-40B4-BE49-F238E27FC236}">
                <a16:creationId xmlns:a16="http://schemas.microsoft.com/office/drawing/2014/main" id="{9E0CF856-7B4F-4375-940B-327132F4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9651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SYNTHETIC</a:t>
            </a:r>
          </a:p>
        </p:txBody>
      </p:sp>
      <p:sp>
        <p:nvSpPr>
          <p:cNvPr id="20" name="STC-17-scale-parametric-label">
            <a:extLst xmlns:a="http://schemas.openxmlformats.org/drawingml/2006/main">
              <a:ext uri="{FF2B5EF4-FFF2-40B4-BE49-F238E27FC236}">
                <a16:creationId xmlns:a16="http://schemas.microsoft.com/office/drawing/2014/main" id="{5574E327-F62C-4E5E-8F70-5B427094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114800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21" name="STC-17-scale-divider">
            <a:extLst xmlns:a="http://schemas.openxmlformats.org/drawingml/2006/main">
              <a:ext uri="{FF2B5EF4-FFF2-40B4-BE49-F238E27FC236}">
                <a16:creationId xmlns:a16="http://schemas.microsoft.com/office/drawing/2014/main" id="{AC5030A1-F714-4CDE-88FA-4D60E22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55648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2" name="STC-17-atlas-label-0">
            <a:extLst xmlns:a="http://schemas.openxmlformats.org/drawingml/2006/main">
              <a:ext uri="{FF2B5EF4-FFF2-40B4-BE49-F238E27FC236}">
                <a16:creationId xmlns:a16="http://schemas.microsoft.com/office/drawing/2014/main" id="{DB01B8AC-9043-4E56-A897-AB76711F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709928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VALID</a:t>
            </a:r>
          </a:p>
        </p:txBody>
      </p:sp>
      <p:sp>
        <p:nvSpPr>
          <p:cNvPr id="23" name="STC-17-atlas-rule-0">
            <a:extLst xmlns:a="http://schemas.openxmlformats.org/drawingml/2006/main">
              <a:ext uri="{FF2B5EF4-FFF2-40B4-BE49-F238E27FC236}">
                <a16:creationId xmlns:a16="http://schemas.microsoft.com/office/drawing/2014/main" id="{C2D5188B-DACD-42C3-83FE-9BA504C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19656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7-atlas-body-0">
            <a:extLst xmlns:a="http://schemas.openxmlformats.org/drawingml/2006/main">
              <a:ext uri="{FF2B5EF4-FFF2-40B4-BE49-F238E27FC236}">
                <a16:creationId xmlns:a16="http://schemas.microsoft.com/office/drawing/2014/main" id="{237BC86C-5FCF-47EF-BB4A-1058775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682496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grounded·consented·correct outcome</a:t>
            </a:r>
          </a:p>
        </p:txBody>
      </p:sp>
      <p:sp>
        <p:nvSpPr>
          <p:cNvPr id="25" name="STC-17-atlas-label-1">
            <a:extLst xmlns:a="http://schemas.openxmlformats.org/drawingml/2006/main">
              <a:ext uri="{FF2B5EF4-FFF2-40B4-BE49-F238E27FC236}">
                <a16:creationId xmlns:a16="http://schemas.microsoft.com/office/drawing/2014/main" id="{E51AC899-D130-4122-8EC0-0F88697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96312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DIVERSE</a:t>
            </a:r>
          </a:p>
        </p:txBody>
      </p:sp>
      <p:sp>
        <p:nvSpPr>
          <p:cNvPr id="26" name="STC-17-atlas-rule-1">
            <a:extLst xmlns:a="http://schemas.openxmlformats.org/drawingml/2006/main">
              <a:ext uri="{FF2B5EF4-FFF2-40B4-BE49-F238E27FC236}">
                <a16:creationId xmlns:a16="http://schemas.microsoft.com/office/drawing/2014/main" id="{DCF90CCF-A5FB-448D-9B85-20BA689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60604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27" name="STC-17-atlas-body-1">
            <a:extLst xmlns:a="http://schemas.openxmlformats.org/drawingml/2006/main">
              <a:ext uri="{FF2B5EF4-FFF2-40B4-BE49-F238E27FC236}">
                <a16:creationId xmlns:a16="http://schemas.microsoft.com/office/drawing/2014/main" id="{A01A612E-35E7-462F-8A49-6C9C86F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468880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task·time·failure mode coverage</a:t>
            </a:r>
          </a:p>
        </p:txBody>
      </p:sp>
      <p:sp>
        <p:nvSpPr>
          <p:cNvPr id="28" name="STC-17-atlas-label-2">
            <a:extLst xmlns:a="http://schemas.openxmlformats.org/drawingml/2006/main">
              <a:ext uri="{FF2B5EF4-FFF2-40B4-BE49-F238E27FC236}">
                <a16:creationId xmlns:a16="http://schemas.microsoft.com/office/drawing/2014/main" id="{19B57C0F-66F6-4B39-99CB-991BEDD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82696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REPLAY</a:t>
            </a:r>
          </a:p>
        </p:txBody>
      </p:sp>
      <p:sp>
        <p:nvSpPr>
          <p:cNvPr id="29" name="STC-17-atlas-rule-2">
            <a:extLst xmlns:a="http://schemas.openxmlformats.org/drawingml/2006/main">
              <a:ext uri="{FF2B5EF4-FFF2-40B4-BE49-F238E27FC236}">
                <a16:creationId xmlns:a16="http://schemas.microsoft.com/office/drawing/2014/main" id="{843B8D43-19A2-4542-9A8B-3145F30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39242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30" name="STC-17-atlas-body-2">
            <a:extLst xmlns:a="http://schemas.openxmlformats.org/drawingml/2006/main">
              <a:ext uri="{FF2B5EF4-FFF2-40B4-BE49-F238E27FC236}">
                <a16:creationId xmlns:a16="http://schemas.microsoft.com/office/drawing/2014/main" id="{63F02158-2EE8-444A-B0A1-353C1FA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255264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capability를 대표하는 support</a:t>
            </a:r>
          </a:p>
        </p:txBody>
      </p:sp>
      <p:sp>
        <p:nvSpPr>
          <p:cNvPr id="31" name="STC-17-atlas-label-3">
            <a:extLst xmlns:a="http://schemas.openxmlformats.org/drawingml/2006/main">
              <a:ext uri="{FF2B5EF4-FFF2-40B4-BE49-F238E27FC236}">
                <a16:creationId xmlns:a16="http://schemas.microsoft.com/office/drawing/2014/main" id="{771AA175-CCD3-4A7B-B823-58B34D5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69080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SYNTHETIC</a:t>
            </a:r>
          </a:p>
        </p:txBody>
      </p:sp>
      <p:sp>
        <p:nvSpPr>
          <p:cNvPr id="32" name="STC-17-atlas-rule-3">
            <a:extLst xmlns:a="http://schemas.openxmlformats.org/drawingml/2006/main">
              <a:ext uri="{FF2B5EF4-FFF2-40B4-BE49-F238E27FC236}">
                <a16:creationId xmlns:a16="http://schemas.microsoft.com/office/drawing/2014/main" id="{26DD1B80-A1E6-4568-8C93-E63110B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7880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33" name="STC-17-atlas-body-3">
            <a:extLst xmlns:a="http://schemas.openxmlformats.org/drawingml/2006/main">
              <a:ext uri="{FF2B5EF4-FFF2-40B4-BE49-F238E27FC236}">
                <a16:creationId xmlns:a16="http://schemas.microsoft.com/office/drawing/2014/main" id="{D9EA77C8-C5CD-4A30-AB25-42A22790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041648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real support를 넓히는 candidate</a:t>
            </a:r>
          </a:p>
        </p:txBody>
      </p:sp>
      <p:sp>
        <p:nvSpPr>
          <p:cNvPr id="34" name="STC-17-atlas-label-4">
            <a:extLst xmlns:a="http://schemas.openxmlformats.org/drawingml/2006/main">
              <a:ext uri="{FF2B5EF4-FFF2-40B4-BE49-F238E27FC236}">
                <a16:creationId xmlns:a16="http://schemas.microsoft.com/office/drawing/2014/main" id="{1A9044C5-74E3-419E-A7CD-BB1CC09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55464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POISON</a:t>
            </a:r>
          </a:p>
        </p:txBody>
      </p:sp>
      <p:sp>
        <p:nvSpPr>
          <p:cNvPr id="35" name="STC-17-atlas-rule-4">
            <a:extLst xmlns:a="http://schemas.openxmlformats.org/drawingml/2006/main">
              <a:ext uri="{FF2B5EF4-FFF2-40B4-BE49-F238E27FC236}">
                <a16:creationId xmlns:a16="http://schemas.microsoft.com/office/drawing/2014/main" id="{8B484F1D-3E6A-4E4D-9BF1-28386CD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96519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9616A"/>
            </a:solidFill>
            <a:prstDash val="solid"/>
            <a:tailEnd type="none"/>
          </a:ln>
        </p:spPr>
      </p:sp>
      <p:sp>
        <p:nvSpPr>
          <p:cNvPr id="36" name="STC-17-atlas-body-4">
            <a:extLst xmlns:a="http://schemas.openxmlformats.org/drawingml/2006/main">
              <a:ext uri="{FF2B5EF4-FFF2-40B4-BE49-F238E27FC236}">
                <a16:creationId xmlns:a16="http://schemas.microsoft.com/office/drawing/2014/main" id="{AD81ED4F-1A57-45B5-9758-E014A7B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828032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오류율이 durable harm으로 누적</a:t>
            </a:r>
          </a:p>
        </p:txBody>
      </p:sp>
      <p:sp>
        <p:nvSpPr>
          <p:cNvPr id="37" name="STC-17-scale-nonresult">
            <a:extLst xmlns:a="http://schemas.openxmlformats.org/drawingml/2006/main">
              <a:ext uri="{FF2B5EF4-FFF2-40B4-BE49-F238E27FC236}">
                <a16:creationId xmlns:a16="http://schemas.microsoft.com/office/drawing/2014/main" id="{1D42FAC3-382B-4CF4-A168-D6BE731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715000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같은 token budget에서도 provenance와 coverage가 effective data를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99046208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8-section">
            <a:extLst xmlns:a="http://schemas.openxmlformats.org/drawingml/2006/main">
              <a:ext uri="{FF2B5EF4-FFF2-40B4-BE49-F238E27FC236}">
                <a16:creationId xmlns:a16="http://schemas.microsoft.com/office/drawing/2014/main" id="{03FF8BA3-B545-4981-AA09-AE9216B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8-slide-id">
            <a:extLst xmlns:a="http://schemas.openxmlformats.org/drawingml/2006/main">
              <a:ext uri="{FF2B5EF4-FFF2-40B4-BE49-F238E27FC236}">
                <a16:creationId xmlns:a16="http://schemas.microsoft.com/office/drawing/2014/main" id="{C9FA6CD7-858C-4A3D-96FD-4CC651F6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STC-087</a:t>
            </a:r>
          </a:p>
        </p:txBody>
      </p:sp>
      <p:sp>
        <p:nvSpPr>
          <p:cNvPr id="4" name="STC-18-headline">
            <a:extLst xmlns:a="http://schemas.openxmlformats.org/drawingml/2006/main">
              <a:ext uri="{FF2B5EF4-FFF2-40B4-BE49-F238E27FC236}">
                <a16:creationId xmlns:a16="http://schemas.microsoft.com/office/drawing/2014/main" id="{C9C9B713-EF3A-4F15-9B5D-34C157E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Capacity scaling에는 utility knee와 interference cliff가 있다</a:t>
            </a:r>
          </a:p>
        </p:txBody>
      </p:sp>
      <p:sp>
        <p:nvSpPr>
          <p:cNvPr id="5" name="STC-18-status-label">
            <a:extLst xmlns:a="http://schemas.openxmlformats.org/drawingml/2006/main">
              <a:ext uri="{FF2B5EF4-FFF2-40B4-BE49-F238E27FC236}">
                <a16:creationId xmlns:a16="http://schemas.microsoft.com/office/drawing/2014/main" id="{3B46AB99-B070-4E4D-A702-12F9050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검증 전 가설</a:t>
            </a:r>
          </a:p>
        </p:txBody>
      </p:sp>
      <p:sp>
        <p:nvSpPr>
          <p:cNvPr id="6" name="STC-18-status-rule">
            <a:extLst xmlns:a="http://schemas.openxmlformats.org/drawingml/2006/main">
              <a:ext uri="{FF2B5EF4-FFF2-40B4-BE49-F238E27FC236}">
                <a16:creationId xmlns:a16="http://schemas.microsoft.com/office/drawing/2014/main" id="{8EFD1DA0-50D3-4AD4-87F6-7143D5EB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8-footer-rule">
            <a:extLst xmlns:a="http://schemas.openxmlformats.org/drawingml/2006/main">
              <a:ext uri="{FF2B5EF4-FFF2-40B4-BE49-F238E27FC236}">
                <a16:creationId xmlns:a16="http://schemas.microsoft.com/office/drawing/2014/main" id="{0532DB85-4109-43E6-AC94-2358F50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8-source-footer">
            <a:extLst xmlns:a="http://schemas.openxmlformats.org/drawingml/2006/main">
              <a:ext uri="{FF2B5EF4-FFF2-40B4-BE49-F238E27FC236}">
                <a16:creationId xmlns:a16="http://schemas.microsoft.com/office/drawing/2014/main" id="{F3EA8379-43EA-45C9-AC85-4061DC8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H3: capacity law · STC-F009</a:t>
            </a:r>
          </a:p>
        </p:txBody>
      </p:sp>
      <p:sp>
        <p:nvSpPr>
          <p:cNvPr id="9" name="STC-18-page-number">
            <a:extLst xmlns:a="http://schemas.openxmlformats.org/drawingml/2006/main">
              <a:ext uri="{FF2B5EF4-FFF2-40B4-BE49-F238E27FC236}">
                <a16:creationId xmlns:a16="http://schemas.microsoft.com/office/drawing/2014/main" id="{8DE00DF8-DD74-4458-8DDD-9413F0F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87</a:t>
            </a:r>
          </a:p>
        </p:txBody>
      </p:sp>
      <p:sp>
        <p:nvSpPr>
          <p:cNvPr id="11" name="STC-18-knee-axis-x">
            <a:extLst xmlns:a="http://schemas.openxmlformats.org/drawingml/2006/main">
              <a:ext uri="{FF2B5EF4-FFF2-40B4-BE49-F238E27FC236}">
                <a16:creationId xmlns:a16="http://schemas.microsoft.com/office/drawing/2014/main" id="{137B99DC-D78E-474C-948D-1C1A474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9280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8-knee-axis-y">
            <a:extLst xmlns:a="http://schemas.openxmlformats.org/drawingml/2006/main">
              <a:ext uri="{FF2B5EF4-FFF2-40B4-BE49-F238E27FC236}">
                <a16:creationId xmlns:a16="http://schemas.microsoft.com/office/drawing/2014/main" id="{2B1DBB35-82E7-49B9-9968-79EB961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43000" y="1691640"/>
            <a:ext cx="0" cy="3977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8-knee-axis-xlabel">
            <a:extLst xmlns:a="http://schemas.openxmlformats.org/drawingml/2006/main">
              <a:ext uri="{FF2B5EF4-FFF2-40B4-BE49-F238E27FC236}">
                <a16:creationId xmlns:a16="http://schemas.microsoft.com/office/drawing/2014/main" id="{9D4A94DC-71BA-4491-BE01-6A8FA8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8155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reachable utility</a:t>
            </a:r>
          </a:p>
        </p:txBody>
      </p:sp>
      <p:sp>
        <p:nvSpPr>
          <p:cNvPr id="14" name="STC-18-knee-axis-ylabel">
            <a:extLst xmlns:a="http://schemas.openxmlformats.org/drawingml/2006/main">
              <a:ext uri="{FF2B5EF4-FFF2-40B4-BE49-F238E27FC236}">
                <a16:creationId xmlns:a16="http://schemas.microsoft.com/office/drawing/2014/main" id="{BBDB0575-EAC2-4D00-889D-30EDB84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" y="158191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durable bytes</a:t>
            </a:r>
          </a:p>
        </p:txBody>
      </p:sp>
      <p:sp>
        <p:nvSpPr>
          <p:cNvPr id="15" name="STC-18-knee-seg-1">
            <a:extLst xmlns:a="http://schemas.openxmlformats.org/drawingml/2006/main">
              <a:ext uri="{FF2B5EF4-FFF2-40B4-BE49-F238E27FC236}">
                <a16:creationId xmlns:a16="http://schemas.microsoft.com/office/drawing/2014/main" id="{A875E417-9AE7-45EA-91F0-367BDDB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48840"/>
            <a:ext cx="1005840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8-knee-seg-2">
            <a:extLst xmlns:a="http://schemas.openxmlformats.org/drawingml/2006/main">
              <a:ext uri="{FF2B5EF4-FFF2-40B4-BE49-F238E27FC236}">
                <a16:creationId xmlns:a16="http://schemas.microsoft.com/office/drawing/2014/main" id="{D37E6579-10F6-4338-A1E4-70A3CAB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76272"/>
            <a:ext cx="100584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8-knee-seg-3">
            <a:extLst xmlns:a="http://schemas.openxmlformats.org/drawingml/2006/main">
              <a:ext uri="{FF2B5EF4-FFF2-40B4-BE49-F238E27FC236}">
                <a16:creationId xmlns:a16="http://schemas.microsoft.com/office/drawing/2014/main" id="{9051F1AF-A7F9-4D03-94EA-41936D1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86000"/>
            <a:ext cx="100584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18-knee-seg-4">
            <a:extLst xmlns:a="http://schemas.openxmlformats.org/drawingml/2006/main">
              <a:ext uri="{FF2B5EF4-FFF2-40B4-BE49-F238E27FC236}">
                <a16:creationId xmlns:a16="http://schemas.microsoft.com/office/drawing/2014/main" id="{B063ECE3-2EE8-45A4-A0F4-242E2ED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70048"/>
            <a:ext cx="100584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8-knee-seg-5">
            <a:extLst xmlns:a="http://schemas.openxmlformats.org/drawingml/2006/main">
              <a:ext uri="{FF2B5EF4-FFF2-40B4-BE49-F238E27FC236}">
                <a16:creationId xmlns:a16="http://schemas.microsoft.com/office/drawing/2014/main" id="{B0C6BCBB-C1A2-421E-BDCF-2B39BAFF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694176"/>
            <a:ext cx="1005840" cy="1298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8-knee-seg-6">
            <a:extLst xmlns:a="http://schemas.openxmlformats.org/drawingml/2006/main">
              <a:ext uri="{FF2B5EF4-FFF2-40B4-BE49-F238E27FC236}">
                <a16:creationId xmlns:a16="http://schemas.microsoft.com/office/drawing/2014/main" id="{C13B686D-15B9-429D-A73A-91969B5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92624"/>
            <a:ext cx="82296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18-knee-threshold">
            <a:extLst xmlns:a="http://schemas.openxmlformats.org/drawingml/2006/main">
              <a:ext uri="{FF2B5EF4-FFF2-40B4-BE49-F238E27FC236}">
                <a16:creationId xmlns:a16="http://schemas.microsoft.com/office/drawing/2014/main" id="{ED6FC06F-FE27-464D-B952-B7B3674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4368"/>
            <a:ext cx="6446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16A"/>
            </a:solidFill>
            <a:prstDash val="solid"/>
            <a:tailEnd type="none"/>
          </a:ln>
        </p:spPr>
      </p:sp>
      <p:sp>
        <p:nvSpPr>
          <p:cNvPr id="22" name="STC-18-knee-threshold-label">
            <a:extLst xmlns:a="http://schemas.openxmlformats.org/drawingml/2006/main">
              <a:ext uri="{FF2B5EF4-FFF2-40B4-BE49-F238E27FC236}">
                <a16:creationId xmlns:a16="http://schemas.microsoft.com/office/drawing/2014/main" id="{59682FA8-3C66-4E76-91DC-8A5B116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61488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knee / cliff</a:t>
            </a:r>
          </a:p>
        </p:txBody>
      </p:sp>
      <p:sp>
        <p:nvSpPr>
          <p:cNvPr id="23" name="STC-18-knee-marker">
            <a:extLst xmlns:a="http://schemas.openxmlformats.org/drawingml/2006/main">
              <a:ext uri="{FF2B5EF4-FFF2-40B4-BE49-F238E27FC236}">
                <a16:creationId xmlns:a16="http://schemas.microsoft.com/office/drawing/2014/main" id="{8CD36708-2795-42A2-B1FE-6BF35D2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8950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8-knee-keff">
            <a:extLst xmlns:a="http://schemas.openxmlformats.org/drawingml/2006/main">
              <a:ext uri="{FF2B5EF4-FFF2-40B4-BE49-F238E27FC236}">
                <a16:creationId xmlns:a16="http://schemas.microsoft.com/office/drawing/2014/main" id="{7092C48B-E617-41E2-A6F0-6377395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394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5" name="STC-18-knee-check-title">
            <a:extLst xmlns:a="http://schemas.openxmlformats.org/drawingml/2006/main">
              <a:ext uri="{FF2B5EF4-FFF2-40B4-BE49-F238E27FC236}">
                <a16:creationId xmlns:a16="http://schemas.microsoft.com/office/drawing/2014/main" id="{864F7F11-EE93-42F3-A376-3BC591E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83080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GROW</a:t>
            </a:r>
          </a:p>
        </p:txBody>
      </p:sp>
      <p:sp>
        <p:nvSpPr>
          <p:cNvPr id="26" name="STC-18-knee-checks-dot-0">
            <a:extLst xmlns:a="http://schemas.openxmlformats.org/drawingml/2006/main">
              <a:ext uri="{FF2B5EF4-FFF2-40B4-BE49-F238E27FC236}">
                <a16:creationId xmlns:a16="http://schemas.microsoft.com/office/drawing/2014/main" id="{4FB9D726-90DF-448D-9CB5-BD91AF1C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35000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7" name="STC-18-knee-checks-item-0">
            <a:extLst xmlns:a="http://schemas.openxmlformats.org/drawingml/2006/main">
              <a:ext uri="{FF2B5EF4-FFF2-40B4-BE49-F238E27FC236}">
                <a16:creationId xmlns:a16="http://schemas.microsoft.com/office/drawing/2014/main" id="{44C5ADE7-8C76-4DBA-8D57-28CFC56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40280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GROW</a:t>
            </a:r>
          </a:p>
        </p:txBody>
      </p:sp>
      <p:sp>
        <p:nvSpPr>
          <p:cNvPr id="28" name="STC-18-knee-checks-dot-1">
            <a:extLst xmlns:a="http://schemas.openxmlformats.org/drawingml/2006/main">
              <a:ext uri="{FF2B5EF4-FFF2-40B4-BE49-F238E27FC236}">
                <a16:creationId xmlns:a16="http://schemas.microsoft.com/office/drawing/2014/main" id="{AFC33FA9-F997-425E-804C-0F6AB52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077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9" name="STC-18-knee-checks-item-1">
            <a:extLst xmlns:a="http://schemas.openxmlformats.org/drawingml/2006/main">
              <a:ext uri="{FF2B5EF4-FFF2-40B4-BE49-F238E27FC236}">
                <a16:creationId xmlns:a16="http://schemas.microsoft.com/office/drawing/2014/main" id="{B8D75941-BBC2-4813-A867-3514688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98064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KNEE</a:t>
            </a:r>
          </a:p>
        </p:txBody>
      </p:sp>
      <p:sp>
        <p:nvSpPr>
          <p:cNvPr id="30" name="STC-18-knee-checks-dot-2">
            <a:extLst xmlns:a="http://schemas.openxmlformats.org/drawingml/2006/main">
              <a:ext uri="{FF2B5EF4-FFF2-40B4-BE49-F238E27FC236}">
                <a16:creationId xmlns:a16="http://schemas.microsoft.com/office/drawing/2014/main" id="{66418C93-8F2D-46E2-9FD7-A0EA74B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655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1" name="STC-18-knee-checks-item-2">
            <a:extLst xmlns:a="http://schemas.openxmlformats.org/drawingml/2006/main">
              <a:ext uri="{FF2B5EF4-FFF2-40B4-BE49-F238E27FC236}">
                <a16:creationId xmlns:a16="http://schemas.microsoft.com/office/drawing/2014/main" id="{1288401D-2643-4F1E-9987-2A81D7D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55848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CLIFF</a:t>
            </a:r>
          </a:p>
        </p:txBody>
      </p:sp>
      <p:sp>
        <p:nvSpPr>
          <p:cNvPr id="32" name="STC-18-knee-checks-dot-3">
            <a:extLst xmlns:a="http://schemas.openxmlformats.org/drawingml/2006/main">
              <a:ext uri="{FF2B5EF4-FFF2-40B4-BE49-F238E27FC236}">
                <a16:creationId xmlns:a16="http://schemas.microsoft.com/office/drawing/2014/main" id="{DCAC003D-887C-4D38-9EDF-160C916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233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3" name="STC-18-knee-checks-item-3">
            <a:extLst xmlns:a="http://schemas.openxmlformats.org/drawingml/2006/main">
              <a:ext uri="{FF2B5EF4-FFF2-40B4-BE49-F238E27FC236}">
                <a16:creationId xmlns:a16="http://schemas.microsoft.com/office/drawing/2014/main" id="{E51C09CD-2212-4C58-8553-16C319C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13632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RESET</a:t>
            </a:r>
          </a:p>
        </p:txBody>
      </p:sp>
      <p:sp>
        <p:nvSpPr>
          <p:cNvPr id="34" name="STC-18-knee-checks-dot-4">
            <a:extLst xmlns:a="http://schemas.openxmlformats.org/drawingml/2006/main">
              <a:ext uri="{FF2B5EF4-FFF2-40B4-BE49-F238E27FC236}">
                <a16:creationId xmlns:a16="http://schemas.microsoft.com/office/drawing/2014/main" id="{5919D9A1-A06F-4CAC-A455-916E57B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811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35" name="STC-18-knee-checks-item-4">
            <a:extLst xmlns:a="http://schemas.openxmlformats.org/drawingml/2006/main">
              <a:ext uri="{FF2B5EF4-FFF2-40B4-BE49-F238E27FC236}">
                <a16:creationId xmlns:a16="http://schemas.microsoft.com/office/drawing/2014/main" id="{D63F0508-B06F-4B5B-B222-9758774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471416"/>
            <a:ext cx="23134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GROW</a:t>
            </a:r>
          </a:p>
        </p:txBody>
      </p:sp>
      <p:sp>
        <p:nvSpPr>
          <p:cNvPr id="36" name="STC-18-knee-unidentified">
            <a:extLst xmlns:a="http://schemas.openxmlformats.org/drawingml/2006/main">
              <a:ext uri="{FF2B5EF4-FFF2-40B4-BE49-F238E27FC236}">
                <a16:creationId xmlns:a16="http://schemas.microsoft.com/office/drawing/2014/main" id="{2A3895EC-67C0-4742-BF11-ED63DC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230368"/>
            <a:ext cx="2706624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7" name="STC-18-knee-unidentified-text">
            <a:extLst xmlns:a="http://schemas.openxmlformats.org/drawingml/2006/main">
              <a:ext uri="{FF2B5EF4-FFF2-40B4-BE49-F238E27FC236}">
                <a16:creationId xmlns:a16="http://schemas.microsoft.com/office/drawing/2014/main" id="{3790EDB7-E6C9-4F80-B319-618B982E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404104"/>
            <a:ext cx="2432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용량은 parameter count가 아니라 reachable utility per byte로 측정한다.</a:t>
            </a:r>
          </a:p>
        </p:txBody>
      </p:sp>
    </p:spTree>
    <p:extLst>
      <p:ext uri="{BB962C8B-B14F-4D97-AF65-F5344CB8AC3E}">
        <p14:creationId xmlns:p14="http://schemas.microsoft.com/office/powerpoint/2010/main" val="171681671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7-section">
            <a:extLst xmlns:a="http://schemas.openxmlformats.org/drawingml/2006/main">
              <a:ext uri="{FF2B5EF4-FFF2-40B4-BE49-F238E27FC236}">
                <a16:creationId xmlns:a16="http://schemas.microsoft.com/office/drawing/2014/main" id="{50A8E72E-7C75-4390-A984-644C572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7-slide-id">
            <a:extLst xmlns:a="http://schemas.openxmlformats.org/drawingml/2006/main">
              <a:ext uri="{FF2B5EF4-FFF2-40B4-BE49-F238E27FC236}">
                <a16:creationId xmlns:a16="http://schemas.microsoft.com/office/drawing/2014/main" id="{5514060C-C7EE-4371-9780-78B67F8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STC-088</a:t>
            </a:r>
          </a:p>
        </p:txBody>
      </p:sp>
      <p:sp>
        <p:nvSpPr>
          <p:cNvPr id="4" name="STC-17-headline">
            <a:extLst xmlns:a="http://schemas.openxmlformats.org/drawingml/2006/main">
              <a:ext uri="{FF2B5EF4-FFF2-40B4-BE49-F238E27FC236}">
                <a16:creationId xmlns:a16="http://schemas.microsoft.com/office/drawing/2014/main" id="{493F2B83-D8E6-4D1C-951D-0BCF9CD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Reuse와 predictability가 sleep economics의 곱셈항이다</a:t>
            </a:r>
          </a:p>
        </p:txBody>
      </p:sp>
      <p:sp>
        <p:nvSpPr>
          <p:cNvPr id="5" name="STC-17-status-label">
            <a:extLst xmlns:a="http://schemas.openxmlformats.org/drawingml/2006/main">
              <a:ext uri="{FF2B5EF4-FFF2-40B4-BE49-F238E27FC236}">
                <a16:creationId xmlns:a16="http://schemas.microsoft.com/office/drawing/2014/main" id="{EC050CC0-B6E7-4F49-81AD-65A5A2A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검증 전 가설</a:t>
            </a:r>
          </a:p>
        </p:txBody>
      </p:sp>
      <p:sp>
        <p:nvSpPr>
          <p:cNvPr id="6" name="STC-17-status-rule">
            <a:extLst xmlns:a="http://schemas.openxmlformats.org/drawingml/2006/main">
              <a:ext uri="{FF2B5EF4-FFF2-40B4-BE49-F238E27FC236}">
                <a16:creationId xmlns:a16="http://schemas.microsoft.com/office/drawing/2014/main" id="{BE2F59F6-D180-4913-A2FC-2DA4E90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7-footer-rule">
            <a:extLst xmlns:a="http://schemas.openxmlformats.org/drawingml/2006/main">
              <a:ext uri="{FF2B5EF4-FFF2-40B4-BE49-F238E27FC236}">
                <a16:creationId xmlns:a16="http://schemas.microsoft.com/office/drawing/2014/main" id="{2866FD90-0A75-4C98-BDAD-E15B7D5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7-source-footer">
            <a:extLst xmlns:a="http://schemas.openxmlformats.org/drawingml/2006/main">
              <a:ext uri="{FF2B5EF4-FFF2-40B4-BE49-F238E27FC236}">
                <a16:creationId xmlns:a16="http://schemas.microsoft.com/office/drawing/2014/main" id="{47748FC0-BEB4-475B-A042-4C656B1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H4: amortization law</a:t>
            </a:r>
          </a:p>
        </p:txBody>
      </p:sp>
      <p:sp>
        <p:nvSpPr>
          <p:cNvPr id="9" name="STC-17-page-number">
            <a:extLst xmlns:a="http://schemas.openxmlformats.org/drawingml/2006/main">
              <a:ext uri="{FF2B5EF4-FFF2-40B4-BE49-F238E27FC236}">
                <a16:creationId xmlns:a16="http://schemas.microsoft.com/office/drawing/2014/main" id="{BB999C45-69E3-40D6-B585-8635B07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88</a:t>
            </a:r>
          </a:p>
        </p:txBody>
      </p:sp>
      <p:sp>
        <p:nvSpPr>
          <p:cNvPr id="11" name="STC-17-scale-left-x">
            <a:extLst xmlns:a="http://schemas.openxmlformats.org/drawingml/2006/main">
              <a:ext uri="{FF2B5EF4-FFF2-40B4-BE49-F238E27FC236}">
                <a16:creationId xmlns:a16="http://schemas.microsoft.com/office/drawing/2014/main" id="{37549C12-7BA7-4F80-A013-376123D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20640"/>
            <a:ext cx="4251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7-scale-left-y">
            <a:extLst xmlns:a="http://schemas.openxmlformats.org/drawingml/2006/main">
              <a:ext uri="{FF2B5EF4-FFF2-40B4-BE49-F238E27FC236}">
                <a16:creationId xmlns:a16="http://schemas.microsoft.com/office/drawing/2014/main" id="{51B5707F-F499-486D-B754-A4C04EA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5840" y="187452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7-scale-left-xlabel">
            <a:extLst xmlns:a="http://schemas.openxmlformats.org/drawingml/2006/main">
              <a:ext uri="{FF2B5EF4-FFF2-40B4-BE49-F238E27FC236}">
                <a16:creationId xmlns:a16="http://schemas.microsoft.com/office/drawing/2014/main" id="{2BD01715-74E4-4BD3-A61D-6E5BEEA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26694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REUSE</a:t>
            </a:r>
          </a:p>
        </p:txBody>
      </p:sp>
      <p:sp>
        <p:nvSpPr>
          <p:cNvPr id="14" name="STC-17-scale-left-ylabel">
            <a:extLst xmlns:a="http://schemas.openxmlformats.org/drawingml/2006/main">
              <a:ext uri="{FF2B5EF4-FFF2-40B4-BE49-F238E27FC236}">
                <a16:creationId xmlns:a16="http://schemas.microsoft.com/office/drawing/2014/main" id="{8A3CB791-CC04-46DC-9F66-7EE4ED3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4360" y="176479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HIT</a:t>
            </a:r>
          </a:p>
        </p:txBody>
      </p:sp>
      <p:sp>
        <p:nvSpPr>
          <p:cNvPr id="15" name="STC-17-scale-external">
            <a:extLst xmlns:a="http://schemas.openxmlformats.org/drawingml/2006/main">
              <a:ext uri="{FF2B5EF4-FFF2-40B4-BE49-F238E27FC236}">
                <a16:creationId xmlns:a16="http://schemas.microsoft.com/office/drawing/2014/main" id="{746BD1C1-B538-42E8-980A-0422BEB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8720" y="2606040"/>
            <a:ext cx="3520440" cy="1874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7-scale-parametric">
            <a:extLst xmlns:a="http://schemas.openxmlformats.org/drawingml/2006/main">
              <a:ext uri="{FF2B5EF4-FFF2-40B4-BE49-F238E27FC236}">
                <a16:creationId xmlns:a16="http://schemas.microsoft.com/office/drawing/2014/main" id="{35D35A32-B071-4729-8C67-F37447D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3520440" cy="1965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9A442D"/>
            </a:solidFill>
            <a:prstDash val="solid"/>
            <a:tailEnd type="none"/>
          </a:ln>
        </p:spPr>
      </p:sp>
      <p:sp>
        <p:nvSpPr>
          <p:cNvPr id="17" name="STC-17-scale-cross">
            <a:extLst xmlns:a="http://schemas.openxmlformats.org/drawingml/2006/main">
              <a:ext uri="{FF2B5EF4-FFF2-40B4-BE49-F238E27FC236}">
                <a16:creationId xmlns:a16="http://schemas.microsoft.com/office/drawing/2014/main" id="{0F5C156F-BAA6-4566-8B5D-9262483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1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8" name="STC-17-scale-cross-label">
            <a:extLst xmlns:a="http://schemas.openxmlformats.org/drawingml/2006/main">
              <a:ext uri="{FF2B5EF4-FFF2-40B4-BE49-F238E27FC236}">
                <a16:creationId xmlns:a16="http://schemas.microsoft.com/office/drawing/2014/main" id="{5773B7A2-B372-4859-98D1-F909F596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54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FRESH</a:t>
            </a:r>
          </a:p>
        </p:txBody>
      </p:sp>
      <p:sp>
        <p:nvSpPr>
          <p:cNvPr id="19" name="STC-17-scale-external-label">
            <a:extLst xmlns:a="http://schemas.openxmlformats.org/drawingml/2006/main">
              <a:ext uri="{FF2B5EF4-FFF2-40B4-BE49-F238E27FC236}">
                <a16:creationId xmlns:a16="http://schemas.microsoft.com/office/drawing/2014/main" id="{9E0CF856-7B4F-4375-940B-327132F4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9651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SHARE</a:t>
            </a:r>
          </a:p>
        </p:txBody>
      </p:sp>
      <p:sp>
        <p:nvSpPr>
          <p:cNvPr id="20" name="STC-17-scale-parametric-label">
            <a:extLst xmlns:a="http://schemas.openxmlformats.org/drawingml/2006/main">
              <a:ext uri="{FF2B5EF4-FFF2-40B4-BE49-F238E27FC236}">
                <a16:creationId xmlns:a16="http://schemas.microsoft.com/office/drawing/2014/main" id="{5574E327-F62C-4E5E-8F70-5B427094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114800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21" name="STC-17-scale-divider">
            <a:extLst xmlns:a="http://schemas.openxmlformats.org/drawingml/2006/main">
              <a:ext uri="{FF2B5EF4-FFF2-40B4-BE49-F238E27FC236}">
                <a16:creationId xmlns:a16="http://schemas.microsoft.com/office/drawing/2014/main" id="{AC5030A1-F714-4CDE-88FA-4D60E22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55648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2" name="STC-17-atlas-label-0">
            <a:extLst xmlns:a="http://schemas.openxmlformats.org/drawingml/2006/main">
              <a:ext uri="{FF2B5EF4-FFF2-40B4-BE49-F238E27FC236}">
                <a16:creationId xmlns:a16="http://schemas.microsoft.com/office/drawing/2014/main" id="{DB01B8AC-9043-4E56-A897-AB76711F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709928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REUSE</a:t>
            </a:r>
          </a:p>
        </p:txBody>
      </p:sp>
      <p:sp>
        <p:nvSpPr>
          <p:cNvPr id="23" name="STC-17-atlas-rule-0">
            <a:extLst xmlns:a="http://schemas.openxmlformats.org/drawingml/2006/main">
              <a:ext uri="{FF2B5EF4-FFF2-40B4-BE49-F238E27FC236}">
                <a16:creationId xmlns:a16="http://schemas.microsoft.com/office/drawing/2014/main" id="{C2D5188B-DACD-42C3-83FE-9BA504C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819656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7-atlas-body-0">
            <a:extLst xmlns:a="http://schemas.openxmlformats.org/drawingml/2006/main">
              <a:ext uri="{FF2B5EF4-FFF2-40B4-BE49-F238E27FC236}">
                <a16:creationId xmlns:a16="http://schemas.microsoft.com/office/drawing/2014/main" id="{237BC86C-5FCF-47EF-BB4A-1058775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682496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같은 context/domain state가 다시 조회되는 횟수</a:t>
            </a:r>
          </a:p>
        </p:txBody>
      </p:sp>
      <p:sp>
        <p:nvSpPr>
          <p:cNvPr id="25" name="STC-17-atlas-label-1">
            <a:extLst xmlns:a="http://schemas.openxmlformats.org/drawingml/2006/main">
              <a:ext uri="{FF2B5EF4-FFF2-40B4-BE49-F238E27FC236}">
                <a16:creationId xmlns:a16="http://schemas.microsoft.com/office/drawing/2014/main" id="{E51AC899-D130-4122-8EC0-0F88697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96312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HIT</a:t>
            </a:r>
          </a:p>
        </p:txBody>
      </p:sp>
      <p:sp>
        <p:nvSpPr>
          <p:cNvPr id="26" name="STC-17-atlas-rule-1">
            <a:extLst xmlns:a="http://schemas.openxmlformats.org/drawingml/2006/main">
              <a:ext uri="{FF2B5EF4-FFF2-40B4-BE49-F238E27FC236}">
                <a16:creationId xmlns:a16="http://schemas.microsoft.com/office/drawing/2014/main" id="{DCF90CCF-A5FB-448D-9B85-20BA689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60604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27" name="STC-17-atlas-body-1">
            <a:extLst xmlns:a="http://schemas.openxmlformats.org/drawingml/2006/main">
              <a:ext uri="{FF2B5EF4-FFF2-40B4-BE49-F238E27FC236}">
                <a16:creationId xmlns:a16="http://schemas.microsoft.com/office/drawing/2014/main" id="{A01A612E-35E7-462F-8A49-6C9C86F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468880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precomputed artifact가 실제 query에 유용한 확률</a:t>
            </a:r>
          </a:p>
        </p:txBody>
      </p:sp>
      <p:sp>
        <p:nvSpPr>
          <p:cNvPr id="28" name="STC-17-atlas-label-2">
            <a:extLst xmlns:a="http://schemas.openxmlformats.org/drawingml/2006/main">
              <a:ext uri="{FF2B5EF4-FFF2-40B4-BE49-F238E27FC236}">
                <a16:creationId xmlns:a16="http://schemas.microsoft.com/office/drawing/2014/main" id="{19B57C0F-66F6-4B39-99CB-991BEDD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82696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FRESH</a:t>
            </a:r>
          </a:p>
        </p:txBody>
      </p:sp>
      <p:sp>
        <p:nvSpPr>
          <p:cNvPr id="29" name="STC-17-atlas-rule-2">
            <a:extLst xmlns:a="http://schemas.openxmlformats.org/drawingml/2006/main">
              <a:ext uri="{FF2B5EF4-FFF2-40B4-BE49-F238E27FC236}">
                <a16:creationId xmlns:a16="http://schemas.microsoft.com/office/drawing/2014/main" id="{843B8D43-19A2-4542-9A8B-3145F30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39242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30" name="STC-17-atlas-body-2">
            <a:extLst xmlns:a="http://schemas.openxmlformats.org/drawingml/2006/main">
              <a:ext uri="{FF2B5EF4-FFF2-40B4-BE49-F238E27FC236}">
                <a16:creationId xmlns:a16="http://schemas.microsoft.com/office/drawing/2014/main" id="{63F02158-2EE8-444A-B0A1-353C1FA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255264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artifact가 invalidation 전 유효한 기간</a:t>
            </a:r>
          </a:p>
        </p:txBody>
      </p:sp>
      <p:sp>
        <p:nvSpPr>
          <p:cNvPr id="31" name="STC-17-atlas-label-3">
            <a:extLst xmlns:a="http://schemas.openxmlformats.org/drawingml/2006/main">
              <a:ext uri="{FF2B5EF4-FFF2-40B4-BE49-F238E27FC236}">
                <a16:creationId xmlns:a16="http://schemas.microsoft.com/office/drawing/2014/main" id="{771AA175-CCD3-4A7B-B823-58B34D5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69080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SHARE</a:t>
            </a:r>
          </a:p>
        </p:txBody>
      </p:sp>
      <p:sp>
        <p:nvSpPr>
          <p:cNvPr id="32" name="STC-17-atlas-rule-3">
            <a:extLst xmlns:a="http://schemas.openxmlformats.org/drawingml/2006/main">
              <a:ext uri="{FF2B5EF4-FFF2-40B4-BE49-F238E27FC236}">
                <a16:creationId xmlns:a16="http://schemas.microsoft.com/office/drawing/2014/main" id="{26DD1B80-A1E6-4568-8C93-E63110B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7880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33" name="STC-17-atlas-body-3">
            <a:extLst xmlns:a="http://schemas.openxmlformats.org/drawingml/2006/main">
              <a:ext uri="{FF2B5EF4-FFF2-40B4-BE49-F238E27FC236}">
                <a16:creationId xmlns:a16="http://schemas.microsoft.com/office/drawing/2014/main" id="{D9EA77C8-C5CD-4A30-AB25-42A22790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041648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여러 tenant/query가 안전하게 공동 사용</a:t>
            </a:r>
          </a:p>
        </p:txBody>
      </p:sp>
      <p:sp>
        <p:nvSpPr>
          <p:cNvPr id="34" name="STC-17-atlas-label-4">
            <a:extLst xmlns:a="http://schemas.openxmlformats.org/drawingml/2006/main">
              <a:ext uri="{FF2B5EF4-FFF2-40B4-BE49-F238E27FC236}">
                <a16:creationId xmlns:a16="http://schemas.microsoft.com/office/drawing/2014/main" id="{1A9044C5-74E3-419E-A7CD-BB1CC09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55464"/>
            <a:ext cx="1664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REUSE</a:t>
            </a:r>
          </a:p>
        </p:txBody>
      </p:sp>
      <p:sp>
        <p:nvSpPr>
          <p:cNvPr id="35" name="STC-17-atlas-rule-4">
            <a:extLst xmlns:a="http://schemas.openxmlformats.org/drawingml/2006/main">
              <a:ext uri="{FF2B5EF4-FFF2-40B4-BE49-F238E27FC236}">
                <a16:creationId xmlns:a16="http://schemas.microsoft.com/office/drawing/2014/main" id="{8B484F1D-3E6A-4E4D-9BF1-28386CD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96519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9616A"/>
            </a:solidFill>
            <a:prstDash val="solid"/>
            <a:tailEnd type="none"/>
          </a:ln>
        </p:spPr>
      </p:sp>
      <p:sp>
        <p:nvSpPr>
          <p:cNvPr id="36" name="STC-17-atlas-body-4">
            <a:extLst xmlns:a="http://schemas.openxmlformats.org/drawingml/2006/main">
              <a:ext uri="{FF2B5EF4-FFF2-40B4-BE49-F238E27FC236}">
                <a16:creationId xmlns:a16="http://schemas.microsoft.com/office/drawing/2014/main" id="{AD81ED4F-1A57-45B5-9758-E014A7B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828032"/>
            <a:ext cx="2167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같은 context/domain state가 다시 조회되는 횟수</a:t>
            </a:r>
          </a:p>
        </p:txBody>
      </p:sp>
      <p:sp>
        <p:nvSpPr>
          <p:cNvPr id="37" name="STC-17-scale-nonresult">
            <a:extLst xmlns:a="http://schemas.openxmlformats.org/drawingml/2006/main">
              <a:ext uri="{FF2B5EF4-FFF2-40B4-BE49-F238E27FC236}">
                <a16:creationId xmlns:a16="http://schemas.microsoft.com/office/drawing/2014/main" id="{1D42FAC3-382B-4CF4-A168-D6BE731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715000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One-shot·volatile·unpredictable workload에서는 sleep이 구조적으로 불리하다.</a:t>
            </a:r>
          </a:p>
        </p:txBody>
      </p:sp>
    </p:spTree>
    <p:extLst>
      <p:ext uri="{BB962C8B-B14F-4D97-AF65-F5344CB8AC3E}">
        <p14:creationId xmlns:p14="http://schemas.microsoft.com/office/powerpoint/2010/main" val="199046208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9-section">
            <a:extLst xmlns:a="http://schemas.openxmlformats.org/drawingml/2006/main">
              <a:ext uri="{FF2B5EF4-FFF2-40B4-BE49-F238E27FC236}">
                <a16:creationId xmlns:a16="http://schemas.microsoft.com/office/drawing/2014/main" id="{72735180-733F-440B-AA71-6AFB4D1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9-slide-id">
            <a:extLst xmlns:a="http://schemas.openxmlformats.org/drawingml/2006/main">
              <a:ext uri="{FF2B5EF4-FFF2-40B4-BE49-F238E27FC236}">
                <a16:creationId xmlns:a16="http://schemas.microsoft.com/office/drawing/2014/main" id="{332DE14B-FF3F-4EAE-89A9-1296907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STC-089</a:t>
            </a:r>
          </a:p>
        </p:txBody>
      </p:sp>
      <p:sp>
        <p:nvSpPr>
          <p:cNvPr id="4" name="STC-19-headline">
            <a:extLst xmlns:a="http://schemas.openxmlformats.org/drawingml/2006/main">
              <a:ext uri="{FF2B5EF4-FFF2-40B4-BE49-F238E27FC236}">
                <a16:creationId xmlns:a16="http://schemas.microsoft.com/office/drawing/2014/main" id="{7A8141DD-42BF-47AC-9E88-5319735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Cadence scaling은 staleness와 batch efficiency를 교환한다</a:t>
            </a:r>
          </a:p>
        </p:txBody>
      </p:sp>
      <p:sp>
        <p:nvSpPr>
          <p:cNvPr id="5" name="STC-19-status-label">
            <a:extLst xmlns:a="http://schemas.openxmlformats.org/drawingml/2006/main">
              <a:ext uri="{FF2B5EF4-FFF2-40B4-BE49-F238E27FC236}">
                <a16:creationId xmlns:a16="http://schemas.microsoft.com/office/drawing/2014/main" id="{399B087E-C0A4-444C-ABDC-29B791B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검증 전 가설</a:t>
            </a:r>
          </a:p>
        </p:txBody>
      </p:sp>
      <p:sp>
        <p:nvSpPr>
          <p:cNvPr id="6" name="STC-19-status-rule">
            <a:extLst xmlns:a="http://schemas.openxmlformats.org/drawingml/2006/main">
              <a:ext uri="{FF2B5EF4-FFF2-40B4-BE49-F238E27FC236}">
                <a16:creationId xmlns:a16="http://schemas.microsoft.com/office/drawing/2014/main" id="{C9DE080A-C5CF-46E3-A596-19E1069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9-footer-rule">
            <a:extLst xmlns:a="http://schemas.openxmlformats.org/drawingml/2006/main">
              <a:ext uri="{FF2B5EF4-FFF2-40B4-BE49-F238E27FC236}">
                <a16:creationId xmlns:a16="http://schemas.microsoft.com/office/drawing/2014/main" id="{69190047-2B97-4AC6-9464-26EFF236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9-source-footer">
            <a:extLst xmlns:a="http://schemas.openxmlformats.org/drawingml/2006/main">
              <a:ext uri="{FF2B5EF4-FFF2-40B4-BE49-F238E27FC236}">
                <a16:creationId xmlns:a16="http://schemas.microsoft.com/office/drawing/2014/main" id="{488C6145-8346-431D-87E6-2FC14B1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H5: refresh-cadence law</a:t>
            </a:r>
          </a:p>
        </p:txBody>
      </p:sp>
      <p:sp>
        <p:nvSpPr>
          <p:cNvPr id="9" name="STC-19-page-number">
            <a:extLst xmlns:a="http://schemas.openxmlformats.org/drawingml/2006/main">
              <a:ext uri="{FF2B5EF4-FFF2-40B4-BE49-F238E27FC236}">
                <a16:creationId xmlns:a16="http://schemas.microsoft.com/office/drawing/2014/main" id="{23C4055E-6D2C-4283-B0BB-5C60654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89</a:t>
            </a:r>
          </a:p>
        </p:txBody>
      </p:sp>
      <p:sp>
        <p:nvSpPr>
          <p:cNvPr id="11" name="STC-19-cadence-axis-x">
            <a:extLst xmlns:a="http://schemas.openxmlformats.org/drawingml/2006/main">
              <a:ext uri="{FF2B5EF4-FFF2-40B4-BE49-F238E27FC236}">
                <a16:creationId xmlns:a16="http://schemas.microsoft.com/office/drawing/2014/main" id="{2A58C3D7-FA95-4586-9075-AAA41EE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58384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9-cadence-axis-y">
            <a:extLst xmlns:a="http://schemas.openxmlformats.org/drawingml/2006/main">
              <a:ext uri="{FF2B5EF4-FFF2-40B4-BE49-F238E27FC236}">
                <a16:creationId xmlns:a16="http://schemas.microsoft.com/office/drawing/2014/main" id="{13842283-0E4F-434B-88BF-6BF0A06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8680" y="1810512"/>
            <a:ext cx="0" cy="3547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9-cadence-axis-xlabel">
            <a:extLst xmlns:a="http://schemas.openxmlformats.org/drawingml/2006/main">
              <a:ext uri="{FF2B5EF4-FFF2-40B4-BE49-F238E27FC236}">
                <a16:creationId xmlns:a16="http://schemas.microsoft.com/office/drawing/2014/main" id="{8F0CB04A-91D9-4A3C-8187-295C0F9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504688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FAST</a:t>
            </a:r>
          </a:p>
        </p:txBody>
      </p:sp>
      <p:sp>
        <p:nvSpPr>
          <p:cNvPr id="14" name="STC-19-cadence-axis-ylabel">
            <a:extLst xmlns:a="http://schemas.openxmlformats.org/drawingml/2006/main">
              <a:ext uri="{FF2B5EF4-FFF2-40B4-BE49-F238E27FC236}">
                <a16:creationId xmlns:a16="http://schemas.microsoft.com/office/drawing/2014/main" id="{3A60BEFB-6139-43EB-B820-ABBE8E0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57200" y="17007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SLOW</a:t>
            </a:r>
          </a:p>
        </p:txBody>
      </p:sp>
      <p:sp>
        <p:nvSpPr>
          <p:cNvPr id="15" name="STC-19-cadence-down-1">
            <a:extLst xmlns:a="http://schemas.openxmlformats.org/drawingml/2006/main">
              <a:ext uri="{FF2B5EF4-FFF2-40B4-BE49-F238E27FC236}">
                <a16:creationId xmlns:a16="http://schemas.microsoft.com/office/drawing/2014/main" id="{688872F8-DE47-43CB-95CA-7075B61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2848"/>
            <a:ext cx="7315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9-cadence-down-2">
            <a:extLst xmlns:a="http://schemas.openxmlformats.org/drawingml/2006/main">
              <a:ext uri="{FF2B5EF4-FFF2-40B4-BE49-F238E27FC236}">
                <a16:creationId xmlns:a16="http://schemas.microsoft.com/office/drawing/2014/main" id="{B09B6DF5-5CCB-4031-ADC8-AB75D62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468880"/>
            <a:ext cx="73152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9-cadence-up-1">
            <a:extLst xmlns:a="http://schemas.openxmlformats.org/drawingml/2006/main">
              <a:ext uri="{FF2B5EF4-FFF2-40B4-BE49-F238E27FC236}">
                <a16:creationId xmlns:a16="http://schemas.microsoft.com/office/drawing/2014/main" id="{F764C959-5D42-410C-80A2-122961E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999232"/>
            <a:ext cx="73152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8" name="STC-19-cadence-up-2">
            <a:extLst xmlns:a="http://schemas.openxmlformats.org/drawingml/2006/main">
              <a:ext uri="{FF2B5EF4-FFF2-40B4-BE49-F238E27FC236}">
                <a16:creationId xmlns:a16="http://schemas.microsoft.com/office/drawing/2014/main" id="{45BD15EE-A78A-4DB0-9389-F6AA9BA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639312"/>
            <a:ext cx="73152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9-cadence-up-3">
            <a:extLst xmlns:a="http://schemas.openxmlformats.org/drawingml/2006/main">
              <a:ext uri="{FF2B5EF4-FFF2-40B4-BE49-F238E27FC236}">
                <a16:creationId xmlns:a16="http://schemas.microsoft.com/office/drawing/2014/main" id="{4F71F976-E3CE-480C-A678-A81BF64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425696"/>
            <a:ext cx="77724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9-cadence-opt">
            <a:extLst xmlns:a="http://schemas.openxmlformats.org/drawingml/2006/main">
              <a:ext uri="{FF2B5EF4-FFF2-40B4-BE49-F238E27FC236}">
                <a16:creationId xmlns:a16="http://schemas.microsoft.com/office/drawing/2014/main" id="{C349F6AA-D45D-4780-8532-9F7858A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36499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9-cadence-opt-label">
            <a:extLst xmlns:a="http://schemas.openxmlformats.org/drawingml/2006/main">
              <a:ext uri="{FF2B5EF4-FFF2-40B4-BE49-F238E27FC236}">
                <a16:creationId xmlns:a16="http://schemas.microsoft.com/office/drawing/2014/main" id="{4B2F8C1A-9F81-4CEB-9FBF-7D771B4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694176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RISK</a:t>
            </a:r>
          </a:p>
        </p:txBody>
      </p:sp>
      <p:sp>
        <p:nvSpPr>
          <p:cNvPr id="22" name="STC-19-cadence-run">
            <a:extLst xmlns:a="http://schemas.openxmlformats.org/drawingml/2006/main">
              <a:ext uri="{FF2B5EF4-FFF2-40B4-BE49-F238E27FC236}">
                <a16:creationId xmlns:a16="http://schemas.microsoft.com/office/drawing/2014/main" id="{29265B41-3F65-4BA9-B47F-97DEC33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97480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OPTIMUM</a:t>
            </a:r>
          </a:p>
        </p:txBody>
      </p:sp>
      <p:sp>
        <p:nvSpPr>
          <p:cNvPr id="23" name="STC-19-cadence-stale">
            <a:extLst xmlns:a="http://schemas.openxmlformats.org/drawingml/2006/main">
              <a:ext uri="{FF2B5EF4-FFF2-40B4-BE49-F238E27FC236}">
                <a16:creationId xmlns:a16="http://schemas.microsoft.com/office/drawing/2014/main" id="{6A86FAF2-6BD3-4891-8AA2-93F44E6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941064"/>
            <a:ext cx="9326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FAST</a:t>
            </a:r>
          </a:p>
        </p:txBody>
      </p:sp>
      <p:sp>
        <p:nvSpPr>
          <p:cNvPr id="24" name="STC-19-service-divider">
            <a:extLst xmlns:a="http://schemas.openxmlformats.org/drawingml/2006/main">
              <a:ext uri="{FF2B5EF4-FFF2-40B4-BE49-F238E27FC236}">
                <a16:creationId xmlns:a16="http://schemas.microsoft.com/office/drawing/2014/main" id="{FD0702B6-B84E-41BD-B25C-7947118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91640"/>
            <a:ext cx="0" cy="4041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5" name="STC-19-queue-title">
            <a:extLst xmlns:a="http://schemas.openxmlformats.org/drawingml/2006/main">
              <a:ext uri="{FF2B5EF4-FFF2-40B4-BE49-F238E27FC236}">
                <a16:creationId xmlns:a16="http://schemas.microsoft.com/office/drawing/2014/main" id="{136E3461-58C4-4366-AEE0-C4C5EBD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190195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SLOW</a:t>
            </a:r>
          </a:p>
        </p:txBody>
      </p:sp>
      <p:sp>
        <p:nvSpPr>
          <p:cNvPr id="26" name="STC-19-queue-equation">
            <a:extLst xmlns:a="http://schemas.openxmlformats.org/drawingml/2006/main">
              <a:ext uri="{FF2B5EF4-FFF2-40B4-BE49-F238E27FC236}">
                <a16:creationId xmlns:a16="http://schemas.microsoft.com/office/drawing/2014/main" id="{6E21EE85-C8A4-4122-A898-9DBCFE1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33172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T* = argmin_T C_batch(T)+C_stale(T)+C_risk(T)</a:t>
            </a:r>
          </a:p>
        </p:txBody>
      </p:sp>
      <p:sp>
        <p:nvSpPr>
          <p:cNvPr id="27" name="STC-19-queue-list-dot-0">
            <a:extLst xmlns:a="http://schemas.openxmlformats.org/drawingml/2006/main">
              <a:ext uri="{FF2B5EF4-FFF2-40B4-BE49-F238E27FC236}">
                <a16:creationId xmlns:a16="http://schemas.microsoft.com/office/drawing/2014/main" id="{D6851AC5-7349-4D22-99A3-9D6F997C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8" name="STC-19-queue-list-item-0">
            <a:extLst xmlns:a="http://schemas.openxmlformats.org/drawingml/2006/main">
              <a:ext uri="{FF2B5EF4-FFF2-40B4-BE49-F238E27FC236}">
                <a16:creationId xmlns:a16="http://schemas.microsoft.com/office/drawing/2014/main" id="{86654F43-C2C8-4C11-AA96-6689829B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090672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FAST</a:t>
            </a:r>
          </a:p>
        </p:txBody>
      </p:sp>
      <p:sp>
        <p:nvSpPr>
          <p:cNvPr id="29" name="STC-19-queue-list-dot-1">
            <a:extLst xmlns:a="http://schemas.openxmlformats.org/drawingml/2006/main">
              <a:ext uri="{FF2B5EF4-FFF2-40B4-BE49-F238E27FC236}">
                <a16:creationId xmlns:a16="http://schemas.microsoft.com/office/drawing/2014/main" id="{40D0A80D-1E95-48FE-AE00-258C62FF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764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0" name="STC-19-queue-list-item-1">
            <a:extLst xmlns:a="http://schemas.openxmlformats.org/drawingml/2006/main">
              <a:ext uri="{FF2B5EF4-FFF2-40B4-BE49-F238E27FC236}">
                <a16:creationId xmlns:a16="http://schemas.microsoft.com/office/drawing/2014/main" id="{62249E20-CB9F-42F7-9624-CAB5E32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666744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SLOW</a:t>
            </a:r>
          </a:p>
        </p:txBody>
      </p:sp>
      <p:sp>
        <p:nvSpPr>
          <p:cNvPr id="31" name="STC-19-queue-list-dot-2">
            <a:extLst xmlns:a="http://schemas.openxmlformats.org/drawingml/2006/main">
              <a:ext uri="{FF2B5EF4-FFF2-40B4-BE49-F238E27FC236}">
                <a16:creationId xmlns:a16="http://schemas.microsoft.com/office/drawing/2014/main" id="{E496E215-F79B-469B-BBE8-CF8EF9C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3525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2" name="STC-19-queue-list-item-2">
            <a:extLst xmlns:a="http://schemas.openxmlformats.org/drawingml/2006/main">
              <a:ext uri="{FF2B5EF4-FFF2-40B4-BE49-F238E27FC236}">
                <a16:creationId xmlns:a16="http://schemas.microsoft.com/office/drawing/2014/main" id="{FFB533E4-70D8-4C8C-B351-8321BED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242816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RISK</a:t>
            </a:r>
          </a:p>
        </p:txBody>
      </p:sp>
      <p:sp>
        <p:nvSpPr>
          <p:cNvPr id="33" name="STC-19-queue-list-dot-3">
            <a:extLst xmlns:a="http://schemas.openxmlformats.org/drawingml/2006/main">
              <a:ext uri="{FF2B5EF4-FFF2-40B4-BE49-F238E27FC236}">
                <a16:creationId xmlns:a16="http://schemas.microsoft.com/office/drawing/2014/main" id="{00CE8CBC-7ACA-42B9-B806-4B09AB7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2861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4" name="STC-19-queue-list-item-3">
            <a:extLst xmlns:a="http://schemas.openxmlformats.org/drawingml/2006/main">
              <a:ext uri="{FF2B5EF4-FFF2-40B4-BE49-F238E27FC236}">
                <a16:creationId xmlns:a16="http://schemas.microsoft.com/office/drawing/2014/main" id="{8433124C-C473-482D-BC3A-3BB5231B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818888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OPTIMUM</a:t>
            </a:r>
          </a:p>
        </p:txBody>
      </p:sp>
      <p:sp>
        <p:nvSpPr>
          <p:cNvPr id="35" name="STC-19-queue-hyp">
            <a:extLst xmlns:a="http://schemas.openxmlformats.org/drawingml/2006/main">
              <a:ext uri="{FF2B5EF4-FFF2-40B4-BE49-F238E27FC236}">
                <a16:creationId xmlns:a16="http://schemas.microsoft.com/office/drawing/2014/main" id="{F2F6C95C-6C39-4C28-A60D-0BBF415D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623560"/>
            <a:ext cx="4325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fresh하지만 작은 batch·높은 launch/verify overhead</a:t>
            </a:r>
          </a:p>
        </p:txBody>
      </p:sp>
    </p:spTree>
    <p:extLst>
      <p:ext uri="{BB962C8B-B14F-4D97-AF65-F5344CB8AC3E}">
        <p14:creationId xmlns:p14="http://schemas.microsoft.com/office/powerpoint/2010/main" val="127104427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4-section">
            <a:extLst xmlns:a="http://schemas.openxmlformats.org/drawingml/2006/main">
              <a:ext uri="{FF2B5EF4-FFF2-40B4-BE49-F238E27FC236}">
                <a16:creationId xmlns:a16="http://schemas.microsoft.com/office/drawing/2014/main" id="{D55356B8-A175-4935-B209-7BD03E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24-slide-id">
            <a:extLst xmlns:a="http://schemas.openxmlformats.org/drawingml/2006/main">
              <a:ext uri="{FF2B5EF4-FFF2-40B4-BE49-F238E27FC236}">
                <a16:creationId xmlns:a16="http://schemas.microsoft.com/office/drawing/2014/main" id="{78B2880B-1829-43C6-82F1-E91F313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STC-090</a:t>
            </a:r>
          </a:p>
        </p:txBody>
      </p:sp>
      <p:sp>
        <p:nvSpPr>
          <p:cNvPr id="4" name="STC-24-headline">
            <a:extLst xmlns:a="http://schemas.openxmlformats.org/drawingml/2006/main">
              <a:ext uri="{FF2B5EF4-FFF2-40B4-BE49-F238E27FC236}">
                <a16:creationId xmlns:a16="http://schemas.microsoft.com/office/drawing/2014/main" id="{7EFF5843-575F-446B-B829-1A50360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Robustness cost를 빼면 scaling curve는 허상이다</a:t>
            </a:r>
          </a:p>
        </p:txBody>
      </p:sp>
      <p:sp>
        <p:nvSpPr>
          <p:cNvPr id="5" name="STC-24-status-label">
            <a:extLst xmlns:a="http://schemas.openxmlformats.org/drawingml/2006/main">
              <a:ext uri="{FF2B5EF4-FFF2-40B4-BE49-F238E27FC236}">
                <a16:creationId xmlns:a16="http://schemas.microsoft.com/office/drawing/2014/main" id="{BB9E5C04-3E6C-4F28-B08B-9B9AD6E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Red team</a:t>
            </a:r>
          </a:p>
        </p:txBody>
      </p:sp>
      <p:sp>
        <p:nvSpPr>
          <p:cNvPr id="6" name="STC-24-status-rule">
            <a:extLst xmlns:a="http://schemas.openxmlformats.org/drawingml/2006/main">
              <a:ext uri="{FF2B5EF4-FFF2-40B4-BE49-F238E27FC236}">
                <a16:creationId xmlns:a16="http://schemas.microsoft.com/office/drawing/2014/main" id="{D1FC3B55-2A2E-45AA-95F6-0583EE5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4-footer-rule">
            <a:extLst xmlns:a="http://schemas.openxmlformats.org/drawingml/2006/main">
              <a:ext uri="{FF2B5EF4-FFF2-40B4-BE49-F238E27FC236}">
                <a16:creationId xmlns:a16="http://schemas.microsoft.com/office/drawing/2014/main" id="{0F5FF2EC-5946-4BA4-AC60-2C5FB9C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4-source-footer">
            <a:extLst xmlns:a="http://schemas.openxmlformats.org/drawingml/2006/main">
              <a:ext uri="{FF2B5EF4-FFF2-40B4-BE49-F238E27FC236}">
                <a16:creationId xmlns:a16="http://schemas.microsoft.com/office/drawing/2014/main" id="{5BD7A1B6-F31C-4947-B44A-705BBCA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Negative-evidence register</a:t>
            </a:r>
          </a:p>
        </p:txBody>
      </p:sp>
      <p:sp>
        <p:nvSpPr>
          <p:cNvPr id="9" name="STC-24-page-number">
            <a:extLst xmlns:a="http://schemas.openxmlformats.org/drawingml/2006/main">
              <a:ext uri="{FF2B5EF4-FFF2-40B4-BE49-F238E27FC236}">
                <a16:creationId xmlns:a16="http://schemas.microsoft.com/office/drawing/2014/main" id="{9DD45F5A-4477-4865-A126-C6C266F7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90</a:t>
            </a:r>
          </a:p>
        </p:txBody>
      </p:sp>
      <p:sp>
        <p:nvSpPr>
          <p:cNvPr id="11" name="STC-24-redteam-field">
            <a:extLst xmlns:a="http://schemas.openxmlformats.org/drawingml/2006/main">
              <a:ext uri="{FF2B5EF4-FFF2-40B4-BE49-F238E27FC236}">
                <a16:creationId xmlns:a16="http://schemas.microsoft.com/office/drawing/2014/main" id="{7103473D-2E31-4B30-9328-78263DD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2852928" cy="431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2" name="STC-24-redteam-31">
            <a:extLst xmlns:a="http://schemas.openxmlformats.org/drawingml/2006/main">
              <a:ext uri="{FF2B5EF4-FFF2-40B4-BE49-F238E27FC236}">
                <a16:creationId xmlns:a16="http://schemas.microsoft.com/office/drawing/2014/main" id="{8AF4504C-B767-48D4-BBCD-94EC5AF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01952"/>
            <a:ext cx="221284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05</a:t>
            </a:r>
          </a:p>
        </p:txBody>
      </p:sp>
      <p:sp>
        <p:nvSpPr>
          <p:cNvPr id="13" name="STC-24-redteam-findings">
            <a:extLst xmlns:a="http://schemas.openxmlformats.org/drawingml/2006/main">
              <a:ext uri="{FF2B5EF4-FFF2-40B4-BE49-F238E27FC236}">
                <a16:creationId xmlns:a16="http://schemas.microsoft.com/office/drawing/2014/main" id="{B01523B4-485A-4132-B232-BA11A8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16352"/>
            <a:ext cx="221284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adversarial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findings</a:t>
            </a:r>
          </a:p>
        </p:txBody>
      </p:sp>
      <p:sp>
        <p:nvSpPr>
          <p:cNvPr id="14" name="STC-24-redteam-rule">
            <a:extLst xmlns:a="http://schemas.openxmlformats.org/drawingml/2006/main">
              <a:ext uri="{FF2B5EF4-FFF2-40B4-BE49-F238E27FC236}">
                <a16:creationId xmlns:a16="http://schemas.microsoft.com/office/drawing/2014/main" id="{2BB482A1-6070-4983-A590-0667FC85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2029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5" name="STC-24-redteam-domains">
            <a:extLst xmlns:a="http://schemas.openxmlformats.org/drawingml/2006/main">
              <a:ext uri="{FF2B5EF4-FFF2-40B4-BE49-F238E27FC236}">
                <a16:creationId xmlns:a16="http://schemas.microsoft.com/office/drawing/2014/main" id="{73A03FB3-05DD-41DF-89CC-C6C2AA2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05072"/>
            <a:ext cx="2029968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statistics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systems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publication</a:t>
            </a:r>
          </a:p>
        </p:txBody>
      </p:sp>
      <p:sp>
        <p:nvSpPr>
          <p:cNvPr id="16" name="STC-24-redteam-condition-0">
            <a:extLst xmlns:a="http://schemas.openxmlformats.org/drawingml/2006/main">
              <a:ext uri="{FF2B5EF4-FFF2-40B4-BE49-F238E27FC236}">
                <a16:creationId xmlns:a16="http://schemas.microsoft.com/office/drawing/2014/main" id="{9C6EFA57-2AF4-405B-B8E0-2644092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1636776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RETENTION</a:t>
            </a:r>
          </a:p>
        </p:txBody>
      </p:sp>
      <p:sp>
        <p:nvSpPr>
          <p:cNvPr id="17" name="STC-24-redteam-arrow-0">
            <a:extLst xmlns:a="http://schemas.openxmlformats.org/drawingml/2006/main">
              <a:ext uri="{FF2B5EF4-FFF2-40B4-BE49-F238E27FC236}">
                <a16:creationId xmlns:a16="http://schemas.microsoft.com/office/drawing/2014/main" id="{C29B3FBD-C180-4F47-B914-ABB0151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746504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18" name="STC-24-redteam-action-0">
            <a:extLst xmlns:a="http://schemas.openxmlformats.org/drawingml/2006/main">
              <a:ext uri="{FF2B5EF4-FFF2-40B4-BE49-F238E27FC236}">
                <a16:creationId xmlns:a16="http://schemas.microsoft.com/office/drawing/2014/main" id="{F2D57FF2-40C9-475B-8ADE-71EEA69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capability regression</a:t>
            </a:r>
          </a:p>
        </p:txBody>
      </p:sp>
      <p:sp>
        <p:nvSpPr>
          <p:cNvPr id="19" name="STC-24-redteam-condition-1">
            <a:extLst xmlns:a="http://schemas.openxmlformats.org/drawingml/2006/main">
              <a:ext uri="{FF2B5EF4-FFF2-40B4-BE49-F238E27FC236}">
                <a16:creationId xmlns:a16="http://schemas.microsoft.com/office/drawing/2014/main" id="{BDE2CA5D-58FC-434F-A841-A08FD1A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46888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COLLAPSE</a:t>
            </a:r>
          </a:p>
        </p:txBody>
      </p:sp>
      <p:sp>
        <p:nvSpPr>
          <p:cNvPr id="20" name="STC-24-redteam-arrow-1">
            <a:extLst xmlns:a="http://schemas.openxmlformats.org/drawingml/2006/main">
              <a:ext uri="{FF2B5EF4-FFF2-40B4-BE49-F238E27FC236}">
                <a16:creationId xmlns:a16="http://schemas.microsoft.com/office/drawing/2014/main" id="{4F577BF9-80F7-40D0-B459-5F8A21E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57860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1" name="STC-24-redteam-action-1">
            <a:extLst xmlns:a="http://schemas.openxmlformats.org/drawingml/2006/main">
              <a:ext uri="{FF2B5EF4-FFF2-40B4-BE49-F238E27FC236}">
                <a16:creationId xmlns:a16="http://schemas.microsoft.com/office/drawing/2014/main" id="{4B0FE478-8D2F-4712-9C23-542528B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2304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recursive synthetic-data tail loss</a:t>
            </a:r>
          </a:p>
        </p:txBody>
      </p:sp>
      <p:sp>
        <p:nvSpPr>
          <p:cNvPr id="22" name="STC-24-redteam-condition-2">
            <a:extLst xmlns:a="http://schemas.openxmlformats.org/drawingml/2006/main">
              <a:ext uri="{FF2B5EF4-FFF2-40B4-BE49-F238E27FC236}">
                <a16:creationId xmlns:a16="http://schemas.microsoft.com/office/drawing/2014/main" id="{11181FB9-A935-4704-BB86-C9143D9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300984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POISON</a:t>
            </a:r>
          </a:p>
        </p:txBody>
      </p:sp>
      <p:sp>
        <p:nvSpPr>
          <p:cNvPr id="23" name="STC-24-redteam-arrow-2">
            <a:extLst xmlns:a="http://schemas.openxmlformats.org/drawingml/2006/main">
              <a:ext uri="{FF2B5EF4-FFF2-40B4-BE49-F238E27FC236}">
                <a16:creationId xmlns:a16="http://schemas.microsoft.com/office/drawing/2014/main" id="{C90658B6-997B-4942-AA92-F0B084A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4" name="STC-24-redteam-action-2">
            <a:extLst xmlns:a="http://schemas.openxmlformats.org/drawingml/2006/main">
              <a:ext uri="{FF2B5EF4-FFF2-40B4-BE49-F238E27FC236}">
                <a16:creationId xmlns:a16="http://schemas.microsoft.com/office/drawing/2014/main" id="{6FF7ED04-6279-41A5-BFAD-89B5537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4408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persistent backdoor·prompt injection</a:t>
            </a:r>
          </a:p>
        </p:txBody>
      </p:sp>
      <p:sp>
        <p:nvSpPr>
          <p:cNvPr id="25" name="STC-24-redteam-condition-3">
            <a:extLst xmlns:a="http://schemas.openxmlformats.org/drawingml/2006/main">
              <a:ext uri="{FF2B5EF4-FFF2-40B4-BE49-F238E27FC236}">
                <a16:creationId xmlns:a16="http://schemas.microsoft.com/office/drawing/2014/main" id="{DBBCD39B-5871-4E2B-A51F-BB942E5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133088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PRIVACY</a:t>
            </a:r>
          </a:p>
        </p:txBody>
      </p:sp>
      <p:sp>
        <p:nvSpPr>
          <p:cNvPr id="26" name="STC-24-redteam-arrow-3">
            <a:extLst xmlns:a="http://schemas.openxmlformats.org/drawingml/2006/main">
              <a:ext uri="{FF2B5EF4-FFF2-40B4-BE49-F238E27FC236}">
                <a16:creationId xmlns:a16="http://schemas.microsoft.com/office/drawing/2014/main" id="{9660AB56-69B6-4FBD-B813-9CBF988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42816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7" name="STC-24-redteam-action-3">
            <a:extLst xmlns:a="http://schemas.openxmlformats.org/drawingml/2006/main">
              <a:ext uri="{FF2B5EF4-FFF2-40B4-BE49-F238E27FC236}">
                <a16:creationId xmlns:a16="http://schemas.microsoft.com/office/drawing/2014/main" id="{4AA4EC1B-1A5F-4725-ACF1-86B744B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6512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derived state의 exposure·cross-tenant leak</a:t>
            </a:r>
          </a:p>
        </p:txBody>
      </p:sp>
      <p:sp>
        <p:nvSpPr>
          <p:cNvPr id="28" name="STC-24-redteam-condition-4">
            <a:extLst xmlns:a="http://schemas.openxmlformats.org/drawingml/2006/main">
              <a:ext uri="{FF2B5EF4-FFF2-40B4-BE49-F238E27FC236}">
                <a16:creationId xmlns:a16="http://schemas.microsoft.com/office/drawing/2014/main" id="{1D3D302A-47E2-4D26-B565-7B54698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96519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ERASURE</a:t>
            </a:r>
          </a:p>
        </p:txBody>
      </p:sp>
      <p:sp>
        <p:nvSpPr>
          <p:cNvPr id="29" name="STC-24-redteam-arrow-4">
            <a:extLst xmlns:a="http://schemas.openxmlformats.org/drawingml/2006/main">
              <a:ext uri="{FF2B5EF4-FFF2-40B4-BE49-F238E27FC236}">
                <a16:creationId xmlns:a16="http://schemas.microsoft.com/office/drawing/2014/main" id="{8B4BB7C3-0894-4624-B64A-2332CAB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0749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0" name="STC-24-redteam-action-4">
            <a:extLst xmlns:a="http://schemas.openxmlformats.org/drawingml/2006/main">
              <a:ext uri="{FF2B5EF4-FFF2-40B4-BE49-F238E27FC236}">
                <a16:creationId xmlns:a16="http://schemas.microsoft.com/office/drawing/2014/main" id="{BF3F69E8-1C0C-4846-9932-4467BC7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28616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delete propagation과 residual proof</a:t>
            </a:r>
          </a:p>
        </p:txBody>
      </p:sp>
      <p:sp>
        <p:nvSpPr>
          <p:cNvPr id="31" name="STC-24-redteam-bottom">
            <a:extLst xmlns:a="http://schemas.openxmlformats.org/drawingml/2006/main">
              <a:ext uri="{FF2B5EF4-FFF2-40B4-BE49-F238E27FC236}">
                <a16:creationId xmlns:a16="http://schemas.microsoft.com/office/drawing/2014/main" id="{38BBEDEE-CF7E-481C-927F-AD28491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96128"/>
            <a:ext cx="532180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안전·삭제·회귀 검증은 optional overhead가 아니라 scaling denominator다.</a:t>
            </a:r>
          </a:p>
        </p:txBody>
      </p:sp>
    </p:spTree>
    <p:extLst>
      <p:ext uri="{BB962C8B-B14F-4D97-AF65-F5344CB8AC3E}">
        <p14:creationId xmlns:p14="http://schemas.microsoft.com/office/powerpoint/2010/main" val="1467491000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STC-091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External↔parametric crossover는 reuse threshold로 계산한다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가설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STC-F010 · destination crossover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91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EXTERNAL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PARAMETRIC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VOLATILITY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THRESHOLD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N* = (C_train+C_verify+C_update)/(C_ext/query−C_param/query)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낮은 build, query마다 retrieval/prefill 비용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EXTERNAL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Adapter 승격은 stable high-reuse subset에서만 경제성이 생긴다.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높은 train/verify, 낮은 반복 serve 비용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9-section">
            <a:extLst xmlns:a="http://schemas.openxmlformats.org/drawingml/2006/main">
              <a:ext uri="{FF2B5EF4-FFF2-40B4-BE49-F238E27FC236}">
                <a16:creationId xmlns:a16="http://schemas.microsoft.com/office/drawing/2014/main" id="{29D38A02-155B-4134-8C5B-670E758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09-slide-id">
            <a:extLst xmlns:a="http://schemas.openxmlformats.org/drawingml/2006/main">
              <a:ext uri="{FF2B5EF4-FFF2-40B4-BE49-F238E27FC236}">
                <a16:creationId xmlns:a16="http://schemas.microsoft.com/office/drawing/2014/main" id="{1762F78F-0723-499B-9FF1-EF8BC94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STC-092</a:t>
            </a:r>
          </a:p>
        </p:txBody>
      </p:sp>
      <p:sp>
        <p:nvSpPr>
          <p:cNvPr id="4" name="STC-09-headline">
            <a:extLst xmlns:a="http://schemas.openxmlformats.org/drawingml/2006/main">
              <a:ext uri="{FF2B5EF4-FFF2-40B4-BE49-F238E27FC236}">
                <a16:creationId xmlns:a16="http://schemas.microsoft.com/office/drawing/2014/main" id="{3EFE9657-A9F6-4D01-B7AA-8CD5DCC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Scaling law를 찾으려면 여섯 축을 독립 sweep한다</a:t>
            </a:r>
          </a:p>
        </p:txBody>
      </p:sp>
      <p:sp>
        <p:nvSpPr>
          <p:cNvPr id="5" name="STC-09-status-label">
            <a:extLst xmlns:a="http://schemas.openxmlformats.org/drawingml/2006/main">
              <a:ext uri="{FF2B5EF4-FFF2-40B4-BE49-F238E27FC236}">
                <a16:creationId xmlns:a16="http://schemas.microsoft.com/office/drawing/2014/main" id="{8D0AE475-7A53-4E5A-A49D-6EA175C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실험 설계</a:t>
            </a:r>
          </a:p>
        </p:txBody>
      </p:sp>
      <p:sp>
        <p:nvSpPr>
          <p:cNvPr id="6" name="STC-09-status-rule">
            <a:extLst xmlns:a="http://schemas.openxmlformats.org/drawingml/2006/main">
              <a:ext uri="{FF2B5EF4-FFF2-40B4-BE49-F238E27FC236}">
                <a16:creationId xmlns:a16="http://schemas.microsoft.com/office/drawing/2014/main" id="{533C7DF8-73A5-4BF8-9C5D-81FE369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9-footer-rule">
            <a:extLst xmlns:a="http://schemas.openxmlformats.org/drawingml/2006/main">
              <a:ext uri="{FF2B5EF4-FFF2-40B4-BE49-F238E27FC236}">
                <a16:creationId xmlns:a16="http://schemas.microsoft.com/office/drawing/2014/main" id="{D41C1814-8E19-41C1-A558-010004C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9-source-footer">
            <a:extLst xmlns:a="http://schemas.openxmlformats.org/drawingml/2006/main">
              <a:ext uri="{FF2B5EF4-FFF2-40B4-BE49-F238E27FC236}">
                <a16:creationId xmlns:a16="http://schemas.microsoft.com/office/drawing/2014/main" id="{C447969D-F458-449A-95BB-BA55D3A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Scaling-law theory agenda</a:t>
            </a:r>
          </a:p>
        </p:txBody>
      </p:sp>
      <p:sp>
        <p:nvSpPr>
          <p:cNvPr id="9" name="STC-09-page-number">
            <a:extLst xmlns:a="http://schemas.openxmlformats.org/drawingml/2006/main">
              <a:ext uri="{FF2B5EF4-FFF2-40B4-BE49-F238E27FC236}">
                <a16:creationId xmlns:a16="http://schemas.microsoft.com/office/drawing/2014/main" id="{8A2AA582-B0BF-4246-A717-6FA4959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92</a:t>
            </a:r>
          </a:p>
        </p:txBody>
      </p:sp>
      <p:sp>
        <p:nvSpPr>
          <p:cNvPr id="11" name="STC-09-matrix-col-0">
            <a:extLst xmlns:a="http://schemas.openxmlformats.org/drawingml/2006/main">
              <a:ext uri="{FF2B5EF4-FFF2-40B4-BE49-F238E27FC236}">
                <a16:creationId xmlns:a16="http://schemas.microsoft.com/office/drawing/2014/main" id="{A1622F37-BF76-43B7-84A8-4E826F9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COMPUTE · sleep FLOP·token·wall-time</a:t>
            </a:r>
          </a:p>
        </p:txBody>
      </p:sp>
      <p:sp>
        <p:nvSpPr>
          <p:cNvPr id="12" name="STC-09-matrix-col-1">
            <a:extLst xmlns:a="http://schemas.openxmlformats.org/drawingml/2006/main">
              <a:ext uri="{FF2B5EF4-FFF2-40B4-BE49-F238E27FC236}">
                <a16:creationId xmlns:a16="http://schemas.microsoft.com/office/drawing/2014/main" id="{CADCF27A-962A-4876-A50A-100BBDA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DATA · valid diversity·replay ratio</a:t>
            </a:r>
          </a:p>
        </p:txBody>
      </p:sp>
      <p:sp>
        <p:nvSpPr>
          <p:cNvPr id="13" name="STC-09-matrix-col-2">
            <a:extLst xmlns:a="http://schemas.openxmlformats.org/drawingml/2006/main">
              <a:ext uri="{FF2B5EF4-FFF2-40B4-BE49-F238E27FC236}">
                <a16:creationId xmlns:a16="http://schemas.microsoft.com/office/drawing/2014/main" id="{DDD13F7E-EF58-4B00-9007-C34AC25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CAPACITY · bytes·rank·modules·facts</a:t>
            </a:r>
          </a:p>
        </p:txBody>
      </p:sp>
      <p:sp>
        <p:nvSpPr>
          <p:cNvPr id="14" name="STC-09-matrix-col-3">
            <a:extLst xmlns:a="http://schemas.openxmlformats.org/drawingml/2006/main">
              <a:ext uri="{FF2B5EF4-FFF2-40B4-BE49-F238E27FC236}">
                <a16:creationId xmlns:a16="http://schemas.microsoft.com/office/drawing/2014/main" id="{BDD5DFCA-E93B-4A68-9CC4-C10B778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REUSE · queries/context·hit probability</a:t>
            </a:r>
          </a:p>
        </p:txBody>
      </p:sp>
      <p:sp>
        <p:nvSpPr>
          <p:cNvPr id="15" name="STC-09-matrix-row-0">
            <a:extLst xmlns:a="http://schemas.openxmlformats.org/drawingml/2006/main">
              <a:ext uri="{FF2B5EF4-FFF2-40B4-BE49-F238E27FC236}">
                <a16:creationId xmlns:a16="http://schemas.microsoft.com/office/drawing/2014/main" id="{48054411-FFD1-41ED-9521-D9E544C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6272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COMPUTE · sleep FLOP·token·wall-time</a:t>
            </a:r>
          </a:p>
        </p:txBody>
      </p:sp>
      <p:sp>
        <p:nvSpPr>
          <p:cNvPr id="16" name="STC-09-matrix-cell-0-0">
            <a:extLst xmlns:a="http://schemas.openxmlformats.org/drawingml/2006/main">
              <a:ext uri="{FF2B5EF4-FFF2-40B4-BE49-F238E27FC236}">
                <a16:creationId xmlns:a16="http://schemas.microsoft.com/office/drawing/2014/main" id="{EBF3F50C-9AAA-4D85-9A41-E196717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9-matrix-cell-0-1">
            <a:extLst xmlns:a="http://schemas.openxmlformats.org/drawingml/2006/main">
              <a:ext uri="{FF2B5EF4-FFF2-40B4-BE49-F238E27FC236}">
                <a16:creationId xmlns:a16="http://schemas.microsoft.com/office/drawing/2014/main" id="{99FD277C-8063-463E-9905-A188DED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8" name="STC-09-matrix-cell-0-2">
            <a:extLst xmlns:a="http://schemas.openxmlformats.org/drawingml/2006/main">
              <a:ext uri="{FF2B5EF4-FFF2-40B4-BE49-F238E27FC236}">
                <a16:creationId xmlns:a16="http://schemas.microsoft.com/office/drawing/2014/main" id="{DA428670-4DFB-4B25-B5C2-D14877B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09-matrix-cell-0-3">
            <a:extLst xmlns:a="http://schemas.openxmlformats.org/drawingml/2006/main">
              <a:ext uri="{FF2B5EF4-FFF2-40B4-BE49-F238E27FC236}">
                <a16:creationId xmlns:a16="http://schemas.microsoft.com/office/drawing/2014/main" id="{0C5C38C6-03C4-47C2-AD56-807F93F8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0" name="STC-09-matrix-row-1">
            <a:extLst xmlns:a="http://schemas.openxmlformats.org/drawingml/2006/main">
              <a:ext uri="{FF2B5EF4-FFF2-40B4-BE49-F238E27FC236}">
                <a16:creationId xmlns:a16="http://schemas.microsoft.com/office/drawing/2014/main" id="{7940E56B-C80F-4DD2-B7CD-33C3E92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8104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DATA · valid diversity·replay ratio</a:t>
            </a:r>
          </a:p>
        </p:txBody>
      </p:sp>
      <p:sp>
        <p:nvSpPr>
          <p:cNvPr id="21" name="STC-09-matrix-cell-1-0">
            <a:extLst xmlns:a="http://schemas.openxmlformats.org/drawingml/2006/main">
              <a:ext uri="{FF2B5EF4-FFF2-40B4-BE49-F238E27FC236}">
                <a16:creationId xmlns:a16="http://schemas.microsoft.com/office/drawing/2014/main" id="{4116D720-457C-45E0-A9E6-A5C9B85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09-matrix-cell-1-1">
            <a:extLst xmlns:a="http://schemas.openxmlformats.org/drawingml/2006/main">
              <a:ext uri="{FF2B5EF4-FFF2-40B4-BE49-F238E27FC236}">
                <a16:creationId xmlns:a16="http://schemas.microsoft.com/office/drawing/2014/main" id="{503E2699-DB07-4331-9D2B-342F429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3" name="STC-09-matrix-cell-1-2">
            <a:extLst xmlns:a="http://schemas.openxmlformats.org/drawingml/2006/main">
              <a:ext uri="{FF2B5EF4-FFF2-40B4-BE49-F238E27FC236}">
                <a16:creationId xmlns:a16="http://schemas.microsoft.com/office/drawing/2014/main" id="{97E4F3B9-6846-4760-BE7D-80FF27D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4" name="STC-09-matrix-cell-1-3">
            <a:extLst xmlns:a="http://schemas.openxmlformats.org/drawingml/2006/main">
              <a:ext uri="{FF2B5EF4-FFF2-40B4-BE49-F238E27FC236}">
                <a16:creationId xmlns:a16="http://schemas.microsoft.com/office/drawing/2014/main" id="{84496169-8F4D-4E6F-9027-640CD5AA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9-matrix-row-2">
            <a:extLst xmlns:a="http://schemas.openxmlformats.org/drawingml/2006/main">
              <a:ext uri="{FF2B5EF4-FFF2-40B4-BE49-F238E27FC236}">
                <a16:creationId xmlns:a16="http://schemas.microsoft.com/office/drawing/2014/main" id="{B5447A2E-9E34-4D35-B79B-9988EB5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936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CAPACITY · bytes·rank·modules·facts</a:t>
            </a:r>
          </a:p>
        </p:txBody>
      </p:sp>
      <p:sp>
        <p:nvSpPr>
          <p:cNvPr id="26" name="STC-09-matrix-cell-2-0">
            <a:extLst xmlns:a="http://schemas.openxmlformats.org/drawingml/2006/main">
              <a:ext uri="{FF2B5EF4-FFF2-40B4-BE49-F238E27FC236}">
                <a16:creationId xmlns:a16="http://schemas.microsoft.com/office/drawing/2014/main" id="{FAC2E53F-B600-4470-BF9A-7BF8DFB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09-matrix-cell-2-1">
            <a:extLst xmlns:a="http://schemas.openxmlformats.org/drawingml/2006/main">
              <a:ext uri="{FF2B5EF4-FFF2-40B4-BE49-F238E27FC236}">
                <a16:creationId xmlns:a16="http://schemas.microsoft.com/office/drawing/2014/main" id="{D0B8CA6B-5C13-47E7-8118-5F49E24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8" name="STC-09-matrix-cell-2-2">
            <a:extLst xmlns:a="http://schemas.openxmlformats.org/drawingml/2006/main">
              <a:ext uri="{FF2B5EF4-FFF2-40B4-BE49-F238E27FC236}">
                <a16:creationId xmlns:a16="http://schemas.microsoft.com/office/drawing/2014/main" id="{DB91A1F1-5BE9-4F23-AB50-8503832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9-matrix-cell-2-3">
            <a:extLst xmlns:a="http://schemas.openxmlformats.org/drawingml/2006/main">
              <a:ext uri="{FF2B5EF4-FFF2-40B4-BE49-F238E27FC236}">
                <a16:creationId xmlns:a16="http://schemas.microsoft.com/office/drawing/2014/main" id="{2D2F42EF-8AEC-4FA8-8F63-9621C4E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0" name="STC-09-matrix-item-0">
            <a:extLst xmlns:a="http://schemas.openxmlformats.org/drawingml/2006/main">
              <a:ext uri="{FF2B5EF4-FFF2-40B4-BE49-F238E27FC236}">
                <a16:creationId xmlns:a16="http://schemas.microsoft.com/office/drawing/2014/main" id="{7C11B00E-E901-4952-BD96-39AC9CD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COMPUTE</a:t>
            </a:r>
          </a:p>
        </p:txBody>
      </p:sp>
      <p:sp>
        <p:nvSpPr>
          <p:cNvPr id="31" name="STC-09-matrix-item-1">
            <a:extLst xmlns:a="http://schemas.openxmlformats.org/drawingml/2006/main">
              <a:ext uri="{FF2B5EF4-FFF2-40B4-BE49-F238E27FC236}">
                <a16:creationId xmlns:a16="http://schemas.microsoft.com/office/drawing/2014/main" id="{C09EB82D-1B40-4E0D-8EA7-35317E3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DATA</a:t>
            </a:r>
          </a:p>
        </p:txBody>
      </p:sp>
      <p:sp>
        <p:nvSpPr>
          <p:cNvPr id="32" name="STC-09-matrix-item-2">
            <a:extLst xmlns:a="http://schemas.openxmlformats.org/drawingml/2006/main">
              <a:ext uri="{FF2B5EF4-FFF2-40B4-BE49-F238E27FC236}">
                <a16:creationId xmlns:a16="http://schemas.microsoft.com/office/drawing/2014/main" id="{0251189C-D3AD-41B8-972C-EDD23B2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CAPACITY</a:t>
            </a:r>
          </a:p>
        </p:txBody>
      </p:sp>
      <p:sp>
        <p:nvSpPr>
          <p:cNvPr id="33" name="STC-09-matrix-item-3">
            <a:extLst xmlns:a="http://schemas.openxmlformats.org/drawingml/2006/main">
              <a:ext uri="{FF2B5EF4-FFF2-40B4-BE49-F238E27FC236}">
                <a16:creationId xmlns:a16="http://schemas.microsoft.com/office/drawing/2014/main" id="{3DEFCD03-DAF7-46A0-BC0B-82DA91A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sleeper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Auto-Dreamer</a:t>
            </a:r>
          </a:p>
        </p:txBody>
      </p:sp>
      <p:sp>
        <p:nvSpPr>
          <p:cNvPr id="34" name="STC-09-matrix-item-4">
            <a:extLst xmlns:a="http://schemas.openxmlformats.org/drawingml/2006/main">
              <a:ext uri="{FF2B5EF4-FFF2-40B4-BE49-F238E27FC236}">
                <a16:creationId xmlns:a16="http://schemas.microsoft.com/office/drawing/2014/main" id="{20F5ABAA-F3AB-4A1E-B002-FAE254B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Cartridges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Offline Recurrence</a:t>
            </a:r>
          </a:p>
        </p:txBody>
      </p:sp>
      <p:sp>
        <p:nvSpPr>
          <p:cNvPr id="35" name="STC-09-matrix-item-5">
            <a:extLst xmlns:a="http://schemas.openxmlformats.org/drawingml/2006/main">
              <a:ext uri="{FF2B5EF4-FFF2-40B4-BE49-F238E27FC236}">
                <a16:creationId xmlns:a16="http://schemas.microsoft.com/office/drawing/2014/main" id="{846D3DCA-789E-4C4A-A897-494AC5A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RISK</a:t>
            </a:r>
          </a:p>
        </p:txBody>
      </p:sp>
      <p:sp>
        <p:nvSpPr>
          <p:cNvPr id="36" name="STC-09-matrix-item-6">
            <a:extLst xmlns:a="http://schemas.openxmlformats.org/drawingml/2006/main">
              <a:ext uri="{FF2B5EF4-FFF2-40B4-BE49-F238E27FC236}">
                <a16:creationId xmlns:a16="http://schemas.microsoft.com/office/drawing/2014/main" id="{AF6F670C-AE78-45F0-A3DB-62F1E51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COMPUTE</a:t>
            </a:r>
          </a:p>
        </p:txBody>
      </p:sp>
      <p:sp>
        <p:nvSpPr>
          <p:cNvPr id="37" name="STC-09-matrix-item-7">
            <a:extLst xmlns:a="http://schemas.openxmlformats.org/drawingml/2006/main">
              <a:ext uri="{FF2B5EF4-FFF2-40B4-BE49-F238E27FC236}">
                <a16:creationId xmlns:a16="http://schemas.microsoft.com/office/drawing/2014/main" id="{78FE0597-34A6-404B-BFB5-86CA375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memory-policy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pretraining</a:t>
            </a:r>
          </a:p>
        </p:txBody>
      </p:sp>
      <p:sp>
        <p:nvSpPr>
          <p:cNvPr id="38" name="STC-09-matrix-item-8">
            <a:extLst xmlns:a="http://schemas.openxmlformats.org/drawingml/2006/main">
              <a:ext uri="{FF2B5EF4-FFF2-40B4-BE49-F238E27FC236}">
                <a16:creationId xmlns:a16="http://schemas.microsoft.com/office/drawing/2014/main" id="{699699AB-8F10-46DC-93DD-EC5C2BE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CAPACITY</a:t>
            </a:r>
          </a:p>
        </p:txBody>
      </p:sp>
      <p:sp>
        <p:nvSpPr>
          <p:cNvPr id="39" name="STC-09-matrix-item-9">
            <a:extLst xmlns:a="http://schemas.openxmlformats.org/drawingml/2006/main">
              <a:ext uri="{FF2B5EF4-FFF2-40B4-BE49-F238E27FC236}">
                <a16:creationId xmlns:a16="http://schemas.microsoft.com/office/drawing/2014/main" id="{DD8E80DC-2A77-4566-BEAE-1664E61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REUSE</a:t>
            </a:r>
          </a:p>
        </p:txBody>
      </p:sp>
      <p:sp>
        <p:nvSpPr>
          <p:cNvPr id="40" name="STC-09-matrix-question-label">
            <a:extLst xmlns:a="http://schemas.openxmlformats.org/drawingml/2006/main">
              <a:ext uri="{FF2B5EF4-FFF2-40B4-BE49-F238E27FC236}">
                <a16:creationId xmlns:a16="http://schemas.microsoft.com/office/drawing/2014/main" id="{83EDD79B-52C5-495D-A2AA-84DA2A5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6577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sleep FLOP·token·wall-time</a:t>
            </a:r>
          </a:p>
        </p:txBody>
      </p:sp>
      <p:sp>
        <p:nvSpPr>
          <p:cNvPr id="41" name="STC-09-matrix-question">
            <a:extLst xmlns:a="http://schemas.openxmlformats.org/drawingml/2006/main">
              <a:ext uri="{FF2B5EF4-FFF2-40B4-BE49-F238E27FC236}">
                <a16:creationId xmlns:a16="http://schemas.microsoft.com/office/drawing/2014/main" id="{85F42F15-58B1-4837-960A-A6B12D3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965192"/>
            <a:ext cx="89245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valid diversity·replay ratio</a:t>
            </a:r>
          </a:p>
        </p:txBody>
      </p:sp>
    </p:spTree>
    <p:extLst>
      <p:ext uri="{BB962C8B-B14F-4D97-AF65-F5344CB8AC3E}">
        <p14:creationId xmlns:p14="http://schemas.microsoft.com/office/powerpoint/2010/main" val="160512679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7-section">
            <a:extLst xmlns:a="http://schemas.openxmlformats.org/drawingml/2006/main">
              <a:ext uri="{FF2B5EF4-FFF2-40B4-BE49-F238E27FC236}">
                <a16:creationId xmlns:a16="http://schemas.microsoft.com/office/drawing/2014/main" id="{DCE07BF3-D2DD-4230-8AB1-83B1DCD2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27-slide-id">
            <a:extLst xmlns:a="http://schemas.openxmlformats.org/drawingml/2006/main">
              <a:ext uri="{FF2B5EF4-FFF2-40B4-BE49-F238E27FC236}">
                <a16:creationId xmlns:a16="http://schemas.microsoft.com/office/drawing/2014/main" id="{2F6A5C02-92EF-4CEF-90CA-D2B8398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STC-093</a:t>
            </a:r>
          </a:p>
        </p:txBody>
      </p:sp>
      <p:sp>
        <p:nvSpPr>
          <p:cNvPr id="4" name="STC-27-headline">
            <a:extLst xmlns:a="http://schemas.openxmlformats.org/drawingml/2006/main">
              <a:ext uri="{FF2B5EF4-FFF2-40B4-BE49-F238E27FC236}">
                <a16:creationId xmlns:a16="http://schemas.microsoft.com/office/drawing/2014/main" id="{4F03CC93-88F5-4ED5-BD43-0D689065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현재 scaling law는 결과가 아니라 검증 가능한 hypothesis set이다</a:t>
            </a:r>
          </a:p>
        </p:txBody>
      </p:sp>
      <p:sp>
        <p:nvSpPr>
          <p:cNvPr id="5" name="STC-27-status-label">
            <a:extLst xmlns:a="http://schemas.openxmlformats.org/drawingml/2006/main">
              <a:ext uri="{FF2B5EF4-FFF2-40B4-BE49-F238E27FC236}">
                <a16:creationId xmlns:a16="http://schemas.microsoft.com/office/drawing/2014/main" id="{D7F059B8-DE86-4B58-8C65-A8EE047D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근거 장부</a:t>
            </a:r>
          </a:p>
        </p:txBody>
      </p:sp>
      <p:sp>
        <p:nvSpPr>
          <p:cNvPr id="6" name="STC-27-status-rule">
            <a:extLst xmlns:a="http://schemas.openxmlformats.org/drawingml/2006/main">
              <a:ext uri="{FF2B5EF4-FFF2-40B4-BE49-F238E27FC236}">
                <a16:creationId xmlns:a16="http://schemas.microsoft.com/office/drawing/2014/main" id="{8D50D0C3-C621-4297-9BA8-A6440494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27-footer-rule">
            <a:extLst xmlns:a="http://schemas.openxmlformats.org/drawingml/2006/main">
              <a:ext uri="{FF2B5EF4-FFF2-40B4-BE49-F238E27FC236}">
                <a16:creationId xmlns:a16="http://schemas.microsoft.com/office/drawing/2014/main" id="{DFE1FDCE-A186-4F53-9DE6-B0E90D4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7-source-footer">
            <a:extLst xmlns:a="http://schemas.openxmlformats.org/drawingml/2006/main">
              <a:ext uri="{FF2B5EF4-FFF2-40B4-BE49-F238E27FC236}">
                <a16:creationId xmlns:a16="http://schemas.microsoft.com/office/drawing/2014/main" id="{F908089A-5119-407A-B374-1740C92B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STC-H001–H005 · evidence boundary</a:t>
            </a:r>
          </a:p>
        </p:txBody>
      </p:sp>
      <p:sp>
        <p:nvSpPr>
          <p:cNvPr id="9" name="STC-27-page-number">
            <a:extLst xmlns:a="http://schemas.openxmlformats.org/drawingml/2006/main">
              <a:ext uri="{FF2B5EF4-FFF2-40B4-BE49-F238E27FC236}">
                <a16:creationId xmlns:a16="http://schemas.microsoft.com/office/drawing/2014/main" id="{C82079E6-019C-4152-B64A-6797E68D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93</a:t>
            </a:r>
          </a:p>
        </p:txBody>
      </p:sp>
      <p:sp>
        <p:nvSpPr>
          <p:cNvPr id="11" name="STC-27-refa-num-0">
            <a:extLst xmlns:a="http://schemas.openxmlformats.org/drawingml/2006/main">
              <a:ext uri="{FF2B5EF4-FFF2-40B4-BE49-F238E27FC236}">
                <a16:creationId xmlns:a16="http://schemas.microsoft.com/office/drawing/2014/main" id="{0418D5EF-1D97-41E4-8970-36A2250C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636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01</a:t>
            </a:r>
          </a:p>
        </p:txBody>
      </p:sp>
      <p:sp>
        <p:nvSpPr>
          <p:cNvPr id="12" name="STC-27-refa-text-0">
            <a:extLst xmlns:a="http://schemas.openxmlformats.org/drawingml/2006/main">
              <a:ext uri="{FF2B5EF4-FFF2-40B4-BE49-F238E27FC236}">
                <a16:creationId xmlns:a16="http://schemas.microsoft.com/office/drawing/2014/main" id="{90E6BE06-C7AF-48AD-B065-60E14F4B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5087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H1 · compute diminishing return</a:t>
            </a:r>
          </a:p>
        </p:txBody>
      </p:sp>
      <p:sp>
        <p:nvSpPr>
          <p:cNvPr id="13" name="STC-27-refa-num-1">
            <a:extLst xmlns:a="http://schemas.openxmlformats.org/drawingml/2006/main">
              <a:ext uri="{FF2B5EF4-FFF2-40B4-BE49-F238E27FC236}">
                <a16:creationId xmlns:a16="http://schemas.microsoft.com/office/drawing/2014/main" id="{AC5A29EA-5603-46E4-943E-622D1431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037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14" name="STC-27-refa-text-1">
            <a:extLst xmlns:a="http://schemas.openxmlformats.org/drawingml/2006/main">
              <a:ext uri="{FF2B5EF4-FFF2-40B4-BE49-F238E27FC236}">
                <a16:creationId xmlns:a16="http://schemas.microsoft.com/office/drawing/2014/main" id="{A53D8D4D-51FE-40FD-BEF0-0F0D251D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1488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H2 · valid-diversity data law</a:t>
            </a:r>
          </a:p>
        </p:txBody>
      </p:sp>
      <p:sp>
        <p:nvSpPr>
          <p:cNvPr id="15" name="STC-27-refa-num-2">
            <a:extLst xmlns:a="http://schemas.openxmlformats.org/drawingml/2006/main">
              <a:ext uri="{FF2B5EF4-FFF2-40B4-BE49-F238E27FC236}">
                <a16:creationId xmlns:a16="http://schemas.microsoft.com/office/drawing/2014/main" id="{32AC771F-6FB1-4636-91A2-366105E1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4378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16" name="STC-27-refa-text-2">
            <a:extLst xmlns:a="http://schemas.openxmlformats.org/drawingml/2006/main">
              <a:ext uri="{FF2B5EF4-FFF2-40B4-BE49-F238E27FC236}">
                <a16:creationId xmlns:a16="http://schemas.microsoft.com/office/drawing/2014/main" id="{3017A609-7580-4A00-B86A-AD21DAB0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8892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H3 · capacity knee/cliff</a:t>
            </a:r>
          </a:p>
        </p:txBody>
      </p:sp>
      <p:sp>
        <p:nvSpPr>
          <p:cNvPr id="17" name="STC-27-refa-num-3">
            <a:extLst xmlns:a="http://schemas.openxmlformats.org/drawingml/2006/main">
              <a:ext uri="{FF2B5EF4-FFF2-40B4-BE49-F238E27FC236}">
                <a16:creationId xmlns:a16="http://schemas.microsoft.com/office/drawing/2014/main" id="{D9C0E555-B0D3-42B1-B743-FB715B96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8386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04</a:t>
            </a:r>
          </a:p>
        </p:txBody>
      </p:sp>
      <p:sp>
        <p:nvSpPr>
          <p:cNvPr id="18" name="STC-27-refa-text-3">
            <a:extLst xmlns:a="http://schemas.openxmlformats.org/drawingml/2006/main">
              <a:ext uri="{FF2B5EF4-FFF2-40B4-BE49-F238E27FC236}">
                <a16:creationId xmlns:a16="http://schemas.microsoft.com/office/drawing/2014/main" id="{C8A178EB-AFF2-46CA-B1F1-5E61134C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42900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H4 · reuse×predictability amortization</a:t>
            </a:r>
          </a:p>
        </p:txBody>
      </p:sp>
      <p:sp>
        <p:nvSpPr>
          <p:cNvPr id="19" name="STC-27-refa-num-4">
            <a:extLst xmlns:a="http://schemas.openxmlformats.org/drawingml/2006/main">
              <a:ext uri="{FF2B5EF4-FFF2-40B4-BE49-F238E27FC236}">
                <a16:creationId xmlns:a16="http://schemas.microsoft.com/office/drawing/2014/main" id="{36639D80-90D3-4AF2-B08D-B7C17400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2394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05</a:t>
            </a:r>
          </a:p>
        </p:txBody>
      </p:sp>
      <p:sp>
        <p:nvSpPr>
          <p:cNvPr id="20" name="STC-27-refa-text-4">
            <a:extLst xmlns:a="http://schemas.openxmlformats.org/drawingml/2006/main">
              <a:ext uri="{FF2B5EF4-FFF2-40B4-BE49-F238E27FC236}">
                <a16:creationId xmlns:a16="http://schemas.microsoft.com/office/drawing/2014/main" id="{E0878729-7908-4A01-A5CA-13A4E6B4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06908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H5 · cadence–staleness optimum</a:t>
            </a:r>
          </a:p>
        </p:txBody>
      </p:sp>
      <p:sp>
        <p:nvSpPr>
          <p:cNvPr id="21" name="STC-27-refa-num-5">
            <a:extLst xmlns:a="http://schemas.openxmlformats.org/drawingml/2006/main">
              <a:ext uri="{FF2B5EF4-FFF2-40B4-BE49-F238E27FC236}">
                <a16:creationId xmlns:a16="http://schemas.microsoft.com/office/drawing/2014/main" id="{D6CBDD71-E3E4-40F2-BA4B-FC19FD4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640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06</a:t>
            </a:r>
          </a:p>
        </p:txBody>
      </p:sp>
      <p:sp>
        <p:nvSpPr>
          <p:cNvPr id="22" name="STC-27-refa-text-5">
            <a:extLst xmlns:a="http://schemas.openxmlformats.org/drawingml/2006/main">
              <a:ext uri="{FF2B5EF4-FFF2-40B4-BE49-F238E27FC236}">
                <a16:creationId xmlns:a16="http://schemas.microsoft.com/office/drawing/2014/main" id="{0205760B-1EDA-4BA7-A2FD-84430499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091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STATUS · all prospective; no universal exponent claimed</a:t>
            </a:r>
          </a:p>
        </p:txBody>
      </p:sp>
      <p:sp>
        <p:nvSpPr>
          <p:cNvPr id="23" name="STC-27-refa-num-6">
            <a:extLst xmlns:a="http://schemas.openxmlformats.org/drawingml/2006/main">
              <a:ext uri="{FF2B5EF4-FFF2-40B4-BE49-F238E27FC236}">
                <a16:creationId xmlns:a16="http://schemas.microsoft.com/office/drawing/2014/main" id="{C0771E5D-AD0F-4CC0-9688-7A7A0EDE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041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07</a:t>
            </a:r>
          </a:p>
        </p:txBody>
      </p:sp>
      <p:sp>
        <p:nvSpPr>
          <p:cNvPr id="24" name="STC-27-refa-text-6">
            <a:extLst xmlns:a="http://schemas.openxmlformats.org/drawingml/2006/main">
              <a:ext uri="{FF2B5EF4-FFF2-40B4-BE49-F238E27FC236}">
                <a16:creationId xmlns:a16="http://schemas.microsoft.com/office/drawing/2014/main" id="{F53914A2-FC99-4B5D-82AA-95963F0A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3492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STC-H001</a:t>
            </a:r>
          </a:p>
        </p:txBody>
      </p:sp>
      <p:sp>
        <p:nvSpPr>
          <p:cNvPr id="25" name="STC-27-refa-num-7">
            <a:extLst xmlns:a="http://schemas.openxmlformats.org/drawingml/2006/main">
              <a:ext uri="{FF2B5EF4-FFF2-40B4-BE49-F238E27FC236}">
                <a16:creationId xmlns:a16="http://schemas.microsoft.com/office/drawing/2014/main" id="{F326860C-0DF6-47FB-A103-2AC6AA4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36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08</a:t>
            </a:r>
          </a:p>
        </p:txBody>
      </p:sp>
      <p:sp>
        <p:nvSpPr>
          <p:cNvPr id="26" name="STC-27-refa-text-7">
            <a:extLst xmlns:a="http://schemas.openxmlformats.org/drawingml/2006/main">
              <a:ext uri="{FF2B5EF4-FFF2-40B4-BE49-F238E27FC236}">
                <a16:creationId xmlns:a16="http://schemas.microsoft.com/office/drawing/2014/main" id="{8DCC3F6C-08E1-4408-829B-B855DB98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15087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STC-H002</a:t>
            </a:r>
          </a:p>
        </p:txBody>
      </p:sp>
      <p:sp>
        <p:nvSpPr>
          <p:cNvPr id="27" name="STC-27-refa-num-8">
            <a:extLst xmlns:a="http://schemas.openxmlformats.org/drawingml/2006/main">
              <a:ext uri="{FF2B5EF4-FFF2-40B4-BE49-F238E27FC236}">
                <a16:creationId xmlns:a16="http://schemas.microsoft.com/office/drawing/2014/main" id="{0C9F2805-7289-4AFA-9F15-0FB4573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37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09</a:t>
            </a:r>
          </a:p>
        </p:txBody>
      </p:sp>
      <p:sp>
        <p:nvSpPr>
          <p:cNvPr id="28" name="STC-27-refa-text-8">
            <a:extLst xmlns:a="http://schemas.openxmlformats.org/drawingml/2006/main">
              <a:ext uri="{FF2B5EF4-FFF2-40B4-BE49-F238E27FC236}">
                <a16:creationId xmlns:a16="http://schemas.microsoft.com/office/drawing/2014/main" id="{D88F4F61-9531-47F3-A8A4-7B77F7E3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21488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STC-H003</a:t>
            </a:r>
          </a:p>
        </p:txBody>
      </p:sp>
      <p:sp>
        <p:nvSpPr>
          <p:cNvPr id="29" name="STC-27-refa-num-9">
            <a:extLst xmlns:a="http://schemas.openxmlformats.org/drawingml/2006/main">
              <a:ext uri="{FF2B5EF4-FFF2-40B4-BE49-F238E27FC236}">
                <a16:creationId xmlns:a16="http://schemas.microsoft.com/office/drawing/2014/main" id="{7AEBE5E1-72D8-4ACE-B49B-296FAAE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4378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10</a:t>
            </a:r>
          </a:p>
        </p:txBody>
      </p:sp>
      <p:sp>
        <p:nvSpPr>
          <p:cNvPr id="30" name="STC-27-refa-text-9">
            <a:extLst xmlns:a="http://schemas.openxmlformats.org/drawingml/2006/main">
              <a:ext uri="{FF2B5EF4-FFF2-40B4-BE49-F238E27FC236}">
                <a16:creationId xmlns:a16="http://schemas.microsoft.com/office/drawing/2014/main" id="{20B660B7-8904-48B8-B44E-A49C86A3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278892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STC-H004</a:t>
            </a:r>
          </a:p>
        </p:txBody>
      </p:sp>
      <p:sp>
        <p:nvSpPr>
          <p:cNvPr id="31" name="STC-27-refa-num-10">
            <a:extLst xmlns:a="http://schemas.openxmlformats.org/drawingml/2006/main">
              <a:ext uri="{FF2B5EF4-FFF2-40B4-BE49-F238E27FC236}">
                <a16:creationId xmlns:a16="http://schemas.microsoft.com/office/drawing/2014/main" id="{2637E4FA-6A7A-4DE1-980B-2D51D9C8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386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11</a:t>
            </a:r>
          </a:p>
        </p:txBody>
      </p:sp>
      <p:sp>
        <p:nvSpPr>
          <p:cNvPr id="32" name="STC-27-refa-text-10">
            <a:extLst xmlns:a="http://schemas.openxmlformats.org/drawingml/2006/main">
              <a:ext uri="{FF2B5EF4-FFF2-40B4-BE49-F238E27FC236}">
                <a16:creationId xmlns:a16="http://schemas.microsoft.com/office/drawing/2014/main" id="{32404DC8-7C04-4419-916C-EF059B53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42900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STC-H005</a:t>
            </a:r>
          </a:p>
        </p:txBody>
      </p:sp>
      <p:sp>
        <p:nvSpPr>
          <p:cNvPr id="33" name="STC-27-refa-num-11">
            <a:extLst xmlns:a="http://schemas.openxmlformats.org/drawingml/2006/main">
              <a:ext uri="{FF2B5EF4-FFF2-40B4-BE49-F238E27FC236}">
                <a16:creationId xmlns:a16="http://schemas.microsoft.com/office/drawing/2014/main" id="{588AF6A3-E89B-4594-A0FA-64E8056E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2394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12</a:t>
            </a:r>
          </a:p>
        </p:txBody>
      </p:sp>
      <p:sp>
        <p:nvSpPr>
          <p:cNvPr id="34" name="STC-27-refa-text-11">
            <a:extLst xmlns:a="http://schemas.openxmlformats.org/drawingml/2006/main">
              <a:ext uri="{FF2B5EF4-FFF2-40B4-BE49-F238E27FC236}">
                <a16:creationId xmlns:a16="http://schemas.microsoft.com/office/drawing/2014/main" id="{DD4833FA-7A35-45E3-B237-73E6C08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406908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STC-H001</a:t>
            </a:r>
          </a:p>
        </p:txBody>
      </p:sp>
      <p:sp>
        <p:nvSpPr>
          <p:cNvPr id="35" name="STC-27-refa-num-12">
            <a:extLst xmlns:a="http://schemas.openxmlformats.org/drawingml/2006/main">
              <a:ext uri="{FF2B5EF4-FFF2-40B4-BE49-F238E27FC236}">
                <a16:creationId xmlns:a16="http://schemas.microsoft.com/office/drawing/2014/main" id="{4C76EE85-416E-4C54-B14F-36F413EE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40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13</a:t>
            </a:r>
          </a:p>
        </p:txBody>
      </p:sp>
      <p:sp>
        <p:nvSpPr>
          <p:cNvPr id="36" name="STC-27-refa-text-12">
            <a:extLst xmlns:a="http://schemas.openxmlformats.org/drawingml/2006/main">
              <a:ext uri="{FF2B5EF4-FFF2-40B4-BE49-F238E27FC236}">
                <a16:creationId xmlns:a16="http://schemas.microsoft.com/office/drawing/2014/main" id="{374126D1-E630-47F7-9BA8-3355B3D1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47091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STC-H002</a:t>
            </a:r>
          </a:p>
        </p:txBody>
      </p:sp>
      <p:sp>
        <p:nvSpPr>
          <p:cNvPr id="37" name="STC-27-refa-num-13">
            <a:extLst xmlns:a="http://schemas.openxmlformats.org/drawingml/2006/main">
              <a:ext uri="{FF2B5EF4-FFF2-40B4-BE49-F238E27FC236}">
                <a16:creationId xmlns:a16="http://schemas.microsoft.com/office/drawing/2014/main" id="{DE55D9A4-4B69-46E5-8F6B-8C59F1A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041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14</a:t>
            </a:r>
          </a:p>
        </p:txBody>
      </p:sp>
      <p:sp>
        <p:nvSpPr>
          <p:cNvPr id="38" name="STC-27-refa-text-13">
            <a:extLst xmlns:a="http://schemas.openxmlformats.org/drawingml/2006/main">
              <a:ext uri="{FF2B5EF4-FFF2-40B4-BE49-F238E27FC236}">
                <a16:creationId xmlns:a16="http://schemas.microsoft.com/office/drawing/2014/main" id="{FBABE589-FD1E-44BB-8D05-53B1F8F2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3492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STC-H003</a:t>
            </a:r>
          </a:p>
        </p:txBody>
      </p:sp>
      <p:sp>
        <p:nvSpPr>
          <p:cNvPr id="39" name="STC-27-refa-note">
            <a:extLst xmlns:a="http://schemas.openxmlformats.org/drawingml/2006/main">
              <a:ext uri="{FF2B5EF4-FFF2-40B4-BE49-F238E27FC236}">
                <a16:creationId xmlns:a16="http://schemas.microsoft.com/office/drawing/2014/main" id="{2F0C93C0-6D67-4D50-801A-88333280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5870448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compute diminishing return</a:t>
            </a:r>
          </a:p>
        </p:txBody>
      </p:sp>
    </p:spTree>
    <p:extLst>
      <p:ext uri="{BB962C8B-B14F-4D97-AF65-F5344CB8AC3E}">
        <p14:creationId xmlns:p14="http://schemas.microsoft.com/office/powerpoint/2010/main" val="114146695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3-section">
            <a:extLst xmlns:a="http://schemas.openxmlformats.org/drawingml/2006/main">
              <a:ext uri="{FF2B5EF4-FFF2-40B4-BE49-F238E27FC236}">
                <a16:creationId xmlns:a16="http://schemas.microsoft.com/office/drawing/2014/main" id="{83B4AEDF-92CA-4038-9758-24EE0FE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SCALING</a:t>
            </a:r>
          </a:p>
        </p:txBody>
      </p:sp>
      <p:sp>
        <p:nvSpPr>
          <p:cNvPr id="3" name="STC-23-slide-id">
            <a:extLst xmlns:a="http://schemas.openxmlformats.org/drawingml/2006/main">
              <a:ext uri="{FF2B5EF4-FFF2-40B4-BE49-F238E27FC236}">
                <a16:creationId xmlns:a16="http://schemas.microsoft.com/office/drawing/2014/main" id="{3C7E2B13-9641-442E-9078-087BF17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STC-094</a:t>
            </a:r>
          </a:p>
        </p:txBody>
      </p:sp>
      <p:sp>
        <p:nvSpPr>
          <p:cNvPr id="4" name="STC-23-headline">
            <a:extLst xmlns:a="http://schemas.openxmlformats.org/drawingml/2006/main">
              <a:ext uri="{FF2B5EF4-FFF2-40B4-BE49-F238E27FC236}">
                <a16:creationId xmlns:a16="http://schemas.microsoft.com/office/drawing/2014/main" id="{8C690D20-B7C7-4222-9E22-12ABEE0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다음 연구는 exponent보다 falsifier를 먼저 공개한다</a:t>
            </a:r>
          </a:p>
        </p:txBody>
      </p:sp>
      <p:sp>
        <p:nvSpPr>
          <p:cNvPr id="5" name="STC-23-status-label">
            <a:extLst xmlns:a="http://schemas.openxmlformats.org/drawingml/2006/main">
              <a:ext uri="{FF2B5EF4-FFF2-40B4-BE49-F238E27FC236}">
                <a16:creationId xmlns:a16="http://schemas.microsoft.com/office/drawing/2014/main" id="{BFF28558-5058-4081-AD1B-865AE70D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연구 질문</a:t>
            </a:r>
          </a:p>
        </p:txBody>
      </p:sp>
      <p:sp>
        <p:nvSpPr>
          <p:cNvPr id="6" name="STC-23-status-rule">
            <a:extLst xmlns:a="http://schemas.openxmlformats.org/drawingml/2006/main">
              <a:ext uri="{FF2B5EF4-FFF2-40B4-BE49-F238E27FC236}">
                <a16:creationId xmlns:a16="http://schemas.microsoft.com/office/drawing/2014/main" id="{1CABF356-8D78-415B-A983-F30B38D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23-footer-rule">
            <a:extLst xmlns:a="http://schemas.openxmlformats.org/drawingml/2006/main">
              <a:ext uri="{FF2B5EF4-FFF2-40B4-BE49-F238E27FC236}">
                <a16:creationId xmlns:a16="http://schemas.microsoft.com/office/drawing/2014/main" id="{2487BDDB-4ACB-40EA-B813-FBD0A74F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3-source-footer">
            <a:extLst xmlns:a="http://schemas.openxmlformats.org/drawingml/2006/main">
              <a:ext uri="{FF2B5EF4-FFF2-40B4-BE49-F238E27FC236}">
                <a16:creationId xmlns:a16="http://schemas.microsoft.com/office/drawing/2014/main" id="{B11C6CD1-659A-4D4E-801E-E47DE2CA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§16 · falsification plan</a:t>
            </a:r>
          </a:p>
        </p:txBody>
      </p:sp>
      <p:sp>
        <p:nvSpPr>
          <p:cNvPr id="9" name="STC-23-page-number">
            <a:extLst xmlns:a="http://schemas.openxmlformats.org/drawingml/2006/main">
              <a:ext uri="{FF2B5EF4-FFF2-40B4-BE49-F238E27FC236}">
                <a16:creationId xmlns:a16="http://schemas.microsoft.com/office/drawing/2014/main" id="{982079F3-793C-4DBF-BC11-550ACE7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94</a:t>
            </a:r>
          </a:p>
        </p:txBody>
      </p:sp>
      <p:sp>
        <p:nvSpPr>
          <p:cNvPr id="11" name="STC-23-oq-tag-0">
            <a:extLst xmlns:a="http://schemas.openxmlformats.org/drawingml/2006/main">
              <a:ext uri="{FF2B5EF4-FFF2-40B4-BE49-F238E27FC236}">
                <a16:creationId xmlns:a16="http://schemas.microsoft.com/office/drawing/2014/main" id="{3D98CEE7-1FFC-42BA-84C8-29D8070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HIT</a:t>
            </a:r>
          </a:p>
        </p:txBody>
      </p:sp>
      <p:sp>
        <p:nvSpPr>
          <p:cNvPr id="12" name="STC-23-oq-rule-0">
            <a:extLst xmlns:a="http://schemas.openxmlformats.org/drawingml/2006/main">
              <a:ext uri="{FF2B5EF4-FFF2-40B4-BE49-F238E27FC236}">
                <a16:creationId xmlns:a16="http://schemas.microsoft.com/office/drawing/2014/main" id="{791E95A2-EE4C-4B74-B1D3-B3B075F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3-oq-list-0-dot-0">
            <a:extLst xmlns:a="http://schemas.openxmlformats.org/drawingml/2006/main">
              <a:ext uri="{FF2B5EF4-FFF2-40B4-BE49-F238E27FC236}">
                <a16:creationId xmlns:a16="http://schemas.microsoft.com/office/drawing/2014/main" id="{D890EDF2-4BE8-44C8-A8D0-A533DD32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4" name="STC-23-oq-list-0-item-0">
            <a:extLst xmlns:a="http://schemas.openxmlformats.org/drawingml/2006/main">
              <a:ext uri="{FF2B5EF4-FFF2-40B4-BE49-F238E27FC236}">
                <a16:creationId xmlns:a16="http://schemas.microsoft.com/office/drawing/2014/main" id="{808E6A56-6904-4A8B-90DE-E069838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HIT</a:t>
            </a:r>
          </a:p>
        </p:txBody>
      </p:sp>
      <p:sp>
        <p:nvSpPr>
          <p:cNvPr id="15" name="STC-23-oq-list-0-dot-1">
            <a:extLst xmlns:a="http://schemas.openxmlformats.org/drawingml/2006/main">
              <a:ext uri="{FF2B5EF4-FFF2-40B4-BE49-F238E27FC236}">
                <a16:creationId xmlns:a16="http://schemas.microsoft.com/office/drawing/2014/main" id="{5B072EEB-AB09-446E-ADDB-54C2D26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6" name="STC-23-oq-list-0-item-1">
            <a:extLst xmlns:a="http://schemas.openxmlformats.org/drawingml/2006/main">
              <a:ext uri="{FF2B5EF4-FFF2-40B4-BE49-F238E27FC236}">
                <a16:creationId xmlns:a16="http://schemas.microsoft.com/office/drawing/2014/main" id="{396DCCB9-FC49-46D3-ACB9-8313D85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CYCLE</a:t>
            </a:r>
          </a:p>
        </p:txBody>
      </p:sp>
      <p:sp>
        <p:nvSpPr>
          <p:cNvPr id="17" name="STC-23-oq-list-0-dot-2">
            <a:extLst xmlns:a="http://schemas.openxmlformats.org/drawingml/2006/main">
              <a:ext uri="{FF2B5EF4-FFF2-40B4-BE49-F238E27FC236}">
                <a16:creationId xmlns:a16="http://schemas.microsoft.com/office/drawing/2014/main" id="{B6BB5E75-0794-4530-883D-D8C0E582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23-oq-list-0-item-2">
            <a:extLst xmlns:a="http://schemas.openxmlformats.org/drawingml/2006/main">
              <a:ext uri="{FF2B5EF4-FFF2-40B4-BE49-F238E27FC236}">
                <a16:creationId xmlns:a16="http://schemas.microsoft.com/office/drawing/2014/main" id="{B7224412-EFB4-49B2-9907-180AE11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DELETE</a:t>
            </a:r>
          </a:p>
        </p:txBody>
      </p:sp>
      <p:sp>
        <p:nvSpPr>
          <p:cNvPr id="19" name="STC-23-oq-tag-1">
            <a:extLst xmlns:a="http://schemas.openxmlformats.org/drawingml/2006/main">
              <a:ext uri="{FF2B5EF4-FFF2-40B4-BE49-F238E27FC236}">
                <a16:creationId xmlns:a16="http://schemas.microsoft.com/office/drawing/2014/main" id="{41CD2AB9-6A25-4DDA-A109-E7B888F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CYCLE</a:t>
            </a:r>
          </a:p>
        </p:txBody>
      </p:sp>
      <p:sp>
        <p:nvSpPr>
          <p:cNvPr id="20" name="STC-23-oq-rule-1">
            <a:extLst xmlns:a="http://schemas.openxmlformats.org/drawingml/2006/main">
              <a:ext uri="{FF2B5EF4-FFF2-40B4-BE49-F238E27FC236}">
                <a16:creationId xmlns:a16="http://schemas.microsoft.com/office/drawing/2014/main" id="{9FD75D67-74B8-4747-B8EF-C615C715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23-oq-list-1-dot-0">
            <a:extLst xmlns:a="http://schemas.openxmlformats.org/drawingml/2006/main">
              <a:ext uri="{FF2B5EF4-FFF2-40B4-BE49-F238E27FC236}">
                <a16:creationId xmlns:a16="http://schemas.microsoft.com/office/drawing/2014/main" id="{E9EACF91-5739-4A48-A5A4-DAF9343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2" name="STC-23-oq-list-1-item-0">
            <a:extLst xmlns:a="http://schemas.openxmlformats.org/drawingml/2006/main">
              <a:ext uri="{FF2B5EF4-FFF2-40B4-BE49-F238E27FC236}">
                <a16:creationId xmlns:a16="http://schemas.microsoft.com/office/drawing/2014/main" id="{1AB30073-10F5-4558-867E-B98985CC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HIT</a:t>
            </a:r>
          </a:p>
        </p:txBody>
      </p:sp>
      <p:sp>
        <p:nvSpPr>
          <p:cNvPr id="23" name="STC-23-oq-list-1-dot-1">
            <a:extLst xmlns:a="http://schemas.openxmlformats.org/drawingml/2006/main">
              <a:ext uri="{FF2B5EF4-FFF2-40B4-BE49-F238E27FC236}">
                <a16:creationId xmlns:a16="http://schemas.microsoft.com/office/drawing/2014/main" id="{B5D924D0-9846-420F-8055-25A62F2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4" name="STC-23-oq-list-1-item-1">
            <a:extLst xmlns:a="http://schemas.openxmlformats.org/drawingml/2006/main">
              <a:ext uri="{FF2B5EF4-FFF2-40B4-BE49-F238E27FC236}">
                <a16:creationId xmlns:a16="http://schemas.microsoft.com/office/drawing/2014/main" id="{15294CC7-3B65-47BC-BD29-B52A0977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CYCLE</a:t>
            </a:r>
          </a:p>
        </p:txBody>
      </p:sp>
      <p:sp>
        <p:nvSpPr>
          <p:cNvPr id="25" name="STC-23-oq-list-1-dot-2">
            <a:extLst xmlns:a="http://schemas.openxmlformats.org/drawingml/2006/main">
              <a:ext uri="{FF2B5EF4-FFF2-40B4-BE49-F238E27FC236}">
                <a16:creationId xmlns:a16="http://schemas.microsoft.com/office/drawing/2014/main" id="{3BB3ACF3-023D-4F3A-8683-4A58CB99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6" name="STC-23-oq-list-1-item-2">
            <a:extLst xmlns:a="http://schemas.openxmlformats.org/drawingml/2006/main">
              <a:ext uri="{FF2B5EF4-FFF2-40B4-BE49-F238E27FC236}">
                <a16:creationId xmlns:a16="http://schemas.microsoft.com/office/drawing/2014/main" id="{A35398CF-A613-4CF0-819A-3B11BD9C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DELETE</a:t>
            </a:r>
          </a:p>
        </p:txBody>
      </p:sp>
      <p:sp>
        <p:nvSpPr>
          <p:cNvPr id="27" name="STC-23-oq-tag-2">
            <a:extLst xmlns:a="http://schemas.openxmlformats.org/drawingml/2006/main">
              <a:ext uri="{FF2B5EF4-FFF2-40B4-BE49-F238E27FC236}">
                <a16:creationId xmlns:a16="http://schemas.microsoft.com/office/drawing/2014/main" id="{AD6ABE25-6720-4FD6-AD74-25D26678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1645920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DELETE</a:t>
            </a:r>
          </a:p>
        </p:txBody>
      </p:sp>
      <p:sp>
        <p:nvSpPr>
          <p:cNvPr id="28" name="STC-23-oq-rule-2">
            <a:extLst xmlns:a="http://schemas.openxmlformats.org/drawingml/2006/main">
              <a:ext uri="{FF2B5EF4-FFF2-40B4-BE49-F238E27FC236}">
                <a16:creationId xmlns:a16="http://schemas.microsoft.com/office/drawing/2014/main" id="{365B9BA9-8C99-45B1-899A-845C87AB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01168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23-oq-list-2-dot-0">
            <a:extLst xmlns:a="http://schemas.openxmlformats.org/drawingml/2006/main">
              <a:ext uri="{FF2B5EF4-FFF2-40B4-BE49-F238E27FC236}">
                <a16:creationId xmlns:a16="http://schemas.microsoft.com/office/drawing/2014/main" id="{B8DF43B2-7C7A-41E1-8F83-1F0AFE4B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5054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0" name="STC-23-oq-list-2-item-0">
            <a:extLst xmlns:a="http://schemas.openxmlformats.org/drawingml/2006/main">
              <a:ext uri="{FF2B5EF4-FFF2-40B4-BE49-F238E27FC236}">
                <a16:creationId xmlns:a16="http://schemas.microsoft.com/office/drawing/2014/main" id="{AAC5CE98-8E71-49B4-887B-15BAC589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2395728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HIT</a:t>
            </a:r>
          </a:p>
        </p:txBody>
      </p:sp>
      <p:sp>
        <p:nvSpPr>
          <p:cNvPr id="31" name="STC-23-oq-list-2-dot-1">
            <a:extLst xmlns:a="http://schemas.openxmlformats.org/drawingml/2006/main">
              <a:ext uri="{FF2B5EF4-FFF2-40B4-BE49-F238E27FC236}">
                <a16:creationId xmlns:a16="http://schemas.microsoft.com/office/drawing/2014/main" id="{2DB721A4-AA18-4AFE-BB22-5336207D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2" name="STC-23-oq-list-2-item-1">
            <a:extLst xmlns:a="http://schemas.openxmlformats.org/drawingml/2006/main">
              <a:ext uri="{FF2B5EF4-FFF2-40B4-BE49-F238E27FC236}">
                <a16:creationId xmlns:a16="http://schemas.microsoft.com/office/drawing/2014/main" id="{92348E0C-C171-4844-ADDC-EE67F153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3090672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CYCLE</a:t>
            </a:r>
          </a:p>
        </p:txBody>
      </p:sp>
      <p:sp>
        <p:nvSpPr>
          <p:cNvPr id="33" name="STC-23-oq-list-2-dot-2">
            <a:extLst xmlns:a="http://schemas.openxmlformats.org/drawingml/2006/main">
              <a:ext uri="{FF2B5EF4-FFF2-40B4-BE49-F238E27FC236}">
                <a16:creationId xmlns:a16="http://schemas.microsoft.com/office/drawing/2014/main" id="{78DE9F22-B95A-4F57-AB1A-B34E018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8953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4" name="STC-23-oq-list-2-item-2">
            <a:extLst xmlns:a="http://schemas.openxmlformats.org/drawingml/2006/main">
              <a:ext uri="{FF2B5EF4-FFF2-40B4-BE49-F238E27FC236}">
                <a16:creationId xmlns:a16="http://schemas.microsoft.com/office/drawing/2014/main" id="{E2690F74-0807-40C8-ABDD-230F6BC8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3785616"/>
            <a:ext cx="2532888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DELETE</a:t>
            </a:r>
          </a:p>
        </p:txBody>
      </p:sp>
      <p:sp>
        <p:nvSpPr>
          <p:cNvPr id="35" name="STC-23-oq-div-1">
            <a:extLst xmlns:a="http://schemas.openxmlformats.org/drawingml/2006/main">
              <a:ext uri="{FF2B5EF4-FFF2-40B4-BE49-F238E27FC236}">
                <a16:creationId xmlns:a16="http://schemas.microsoft.com/office/drawing/2014/main" id="{22061BF3-0F26-4D62-8B39-6C7F326C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591056"/>
            <a:ext cx="0" cy="3182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6" name="STC-23-oq-div-2">
            <a:extLst xmlns:a="http://schemas.openxmlformats.org/drawingml/2006/main">
              <a:ext uri="{FF2B5EF4-FFF2-40B4-BE49-F238E27FC236}">
                <a16:creationId xmlns:a16="http://schemas.microsoft.com/office/drawing/2014/main" id="{83497970-4CEC-4464-8E8C-7E9B5F3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591056"/>
            <a:ext cx="0" cy="3182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7" name="STC-23-oq-hyp-title">
            <a:extLst xmlns:a="http://schemas.openxmlformats.org/drawingml/2006/main">
              <a:ext uri="{FF2B5EF4-FFF2-40B4-BE49-F238E27FC236}">
                <a16:creationId xmlns:a16="http://schemas.microsoft.com/office/drawing/2014/main" id="{C4119F67-D01C-4F2E-BF4D-BE5BC81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065776"/>
            <a:ext cx="1060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HIT</a:t>
            </a:r>
          </a:p>
        </p:txBody>
      </p:sp>
      <p:sp>
        <p:nvSpPr>
          <p:cNvPr id="38" name="STC-23-oq-hyp-list">
            <a:extLst xmlns:a="http://schemas.openxmlformats.org/drawingml/2006/main">
              <a:ext uri="{FF2B5EF4-FFF2-40B4-BE49-F238E27FC236}">
                <a16:creationId xmlns:a16="http://schemas.microsoft.com/office/drawing/2014/main" id="{6DFB4405-C980-4915-8DAE-2EA96EE9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965192"/>
            <a:ext cx="899769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하나라도 실패하면 broad adoption 주장을 좁힌다.</a:t>
            </a:r>
          </a:p>
        </p:txBody>
      </p:sp>
    </p:spTree>
    <p:extLst>
      <p:ext uri="{BB962C8B-B14F-4D97-AF65-F5344CB8AC3E}">
        <p14:creationId xmlns:p14="http://schemas.microsoft.com/office/powerpoint/2010/main" val="63028543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0-section">
            <a:extLst xmlns:a="http://schemas.openxmlformats.org/drawingml/2006/main">
              <a:ext uri="{FF2B5EF4-FFF2-40B4-BE49-F238E27FC236}">
                <a16:creationId xmlns:a16="http://schemas.microsoft.com/office/drawing/2014/main" id="{5EDCD299-655D-4523-82A0-59F49E1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20-slide-id">
            <a:extLst xmlns:a="http://schemas.openxmlformats.org/drawingml/2006/main">
              <a:ext uri="{FF2B5EF4-FFF2-40B4-BE49-F238E27FC236}">
                <a16:creationId xmlns:a16="http://schemas.microsoft.com/office/drawing/2014/main" id="{32C07A66-97D7-4CD1-9893-C311EE67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STC-095</a:t>
            </a:r>
          </a:p>
        </p:txBody>
      </p:sp>
      <p:sp>
        <p:nvSpPr>
          <p:cNvPr id="4" name="STC-20-headline">
            <a:extLst xmlns:a="http://schemas.openxmlformats.org/drawingml/2006/main">
              <a:ext uri="{FF2B5EF4-FFF2-40B4-BE49-F238E27FC236}">
                <a16:creationId xmlns:a16="http://schemas.microsoft.com/office/drawing/2014/main" id="{AFFB7CDB-FED7-4E9E-B7ED-F4E38A0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Infra는 wake·sleep·memory fabric의 세 plane으로 분리된다</a:t>
            </a:r>
          </a:p>
        </p:txBody>
      </p:sp>
      <p:sp>
        <p:nvSpPr>
          <p:cNvPr id="5" name="STC-20-status-label">
            <a:extLst xmlns:a="http://schemas.openxmlformats.org/drawingml/2006/main">
              <a:ext uri="{FF2B5EF4-FFF2-40B4-BE49-F238E27FC236}">
                <a16:creationId xmlns:a16="http://schemas.microsoft.com/office/drawing/2014/main" id="{F1C132A5-F1B4-4EA3-B9D4-9A19BA1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20-status-rule">
            <a:extLst xmlns:a="http://schemas.openxmlformats.org/drawingml/2006/main">
              <a:ext uri="{FF2B5EF4-FFF2-40B4-BE49-F238E27FC236}">
                <a16:creationId xmlns:a16="http://schemas.microsoft.com/office/drawing/2014/main" id="{296C999B-3F04-4907-A607-49A7D916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0-footer-rule">
            <a:extLst xmlns:a="http://schemas.openxmlformats.org/drawingml/2006/main">
              <a:ext uri="{FF2B5EF4-FFF2-40B4-BE49-F238E27FC236}">
                <a16:creationId xmlns:a16="http://schemas.microsoft.com/office/drawing/2014/main" id="{1A414E08-3FD3-4CA5-B702-E3371BE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0-source-footer">
            <a:extLst xmlns:a="http://schemas.openxmlformats.org/drawingml/2006/main">
              <a:ext uri="{FF2B5EF4-FFF2-40B4-BE49-F238E27FC236}">
                <a16:creationId xmlns:a16="http://schemas.microsoft.com/office/drawing/2014/main" id="{6436493B-B3AE-4CC7-B707-EBD083C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§13 · STC-F011</a:t>
            </a:r>
          </a:p>
        </p:txBody>
      </p:sp>
      <p:sp>
        <p:nvSpPr>
          <p:cNvPr id="9" name="STC-20-page-number">
            <a:extLst xmlns:a="http://schemas.openxmlformats.org/drawingml/2006/main">
              <a:ext uri="{FF2B5EF4-FFF2-40B4-BE49-F238E27FC236}">
                <a16:creationId xmlns:a16="http://schemas.microsoft.com/office/drawing/2014/main" id="{46D728FE-DB3F-48C1-9245-25AAC00F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95</a:t>
            </a:r>
          </a:p>
        </p:txBody>
      </p:sp>
      <p:sp>
        <p:nvSpPr>
          <p:cNvPr id="11" name="STC-20-infra-plane-0">
            <a:extLst xmlns:a="http://schemas.openxmlformats.org/drawingml/2006/main">
              <a:ext uri="{FF2B5EF4-FFF2-40B4-BE49-F238E27FC236}">
                <a16:creationId xmlns:a16="http://schemas.microsoft.com/office/drawing/2014/main" id="{CBC7ECDF-7F2F-49BF-846B-5F658CEE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20-infra-label-0">
            <a:extLst xmlns:a="http://schemas.openxmlformats.org/drawingml/2006/main">
              <a:ext uri="{FF2B5EF4-FFF2-40B4-BE49-F238E27FC236}">
                <a16:creationId xmlns:a16="http://schemas.microsoft.com/office/drawing/2014/main" id="{F18FAA3C-6D4D-499D-A88F-E1242B5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WAKE PLANE</a:t>
            </a:r>
          </a:p>
        </p:txBody>
      </p:sp>
      <p:sp>
        <p:nvSpPr>
          <p:cNvPr id="13" name="STC-20-infra-body-0">
            <a:extLst xmlns:a="http://schemas.openxmlformats.org/drawingml/2006/main">
              <a:ext uri="{FF2B5EF4-FFF2-40B4-BE49-F238E27FC236}">
                <a16:creationId xmlns:a16="http://schemas.microsoft.com/office/drawing/2014/main" id="{9D63F807-406F-4AAB-B362-0899B4EA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infer · retrieve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capture · fast state</a:t>
            </a:r>
          </a:p>
        </p:txBody>
      </p:sp>
      <p:sp>
        <p:nvSpPr>
          <p:cNvPr id="14" name="STC-20-infra-arrow-0">
            <a:extLst xmlns:a="http://schemas.openxmlformats.org/drawingml/2006/main">
              <a:ext uri="{FF2B5EF4-FFF2-40B4-BE49-F238E27FC236}">
                <a16:creationId xmlns:a16="http://schemas.microsoft.com/office/drawing/2014/main" id="{686EF61D-766A-4F59-A67A-D542EE95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0-infra-plane-1">
            <a:extLst xmlns:a="http://schemas.openxmlformats.org/drawingml/2006/main">
              <a:ext uri="{FF2B5EF4-FFF2-40B4-BE49-F238E27FC236}">
                <a16:creationId xmlns:a16="http://schemas.microsoft.com/office/drawing/2014/main" id="{6EB93AC2-1EEC-40A8-BDA3-326E731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6" name="STC-20-infra-label-1">
            <a:extLst xmlns:a="http://schemas.openxmlformats.org/drawingml/2006/main">
              <a:ext uri="{FF2B5EF4-FFF2-40B4-BE49-F238E27FC236}">
                <a16:creationId xmlns:a16="http://schemas.microsoft.com/office/drawing/2014/main" id="{76D2C227-9C88-4716-987B-28A3086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SLEEP PLANE</a:t>
            </a:r>
          </a:p>
        </p:txBody>
      </p:sp>
      <p:sp>
        <p:nvSpPr>
          <p:cNvPr id="17" name="STC-20-infra-body-1">
            <a:extLst xmlns:a="http://schemas.openxmlformats.org/drawingml/2006/main">
              <a:ext uri="{FF2B5EF4-FFF2-40B4-BE49-F238E27FC236}">
                <a16:creationId xmlns:a16="http://schemas.microsoft.com/office/drawing/2014/main" id="{2E42E4C3-670F-4E90-9903-77393A2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dream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FT · RL · compact</a:t>
            </a:r>
          </a:p>
        </p:txBody>
      </p:sp>
      <p:sp>
        <p:nvSpPr>
          <p:cNvPr id="18" name="STC-20-infra-arrow-1">
            <a:extLst xmlns:a="http://schemas.openxmlformats.org/drawingml/2006/main">
              <a:ext uri="{FF2B5EF4-FFF2-40B4-BE49-F238E27FC236}">
                <a16:creationId xmlns:a16="http://schemas.microsoft.com/office/drawing/2014/main" id="{061AB89C-33F6-4FD5-A9DA-EA94532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0-infra-plane-2">
            <a:extLst xmlns:a="http://schemas.openxmlformats.org/drawingml/2006/main">
              <a:ext uri="{FF2B5EF4-FFF2-40B4-BE49-F238E27FC236}">
                <a16:creationId xmlns:a16="http://schemas.microsoft.com/office/drawing/2014/main" id="{531F132B-E335-4FCA-874C-13A5E6F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0" name="STC-20-infra-label-2">
            <a:extLst xmlns:a="http://schemas.openxmlformats.org/drawingml/2006/main">
              <a:ext uri="{FF2B5EF4-FFF2-40B4-BE49-F238E27FC236}">
                <a16:creationId xmlns:a16="http://schemas.microsoft.com/office/drawing/2014/main" id="{D32271A5-B68E-44CF-A333-8BA3B692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MEMORY FABRIC</a:t>
            </a:r>
          </a:p>
        </p:txBody>
      </p:sp>
      <p:sp>
        <p:nvSpPr>
          <p:cNvPr id="21" name="STC-20-infra-body-2">
            <a:extLst xmlns:a="http://schemas.openxmlformats.org/drawingml/2006/main">
              <a:ext uri="{FF2B5EF4-FFF2-40B4-BE49-F238E27FC236}">
                <a16:creationId xmlns:a16="http://schemas.microsoft.com/office/drawing/2014/main" id="{2921410A-C2D5-4759-9995-967B22B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text · vector · graph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latent · adapter</a:t>
            </a:r>
          </a:p>
        </p:txBody>
      </p:sp>
      <p:sp>
        <p:nvSpPr>
          <p:cNvPr id="22" name="STC-20-infra-control">
            <a:extLst xmlns:a="http://schemas.openxmlformats.org/drawingml/2006/main">
              <a:ext uri="{FF2B5EF4-FFF2-40B4-BE49-F238E27FC236}">
                <a16:creationId xmlns:a16="http://schemas.microsoft.com/office/drawing/2014/main" id="{EB2E378A-3527-4AE5-B759-8DD164A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35608"/>
            <a:ext cx="8183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3" name="STC-20-infra-control-text">
            <a:extLst xmlns:a="http://schemas.openxmlformats.org/drawingml/2006/main">
              <a:ext uri="{FF2B5EF4-FFF2-40B4-BE49-F238E27FC236}">
                <a16:creationId xmlns:a16="http://schemas.microsoft.com/office/drawing/2014/main" id="{EA823CF8-DAED-47E5-A2BB-36514B86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1655064"/>
            <a:ext cx="76078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Plane은 분리하되 artifact와 version contract로 연결한다.</a:t>
            </a:r>
          </a:p>
        </p:txBody>
      </p:sp>
      <p:sp>
        <p:nvSpPr>
          <p:cNvPr id="24" name="STC-20-infra-control-wake">
            <a:extLst xmlns:a="http://schemas.openxmlformats.org/drawingml/2006/main">
              <a:ext uri="{FF2B5EF4-FFF2-40B4-BE49-F238E27FC236}">
                <a16:creationId xmlns:a16="http://schemas.microsoft.com/office/drawing/2014/main" id="{9B142056-ABC8-4618-9D3D-5AEC5C05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5" name="STC-20-infra-control-sleep">
            <a:extLst xmlns:a="http://schemas.openxmlformats.org/drawingml/2006/main">
              <a:ext uri="{FF2B5EF4-FFF2-40B4-BE49-F238E27FC236}">
                <a16:creationId xmlns:a16="http://schemas.microsoft.com/office/drawing/2014/main" id="{8EC43546-90F6-4417-AD13-507CAF6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0-infra-control-memory">
            <a:extLst xmlns:a="http://schemas.openxmlformats.org/drawingml/2006/main">
              <a:ext uri="{FF2B5EF4-FFF2-40B4-BE49-F238E27FC236}">
                <a16:creationId xmlns:a16="http://schemas.microsoft.com/office/drawing/2014/main" id="{BA605134-8AB7-4A3F-9199-4019F5E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0-infra-ledger">
            <a:extLst xmlns:a="http://schemas.openxmlformats.org/drawingml/2006/main">
              <a:ext uri="{FF2B5EF4-FFF2-40B4-BE49-F238E27FC236}">
                <a16:creationId xmlns:a16="http://schemas.microsoft.com/office/drawing/2014/main" id="{A73ED90F-3148-4029-A4D4-B7D1D3A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1435608"/>
            <a:ext cx="941832" cy="3255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8" name="STC-20-infra-ledger-text">
            <a:extLst xmlns:a="http://schemas.openxmlformats.org/drawingml/2006/main">
              <a:ext uri="{FF2B5EF4-FFF2-40B4-BE49-F238E27FC236}">
                <a16:creationId xmlns:a16="http://schemas.microsoft.com/office/drawing/2014/main" id="{F6FB2E6C-106E-4656-AF22-77F175B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05872" y="2487168"/>
            <a:ext cx="6675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RESOURCE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LEDGER</a:t>
            </a:r>
          </a:p>
        </p:txBody>
      </p:sp>
      <p:sp>
        <p:nvSpPr>
          <p:cNvPr id="29" name="STC-20-infra-latency">
            <a:extLst xmlns:a="http://schemas.openxmlformats.org/drawingml/2006/main">
              <a:ext uri="{FF2B5EF4-FFF2-40B4-BE49-F238E27FC236}">
                <a16:creationId xmlns:a16="http://schemas.microsoft.com/office/drawing/2014/main" id="{21EA4BBA-62FC-4813-BFAE-9B708D3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30" name="STC-20-infra-throughput">
            <a:extLst xmlns:a="http://schemas.openxmlformats.org/drawingml/2006/main">
              <a:ext uri="{FF2B5EF4-FFF2-40B4-BE49-F238E27FC236}">
                <a16:creationId xmlns:a16="http://schemas.microsoft.com/office/drawing/2014/main" id="{BA6519A4-B643-4AA6-A6AF-14794E1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SLEEP PLANE</a:t>
            </a:r>
          </a:p>
        </p:txBody>
      </p:sp>
      <p:sp>
        <p:nvSpPr>
          <p:cNvPr id="31" name="STC-20-infra-tiered">
            <a:extLst xmlns:a="http://schemas.openxmlformats.org/drawingml/2006/main">
              <a:ext uri="{FF2B5EF4-FFF2-40B4-BE49-F238E27FC236}">
                <a16:creationId xmlns:a16="http://schemas.microsoft.com/office/drawing/2014/main" id="{371A383A-78E9-4C9B-A376-3815FE7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MEMORY FABRIC</a:t>
            </a:r>
          </a:p>
        </p:txBody>
      </p:sp>
    </p:spTree>
    <p:extLst>
      <p:ext uri="{BB962C8B-B14F-4D97-AF65-F5344CB8AC3E}">
        <p14:creationId xmlns:p14="http://schemas.microsoft.com/office/powerpoint/2010/main" val="75178982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STC-096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 cluster는 응답과 evidence capture를 끝까지 분리한다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SYSTEM-INFRA-BLUEPRINT · wake path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96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READ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INFER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CAPTURE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ACK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READ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INFER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7-section">
            <a:extLst xmlns:a="http://schemas.openxmlformats.org/drawingml/2006/main">
              <a:ext uri="{FF2B5EF4-FFF2-40B4-BE49-F238E27FC236}">
                <a16:creationId xmlns:a16="http://schemas.microsoft.com/office/drawing/2014/main" id="{E391B291-E3EC-4ADE-84F0-B696EEB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07-slide-id">
            <a:extLst xmlns:a="http://schemas.openxmlformats.org/drawingml/2006/main">
              <a:ext uri="{FF2B5EF4-FFF2-40B4-BE49-F238E27FC236}">
                <a16:creationId xmlns:a16="http://schemas.microsoft.com/office/drawing/2014/main" id="{1AA80556-ED4D-45EF-BCD4-A027B1C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STC-097</a:t>
            </a:r>
          </a:p>
        </p:txBody>
      </p:sp>
      <p:sp>
        <p:nvSpPr>
          <p:cNvPr id="4" name="STC-07-headline">
            <a:extLst xmlns:a="http://schemas.openxmlformats.org/drawingml/2006/main">
              <a:ext uri="{FF2B5EF4-FFF2-40B4-BE49-F238E27FC236}">
                <a16:creationId xmlns:a16="http://schemas.microsoft.com/office/drawing/2014/main" id="{0E847F12-5C27-4C72-8A6A-454D1F1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Sleep cluster는 mixed inference+training workload다</a:t>
            </a:r>
          </a:p>
        </p:txBody>
      </p:sp>
      <p:sp>
        <p:nvSpPr>
          <p:cNvPr id="5" name="STC-07-status-label">
            <a:extLst xmlns:a="http://schemas.openxmlformats.org/drawingml/2006/main">
              <a:ext uri="{FF2B5EF4-FFF2-40B4-BE49-F238E27FC236}">
                <a16:creationId xmlns:a16="http://schemas.microsoft.com/office/drawing/2014/main" id="{955C8BE4-8D5D-4506-BF13-B0726E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07-status-rule">
            <a:extLst xmlns:a="http://schemas.openxmlformats.org/drawingml/2006/main">
              <a:ext uri="{FF2B5EF4-FFF2-40B4-BE49-F238E27FC236}">
                <a16:creationId xmlns:a16="http://schemas.microsoft.com/office/drawing/2014/main" id="{968D278E-38F9-4B55-8C21-B19937E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>
            <a:extLst xmlns:a="http://schemas.openxmlformats.org/drawingml/2006/main">
              <a:ext uri="{FF2B5EF4-FFF2-40B4-BE49-F238E27FC236}">
                <a16:creationId xmlns:a16="http://schemas.microsoft.com/office/drawing/2014/main" id="{C8E80135-6B04-4111-B87E-797FE31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>
            <a:extLst xmlns:a="http://schemas.openxmlformats.org/drawingml/2006/main">
              <a:ext uri="{FF2B5EF4-FFF2-40B4-BE49-F238E27FC236}">
                <a16:creationId xmlns:a16="http://schemas.microsoft.com/office/drawing/2014/main" id="{0A6C5768-96D1-45D6-BABF-95B9928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SYSTEM-INFRA-BLUEPRINT · sleep workers</a:t>
            </a:r>
          </a:p>
        </p:txBody>
      </p:sp>
      <p:sp>
        <p:nvSpPr>
          <p:cNvPr id="9" name="STC-07-page-number">
            <a:extLst xmlns:a="http://schemas.openxmlformats.org/drawingml/2006/main">
              <a:ext uri="{FF2B5EF4-FFF2-40B4-BE49-F238E27FC236}">
                <a16:creationId xmlns:a16="http://schemas.microsoft.com/office/drawing/2014/main" id="{1D6DD024-93BF-4AF0-883D-B842BC9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97</a:t>
            </a:r>
          </a:p>
        </p:txBody>
      </p:sp>
      <p:sp>
        <p:nvSpPr>
          <p:cNvPr id="11" name="STC-07-plos-tag-0">
            <a:extLst xmlns:a="http://schemas.openxmlformats.org/drawingml/2006/main">
              <a:ext uri="{FF2B5EF4-FFF2-40B4-BE49-F238E27FC236}">
                <a16:creationId xmlns:a16="http://schemas.microsoft.com/office/drawing/2014/main" id="{B90C2C23-E8ED-497B-9D8A-43FDE46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GENERATE</a:t>
            </a:r>
          </a:p>
        </p:txBody>
      </p:sp>
      <p:sp>
        <p:nvSpPr>
          <p:cNvPr id="12" name="STC-07-plos-node-0">
            <a:extLst xmlns:a="http://schemas.openxmlformats.org/drawingml/2006/main">
              <a:ext uri="{FF2B5EF4-FFF2-40B4-BE49-F238E27FC236}">
                <a16:creationId xmlns:a16="http://schemas.microsoft.com/office/drawing/2014/main" id="{E3F07441-0A60-408A-A737-709214B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07-plos-body-0">
            <a:extLst xmlns:a="http://schemas.openxmlformats.org/drawingml/2006/main">
              <a:ext uri="{FF2B5EF4-FFF2-40B4-BE49-F238E27FC236}">
                <a16:creationId xmlns:a16="http://schemas.microsoft.com/office/drawing/2014/main" id="{CDD68C03-32EB-401F-9D93-EC6D453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1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reward-STDP</a:t>
            </a:r>
          </a:p>
        </p:txBody>
      </p:sp>
      <p:sp>
        <p:nvSpPr>
          <p:cNvPr id="14" name="STC-07-plos-arrow-0">
            <a:extLst xmlns:a="http://schemas.openxmlformats.org/drawingml/2006/main">
              <a:ext uri="{FF2B5EF4-FFF2-40B4-BE49-F238E27FC236}">
                <a16:creationId xmlns:a16="http://schemas.microsoft.com/office/drawing/2014/main" id="{B3AF1292-2362-4227-A0DB-382583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>
            <a:extLst xmlns:a="http://schemas.openxmlformats.org/drawingml/2006/main">
              <a:ext uri="{FF2B5EF4-FFF2-40B4-BE49-F238E27FC236}">
                <a16:creationId xmlns:a16="http://schemas.microsoft.com/office/drawing/2014/main" id="{72555C5C-44F5-4225-92F9-404824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TRAIN</a:t>
            </a:r>
          </a:p>
        </p:txBody>
      </p:sp>
      <p:sp>
        <p:nvSpPr>
          <p:cNvPr id="16" name="STC-07-plos-node-1">
            <a:extLst xmlns:a="http://schemas.openxmlformats.org/drawingml/2006/main">
              <a:ext uri="{FF2B5EF4-FFF2-40B4-BE49-F238E27FC236}">
                <a16:creationId xmlns:a16="http://schemas.microsoft.com/office/drawing/2014/main" id="{CC6F425A-2DF6-421C-AE42-1FD7AD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7" name="STC-07-plos-body-1">
            <a:extLst xmlns:a="http://schemas.openxmlformats.org/drawingml/2006/main">
              <a:ext uri="{FF2B5EF4-FFF2-40B4-BE49-F238E27FC236}">
                <a16:creationId xmlns:a16="http://schemas.microsoft.com/office/drawing/2014/main" id="{B0CB785D-C5DE-400C-A51C-172BC4E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Task 2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interference</a:t>
            </a:r>
          </a:p>
        </p:txBody>
      </p:sp>
      <p:sp>
        <p:nvSpPr>
          <p:cNvPr id="18" name="STC-07-plos-arrow-1">
            <a:extLst xmlns:a="http://schemas.openxmlformats.org/drawingml/2006/main">
              <a:ext uri="{FF2B5EF4-FFF2-40B4-BE49-F238E27FC236}">
                <a16:creationId xmlns:a16="http://schemas.microsoft.com/office/drawing/2014/main" id="{23FEE8A1-5C0C-4B7B-AB88-C62FC36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>
            <a:extLst xmlns:a="http://schemas.openxmlformats.org/drawingml/2006/main">
              <a:ext uri="{FF2B5EF4-FFF2-40B4-BE49-F238E27FC236}">
                <a16:creationId xmlns:a16="http://schemas.microsoft.com/office/drawing/2014/main" id="{BA46139A-B457-4723-9705-156019F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COMPACT</a:t>
            </a:r>
          </a:p>
        </p:txBody>
      </p:sp>
      <p:sp>
        <p:nvSpPr>
          <p:cNvPr id="20" name="STC-07-plos-node-2">
            <a:extLst xmlns:a="http://schemas.openxmlformats.org/drawingml/2006/main">
              <a:ext uri="{FF2B5EF4-FFF2-40B4-BE49-F238E27FC236}">
                <a16:creationId xmlns:a16="http://schemas.microsoft.com/office/drawing/2014/main" id="{F6194EC4-AA0B-4CBC-A922-5119E27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1" name="STC-07-plos-body-2">
            <a:extLst xmlns:a="http://schemas.openxmlformats.org/drawingml/2006/main">
              <a:ext uri="{FF2B5EF4-FFF2-40B4-BE49-F238E27FC236}">
                <a16:creationId xmlns:a16="http://schemas.microsoft.com/office/drawing/2014/main" id="{DA69FF42-B14E-4900-9491-A996A00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Poisson activation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unsupervised STDP</a:t>
            </a:r>
          </a:p>
        </p:txBody>
      </p:sp>
      <p:sp>
        <p:nvSpPr>
          <p:cNvPr id="22" name="STC-07-plos-arrow-2">
            <a:extLst xmlns:a="http://schemas.openxmlformats.org/drawingml/2006/main">
              <a:ext uri="{FF2B5EF4-FFF2-40B4-BE49-F238E27FC236}">
                <a16:creationId xmlns:a16="http://schemas.microsoft.com/office/drawing/2014/main" id="{810840B6-52D9-4413-9BFC-15388DC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5176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>
            <a:extLst xmlns:a="http://schemas.openxmlformats.org/drawingml/2006/main">
              <a:ext uri="{FF2B5EF4-FFF2-40B4-BE49-F238E27FC236}">
                <a16:creationId xmlns:a16="http://schemas.microsoft.com/office/drawing/2014/main" id="{BD84EE3F-ABEF-49B0-9D60-3C2E4A1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64792"/>
            <a:ext cx="1691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24" name="STC-07-plos-node-3">
            <a:extLst xmlns:a="http://schemas.openxmlformats.org/drawingml/2006/main">
              <a:ext uri="{FF2B5EF4-FFF2-40B4-BE49-F238E27FC236}">
                <a16:creationId xmlns:a16="http://schemas.microsoft.com/office/drawing/2014/main" id="{F0638674-78F9-4F2E-80E4-A0EED07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084832"/>
            <a:ext cx="1737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25" name="STC-07-plos-body-3">
            <a:extLst xmlns:a="http://schemas.openxmlformats.org/drawingml/2006/main">
              <a:ext uri="{FF2B5EF4-FFF2-40B4-BE49-F238E27FC236}">
                <a16:creationId xmlns:a16="http://schemas.microsoft.com/office/drawing/2014/main" id="{C3262922-8520-4026-AB90-EEC54E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joint weight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representation</a:t>
            </a:r>
          </a:p>
        </p:txBody>
      </p:sp>
      <p:sp>
        <p:nvSpPr>
          <p:cNvPr id="26" name="STC-07-plos-number-field">
            <a:extLst xmlns:a="http://schemas.openxmlformats.org/drawingml/2006/main">
              <a:ext uri="{FF2B5EF4-FFF2-40B4-BE49-F238E27FC236}">
                <a16:creationId xmlns:a16="http://schemas.microsoft.com/office/drawing/2014/main" id="{D7D983E0-46DA-472B-B4D3-7C483F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64208"/>
            <a:ext cx="13258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7" name="STC-07-plos-842">
            <a:extLst xmlns:a="http://schemas.openxmlformats.org/drawingml/2006/main">
              <a:ext uri="{FF2B5EF4-FFF2-40B4-BE49-F238E27FC236}">
                <a16:creationId xmlns:a16="http://schemas.microsoft.com/office/drawing/2014/main" id="{2BA63792-F1BF-46E8-8787-15BF157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1938528"/>
            <a:ext cx="1097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01</a:t>
            </a:r>
          </a:p>
        </p:txBody>
      </p:sp>
      <p:sp>
        <p:nvSpPr>
          <p:cNvPr id="28" name="STC-07-plos-scope">
            <a:extLst xmlns:a="http://schemas.openxmlformats.org/drawingml/2006/main">
              <a:ext uri="{FF2B5EF4-FFF2-40B4-BE49-F238E27FC236}">
                <a16:creationId xmlns:a16="http://schemas.microsoft.com/office/drawing/2014/main" id="{76987E91-66D1-4DAC-9A67-05B07F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578608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neurons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tasks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≥10 inits</a:t>
            </a:r>
          </a:p>
        </p:txBody>
      </p:sp>
      <p:sp>
        <p:nvSpPr>
          <p:cNvPr id="29" name="STC-07-plos-seq-label">
            <a:extLst xmlns:a="http://schemas.openxmlformats.org/drawingml/2006/main">
              <a:ext uri="{FF2B5EF4-FFF2-40B4-BE49-F238E27FC236}">
                <a16:creationId xmlns:a16="http://schemas.microsoft.com/office/drawing/2014/main" id="{F6D51938-1555-410C-93DF-69481B1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GENERATE</a:t>
            </a:r>
          </a:p>
        </p:txBody>
      </p:sp>
      <p:sp>
        <p:nvSpPr>
          <p:cNvPr id="30" name="STC-07-plos-seq-num">
            <a:extLst xmlns:a="http://schemas.openxmlformats.org/drawingml/2006/main">
              <a:ext uri="{FF2B5EF4-FFF2-40B4-BE49-F238E27FC236}">
                <a16:creationId xmlns:a16="http://schemas.microsoft.com/office/drawing/2014/main" id="{25024F94-E5F3-4626-AD56-0393F7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2395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31" name="STC-07-plos-sleep-label">
            <a:extLst xmlns:a="http://schemas.openxmlformats.org/drawingml/2006/main">
              <a:ext uri="{FF2B5EF4-FFF2-40B4-BE49-F238E27FC236}">
                <a16:creationId xmlns:a16="http://schemas.microsoft.com/office/drawing/2014/main" id="{94DEDF6B-56EC-405D-AF76-40C970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TRAIN</a:t>
            </a:r>
          </a:p>
        </p:txBody>
      </p:sp>
      <p:sp>
        <p:nvSpPr>
          <p:cNvPr id="32" name="STC-07-plos-sleep-num">
            <a:extLst xmlns:a="http://schemas.openxmlformats.org/drawingml/2006/main">
              <a:ext uri="{FF2B5EF4-FFF2-40B4-BE49-F238E27FC236}">
                <a16:creationId xmlns:a16="http://schemas.microsoft.com/office/drawing/2014/main" id="{335FD78A-DCD2-4D53-8576-F7A3D5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42245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33" name="STC-07-plos-limit-divider">
            <a:extLst xmlns:a="http://schemas.openxmlformats.org/drawingml/2006/main">
              <a:ext uri="{FF2B5EF4-FFF2-40B4-BE49-F238E27FC236}">
                <a16:creationId xmlns:a16="http://schemas.microsoft.com/office/drawing/2014/main" id="{B816A8EB-A1AA-4780-9602-3FE94D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>
            <a:extLst xmlns:a="http://schemas.openxmlformats.org/drawingml/2006/main">
              <a:ext uri="{FF2B5EF4-FFF2-40B4-BE49-F238E27FC236}">
                <a16:creationId xmlns:a16="http://schemas.microsoft.com/office/drawing/2014/main" id="{42D92320-E2BC-4A61-B98D-25E2793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05993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LIMIT</a:t>
            </a:r>
          </a:p>
        </p:txBody>
      </p:sp>
      <p:sp>
        <p:nvSpPr>
          <p:cNvPr id="35" name="STC-07-plos-limit-text">
            <a:extLst xmlns:a="http://schemas.openxmlformats.org/drawingml/2006/main">
              <a:ext uri="{FF2B5EF4-FFF2-40B4-BE49-F238E27FC236}">
                <a16:creationId xmlns:a16="http://schemas.microsoft.com/office/drawing/2014/main" id="{7F20D991-34E6-4942-BFC1-DE84E60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14216"/>
            <a:ext cx="343814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old trace가 완전히 사라진 뒤에는 복원하지 못했다.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LLM · 다과제 · 장기용량 · deletion은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57428845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3-section">
            <a:extLst xmlns:a="http://schemas.openxmlformats.org/drawingml/2006/main">
              <a:ext uri="{FF2B5EF4-FFF2-40B4-BE49-F238E27FC236}">
                <a16:creationId xmlns:a16="http://schemas.microsoft.com/office/drawing/2014/main" id="{9785A39F-0AAB-47A8-BDF8-756F2A6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13-slide-id">
            <a:extLst xmlns:a="http://schemas.openxmlformats.org/drawingml/2006/main">
              <a:ext uri="{FF2B5EF4-FFF2-40B4-BE49-F238E27FC236}">
                <a16:creationId xmlns:a16="http://schemas.microsoft.com/office/drawing/2014/main" id="{A4A5A903-4854-4F5D-8163-30EC8F0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STC-098</a:t>
            </a:r>
          </a:p>
        </p:txBody>
      </p:sp>
      <p:sp>
        <p:nvSpPr>
          <p:cNvPr id="4" name="STC-13-headline">
            <a:extLst xmlns:a="http://schemas.openxmlformats.org/drawingml/2006/main">
              <a:ext uri="{FF2B5EF4-FFF2-40B4-BE49-F238E27FC236}">
                <a16:creationId xmlns:a16="http://schemas.microsoft.com/office/drawing/2014/main" id="{AF17D9A0-3A93-4E7F-9D99-DE7A58D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 fabric는 truth와 compiled artifact를 같은 graph로 잇는다</a:t>
            </a:r>
          </a:p>
        </p:txBody>
      </p:sp>
      <p:sp>
        <p:nvSpPr>
          <p:cNvPr id="5" name="STC-13-status-label">
            <a:extLst xmlns:a="http://schemas.openxmlformats.org/drawingml/2006/main">
              <a:ext uri="{FF2B5EF4-FFF2-40B4-BE49-F238E27FC236}">
                <a16:creationId xmlns:a16="http://schemas.microsoft.com/office/drawing/2014/main" id="{AF94B140-BD46-4879-8C19-5B250E7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13-status-rule">
            <a:extLst xmlns:a="http://schemas.openxmlformats.org/drawingml/2006/main">
              <a:ext uri="{FF2B5EF4-FFF2-40B4-BE49-F238E27FC236}">
                <a16:creationId xmlns:a16="http://schemas.microsoft.com/office/drawing/2014/main" id="{10A8CA66-60A8-483F-AAFA-64FE278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13-footer-rule">
            <a:extLst xmlns:a="http://schemas.openxmlformats.org/drawingml/2006/main">
              <a:ext uri="{FF2B5EF4-FFF2-40B4-BE49-F238E27FC236}">
                <a16:creationId xmlns:a16="http://schemas.microsoft.com/office/drawing/2014/main" id="{B855766E-A633-4E17-89AF-6D9CFED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3-source-footer">
            <a:extLst xmlns:a="http://schemas.openxmlformats.org/drawingml/2006/main">
              <a:ext uri="{FF2B5EF4-FFF2-40B4-BE49-F238E27FC236}">
                <a16:creationId xmlns:a16="http://schemas.microsoft.com/office/drawing/2014/main" id="{83B6A81A-AACD-4674-B57C-B618824F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STC-F010–F012</a:t>
            </a:r>
          </a:p>
        </p:txBody>
      </p:sp>
      <p:sp>
        <p:nvSpPr>
          <p:cNvPr id="9" name="STC-13-page-number">
            <a:extLst xmlns:a="http://schemas.openxmlformats.org/drawingml/2006/main">
              <a:ext uri="{FF2B5EF4-FFF2-40B4-BE49-F238E27FC236}">
                <a16:creationId xmlns:a16="http://schemas.microsoft.com/office/drawing/2014/main" id="{687B7F4D-F579-40DC-89A0-5805A343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98</a:t>
            </a:r>
          </a:p>
        </p:txBody>
      </p:sp>
      <p:sp>
        <p:nvSpPr>
          <p:cNvPr id="11" name="STC-13-data-layer-0">
            <a:extLst xmlns:a="http://schemas.openxmlformats.org/drawingml/2006/main">
              <a:ext uri="{FF2B5EF4-FFF2-40B4-BE49-F238E27FC236}">
                <a16:creationId xmlns:a16="http://schemas.microsoft.com/office/drawing/2014/main" id="{04820097-9F31-4DC6-A116-951B9AB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664208"/>
            <a:ext cx="8961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2" name="STC-13-data-label-0">
            <a:extLst xmlns:a="http://schemas.openxmlformats.org/drawingml/2006/main">
              <a:ext uri="{FF2B5EF4-FFF2-40B4-BE49-F238E27FC236}">
                <a16:creationId xmlns:a16="http://schemas.microsoft.com/office/drawing/2014/main" id="{A0CB3C0C-0673-4362-8DC7-0B479D4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2880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CANONICAL</a:t>
            </a:r>
          </a:p>
        </p:txBody>
      </p:sp>
      <p:sp>
        <p:nvSpPr>
          <p:cNvPr id="13" name="STC-13-data-body-0">
            <a:extLst xmlns:a="http://schemas.openxmlformats.org/drawingml/2006/main">
              <a:ext uri="{FF2B5EF4-FFF2-40B4-BE49-F238E27FC236}">
                <a16:creationId xmlns:a16="http://schemas.microsoft.com/office/drawing/2014/main" id="{FDCF34C4-150A-4FCF-A34D-BFC000B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755648"/>
            <a:ext cx="6995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raw event·document·tool outcome</a:t>
            </a:r>
          </a:p>
        </p:txBody>
      </p:sp>
      <p:sp>
        <p:nvSpPr>
          <p:cNvPr id="14" name="STC-13-data-layer-1">
            <a:extLst xmlns:a="http://schemas.openxmlformats.org/drawingml/2006/main">
              <a:ext uri="{FF2B5EF4-FFF2-40B4-BE49-F238E27FC236}">
                <a16:creationId xmlns:a16="http://schemas.microsoft.com/office/drawing/2014/main" id="{9FD61A15-AE35-4A0A-A793-7FCB001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50592"/>
            <a:ext cx="76809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3-data-label-1">
            <a:extLst xmlns:a="http://schemas.openxmlformats.org/drawingml/2006/main">
              <a:ext uri="{FF2B5EF4-FFF2-40B4-BE49-F238E27FC236}">
                <a16:creationId xmlns:a16="http://schemas.microsoft.com/office/drawing/2014/main" id="{2BD731A4-F373-4370-BA0F-C0997B3B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61518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DERIVED</a:t>
            </a:r>
          </a:p>
        </p:txBody>
      </p:sp>
      <p:sp>
        <p:nvSpPr>
          <p:cNvPr id="16" name="STC-13-data-body-1">
            <a:extLst xmlns:a="http://schemas.openxmlformats.org/drawingml/2006/main">
              <a:ext uri="{FF2B5EF4-FFF2-40B4-BE49-F238E27FC236}">
                <a16:creationId xmlns:a16="http://schemas.microsoft.com/office/drawing/2014/main" id="{16B27792-5397-44B1-A82E-6F6C6A78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42032"/>
            <a:ext cx="5715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fact·summary·vector·graph·KV/state</a:t>
            </a:r>
          </a:p>
        </p:txBody>
      </p:sp>
      <p:sp>
        <p:nvSpPr>
          <p:cNvPr id="17" name="STC-13-data-layer-2">
            <a:extLst xmlns:a="http://schemas.openxmlformats.org/drawingml/2006/main">
              <a:ext uri="{FF2B5EF4-FFF2-40B4-BE49-F238E27FC236}">
                <a16:creationId xmlns:a16="http://schemas.microsoft.com/office/drawing/2014/main" id="{95D551C3-E938-407F-AB9B-B40AAE6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236976"/>
            <a:ext cx="64008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3-data-label-2">
            <a:extLst xmlns:a="http://schemas.openxmlformats.org/drawingml/2006/main">
              <a:ext uri="{FF2B5EF4-FFF2-40B4-BE49-F238E27FC236}">
                <a16:creationId xmlns:a16="http://schemas.microsoft.com/office/drawing/2014/main" id="{6477526C-D0F3-4FED-B9DA-BA154CE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401568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PARAMETRIC</a:t>
            </a:r>
          </a:p>
        </p:txBody>
      </p:sp>
      <p:sp>
        <p:nvSpPr>
          <p:cNvPr id="19" name="STC-13-data-body-2">
            <a:extLst xmlns:a="http://schemas.openxmlformats.org/drawingml/2006/main">
              <a:ext uri="{FF2B5EF4-FFF2-40B4-BE49-F238E27FC236}">
                <a16:creationId xmlns:a16="http://schemas.microsoft.com/office/drawing/2014/main" id="{5CC63795-4C45-4C8C-A238-C076892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328416"/>
            <a:ext cx="4434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adapter·expert·candidate checkpoint</a:t>
            </a:r>
          </a:p>
        </p:txBody>
      </p:sp>
      <p:sp>
        <p:nvSpPr>
          <p:cNvPr id="20" name="STC-13-data-layer-3">
            <a:extLst xmlns:a="http://schemas.openxmlformats.org/drawingml/2006/main">
              <a:ext uri="{FF2B5EF4-FFF2-40B4-BE49-F238E27FC236}">
                <a16:creationId xmlns:a16="http://schemas.microsoft.com/office/drawing/2014/main" id="{088B4A5A-4492-453D-BBB3-84168BF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023360"/>
            <a:ext cx="51206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13-data-label-3">
            <a:extLst xmlns:a="http://schemas.openxmlformats.org/drawingml/2006/main">
              <a:ext uri="{FF2B5EF4-FFF2-40B4-BE49-F238E27FC236}">
                <a16:creationId xmlns:a16="http://schemas.microsoft.com/office/drawing/2014/main" id="{8742739C-7605-40FB-A7CF-E029D14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LINEAGE</a:t>
            </a:r>
          </a:p>
        </p:txBody>
      </p:sp>
      <p:sp>
        <p:nvSpPr>
          <p:cNvPr id="22" name="STC-13-data-body-3">
            <a:extLst xmlns:a="http://schemas.openxmlformats.org/drawingml/2006/main">
              <a:ext uri="{FF2B5EF4-FFF2-40B4-BE49-F238E27FC236}">
                <a16:creationId xmlns:a16="http://schemas.microsoft.com/office/drawing/2014/main" id="{934CB71E-27CD-4272-B979-DE93472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114800"/>
            <a:ext cx="3154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source→operator→artifact dependency</a:t>
            </a:r>
          </a:p>
        </p:txBody>
      </p:sp>
      <p:sp>
        <p:nvSpPr>
          <p:cNvPr id="23" name="STC-13-data-layer-4">
            <a:extLst xmlns:a="http://schemas.openxmlformats.org/drawingml/2006/main">
              <a:ext uri="{FF2B5EF4-FFF2-40B4-BE49-F238E27FC236}">
                <a16:creationId xmlns:a16="http://schemas.microsoft.com/office/drawing/2014/main" id="{D505F5B5-B093-4591-A92B-C8EA912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809744"/>
            <a:ext cx="38404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24" name="STC-13-data-label-4">
            <a:extLst xmlns:a="http://schemas.openxmlformats.org/drawingml/2006/main">
              <a:ext uri="{FF2B5EF4-FFF2-40B4-BE49-F238E27FC236}">
                <a16:creationId xmlns:a16="http://schemas.microsoft.com/office/drawing/2014/main" id="{D8CEFF44-4BD7-4FC7-8DC5-F6C69BE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4336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CATALOG</a:t>
            </a:r>
          </a:p>
        </p:txBody>
      </p:sp>
      <p:sp>
        <p:nvSpPr>
          <p:cNvPr id="25" name="STC-13-data-body-4">
            <a:extLst xmlns:a="http://schemas.openxmlformats.org/drawingml/2006/main">
              <a:ext uri="{FF2B5EF4-FFF2-40B4-BE49-F238E27FC236}">
                <a16:creationId xmlns:a16="http://schemas.microsoft.com/office/drawing/2014/main" id="{3E315F74-2DD1-4079-A8AD-FED1874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901184"/>
            <a:ext cx="1874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owner·scope·TTL·policy·compatibility</a:t>
            </a:r>
          </a:p>
        </p:txBody>
      </p:sp>
      <p:sp>
        <p:nvSpPr>
          <p:cNvPr id="26" name="STC-13-data-warning">
            <a:extLst xmlns:a="http://schemas.openxmlformats.org/drawingml/2006/main">
              <a:ext uri="{FF2B5EF4-FFF2-40B4-BE49-F238E27FC236}">
                <a16:creationId xmlns:a16="http://schemas.microsoft.com/office/drawing/2014/main" id="{0F955075-B866-48A7-A4A2-5437508F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2356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raw event·document·tool outcome</a:t>
            </a:r>
          </a:p>
        </p:txBody>
      </p:sp>
    </p:spTree>
    <p:extLst>
      <p:ext uri="{BB962C8B-B14F-4D97-AF65-F5344CB8AC3E}">
        <p14:creationId xmlns:p14="http://schemas.microsoft.com/office/powerpoint/2010/main" val="141907151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0-section">
            <a:extLst xmlns:a="http://schemas.openxmlformats.org/drawingml/2006/main">
              <a:ext uri="{FF2B5EF4-FFF2-40B4-BE49-F238E27FC236}">
                <a16:creationId xmlns:a16="http://schemas.microsoft.com/office/drawing/2014/main" id="{5EDCD299-655D-4523-82A0-59F49E1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20-slide-id">
            <a:extLst xmlns:a="http://schemas.openxmlformats.org/drawingml/2006/main">
              <a:ext uri="{FF2B5EF4-FFF2-40B4-BE49-F238E27FC236}">
                <a16:creationId xmlns:a16="http://schemas.microsoft.com/office/drawing/2014/main" id="{32C07A66-97D7-4CD1-9893-C311EE67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STC-099</a:t>
            </a:r>
          </a:p>
        </p:txBody>
      </p:sp>
      <p:sp>
        <p:nvSpPr>
          <p:cNvPr id="4" name="STC-20-headline">
            <a:extLst xmlns:a="http://schemas.openxmlformats.org/drawingml/2006/main">
              <a:ext uri="{FF2B5EF4-FFF2-40B4-BE49-F238E27FC236}">
                <a16:creationId xmlns:a16="http://schemas.microsoft.com/office/drawing/2014/main" id="{AFFB7CDB-FED7-4E9E-B7ED-F4E38A0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Data movement는 state locality와 delta transport로 줄인다</a:t>
            </a:r>
          </a:p>
        </p:txBody>
      </p:sp>
      <p:sp>
        <p:nvSpPr>
          <p:cNvPr id="5" name="STC-20-status-label">
            <a:extLst xmlns:a="http://schemas.openxmlformats.org/drawingml/2006/main">
              <a:ext uri="{FF2B5EF4-FFF2-40B4-BE49-F238E27FC236}">
                <a16:creationId xmlns:a16="http://schemas.microsoft.com/office/drawing/2014/main" id="{F1C132A5-F1B4-4EA3-B9D4-9A19BA1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20-status-rule">
            <a:extLst xmlns:a="http://schemas.openxmlformats.org/drawingml/2006/main">
              <a:ext uri="{FF2B5EF4-FFF2-40B4-BE49-F238E27FC236}">
                <a16:creationId xmlns:a16="http://schemas.microsoft.com/office/drawing/2014/main" id="{296C999B-3F04-4907-A607-49A7D916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0-footer-rule">
            <a:extLst xmlns:a="http://schemas.openxmlformats.org/drawingml/2006/main">
              <a:ext uri="{FF2B5EF4-FFF2-40B4-BE49-F238E27FC236}">
                <a16:creationId xmlns:a16="http://schemas.microsoft.com/office/drawing/2014/main" id="{1A414E08-3FD3-4CA5-B702-E3371BE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0-source-footer">
            <a:extLst xmlns:a="http://schemas.openxmlformats.org/drawingml/2006/main">
              <a:ext uri="{FF2B5EF4-FFF2-40B4-BE49-F238E27FC236}">
                <a16:creationId xmlns:a16="http://schemas.microsoft.com/office/drawing/2014/main" id="{6436493B-B3AE-4CC7-B707-EBD083C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STC-F011 · device-aware topology</a:t>
            </a:r>
          </a:p>
        </p:txBody>
      </p:sp>
      <p:sp>
        <p:nvSpPr>
          <p:cNvPr id="9" name="STC-20-page-number">
            <a:extLst xmlns:a="http://schemas.openxmlformats.org/drawingml/2006/main">
              <a:ext uri="{FF2B5EF4-FFF2-40B4-BE49-F238E27FC236}">
                <a16:creationId xmlns:a16="http://schemas.microsoft.com/office/drawing/2014/main" id="{46D728FE-DB3F-48C1-9245-25AAC00F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99</a:t>
            </a:r>
          </a:p>
        </p:txBody>
      </p:sp>
      <p:sp>
        <p:nvSpPr>
          <p:cNvPr id="11" name="STC-20-infra-plane-0">
            <a:extLst xmlns:a="http://schemas.openxmlformats.org/drawingml/2006/main">
              <a:ext uri="{FF2B5EF4-FFF2-40B4-BE49-F238E27FC236}">
                <a16:creationId xmlns:a16="http://schemas.microsoft.com/office/drawing/2014/main" id="{CBC7ECDF-7F2F-49BF-846B-5F658CEE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20-infra-label-0">
            <a:extLst xmlns:a="http://schemas.openxmlformats.org/drawingml/2006/main">
              <a:ext uri="{FF2B5EF4-FFF2-40B4-BE49-F238E27FC236}">
                <a16:creationId xmlns:a16="http://schemas.microsoft.com/office/drawing/2014/main" id="{F18FAA3C-6D4D-499D-A88F-E1242B5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CO-LOCATE</a:t>
            </a:r>
          </a:p>
        </p:txBody>
      </p:sp>
      <p:sp>
        <p:nvSpPr>
          <p:cNvPr id="13" name="STC-20-infra-body-0">
            <a:extLst xmlns:a="http://schemas.openxmlformats.org/drawingml/2006/main">
              <a:ext uri="{FF2B5EF4-FFF2-40B4-BE49-F238E27FC236}">
                <a16:creationId xmlns:a16="http://schemas.microsoft.com/office/drawing/2014/main" id="{9D63F807-406F-4AAB-B362-0899B4EA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infer · retrieve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capture · fast state</a:t>
            </a:r>
          </a:p>
        </p:txBody>
      </p:sp>
      <p:sp>
        <p:nvSpPr>
          <p:cNvPr id="14" name="STC-20-infra-arrow-0">
            <a:extLst xmlns:a="http://schemas.openxmlformats.org/drawingml/2006/main">
              <a:ext uri="{FF2B5EF4-FFF2-40B4-BE49-F238E27FC236}">
                <a16:creationId xmlns:a16="http://schemas.microsoft.com/office/drawing/2014/main" id="{686EF61D-766A-4F59-A67A-D542EE95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0-infra-plane-1">
            <a:extLst xmlns:a="http://schemas.openxmlformats.org/drawingml/2006/main">
              <a:ext uri="{FF2B5EF4-FFF2-40B4-BE49-F238E27FC236}">
                <a16:creationId xmlns:a16="http://schemas.microsoft.com/office/drawing/2014/main" id="{6EB93AC2-1EEC-40A8-BDA3-326E731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6" name="STC-20-infra-label-1">
            <a:extLst xmlns:a="http://schemas.openxmlformats.org/drawingml/2006/main">
              <a:ext uri="{FF2B5EF4-FFF2-40B4-BE49-F238E27FC236}">
                <a16:creationId xmlns:a16="http://schemas.microsoft.com/office/drawing/2014/main" id="{76D2C227-9C88-4716-987B-28A3086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DELTA</a:t>
            </a:r>
          </a:p>
        </p:txBody>
      </p:sp>
      <p:sp>
        <p:nvSpPr>
          <p:cNvPr id="17" name="STC-20-infra-body-1">
            <a:extLst xmlns:a="http://schemas.openxmlformats.org/drawingml/2006/main">
              <a:ext uri="{FF2B5EF4-FFF2-40B4-BE49-F238E27FC236}">
                <a16:creationId xmlns:a16="http://schemas.microsoft.com/office/drawing/2014/main" id="{2E42E4C3-670F-4E90-9903-77393A2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dream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FT · RL · compact</a:t>
            </a:r>
          </a:p>
        </p:txBody>
      </p:sp>
      <p:sp>
        <p:nvSpPr>
          <p:cNvPr id="18" name="STC-20-infra-arrow-1">
            <a:extLst xmlns:a="http://schemas.openxmlformats.org/drawingml/2006/main">
              <a:ext uri="{FF2B5EF4-FFF2-40B4-BE49-F238E27FC236}">
                <a16:creationId xmlns:a16="http://schemas.microsoft.com/office/drawing/2014/main" id="{061AB89C-33F6-4FD5-A9DA-EA94532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0-infra-plane-2">
            <a:extLst xmlns:a="http://schemas.openxmlformats.org/drawingml/2006/main">
              <a:ext uri="{FF2B5EF4-FFF2-40B4-BE49-F238E27FC236}">
                <a16:creationId xmlns:a16="http://schemas.microsoft.com/office/drawing/2014/main" id="{531F132B-E335-4FCA-874C-13A5E6F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0" name="STC-20-infra-label-2">
            <a:extLst xmlns:a="http://schemas.openxmlformats.org/drawingml/2006/main">
              <a:ext uri="{FF2B5EF4-FFF2-40B4-BE49-F238E27FC236}">
                <a16:creationId xmlns:a16="http://schemas.microsoft.com/office/drawing/2014/main" id="{D32271A5-B68E-44CF-A333-8BA3B692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PIN</a:t>
            </a:r>
          </a:p>
        </p:txBody>
      </p:sp>
      <p:sp>
        <p:nvSpPr>
          <p:cNvPr id="21" name="STC-20-infra-body-2">
            <a:extLst xmlns:a="http://schemas.openxmlformats.org/drawingml/2006/main">
              <a:ext uri="{FF2B5EF4-FFF2-40B4-BE49-F238E27FC236}">
                <a16:creationId xmlns:a16="http://schemas.microsoft.com/office/drawing/2014/main" id="{2921410A-C2D5-4759-9995-967B22B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text · vector · graph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latent · adapter</a:t>
            </a:r>
          </a:p>
        </p:txBody>
      </p:sp>
      <p:sp>
        <p:nvSpPr>
          <p:cNvPr id="22" name="STC-20-infra-control">
            <a:extLst xmlns:a="http://schemas.openxmlformats.org/drawingml/2006/main">
              <a:ext uri="{FF2B5EF4-FFF2-40B4-BE49-F238E27FC236}">
                <a16:creationId xmlns:a16="http://schemas.microsoft.com/office/drawing/2014/main" id="{EB2E378A-3527-4AE5-B759-8DD164A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35608"/>
            <a:ext cx="8183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3" name="STC-20-infra-control-text">
            <a:extLst xmlns:a="http://schemas.openxmlformats.org/drawingml/2006/main">
              <a:ext uri="{FF2B5EF4-FFF2-40B4-BE49-F238E27FC236}">
                <a16:creationId xmlns:a16="http://schemas.microsoft.com/office/drawing/2014/main" id="{EA823CF8-DAED-47E5-A2BB-36514B86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1655064"/>
            <a:ext cx="76078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Wake↔sleep 간 전체 state 복사는 scaling law를 data-movement law로 바꾼다.</a:t>
            </a:r>
          </a:p>
        </p:txBody>
      </p:sp>
      <p:sp>
        <p:nvSpPr>
          <p:cNvPr id="24" name="STC-20-infra-control-wake">
            <a:extLst xmlns:a="http://schemas.openxmlformats.org/drawingml/2006/main">
              <a:ext uri="{FF2B5EF4-FFF2-40B4-BE49-F238E27FC236}">
                <a16:creationId xmlns:a16="http://schemas.microsoft.com/office/drawing/2014/main" id="{9B142056-ABC8-4618-9D3D-5AEC5C05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5" name="STC-20-infra-control-sleep">
            <a:extLst xmlns:a="http://schemas.openxmlformats.org/drawingml/2006/main">
              <a:ext uri="{FF2B5EF4-FFF2-40B4-BE49-F238E27FC236}">
                <a16:creationId xmlns:a16="http://schemas.microsoft.com/office/drawing/2014/main" id="{8EC43546-90F6-4417-AD13-507CAF6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0-infra-control-memory">
            <a:extLst xmlns:a="http://schemas.openxmlformats.org/drawingml/2006/main">
              <a:ext uri="{FF2B5EF4-FFF2-40B4-BE49-F238E27FC236}">
                <a16:creationId xmlns:a16="http://schemas.microsoft.com/office/drawing/2014/main" id="{BA605134-8AB7-4A3F-9199-4019F5E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0-infra-ledger">
            <a:extLst xmlns:a="http://schemas.openxmlformats.org/drawingml/2006/main">
              <a:ext uri="{FF2B5EF4-FFF2-40B4-BE49-F238E27FC236}">
                <a16:creationId xmlns:a16="http://schemas.microsoft.com/office/drawing/2014/main" id="{A73ED90F-3148-4029-A4D4-B7D1D3A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1435608"/>
            <a:ext cx="941832" cy="3255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8" name="STC-20-infra-ledger-text">
            <a:extLst xmlns:a="http://schemas.openxmlformats.org/drawingml/2006/main">
              <a:ext uri="{FF2B5EF4-FFF2-40B4-BE49-F238E27FC236}">
                <a16:creationId xmlns:a16="http://schemas.microsoft.com/office/drawing/2014/main" id="{F6FB2E6C-106E-4656-AF22-77F175B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05872" y="2487168"/>
            <a:ext cx="6675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RESOURCE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LEDGER</a:t>
            </a:r>
          </a:p>
        </p:txBody>
      </p:sp>
      <p:sp>
        <p:nvSpPr>
          <p:cNvPr id="29" name="STC-20-infra-latency">
            <a:extLst xmlns:a="http://schemas.openxmlformats.org/drawingml/2006/main">
              <a:ext uri="{FF2B5EF4-FFF2-40B4-BE49-F238E27FC236}">
                <a16:creationId xmlns:a16="http://schemas.microsoft.com/office/drawing/2014/main" id="{21EA4BBA-62FC-4813-BFAE-9B708D3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30" name="STC-20-infra-throughput">
            <a:extLst xmlns:a="http://schemas.openxmlformats.org/drawingml/2006/main">
              <a:ext uri="{FF2B5EF4-FFF2-40B4-BE49-F238E27FC236}">
                <a16:creationId xmlns:a16="http://schemas.microsoft.com/office/drawing/2014/main" id="{BA6519A4-B643-4AA6-A6AF-14794E1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DELTA</a:t>
            </a:r>
          </a:p>
        </p:txBody>
      </p:sp>
      <p:sp>
        <p:nvSpPr>
          <p:cNvPr id="31" name="STC-20-infra-tiered">
            <a:extLst xmlns:a="http://schemas.openxmlformats.org/drawingml/2006/main">
              <a:ext uri="{FF2B5EF4-FFF2-40B4-BE49-F238E27FC236}">
                <a16:creationId xmlns:a16="http://schemas.microsoft.com/office/drawing/2014/main" id="{371A383A-78E9-4C9B-A376-3815FE7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PIN</a:t>
            </a:r>
          </a:p>
        </p:txBody>
      </p:sp>
    </p:spTree>
    <p:extLst>
      <p:ext uri="{BB962C8B-B14F-4D97-AF65-F5344CB8AC3E}">
        <p14:creationId xmlns:p14="http://schemas.microsoft.com/office/powerpoint/2010/main" val="75178982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9-section">
            <a:extLst xmlns:a="http://schemas.openxmlformats.org/drawingml/2006/main">
              <a:ext uri="{FF2B5EF4-FFF2-40B4-BE49-F238E27FC236}">
                <a16:creationId xmlns:a16="http://schemas.microsoft.com/office/drawing/2014/main" id="{72735180-733F-440B-AA71-6AFB4D1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19-slide-id">
            <a:extLst xmlns:a="http://schemas.openxmlformats.org/drawingml/2006/main">
              <a:ext uri="{FF2B5EF4-FFF2-40B4-BE49-F238E27FC236}">
                <a16:creationId xmlns:a16="http://schemas.microsoft.com/office/drawing/2014/main" id="{332DE14B-FF3F-4EAE-89A9-1296907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STC-100</a:t>
            </a:r>
          </a:p>
        </p:txBody>
      </p:sp>
      <p:sp>
        <p:nvSpPr>
          <p:cNvPr id="4" name="STC-19-headline">
            <a:extLst xmlns:a="http://schemas.openxmlformats.org/drawingml/2006/main">
              <a:ext uri="{FF2B5EF4-FFF2-40B4-BE49-F238E27FC236}">
                <a16:creationId xmlns:a16="http://schemas.microsoft.com/office/drawing/2014/main" id="{7A8141DD-42BF-47AC-9E88-5319735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Scheduler는 가치·deadline·locality를 함께 최적화한다</a:t>
            </a:r>
          </a:p>
        </p:txBody>
      </p:sp>
      <p:sp>
        <p:nvSpPr>
          <p:cNvPr id="5" name="STC-19-status-label">
            <a:extLst xmlns:a="http://schemas.openxmlformats.org/drawingml/2006/main">
              <a:ext uri="{FF2B5EF4-FFF2-40B4-BE49-F238E27FC236}">
                <a16:creationId xmlns:a16="http://schemas.microsoft.com/office/drawing/2014/main" id="{399B087E-C0A4-444C-ABDC-29B791B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19-status-rule">
            <a:extLst xmlns:a="http://schemas.openxmlformats.org/drawingml/2006/main">
              <a:ext uri="{FF2B5EF4-FFF2-40B4-BE49-F238E27FC236}">
                <a16:creationId xmlns:a16="http://schemas.microsoft.com/office/drawing/2014/main" id="{C9DE080A-C5CF-46E3-A596-19E1069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9-footer-rule">
            <a:extLst xmlns:a="http://schemas.openxmlformats.org/drawingml/2006/main">
              <a:ext uri="{FF2B5EF4-FFF2-40B4-BE49-F238E27FC236}">
                <a16:creationId xmlns:a16="http://schemas.microsoft.com/office/drawing/2014/main" id="{69190047-2B97-4AC6-9464-26EFF236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9-source-footer">
            <a:extLst xmlns:a="http://schemas.openxmlformats.org/drawingml/2006/main">
              <a:ext uri="{FF2B5EF4-FFF2-40B4-BE49-F238E27FC236}">
                <a16:creationId xmlns:a16="http://schemas.microsoft.com/office/drawing/2014/main" id="{488C6145-8346-431D-87E6-2FC14B1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STC-F013 · consolidation scheduler</a:t>
            </a:r>
          </a:p>
        </p:txBody>
      </p:sp>
      <p:sp>
        <p:nvSpPr>
          <p:cNvPr id="9" name="STC-19-page-number">
            <a:extLst xmlns:a="http://schemas.openxmlformats.org/drawingml/2006/main">
              <a:ext uri="{FF2B5EF4-FFF2-40B4-BE49-F238E27FC236}">
                <a16:creationId xmlns:a16="http://schemas.microsoft.com/office/drawing/2014/main" id="{23C4055E-6D2C-4283-B0BB-5C60654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100</a:t>
            </a:r>
          </a:p>
        </p:txBody>
      </p:sp>
      <p:sp>
        <p:nvSpPr>
          <p:cNvPr id="11" name="STC-19-cadence-axis-x">
            <a:extLst xmlns:a="http://schemas.openxmlformats.org/drawingml/2006/main">
              <a:ext uri="{FF2B5EF4-FFF2-40B4-BE49-F238E27FC236}">
                <a16:creationId xmlns:a16="http://schemas.microsoft.com/office/drawing/2014/main" id="{2A58C3D7-FA95-4586-9075-AAA41EE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58384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9-cadence-axis-y">
            <a:extLst xmlns:a="http://schemas.openxmlformats.org/drawingml/2006/main">
              <a:ext uri="{FF2B5EF4-FFF2-40B4-BE49-F238E27FC236}">
                <a16:creationId xmlns:a16="http://schemas.microsoft.com/office/drawing/2014/main" id="{13842283-0E4F-434B-88BF-6BF0A06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8680" y="1810512"/>
            <a:ext cx="0" cy="3547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9-cadence-axis-xlabel">
            <a:extLst xmlns:a="http://schemas.openxmlformats.org/drawingml/2006/main">
              <a:ext uri="{FF2B5EF4-FFF2-40B4-BE49-F238E27FC236}">
                <a16:creationId xmlns:a16="http://schemas.microsoft.com/office/drawing/2014/main" id="{8F0CB04A-91D9-4A3C-8187-295C0F9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504688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VALUE</a:t>
            </a:r>
          </a:p>
        </p:txBody>
      </p:sp>
      <p:sp>
        <p:nvSpPr>
          <p:cNvPr id="14" name="STC-19-cadence-axis-ylabel">
            <a:extLst xmlns:a="http://schemas.openxmlformats.org/drawingml/2006/main">
              <a:ext uri="{FF2B5EF4-FFF2-40B4-BE49-F238E27FC236}">
                <a16:creationId xmlns:a16="http://schemas.microsoft.com/office/drawing/2014/main" id="{3A60BEFB-6139-43EB-B820-ABBE8E0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57200" y="1700784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DEADLINE</a:t>
            </a:r>
          </a:p>
        </p:txBody>
      </p:sp>
      <p:sp>
        <p:nvSpPr>
          <p:cNvPr id="15" name="STC-19-cadence-down-1">
            <a:extLst xmlns:a="http://schemas.openxmlformats.org/drawingml/2006/main">
              <a:ext uri="{FF2B5EF4-FFF2-40B4-BE49-F238E27FC236}">
                <a16:creationId xmlns:a16="http://schemas.microsoft.com/office/drawing/2014/main" id="{688872F8-DE47-43CB-95CA-7075B61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2848"/>
            <a:ext cx="7315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9-cadence-down-2">
            <a:extLst xmlns:a="http://schemas.openxmlformats.org/drawingml/2006/main">
              <a:ext uri="{FF2B5EF4-FFF2-40B4-BE49-F238E27FC236}">
                <a16:creationId xmlns:a16="http://schemas.microsoft.com/office/drawing/2014/main" id="{B09B6DF5-5CCB-4031-ADC8-AB75D62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468880"/>
            <a:ext cx="73152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9-cadence-up-1">
            <a:extLst xmlns:a="http://schemas.openxmlformats.org/drawingml/2006/main">
              <a:ext uri="{FF2B5EF4-FFF2-40B4-BE49-F238E27FC236}">
                <a16:creationId xmlns:a16="http://schemas.microsoft.com/office/drawing/2014/main" id="{F764C959-5D42-410C-80A2-122961E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999232"/>
            <a:ext cx="73152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8" name="STC-19-cadence-up-2">
            <a:extLst xmlns:a="http://schemas.openxmlformats.org/drawingml/2006/main">
              <a:ext uri="{FF2B5EF4-FFF2-40B4-BE49-F238E27FC236}">
                <a16:creationId xmlns:a16="http://schemas.microsoft.com/office/drawing/2014/main" id="{45BD15EE-A78A-4DB0-9389-F6AA9BA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639312"/>
            <a:ext cx="73152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9-cadence-up-3">
            <a:extLst xmlns:a="http://schemas.openxmlformats.org/drawingml/2006/main">
              <a:ext uri="{FF2B5EF4-FFF2-40B4-BE49-F238E27FC236}">
                <a16:creationId xmlns:a16="http://schemas.microsoft.com/office/drawing/2014/main" id="{4F71F976-E3CE-480C-A678-A81BF64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425696"/>
            <a:ext cx="77724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9-cadence-opt">
            <a:extLst xmlns:a="http://schemas.openxmlformats.org/drawingml/2006/main">
              <a:ext uri="{FF2B5EF4-FFF2-40B4-BE49-F238E27FC236}">
                <a16:creationId xmlns:a16="http://schemas.microsoft.com/office/drawing/2014/main" id="{C349F6AA-D45D-4780-8532-9F7858A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36499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9-cadence-opt-label">
            <a:extLst xmlns:a="http://schemas.openxmlformats.org/drawingml/2006/main">
              <a:ext uri="{FF2B5EF4-FFF2-40B4-BE49-F238E27FC236}">
                <a16:creationId xmlns:a16="http://schemas.microsoft.com/office/drawing/2014/main" id="{4B2F8C1A-9F81-4CEB-9FBF-7D771B4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694176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LOCALITY</a:t>
            </a:r>
          </a:p>
        </p:txBody>
      </p:sp>
      <p:sp>
        <p:nvSpPr>
          <p:cNvPr id="22" name="STC-19-cadence-run">
            <a:extLst xmlns:a="http://schemas.openxmlformats.org/drawingml/2006/main">
              <a:ext uri="{FF2B5EF4-FFF2-40B4-BE49-F238E27FC236}">
                <a16:creationId xmlns:a16="http://schemas.microsoft.com/office/drawing/2014/main" id="{29265B41-3F65-4BA9-B47F-97DEC33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97480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BATCH</a:t>
            </a:r>
          </a:p>
        </p:txBody>
      </p:sp>
      <p:sp>
        <p:nvSpPr>
          <p:cNvPr id="23" name="STC-19-cadence-stale">
            <a:extLst xmlns:a="http://schemas.openxmlformats.org/drawingml/2006/main">
              <a:ext uri="{FF2B5EF4-FFF2-40B4-BE49-F238E27FC236}">
                <a16:creationId xmlns:a16="http://schemas.microsoft.com/office/drawing/2014/main" id="{6A86FAF2-6BD3-4891-8AA2-93F44E6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941064"/>
            <a:ext cx="9326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PREEMPT</a:t>
            </a:r>
          </a:p>
        </p:txBody>
      </p:sp>
      <p:sp>
        <p:nvSpPr>
          <p:cNvPr id="24" name="STC-19-service-divider">
            <a:extLst xmlns:a="http://schemas.openxmlformats.org/drawingml/2006/main">
              <a:ext uri="{FF2B5EF4-FFF2-40B4-BE49-F238E27FC236}">
                <a16:creationId xmlns:a16="http://schemas.microsoft.com/office/drawing/2014/main" id="{FD0702B6-B84E-41BD-B25C-7947118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91640"/>
            <a:ext cx="0" cy="4041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5" name="STC-19-queue-title">
            <a:extLst xmlns:a="http://schemas.openxmlformats.org/drawingml/2006/main">
              <a:ext uri="{FF2B5EF4-FFF2-40B4-BE49-F238E27FC236}">
                <a16:creationId xmlns:a16="http://schemas.microsoft.com/office/drawing/2014/main" id="{136E3461-58C4-4366-AEE0-C4C5EBD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190195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VALUE</a:t>
            </a:r>
          </a:p>
        </p:txBody>
      </p:sp>
      <p:sp>
        <p:nvSpPr>
          <p:cNvPr id="26" name="STC-19-queue-equation">
            <a:extLst xmlns:a="http://schemas.openxmlformats.org/drawingml/2006/main">
              <a:ext uri="{FF2B5EF4-FFF2-40B4-BE49-F238E27FC236}">
                <a16:creationId xmlns:a16="http://schemas.microsoft.com/office/drawing/2014/main" id="{6E21EE85-C8A4-4122-A898-9DBCFE1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33172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expected future utility per joule</a:t>
            </a:r>
          </a:p>
        </p:txBody>
      </p:sp>
      <p:sp>
        <p:nvSpPr>
          <p:cNvPr id="27" name="STC-19-queue-list-dot-0">
            <a:extLst xmlns:a="http://schemas.openxmlformats.org/drawingml/2006/main">
              <a:ext uri="{FF2B5EF4-FFF2-40B4-BE49-F238E27FC236}">
                <a16:creationId xmlns:a16="http://schemas.microsoft.com/office/drawing/2014/main" id="{D6851AC5-7349-4D22-99A3-9D6F997C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004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8" name="STC-19-queue-list-item-0">
            <a:extLst xmlns:a="http://schemas.openxmlformats.org/drawingml/2006/main">
              <a:ext uri="{FF2B5EF4-FFF2-40B4-BE49-F238E27FC236}">
                <a16:creationId xmlns:a16="http://schemas.microsoft.com/office/drawing/2014/main" id="{86654F43-C2C8-4C11-AA96-6689829B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090672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VALUE</a:t>
            </a:r>
          </a:p>
        </p:txBody>
      </p:sp>
      <p:sp>
        <p:nvSpPr>
          <p:cNvPr id="29" name="STC-19-queue-list-dot-1">
            <a:extLst xmlns:a="http://schemas.openxmlformats.org/drawingml/2006/main">
              <a:ext uri="{FF2B5EF4-FFF2-40B4-BE49-F238E27FC236}">
                <a16:creationId xmlns:a16="http://schemas.microsoft.com/office/drawing/2014/main" id="{40D0A80D-1E95-48FE-AE00-258C62FF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764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0" name="STC-19-queue-list-item-1">
            <a:extLst xmlns:a="http://schemas.openxmlformats.org/drawingml/2006/main">
              <a:ext uri="{FF2B5EF4-FFF2-40B4-BE49-F238E27FC236}">
                <a16:creationId xmlns:a16="http://schemas.microsoft.com/office/drawing/2014/main" id="{62249E20-CB9F-42F7-9624-CAB5E32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666744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DEADLINE</a:t>
            </a:r>
          </a:p>
        </p:txBody>
      </p:sp>
      <p:sp>
        <p:nvSpPr>
          <p:cNvPr id="31" name="STC-19-queue-list-dot-2">
            <a:extLst xmlns:a="http://schemas.openxmlformats.org/drawingml/2006/main">
              <a:ext uri="{FF2B5EF4-FFF2-40B4-BE49-F238E27FC236}">
                <a16:creationId xmlns:a16="http://schemas.microsoft.com/office/drawing/2014/main" id="{E496E215-F79B-469B-BBE8-CF8EF9C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3525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2" name="STC-19-queue-list-item-2">
            <a:extLst xmlns:a="http://schemas.openxmlformats.org/drawingml/2006/main">
              <a:ext uri="{FF2B5EF4-FFF2-40B4-BE49-F238E27FC236}">
                <a16:creationId xmlns:a16="http://schemas.microsoft.com/office/drawing/2014/main" id="{FFB533E4-70D8-4C8C-B351-8321BED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242816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LOCALITY</a:t>
            </a:r>
          </a:p>
        </p:txBody>
      </p:sp>
      <p:sp>
        <p:nvSpPr>
          <p:cNvPr id="33" name="STC-19-queue-list-dot-3">
            <a:extLst xmlns:a="http://schemas.openxmlformats.org/drawingml/2006/main">
              <a:ext uri="{FF2B5EF4-FFF2-40B4-BE49-F238E27FC236}">
                <a16:creationId xmlns:a16="http://schemas.microsoft.com/office/drawing/2014/main" id="{00CE8CBC-7ACA-42B9-B806-4B09AB7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2861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34" name="STC-19-queue-list-item-3">
            <a:extLst xmlns:a="http://schemas.openxmlformats.org/drawingml/2006/main">
              <a:ext uri="{FF2B5EF4-FFF2-40B4-BE49-F238E27FC236}">
                <a16:creationId xmlns:a16="http://schemas.microsoft.com/office/drawing/2014/main" id="{8433124C-C473-482D-BC3A-3BB5231B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818888"/>
            <a:ext cx="41788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BATCH</a:t>
            </a:r>
          </a:p>
        </p:txBody>
      </p:sp>
      <p:sp>
        <p:nvSpPr>
          <p:cNvPr id="35" name="STC-19-queue-hyp">
            <a:extLst xmlns:a="http://schemas.openxmlformats.org/drawingml/2006/main">
              <a:ext uri="{FF2B5EF4-FFF2-40B4-BE49-F238E27FC236}">
                <a16:creationId xmlns:a16="http://schemas.microsoft.com/office/drawing/2014/main" id="{F2F6C95C-6C39-4C28-A60D-0BBF415D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623560"/>
            <a:ext cx="4325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expected future utility per joule</a:t>
            </a:r>
          </a:p>
        </p:txBody>
      </p:sp>
    </p:spTree>
    <p:extLst>
      <p:ext uri="{BB962C8B-B14F-4D97-AF65-F5344CB8AC3E}">
        <p14:creationId xmlns:p14="http://schemas.microsoft.com/office/powerpoint/2010/main" val="127104427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1-section">
            <a:extLst xmlns:a="http://schemas.openxmlformats.org/drawingml/2006/main">
              <a:ext uri="{FF2B5EF4-FFF2-40B4-BE49-F238E27FC236}">
                <a16:creationId xmlns:a16="http://schemas.microsoft.com/office/drawing/2014/main" id="{90E97B39-DAC0-4850-BB0B-BFE3E52D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21-slide-id">
            <a:extLst xmlns:a="http://schemas.openxmlformats.org/drawingml/2006/main">
              <a:ext uri="{FF2B5EF4-FFF2-40B4-BE49-F238E27FC236}">
                <a16:creationId xmlns:a16="http://schemas.microsoft.com/office/drawing/2014/main" id="{FF931CE1-B17C-473E-92DF-2B13729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STC-101</a:t>
            </a:r>
          </a:p>
        </p:txBody>
      </p:sp>
      <p:sp>
        <p:nvSpPr>
          <p:cNvPr id="4" name="STC-21-headline">
            <a:extLst xmlns:a="http://schemas.openxmlformats.org/drawingml/2006/main">
              <a:ext uri="{FF2B5EF4-FFF2-40B4-BE49-F238E27FC236}">
                <a16:creationId xmlns:a16="http://schemas.microsoft.com/office/drawing/2014/main" id="{0C1DB336-C32F-4510-840D-F48DDE1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Snapshot version은 model·memory·index를 하나의 read view로 묶는다</a:t>
            </a:r>
          </a:p>
        </p:txBody>
      </p:sp>
      <p:sp>
        <p:nvSpPr>
          <p:cNvPr id="5" name="STC-21-status-label">
            <a:extLst xmlns:a="http://schemas.openxmlformats.org/drawingml/2006/main">
              <a:ext uri="{FF2B5EF4-FFF2-40B4-BE49-F238E27FC236}">
                <a16:creationId xmlns:a16="http://schemas.microsoft.com/office/drawing/2014/main" id="{A73D9096-2749-414C-848B-94BA6DFA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설계</a:t>
            </a:r>
          </a:p>
        </p:txBody>
      </p:sp>
      <p:sp>
        <p:nvSpPr>
          <p:cNvPr id="6" name="STC-21-status-rule">
            <a:extLst xmlns:a="http://schemas.openxmlformats.org/drawingml/2006/main">
              <a:ext uri="{FF2B5EF4-FFF2-40B4-BE49-F238E27FC236}">
                <a16:creationId xmlns:a16="http://schemas.microsoft.com/office/drawing/2014/main" id="{133FC5DA-3340-4946-BB90-2D1043F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1-footer-rule">
            <a:extLst xmlns:a="http://schemas.openxmlformats.org/drawingml/2006/main">
              <a:ext uri="{FF2B5EF4-FFF2-40B4-BE49-F238E27FC236}">
                <a16:creationId xmlns:a16="http://schemas.microsoft.com/office/drawing/2014/main" id="{610CEEEE-65A9-444D-926F-D80BD56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1-source-footer">
            <a:extLst xmlns:a="http://schemas.openxmlformats.org/drawingml/2006/main">
              <a:ext uri="{FF2B5EF4-FFF2-40B4-BE49-F238E27FC236}">
                <a16:creationId xmlns:a16="http://schemas.microsoft.com/office/drawing/2014/main" id="{8D120CC9-2B61-41B3-8138-E0CB1FD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STC-F011 · publication protocol</a:t>
            </a:r>
          </a:p>
        </p:txBody>
      </p:sp>
      <p:sp>
        <p:nvSpPr>
          <p:cNvPr id="9" name="STC-21-page-number">
            <a:extLst xmlns:a="http://schemas.openxmlformats.org/drawingml/2006/main">
              <a:ext uri="{FF2B5EF4-FFF2-40B4-BE49-F238E27FC236}">
                <a16:creationId xmlns:a16="http://schemas.microsoft.com/office/drawing/2014/main" id="{AF8992C2-5791-4A15-A412-8EAC353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101</a:t>
            </a:r>
          </a:p>
        </p:txBody>
      </p:sp>
      <p:sp>
        <p:nvSpPr>
          <p:cNvPr id="11" name="STC-21-tx-tag-0">
            <a:extLst xmlns:a="http://schemas.openxmlformats.org/drawingml/2006/main">
              <a:ext uri="{FF2B5EF4-FFF2-40B4-BE49-F238E27FC236}">
                <a16:creationId xmlns:a16="http://schemas.microsoft.com/office/drawing/2014/main" id="{C2C86C66-2A45-4FCE-9DFE-3011537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BUNDLE</a:t>
            </a:r>
          </a:p>
        </p:txBody>
      </p:sp>
      <p:sp>
        <p:nvSpPr>
          <p:cNvPr id="12" name="STC-21-tx-node-0">
            <a:extLst xmlns:a="http://schemas.openxmlformats.org/drawingml/2006/main">
              <a:ext uri="{FF2B5EF4-FFF2-40B4-BE49-F238E27FC236}">
                <a16:creationId xmlns:a16="http://schemas.microsoft.com/office/drawing/2014/main" id="{7DE25767-490F-4538-9058-75FB020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21-tx-body-0">
            <a:extLst xmlns:a="http://schemas.openxmlformats.org/drawingml/2006/main">
              <a:ext uri="{FF2B5EF4-FFF2-40B4-BE49-F238E27FC236}">
                <a16:creationId xmlns:a16="http://schemas.microsoft.com/office/drawing/2014/main" id="{EEB40A69-21BD-4FCF-975C-7CF195FC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AUTHZ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HEAD</a:t>
            </a:r>
          </a:p>
        </p:txBody>
      </p:sp>
      <p:sp>
        <p:nvSpPr>
          <p:cNvPr id="14" name="STC-21-tx-arrow-0">
            <a:extLst xmlns:a="http://schemas.openxmlformats.org/drawingml/2006/main">
              <a:ext uri="{FF2B5EF4-FFF2-40B4-BE49-F238E27FC236}">
                <a16:creationId xmlns:a16="http://schemas.microsoft.com/office/drawing/2014/main" id="{366CE66D-37A5-4DE4-857B-F0BCFBB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1-tx-tag-1">
            <a:extLst xmlns:a="http://schemas.openxmlformats.org/drawingml/2006/main">
              <a:ext uri="{FF2B5EF4-FFF2-40B4-BE49-F238E27FC236}">
                <a16:creationId xmlns:a16="http://schemas.microsoft.com/office/drawing/2014/main" id="{8ED2FA8D-7673-43AE-950C-4DA5600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PIN</a:t>
            </a:r>
          </a:p>
        </p:txBody>
      </p:sp>
      <p:sp>
        <p:nvSpPr>
          <p:cNvPr id="16" name="STC-21-tx-node-1">
            <a:extLst xmlns:a="http://schemas.openxmlformats.org/drawingml/2006/main">
              <a:ext uri="{FF2B5EF4-FFF2-40B4-BE49-F238E27FC236}">
                <a16:creationId xmlns:a16="http://schemas.microsoft.com/office/drawing/2014/main" id="{352FF0AC-DBB7-4E4C-B4E3-6E26B90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7" name="STC-21-tx-body-1">
            <a:extLst xmlns:a="http://schemas.openxmlformats.org/drawingml/2006/main">
              <a:ext uri="{FF2B5EF4-FFF2-40B4-BE49-F238E27FC236}">
                <a16:creationId xmlns:a16="http://schemas.microsoft.com/office/drawing/2014/main" id="{926F1628-7E3D-4A2B-B774-7DFCBC6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immutable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 snapshot</a:t>
            </a:r>
          </a:p>
        </p:txBody>
      </p:sp>
      <p:sp>
        <p:nvSpPr>
          <p:cNvPr id="18" name="STC-21-tx-arrow-1">
            <a:extLst xmlns:a="http://schemas.openxmlformats.org/drawingml/2006/main">
              <a:ext uri="{FF2B5EF4-FFF2-40B4-BE49-F238E27FC236}">
                <a16:creationId xmlns:a16="http://schemas.microsoft.com/office/drawing/2014/main" id="{A93C3B56-4003-45B0-8369-28562FBB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1-tx-tag-2">
            <a:extLst xmlns:a="http://schemas.openxmlformats.org/drawingml/2006/main">
              <a:ext uri="{FF2B5EF4-FFF2-40B4-BE49-F238E27FC236}">
                <a16:creationId xmlns:a16="http://schemas.microsoft.com/office/drawing/2014/main" id="{B1031615-D103-4D97-8BF8-6ADBF42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CANARY</a:t>
            </a:r>
          </a:p>
        </p:txBody>
      </p:sp>
      <p:sp>
        <p:nvSpPr>
          <p:cNvPr id="20" name="STC-21-tx-node-2">
            <a:extLst xmlns:a="http://schemas.openxmlformats.org/drawingml/2006/main">
              <a:ext uri="{FF2B5EF4-FFF2-40B4-BE49-F238E27FC236}">
                <a16:creationId xmlns:a16="http://schemas.microsoft.com/office/drawing/2014/main" id="{6B4CF136-1B67-48E4-BE19-B33D1F4D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21-tx-body-2">
            <a:extLst xmlns:a="http://schemas.openxmlformats.org/drawingml/2006/main">
              <a:ext uri="{FF2B5EF4-FFF2-40B4-BE49-F238E27FC236}">
                <a16:creationId xmlns:a16="http://schemas.microsoft.com/office/drawing/2014/main" id="{96E338C5-408D-4F1A-BB08-A642A2AC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multi-store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candidate</a:t>
            </a:r>
          </a:p>
        </p:txBody>
      </p:sp>
      <p:sp>
        <p:nvSpPr>
          <p:cNvPr id="22" name="STC-21-tx-arrow-2">
            <a:extLst xmlns:a="http://schemas.openxmlformats.org/drawingml/2006/main">
              <a:ext uri="{FF2B5EF4-FFF2-40B4-BE49-F238E27FC236}">
                <a16:creationId xmlns:a16="http://schemas.microsoft.com/office/drawing/2014/main" id="{FD3EFB9F-ACD4-43E3-B0B5-BC321B0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21-tx-tag-3">
            <a:extLst xmlns:a="http://schemas.openxmlformats.org/drawingml/2006/main">
              <a:ext uri="{FF2B5EF4-FFF2-40B4-BE49-F238E27FC236}">
                <a16:creationId xmlns:a16="http://schemas.microsoft.com/office/drawing/2014/main" id="{5D5E7B03-798E-4137-8F01-7B80830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INVALIDATE</a:t>
            </a:r>
          </a:p>
        </p:txBody>
      </p:sp>
      <p:sp>
        <p:nvSpPr>
          <p:cNvPr id="24" name="STC-21-tx-node-3">
            <a:extLst xmlns:a="http://schemas.openxmlformats.org/drawingml/2006/main">
              <a:ext uri="{FF2B5EF4-FFF2-40B4-BE49-F238E27FC236}">
                <a16:creationId xmlns:a16="http://schemas.microsoft.com/office/drawing/2014/main" id="{45B2127A-0C43-4C8B-88A5-13BA11F1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5" name="STC-21-tx-body-3">
            <a:extLst xmlns:a="http://schemas.openxmlformats.org/drawingml/2006/main">
              <a:ext uri="{FF2B5EF4-FFF2-40B4-BE49-F238E27FC236}">
                <a16:creationId xmlns:a16="http://schemas.microsoft.com/office/drawing/2014/main" id="{0C97996C-F519-4B23-9480-42C6217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utility · harm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provenance</a:t>
            </a:r>
          </a:p>
        </p:txBody>
      </p:sp>
      <p:sp>
        <p:nvSpPr>
          <p:cNvPr id="26" name="STC-21-tx-arrow-3">
            <a:extLst xmlns:a="http://schemas.openxmlformats.org/drawingml/2006/main">
              <a:ext uri="{FF2B5EF4-FFF2-40B4-BE49-F238E27FC236}">
                <a16:creationId xmlns:a16="http://schemas.microsoft.com/office/drawing/2014/main" id="{EEA47463-C486-4109-89F9-46735F19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1-tx-tag-4">
            <a:extLst xmlns:a="http://schemas.openxmlformats.org/drawingml/2006/main">
              <a:ext uri="{FF2B5EF4-FFF2-40B4-BE49-F238E27FC236}">
                <a16:creationId xmlns:a16="http://schemas.microsoft.com/office/drawing/2014/main" id="{CD9F663F-76CE-479E-A83A-ACAA427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ROLLBACK</a:t>
            </a:r>
          </a:p>
        </p:txBody>
      </p:sp>
      <p:sp>
        <p:nvSpPr>
          <p:cNvPr id="28" name="STC-21-tx-node-4">
            <a:extLst xmlns:a="http://schemas.openxmlformats.org/drawingml/2006/main">
              <a:ext uri="{FF2B5EF4-FFF2-40B4-BE49-F238E27FC236}">
                <a16:creationId xmlns:a16="http://schemas.microsoft.com/office/drawing/2014/main" id="{BA0E6807-DA92-4243-B842-C0358E97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9" name="STC-21-tx-body-4">
            <a:extLst xmlns:a="http://schemas.openxmlformats.org/drawingml/2006/main">
              <a:ext uri="{FF2B5EF4-FFF2-40B4-BE49-F238E27FC236}">
                <a16:creationId xmlns:a16="http://schemas.microsoft.com/office/drawing/2014/main" id="{FB3E6FE0-24EC-4695-BCC6-98244FF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ATOMIC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MANIFEST</a:t>
            </a:r>
          </a:p>
        </p:txBody>
      </p:sp>
      <p:sp>
        <p:nvSpPr>
          <p:cNvPr id="30" name="STC-21-tx-reject">
            <a:extLst xmlns:a="http://schemas.openxmlformats.org/drawingml/2006/main">
              <a:ext uri="{FF2B5EF4-FFF2-40B4-BE49-F238E27FC236}">
                <a16:creationId xmlns:a16="http://schemas.microsoft.com/office/drawing/2014/main" id="{B5C03707-03CB-4F77-9F19-5E3ABF9A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74920" y="3264408"/>
            <a:ext cx="3108960" cy="11247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1" name="STC-21-tx-reject-label">
            <a:extLst xmlns:a="http://schemas.openxmlformats.org/drawingml/2006/main">
              <a:ext uri="{FF2B5EF4-FFF2-40B4-BE49-F238E27FC236}">
                <a16:creationId xmlns:a16="http://schemas.microsoft.com/office/drawing/2014/main" id="{BE73F384-17EC-4EF0-8678-D136DA0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4805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BUNDLE</a:t>
            </a:r>
          </a:p>
        </p:txBody>
      </p:sp>
      <p:sp>
        <p:nvSpPr>
          <p:cNvPr id="32" name="STC-21-tx-invariants">
            <a:extLst xmlns:a="http://schemas.openxmlformats.org/drawingml/2006/main">
              <a:ext uri="{FF2B5EF4-FFF2-40B4-BE49-F238E27FC236}">
                <a16:creationId xmlns:a16="http://schemas.microsoft.com/office/drawing/2014/main" id="{8A62E1A8-5074-460D-A8E2-4F922609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919472"/>
            <a:ext cx="93726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3" name="STC-21-tx-invariants-text">
            <a:extLst xmlns:a="http://schemas.openxmlformats.org/drawingml/2006/main">
              <a:ext uri="{FF2B5EF4-FFF2-40B4-BE49-F238E27FC236}">
                <a16:creationId xmlns:a16="http://schemas.microsoft.com/office/drawing/2014/main" id="{B51AC285-C1AF-475D-B541-60CED42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148072"/>
            <a:ext cx="87965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부분 publish는 stale index와 새 adapter가 섞이는 silent failure를 만든다.</a:t>
            </a:r>
          </a:p>
        </p:txBody>
      </p:sp>
      <p:sp>
        <p:nvSpPr>
          <p:cNvPr id="34" name="STC-21-tx-bottom">
            <a:extLst xmlns:a="http://schemas.openxmlformats.org/drawingml/2006/main">
              <a:ext uri="{FF2B5EF4-FFF2-40B4-BE49-F238E27FC236}">
                <a16:creationId xmlns:a16="http://schemas.microsoft.com/office/drawing/2014/main" id="{05F58A2D-3F9F-479D-8BDF-D6AE1D5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88152"/>
            <a:ext cx="8549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부분 publish는 stale index와 새 adapter가 섞이는 silent failure를 만든다.</a:t>
            </a:r>
          </a:p>
        </p:txBody>
      </p:sp>
    </p:spTree>
    <p:extLst>
      <p:ext uri="{BB962C8B-B14F-4D97-AF65-F5344CB8AC3E}">
        <p14:creationId xmlns:p14="http://schemas.microsoft.com/office/powerpoint/2010/main" val="875134373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4-section">
            <a:extLst xmlns:a="http://schemas.openxmlformats.org/drawingml/2006/main">
              <a:ext uri="{FF2B5EF4-FFF2-40B4-BE49-F238E27FC236}">
                <a16:creationId xmlns:a16="http://schemas.microsoft.com/office/drawing/2014/main" id="{D55356B8-A175-4935-B209-7BD03E8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24-slide-id">
            <a:extLst xmlns:a="http://schemas.openxmlformats.org/drawingml/2006/main">
              <a:ext uri="{FF2B5EF4-FFF2-40B4-BE49-F238E27FC236}">
                <a16:creationId xmlns:a16="http://schemas.microsoft.com/office/drawing/2014/main" id="{78B2880B-1829-43C6-82F1-E91F313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STC-102</a:t>
            </a:r>
          </a:p>
        </p:txBody>
      </p:sp>
      <p:sp>
        <p:nvSpPr>
          <p:cNvPr id="4" name="STC-24-headline">
            <a:extLst xmlns:a="http://schemas.openxmlformats.org/drawingml/2006/main">
              <a:ext uri="{FF2B5EF4-FFF2-40B4-BE49-F238E27FC236}">
                <a16:creationId xmlns:a16="http://schemas.microsoft.com/office/drawing/2014/main" id="{7EFF5843-575F-446B-B829-1A50360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Persistent memory는 새로운 control-plane attack surface다</a:t>
            </a:r>
          </a:p>
        </p:txBody>
      </p:sp>
      <p:sp>
        <p:nvSpPr>
          <p:cNvPr id="5" name="STC-24-status-label">
            <a:extLst xmlns:a="http://schemas.openxmlformats.org/drawingml/2006/main">
              <a:ext uri="{FF2B5EF4-FFF2-40B4-BE49-F238E27FC236}">
                <a16:creationId xmlns:a16="http://schemas.microsoft.com/office/drawing/2014/main" id="{BB9E5C04-3E6C-4F28-B08B-9B9AD6E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보안</a:t>
            </a:r>
          </a:p>
        </p:txBody>
      </p:sp>
      <p:sp>
        <p:nvSpPr>
          <p:cNvPr id="6" name="STC-24-status-rule">
            <a:extLst xmlns:a="http://schemas.openxmlformats.org/drawingml/2006/main">
              <a:ext uri="{FF2B5EF4-FFF2-40B4-BE49-F238E27FC236}">
                <a16:creationId xmlns:a16="http://schemas.microsoft.com/office/drawing/2014/main" id="{D1FC3B55-2A2E-45AA-95F6-0583EE5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4-footer-rule">
            <a:extLst xmlns:a="http://schemas.openxmlformats.org/drawingml/2006/main">
              <a:ext uri="{FF2B5EF4-FFF2-40B4-BE49-F238E27FC236}">
                <a16:creationId xmlns:a16="http://schemas.microsoft.com/office/drawing/2014/main" id="{0F5FF2EC-5946-4BA4-AC60-2C5FB9C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4-source-footer">
            <a:extLst xmlns:a="http://schemas.openxmlformats.org/drawingml/2006/main">
              <a:ext uri="{FF2B5EF4-FFF2-40B4-BE49-F238E27FC236}">
                <a16:creationId xmlns:a16="http://schemas.microsoft.com/office/drawing/2014/main" id="{5BD7A1B6-F31C-4947-B44A-705BBCA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Negative-evidence register · STC-F015</a:t>
            </a:r>
          </a:p>
        </p:txBody>
      </p:sp>
      <p:sp>
        <p:nvSpPr>
          <p:cNvPr id="9" name="STC-24-page-number">
            <a:extLst xmlns:a="http://schemas.openxmlformats.org/drawingml/2006/main">
              <a:ext uri="{FF2B5EF4-FFF2-40B4-BE49-F238E27FC236}">
                <a16:creationId xmlns:a16="http://schemas.microsoft.com/office/drawing/2014/main" id="{9DD45F5A-4477-4865-A126-C6C266F7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102</a:t>
            </a:r>
          </a:p>
        </p:txBody>
      </p:sp>
      <p:sp>
        <p:nvSpPr>
          <p:cNvPr id="11" name="STC-24-redteam-field">
            <a:extLst xmlns:a="http://schemas.openxmlformats.org/drawingml/2006/main">
              <a:ext uri="{FF2B5EF4-FFF2-40B4-BE49-F238E27FC236}">
                <a16:creationId xmlns:a16="http://schemas.microsoft.com/office/drawing/2014/main" id="{7103473D-2E31-4B30-9328-78263DD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2852928" cy="4315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2" name="STC-24-redteam-31">
            <a:extLst xmlns:a="http://schemas.openxmlformats.org/drawingml/2006/main">
              <a:ext uri="{FF2B5EF4-FFF2-40B4-BE49-F238E27FC236}">
                <a16:creationId xmlns:a16="http://schemas.microsoft.com/office/drawing/2014/main" id="{8AF4504C-B767-48D4-BBCD-94EC5AF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01952"/>
            <a:ext cx="221284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05</a:t>
            </a:r>
          </a:p>
        </p:txBody>
      </p:sp>
      <p:sp>
        <p:nvSpPr>
          <p:cNvPr id="13" name="STC-24-redteam-findings">
            <a:extLst xmlns:a="http://schemas.openxmlformats.org/drawingml/2006/main">
              <a:ext uri="{FF2B5EF4-FFF2-40B4-BE49-F238E27FC236}">
                <a16:creationId xmlns:a16="http://schemas.microsoft.com/office/drawing/2014/main" id="{B01523B4-485A-4132-B232-BA11A8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16352"/>
            <a:ext cx="221284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adversarial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findings</a:t>
            </a:r>
          </a:p>
        </p:txBody>
      </p:sp>
      <p:sp>
        <p:nvSpPr>
          <p:cNvPr id="14" name="STC-24-redteam-rule">
            <a:extLst xmlns:a="http://schemas.openxmlformats.org/drawingml/2006/main">
              <a:ext uri="{FF2B5EF4-FFF2-40B4-BE49-F238E27FC236}">
                <a16:creationId xmlns:a16="http://schemas.microsoft.com/office/drawing/2014/main" id="{2BB482A1-6070-4983-A590-0667FC85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2029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5" name="STC-24-redteam-domains">
            <a:extLst xmlns:a="http://schemas.openxmlformats.org/drawingml/2006/main">
              <a:ext uri="{FF2B5EF4-FFF2-40B4-BE49-F238E27FC236}">
                <a16:creationId xmlns:a16="http://schemas.microsoft.com/office/drawing/2014/main" id="{73A03FB3-05DD-41DF-89CC-C6C2AA2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05072"/>
            <a:ext cx="2029968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statistics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capacity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systems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publication</a:t>
            </a:r>
          </a:p>
        </p:txBody>
      </p:sp>
      <p:sp>
        <p:nvSpPr>
          <p:cNvPr id="16" name="STC-24-redteam-condition-0">
            <a:extLst xmlns:a="http://schemas.openxmlformats.org/drawingml/2006/main">
              <a:ext uri="{FF2B5EF4-FFF2-40B4-BE49-F238E27FC236}">
                <a16:creationId xmlns:a16="http://schemas.microsoft.com/office/drawing/2014/main" id="{9C6EFA57-2AF4-405B-B8E0-2644092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1636776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INGEST</a:t>
            </a:r>
          </a:p>
        </p:txBody>
      </p:sp>
      <p:sp>
        <p:nvSpPr>
          <p:cNvPr id="17" name="STC-24-redteam-arrow-0">
            <a:extLst xmlns:a="http://schemas.openxmlformats.org/drawingml/2006/main">
              <a:ext uri="{FF2B5EF4-FFF2-40B4-BE49-F238E27FC236}">
                <a16:creationId xmlns:a16="http://schemas.microsoft.com/office/drawing/2014/main" id="{C29B3FBD-C180-4F47-B914-ABB0151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746504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18" name="STC-24-redteam-action-0">
            <a:extLst xmlns:a="http://schemas.openxmlformats.org/drawingml/2006/main">
              <a:ext uri="{FF2B5EF4-FFF2-40B4-BE49-F238E27FC236}">
                <a16:creationId xmlns:a16="http://schemas.microsoft.com/office/drawing/2014/main" id="{F2D57FF2-40C9-475B-8ADE-71EEA69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prompt injection이 replay candidate로 승격</a:t>
            </a:r>
          </a:p>
        </p:txBody>
      </p:sp>
      <p:sp>
        <p:nvSpPr>
          <p:cNvPr id="19" name="STC-24-redteam-condition-1">
            <a:extLst xmlns:a="http://schemas.openxmlformats.org/drawingml/2006/main">
              <a:ext uri="{FF2B5EF4-FFF2-40B4-BE49-F238E27FC236}">
                <a16:creationId xmlns:a16="http://schemas.microsoft.com/office/drawing/2014/main" id="{BDE2CA5D-58FC-434F-A841-A08FD1A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46888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TRAIN</a:t>
            </a:r>
          </a:p>
        </p:txBody>
      </p:sp>
      <p:sp>
        <p:nvSpPr>
          <p:cNvPr id="20" name="STC-24-redteam-arrow-1">
            <a:extLst xmlns:a="http://schemas.openxmlformats.org/drawingml/2006/main">
              <a:ext uri="{FF2B5EF4-FFF2-40B4-BE49-F238E27FC236}">
                <a16:creationId xmlns:a16="http://schemas.microsoft.com/office/drawing/2014/main" id="{4F577BF9-80F7-40D0-B459-5F8A21E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57860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1" name="STC-24-redteam-action-1">
            <a:extLst xmlns:a="http://schemas.openxmlformats.org/drawingml/2006/main">
              <a:ext uri="{FF2B5EF4-FFF2-40B4-BE49-F238E27FC236}">
                <a16:creationId xmlns:a16="http://schemas.microsoft.com/office/drawing/2014/main" id="{4B0FE478-8D2F-4712-9C23-542528B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2304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poison이 adapter/weight에 durable imprint</a:t>
            </a:r>
          </a:p>
        </p:txBody>
      </p:sp>
      <p:sp>
        <p:nvSpPr>
          <p:cNvPr id="22" name="STC-24-redteam-condition-2">
            <a:extLst xmlns:a="http://schemas.openxmlformats.org/drawingml/2006/main">
              <a:ext uri="{FF2B5EF4-FFF2-40B4-BE49-F238E27FC236}">
                <a16:creationId xmlns:a16="http://schemas.microsoft.com/office/drawing/2014/main" id="{11181FB9-A935-4704-BB86-C9143D9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300984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RETRIEVE</a:t>
            </a:r>
          </a:p>
        </p:txBody>
      </p:sp>
      <p:sp>
        <p:nvSpPr>
          <p:cNvPr id="23" name="STC-24-redteam-arrow-2">
            <a:extLst xmlns:a="http://schemas.openxmlformats.org/drawingml/2006/main">
              <a:ext uri="{FF2B5EF4-FFF2-40B4-BE49-F238E27FC236}">
                <a16:creationId xmlns:a16="http://schemas.microsoft.com/office/drawing/2014/main" id="{C90658B6-997B-4942-AA92-F0B084A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4" name="STC-24-redteam-action-2">
            <a:extLst xmlns:a="http://schemas.openxmlformats.org/drawingml/2006/main">
              <a:ext uri="{FF2B5EF4-FFF2-40B4-BE49-F238E27FC236}">
                <a16:creationId xmlns:a16="http://schemas.microsoft.com/office/drawing/2014/main" id="{6FF7ED04-6279-41A5-BFAD-89B5537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4408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cross-tenant·secret exfiltration</a:t>
            </a:r>
          </a:p>
        </p:txBody>
      </p:sp>
      <p:sp>
        <p:nvSpPr>
          <p:cNvPr id="25" name="STC-24-redteam-condition-3">
            <a:extLst xmlns:a="http://schemas.openxmlformats.org/drawingml/2006/main">
              <a:ext uri="{FF2B5EF4-FFF2-40B4-BE49-F238E27FC236}">
                <a16:creationId xmlns:a16="http://schemas.microsoft.com/office/drawing/2014/main" id="{DBBCD39B-5871-4E2B-A51F-BB942E5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133088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PUBLISH</a:t>
            </a:r>
          </a:p>
        </p:txBody>
      </p:sp>
      <p:sp>
        <p:nvSpPr>
          <p:cNvPr id="26" name="STC-24-redteam-arrow-3">
            <a:extLst xmlns:a="http://schemas.openxmlformats.org/drawingml/2006/main">
              <a:ext uri="{FF2B5EF4-FFF2-40B4-BE49-F238E27FC236}">
                <a16:creationId xmlns:a16="http://schemas.microsoft.com/office/drawing/2014/main" id="{9660AB56-69B6-4FBD-B813-9CBF988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42816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7" name="STC-24-redteam-action-3">
            <a:extLst xmlns:a="http://schemas.openxmlformats.org/drawingml/2006/main">
              <a:ext uri="{FF2B5EF4-FFF2-40B4-BE49-F238E27FC236}">
                <a16:creationId xmlns:a16="http://schemas.microsoft.com/office/drawing/2014/main" id="{4AA4EC1B-1A5F-4725-ACF1-86B744B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6512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malicious artifact·rollback blocking</a:t>
            </a:r>
          </a:p>
        </p:txBody>
      </p:sp>
      <p:sp>
        <p:nvSpPr>
          <p:cNvPr id="28" name="STC-24-redteam-condition-4">
            <a:extLst xmlns:a="http://schemas.openxmlformats.org/drawingml/2006/main">
              <a:ext uri="{FF2B5EF4-FFF2-40B4-BE49-F238E27FC236}">
                <a16:creationId xmlns:a16="http://schemas.microsoft.com/office/drawing/2014/main" id="{1D3D302A-47E2-4D26-B565-7B54698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96519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AUDIT</a:t>
            </a:r>
          </a:p>
        </p:txBody>
      </p:sp>
      <p:sp>
        <p:nvSpPr>
          <p:cNvPr id="29" name="STC-24-redteam-arrow-4">
            <a:extLst xmlns:a="http://schemas.openxmlformats.org/drawingml/2006/main">
              <a:ext uri="{FF2B5EF4-FFF2-40B4-BE49-F238E27FC236}">
                <a16:creationId xmlns:a16="http://schemas.microsoft.com/office/drawing/2014/main" id="{8B4BB7C3-0894-4624-B64A-2332CAB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07492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0" name="STC-24-redteam-action-4">
            <a:extLst xmlns:a="http://schemas.openxmlformats.org/drawingml/2006/main">
              <a:ext uri="{FF2B5EF4-FFF2-40B4-BE49-F238E27FC236}">
                <a16:creationId xmlns:a16="http://schemas.microsoft.com/office/drawing/2014/main" id="{BF3F69E8-1C0C-4846-9932-4467BC7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28616"/>
            <a:ext cx="3538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output-only test가 hidden memory를 놓침</a:t>
            </a:r>
          </a:p>
        </p:txBody>
      </p:sp>
      <p:sp>
        <p:nvSpPr>
          <p:cNvPr id="31" name="STC-24-redteam-bottom">
            <a:extLst xmlns:a="http://schemas.openxmlformats.org/drawingml/2006/main">
              <a:ext uri="{FF2B5EF4-FFF2-40B4-BE49-F238E27FC236}">
                <a16:creationId xmlns:a16="http://schemas.microsoft.com/office/drawing/2014/main" id="{38BBEDEE-CF7E-481C-927F-AD28491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96128"/>
            <a:ext cx="532180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Sleep worker는 sandbox·signature·tenant isolation·provenance gate가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46749100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1-section">
            <a:extLst xmlns:a="http://schemas.openxmlformats.org/drawingml/2006/main">
              <a:ext uri="{FF2B5EF4-FFF2-40B4-BE49-F238E27FC236}">
                <a16:creationId xmlns:a16="http://schemas.microsoft.com/office/drawing/2014/main" id="{90E97B39-DAC0-4850-BB0B-BFE3E52D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21-slide-id">
            <a:extLst xmlns:a="http://schemas.openxmlformats.org/drawingml/2006/main">
              <a:ext uri="{FF2B5EF4-FFF2-40B4-BE49-F238E27FC236}">
                <a16:creationId xmlns:a16="http://schemas.microsoft.com/office/drawing/2014/main" id="{FF931CE1-B17C-473E-92DF-2B13729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STC-103</a:t>
            </a:r>
          </a:p>
        </p:txBody>
      </p:sp>
      <p:sp>
        <p:nvSpPr>
          <p:cNvPr id="4" name="STC-21-headline">
            <a:extLst xmlns:a="http://schemas.openxmlformats.org/drawingml/2006/main">
              <a:ext uri="{FF2B5EF4-FFF2-40B4-BE49-F238E27FC236}">
                <a16:creationId xmlns:a16="http://schemas.microsoft.com/office/drawing/2014/main" id="{0C1DB336-C32F-4510-840D-F48DDE1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Deletion SLA는 serving 차단과 physical rebuild를 분리한다</a:t>
            </a:r>
          </a:p>
        </p:txBody>
      </p:sp>
      <p:sp>
        <p:nvSpPr>
          <p:cNvPr id="5" name="STC-21-status-label">
            <a:extLst xmlns:a="http://schemas.openxmlformats.org/drawingml/2006/main">
              <a:ext uri="{FF2B5EF4-FFF2-40B4-BE49-F238E27FC236}">
                <a16:creationId xmlns:a16="http://schemas.microsoft.com/office/drawing/2014/main" id="{A73D9096-2749-414C-848B-94BA6DFA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거버넌스</a:t>
            </a:r>
          </a:p>
        </p:txBody>
      </p:sp>
      <p:sp>
        <p:nvSpPr>
          <p:cNvPr id="6" name="STC-21-status-rule">
            <a:extLst xmlns:a="http://schemas.openxmlformats.org/drawingml/2006/main">
              <a:ext uri="{FF2B5EF4-FFF2-40B4-BE49-F238E27FC236}">
                <a16:creationId xmlns:a16="http://schemas.microsoft.com/office/drawing/2014/main" id="{133FC5DA-3340-4946-BB90-2D1043F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1-footer-rule">
            <a:extLst xmlns:a="http://schemas.openxmlformats.org/drawingml/2006/main">
              <a:ext uri="{FF2B5EF4-FFF2-40B4-BE49-F238E27FC236}">
                <a16:creationId xmlns:a16="http://schemas.microsoft.com/office/drawing/2014/main" id="{610CEEEE-65A9-444D-926F-D80BD56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1-source-footer">
            <a:extLst xmlns:a="http://schemas.openxmlformats.org/drawingml/2006/main">
              <a:ext uri="{FF2B5EF4-FFF2-40B4-BE49-F238E27FC236}">
                <a16:creationId xmlns:a16="http://schemas.microsoft.com/office/drawing/2014/main" id="{8D120CC9-2B61-41B3-8138-E0CB1FD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STC-F012 · erasure protocol</a:t>
            </a:r>
          </a:p>
        </p:txBody>
      </p:sp>
      <p:sp>
        <p:nvSpPr>
          <p:cNvPr id="9" name="STC-21-page-number">
            <a:extLst xmlns:a="http://schemas.openxmlformats.org/drawingml/2006/main">
              <a:ext uri="{FF2B5EF4-FFF2-40B4-BE49-F238E27FC236}">
                <a16:creationId xmlns:a16="http://schemas.microsoft.com/office/drawing/2014/main" id="{AF8992C2-5791-4A15-A412-8EAC353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103</a:t>
            </a:r>
          </a:p>
        </p:txBody>
      </p:sp>
      <p:sp>
        <p:nvSpPr>
          <p:cNvPr id="11" name="STC-21-tx-tag-0">
            <a:extLst xmlns:a="http://schemas.openxmlformats.org/drawingml/2006/main">
              <a:ext uri="{FF2B5EF4-FFF2-40B4-BE49-F238E27FC236}">
                <a16:creationId xmlns:a16="http://schemas.microsoft.com/office/drawing/2014/main" id="{C2C86C66-2A45-4FCE-9DFE-3011537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T0 BLOCK</a:t>
            </a:r>
          </a:p>
        </p:txBody>
      </p:sp>
      <p:sp>
        <p:nvSpPr>
          <p:cNvPr id="12" name="STC-21-tx-node-0">
            <a:extLst xmlns:a="http://schemas.openxmlformats.org/drawingml/2006/main">
              <a:ext uri="{FF2B5EF4-FFF2-40B4-BE49-F238E27FC236}">
                <a16:creationId xmlns:a16="http://schemas.microsoft.com/office/drawing/2014/main" id="{7DE25767-490F-4538-9058-75FB020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3" name="STC-21-tx-body-0">
            <a:extLst xmlns:a="http://schemas.openxmlformats.org/drawingml/2006/main">
              <a:ext uri="{FF2B5EF4-FFF2-40B4-BE49-F238E27FC236}">
                <a16:creationId xmlns:a16="http://schemas.microsoft.com/office/drawing/2014/main" id="{EEB40A69-21BD-4FCF-975C-7CF195FC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AUTHZ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HEAD</a:t>
            </a:r>
          </a:p>
        </p:txBody>
      </p:sp>
      <p:sp>
        <p:nvSpPr>
          <p:cNvPr id="14" name="STC-21-tx-arrow-0">
            <a:extLst xmlns:a="http://schemas.openxmlformats.org/drawingml/2006/main">
              <a:ext uri="{FF2B5EF4-FFF2-40B4-BE49-F238E27FC236}">
                <a16:creationId xmlns:a16="http://schemas.microsoft.com/office/drawing/2014/main" id="{366CE66D-37A5-4DE4-857B-F0BCFBB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1-tx-tag-1">
            <a:extLst xmlns:a="http://schemas.openxmlformats.org/drawingml/2006/main">
              <a:ext uri="{FF2B5EF4-FFF2-40B4-BE49-F238E27FC236}">
                <a16:creationId xmlns:a16="http://schemas.microsoft.com/office/drawing/2014/main" id="{8ED2FA8D-7673-43AE-950C-4DA5600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TRACE</a:t>
            </a:r>
          </a:p>
        </p:txBody>
      </p:sp>
      <p:sp>
        <p:nvSpPr>
          <p:cNvPr id="16" name="STC-21-tx-node-1">
            <a:extLst xmlns:a="http://schemas.openxmlformats.org/drawingml/2006/main">
              <a:ext uri="{FF2B5EF4-FFF2-40B4-BE49-F238E27FC236}">
                <a16:creationId xmlns:a16="http://schemas.microsoft.com/office/drawing/2014/main" id="{352FF0AC-DBB7-4E4C-B4E3-6E26B90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17" name="STC-21-tx-body-1">
            <a:extLst xmlns:a="http://schemas.openxmlformats.org/drawingml/2006/main">
              <a:ext uri="{FF2B5EF4-FFF2-40B4-BE49-F238E27FC236}">
                <a16:creationId xmlns:a16="http://schemas.microsoft.com/office/drawing/2014/main" id="{926F1628-7E3D-4A2B-B774-7DFCBC6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immutable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wake snapshot</a:t>
            </a:r>
          </a:p>
        </p:txBody>
      </p:sp>
      <p:sp>
        <p:nvSpPr>
          <p:cNvPr id="18" name="STC-21-tx-arrow-1">
            <a:extLst xmlns:a="http://schemas.openxmlformats.org/drawingml/2006/main">
              <a:ext uri="{FF2B5EF4-FFF2-40B4-BE49-F238E27FC236}">
                <a16:creationId xmlns:a16="http://schemas.microsoft.com/office/drawing/2014/main" id="{A93C3B56-4003-45B0-8369-28562FBB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1-tx-tag-2">
            <a:extLst xmlns:a="http://schemas.openxmlformats.org/drawingml/2006/main">
              <a:ext uri="{FF2B5EF4-FFF2-40B4-BE49-F238E27FC236}">
                <a16:creationId xmlns:a16="http://schemas.microsoft.com/office/drawing/2014/main" id="{B1031615-D103-4D97-8BF8-6ADBF42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REBUILD</a:t>
            </a:r>
          </a:p>
        </p:txBody>
      </p:sp>
      <p:sp>
        <p:nvSpPr>
          <p:cNvPr id="20" name="STC-21-tx-node-2">
            <a:extLst xmlns:a="http://schemas.openxmlformats.org/drawingml/2006/main">
              <a:ext uri="{FF2B5EF4-FFF2-40B4-BE49-F238E27FC236}">
                <a16:creationId xmlns:a16="http://schemas.microsoft.com/office/drawing/2014/main" id="{6B4CF136-1B67-48E4-BE19-B33D1F4D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21-tx-body-2">
            <a:extLst xmlns:a="http://schemas.openxmlformats.org/drawingml/2006/main">
              <a:ext uri="{FF2B5EF4-FFF2-40B4-BE49-F238E27FC236}">
                <a16:creationId xmlns:a16="http://schemas.microsoft.com/office/drawing/2014/main" id="{96E338C5-408D-4F1A-BB08-A642A2AC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multi-store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candidate</a:t>
            </a:r>
          </a:p>
        </p:txBody>
      </p:sp>
      <p:sp>
        <p:nvSpPr>
          <p:cNvPr id="22" name="STC-21-tx-arrow-2">
            <a:extLst xmlns:a="http://schemas.openxmlformats.org/drawingml/2006/main">
              <a:ext uri="{FF2B5EF4-FFF2-40B4-BE49-F238E27FC236}">
                <a16:creationId xmlns:a16="http://schemas.microsoft.com/office/drawing/2014/main" id="{FD3EFB9F-ACD4-43E3-B0B5-BC321B0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21-tx-tag-3">
            <a:extLst xmlns:a="http://schemas.openxmlformats.org/drawingml/2006/main">
              <a:ext uri="{FF2B5EF4-FFF2-40B4-BE49-F238E27FC236}">
                <a16:creationId xmlns:a16="http://schemas.microsoft.com/office/drawing/2014/main" id="{5D5E7B03-798E-4137-8F01-7B80830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VERIFY</a:t>
            </a:r>
          </a:p>
        </p:txBody>
      </p:sp>
      <p:sp>
        <p:nvSpPr>
          <p:cNvPr id="24" name="STC-21-tx-node-3">
            <a:extLst xmlns:a="http://schemas.openxmlformats.org/drawingml/2006/main">
              <a:ext uri="{FF2B5EF4-FFF2-40B4-BE49-F238E27FC236}">
                <a16:creationId xmlns:a16="http://schemas.microsoft.com/office/drawing/2014/main" id="{45B2127A-0C43-4C8B-88A5-13BA11F1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5" name="STC-21-tx-body-3">
            <a:extLst xmlns:a="http://schemas.openxmlformats.org/drawingml/2006/main">
              <a:ext uri="{FF2B5EF4-FFF2-40B4-BE49-F238E27FC236}">
                <a16:creationId xmlns:a16="http://schemas.microsoft.com/office/drawing/2014/main" id="{0C97996C-F519-4B23-9480-42C6217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utility · harm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provenance</a:t>
            </a:r>
          </a:p>
        </p:txBody>
      </p:sp>
      <p:sp>
        <p:nvSpPr>
          <p:cNvPr id="26" name="STC-21-tx-arrow-3">
            <a:extLst xmlns:a="http://schemas.openxmlformats.org/drawingml/2006/main">
              <a:ext uri="{FF2B5EF4-FFF2-40B4-BE49-F238E27FC236}">
                <a16:creationId xmlns:a16="http://schemas.microsoft.com/office/drawing/2014/main" id="{EEA47463-C486-4109-89F9-46735F19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615184"/>
            <a:ext cx="749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1-tx-tag-4">
            <a:extLst xmlns:a="http://schemas.openxmlformats.org/drawingml/2006/main">
              <a:ext uri="{FF2B5EF4-FFF2-40B4-BE49-F238E27FC236}">
                <a16:creationId xmlns:a16="http://schemas.microsoft.com/office/drawing/2014/main" id="{CD9F663F-76CE-479E-A83A-ACAA427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171907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ATTEST</a:t>
            </a:r>
          </a:p>
        </p:txBody>
      </p:sp>
      <p:sp>
        <p:nvSpPr>
          <p:cNvPr id="28" name="STC-21-tx-node-4">
            <a:extLst xmlns:a="http://schemas.openxmlformats.org/drawingml/2006/main">
              <a:ext uri="{FF2B5EF4-FFF2-40B4-BE49-F238E27FC236}">
                <a16:creationId xmlns:a16="http://schemas.microsoft.com/office/drawing/2014/main" id="{BA0E6807-DA92-4243-B842-C0358E97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084832"/>
            <a:ext cx="14173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9" name="STC-21-tx-body-4">
            <a:extLst xmlns:a="http://schemas.openxmlformats.org/drawingml/2006/main">
              <a:ext uri="{FF2B5EF4-FFF2-40B4-BE49-F238E27FC236}">
                <a16:creationId xmlns:a16="http://schemas.microsoft.com/office/drawing/2014/main" id="{FB3E6FE0-24EC-4695-BCC6-98244FF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350008"/>
            <a:ext cx="11978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ATOMIC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MANIFEST</a:t>
            </a:r>
          </a:p>
        </p:txBody>
      </p:sp>
      <p:sp>
        <p:nvSpPr>
          <p:cNvPr id="30" name="STC-21-tx-reject">
            <a:extLst xmlns:a="http://schemas.openxmlformats.org/drawingml/2006/main">
              <a:ext uri="{FF2B5EF4-FFF2-40B4-BE49-F238E27FC236}">
                <a16:creationId xmlns:a16="http://schemas.microsoft.com/office/drawing/2014/main" id="{B5C03707-03CB-4F77-9F19-5E3ABF9A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74920" y="3264408"/>
            <a:ext cx="3108960" cy="11247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1" name="STC-21-tx-reject-label">
            <a:extLst xmlns:a="http://schemas.openxmlformats.org/drawingml/2006/main">
              <a:ext uri="{FF2B5EF4-FFF2-40B4-BE49-F238E27FC236}">
                <a16:creationId xmlns:a16="http://schemas.microsoft.com/office/drawing/2014/main" id="{BE73F384-17EC-4EF0-8678-D136DA0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4805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T0 BLOCK</a:t>
            </a:r>
          </a:p>
        </p:txBody>
      </p:sp>
      <p:sp>
        <p:nvSpPr>
          <p:cNvPr id="32" name="STC-21-tx-invariants">
            <a:extLst xmlns:a="http://schemas.openxmlformats.org/drawingml/2006/main">
              <a:ext uri="{FF2B5EF4-FFF2-40B4-BE49-F238E27FC236}">
                <a16:creationId xmlns:a16="http://schemas.microsoft.com/office/drawing/2014/main" id="{8A62E1A8-5074-460D-A8E2-4F922609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919472"/>
            <a:ext cx="93726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33" name="STC-21-tx-invariants-text">
            <a:extLst xmlns:a="http://schemas.openxmlformats.org/drawingml/2006/main">
              <a:ext uri="{FF2B5EF4-FFF2-40B4-BE49-F238E27FC236}">
                <a16:creationId xmlns:a16="http://schemas.microsoft.com/office/drawing/2014/main" id="{B51AC285-C1AF-475D-B541-60CED42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148072"/>
            <a:ext cx="87965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빠른 logical delete와 느린 compaction을 하나의 모호한 약속으로 만들지 않는다.</a:t>
            </a:r>
          </a:p>
        </p:txBody>
      </p:sp>
      <p:sp>
        <p:nvSpPr>
          <p:cNvPr id="34" name="STC-21-tx-bottom">
            <a:extLst xmlns:a="http://schemas.openxmlformats.org/drawingml/2006/main">
              <a:ext uri="{FF2B5EF4-FFF2-40B4-BE49-F238E27FC236}">
                <a16:creationId xmlns:a16="http://schemas.microsoft.com/office/drawing/2014/main" id="{05F58A2D-3F9F-479D-8BDF-D6AE1D5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88152"/>
            <a:ext cx="8549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빠른 logical delete와 느린 compaction을 하나의 모호한 약속으로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7513437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2-section">
            <a:extLst xmlns:a="http://schemas.openxmlformats.org/drawingml/2006/main">
              <a:ext uri="{FF2B5EF4-FFF2-40B4-BE49-F238E27FC236}">
                <a16:creationId xmlns:a16="http://schemas.microsoft.com/office/drawing/2014/main" id="{4180C3F7-6A15-4C91-AC40-C6EFAC3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3" name="STC-22-slide-id">
            <a:extLst xmlns:a="http://schemas.openxmlformats.org/drawingml/2006/main">
              <a:ext uri="{FF2B5EF4-FFF2-40B4-BE49-F238E27FC236}">
                <a16:creationId xmlns:a16="http://schemas.microsoft.com/office/drawing/2014/main" id="{3804CF65-2A49-4297-AA78-B81BECD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STC-104</a:t>
            </a:r>
          </a:p>
        </p:txBody>
      </p:sp>
      <p:sp>
        <p:nvSpPr>
          <p:cNvPr id="4" name="STC-22-headline">
            <a:extLst xmlns:a="http://schemas.openxmlformats.org/drawingml/2006/main">
              <a:ext uri="{FF2B5EF4-FFF2-40B4-BE49-F238E27FC236}">
                <a16:creationId xmlns:a16="http://schemas.microsoft.com/office/drawing/2014/main" id="{C6C623A0-9133-4826-A8FC-64607D4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관측성은 FLOP보다 lifecycle accounting을 먼저 보여야 한다</a:t>
            </a:r>
          </a:p>
        </p:txBody>
      </p:sp>
      <p:sp>
        <p:nvSpPr>
          <p:cNvPr id="5" name="STC-22-status-label">
            <a:extLst xmlns:a="http://schemas.openxmlformats.org/drawingml/2006/main">
              <a:ext uri="{FF2B5EF4-FFF2-40B4-BE49-F238E27FC236}">
                <a16:creationId xmlns:a16="http://schemas.microsoft.com/office/drawing/2014/main" id="{92F9BE62-8C46-4417-BE9C-5FC4092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계측</a:t>
            </a:r>
          </a:p>
        </p:txBody>
      </p:sp>
      <p:sp>
        <p:nvSpPr>
          <p:cNvPr id="6" name="STC-22-status-rule">
            <a:extLst xmlns:a="http://schemas.openxmlformats.org/drawingml/2006/main">
              <a:ext uri="{FF2B5EF4-FFF2-40B4-BE49-F238E27FC236}">
                <a16:creationId xmlns:a16="http://schemas.microsoft.com/office/drawing/2014/main" id="{2396AE1D-4459-4B08-B4DD-3923B63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2-footer-rule">
            <a:extLst xmlns:a="http://schemas.openxmlformats.org/drawingml/2006/main">
              <a:ext uri="{FF2B5EF4-FFF2-40B4-BE49-F238E27FC236}">
                <a16:creationId xmlns:a16="http://schemas.microsoft.com/office/drawing/2014/main" id="{1472DC8A-989B-45B0-A5DE-A3E5DA4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2-source-footer">
            <a:extLst xmlns:a="http://schemas.openxmlformats.org/drawingml/2006/main">
              <a:ext uri="{FF2B5EF4-FFF2-40B4-BE49-F238E27FC236}">
                <a16:creationId xmlns:a16="http://schemas.microsoft.com/office/drawing/2014/main" id="{49A30577-C7E9-4496-A776-32411A5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Benchmark blueprint · infra metrics</a:t>
            </a:r>
          </a:p>
        </p:txBody>
      </p:sp>
      <p:sp>
        <p:nvSpPr>
          <p:cNvPr id="9" name="STC-22-page-number">
            <a:extLst xmlns:a="http://schemas.openxmlformats.org/drawingml/2006/main">
              <a:ext uri="{FF2B5EF4-FFF2-40B4-BE49-F238E27FC236}">
                <a16:creationId xmlns:a16="http://schemas.microsoft.com/office/drawing/2014/main" id="{ADEE1784-A5FA-41A8-B67A-05D8BBDB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104</a:t>
            </a:r>
          </a:p>
        </p:txBody>
      </p:sp>
      <p:sp>
        <p:nvSpPr>
          <p:cNvPr id="11" name="STC-22-bench-297">
            <a:extLst xmlns:a="http://schemas.openxmlformats.org/drawingml/2006/main">
              <a:ext uri="{FF2B5EF4-FFF2-40B4-BE49-F238E27FC236}">
                <a16:creationId xmlns:a16="http://schemas.microsoft.com/office/drawing/2014/main" id="{C6602EC3-F3A6-4416-8E17-A21555A2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73352"/>
            <a:ext cx="18745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ΔU</a:t>
            </a:r>
          </a:p>
        </p:txBody>
      </p:sp>
      <p:sp>
        <p:nvSpPr>
          <p:cNvPr id="12" name="STC-22-bench-logical">
            <a:extLst xmlns:a="http://schemas.openxmlformats.org/drawingml/2006/main">
              <a:ext uri="{FF2B5EF4-FFF2-40B4-BE49-F238E27FC236}">
                <a16:creationId xmlns:a16="http://schemas.microsoft.com/office/drawing/2014/main" id="{8DA20E08-D255-4B2F-93C4-AD9CCA39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8775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QUALITY</a:t>
            </a:r>
          </a:p>
        </p:txBody>
      </p:sp>
      <p:sp>
        <p:nvSpPr>
          <p:cNvPr id="13" name="STC-22-bench-arrow-1">
            <a:extLst xmlns:a="http://schemas.openxmlformats.org/drawingml/2006/main">
              <a:ext uri="{FF2B5EF4-FFF2-40B4-BE49-F238E27FC236}">
                <a16:creationId xmlns:a16="http://schemas.microsoft.com/office/drawing/2014/main" id="{090B24F6-7D86-4F9D-8B04-FC92B68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210312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22-bench-matrix-0">
            <a:extLst xmlns:a="http://schemas.openxmlformats.org/drawingml/2006/main">
              <a:ext uri="{FF2B5EF4-FFF2-40B4-BE49-F238E27FC236}">
                <a16:creationId xmlns:a16="http://schemas.microsoft.com/office/drawing/2014/main" id="{5B2DD893-8316-4CAB-A1C4-244B051B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627632"/>
            <a:ext cx="354787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5" name="STC-22-bench-matrix-num-0">
            <a:extLst xmlns:a="http://schemas.openxmlformats.org/drawingml/2006/main">
              <a:ext uri="{FF2B5EF4-FFF2-40B4-BE49-F238E27FC236}">
                <a16:creationId xmlns:a16="http://schemas.microsoft.com/office/drawing/2014/main" id="{4291DB3E-D2CA-4231-AF01-98422450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810512"/>
            <a:ext cx="9326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J/query</a:t>
            </a:r>
          </a:p>
        </p:txBody>
      </p:sp>
      <p:sp>
        <p:nvSpPr>
          <p:cNvPr id="16" name="STC-22-bench-matrix-label-0">
            <a:extLst xmlns:a="http://schemas.openxmlformats.org/drawingml/2006/main">
              <a:ext uri="{FF2B5EF4-FFF2-40B4-BE49-F238E27FC236}">
                <a16:creationId xmlns:a16="http://schemas.microsoft.com/office/drawing/2014/main" id="{CF17F528-0F0F-4BD2-9158-AFD153C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74520"/>
            <a:ext cx="2148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QUALITY</a:t>
            </a:r>
          </a:p>
        </p:txBody>
      </p:sp>
      <p:sp>
        <p:nvSpPr>
          <p:cNvPr id="17" name="STC-22-bench-matrix-formula-0">
            <a:extLst xmlns:a="http://schemas.openxmlformats.org/drawingml/2006/main">
              <a:ext uri="{FF2B5EF4-FFF2-40B4-BE49-F238E27FC236}">
                <a16:creationId xmlns:a16="http://schemas.microsoft.com/office/drawing/2014/main" id="{730A2054-9EC9-4A4A-ABB0-968B976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1720"/>
            <a:ext cx="314553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6 deployable × 3 reuse × 3 pressure × 3 seeds = 162</a:t>
            </a:r>
          </a:p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+ oracle on 27 operating cells</a:t>
            </a:r>
          </a:p>
        </p:txBody>
      </p:sp>
      <p:sp>
        <p:nvSpPr>
          <p:cNvPr id="18" name="STC-22-bench-matrix-1">
            <a:extLst xmlns:a="http://schemas.openxmlformats.org/drawingml/2006/main">
              <a:ext uri="{FF2B5EF4-FFF2-40B4-BE49-F238E27FC236}">
                <a16:creationId xmlns:a16="http://schemas.microsoft.com/office/drawing/2014/main" id="{F8A43887-ABDF-4499-851D-156E88E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627632"/>
            <a:ext cx="354787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9" name="STC-22-bench-matrix-num-1">
            <a:extLst xmlns:a="http://schemas.openxmlformats.org/drawingml/2006/main">
              <a:ext uri="{FF2B5EF4-FFF2-40B4-BE49-F238E27FC236}">
                <a16:creationId xmlns:a16="http://schemas.microsoft.com/office/drawing/2014/main" id="{8254FB44-CB56-423F-A461-E5BAB04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1810512"/>
            <a:ext cx="9326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B/query</a:t>
            </a:r>
          </a:p>
        </p:txBody>
      </p:sp>
      <p:sp>
        <p:nvSpPr>
          <p:cNvPr id="20" name="STC-22-bench-matrix-label-1">
            <a:extLst xmlns:a="http://schemas.openxmlformats.org/drawingml/2006/main">
              <a:ext uri="{FF2B5EF4-FFF2-40B4-BE49-F238E27FC236}">
                <a16:creationId xmlns:a16="http://schemas.microsoft.com/office/drawing/2014/main" id="{42992EE3-0B0C-4A56-B736-5BE828E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874520"/>
            <a:ext cx="2148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COMPUTE</a:t>
            </a:r>
          </a:p>
        </p:txBody>
      </p:sp>
      <p:sp>
        <p:nvSpPr>
          <p:cNvPr id="21" name="STC-22-bench-matrix-formula-1">
            <a:extLst xmlns:a="http://schemas.openxmlformats.org/drawingml/2006/main">
              <a:ext uri="{FF2B5EF4-FFF2-40B4-BE49-F238E27FC236}">
                <a16:creationId xmlns:a16="http://schemas.microsoft.com/office/drawing/2014/main" id="{B6B3CFFE-5D9D-4BC9-95BA-6ADFD9C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31720"/>
            <a:ext cx="314553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2 schedules × 2 operators × 3 reuse</a:t>
            </a:r>
          </a:p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× 3 pressure × 3 seeds</a:t>
            </a:r>
          </a:p>
        </p:txBody>
      </p:sp>
      <p:sp>
        <p:nvSpPr>
          <p:cNvPr id="22" name="STC-22-bench-divider">
            <a:extLst xmlns:a="http://schemas.openxmlformats.org/drawingml/2006/main">
              <a:ext uri="{FF2B5EF4-FFF2-40B4-BE49-F238E27FC236}">
                <a16:creationId xmlns:a16="http://schemas.microsoft.com/office/drawing/2014/main" id="{B53D7724-8EB6-4595-9871-D63BC21B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29584"/>
            <a:ext cx="10378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3" name="STC-22-bench-contract-num-0">
            <a:extLst xmlns:a="http://schemas.openxmlformats.org/drawingml/2006/main">
              <a:ext uri="{FF2B5EF4-FFF2-40B4-BE49-F238E27FC236}">
                <a16:creationId xmlns:a16="http://schemas.microsoft.com/office/drawing/2014/main" id="{667AE726-162D-490B-8CDA-EA136F7A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p99</a:t>
            </a:r>
          </a:p>
        </p:txBody>
      </p:sp>
      <p:sp>
        <p:nvSpPr>
          <p:cNvPr id="24" name="STC-22-bench-contract-body-0">
            <a:extLst xmlns:a="http://schemas.openxmlformats.org/drawingml/2006/main">
              <a:ext uri="{FF2B5EF4-FFF2-40B4-BE49-F238E27FC236}">
                <a16:creationId xmlns:a16="http://schemas.microsoft.com/office/drawing/2014/main" id="{A28454A5-E173-4BDA-B5F6-1FB8797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fixed blocks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16 families × 3 seeds</a:t>
            </a:r>
          </a:p>
        </p:txBody>
      </p:sp>
      <p:sp>
        <p:nvSpPr>
          <p:cNvPr id="25" name="STC-22-bench-contract-num-1">
            <a:extLst xmlns:a="http://schemas.openxmlformats.org/drawingml/2006/main">
              <a:ext uri="{FF2B5EF4-FFF2-40B4-BE49-F238E27FC236}">
                <a16:creationId xmlns:a16="http://schemas.microsoft.com/office/drawing/2014/main" id="{B198C229-D1BA-4293-9989-58293C7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ΔU / ε</a:t>
            </a:r>
          </a:p>
        </p:txBody>
      </p:sp>
      <p:sp>
        <p:nvSpPr>
          <p:cNvPr id="26" name="STC-22-bench-contract-body-1">
            <a:extLst xmlns:a="http://schemas.openxmlformats.org/drawingml/2006/main">
              <a:ext uri="{FF2B5EF4-FFF2-40B4-BE49-F238E27FC236}">
                <a16:creationId xmlns:a16="http://schemas.microsoft.com/office/drawing/2014/main" id="{E4E1D573-6364-4D77-971F-CE6956AE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global rows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104 continuous + 27 RF</a:t>
            </a:r>
          </a:p>
        </p:txBody>
      </p:sp>
      <p:sp>
        <p:nvSpPr>
          <p:cNvPr id="27" name="STC-22-bench-contract-num-2">
            <a:extLst xmlns:a="http://schemas.openxmlformats.org/drawingml/2006/main">
              <a:ext uri="{FF2B5EF4-FFF2-40B4-BE49-F238E27FC236}">
                <a16:creationId xmlns:a16="http://schemas.microsoft.com/office/drawing/2014/main" id="{507068AE-9B0D-4DB4-ACB9-4F81615E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4E8A"/>
                </a:solidFill>
                <a:latin typeface="Noto Serif CJK KR"/>
                <a:ea typeface="Noto Serif CJK KR"/>
                <a:cs typeface="Noto Serif CJK KR"/>
              </a:rPr>
              <a:t>FLOP</a:t>
            </a:r>
          </a:p>
        </p:txBody>
      </p:sp>
      <p:sp>
        <p:nvSpPr>
          <p:cNvPr id="28" name="STC-22-bench-contract-body-2">
            <a:extLst xmlns:a="http://schemas.openxmlformats.org/drawingml/2006/main">
              <a:ext uri="{FF2B5EF4-FFF2-40B4-BE49-F238E27FC236}">
                <a16:creationId xmlns:a16="http://schemas.microsoft.com/office/drawing/2014/main" id="{926A2AFF-8F8C-42EC-A85F-DBF2AF1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blocked paired</a:t>
            </a:r>
          </a:p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bootstrap</a:t>
            </a:r>
          </a:p>
        </p:txBody>
      </p:sp>
      <p:sp>
        <p:nvSpPr>
          <p:cNvPr id="29" name="STC-22-bench-contract-num-3">
            <a:extLst xmlns:a="http://schemas.openxmlformats.org/drawingml/2006/main">
              <a:ext uri="{FF2B5EF4-FFF2-40B4-BE49-F238E27FC236}">
                <a16:creationId xmlns:a16="http://schemas.microsoft.com/office/drawing/2014/main" id="{2F60808A-E3BB-41F8-BE26-1EA47FA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3913632"/>
            <a:ext cx="1143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bytes</a:t>
            </a:r>
          </a:p>
        </p:txBody>
      </p:sp>
      <p:sp>
        <p:nvSpPr>
          <p:cNvPr id="30" name="STC-22-bench-contract-body-3">
            <a:extLst xmlns:a="http://schemas.openxmlformats.org/drawingml/2006/main">
              <a:ext uri="{FF2B5EF4-FFF2-40B4-BE49-F238E27FC236}">
                <a16:creationId xmlns:a16="http://schemas.microsoft.com/office/drawing/2014/main" id="{D829B34A-0180-4173-A0AD-83E4FFF6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3913632"/>
            <a:ext cx="13533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raw/derived/adapter footprint</a:t>
            </a:r>
          </a:p>
        </p:txBody>
      </p:sp>
      <p:sp>
        <p:nvSpPr>
          <p:cNvPr id="31" name="STC-22-bench-status">
            <a:extLst xmlns:a="http://schemas.openxmlformats.org/drawingml/2006/main">
              <a:ext uri="{FF2B5EF4-FFF2-40B4-BE49-F238E27FC236}">
                <a16:creationId xmlns:a16="http://schemas.microsoft.com/office/drawing/2014/main" id="{7ADBCEA5-EC84-4F10-AFAF-6D6CC751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04011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32" name="STC-22-bench-status-text">
            <a:extLst xmlns:a="http://schemas.openxmlformats.org/drawingml/2006/main">
              <a:ext uri="{FF2B5EF4-FFF2-40B4-BE49-F238E27FC236}">
                <a16:creationId xmlns:a16="http://schemas.microsoft.com/office/drawing/2014/main" id="{9A1A47B0-A494-4D74-8CAD-87501998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1536"/>
            <a:ext cx="9582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bytes</a:t>
            </a:r>
          </a:p>
        </p:txBody>
      </p:sp>
    </p:spTree>
    <p:extLst>
      <p:ext uri="{BB962C8B-B14F-4D97-AF65-F5344CB8AC3E}">
        <p14:creationId xmlns:p14="http://schemas.microsoft.com/office/powerpoint/2010/main" val="77444618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09-section">
            <a:extLst xmlns:a="http://schemas.openxmlformats.org/drawingml/2006/main">
              <a:ext uri="{FF2B5EF4-FFF2-40B4-BE49-F238E27FC236}">
                <a16:creationId xmlns:a16="http://schemas.microsoft.com/office/drawing/2014/main" id="{29D38A02-155B-4134-8C5B-670E758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DEVICE</a:t>
            </a:r>
          </a:p>
        </p:txBody>
      </p:sp>
      <p:sp>
        <p:nvSpPr>
          <p:cNvPr id="3" name="STC-09-slide-id">
            <a:extLst xmlns:a="http://schemas.openxmlformats.org/drawingml/2006/main">
              <a:ext uri="{FF2B5EF4-FFF2-40B4-BE49-F238E27FC236}">
                <a16:creationId xmlns:a16="http://schemas.microsoft.com/office/drawing/2014/main" id="{1762F78F-0723-499B-9FF1-EF8BC94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STC-105</a:t>
            </a:r>
          </a:p>
        </p:txBody>
      </p:sp>
      <p:sp>
        <p:nvSpPr>
          <p:cNvPr id="4" name="STC-09-headline">
            <a:extLst xmlns:a="http://schemas.openxmlformats.org/drawingml/2006/main">
              <a:ext uri="{FF2B5EF4-FFF2-40B4-BE49-F238E27FC236}">
                <a16:creationId xmlns:a16="http://schemas.microsoft.com/office/drawing/2014/main" id="{3EFE9657-A9F6-4D01-B7AA-8CD5DCC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Device opportunity는 destination과 operator의 교차점에 있다</a:t>
            </a:r>
          </a:p>
        </p:txBody>
      </p:sp>
      <p:sp>
        <p:nvSpPr>
          <p:cNvPr id="5" name="STC-09-status-label">
            <a:extLst xmlns:a="http://schemas.openxmlformats.org/drawingml/2006/main">
              <a:ext uri="{FF2B5EF4-FFF2-40B4-BE49-F238E27FC236}">
                <a16:creationId xmlns:a16="http://schemas.microsoft.com/office/drawing/2014/main" id="{8D0AE475-7A53-4E5A-A49D-6EA175C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기회 지도</a:t>
            </a:r>
          </a:p>
        </p:txBody>
      </p:sp>
      <p:sp>
        <p:nvSpPr>
          <p:cNvPr id="6" name="STC-09-status-rule">
            <a:extLst xmlns:a="http://schemas.openxmlformats.org/drawingml/2006/main">
              <a:ext uri="{FF2B5EF4-FFF2-40B4-BE49-F238E27FC236}">
                <a16:creationId xmlns:a16="http://schemas.microsoft.com/office/drawing/2014/main" id="{533C7DF8-73A5-4BF8-9C5D-81FE369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9-footer-rule">
            <a:extLst xmlns:a="http://schemas.openxmlformats.org/drawingml/2006/main">
              <a:ext uri="{FF2B5EF4-FFF2-40B4-BE49-F238E27FC236}">
                <a16:creationId xmlns:a16="http://schemas.microsoft.com/office/drawing/2014/main" id="{D41C1814-8E19-41C1-A558-010004C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9-source-footer">
            <a:extLst xmlns:a="http://schemas.openxmlformats.org/drawingml/2006/main">
              <a:ext uri="{FF2B5EF4-FFF2-40B4-BE49-F238E27FC236}">
                <a16:creationId xmlns:a16="http://schemas.microsoft.com/office/drawing/2014/main" id="{C447969D-F458-449A-95BB-BA55D3A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§14 · STC-F017</a:t>
            </a:r>
          </a:p>
        </p:txBody>
      </p:sp>
      <p:sp>
        <p:nvSpPr>
          <p:cNvPr id="9" name="STC-09-page-number">
            <a:extLst xmlns:a="http://schemas.openxmlformats.org/drawingml/2006/main">
              <a:ext uri="{FF2B5EF4-FFF2-40B4-BE49-F238E27FC236}">
                <a16:creationId xmlns:a16="http://schemas.microsoft.com/office/drawing/2014/main" id="{8A2AA582-B0BF-4246-A717-6FA4959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105</a:t>
            </a:r>
          </a:p>
        </p:txBody>
      </p:sp>
      <p:sp>
        <p:nvSpPr>
          <p:cNvPr id="11" name="STC-09-matrix-col-0">
            <a:extLst xmlns:a="http://schemas.openxmlformats.org/drawingml/2006/main">
              <a:ext uri="{FF2B5EF4-FFF2-40B4-BE49-F238E27FC236}">
                <a16:creationId xmlns:a16="http://schemas.microsoft.com/office/drawing/2014/main" id="{A1622F37-BF76-43B7-84A8-4E826F9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TEXT/GRAPH · small random I/O·metadata·snapshot</a:t>
            </a:r>
          </a:p>
        </p:txBody>
      </p:sp>
      <p:sp>
        <p:nvSpPr>
          <p:cNvPr id="12" name="STC-09-matrix-col-1">
            <a:extLst xmlns:a="http://schemas.openxmlformats.org/drawingml/2006/main">
              <a:ext uri="{FF2B5EF4-FFF2-40B4-BE49-F238E27FC236}">
                <a16:creationId xmlns:a16="http://schemas.microsoft.com/office/drawing/2014/main" id="{CADCF27A-962A-4876-A50A-100BBDA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VECTOR/KV · high-read BW·quantize·tiering</a:t>
            </a:r>
          </a:p>
        </p:txBody>
      </p:sp>
      <p:sp>
        <p:nvSpPr>
          <p:cNvPr id="13" name="STC-09-matrix-col-2">
            <a:extLst xmlns:a="http://schemas.openxmlformats.org/drawingml/2006/main">
              <a:ext uri="{FF2B5EF4-FFF2-40B4-BE49-F238E27FC236}">
                <a16:creationId xmlns:a16="http://schemas.microsoft.com/office/drawing/2014/main" id="{DDD13F7E-EF58-4B00-9007-C34AC25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ADAPTER · mixed read/write·optimizer·checkpoint</a:t>
            </a:r>
          </a:p>
        </p:txBody>
      </p:sp>
      <p:sp>
        <p:nvSpPr>
          <p:cNvPr id="14" name="STC-09-matrix-col-3">
            <a:extLst xmlns:a="http://schemas.openxmlformats.org/drawingml/2006/main">
              <a:ext uri="{FF2B5EF4-FFF2-40B4-BE49-F238E27FC236}">
                <a16:creationId xmlns:a16="http://schemas.microsoft.com/office/drawing/2014/main" id="{BDD5DFCA-E93B-4A68-9CC4-C10B778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4475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SHARED · large sequential training traffic</a:t>
            </a:r>
          </a:p>
        </p:txBody>
      </p:sp>
      <p:sp>
        <p:nvSpPr>
          <p:cNvPr id="15" name="STC-09-matrix-row-0">
            <a:extLst xmlns:a="http://schemas.openxmlformats.org/drawingml/2006/main">
              <a:ext uri="{FF2B5EF4-FFF2-40B4-BE49-F238E27FC236}">
                <a16:creationId xmlns:a16="http://schemas.microsoft.com/office/drawing/2014/main" id="{48054411-FFD1-41ED-9521-D9E544C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6272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TEXT/GRAPH · small random I/O·metadata·snapshot</a:t>
            </a:r>
          </a:p>
        </p:txBody>
      </p:sp>
      <p:sp>
        <p:nvSpPr>
          <p:cNvPr id="16" name="STC-09-matrix-cell-0-0">
            <a:extLst xmlns:a="http://schemas.openxmlformats.org/drawingml/2006/main">
              <a:ext uri="{FF2B5EF4-FFF2-40B4-BE49-F238E27FC236}">
                <a16:creationId xmlns:a16="http://schemas.microsoft.com/office/drawing/2014/main" id="{EBF3F50C-9AAA-4D85-9A41-E196717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09-matrix-cell-0-1">
            <a:extLst xmlns:a="http://schemas.openxmlformats.org/drawingml/2006/main">
              <a:ext uri="{FF2B5EF4-FFF2-40B4-BE49-F238E27FC236}">
                <a16:creationId xmlns:a16="http://schemas.microsoft.com/office/drawing/2014/main" id="{99FD277C-8063-463E-9905-A188DED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8" name="STC-09-matrix-cell-0-2">
            <a:extLst xmlns:a="http://schemas.openxmlformats.org/drawingml/2006/main">
              <a:ext uri="{FF2B5EF4-FFF2-40B4-BE49-F238E27FC236}">
                <a16:creationId xmlns:a16="http://schemas.microsoft.com/office/drawing/2014/main" id="{DA428670-4DFB-4B25-B5C2-D14877B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09-matrix-cell-0-3">
            <a:extLst xmlns:a="http://schemas.openxmlformats.org/drawingml/2006/main">
              <a:ext uri="{FF2B5EF4-FFF2-40B4-BE49-F238E27FC236}">
                <a16:creationId xmlns:a16="http://schemas.microsoft.com/office/drawing/2014/main" id="{0C5C38C6-03C4-47C2-AD56-807F93F8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47088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0" name="STC-09-matrix-row-1">
            <a:extLst xmlns:a="http://schemas.openxmlformats.org/drawingml/2006/main">
              <a:ext uri="{FF2B5EF4-FFF2-40B4-BE49-F238E27FC236}">
                <a16:creationId xmlns:a16="http://schemas.microsoft.com/office/drawing/2014/main" id="{7940E56B-C80F-4DD2-B7CD-33C3E92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8104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VECTOR/KV · high-read BW·quantize·tiering</a:t>
            </a:r>
          </a:p>
        </p:txBody>
      </p:sp>
      <p:sp>
        <p:nvSpPr>
          <p:cNvPr id="21" name="STC-09-matrix-cell-1-0">
            <a:extLst xmlns:a="http://schemas.openxmlformats.org/drawingml/2006/main">
              <a:ext uri="{FF2B5EF4-FFF2-40B4-BE49-F238E27FC236}">
                <a16:creationId xmlns:a16="http://schemas.microsoft.com/office/drawing/2014/main" id="{4116D720-457C-45E0-A9E6-A5C9B852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09-matrix-cell-1-1">
            <a:extLst xmlns:a="http://schemas.openxmlformats.org/drawingml/2006/main">
              <a:ext uri="{FF2B5EF4-FFF2-40B4-BE49-F238E27FC236}">
                <a16:creationId xmlns:a16="http://schemas.microsoft.com/office/drawing/2014/main" id="{503E2699-DB07-4331-9D2B-342F429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3" name="STC-09-matrix-cell-1-2">
            <a:extLst xmlns:a="http://schemas.openxmlformats.org/drawingml/2006/main">
              <a:ext uri="{FF2B5EF4-FFF2-40B4-BE49-F238E27FC236}">
                <a16:creationId xmlns:a16="http://schemas.microsoft.com/office/drawing/2014/main" id="{97E4F3B9-6846-4760-BE7D-80FF27D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4" name="STC-09-matrix-cell-1-3">
            <a:extLst xmlns:a="http://schemas.openxmlformats.org/drawingml/2006/main">
              <a:ext uri="{FF2B5EF4-FFF2-40B4-BE49-F238E27FC236}">
                <a16:creationId xmlns:a16="http://schemas.microsoft.com/office/drawing/2014/main" id="{84496169-8F4D-4E6F-9027-640CD5AA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88920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5" name="STC-09-matrix-row-2">
            <a:extLst xmlns:a="http://schemas.openxmlformats.org/drawingml/2006/main">
              <a:ext uri="{FF2B5EF4-FFF2-40B4-BE49-F238E27FC236}">
                <a16:creationId xmlns:a16="http://schemas.microsoft.com/office/drawing/2014/main" id="{B5447A2E-9E34-4D35-B79B-9988EB5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936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ADAPTER · mixed read/write·optimizer·checkpoint</a:t>
            </a:r>
          </a:p>
        </p:txBody>
      </p:sp>
      <p:sp>
        <p:nvSpPr>
          <p:cNvPr id="26" name="STC-09-matrix-cell-2-0">
            <a:extLst xmlns:a="http://schemas.openxmlformats.org/drawingml/2006/main">
              <a:ext uri="{FF2B5EF4-FFF2-40B4-BE49-F238E27FC236}">
                <a16:creationId xmlns:a16="http://schemas.microsoft.com/office/drawing/2014/main" id="{FAC2E53F-B600-4470-BF9A-7BF8DFB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09-matrix-cell-2-1">
            <a:extLst xmlns:a="http://schemas.openxmlformats.org/drawingml/2006/main">
              <a:ext uri="{FF2B5EF4-FFF2-40B4-BE49-F238E27FC236}">
                <a16:creationId xmlns:a16="http://schemas.microsoft.com/office/drawing/2014/main" id="{D0B8CA6B-5C13-47E7-8118-5F49E24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8" name="STC-09-matrix-cell-2-2">
            <a:extLst xmlns:a="http://schemas.openxmlformats.org/drawingml/2006/main">
              <a:ext uri="{FF2B5EF4-FFF2-40B4-BE49-F238E27FC236}">
                <a16:creationId xmlns:a16="http://schemas.microsoft.com/office/drawing/2014/main" id="{DB91A1F1-5BE9-4F23-AB50-8503832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9" name="STC-09-matrix-cell-2-3">
            <a:extLst xmlns:a="http://schemas.openxmlformats.org/drawingml/2006/main">
              <a:ext uri="{FF2B5EF4-FFF2-40B4-BE49-F238E27FC236}">
                <a16:creationId xmlns:a16="http://schemas.microsoft.com/office/drawing/2014/main" id="{2D2F42EF-8AEC-4FA8-8F63-9621C4E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30752"/>
            <a:ext cx="19842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0" name="STC-09-matrix-item-0">
            <a:extLst xmlns:a="http://schemas.openxmlformats.org/drawingml/2006/main">
              <a:ext uri="{FF2B5EF4-FFF2-40B4-BE49-F238E27FC236}">
                <a16:creationId xmlns:a16="http://schemas.microsoft.com/office/drawing/2014/main" id="{7C11B00E-E901-4952-BD96-39AC9CD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TEXT/GRAPH</a:t>
            </a:r>
          </a:p>
        </p:txBody>
      </p:sp>
      <p:sp>
        <p:nvSpPr>
          <p:cNvPr id="31" name="STC-09-matrix-item-1">
            <a:extLst xmlns:a="http://schemas.openxmlformats.org/drawingml/2006/main">
              <a:ext uri="{FF2B5EF4-FFF2-40B4-BE49-F238E27FC236}">
                <a16:creationId xmlns:a16="http://schemas.microsoft.com/office/drawing/2014/main" id="{C09EB82D-1B40-4E0D-8EA7-35317E3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VECTOR/KV</a:t>
            </a:r>
          </a:p>
        </p:txBody>
      </p:sp>
      <p:sp>
        <p:nvSpPr>
          <p:cNvPr id="32" name="STC-09-matrix-item-2">
            <a:extLst xmlns:a="http://schemas.openxmlformats.org/drawingml/2006/main">
              <a:ext uri="{FF2B5EF4-FFF2-40B4-BE49-F238E27FC236}">
                <a16:creationId xmlns:a16="http://schemas.microsoft.com/office/drawing/2014/main" id="{0251189C-D3AD-41B8-972C-EDD23B2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75688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ADAPTER</a:t>
            </a:r>
          </a:p>
        </p:txBody>
      </p:sp>
      <p:sp>
        <p:nvSpPr>
          <p:cNvPr id="33" name="STC-09-matrix-item-3">
            <a:extLst xmlns:a="http://schemas.openxmlformats.org/drawingml/2006/main">
              <a:ext uri="{FF2B5EF4-FFF2-40B4-BE49-F238E27FC236}">
                <a16:creationId xmlns:a16="http://schemas.microsoft.com/office/drawing/2014/main" id="{3DEFCD03-DAF7-46A0-BC0B-82DA91A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Letta sleeper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Auto-Dreamer</a:t>
            </a:r>
          </a:p>
        </p:txBody>
      </p:sp>
      <p:sp>
        <p:nvSpPr>
          <p:cNvPr id="34" name="STC-09-matrix-item-4">
            <a:extLst xmlns:a="http://schemas.openxmlformats.org/drawingml/2006/main">
              <a:ext uri="{FF2B5EF4-FFF2-40B4-BE49-F238E27FC236}">
                <a16:creationId xmlns:a16="http://schemas.microsoft.com/office/drawing/2014/main" id="{20F5ABAA-F3AB-4A1E-B002-FAE254B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Cartridges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Offline Recurrence</a:t>
            </a:r>
          </a:p>
        </p:txBody>
      </p:sp>
      <p:sp>
        <p:nvSpPr>
          <p:cNvPr id="35" name="STC-09-matrix-item-5">
            <a:extLst xmlns:a="http://schemas.openxmlformats.org/drawingml/2006/main">
              <a:ext uri="{FF2B5EF4-FFF2-40B4-BE49-F238E27FC236}">
                <a16:creationId xmlns:a16="http://schemas.microsoft.com/office/drawing/2014/main" id="{846D3DCA-789E-4C4A-A897-494AC5A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TEXT/GRAPH</a:t>
            </a:r>
          </a:p>
        </p:txBody>
      </p:sp>
      <p:sp>
        <p:nvSpPr>
          <p:cNvPr id="36" name="STC-09-matrix-item-6">
            <a:extLst xmlns:a="http://schemas.openxmlformats.org/drawingml/2006/main">
              <a:ext uri="{FF2B5EF4-FFF2-40B4-BE49-F238E27FC236}">
                <a16:creationId xmlns:a16="http://schemas.microsoft.com/office/drawing/2014/main" id="{AF6F670C-AE78-45F0-A3DB-62F1E51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17520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VECTOR/KV</a:t>
            </a:r>
          </a:p>
        </p:txBody>
      </p:sp>
      <p:sp>
        <p:nvSpPr>
          <p:cNvPr id="37" name="STC-09-matrix-item-7">
            <a:extLst xmlns:a="http://schemas.openxmlformats.org/drawingml/2006/main">
              <a:ext uri="{FF2B5EF4-FFF2-40B4-BE49-F238E27FC236}">
                <a16:creationId xmlns:a16="http://schemas.microsoft.com/office/drawing/2014/main" id="{78FE0597-34A6-404B-BFB5-86CA375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memory-policy</a:t>
            </a:r>
          </a:p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pretraining</a:t>
            </a:r>
          </a:p>
        </p:txBody>
      </p:sp>
      <p:sp>
        <p:nvSpPr>
          <p:cNvPr id="38" name="STC-09-matrix-item-8">
            <a:extLst xmlns:a="http://schemas.openxmlformats.org/drawingml/2006/main">
              <a:ext uri="{FF2B5EF4-FFF2-40B4-BE49-F238E27FC236}">
                <a16:creationId xmlns:a16="http://schemas.microsoft.com/office/drawing/2014/main" id="{699699AB-8F10-46DC-93DD-EC5C2BE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SHARED</a:t>
            </a:r>
          </a:p>
        </p:txBody>
      </p:sp>
      <p:sp>
        <p:nvSpPr>
          <p:cNvPr id="39" name="STC-09-matrix-item-9">
            <a:extLst xmlns:a="http://schemas.openxmlformats.org/drawingml/2006/main">
              <a:ext uri="{FF2B5EF4-FFF2-40B4-BE49-F238E27FC236}">
                <a16:creationId xmlns:a16="http://schemas.microsoft.com/office/drawing/2014/main" id="{DD8E80DC-2A77-4566-BEAE-1664E61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959352"/>
            <a:ext cx="17647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CONTROL</a:t>
            </a:r>
          </a:p>
        </p:txBody>
      </p:sp>
      <p:sp>
        <p:nvSpPr>
          <p:cNvPr id="40" name="STC-09-matrix-question-label">
            <a:extLst xmlns:a="http://schemas.openxmlformats.org/drawingml/2006/main">
              <a:ext uri="{FF2B5EF4-FFF2-40B4-BE49-F238E27FC236}">
                <a16:creationId xmlns:a16="http://schemas.microsoft.com/office/drawing/2014/main" id="{83EDD79B-52C5-495D-A2AA-84DA2A5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6577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F6B63"/>
                </a:solidFill>
                <a:latin typeface="Noto Serif CJK KR"/>
                <a:ea typeface="Noto Serif CJK KR"/>
                <a:cs typeface="Noto Serif CJK KR"/>
              </a:rPr>
              <a:t>small random I/O·metadata·snapshot</a:t>
            </a:r>
          </a:p>
        </p:txBody>
      </p:sp>
      <p:sp>
        <p:nvSpPr>
          <p:cNvPr id="41" name="STC-09-matrix-question">
            <a:extLst xmlns:a="http://schemas.openxmlformats.org/drawingml/2006/main">
              <a:ext uri="{FF2B5EF4-FFF2-40B4-BE49-F238E27FC236}">
                <a16:creationId xmlns:a16="http://schemas.microsoft.com/office/drawing/2014/main" id="{85F42F15-58B1-4837-960A-A6B12D3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965192"/>
            <a:ext cx="89245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high-read BW·quantize·tiering</a:t>
            </a:r>
          </a:p>
        </p:txBody>
      </p:sp>
    </p:spTree>
    <p:extLst>
      <p:ext uri="{BB962C8B-B14F-4D97-AF65-F5344CB8AC3E}">
        <p14:creationId xmlns:p14="http://schemas.microsoft.com/office/powerpoint/2010/main" val="1605126796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6-section">
            <a:extLst xmlns:a="http://schemas.openxmlformats.org/drawingml/2006/main">
              <a:ext uri="{FF2B5EF4-FFF2-40B4-BE49-F238E27FC236}">
                <a16:creationId xmlns:a16="http://schemas.microsoft.com/office/drawing/2014/main" id="{E614EF5C-CB17-49C6-88D6-CC5AF16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DEVICE</a:t>
            </a:r>
          </a:p>
        </p:txBody>
      </p:sp>
      <p:sp>
        <p:nvSpPr>
          <p:cNvPr id="3" name="STC-16-slide-id">
            <a:extLst xmlns:a="http://schemas.openxmlformats.org/drawingml/2006/main">
              <a:ext uri="{FF2B5EF4-FFF2-40B4-BE49-F238E27FC236}">
                <a16:creationId xmlns:a16="http://schemas.microsoft.com/office/drawing/2014/main" id="{88B22A1B-C834-4461-94B0-3BAA526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STC-106</a:t>
            </a:r>
          </a:p>
        </p:txBody>
      </p:sp>
      <p:sp>
        <p:nvSpPr>
          <p:cNvPr id="4" name="STC-16-headline">
            <a:extLst xmlns:a="http://schemas.openxmlformats.org/drawingml/2006/main">
              <a:ext uri="{FF2B5EF4-FFF2-40B4-BE49-F238E27FC236}">
                <a16:creationId xmlns:a16="http://schemas.microsoft.com/office/drawing/2014/main" id="{872F75BF-7269-439E-BABD-2CA11FD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HBM 기회는 inference와 training traffic이 겹치는 구간이다</a:t>
            </a:r>
          </a:p>
        </p:txBody>
      </p:sp>
      <p:sp>
        <p:nvSpPr>
          <p:cNvPr id="5" name="STC-16-status-label">
            <a:extLst xmlns:a="http://schemas.openxmlformats.org/drawingml/2006/main">
              <a:ext uri="{FF2B5EF4-FFF2-40B4-BE49-F238E27FC236}">
                <a16:creationId xmlns:a16="http://schemas.microsoft.com/office/drawing/2014/main" id="{DD6283D7-EE94-4700-B90C-2155176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기회</a:t>
            </a:r>
          </a:p>
        </p:txBody>
      </p:sp>
      <p:sp>
        <p:nvSpPr>
          <p:cNvPr id="6" name="STC-16-status-rule">
            <a:extLst xmlns:a="http://schemas.openxmlformats.org/drawingml/2006/main">
              <a:ext uri="{FF2B5EF4-FFF2-40B4-BE49-F238E27FC236}">
                <a16:creationId xmlns:a16="http://schemas.microsoft.com/office/drawing/2014/main" id="{11838D6E-822E-45B2-ACE2-5D1BB8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>
            <a:extLst xmlns:a="http://schemas.openxmlformats.org/drawingml/2006/main">
              <a:ext uri="{FF2B5EF4-FFF2-40B4-BE49-F238E27FC236}">
                <a16:creationId xmlns:a16="http://schemas.microsoft.com/office/drawing/2014/main" id="{2005B5FD-7332-430F-8F24-CDBD06B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>
            <a:extLst xmlns:a="http://schemas.openxmlformats.org/drawingml/2006/main">
              <a:ext uri="{FF2B5EF4-FFF2-40B4-BE49-F238E27FC236}">
                <a16:creationId xmlns:a16="http://schemas.microsoft.com/office/drawing/2014/main" id="{964CE08B-8AC5-4849-9E90-E5AE5C0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Device opportunity matrix · HBM</a:t>
            </a:r>
          </a:p>
        </p:txBody>
      </p:sp>
      <p:sp>
        <p:nvSpPr>
          <p:cNvPr id="9" name="STC-16-page-number">
            <a:extLst xmlns:a="http://schemas.openxmlformats.org/drawingml/2006/main">
              <a:ext uri="{FF2B5EF4-FFF2-40B4-BE49-F238E27FC236}">
                <a16:creationId xmlns:a16="http://schemas.microsoft.com/office/drawing/2014/main" id="{EC04A263-CA7D-467A-A592-87E6FF8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106</a:t>
            </a:r>
          </a:p>
        </p:txBody>
      </p:sp>
      <p:sp>
        <p:nvSpPr>
          <p:cNvPr id="11" name="STC-16-nfr-stage-0">
            <a:extLst xmlns:a="http://schemas.openxmlformats.org/drawingml/2006/main">
              <a:ext uri="{FF2B5EF4-FFF2-40B4-BE49-F238E27FC236}">
                <a16:creationId xmlns:a16="http://schemas.microsoft.com/office/drawing/2014/main" id="{6D1E1004-04F7-4993-9D54-F70D80D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16-nfr-label-0">
            <a:extLst xmlns:a="http://schemas.openxmlformats.org/drawingml/2006/main">
              <a:ext uri="{FF2B5EF4-FFF2-40B4-BE49-F238E27FC236}">
                <a16:creationId xmlns:a16="http://schemas.microsoft.com/office/drawing/2014/main" id="{CD09742E-7D40-4B29-BF8B-9EFFDFD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READ</a:t>
            </a:r>
          </a:p>
        </p:txBody>
      </p:sp>
      <p:sp>
        <p:nvSpPr>
          <p:cNvPr id="13" name="STC-16-nfr-arrow-0">
            <a:extLst xmlns:a="http://schemas.openxmlformats.org/drawingml/2006/main">
              <a:ext uri="{FF2B5EF4-FFF2-40B4-BE49-F238E27FC236}">
                <a16:creationId xmlns:a16="http://schemas.microsoft.com/office/drawing/2014/main" id="{2ADD1A87-523E-4B29-AF66-920A994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>
            <a:extLst xmlns:a="http://schemas.openxmlformats.org/drawingml/2006/main">
              <a:ext uri="{FF2B5EF4-FFF2-40B4-BE49-F238E27FC236}">
                <a16:creationId xmlns:a16="http://schemas.microsoft.com/office/drawing/2014/main" id="{DE0A1B17-CCAD-4469-9C53-453C72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6-nfr-label-1">
            <a:extLst xmlns:a="http://schemas.openxmlformats.org/drawingml/2006/main">
              <a:ext uri="{FF2B5EF4-FFF2-40B4-BE49-F238E27FC236}">
                <a16:creationId xmlns:a16="http://schemas.microsoft.com/office/drawing/2014/main" id="{77643D99-994B-4418-B61C-CD90936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WRITE</a:t>
            </a:r>
          </a:p>
        </p:txBody>
      </p:sp>
      <p:sp>
        <p:nvSpPr>
          <p:cNvPr id="16" name="STC-16-nfr-arrow-1">
            <a:extLst xmlns:a="http://schemas.openxmlformats.org/drawingml/2006/main">
              <a:ext uri="{FF2B5EF4-FFF2-40B4-BE49-F238E27FC236}">
                <a16:creationId xmlns:a16="http://schemas.microsoft.com/office/drawing/2014/main" id="{DB5769AA-E1F3-449D-81FD-BF20C38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>
            <a:extLst xmlns:a="http://schemas.openxmlformats.org/drawingml/2006/main">
              <a:ext uri="{FF2B5EF4-FFF2-40B4-BE49-F238E27FC236}">
                <a16:creationId xmlns:a16="http://schemas.microsoft.com/office/drawing/2014/main" id="{3C31B021-B52D-43ED-8755-7AC4E85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8" name="STC-16-nfr-label-2">
            <a:extLst xmlns:a="http://schemas.openxmlformats.org/drawingml/2006/main">
              <a:ext uri="{FF2B5EF4-FFF2-40B4-BE49-F238E27FC236}">
                <a16:creationId xmlns:a16="http://schemas.microsoft.com/office/drawing/2014/main" id="{1FFC8DD2-8B6D-487F-887B-86A8AA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MIX</a:t>
            </a:r>
          </a:p>
        </p:txBody>
      </p:sp>
      <p:sp>
        <p:nvSpPr>
          <p:cNvPr id="19" name="STC-16-nfr-arrow-2">
            <a:extLst xmlns:a="http://schemas.openxmlformats.org/drawingml/2006/main">
              <a:ext uri="{FF2B5EF4-FFF2-40B4-BE49-F238E27FC236}">
                <a16:creationId xmlns:a16="http://schemas.microsoft.com/office/drawing/2014/main" id="{976E6CC4-0CB2-465C-9A65-23C6F7D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587752"/>
            <a:ext cx="8138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>
            <a:extLst xmlns:a="http://schemas.openxmlformats.org/drawingml/2006/main">
              <a:ext uri="{FF2B5EF4-FFF2-40B4-BE49-F238E27FC236}">
                <a16:creationId xmlns:a16="http://schemas.microsoft.com/office/drawing/2014/main" id="{25D9379E-3BA5-41E7-83FF-AEF52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1874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1" name="STC-16-nfr-label-3">
            <a:extLst xmlns:a="http://schemas.openxmlformats.org/drawingml/2006/main">
              <a:ext uri="{FF2B5EF4-FFF2-40B4-BE49-F238E27FC236}">
                <a16:creationId xmlns:a16="http://schemas.microsoft.com/office/drawing/2014/main" id="{1357A706-4AAC-4A53-BDEF-CD607019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478024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QOS</a:t>
            </a:r>
          </a:p>
        </p:txBody>
      </p:sp>
      <p:sp>
        <p:nvSpPr>
          <p:cNvPr id="22" name="STC-16-nfr-equation">
            <a:extLst xmlns:a="http://schemas.openxmlformats.org/drawingml/2006/main">
              <a:ext uri="{FF2B5EF4-FFF2-40B4-BE49-F238E27FC236}">
                <a16:creationId xmlns:a16="http://schemas.microsoft.com/office/drawing/2014/main" id="{1195C1A8-414A-4D21-848E-A5DD534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310128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base weight·teacher·replay activation</a:t>
            </a:r>
          </a:p>
        </p:txBody>
      </p:sp>
      <p:sp>
        <p:nvSpPr>
          <p:cNvPr id="23" name="STC-16-nfr-result">
            <a:extLst xmlns:a="http://schemas.openxmlformats.org/drawingml/2006/main">
              <a:ext uri="{FF2B5EF4-FFF2-40B4-BE49-F238E27FC236}">
                <a16:creationId xmlns:a16="http://schemas.microsoft.com/office/drawing/2014/main" id="{04BD695F-AD23-4FB4-AE1C-ECFB23D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9A442D"/>
                </a:solidFill>
                <a:latin typeface="Noto Serif CJK KR"/>
                <a:ea typeface="Noto Serif CJK KR"/>
                <a:cs typeface="Noto Serif CJK KR"/>
              </a:rPr>
              <a:t>base weight·teacher·replay activation</a:t>
            </a:r>
          </a:p>
        </p:txBody>
      </p:sp>
      <p:sp>
        <p:nvSpPr>
          <p:cNvPr id="24" name="STC-16-nfr-result-arrow">
            <a:extLst xmlns:a="http://schemas.openxmlformats.org/drawingml/2006/main">
              <a:ext uri="{FF2B5EF4-FFF2-40B4-BE49-F238E27FC236}">
                <a16:creationId xmlns:a16="http://schemas.microsoft.com/office/drawing/2014/main" id="{B9D6FB50-E5ED-49F7-9F5B-7931AE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>
            <a:extLst xmlns:a="http://schemas.openxmlformats.org/drawingml/2006/main">
              <a:ext uri="{FF2B5EF4-FFF2-40B4-BE49-F238E27FC236}">
                <a16:creationId xmlns:a16="http://schemas.microsoft.com/office/drawing/2014/main" id="{E1AF8203-1BC8-414B-B32D-3710DAB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983894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>
            <a:extLst xmlns:a="http://schemas.openxmlformats.org/drawingml/2006/main">
              <a:ext uri="{FF2B5EF4-FFF2-40B4-BE49-F238E27FC236}">
                <a16:creationId xmlns:a16="http://schemas.microsoft.com/office/drawing/2014/main" id="{61BDFD05-8702-4427-8A0C-A0F3C8F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26280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READ</a:t>
            </a:r>
          </a:p>
        </p:txBody>
      </p:sp>
      <p:sp>
        <p:nvSpPr>
          <p:cNvPr id="27" name="STC-16-nfr-carriers-text">
            <a:extLst xmlns:a="http://schemas.openxmlformats.org/drawingml/2006/main">
              <a:ext uri="{FF2B5EF4-FFF2-40B4-BE49-F238E27FC236}">
                <a16:creationId xmlns:a16="http://schemas.microsoft.com/office/drawing/2014/main" id="{6F23FA3D-D22A-4B7E-9643-778A761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434840"/>
            <a:ext cx="7818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Peak FLOP보다 mixed-phase bandwidth와 preemption recovery가 차별점이 된다.</a:t>
            </a:r>
          </a:p>
        </p:txBody>
      </p:sp>
      <p:sp>
        <p:nvSpPr>
          <p:cNvPr id="28" name="STC-16-nfr-carriers-note">
            <a:extLst xmlns:a="http://schemas.openxmlformats.org/drawingml/2006/main">
              <a:ext uri="{FF2B5EF4-FFF2-40B4-BE49-F238E27FC236}">
                <a16:creationId xmlns:a16="http://schemas.microsoft.com/office/drawing/2014/main" id="{B2091BE1-D448-4698-A7CC-78DEF7E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74336"/>
            <a:ext cx="78181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gradient·optimizer·adapter delta·checkpoint</a:t>
            </a:r>
          </a:p>
        </p:txBody>
      </p:sp>
    </p:spTree>
    <p:extLst>
      <p:ext uri="{BB962C8B-B14F-4D97-AF65-F5344CB8AC3E}">
        <p14:creationId xmlns:p14="http://schemas.microsoft.com/office/powerpoint/2010/main" val="92717291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0-section">
            <a:extLst xmlns:a="http://schemas.openxmlformats.org/drawingml/2006/main">
              <a:ext uri="{FF2B5EF4-FFF2-40B4-BE49-F238E27FC236}">
                <a16:creationId xmlns:a16="http://schemas.microsoft.com/office/drawing/2014/main" id="{5EDCD299-655D-4523-82A0-59F49E1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DEVICE</a:t>
            </a:r>
          </a:p>
        </p:txBody>
      </p:sp>
      <p:sp>
        <p:nvSpPr>
          <p:cNvPr id="3" name="STC-20-slide-id">
            <a:extLst xmlns:a="http://schemas.openxmlformats.org/drawingml/2006/main">
              <a:ext uri="{FF2B5EF4-FFF2-40B4-BE49-F238E27FC236}">
                <a16:creationId xmlns:a16="http://schemas.microsoft.com/office/drawing/2014/main" id="{32C07A66-97D7-4CD1-9893-C311EE67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STC-107</a:t>
            </a:r>
          </a:p>
        </p:txBody>
      </p:sp>
      <p:sp>
        <p:nvSpPr>
          <p:cNvPr id="4" name="STC-20-headline">
            <a:extLst xmlns:a="http://schemas.openxmlformats.org/drawingml/2006/main">
              <a:ext uri="{FF2B5EF4-FFF2-40B4-BE49-F238E27FC236}">
                <a16:creationId xmlns:a16="http://schemas.microsoft.com/office/drawing/2014/main" id="{AFFB7CDB-FED7-4E9E-B7ED-F4E38A0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CXL·pooled memory는 큰 mutable state의 residency 문제를 푼다</a:t>
            </a:r>
          </a:p>
        </p:txBody>
      </p:sp>
      <p:sp>
        <p:nvSpPr>
          <p:cNvPr id="5" name="STC-20-status-label">
            <a:extLst xmlns:a="http://schemas.openxmlformats.org/drawingml/2006/main">
              <a:ext uri="{FF2B5EF4-FFF2-40B4-BE49-F238E27FC236}">
                <a16:creationId xmlns:a16="http://schemas.microsoft.com/office/drawing/2014/main" id="{F1C132A5-F1B4-4EA3-B9D4-9A19BA1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기회</a:t>
            </a:r>
          </a:p>
        </p:txBody>
      </p:sp>
      <p:sp>
        <p:nvSpPr>
          <p:cNvPr id="6" name="STC-20-status-rule">
            <a:extLst xmlns:a="http://schemas.openxmlformats.org/drawingml/2006/main">
              <a:ext uri="{FF2B5EF4-FFF2-40B4-BE49-F238E27FC236}">
                <a16:creationId xmlns:a16="http://schemas.microsoft.com/office/drawing/2014/main" id="{296C999B-3F04-4907-A607-49A7D916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0-footer-rule">
            <a:extLst xmlns:a="http://schemas.openxmlformats.org/drawingml/2006/main">
              <a:ext uri="{FF2B5EF4-FFF2-40B4-BE49-F238E27FC236}">
                <a16:creationId xmlns:a16="http://schemas.microsoft.com/office/drawing/2014/main" id="{1A414E08-3FD3-4CA5-B702-E3371BE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0-source-footer">
            <a:extLst xmlns:a="http://schemas.openxmlformats.org/drawingml/2006/main">
              <a:ext uri="{FF2B5EF4-FFF2-40B4-BE49-F238E27FC236}">
                <a16:creationId xmlns:a16="http://schemas.microsoft.com/office/drawing/2014/main" id="{6436493B-B3AE-4CC7-B707-EBD083C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Device opportunity matrix · CXL/DRAM</a:t>
            </a:r>
          </a:p>
        </p:txBody>
      </p:sp>
      <p:sp>
        <p:nvSpPr>
          <p:cNvPr id="9" name="STC-20-page-number">
            <a:extLst xmlns:a="http://schemas.openxmlformats.org/drawingml/2006/main">
              <a:ext uri="{FF2B5EF4-FFF2-40B4-BE49-F238E27FC236}">
                <a16:creationId xmlns:a16="http://schemas.microsoft.com/office/drawing/2014/main" id="{46D728FE-DB3F-48C1-9245-25AAC00F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107</a:t>
            </a:r>
          </a:p>
        </p:txBody>
      </p:sp>
      <p:sp>
        <p:nvSpPr>
          <p:cNvPr id="11" name="STC-20-infra-plane-0">
            <a:extLst xmlns:a="http://schemas.openxmlformats.org/drawingml/2006/main">
              <a:ext uri="{FF2B5EF4-FFF2-40B4-BE49-F238E27FC236}">
                <a16:creationId xmlns:a16="http://schemas.microsoft.com/office/drawing/2014/main" id="{CBC7ECDF-7F2F-49BF-846B-5F658CEE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2" name="STC-20-infra-label-0">
            <a:extLst xmlns:a="http://schemas.openxmlformats.org/drawingml/2006/main">
              <a:ext uri="{FF2B5EF4-FFF2-40B4-BE49-F238E27FC236}">
                <a16:creationId xmlns:a16="http://schemas.microsoft.com/office/drawing/2014/main" id="{F18FAA3C-6D4D-499D-A88F-E1242B5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POOL</a:t>
            </a:r>
          </a:p>
        </p:txBody>
      </p:sp>
      <p:sp>
        <p:nvSpPr>
          <p:cNvPr id="13" name="STC-20-infra-body-0">
            <a:extLst xmlns:a="http://schemas.openxmlformats.org/drawingml/2006/main">
              <a:ext uri="{FF2B5EF4-FFF2-40B4-BE49-F238E27FC236}">
                <a16:creationId xmlns:a16="http://schemas.microsoft.com/office/drawing/2014/main" id="{9D63F807-406F-4AAB-B362-0899B4EA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infer · retrieve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capture · fast state</a:t>
            </a:r>
          </a:p>
        </p:txBody>
      </p:sp>
      <p:sp>
        <p:nvSpPr>
          <p:cNvPr id="14" name="STC-20-infra-arrow-0">
            <a:extLst xmlns:a="http://schemas.openxmlformats.org/drawingml/2006/main">
              <a:ext uri="{FF2B5EF4-FFF2-40B4-BE49-F238E27FC236}">
                <a16:creationId xmlns:a16="http://schemas.microsoft.com/office/drawing/2014/main" id="{686EF61D-766A-4F59-A67A-D542EE95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0-infra-plane-1">
            <a:extLst xmlns:a="http://schemas.openxmlformats.org/drawingml/2006/main">
              <a:ext uri="{FF2B5EF4-FFF2-40B4-BE49-F238E27FC236}">
                <a16:creationId xmlns:a16="http://schemas.microsoft.com/office/drawing/2014/main" id="{6EB93AC2-1EEC-40A8-BDA3-326E731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16" name="STC-20-infra-label-1">
            <a:extLst xmlns:a="http://schemas.openxmlformats.org/drawingml/2006/main">
              <a:ext uri="{FF2B5EF4-FFF2-40B4-BE49-F238E27FC236}">
                <a16:creationId xmlns:a16="http://schemas.microsoft.com/office/drawing/2014/main" id="{76D2C227-9C88-4716-987B-28A3086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MIGRATE</a:t>
            </a:r>
          </a:p>
        </p:txBody>
      </p:sp>
      <p:sp>
        <p:nvSpPr>
          <p:cNvPr id="17" name="STC-20-infra-body-1">
            <a:extLst xmlns:a="http://schemas.openxmlformats.org/drawingml/2006/main">
              <a:ext uri="{FF2B5EF4-FFF2-40B4-BE49-F238E27FC236}">
                <a16:creationId xmlns:a16="http://schemas.microsoft.com/office/drawing/2014/main" id="{2E42E4C3-670F-4E90-9903-77393A2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· dream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FT · RL · compact</a:t>
            </a:r>
          </a:p>
        </p:txBody>
      </p:sp>
      <p:sp>
        <p:nvSpPr>
          <p:cNvPr id="18" name="STC-20-infra-arrow-1">
            <a:extLst xmlns:a="http://schemas.openxmlformats.org/drawingml/2006/main">
              <a:ext uri="{FF2B5EF4-FFF2-40B4-BE49-F238E27FC236}">
                <a16:creationId xmlns:a16="http://schemas.microsoft.com/office/drawing/2014/main" id="{061AB89C-33F6-4FD5-A9DA-EA94532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65760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0-infra-plane-2">
            <a:extLst xmlns:a="http://schemas.openxmlformats.org/drawingml/2006/main">
              <a:ext uri="{FF2B5EF4-FFF2-40B4-BE49-F238E27FC236}">
                <a16:creationId xmlns:a16="http://schemas.microsoft.com/office/drawing/2014/main" id="{531F132B-E335-4FCA-874C-13A5E6F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633472"/>
            <a:ext cx="2514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0" name="STC-20-infra-label-2">
            <a:extLst xmlns:a="http://schemas.openxmlformats.org/drawingml/2006/main">
              <a:ext uri="{FF2B5EF4-FFF2-40B4-BE49-F238E27FC236}">
                <a16:creationId xmlns:a16="http://schemas.microsoft.com/office/drawing/2014/main" id="{D32271A5-B68E-44CF-A333-8BA3B692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907792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SHARE</a:t>
            </a:r>
          </a:p>
        </p:txBody>
      </p:sp>
      <p:sp>
        <p:nvSpPr>
          <p:cNvPr id="21" name="STC-20-infra-body-2">
            <a:extLst xmlns:a="http://schemas.openxmlformats.org/drawingml/2006/main">
              <a:ext uri="{FF2B5EF4-FFF2-40B4-BE49-F238E27FC236}">
                <a16:creationId xmlns:a16="http://schemas.microsoft.com/office/drawing/2014/main" id="{2921410A-C2D5-4759-9995-967B22B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520440"/>
            <a:ext cx="2057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text · vector · graph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latent · adapter</a:t>
            </a:r>
          </a:p>
        </p:txBody>
      </p:sp>
      <p:sp>
        <p:nvSpPr>
          <p:cNvPr id="22" name="STC-20-infra-control">
            <a:extLst xmlns:a="http://schemas.openxmlformats.org/drawingml/2006/main">
              <a:ext uri="{FF2B5EF4-FFF2-40B4-BE49-F238E27FC236}">
                <a16:creationId xmlns:a16="http://schemas.microsoft.com/office/drawing/2014/main" id="{EB2E378A-3527-4AE5-B759-8DD164A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35608"/>
            <a:ext cx="8183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23" name="STC-20-infra-control-text">
            <a:extLst xmlns:a="http://schemas.openxmlformats.org/drawingml/2006/main">
              <a:ext uri="{FF2B5EF4-FFF2-40B4-BE49-F238E27FC236}">
                <a16:creationId xmlns:a16="http://schemas.microsoft.com/office/drawing/2014/main" id="{EA823CF8-DAED-47E5-A2BB-36514B86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1655064"/>
            <a:ext cx="76078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용량 이득이 locality 손실로 상쇄되지 않는 workload boundary를 찾아야 한다.</a:t>
            </a:r>
          </a:p>
        </p:txBody>
      </p:sp>
      <p:sp>
        <p:nvSpPr>
          <p:cNvPr id="24" name="STC-20-infra-control-wake">
            <a:extLst xmlns:a="http://schemas.openxmlformats.org/drawingml/2006/main">
              <a:ext uri="{FF2B5EF4-FFF2-40B4-BE49-F238E27FC236}">
                <a16:creationId xmlns:a16="http://schemas.microsoft.com/office/drawing/2014/main" id="{9B142056-ABC8-4618-9D3D-5AEC5C05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5" name="STC-20-infra-control-sleep">
            <a:extLst xmlns:a="http://schemas.openxmlformats.org/drawingml/2006/main">
              <a:ext uri="{FF2B5EF4-FFF2-40B4-BE49-F238E27FC236}">
                <a16:creationId xmlns:a16="http://schemas.microsoft.com/office/drawing/2014/main" id="{8EC43546-90F6-4417-AD13-507CAF6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0-infra-control-memory">
            <a:extLst xmlns:a="http://schemas.openxmlformats.org/drawingml/2006/main">
              <a:ext uri="{FF2B5EF4-FFF2-40B4-BE49-F238E27FC236}">
                <a16:creationId xmlns:a16="http://schemas.microsoft.com/office/drawing/2014/main" id="{BA605134-8AB7-4A3F-9199-4019F5E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103120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0-infra-ledger">
            <a:extLst xmlns:a="http://schemas.openxmlformats.org/drawingml/2006/main">
              <a:ext uri="{FF2B5EF4-FFF2-40B4-BE49-F238E27FC236}">
                <a16:creationId xmlns:a16="http://schemas.microsoft.com/office/drawing/2014/main" id="{A73ED90F-3148-4029-A4D4-B7D1D3A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1435608"/>
            <a:ext cx="941832" cy="3255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C9C4B8"/>
            </a:solidFill>
            <a:prstDash val="solid"/>
          </a:ln>
        </p:spPr>
      </p:sp>
      <p:sp>
        <p:nvSpPr>
          <p:cNvPr id="28" name="STC-20-infra-ledger-text">
            <a:extLst xmlns:a="http://schemas.openxmlformats.org/drawingml/2006/main">
              <a:ext uri="{FF2B5EF4-FFF2-40B4-BE49-F238E27FC236}">
                <a16:creationId xmlns:a16="http://schemas.microsoft.com/office/drawing/2014/main" id="{F6FB2E6C-106E-4656-AF22-77F175B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05872" y="2487168"/>
            <a:ext cx="66751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RESOURCE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LEDGER</a:t>
            </a:r>
          </a:p>
        </p:txBody>
      </p:sp>
      <p:sp>
        <p:nvSpPr>
          <p:cNvPr id="29" name="STC-20-infra-latency">
            <a:extLst xmlns:a="http://schemas.openxmlformats.org/drawingml/2006/main">
              <a:ext uri="{FF2B5EF4-FFF2-40B4-BE49-F238E27FC236}">
                <a16:creationId xmlns:a16="http://schemas.microsoft.com/office/drawing/2014/main" id="{21EA4BBA-62FC-4813-BFAE-9B708D3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44E8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30" name="STC-20-infra-throughput">
            <a:extLst xmlns:a="http://schemas.openxmlformats.org/drawingml/2006/main">
              <a:ext uri="{FF2B5EF4-FFF2-40B4-BE49-F238E27FC236}">
                <a16:creationId xmlns:a16="http://schemas.microsoft.com/office/drawing/2014/main" id="{BA6519A4-B643-4AA6-A6AF-14794E1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MIGRATE</a:t>
            </a:r>
          </a:p>
        </p:txBody>
      </p:sp>
      <p:sp>
        <p:nvSpPr>
          <p:cNvPr id="31" name="STC-20-infra-tiered">
            <a:extLst xmlns:a="http://schemas.openxmlformats.org/drawingml/2006/main">
              <a:ext uri="{FF2B5EF4-FFF2-40B4-BE49-F238E27FC236}">
                <a16:creationId xmlns:a16="http://schemas.microsoft.com/office/drawing/2014/main" id="{371A383A-78E9-4C9B-A376-3815FE7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5166360"/>
            <a:ext cx="22128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F6B63"/>
                </a:solidFill>
                <a:latin typeface="Noto Sans CJK KR"/>
                <a:ea typeface="Noto Sans CJK KR"/>
                <a:cs typeface="Noto Sans CJK KR"/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751789826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3-section">
            <a:extLst xmlns:a="http://schemas.openxmlformats.org/drawingml/2006/main">
              <a:ext uri="{FF2B5EF4-FFF2-40B4-BE49-F238E27FC236}">
                <a16:creationId xmlns:a16="http://schemas.microsoft.com/office/drawing/2014/main" id="{9785A39F-0AAB-47A8-BDF8-756F2A6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DEVICE</a:t>
            </a:r>
          </a:p>
        </p:txBody>
      </p:sp>
      <p:sp>
        <p:nvSpPr>
          <p:cNvPr id="3" name="STC-13-slide-id">
            <a:extLst xmlns:a="http://schemas.openxmlformats.org/drawingml/2006/main">
              <a:ext uri="{FF2B5EF4-FFF2-40B4-BE49-F238E27FC236}">
                <a16:creationId xmlns:a16="http://schemas.microsoft.com/office/drawing/2014/main" id="{A4A5A903-4854-4F5D-8163-30EC8F0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STC-108</a:t>
            </a:r>
          </a:p>
        </p:txBody>
      </p:sp>
      <p:sp>
        <p:nvSpPr>
          <p:cNvPr id="4" name="STC-13-headline">
            <a:extLst xmlns:a="http://schemas.openxmlformats.org/drawingml/2006/main">
              <a:ext uri="{FF2B5EF4-FFF2-40B4-BE49-F238E27FC236}">
                <a16:creationId xmlns:a16="http://schemas.microsoft.com/office/drawing/2014/main" id="{AF17D9A0-3A93-4E7F-9D99-DE7A58D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SSD·object tier는 canonical truth와 rebuild bandwidth를 담당한다</a:t>
            </a:r>
          </a:p>
        </p:txBody>
      </p:sp>
      <p:sp>
        <p:nvSpPr>
          <p:cNvPr id="5" name="STC-13-status-label">
            <a:extLst xmlns:a="http://schemas.openxmlformats.org/drawingml/2006/main">
              <a:ext uri="{FF2B5EF4-FFF2-40B4-BE49-F238E27FC236}">
                <a16:creationId xmlns:a16="http://schemas.microsoft.com/office/drawing/2014/main" id="{AF94B140-BD46-4879-8C19-5B250E7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기회</a:t>
            </a:r>
          </a:p>
        </p:txBody>
      </p:sp>
      <p:sp>
        <p:nvSpPr>
          <p:cNvPr id="6" name="STC-13-status-rule">
            <a:extLst xmlns:a="http://schemas.openxmlformats.org/drawingml/2006/main">
              <a:ext uri="{FF2B5EF4-FFF2-40B4-BE49-F238E27FC236}">
                <a16:creationId xmlns:a16="http://schemas.microsoft.com/office/drawing/2014/main" id="{10A8CA66-60A8-483F-AAFA-64FE278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13-footer-rule">
            <a:extLst xmlns:a="http://schemas.openxmlformats.org/drawingml/2006/main">
              <a:ext uri="{FF2B5EF4-FFF2-40B4-BE49-F238E27FC236}">
                <a16:creationId xmlns:a16="http://schemas.microsoft.com/office/drawing/2014/main" id="{B855766E-A633-4E17-89AF-6D9CFED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3-source-footer">
            <a:extLst xmlns:a="http://schemas.openxmlformats.org/drawingml/2006/main">
              <a:ext uri="{FF2B5EF4-FFF2-40B4-BE49-F238E27FC236}">
                <a16:creationId xmlns:a16="http://schemas.microsoft.com/office/drawing/2014/main" id="{83B6A81A-AACD-4674-B57C-B618824F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Device opportunity matrix · storage</a:t>
            </a:r>
          </a:p>
        </p:txBody>
      </p:sp>
      <p:sp>
        <p:nvSpPr>
          <p:cNvPr id="9" name="STC-13-page-number">
            <a:extLst xmlns:a="http://schemas.openxmlformats.org/drawingml/2006/main">
              <a:ext uri="{FF2B5EF4-FFF2-40B4-BE49-F238E27FC236}">
                <a16:creationId xmlns:a16="http://schemas.microsoft.com/office/drawing/2014/main" id="{687B7F4D-F579-40DC-89A0-5805A343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108</a:t>
            </a:r>
          </a:p>
        </p:txBody>
      </p:sp>
      <p:sp>
        <p:nvSpPr>
          <p:cNvPr id="11" name="STC-13-data-layer-0">
            <a:extLst xmlns:a="http://schemas.openxmlformats.org/drawingml/2006/main">
              <a:ext uri="{FF2B5EF4-FFF2-40B4-BE49-F238E27FC236}">
                <a16:creationId xmlns:a16="http://schemas.microsoft.com/office/drawing/2014/main" id="{04820097-9F31-4DC6-A116-951B9AB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664208"/>
            <a:ext cx="8961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12" name="STC-13-data-label-0">
            <a:extLst xmlns:a="http://schemas.openxmlformats.org/drawingml/2006/main">
              <a:ext uri="{FF2B5EF4-FFF2-40B4-BE49-F238E27FC236}">
                <a16:creationId xmlns:a16="http://schemas.microsoft.com/office/drawing/2014/main" id="{A0CB3C0C-0673-4362-8DC7-0B479D4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2880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LOG</a:t>
            </a:r>
          </a:p>
        </p:txBody>
      </p:sp>
      <p:sp>
        <p:nvSpPr>
          <p:cNvPr id="13" name="STC-13-data-body-0">
            <a:extLst xmlns:a="http://schemas.openxmlformats.org/drawingml/2006/main">
              <a:ext uri="{FF2B5EF4-FFF2-40B4-BE49-F238E27FC236}">
                <a16:creationId xmlns:a16="http://schemas.microsoft.com/office/drawing/2014/main" id="{FDCF34C4-150A-4FCF-A34D-BFC000B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755648"/>
            <a:ext cx="6995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append-only episode·consent·outcome</a:t>
            </a:r>
          </a:p>
        </p:txBody>
      </p:sp>
      <p:sp>
        <p:nvSpPr>
          <p:cNvPr id="14" name="STC-13-data-layer-1">
            <a:extLst xmlns:a="http://schemas.openxmlformats.org/drawingml/2006/main">
              <a:ext uri="{FF2B5EF4-FFF2-40B4-BE49-F238E27FC236}">
                <a16:creationId xmlns:a16="http://schemas.microsoft.com/office/drawing/2014/main" id="{9FD61A15-AE35-4A0A-A793-7FCB001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50592"/>
            <a:ext cx="76809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15" name="STC-13-data-label-1">
            <a:extLst xmlns:a="http://schemas.openxmlformats.org/drawingml/2006/main">
              <a:ext uri="{FF2B5EF4-FFF2-40B4-BE49-F238E27FC236}">
                <a16:creationId xmlns:a16="http://schemas.microsoft.com/office/drawing/2014/main" id="{2BD731A4-F373-4370-BA0F-C0997B3B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61518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SNAPSHOT</a:t>
            </a:r>
          </a:p>
        </p:txBody>
      </p:sp>
      <p:sp>
        <p:nvSpPr>
          <p:cNvPr id="16" name="STC-13-data-body-1">
            <a:extLst xmlns:a="http://schemas.openxmlformats.org/drawingml/2006/main">
              <a:ext uri="{FF2B5EF4-FFF2-40B4-BE49-F238E27FC236}">
                <a16:creationId xmlns:a16="http://schemas.microsoft.com/office/drawing/2014/main" id="{16B27792-5397-44B1-A82E-6F6C6A78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42032"/>
            <a:ext cx="5715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index·graph·adapter checkpoint</a:t>
            </a:r>
          </a:p>
        </p:txBody>
      </p:sp>
      <p:sp>
        <p:nvSpPr>
          <p:cNvPr id="17" name="STC-13-data-layer-2">
            <a:extLst xmlns:a="http://schemas.openxmlformats.org/drawingml/2006/main">
              <a:ext uri="{FF2B5EF4-FFF2-40B4-BE49-F238E27FC236}">
                <a16:creationId xmlns:a16="http://schemas.microsoft.com/office/drawing/2014/main" id="{95D551C3-E938-407F-AB9B-B40AAE6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236976"/>
            <a:ext cx="64008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2700">
            <a:solidFill>
              <a:srgbClr val="244E8A"/>
            </a:solidFill>
            <a:prstDash val="solid"/>
          </a:ln>
        </p:spPr>
      </p:sp>
      <p:sp>
        <p:nvSpPr>
          <p:cNvPr id="18" name="STC-13-data-label-2">
            <a:extLst xmlns:a="http://schemas.openxmlformats.org/drawingml/2006/main">
              <a:ext uri="{FF2B5EF4-FFF2-40B4-BE49-F238E27FC236}">
                <a16:creationId xmlns:a16="http://schemas.microsoft.com/office/drawing/2014/main" id="{6477526C-D0F3-4FED-B9DA-BA154CE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401568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STREAM</a:t>
            </a:r>
          </a:p>
        </p:txBody>
      </p:sp>
      <p:sp>
        <p:nvSpPr>
          <p:cNvPr id="19" name="STC-13-data-body-2">
            <a:extLst xmlns:a="http://schemas.openxmlformats.org/drawingml/2006/main">
              <a:ext uri="{FF2B5EF4-FFF2-40B4-BE49-F238E27FC236}">
                <a16:creationId xmlns:a16="http://schemas.microsoft.com/office/drawing/2014/main" id="{5CC63795-4C45-4C8C-A238-C076892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328416"/>
            <a:ext cx="4434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replay batch를 sequential high-BW로 공급</a:t>
            </a:r>
          </a:p>
        </p:txBody>
      </p:sp>
      <p:sp>
        <p:nvSpPr>
          <p:cNvPr id="20" name="STC-13-data-layer-3">
            <a:extLst xmlns:a="http://schemas.openxmlformats.org/drawingml/2006/main">
              <a:ext uri="{FF2B5EF4-FFF2-40B4-BE49-F238E27FC236}">
                <a16:creationId xmlns:a16="http://schemas.microsoft.com/office/drawing/2014/main" id="{088B4A5A-4492-453D-BBB3-84168BF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023360"/>
            <a:ext cx="51206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ED7"/>
          </a:solidFill>
          <a:ln xmlns:a="http://schemas.openxmlformats.org/drawingml/2006/main" w="12700">
            <a:solidFill>
              <a:srgbClr val="9A442D"/>
            </a:solidFill>
            <a:prstDash val="solid"/>
          </a:ln>
        </p:spPr>
      </p:sp>
      <p:sp>
        <p:nvSpPr>
          <p:cNvPr id="21" name="STC-13-data-label-3">
            <a:extLst xmlns:a="http://schemas.openxmlformats.org/drawingml/2006/main">
              <a:ext uri="{FF2B5EF4-FFF2-40B4-BE49-F238E27FC236}">
                <a16:creationId xmlns:a16="http://schemas.microsoft.com/office/drawing/2014/main" id="{8742739C-7605-40FB-A7CF-E029D14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87952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ENDURANCE</a:t>
            </a:r>
          </a:p>
        </p:txBody>
      </p:sp>
      <p:sp>
        <p:nvSpPr>
          <p:cNvPr id="22" name="STC-13-data-body-3">
            <a:extLst xmlns:a="http://schemas.openxmlformats.org/drawingml/2006/main">
              <a:ext uri="{FF2B5EF4-FFF2-40B4-BE49-F238E27FC236}">
                <a16:creationId xmlns:a16="http://schemas.microsoft.com/office/drawing/2014/main" id="{934CB71E-27CD-4272-B979-DE93472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114800"/>
            <a:ext cx="3154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frequent compaction·delete·checkpoint write</a:t>
            </a:r>
          </a:p>
        </p:txBody>
      </p:sp>
      <p:sp>
        <p:nvSpPr>
          <p:cNvPr id="23" name="STC-13-data-layer-4">
            <a:extLst xmlns:a="http://schemas.openxmlformats.org/drawingml/2006/main">
              <a:ext uri="{FF2B5EF4-FFF2-40B4-BE49-F238E27FC236}">
                <a16:creationId xmlns:a16="http://schemas.microsoft.com/office/drawing/2014/main" id="{D505F5B5-B093-4591-A92B-C8EA912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809744"/>
            <a:ext cx="38404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12700">
            <a:solidFill>
              <a:srgbClr val="59616A"/>
            </a:solidFill>
            <a:prstDash val="solid"/>
          </a:ln>
        </p:spPr>
      </p:sp>
      <p:sp>
        <p:nvSpPr>
          <p:cNvPr id="24" name="STC-13-data-label-4">
            <a:extLst xmlns:a="http://schemas.openxmlformats.org/drawingml/2006/main">
              <a:ext uri="{FF2B5EF4-FFF2-40B4-BE49-F238E27FC236}">
                <a16:creationId xmlns:a16="http://schemas.microsoft.com/office/drawing/2014/main" id="{D8CEFF44-4BD7-4FC7-8DC5-F6C69BE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4336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RECOVERY</a:t>
            </a:r>
          </a:p>
        </p:txBody>
      </p:sp>
      <p:sp>
        <p:nvSpPr>
          <p:cNvPr id="25" name="STC-13-data-body-4">
            <a:extLst xmlns:a="http://schemas.openxmlformats.org/drawingml/2006/main">
              <a:ext uri="{FF2B5EF4-FFF2-40B4-BE49-F238E27FC236}">
                <a16:creationId xmlns:a16="http://schemas.microsoft.com/office/drawing/2014/main" id="{3E315F74-2DD1-4079-A8AD-FED1874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901184"/>
            <a:ext cx="1874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corrupt derived state를 canonical truth에서 rebuild</a:t>
            </a:r>
          </a:p>
        </p:txBody>
      </p:sp>
      <p:sp>
        <p:nvSpPr>
          <p:cNvPr id="26" name="STC-13-data-warning">
            <a:extLst xmlns:a="http://schemas.openxmlformats.org/drawingml/2006/main">
              <a:ext uri="{FF2B5EF4-FFF2-40B4-BE49-F238E27FC236}">
                <a16:creationId xmlns:a16="http://schemas.microsoft.com/office/drawing/2014/main" id="{0F955075-B866-48A7-A4A2-5437508F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2356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append-only episode·consent·outcome</a:t>
            </a:r>
          </a:p>
        </p:txBody>
      </p:sp>
    </p:spTree>
    <p:extLst>
      <p:ext uri="{BB962C8B-B14F-4D97-AF65-F5344CB8AC3E}">
        <p14:creationId xmlns:p14="http://schemas.microsoft.com/office/powerpoint/2010/main" val="1419071511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12-section">
            <a:extLst xmlns:a="http://schemas.openxmlformats.org/drawingml/2006/main">
              <a:ext uri="{FF2B5EF4-FFF2-40B4-BE49-F238E27FC236}">
                <a16:creationId xmlns:a16="http://schemas.microsoft.com/office/drawing/2014/main" id="{9BED9E58-00E9-465F-81C5-F51DC1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DEVICE</a:t>
            </a:r>
          </a:p>
        </p:txBody>
      </p:sp>
      <p:sp>
        <p:nvSpPr>
          <p:cNvPr id="3" name="STC-12-slide-id">
            <a:extLst xmlns:a="http://schemas.openxmlformats.org/drawingml/2006/main">
              <a:ext uri="{FF2B5EF4-FFF2-40B4-BE49-F238E27FC236}">
                <a16:creationId xmlns:a16="http://schemas.microsoft.com/office/drawing/2014/main" id="{F143FB54-340A-4C97-AFD3-7653D00B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STC-109</a:t>
            </a:r>
          </a:p>
        </p:txBody>
      </p:sp>
      <p:sp>
        <p:nvSpPr>
          <p:cNvPr id="4" name="STC-12-headline">
            <a:extLst xmlns:a="http://schemas.openxmlformats.org/drawingml/2006/main">
              <a:ext uri="{FF2B5EF4-FFF2-40B4-BE49-F238E27FC236}">
                <a16:creationId xmlns:a16="http://schemas.microsoft.com/office/drawing/2014/main" id="{B20880B4-6186-43A8-9FAD-366FE1B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Near-memory operator는 byte를 줄이는 지점에서만 가치가 있다</a:t>
            </a:r>
          </a:p>
        </p:txBody>
      </p:sp>
      <p:sp>
        <p:nvSpPr>
          <p:cNvPr id="5" name="STC-12-status-label">
            <a:extLst xmlns:a="http://schemas.openxmlformats.org/drawingml/2006/main">
              <a:ext uri="{FF2B5EF4-FFF2-40B4-BE49-F238E27FC236}">
                <a16:creationId xmlns:a16="http://schemas.microsoft.com/office/drawing/2014/main" id="{0CF310CB-1928-4691-A3FB-666D399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기회</a:t>
            </a:r>
          </a:p>
        </p:txBody>
      </p:sp>
      <p:sp>
        <p:nvSpPr>
          <p:cNvPr id="6" name="STC-12-status-rule">
            <a:extLst xmlns:a="http://schemas.openxmlformats.org/drawingml/2006/main">
              <a:ext uri="{FF2B5EF4-FFF2-40B4-BE49-F238E27FC236}">
                <a16:creationId xmlns:a16="http://schemas.microsoft.com/office/drawing/2014/main" id="{3E99E4B1-295E-48F2-94DF-80F4D863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2-footer-rule">
            <a:extLst xmlns:a="http://schemas.openxmlformats.org/drawingml/2006/main">
              <a:ext uri="{FF2B5EF4-FFF2-40B4-BE49-F238E27FC236}">
                <a16:creationId xmlns:a16="http://schemas.microsoft.com/office/drawing/2014/main" id="{A3C1CC2F-D951-41BA-9A0A-1723072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2-source-footer">
            <a:extLst xmlns:a="http://schemas.openxmlformats.org/drawingml/2006/main">
              <a:ext uri="{FF2B5EF4-FFF2-40B4-BE49-F238E27FC236}">
                <a16:creationId xmlns:a16="http://schemas.microsoft.com/office/drawing/2014/main" id="{04E4D685-2DD8-4371-A68D-FBB0A31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Proposed device-side operators</a:t>
            </a:r>
          </a:p>
        </p:txBody>
      </p:sp>
      <p:sp>
        <p:nvSpPr>
          <p:cNvPr id="9" name="STC-12-page-number">
            <a:extLst xmlns:a="http://schemas.openxmlformats.org/drawingml/2006/main">
              <a:ext uri="{FF2B5EF4-FFF2-40B4-BE49-F238E27FC236}">
                <a16:creationId xmlns:a16="http://schemas.microsoft.com/office/drawing/2014/main" id="{1FABB635-BAC3-411B-B672-1373736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109</a:t>
            </a:r>
          </a:p>
        </p:txBody>
      </p:sp>
      <p:sp>
        <p:nvSpPr>
          <p:cNvPr id="11" name="STC-12-op-node-0">
            <a:extLst xmlns:a="http://schemas.openxmlformats.org/drawingml/2006/main">
              <a:ext uri="{FF2B5EF4-FFF2-40B4-BE49-F238E27FC236}">
                <a16:creationId xmlns:a16="http://schemas.microsoft.com/office/drawing/2014/main" id="{9565E26F-887E-4304-8DBF-1E174EC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56362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2" name="STC-12-op-num-0">
            <a:extLst xmlns:a="http://schemas.openxmlformats.org/drawingml/2006/main">
              <a:ext uri="{FF2B5EF4-FFF2-40B4-BE49-F238E27FC236}">
                <a16:creationId xmlns:a16="http://schemas.microsoft.com/office/drawing/2014/main" id="{D48EE726-A278-44FD-822B-C049FB2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169164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3" name="STC-12-op-tag-0">
            <a:extLst xmlns:a="http://schemas.openxmlformats.org/drawingml/2006/main">
              <a:ext uri="{FF2B5EF4-FFF2-40B4-BE49-F238E27FC236}">
                <a16:creationId xmlns:a16="http://schemas.microsoft.com/office/drawing/2014/main" id="{E816A992-8F21-4B25-BCDD-A098663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36829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FILTER</a:t>
            </a:r>
          </a:p>
        </p:txBody>
      </p:sp>
      <p:sp>
        <p:nvSpPr>
          <p:cNvPr id="14" name="STC-12-op-body-0">
            <a:extLst xmlns:a="http://schemas.openxmlformats.org/drawingml/2006/main">
              <a:ext uri="{FF2B5EF4-FFF2-40B4-BE49-F238E27FC236}">
                <a16:creationId xmlns:a16="http://schemas.microsoft.com/office/drawing/2014/main" id="{165A7B8B-3F81-4002-8250-9F527A3B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7218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metadata·consent·TTL로 replay candidate 제거</a:t>
            </a:r>
          </a:p>
        </p:txBody>
      </p:sp>
      <p:sp>
        <p:nvSpPr>
          <p:cNvPr id="15" name="STC-12-op-link-0">
            <a:extLst xmlns:a="http://schemas.openxmlformats.org/drawingml/2006/main">
              <a:ext uri="{FF2B5EF4-FFF2-40B4-BE49-F238E27FC236}">
                <a16:creationId xmlns:a16="http://schemas.microsoft.com/office/drawing/2014/main" id="{9B485991-DCDC-402B-9D7D-4F6EC04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12-op-node-1">
            <a:extLst xmlns:a="http://schemas.openxmlformats.org/drawingml/2006/main">
              <a:ext uri="{FF2B5EF4-FFF2-40B4-BE49-F238E27FC236}">
                <a16:creationId xmlns:a16="http://schemas.microsoft.com/office/drawing/2014/main" id="{F80C4FE0-F1BC-4D46-8887-D3C1757C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12-op-num-1">
            <a:extLst xmlns:a="http://schemas.openxmlformats.org/drawingml/2006/main">
              <a:ext uri="{FF2B5EF4-FFF2-40B4-BE49-F238E27FC236}">
                <a16:creationId xmlns:a16="http://schemas.microsoft.com/office/drawing/2014/main" id="{F9AAE281-2CB6-4B37-AF68-53AFB0A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8" name="STC-12-op-tag-1">
            <a:extLst xmlns:a="http://schemas.openxmlformats.org/drawingml/2006/main">
              <a:ext uri="{FF2B5EF4-FFF2-40B4-BE49-F238E27FC236}">
                <a16:creationId xmlns:a16="http://schemas.microsoft.com/office/drawing/2014/main" id="{DB376A64-3995-4E35-AD03-8003FB0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DEDUP</a:t>
            </a:r>
          </a:p>
        </p:txBody>
      </p:sp>
      <p:sp>
        <p:nvSpPr>
          <p:cNvPr id="19" name="STC-12-op-body-1">
            <a:extLst xmlns:a="http://schemas.openxmlformats.org/drawingml/2006/main">
              <a:ext uri="{FF2B5EF4-FFF2-40B4-BE49-F238E27FC236}">
                <a16:creationId xmlns:a16="http://schemas.microsoft.com/office/drawing/2014/main" id="{EC50FD79-C18A-4040-9760-EDA4257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hash·embedding prefilter로 중복 억제</a:t>
            </a:r>
          </a:p>
        </p:txBody>
      </p:sp>
      <p:sp>
        <p:nvSpPr>
          <p:cNvPr id="20" name="STC-12-op-link-1">
            <a:extLst xmlns:a="http://schemas.openxmlformats.org/drawingml/2006/main">
              <a:ext uri="{FF2B5EF4-FFF2-40B4-BE49-F238E27FC236}">
                <a16:creationId xmlns:a16="http://schemas.microsoft.com/office/drawing/2014/main" id="{1D205391-CBC8-47B1-9F68-03FDF9A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452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2-op-node-2">
            <a:extLst xmlns:a="http://schemas.openxmlformats.org/drawingml/2006/main">
              <a:ext uri="{FF2B5EF4-FFF2-40B4-BE49-F238E27FC236}">
                <a16:creationId xmlns:a16="http://schemas.microsoft.com/office/drawing/2014/main" id="{68B4B873-F963-44E1-9F2C-50BDC97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2" name="STC-12-op-num-2">
            <a:extLst xmlns:a="http://schemas.openxmlformats.org/drawingml/2006/main">
              <a:ext uri="{FF2B5EF4-FFF2-40B4-BE49-F238E27FC236}">
                <a16:creationId xmlns:a16="http://schemas.microsoft.com/office/drawing/2014/main" id="{DA6C6E96-24AB-49A1-8C94-F7D3A6D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268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3" name="STC-12-op-tag-2">
            <a:extLst xmlns:a="http://schemas.openxmlformats.org/drawingml/2006/main">
              <a:ext uri="{FF2B5EF4-FFF2-40B4-BE49-F238E27FC236}">
                <a16:creationId xmlns:a16="http://schemas.microsoft.com/office/drawing/2014/main" id="{DE77EAA3-C1E2-4BB3-A6CD-F742DF3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24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QUANTIZE</a:t>
            </a:r>
          </a:p>
        </p:txBody>
      </p:sp>
      <p:sp>
        <p:nvSpPr>
          <p:cNvPr id="24" name="STC-12-op-body-2">
            <a:extLst xmlns:a="http://schemas.openxmlformats.org/drawingml/2006/main">
              <a:ext uri="{FF2B5EF4-FFF2-40B4-BE49-F238E27FC236}">
                <a16:creationId xmlns:a16="http://schemas.microsoft.com/office/drawing/2014/main" id="{2FAE901B-858A-4FBE-8454-E355DFA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2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KV/vector/adapter state의 tier-aware 압축</a:t>
            </a:r>
          </a:p>
        </p:txBody>
      </p:sp>
      <p:sp>
        <p:nvSpPr>
          <p:cNvPr id="25" name="STC-12-op-link-2">
            <a:extLst xmlns:a="http://schemas.openxmlformats.org/drawingml/2006/main">
              <a:ext uri="{FF2B5EF4-FFF2-40B4-BE49-F238E27FC236}">
                <a16:creationId xmlns:a16="http://schemas.microsoft.com/office/drawing/2014/main" id="{1FF3F698-4B8B-4FDF-8C1C-B38373EE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35040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6" name="STC-12-op-node-3">
            <a:extLst xmlns:a="http://schemas.openxmlformats.org/drawingml/2006/main">
              <a:ext uri="{FF2B5EF4-FFF2-40B4-BE49-F238E27FC236}">
                <a16:creationId xmlns:a16="http://schemas.microsoft.com/office/drawing/2014/main" id="{18FCBE66-54BC-4BD1-85B8-B66B2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1297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7" name="STC-12-op-num-3">
            <a:extLst xmlns:a="http://schemas.openxmlformats.org/drawingml/2006/main">
              <a:ext uri="{FF2B5EF4-FFF2-40B4-BE49-F238E27FC236}">
                <a16:creationId xmlns:a16="http://schemas.microsoft.com/office/drawing/2014/main" id="{B016CB40-821A-426B-BB69-C4EA19B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25780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8" name="STC-12-op-tag-3">
            <a:extLst xmlns:a="http://schemas.openxmlformats.org/drawingml/2006/main">
              <a:ext uri="{FF2B5EF4-FFF2-40B4-BE49-F238E27FC236}">
                <a16:creationId xmlns:a16="http://schemas.microsoft.com/office/drawing/2014/main" id="{FDF0F062-D6A7-490E-BE3A-D052AF8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593445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MERGE</a:t>
            </a:r>
          </a:p>
        </p:txBody>
      </p:sp>
      <p:sp>
        <p:nvSpPr>
          <p:cNvPr id="29" name="STC-12-op-body-3">
            <a:extLst xmlns:a="http://schemas.openxmlformats.org/drawingml/2006/main">
              <a:ext uri="{FF2B5EF4-FFF2-40B4-BE49-F238E27FC236}">
                <a16:creationId xmlns:a16="http://schemas.microsoft.com/office/drawing/2014/main" id="{3BF79E21-1FF6-4F3B-8783-4089065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6227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delta·small-state aggregation</a:t>
            </a:r>
          </a:p>
        </p:txBody>
      </p:sp>
      <p:sp>
        <p:nvSpPr>
          <p:cNvPr id="30" name="STC-12-op-link-3">
            <a:extLst xmlns:a="http://schemas.openxmlformats.org/drawingml/2006/main">
              <a:ext uri="{FF2B5EF4-FFF2-40B4-BE49-F238E27FC236}">
                <a16:creationId xmlns:a16="http://schemas.microsoft.com/office/drawing/2014/main" id="{C2D2C21F-163F-4D95-9BF0-CD645F7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44628" y="456742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1" name="STC-12-op-node-4">
            <a:extLst xmlns:a="http://schemas.openxmlformats.org/drawingml/2006/main">
              <a:ext uri="{FF2B5EF4-FFF2-40B4-BE49-F238E27FC236}">
                <a16:creationId xmlns:a16="http://schemas.microsoft.com/office/drawing/2014/main" id="{15454C93-9714-40BA-A132-E320F2F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2382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2" name="STC-12-op-num-4">
            <a:extLst xmlns:a="http://schemas.openxmlformats.org/drawingml/2006/main">
              <a:ext uri="{FF2B5EF4-FFF2-40B4-BE49-F238E27FC236}">
                <a16:creationId xmlns:a16="http://schemas.microsoft.com/office/drawing/2014/main" id="{9C622E44-8EB5-4A8F-9D61-4DAD460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436626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33" name="STC-12-op-tag-4">
            <a:extLst xmlns:a="http://schemas.openxmlformats.org/drawingml/2006/main">
              <a:ext uri="{FF2B5EF4-FFF2-40B4-BE49-F238E27FC236}">
                <a16:creationId xmlns:a16="http://schemas.microsoft.com/office/drawing/2014/main" id="{FD53F60B-6AD4-4C55-B97A-929F8BA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504291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SCAN</a:t>
            </a:r>
          </a:p>
        </p:txBody>
      </p:sp>
      <p:sp>
        <p:nvSpPr>
          <p:cNvPr id="34" name="STC-12-op-body-4">
            <a:extLst xmlns:a="http://schemas.openxmlformats.org/drawingml/2006/main">
              <a:ext uri="{FF2B5EF4-FFF2-40B4-BE49-F238E27FC236}">
                <a16:creationId xmlns:a16="http://schemas.microsoft.com/office/drawing/2014/main" id="{69B11EFB-0B67-4435-A518-4BD5674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533552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deletion lineage와 residue 검색</a:t>
            </a:r>
          </a:p>
        </p:txBody>
      </p:sp>
      <p:sp>
        <p:nvSpPr>
          <p:cNvPr id="35" name="STC-12-op-link-4">
            <a:extLst xmlns:a="http://schemas.openxmlformats.org/drawingml/2006/main">
              <a:ext uri="{FF2B5EF4-FFF2-40B4-BE49-F238E27FC236}">
                <a16:creationId xmlns:a16="http://schemas.microsoft.com/office/drawing/2014/main" id="{49EA155E-1AD2-4243-9273-CD4608D5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2784348"/>
            <a:ext cx="0" cy="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6" name="STC-12-op-node-5">
            <a:extLst xmlns:a="http://schemas.openxmlformats.org/drawingml/2006/main">
              <a:ext uri="{FF2B5EF4-FFF2-40B4-BE49-F238E27FC236}">
                <a16:creationId xmlns:a16="http://schemas.microsoft.com/office/drawing/2014/main" id="{BCE04997-1C16-4A22-9D57-C05C3C7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45516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37" name="STC-12-op-num-5">
            <a:extLst xmlns:a="http://schemas.openxmlformats.org/drawingml/2006/main">
              <a:ext uri="{FF2B5EF4-FFF2-40B4-BE49-F238E27FC236}">
                <a16:creationId xmlns:a16="http://schemas.microsoft.com/office/drawing/2014/main" id="{599C82AF-1ACF-4452-BAFC-2647307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44" y="2583180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38" name="STC-12-op-tag-5">
            <a:extLst xmlns:a="http://schemas.openxmlformats.org/drawingml/2006/main">
              <a:ext uri="{FF2B5EF4-FFF2-40B4-BE49-F238E27FC236}">
                <a16:creationId xmlns:a16="http://schemas.microsoft.com/office/drawing/2014/main" id="{B07599FE-D711-4F70-976F-A5A391A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500" y="3259836"/>
            <a:ext cx="2048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FILTER</a:t>
            </a:r>
          </a:p>
        </p:txBody>
      </p:sp>
      <p:sp>
        <p:nvSpPr>
          <p:cNvPr id="39" name="STC-12-op-body-5">
            <a:extLst xmlns:a="http://schemas.openxmlformats.org/drawingml/2006/main">
              <a:ext uri="{FF2B5EF4-FFF2-40B4-BE49-F238E27FC236}">
                <a16:creationId xmlns:a16="http://schemas.microsoft.com/office/drawing/2014/main" id="{423310C0-5466-447C-9A7D-22EAE19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48" y="355244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metadata·consent·TTL로 replay candidate 제거</a:t>
            </a:r>
          </a:p>
        </p:txBody>
      </p:sp>
      <p:sp>
        <p:nvSpPr>
          <p:cNvPr id="40" name="STC-12-op-link-5">
            <a:extLst xmlns:a="http://schemas.openxmlformats.org/drawingml/2006/main">
              <a:ext uri="{FF2B5EF4-FFF2-40B4-BE49-F238E27FC236}">
                <a16:creationId xmlns:a16="http://schemas.microsoft.com/office/drawing/2014/main" id="{F56FC784-7401-4605-B130-CFE571A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4628" y="1892808"/>
            <a:ext cx="2890412" cy="891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41" name="STC-12-op-center">
            <a:extLst xmlns:a="http://schemas.openxmlformats.org/drawingml/2006/main">
              <a:ext uri="{FF2B5EF4-FFF2-40B4-BE49-F238E27FC236}">
                <a16:creationId xmlns:a16="http://schemas.microsoft.com/office/drawing/2014/main" id="{768EE9E5-A371-4721-B14D-560E6C4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2" name="STC-12-op-center-text">
            <a:extLst xmlns:a="http://schemas.openxmlformats.org/drawingml/2006/main">
              <a:ext uri="{FF2B5EF4-FFF2-40B4-BE49-F238E27FC236}">
                <a16:creationId xmlns:a16="http://schemas.microsoft.com/office/drawing/2014/main" id="{742C75B8-42AB-46D8-A657-D904AEC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246120"/>
            <a:ext cx="168249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SLEEP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30391406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8-section">
            <a:extLst xmlns:a="http://schemas.openxmlformats.org/drawingml/2006/main">
              <a:ext uri="{FF2B5EF4-FFF2-40B4-BE49-F238E27FC236}">
                <a16:creationId xmlns:a16="http://schemas.microsoft.com/office/drawing/2014/main" id="{13A309F5-32B2-49DC-90FD-B1DC55E6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DEVICE</a:t>
            </a:r>
          </a:p>
        </p:txBody>
      </p:sp>
      <p:sp>
        <p:nvSpPr>
          <p:cNvPr id="3" name="STC-28-slide-id">
            <a:extLst xmlns:a="http://schemas.openxmlformats.org/drawingml/2006/main">
              <a:ext uri="{FF2B5EF4-FFF2-40B4-BE49-F238E27FC236}">
                <a16:creationId xmlns:a16="http://schemas.microsoft.com/office/drawing/2014/main" id="{BEF4D88D-C0B9-4A81-B532-FF113E03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STC-110</a:t>
            </a:r>
          </a:p>
        </p:txBody>
      </p:sp>
      <p:sp>
        <p:nvSpPr>
          <p:cNvPr id="4" name="STC-28-headline">
            <a:extLst xmlns:a="http://schemas.openxmlformats.org/drawingml/2006/main">
              <a:ext uri="{FF2B5EF4-FFF2-40B4-BE49-F238E27FC236}">
                <a16:creationId xmlns:a16="http://schemas.microsoft.com/office/drawing/2014/main" id="{008D38E5-A4ED-4A1C-BA97-7BA0D610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Samsung이 우선 검증할 여섯 실험은 명확하다</a:t>
            </a:r>
          </a:p>
        </p:txBody>
      </p:sp>
      <p:sp>
        <p:nvSpPr>
          <p:cNvPr id="5" name="STC-28-status-label">
            <a:extLst xmlns:a="http://schemas.openxmlformats.org/drawingml/2006/main">
              <a:ext uri="{FF2B5EF4-FFF2-40B4-BE49-F238E27FC236}">
                <a16:creationId xmlns:a16="http://schemas.microsoft.com/office/drawing/2014/main" id="{2B911381-703D-41A7-83AA-39F5CFE1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실험 장부</a:t>
            </a:r>
          </a:p>
        </p:txBody>
      </p:sp>
      <p:sp>
        <p:nvSpPr>
          <p:cNvPr id="6" name="STC-28-status-rule">
            <a:extLst xmlns:a="http://schemas.openxmlformats.org/drawingml/2006/main">
              <a:ext uri="{FF2B5EF4-FFF2-40B4-BE49-F238E27FC236}">
                <a16:creationId xmlns:a16="http://schemas.microsoft.com/office/drawing/2014/main" id="{31F66C69-DD76-41F5-BF79-7F9E3DF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28-footer-rule">
            <a:extLst xmlns:a="http://schemas.openxmlformats.org/drawingml/2006/main">
              <a:ext uri="{FF2B5EF4-FFF2-40B4-BE49-F238E27FC236}">
                <a16:creationId xmlns:a16="http://schemas.microsoft.com/office/drawing/2014/main" id="{13A9FA26-7480-4DE9-8863-79FA0485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8-source-footer">
            <a:extLst xmlns:a="http://schemas.openxmlformats.org/drawingml/2006/main">
              <a:ext uri="{FF2B5EF4-FFF2-40B4-BE49-F238E27FC236}">
                <a16:creationId xmlns:a16="http://schemas.microsoft.com/office/drawing/2014/main" id="{C9BC84E0-A539-46F0-9527-A0AF5E82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§14–§15 · benchmark blueprint</a:t>
            </a:r>
          </a:p>
        </p:txBody>
      </p:sp>
      <p:sp>
        <p:nvSpPr>
          <p:cNvPr id="9" name="STC-28-page-number">
            <a:extLst xmlns:a="http://schemas.openxmlformats.org/drawingml/2006/main">
              <a:ext uri="{FF2B5EF4-FFF2-40B4-BE49-F238E27FC236}">
                <a16:creationId xmlns:a16="http://schemas.microsoft.com/office/drawing/2014/main" id="{B1150450-A454-4103-BEB9-1E8DD609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110</a:t>
            </a:r>
          </a:p>
        </p:txBody>
      </p:sp>
      <p:sp>
        <p:nvSpPr>
          <p:cNvPr id="11" name="STC-28-refb-num-0">
            <a:extLst xmlns:a="http://schemas.openxmlformats.org/drawingml/2006/main">
              <a:ext uri="{FF2B5EF4-FFF2-40B4-BE49-F238E27FC236}">
                <a16:creationId xmlns:a16="http://schemas.microsoft.com/office/drawing/2014/main" id="{4C5DB218-68A9-4D22-AC81-CDA0BA18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636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01</a:t>
            </a:r>
          </a:p>
        </p:txBody>
      </p:sp>
      <p:sp>
        <p:nvSpPr>
          <p:cNvPr id="12" name="STC-28-refb-text-0">
            <a:extLst xmlns:a="http://schemas.openxmlformats.org/drawingml/2006/main">
              <a:ext uri="{FF2B5EF4-FFF2-40B4-BE49-F238E27FC236}">
                <a16:creationId xmlns:a16="http://schemas.microsoft.com/office/drawing/2014/main" id="{212D682B-EBB4-41A6-B45F-88B9BB4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5087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E1 HBM · generate/train/eval phase별 bytes·joule</a:t>
            </a:r>
          </a:p>
        </p:txBody>
      </p:sp>
      <p:sp>
        <p:nvSpPr>
          <p:cNvPr id="13" name="STC-28-refb-num-1">
            <a:extLst xmlns:a="http://schemas.openxmlformats.org/drawingml/2006/main">
              <a:ext uri="{FF2B5EF4-FFF2-40B4-BE49-F238E27FC236}">
                <a16:creationId xmlns:a16="http://schemas.microsoft.com/office/drawing/2014/main" id="{63B1729C-62AD-4137-89C1-7B2C6C32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037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14" name="STC-28-refb-text-1">
            <a:extLst xmlns:a="http://schemas.openxmlformats.org/drawingml/2006/main">
              <a:ext uri="{FF2B5EF4-FFF2-40B4-BE49-F238E27FC236}">
                <a16:creationId xmlns:a16="http://schemas.microsoft.com/office/drawing/2014/main" id="{B8E3A156-7FC3-4DDE-9B46-95390DD8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1488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E2 PREEMPT · wake burst 중 checkpoint·resume overhead</a:t>
            </a:r>
          </a:p>
        </p:txBody>
      </p:sp>
      <p:sp>
        <p:nvSpPr>
          <p:cNvPr id="15" name="STC-28-refb-num-2">
            <a:extLst xmlns:a="http://schemas.openxmlformats.org/drawingml/2006/main">
              <a:ext uri="{FF2B5EF4-FFF2-40B4-BE49-F238E27FC236}">
                <a16:creationId xmlns:a16="http://schemas.microsoft.com/office/drawing/2014/main" id="{09E3A6D2-9BC7-4E39-B2FD-68AF15B5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4378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16" name="STC-28-refb-text-2">
            <a:extLst xmlns:a="http://schemas.openxmlformats.org/drawingml/2006/main">
              <a:ext uri="{FF2B5EF4-FFF2-40B4-BE49-F238E27FC236}">
                <a16:creationId xmlns:a16="http://schemas.microsoft.com/office/drawing/2014/main" id="{958C7838-A9E4-4C68-B3D4-E8813BC3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8892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E3 TIER · HBM↔CXL↔SSD hot-state policy와 p99</a:t>
            </a:r>
          </a:p>
        </p:txBody>
      </p:sp>
      <p:sp>
        <p:nvSpPr>
          <p:cNvPr id="17" name="STC-28-refb-num-3">
            <a:extLst xmlns:a="http://schemas.openxmlformats.org/drawingml/2006/main">
              <a:ext uri="{FF2B5EF4-FFF2-40B4-BE49-F238E27FC236}">
                <a16:creationId xmlns:a16="http://schemas.microsoft.com/office/drawing/2014/main" id="{8CCF09F8-1C19-4F94-A11E-C361EEFD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8386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04</a:t>
            </a:r>
          </a:p>
        </p:txBody>
      </p:sp>
      <p:sp>
        <p:nvSpPr>
          <p:cNvPr id="18" name="STC-28-refb-text-3">
            <a:extLst xmlns:a="http://schemas.openxmlformats.org/drawingml/2006/main">
              <a:ext uri="{FF2B5EF4-FFF2-40B4-BE49-F238E27FC236}">
                <a16:creationId xmlns:a16="http://schemas.microsoft.com/office/drawing/2014/main" id="{B243ED70-9458-4939-9070-18CD4B24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42900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E4 SNAPSHOT · full vs delta checkpoint write amplification</a:t>
            </a:r>
          </a:p>
        </p:txBody>
      </p:sp>
      <p:sp>
        <p:nvSpPr>
          <p:cNvPr id="19" name="STC-28-refb-num-4">
            <a:extLst xmlns:a="http://schemas.openxmlformats.org/drawingml/2006/main">
              <a:ext uri="{FF2B5EF4-FFF2-40B4-BE49-F238E27FC236}">
                <a16:creationId xmlns:a16="http://schemas.microsoft.com/office/drawing/2014/main" id="{5D4EA9A3-617A-4976-B428-C9DA31F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2394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05</a:t>
            </a:r>
          </a:p>
        </p:txBody>
      </p:sp>
      <p:sp>
        <p:nvSpPr>
          <p:cNvPr id="20" name="STC-28-refb-text-4">
            <a:extLst xmlns:a="http://schemas.openxmlformats.org/drawingml/2006/main">
              <a:ext uri="{FF2B5EF4-FFF2-40B4-BE49-F238E27FC236}">
                <a16:creationId xmlns:a16="http://schemas.microsoft.com/office/drawing/2014/main" id="{D9391AFE-DBDA-4527-8391-70A91EE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06908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E5 CAPACITY · state bytes 대비 utility knee</a:t>
            </a:r>
          </a:p>
        </p:txBody>
      </p:sp>
      <p:sp>
        <p:nvSpPr>
          <p:cNvPr id="21" name="STC-28-refb-num-5">
            <a:extLst xmlns:a="http://schemas.openxmlformats.org/drawingml/2006/main">
              <a:ext uri="{FF2B5EF4-FFF2-40B4-BE49-F238E27FC236}">
                <a16:creationId xmlns:a16="http://schemas.microsoft.com/office/drawing/2014/main" id="{8CBEEEBF-CC52-4D25-ADF9-AD89AB5E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640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06</a:t>
            </a:r>
          </a:p>
        </p:txBody>
      </p:sp>
      <p:sp>
        <p:nvSpPr>
          <p:cNvPr id="22" name="STC-28-refb-text-5">
            <a:extLst xmlns:a="http://schemas.openxmlformats.org/drawingml/2006/main">
              <a:ext uri="{FF2B5EF4-FFF2-40B4-BE49-F238E27FC236}">
                <a16:creationId xmlns:a16="http://schemas.microsoft.com/office/drawing/2014/main" id="{FB9D9389-3328-421B-BA86-C2AEB8A4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091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E6 DELETE · lineage scan·rebuild·attestation cost</a:t>
            </a:r>
          </a:p>
        </p:txBody>
      </p:sp>
      <p:sp>
        <p:nvSpPr>
          <p:cNvPr id="23" name="STC-28-refb-num-6">
            <a:extLst xmlns:a="http://schemas.openxmlformats.org/drawingml/2006/main">
              <a:ext uri="{FF2B5EF4-FFF2-40B4-BE49-F238E27FC236}">
                <a16:creationId xmlns:a16="http://schemas.microsoft.com/office/drawing/2014/main" id="{FD3D59CC-4435-4118-8805-D506CAB3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041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07</a:t>
            </a:r>
          </a:p>
        </p:txBody>
      </p:sp>
      <p:sp>
        <p:nvSpPr>
          <p:cNvPr id="24" name="STC-28-refb-text-6">
            <a:extLst xmlns:a="http://schemas.openxmlformats.org/drawingml/2006/main">
              <a:ext uri="{FF2B5EF4-FFF2-40B4-BE49-F238E27FC236}">
                <a16:creationId xmlns:a16="http://schemas.microsoft.com/office/drawing/2014/main" id="{976870AD-04B0-42E1-B494-2B7E9E78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3492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STC-S14</a:t>
            </a:r>
          </a:p>
        </p:txBody>
      </p:sp>
      <p:sp>
        <p:nvSpPr>
          <p:cNvPr id="25" name="STC-28-refb-num-7">
            <a:extLst xmlns:a="http://schemas.openxmlformats.org/drawingml/2006/main">
              <a:ext uri="{FF2B5EF4-FFF2-40B4-BE49-F238E27FC236}">
                <a16:creationId xmlns:a16="http://schemas.microsoft.com/office/drawing/2014/main" id="{C4D77BDD-0073-4D42-9365-36366400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36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08</a:t>
            </a:r>
          </a:p>
        </p:txBody>
      </p:sp>
      <p:sp>
        <p:nvSpPr>
          <p:cNvPr id="26" name="STC-28-refb-text-7">
            <a:extLst xmlns:a="http://schemas.openxmlformats.org/drawingml/2006/main">
              <a:ext uri="{FF2B5EF4-FFF2-40B4-BE49-F238E27FC236}">
                <a16:creationId xmlns:a16="http://schemas.microsoft.com/office/drawing/2014/main" id="{762E17FD-AC89-44BF-83ED-C556CFEF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15087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STC-S15</a:t>
            </a:r>
          </a:p>
        </p:txBody>
      </p:sp>
      <p:sp>
        <p:nvSpPr>
          <p:cNvPr id="27" name="STC-28-refb-num-8">
            <a:extLst xmlns:a="http://schemas.openxmlformats.org/drawingml/2006/main">
              <a:ext uri="{FF2B5EF4-FFF2-40B4-BE49-F238E27FC236}">
                <a16:creationId xmlns:a16="http://schemas.microsoft.com/office/drawing/2014/main" id="{6B9C89B7-9957-464E-8830-7177F509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37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09</a:t>
            </a:r>
          </a:p>
        </p:txBody>
      </p:sp>
      <p:sp>
        <p:nvSpPr>
          <p:cNvPr id="28" name="STC-28-refb-text-8">
            <a:extLst xmlns:a="http://schemas.openxmlformats.org/drawingml/2006/main">
              <a:ext uri="{FF2B5EF4-FFF2-40B4-BE49-F238E27FC236}">
                <a16:creationId xmlns:a16="http://schemas.microsoft.com/office/drawing/2014/main" id="{31FF225F-A7AC-40AE-BDCD-E15C6431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21488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STC-C047</a:t>
            </a:r>
          </a:p>
        </p:txBody>
      </p:sp>
      <p:sp>
        <p:nvSpPr>
          <p:cNvPr id="29" name="STC-28-refb-num-9">
            <a:extLst xmlns:a="http://schemas.openxmlformats.org/drawingml/2006/main">
              <a:ext uri="{FF2B5EF4-FFF2-40B4-BE49-F238E27FC236}">
                <a16:creationId xmlns:a16="http://schemas.microsoft.com/office/drawing/2014/main" id="{B6EFBE4E-0A53-4DC5-A93D-DF3A1C93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4378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10</a:t>
            </a:r>
          </a:p>
        </p:txBody>
      </p:sp>
      <p:sp>
        <p:nvSpPr>
          <p:cNvPr id="30" name="STC-28-refb-text-9">
            <a:extLst xmlns:a="http://schemas.openxmlformats.org/drawingml/2006/main">
              <a:ext uri="{FF2B5EF4-FFF2-40B4-BE49-F238E27FC236}">
                <a16:creationId xmlns:a16="http://schemas.microsoft.com/office/drawing/2014/main" id="{22878D4D-94F2-45F4-84FA-F34427E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278892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STC-C048</a:t>
            </a:r>
          </a:p>
        </p:txBody>
      </p:sp>
      <p:sp>
        <p:nvSpPr>
          <p:cNvPr id="31" name="STC-28-refb-num-10">
            <a:extLst xmlns:a="http://schemas.openxmlformats.org/drawingml/2006/main">
              <a:ext uri="{FF2B5EF4-FFF2-40B4-BE49-F238E27FC236}">
                <a16:creationId xmlns:a16="http://schemas.microsoft.com/office/drawing/2014/main" id="{B00ED863-7FE6-47C2-8018-0545404E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386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11</a:t>
            </a:r>
          </a:p>
        </p:txBody>
      </p:sp>
      <p:sp>
        <p:nvSpPr>
          <p:cNvPr id="32" name="STC-28-refb-text-10">
            <a:extLst xmlns:a="http://schemas.openxmlformats.org/drawingml/2006/main">
              <a:ext uri="{FF2B5EF4-FFF2-40B4-BE49-F238E27FC236}">
                <a16:creationId xmlns:a16="http://schemas.microsoft.com/office/drawing/2014/main" id="{A00D58B1-5B1F-4F23-B8E8-F76110C9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42900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STC-S14</a:t>
            </a:r>
          </a:p>
        </p:txBody>
      </p:sp>
      <p:sp>
        <p:nvSpPr>
          <p:cNvPr id="33" name="STC-28-refb-num-11">
            <a:extLst xmlns:a="http://schemas.openxmlformats.org/drawingml/2006/main">
              <a:ext uri="{FF2B5EF4-FFF2-40B4-BE49-F238E27FC236}">
                <a16:creationId xmlns:a16="http://schemas.microsoft.com/office/drawing/2014/main" id="{6C14DE11-7E7D-4A36-BF43-6CBDEF7F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2394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12</a:t>
            </a:r>
          </a:p>
        </p:txBody>
      </p:sp>
      <p:sp>
        <p:nvSpPr>
          <p:cNvPr id="34" name="STC-28-refb-text-11">
            <a:extLst xmlns:a="http://schemas.openxmlformats.org/drawingml/2006/main">
              <a:ext uri="{FF2B5EF4-FFF2-40B4-BE49-F238E27FC236}">
                <a16:creationId xmlns:a16="http://schemas.microsoft.com/office/drawing/2014/main" id="{09BE914F-5F2C-4BB0-8756-1B9DBDB2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406908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STC-S15</a:t>
            </a:r>
          </a:p>
        </p:txBody>
      </p:sp>
      <p:sp>
        <p:nvSpPr>
          <p:cNvPr id="35" name="STC-28-refb-num-12">
            <a:extLst xmlns:a="http://schemas.openxmlformats.org/drawingml/2006/main">
              <a:ext uri="{FF2B5EF4-FFF2-40B4-BE49-F238E27FC236}">
                <a16:creationId xmlns:a16="http://schemas.microsoft.com/office/drawing/2014/main" id="{C1C8FEF4-F281-4688-BE7A-76477BA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402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13</a:t>
            </a:r>
          </a:p>
        </p:txBody>
      </p:sp>
      <p:sp>
        <p:nvSpPr>
          <p:cNvPr id="36" name="STC-28-refb-text-12">
            <a:extLst xmlns:a="http://schemas.openxmlformats.org/drawingml/2006/main">
              <a:ext uri="{FF2B5EF4-FFF2-40B4-BE49-F238E27FC236}">
                <a16:creationId xmlns:a16="http://schemas.microsoft.com/office/drawing/2014/main" id="{9C52518A-CC6B-4A92-B712-73A5FFA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470916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STC-C047</a:t>
            </a:r>
          </a:p>
        </p:txBody>
      </p:sp>
      <p:sp>
        <p:nvSpPr>
          <p:cNvPr id="37" name="STC-28-refb-num-13">
            <a:extLst xmlns:a="http://schemas.openxmlformats.org/drawingml/2006/main">
              <a:ext uri="{FF2B5EF4-FFF2-40B4-BE49-F238E27FC236}">
                <a16:creationId xmlns:a16="http://schemas.microsoft.com/office/drawing/2014/main" id="{C731E1A0-B466-4945-BFD6-BBAD07CD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04104"/>
            <a:ext cx="38404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14</a:t>
            </a:r>
          </a:p>
        </p:txBody>
      </p:sp>
      <p:sp>
        <p:nvSpPr>
          <p:cNvPr id="38" name="STC-28-refb-text-13">
            <a:extLst xmlns:a="http://schemas.openxmlformats.org/drawingml/2006/main">
              <a:ext uri="{FF2B5EF4-FFF2-40B4-BE49-F238E27FC236}">
                <a16:creationId xmlns:a16="http://schemas.microsoft.com/office/drawing/2014/main" id="{66E7A380-71EC-4F37-967D-D22BDBC1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349240"/>
            <a:ext cx="4709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STC-C048</a:t>
            </a:r>
          </a:p>
        </p:txBody>
      </p:sp>
      <p:sp>
        <p:nvSpPr>
          <p:cNvPr id="39" name="STC-28-refb-boundary">
            <a:extLst xmlns:a="http://schemas.openxmlformats.org/drawingml/2006/main">
              <a:ext uri="{FF2B5EF4-FFF2-40B4-BE49-F238E27FC236}">
                <a16:creationId xmlns:a16="http://schemas.microsoft.com/office/drawing/2014/main" id="{65329A22-A151-41C6-BD55-4FC33127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5650992"/>
            <a:ext cx="886968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0" name="STC-28-refb-boundary-text">
            <a:extLst xmlns:a="http://schemas.openxmlformats.org/drawingml/2006/main">
              <a:ext uri="{FF2B5EF4-FFF2-40B4-BE49-F238E27FC236}">
                <a16:creationId xmlns:a16="http://schemas.microsoft.com/office/drawing/2014/main" id="{BCB6D518-FE1A-4EE4-AD75-6EA6189A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769864"/>
            <a:ext cx="83941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Mono CJK KR"/>
                <a:ea typeface="Noto Sans Mono CJK KR"/>
                <a:cs typeface="Noto Sans Mono CJK KR"/>
              </a:rPr>
              <a:t>generate/train/eval phase별 bytes·joule</a:t>
            </a:r>
          </a:p>
        </p:txBody>
      </p:sp>
    </p:spTree>
    <p:extLst>
      <p:ext uri="{BB962C8B-B14F-4D97-AF65-F5344CB8AC3E}">
        <p14:creationId xmlns:p14="http://schemas.microsoft.com/office/powerpoint/2010/main" val="2084973203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5-section">
            <a:extLst xmlns:a="http://schemas.openxmlformats.org/drawingml/2006/main">
              <a:ext uri="{FF2B5EF4-FFF2-40B4-BE49-F238E27FC236}">
                <a16:creationId xmlns:a16="http://schemas.microsoft.com/office/drawing/2014/main" id="{049E2E5D-0D50-4838-B45C-AD767CEE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ROADMAP</a:t>
            </a:r>
          </a:p>
        </p:txBody>
      </p:sp>
      <p:sp>
        <p:nvSpPr>
          <p:cNvPr id="3" name="STC-25-slide-id">
            <a:extLst xmlns:a="http://schemas.openxmlformats.org/drawingml/2006/main">
              <a:ext uri="{FF2B5EF4-FFF2-40B4-BE49-F238E27FC236}">
                <a16:creationId xmlns:a16="http://schemas.microsoft.com/office/drawing/2014/main" id="{4348DAE7-5788-43B0-9E7A-199C7AD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STC-111</a:t>
            </a:r>
          </a:p>
        </p:txBody>
      </p:sp>
      <p:sp>
        <p:nvSpPr>
          <p:cNvPr id="4" name="STC-25-headline">
            <a:extLst xmlns:a="http://schemas.openxmlformats.org/drawingml/2006/main">
              <a:ext uri="{FF2B5EF4-FFF2-40B4-BE49-F238E27FC236}">
                <a16:creationId xmlns:a16="http://schemas.microsoft.com/office/drawing/2014/main" id="{FC29B482-7EB9-4508-A905-F9999A5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90일 benchmark는 baseline·cycle·device를 한 번에 묶는다</a:t>
            </a:r>
          </a:p>
        </p:txBody>
      </p:sp>
      <p:sp>
        <p:nvSpPr>
          <p:cNvPr id="5" name="STC-25-status-label">
            <a:extLst xmlns:a="http://schemas.openxmlformats.org/drawingml/2006/main">
              <a:ext uri="{FF2B5EF4-FFF2-40B4-BE49-F238E27FC236}">
                <a16:creationId xmlns:a16="http://schemas.microsoft.com/office/drawing/2014/main" id="{09A505F5-90BF-4E26-987E-DF54012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실행</a:t>
            </a:r>
          </a:p>
        </p:txBody>
      </p:sp>
      <p:sp>
        <p:nvSpPr>
          <p:cNvPr id="6" name="STC-25-status-rule">
            <a:extLst xmlns:a="http://schemas.openxmlformats.org/drawingml/2006/main">
              <a:ext uri="{FF2B5EF4-FFF2-40B4-BE49-F238E27FC236}">
                <a16:creationId xmlns:a16="http://schemas.microsoft.com/office/drawing/2014/main" id="{DDD5E461-CB40-4D83-A314-159A1CAD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5-footer-rule">
            <a:extLst xmlns:a="http://schemas.openxmlformats.org/drawingml/2006/main">
              <a:ext uri="{FF2B5EF4-FFF2-40B4-BE49-F238E27FC236}">
                <a16:creationId xmlns:a16="http://schemas.microsoft.com/office/drawing/2014/main" id="{DC46E1C1-1417-4393-B3E0-A005890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5-source-footer">
            <a:extLst xmlns:a="http://schemas.openxmlformats.org/drawingml/2006/main">
              <a:ext uri="{FF2B5EF4-FFF2-40B4-BE49-F238E27FC236}">
                <a16:creationId xmlns:a16="http://schemas.microsoft.com/office/drawing/2014/main" id="{4360FC86-1290-4412-9688-C5E5F44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BENCHMARK-EXPERIMENT-BLUEPRINT · STC-F014</a:t>
            </a:r>
          </a:p>
        </p:txBody>
      </p:sp>
      <p:sp>
        <p:nvSpPr>
          <p:cNvPr id="9" name="STC-25-page-number">
            <a:extLst xmlns:a="http://schemas.openxmlformats.org/drawingml/2006/main">
              <a:ext uri="{FF2B5EF4-FFF2-40B4-BE49-F238E27FC236}">
                <a16:creationId xmlns:a16="http://schemas.microsoft.com/office/drawing/2014/main" id="{7E2FECCD-762F-41E7-A1C3-6893B70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111</a:t>
            </a:r>
          </a:p>
        </p:txBody>
      </p:sp>
      <p:sp>
        <p:nvSpPr>
          <p:cNvPr id="11" name="STC-25-road-num-0">
            <a:extLst xmlns:a="http://schemas.openxmlformats.org/drawingml/2006/main">
              <a:ext uri="{FF2B5EF4-FFF2-40B4-BE49-F238E27FC236}">
                <a16:creationId xmlns:a16="http://schemas.microsoft.com/office/drawing/2014/main" id="{EA0FB00B-159D-4A35-981A-68B2506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0–30 · external summary/RAG·LoRA·no-memory baseline 고정</a:t>
            </a:r>
          </a:p>
        </p:txBody>
      </p:sp>
      <p:sp>
        <p:nvSpPr>
          <p:cNvPr id="12" name="STC-25-road-rule-0">
            <a:extLst xmlns:a="http://schemas.openxmlformats.org/drawingml/2006/main">
              <a:ext uri="{FF2B5EF4-FFF2-40B4-BE49-F238E27FC236}">
                <a16:creationId xmlns:a16="http://schemas.microsoft.com/office/drawing/2014/main" id="{3ED24062-9081-4484-9D76-97AE4EB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5-road-tag-0">
            <a:extLst xmlns:a="http://schemas.openxmlformats.org/drawingml/2006/main">
              <a:ext uri="{FF2B5EF4-FFF2-40B4-BE49-F238E27FC236}">
                <a16:creationId xmlns:a16="http://schemas.microsoft.com/office/drawing/2014/main" id="{CE0189C8-687D-4B49-BF34-BFF1AA5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0–30</a:t>
            </a:r>
          </a:p>
        </p:txBody>
      </p:sp>
      <p:sp>
        <p:nvSpPr>
          <p:cNvPr id="14" name="STC-25-road-body-0">
            <a:extLst xmlns:a="http://schemas.openxmlformats.org/drawingml/2006/main">
              <a:ext uri="{FF2B5EF4-FFF2-40B4-BE49-F238E27FC236}">
                <a16:creationId xmlns:a16="http://schemas.microsoft.com/office/drawing/2014/main" id="{9E957574-379F-46E9-82B3-E439207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 summary/RAG·LoRA·no-memory baseline 고정</a:t>
            </a:r>
          </a:p>
        </p:txBody>
      </p:sp>
      <p:sp>
        <p:nvSpPr>
          <p:cNvPr id="15" name="STC-25-road-arrow-0">
            <a:extLst xmlns:a="http://schemas.openxmlformats.org/drawingml/2006/main">
              <a:ext uri="{FF2B5EF4-FFF2-40B4-BE49-F238E27FC236}">
                <a16:creationId xmlns:a16="http://schemas.microsoft.com/office/drawing/2014/main" id="{C193FB53-EB20-433A-B251-90CF225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25-road-num-1">
            <a:extLst xmlns:a="http://schemas.openxmlformats.org/drawingml/2006/main">
              <a:ext uri="{FF2B5EF4-FFF2-40B4-BE49-F238E27FC236}">
                <a16:creationId xmlns:a16="http://schemas.microsoft.com/office/drawing/2014/main" id="{1366A155-10D9-4EB3-83FD-19D04F00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31–60 · reuse·volatility·capacity·100-cycle sweep</a:t>
            </a:r>
          </a:p>
        </p:txBody>
      </p:sp>
      <p:sp>
        <p:nvSpPr>
          <p:cNvPr id="17" name="STC-25-road-rule-1">
            <a:extLst xmlns:a="http://schemas.openxmlformats.org/drawingml/2006/main">
              <a:ext uri="{FF2B5EF4-FFF2-40B4-BE49-F238E27FC236}">
                <a16:creationId xmlns:a16="http://schemas.microsoft.com/office/drawing/2014/main" id="{C52D962A-822B-4075-96A0-F606A60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18" name="STC-25-road-tag-1">
            <a:extLst xmlns:a="http://schemas.openxmlformats.org/drawingml/2006/main">
              <a:ext uri="{FF2B5EF4-FFF2-40B4-BE49-F238E27FC236}">
                <a16:creationId xmlns:a16="http://schemas.microsoft.com/office/drawing/2014/main" id="{3F3AF545-DB09-42D1-A05F-4850083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31–60</a:t>
            </a:r>
          </a:p>
        </p:txBody>
      </p:sp>
      <p:sp>
        <p:nvSpPr>
          <p:cNvPr id="19" name="STC-25-road-body-1">
            <a:extLst xmlns:a="http://schemas.openxmlformats.org/drawingml/2006/main">
              <a:ext uri="{FF2B5EF4-FFF2-40B4-BE49-F238E27FC236}">
                <a16:creationId xmlns:a16="http://schemas.microsoft.com/office/drawing/2014/main" id="{D24656B1-A6BF-4273-A8E5-9530D62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reuse·volatility·capacity·100-cycle sweep</a:t>
            </a:r>
          </a:p>
        </p:txBody>
      </p:sp>
      <p:sp>
        <p:nvSpPr>
          <p:cNvPr id="20" name="STC-25-road-arrow-1">
            <a:extLst xmlns:a="http://schemas.openxmlformats.org/drawingml/2006/main">
              <a:ext uri="{FF2B5EF4-FFF2-40B4-BE49-F238E27FC236}">
                <a16:creationId xmlns:a16="http://schemas.microsoft.com/office/drawing/2014/main" id="{C3F76C60-D9D3-48AA-AE43-A90E223B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25-road-num-2">
            <a:extLst xmlns:a="http://schemas.openxmlformats.org/drawingml/2006/main">
              <a:ext uri="{FF2B5EF4-FFF2-40B4-BE49-F238E27FC236}">
                <a16:creationId xmlns:a16="http://schemas.microsoft.com/office/drawing/2014/main" id="{FFE111E6-B567-483E-B154-8C22B2BA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61–75 · poison·delete·rollback·cross-tenant red-team</a:t>
            </a:r>
          </a:p>
        </p:txBody>
      </p:sp>
      <p:sp>
        <p:nvSpPr>
          <p:cNvPr id="22" name="STC-25-road-rule-2">
            <a:extLst xmlns:a="http://schemas.openxmlformats.org/drawingml/2006/main">
              <a:ext uri="{FF2B5EF4-FFF2-40B4-BE49-F238E27FC236}">
                <a16:creationId xmlns:a16="http://schemas.microsoft.com/office/drawing/2014/main" id="{0B2F0B31-EB2B-4152-9D0F-B00C524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25-road-tag-2">
            <a:extLst xmlns:a="http://schemas.openxmlformats.org/drawingml/2006/main">
              <a:ext uri="{FF2B5EF4-FFF2-40B4-BE49-F238E27FC236}">
                <a16:creationId xmlns:a16="http://schemas.microsoft.com/office/drawing/2014/main" id="{12904B6F-472F-4285-A867-B9F04289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61–75</a:t>
            </a:r>
          </a:p>
        </p:txBody>
      </p:sp>
      <p:sp>
        <p:nvSpPr>
          <p:cNvPr id="24" name="STC-25-road-body-2">
            <a:extLst xmlns:a="http://schemas.openxmlformats.org/drawingml/2006/main">
              <a:ext uri="{FF2B5EF4-FFF2-40B4-BE49-F238E27FC236}">
                <a16:creationId xmlns:a16="http://schemas.microsoft.com/office/drawing/2014/main" id="{C6ABE3D5-C69F-4FC4-B164-6327DF7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poison·delete·rollback·cross-tenant red-team</a:t>
            </a:r>
          </a:p>
        </p:txBody>
      </p:sp>
      <p:sp>
        <p:nvSpPr>
          <p:cNvPr id="25" name="STC-25-road-arrow-2">
            <a:extLst xmlns:a="http://schemas.openxmlformats.org/drawingml/2006/main">
              <a:ext uri="{FF2B5EF4-FFF2-40B4-BE49-F238E27FC236}">
                <a16:creationId xmlns:a16="http://schemas.microsoft.com/office/drawing/2014/main" id="{5393879F-E1A2-4DCD-9C7F-3361CDD6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5-road-num-3">
            <a:extLst xmlns:a="http://schemas.openxmlformats.org/drawingml/2006/main">
              <a:ext uri="{FF2B5EF4-FFF2-40B4-BE49-F238E27FC236}">
                <a16:creationId xmlns:a16="http://schemas.microsoft.com/office/drawing/2014/main" id="{105D7074-5B40-44AE-A3DE-1DB143F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76–90 · HBM/CXL/SSD trace와 system simulator</a:t>
            </a:r>
          </a:p>
        </p:txBody>
      </p:sp>
      <p:sp>
        <p:nvSpPr>
          <p:cNvPr id="27" name="STC-25-road-rule-3">
            <a:extLst xmlns:a="http://schemas.openxmlformats.org/drawingml/2006/main">
              <a:ext uri="{FF2B5EF4-FFF2-40B4-BE49-F238E27FC236}">
                <a16:creationId xmlns:a16="http://schemas.microsoft.com/office/drawing/2014/main" id="{C5A89D75-EB36-4D47-BBA7-4FD618A9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28" name="STC-25-road-tag-3">
            <a:extLst xmlns:a="http://schemas.openxmlformats.org/drawingml/2006/main">
              <a:ext uri="{FF2B5EF4-FFF2-40B4-BE49-F238E27FC236}">
                <a16:creationId xmlns:a16="http://schemas.microsoft.com/office/drawing/2014/main" id="{60562162-26E4-4F17-B95A-8635F5E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76–90</a:t>
            </a:r>
          </a:p>
        </p:txBody>
      </p:sp>
      <p:sp>
        <p:nvSpPr>
          <p:cNvPr id="29" name="STC-25-road-body-3">
            <a:extLst xmlns:a="http://schemas.openxmlformats.org/drawingml/2006/main">
              <a:ext uri="{FF2B5EF4-FFF2-40B4-BE49-F238E27FC236}">
                <a16:creationId xmlns:a16="http://schemas.microsoft.com/office/drawing/2014/main" id="{36B2A195-012C-4267-AD10-D1A3C98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HBM/CXL/SSD trace와 system simulator</a:t>
            </a:r>
          </a:p>
        </p:txBody>
      </p:sp>
      <p:sp>
        <p:nvSpPr>
          <p:cNvPr id="30" name="STC-25-road-arrow-3">
            <a:extLst xmlns:a="http://schemas.openxmlformats.org/drawingml/2006/main">
              <a:ext uri="{FF2B5EF4-FFF2-40B4-BE49-F238E27FC236}">
                <a16:creationId xmlns:a16="http://schemas.microsoft.com/office/drawing/2014/main" id="{396E2121-B77E-4C00-95EF-90C7208C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1" name="STC-25-road-num-4">
            <a:extLst xmlns:a="http://schemas.openxmlformats.org/drawingml/2006/main">
              <a:ext uri="{FF2B5EF4-FFF2-40B4-BE49-F238E27FC236}">
                <a16:creationId xmlns:a16="http://schemas.microsoft.com/office/drawing/2014/main" id="{8B898DB3-B976-4CEC-9AC5-2F11C3F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OUTPUT · Pareto frontier·falsifier·device spec proposal</a:t>
            </a:r>
          </a:p>
        </p:txBody>
      </p:sp>
      <p:sp>
        <p:nvSpPr>
          <p:cNvPr id="32" name="STC-25-road-rule-4">
            <a:extLst xmlns:a="http://schemas.openxmlformats.org/drawingml/2006/main">
              <a:ext uri="{FF2B5EF4-FFF2-40B4-BE49-F238E27FC236}">
                <a16:creationId xmlns:a16="http://schemas.microsoft.com/office/drawing/2014/main" id="{F79D1670-C2ED-4E70-B50F-566D8872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33" name="STC-25-road-tag-4">
            <a:extLst xmlns:a="http://schemas.openxmlformats.org/drawingml/2006/main">
              <a:ext uri="{FF2B5EF4-FFF2-40B4-BE49-F238E27FC236}">
                <a16:creationId xmlns:a16="http://schemas.microsoft.com/office/drawing/2014/main" id="{CA5E38F6-BF8F-4DAC-AAF7-AE4E0197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OUTPUT</a:t>
            </a:r>
          </a:p>
        </p:txBody>
      </p:sp>
      <p:sp>
        <p:nvSpPr>
          <p:cNvPr id="34" name="STC-25-road-body-4">
            <a:extLst xmlns:a="http://schemas.openxmlformats.org/drawingml/2006/main">
              <a:ext uri="{FF2B5EF4-FFF2-40B4-BE49-F238E27FC236}">
                <a16:creationId xmlns:a16="http://schemas.microsoft.com/office/drawing/2014/main" id="{15F9F674-BB55-4C2D-9585-F5C5B160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Pareto frontier·falsifier·device spec proposal</a:t>
            </a:r>
          </a:p>
        </p:txBody>
      </p:sp>
      <p:sp>
        <p:nvSpPr>
          <p:cNvPr id="35" name="STC-25-road-arrow-4">
            <a:extLst xmlns:a="http://schemas.openxmlformats.org/drawingml/2006/main">
              <a:ext uri="{FF2B5EF4-FFF2-40B4-BE49-F238E27FC236}">
                <a16:creationId xmlns:a16="http://schemas.microsoft.com/office/drawing/2014/main" id="{E3F14D04-9484-4BA2-AB65-DF8BED7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1031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6" name="STC-25-road-num-5">
            <a:extLst xmlns:a="http://schemas.openxmlformats.org/drawingml/2006/main">
              <a:ext uri="{FF2B5EF4-FFF2-40B4-BE49-F238E27FC236}">
                <a16:creationId xmlns:a16="http://schemas.microsoft.com/office/drawing/2014/main" id="{3AE88054-0F8F-42A7-A1C6-F08361B6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1709928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0–30 · external summary/RAG·LoRA·no-memory baseline 고정</a:t>
            </a:r>
          </a:p>
        </p:txBody>
      </p:sp>
      <p:sp>
        <p:nvSpPr>
          <p:cNvPr id="37" name="STC-25-road-rule-5">
            <a:extLst xmlns:a="http://schemas.openxmlformats.org/drawingml/2006/main">
              <a:ext uri="{FF2B5EF4-FFF2-40B4-BE49-F238E27FC236}">
                <a16:creationId xmlns:a16="http://schemas.microsoft.com/office/drawing/2014/main" id="{34FCA0CE-DE60-4554-87B0-1BE8522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093976"/>
            <a:ext cx="1408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38" name="STC-25-road-tag-5">
            <a:extLst xmlns:a="http://schemas.openxmlformats.org/drawingml/2006/main">
              <a:ext uri="{FF2B5EF4-FFF2-40B4-BE49-F238E27FC236}">
                <a16:creationId xmlns:a16="http://schemas.microsoft.com/office/drawing/2014/main" id="{16A2C964-3CCE-482C-BED5-56E7F753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395728"/>
            <a:ext cx="140817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0–30</a:t>
            </a:r>
          </a:p>
        </p:txBody>
      </p:sp>
      <p:sp>
        <p:nvSpPr>
          <p:cNvPr id="39" name="STC-25-road-body-5">
            <a:extLst xmlns:a="http://schemas.openxmlformats.org/drawingml/2006/main">
              <a:ext uri="{FF2B5EF4-FFF2-40B4-BE49-F238E27FC236}">
                <a16:creationId xmlns:a16="http://schemas.microsoft.com/office/drawing/2014/main" id="{3553BE49-C1EE-4D75-AD69-DAE9A4A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807208"/>
            <a:ext cx="1481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external summary/RAG·LoRA·no-memory baseline 고정</a:t>
            </a:r>
          </a:p>
        </p:txBody>
      </p:sp>
      <p:sp>
        <p:nvSpPr>
          <p:cNvPr id="40" name="STC-25-road-paper">
            <a:extLst xmlns:a="http://schemas.openxmlformats.org/drawingml/2006/main">
              <a:ext uri="{FF2B5EF4-FFF2-40B4-BE49-F238E27FC236}">
                <a16:creationId xmlns:a16="http://schemas.microsoft.com/office/drawing/2014/main" id="{A4843479-3B86-41C4-BF58-A226D86A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416552"/>
            <a:ext cx="97383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17191C"/>
            </a:solidFill>
            <a:prstDash val="solid"/>
          </a:ln>
        </p:spPr>
      </p:sp>
      <p:sp>
        <p:nvSpPr>
          <p:cNvPr id="41" name="STC-25-road-paper-label">
            <a:extLst xmlns:a="http://schemas.openxmlformats.org/drawingml/2006/main">
              <a:ext uri="{FF2B5EF4-FFF2-40B4-BE49-F238E27FC236}">
                <a16:creationId xmlns:a16="http://schemas.microsoft.com/office/drawing/2014/main" id="{757E56D7-EC75-43C5-828A-C88D7B2F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99432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0–30</a:t>
            </a:r>
          </a:p>
        </p:txBody>
      </p:sp>
      <p:sp>
        <p:nvSpPr>
          <p:cNvPr id="42" name="STC-25-road-paper-text">
            <a:extLst xmlns:a="http://schemas.openxmlformats.org/drawingml/2006/main">
              <a:ext uri="{FF2B5EF4-FFF2-40B4-BE49-F238E27FC236}">
                <a16:creationId xmlns:a16="http://schemas.microsoft.com/office/drawing/2014/main" id="{A628D630-7323-4B30-A57D-D9F399F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4590288"/>
            <a:ext cx="6995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같은 evidence stream과 query trace로 모든 destination을 비교한다.</a:t>
            </a:r>
          </a:p>
        </p:txBody>
      </p:sp>
      <p:sp>
        <p:nvSpPr>
          <p:cNvPr id="43" name="STC-25-road-status">
            <a:extLst xmlns:a="http://schemas.openxmlformats.org/drawingml/2006/main">
              <a:ext uri="{FF2B5EF4-FFF2-40B4-BE49-F238E27FC236}">
                <a16:creationId xmlns:a16="http://schemas.microsoft.com/office/drawing/2014/main" id="{F8818137-BEB1-4628-9FDC-4280214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5614416"/>
            <a:ext cx="6291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A442D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8929984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C-26-section">
            <a:extLst xmlns:a="http://schemas.openxmlformats.org/drawingml/2006/main">
              <a:ext uri="{FF2B5EF4-FFF2-40B4-BE49-F238E27FC236}">
                <a16:creationId xmlns:a16="http://schemas.microsoft.com/office/drawing/2014/main" id="{E943B273-37A9-4F09-8A9E-B4160AE8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CLOSE</a:t>
            </a:r>
          </a:p>
        </p:txBody>
      </p:sp>
      <p:sp>
        <p:nvSpPr>
          <p:cNvPr id="3" name="STC-26-slide-id">
            <a:extLst xmlns:a="http://schemas.openxmlformats.org/drawingml/2006/main">
              <a:ext uri="{FF2B5EF4-FFF2-40B4-BE49-F238E27FC236}">
                <a16:creationId xmlns:a16="http://schemas.microsoft.com/office/drawing/2014/main" id="{D71E0EC4-2DC7-41EB-BA0F-AE11D758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56032"/>
            <a:ext cx="8412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STC-112</a:t>
            </a:r>
          </a:p>
        </p:txBody>
      </p:sp>
      <p:sp>
        <p:nvSpPr>
          <p:cNvPr id="4" name="STC-26-headline">
            <a:extLst xmlns:a="http://schemas.openxmlformats.org/drawingml/2006/main">
              <a:ext uri="{FF2B5EF4-FFF2-40B4-BE49-F238E27FC236}">
                <a16:creationId xmlns:a16="http://schemas.microsoft.com/office/drawing/2014/main" id="{08669EE6-F4AC-4C68-A82E-8BDA6EFC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39496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191C"/>
                </a:solidFill>
                <a:latin typeface="Noto Sans CJK KR"/>
                <a:ea typeface="Noto Sans CJK KR"/>
                <a:cs typeface="Noto Sans CJK KR"/>
              </a:rPr>
              <a:t>결론: sleep은 모델 기능이 아니라 검증 가능한 memory economy다</a:t>
            </a:r>
          </a:p>
        </p:txBody>
      </p:sp>
      <p:sp>
        <p:nvSpPr>
          <p:cNvPr id="5" name="STC-26-status-label">
            <a:extLst xmlns:a="http://schemas.openxmlformats.org/drawingml/2006/main">
              <a:ext uri="{FF2B5EF4-FFF2-40B4-BE49-F238E27FC236}">
                <a16:creationId xmlns:a16="http://schemas.microsoft.com/office/drawing/2014/main" id="{3D2F37BD-144B-4229-8044-AB18B9C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704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최종 결론</a:t>
            </a:r>
          </a:p>
        </p:txBody>
      </p:sp>
      <p:sp>
        <p:nvSpPr>
          <p:cNvPr id="6" name="STC-26-status-rule">
            <a:extLst xmlns:a="http://schemas.openxmlformats.org/drawingml/2006/main">
              <a:ext uri="{FF2B5EF4-FFF2-40B4-BE49-F238E27FC236}">
                <a16:creationId xmlns:a16="http://schemas.microsoft.com/office/drawing/2014/main" id="{E6C1A3C0-9A3D-4CB0-B638-8447A850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280160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26-footer-rule">
            <a:extLst xmlns:a="http://schemas.openxmlformats.org/drawingml/2006/main">
              <a:ext uri="{FF2B5EF4-FFF2-40B4-BE49-F238E27FC236}">
                <a16:creationId xmlns:a16="http://schemas.microsoft.com/office/drawing/2014/main" id="{F7D06EB4-8FCC-4B6E-B953-CCBA3FE3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73952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6-source-footer">
            <a:extLst xmlns:a="http://schemas.openxmlformats.org/drawingml/2006/main">
              <a:ext uri="{FF2B5EF4-FFF2-40B4-BE49-F238E27FC236}">
                <a16:creationId xmlns:a16="http://schemas.microsoft.com/office/drawing/2014/main" id="{3B7C6A05-5D46-429D-A92F-277E28B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37960"/>
            <a:ext cx="10012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9616A"/>
                </a:solidFill>
                <a:latin typeface="Noto Sans CJK KR"/>
                <a:ea typeface="Noto Sans CJK KR"/>
                <a:cs typeface="Noto Sans CJK KR"/>
              </a:rPr>
              <a:t>Study synthesis · freeze 2026-08-05</a:t>
            </a:r>
          </a:p>
        </p:txBody>
      </p:sp>
      <p:sp>
        <p:nvSpPr>
          <p:cNvPr id="9" name="STC-26-page-number">
            <a:extLst xmlns:a="http://schemas.openxmlformats.org/drawingml/2006/main">
              <a:ext uri="{FF2B5EF4-FFF2-40B4-BE49-F238E27FC236}">
                <a16:creationId xmlns:a16="http://schemas.microsoft.com/office/drawing/2014/main" id="{1E270B0C-6C6F-4707-B42E-E8F8EB3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6528816"/>
            <a:ext cx="640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59616A"/>
                </a:solidFill>
                <a:latin typeface="Noto Sans Mono CJK KR"/>
                <a:ea typeface="Noto Sans Mono CJK KR"/>
                <a:cs typeface="Noto Sans Mono CJK KR"/>
              </a:rPr>
              <a:t>112</a:t>
            </a:r>
          </a:p>
        </p:txBody>
      </p:sp>
      <p:sp>
        <p:nvSpPr>
          <p:cNvPr id="11" name="STC-26-con-capture">
            <a:extLst xmlns:a="http://schemas.openxmlformats.org/drawingml/2006/main">
              <a:ext uri="{FF2B5EF4-FFF2-40B4-BE49-F238E27FC236}">
                <a16:creationId xmlns:a16="http://schemas.microsoft.com/office/drawing/2014/main" id="{79F04D34-B337-49ED-B681-B22D35F4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44E8A"/>
                </a:solidFill>
                <a:latin typeface="Noto Sans Mono CJK KR"/>
                <a:ea typeface="Noto Sans Mono CJK KR"/>
                <a:cs typeface="Noto Sans Mono CJK KR"/>
              </a:rPr>
              <a:t>PROMISING</a:t>
            </a:r>
          </a:p>
        </p:txBody>
      </p:sp>
      <p:sp>
        <p:nvSpPr>
          <p:cNvPr id="12" name="STC-26-con-transform">
            <a:extLst xmlns:a="http://schemas.openxmlformats.org/drawingml/2006/main">
              <a:ext uri="{FF2B5EF4-FFF2-40B4-BE49-F238E27FC236}">
                <a16:creationId xmlns:a16="http://schemas.microsoft.com/office/drawing/2014/main" id="{558FDE85-8085-482D-A8CD-57D87A4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828800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A442D"/>
                </a:solidFill>
                <a:latin typeface="Noto Sans Mono CJK KR"/>
                <a:ea typeface="Noto Sans Mono CJK KR"/>
                <a:cs typeface="Noto Sans Mono CJK KR"/>
              </a:rPr>
              <a:t>CONDITIONAL</a:t>
            </a:r>
          </a:p>
        </p:txBody>
      </p:sp>
      <p:sp>
        <p:nvSpPr>
          <p:cNvPr id="13" name="STC-26-con-verify">
            <a:extLst xmlns:a="http://schemas.openxmlformats.org/drawingml/2006/main">
              <a:ext uri="{FF2B5EF4-FFF2-40B4-BE49-F238E27FC236}">
                <a16:creationId xmlns:a16="http://schemas.microsoft.com/office/drawing/2014/main" id="{6A5D3291-9293-481E-9023-234B669A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82880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F6B63"/>
                </a:solidFill>
                <a:latin typeface="Noto Sans Mono CJK KR"/>
                <a:ea typeface="Noto Sans Mono CJK KR"/>
                <a:cs typeface="Noto Sans Mono CJK KR"/>
              </a:rPr>
              <a:t>LAW</a:t>
            </a:r>
          </a:p>
        </p:txBody>
      </p:sp>
      <p:sp>
        <p:nvSpPr>
          <p:cNvPr id="14" name="STC-26-con-reuse">
            <a:extLst xmlns:a="http://schemas.openxmlformats.org/drawingml/2006/main">
              <a:ext uri="{FF2B5EF4-FFF2-40B4-BE49-F238E27FC236}">
                <a16:creationId xmlns:a16="http://schemas.microsoft.com/office/drawing/2014/main" id="{420BB473-D30E-45A8-9521-20D50E1E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28800"/>
            <a:ext cx="1965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191C"/>
                </a:solidFill>
                <a:latin typeface="Noto Sans Mono CJK KR"/>
                <a:ea typeface="Noto Sans Mono CJK KR"/>
                <a:cs typeface="Noto Sans Mono CJK KR"/>
              </a:rPr>
              <a:t>INFRA</a:t>
            </a:r>
          </a:p>
        </p:txBody>
      </p:sp>
      <p:sp>
        <p:nvSpPr>
          <p:cNvPr id="15" name="STC-26-con-line">
            <a:extLst xmlns:a="http://schemas.openxmlformats.org/drawingml/2006/main">
              <a:ext uri="{FF2B5EF4-FFF2-40B4-BE49-F238E27FC236}">
                <a16:creationId xmlns:a16="http://schemas.microsoft.com/office/drawing/2014/main" id="{A7E1143B-3917-4B79-A77B-3605BAE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87168"/>
            <a:ext cx="9281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26-con-dot-0">
            <a:extLst xmlns:a="http://schemas.openxmlformats.org/drawingml/2006/main">
              <a:ext uri="{FF2B5EF4-FFF2-40B4-BE49-F238E27FC236}">
                <a16:creationId xmlns:a16="http://schemas.microsoft.com/office/drawing/2014/main" id="{AACD82B0-2F9C-463A-BA8F-AAB17335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E8A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7" name="STC-26-con-dot-1">
            <a:extLst xmlns:a="http://schemas.openxmlformats.org/drawingml/2006/main">
              <a:ext uri="{FF2B5EF4-FFF2-40B4-BE49-F238E27FC236}">
                <a16:creationId xmlns:a16="http://schemas.microsoft.com/office/drawing/2014/main" id="{87F73D95-E4BB-43CC-9CA1-A978F0F9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42D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8" name="STC-26-con-dot-2">
            <a:extLst xmlns:a="http://schemas.openxmlformats.org/drawingml/2006/main">
              <a:ext uri="{FF2B5EF4-FFF2-40B4-BE49-F238E27FC236}">
                <a16:creationId xmlns:a16="http://schemas.microsoft.com/office/drawing/2014/main" id="{1FD92EB5-930F-45DC-A6CE-1E1B8D3F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19" name="STC-26-con-dot-3">
            <a:extLst xmlns:a="http://schemas.openxmlformats.org/drawingml/2006/main">
              <a:ext uri="{FF2B5EF4-FFF2-40B4-BE49-F238E27FC236}">
                <a16:creationId xmlns:a16="http://schemas.microsoft.com/office/drawing/2014/main" id="{449EDF8C-7C78-48D0-9A01-E148348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77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2700">
            <a:solidFill>
              <a:srgbClr val="F6F3EC"/>
            </a:solidFill>
            <a:prstDash val="solid"/>
          </a:ln>
        </p:spPr>
      </p:sp>
      <p:sp>
        <p:nvSpPr>
          <p:cNvPr id="20" name="STC-26-con-statement">
            <a:extLst xmlns:a="http://schemas.openxmlformats.org/drawingml/2006/main">
              <a:ext uri="{FF2B5EF4-FFF2-40B4-BE49-F238E27FC236}">
                <a16:creationId xmlns:a16="http://schemas.microsoft.com/office/drawing/2014/main" id="{876E1A30-CD94-4435-BC18-85ADFBA5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163824"/>
            <a:ext cx="98298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Wake가 exact event를 남기고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Sleep이 candidate를 만들며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Memory fabric이 version을 보유하고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7191C"/>
                </a:solidFill>
                <a:latin typeface="Noto Serif CJK KR"/>
                <a:ea typeface="Noto Serif CJK KR"/>
                <a:cs typeface="Noto Serif CJK KR"/>
              </a:rPr>
              <a:t>Control plane이 publish와 undo를 결정한다</a:t>
            </a:r>
          </a:p>
        </p:txBody>
      </p:sp>
      <p:sp>
        <p:nvSpPr>
          <p:cNvPr id="21" name="STC-26-con-final">
            <a:extLst xmlns:a="http://schemas.openxmlformats.org/drawingml/2006/main">
              <a:ext uri="{FF2B5EF4-FFF2-40B4-BE49-F238E27FC236}">
                <a16:creationId xmlns:a16="http://schemas.microsoft.com/office/drawing/2014/main" id="{38BDEC82-1138-4DFF-9C1E-DC9AF672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175504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3"/>
          </a:solidFill>
          <a:ln xmlns:a="http://schemas.openxmlformats.org/drawingml/2006/main" w="12700">
            <a:solidFill>
              <a:srgbClr val="2F6B63"/>
            </a:solidFill>
            <a:prstDash val="solid"/>
          </a:ln>
        </p:spPr>
      </p:sp>
      <p:sp>
        <p:nvSpPr>
          <p:cNvPr id="22" name="STC-26-con-final-text">
            <a:extLst xmlns:a="http://schemas.openxmlformats.org/drawingml/2006/main">
              <a:ext uri="{FF2B5EF4-FFF2-40B4-BE49-F238E27FC236}">
                <a16:creationId xmlns:a16="http://schemas.microsoft.com/office/drawing/2014/main" id="{409F19E8-2D68-4778-9E37-D296D54B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340096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background external transformation은 이미 실용적</a:t>
            </a:r>
          </a:p>
        </p:txBody>
      </p:sp>
    </p:spTree>
    <p:extLst>
      <p:ext uri="{BB962C8B-B14F-4D97-AF65-F5344CB8AC3E}">
        <p14:creationId xmlns:p14="http://schemas.microsoft.com/office/powerpoint/2010/main" val="191302078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2026-08-04T23:40:27.0630000Z</dcterms:created>
  <dcterms:modified xsi:type="dcterms:W3CDTF">2026-08-04T23:40:27.0630000Z</dcterms:modified>
</coreProperties>
</file>