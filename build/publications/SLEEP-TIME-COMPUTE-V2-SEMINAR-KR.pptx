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baf23a99d443e5" /><Relationship Type="http://schemas.openxmlformats.org/officeDocument/2006/relationships/extended-properties" Target="/docProps/app.xml" Id="R2656b69fceb24679" /><Relationship Type="http://schemas.openxmlformats.org/officeDocument/2006/relationships/officeDocument" Target="/ppt/presentation.xml" Id="Rb369551e38794401" /></Relationships>
</file>

<file path=ppt/presentation.xml><?xml version="1.0" encoding="utf-8"?>
<p:presentation xmlns:p="http://schemas.openxmlformats.org/presentationml/2006/main">
  <p:sldMasterIdLst>
    <p:sldMasterId xmlns:r="http://schemas.openxmlformats.org/officeDocument/2006/relationships" id="2147483648" r:id="R4e948aa03f704c7f"/>
  </p:sldMasterIdLst>
  <p:notesMasterIdLst>
    <p:notesMasterId xmlns:r="http://schemas.openxmlformats.org/officeDocument/2006/relationships" r:id="R9bbe0f91ef664de0"/>
  </p:notesMasterIdLst>
  <p:sldIdLst>
    <p:sldId xmlns:r="http://schemas.openxmlformats.org/officeDocument/2006/relationships" id="256" r:id="Rcba097d207ac424f"/>
    <p:sldId xmlns:r="http://schemas.openxmlformats.org/officeDocument/2006/relationships" id="257" r:id="R2d3036a1baf24b1c"/>
    <p:sldId xmlns:r="http://schemas.openxmlformats.org/officeDocument/2006/relationships" id="258" r:id="R60bd3092c25e40ef"/>
    <p:sldId xmlns:r="http://schemas.openxmlformats.org/officeDocument/2006/relationships" id="259" r:id="R997005a554434127"/>
    <p:sldId xmlns:r="http://schemas.openxmlformats.org/officeDocument/2006/relationships" id="260" r:id="R178628e4ba414a28"/>
    <p:sldId xmlns:r="http://schemas.openxmlformats.org/officeDocument/2006/relationships" id="261" r:id="Rf09dd41a7030407b"/>
    <p:sldId xmlns:r="http://schemas.openxmlformats.org/officeDocument/2006/relationships" id="262" r:id="R88182ee85984483b"/>
    <p:sldId xmlns:r="http://schemas.openxmlformats.org/officeDocument/2006/relationships" id="263" r:id="Rc802f87efb0b43bc"/>
    <p:sldId xmlns:r="http://schemas.openxmlformats.org/officeDocument/2006/relationships" id="264" r:id="R939006d66af144ff"/>
    <p:sldId xmlns:r="http://schemas.openxmlformats.org/officeDocument/2006/relationships" id="265" r:id="Re7d634fec0ee4b52"/>
    <p:sldId xmlns:r="http://schemas.openxmlformats.org/officeDocument/2006/relationships" id="266" r:id="Rb2ee22b28deb4f16"/>
    <p:sldId xmlns:r="http://schemas.openxmlformats.org/officeDocument/2006/relationships" id="267" r:id="Re9e6223ac1a3418a"/>
    <p:sldId xmlns:r="http://schemas.openxmlformats.org/officeDocument/2006/relationships" id="268" r:id="R27a759e2b9964092"/>
    <p:sldId xmlns:r="http://schemas.openxmlformats.org/officeDocument/2006/relationships" id="269" r:id="Re426a2b22d8545db"/>
    <p:sldId xmlns:r="http://schemas.openxmlformats.org/officeDocument/2006/relationships" id="270" r:id="Rfe784b69f36a4245"/>
    <p:sldId xmlns:r="http://schemas.openxmlformats.org/officeDocument/2006/relationships" id="271" r:id="R5a2eea56d975490f"/>
    <p:sldId xmlns:r="http://schemas.openxmlformats.org/officeDocument/2006/relationships" id="272" r:id="R00c54ff71768436c"/>
    <p:sldId xmlns:r="http://schemas.openxmlformats.org/officeDocument/2006/relationships" id="273" r:id="R998d27a48c80491d"/>
    <p:sldId xmlns:r="http://schemas.openxmlformats.org/officeDocument/2006/relationships" id="274" r:id="R68f95314ee924e42"/>
    <p:sldId xmlns:r="http://schemas.openxmlformats.org/officeDocument/2006/relationships" id="275" r:id="R1921b7b3c1cb4421"/>
    <p:sldId xmlns:r="http://schemas.openxmlformats.org/officeDocument/2006/relationships" id="276" r:id="R028ee6db0c034bfa"/>
    <p:sldId xmlns:r="http://schemas.openxmlformats.org/officeDocument/2006/relationships" id="277" r:id="Ree1b7e9485ea4e38"/>
    <p:sldId xmlns:r="http://schemas.openxmlformats.org/officeDocument/2006/relationships" id="278" r:id="Rb5d6941b3d544c8b"/>
    <p:sldId xmlns:r="http://schemas.openxmlformats.org/officeDocument/2006/relationships" id="279" r:id="R84c496b523e4415b"/>
    <p:sldId xmlns:r="http://schemas.openxmlformats.org/officeDocument/2006/relationships" id="280" r:id="R3a4b3e49b1ff405f"/>
    <p:sldId xmlns:r="http://schemas.openxmlformats.org/officeDocument/2006/relationships" id="281" r:id="R0037f91f921e4477"/>
    <p:sldId xmlns:r="http://schemas.openxmlformats.org/officeDocument/2006/relationships" id="282" r:id="Rfef93f2da95a4354"/>
    <p:sldId xmlns:r="http://schemas.openxmlformats.org/officeDocument/2006/relationships" id="283" r:id="R88d631cea6a942e5"/>
    <p:sldId xmlns:r="http://schemas.openxmlformats.org/officeDocument/2006/relationships" id="284" r:id="R4f753919a3da4d83"/>
    <p:sldId xmlns:r="http://schemas.openxmlformats.org/officeDocument/2006/relationships" id="285" r:id="R64a7141a995e493b"/>
    <p:sldId xmlns:r="http://schemas.openxmlformats.org/officeDocument/2006/relationships" id="286" r:id="Rde2359d780594dc9"/>
    <p:sldId xmlns:r="http://schemas.openxmlformats.org/officeDocument/2006/relationships" id="287" r:id="Rd5856733921f42a7"/>
    <p:sldId xmlns:r="http://schemas.openxmlformats.org/officeDocument/2006/relationships" id="288" r:id="R8e6e28d5b9d14702"/>
    <p:sldId xmlns:r="http://schemas.openxmlformats.org/officeDocument/2006/relationships" id="289" r:id="Rf9e2a6f6c3f44514"/>
    <p:sldId xmlns:r="http://schemas.openxmlformats.org/officeDocument/2006/relationships" id="290" r:id="R8aa5d19d54084ea3"/>
    <p:sldId xmlns:r="http://schemas.openxmlformats.org/officeDocument/2006/relationships" id="291" r:id="R1a3ec716fe41406b"/>
    <p:sldId xmlns:r="http://schemas.openxmlformats.org/officeDocument/2006/relationships" id="292" r:id="Rdf4d17f291d0413c"/>
    <p:sldId xmlns:r="http://schemas.openxmlformats.org/officeDocument/2006/relationships" id="293" r:id="R8cf4a1501a7841b3"/>
    <p:sldId xmlns:r="http://schemas.openxmlformats.org/officeDocument/2006/relationships" id="294" r:id="Rbed9c38562784f56"/>
    <p:sldId xmlns:r="http://schemas.openxmlformats.org/officeDocument/2006/relationships" id="295" r:id="R12d7991196a541a7"/>
    <p:sldId xmlns:r="http://schemas.openxmlformats.org/officeDocument/2006/relationships" id="296" r:id="R2e6c87360a95464c"/>
    <p:sldId xmlns:r="http://schemas.openxmlformats.org/officeDocument/2006/relationships" id="297" r:id="R7be21c3918184b71"/>
    <p:sldId xmlns:r="http://schemas.openxmlformats.org/officeDocument/2006/relationships" id="298" r:id="Racbe2ebdb34f4648"/>
    <p:sldId xmlns:r="http://schemas.openxmlformats.org/officeDocument/2006/relationships" id="299" r:id="R8d3df4d9a54a4ffb"/>
    <p:sldId xmlns:r="http://schemas.openxmlformats.org/officeDocument/2006/relationships" id="300" r:id="R57af471be56245ec"/>
    <p:sldId xmlns:r="http://schemas.openxmlformats.org/officeDocument/2006/relationships" id="301" r:id="R01790d0d7fa74083"/>
    <p:sldId xmlns:r="http://schemas.openxmlformats.org/officeDocument/2006/relationships" id="302" r:id="R1aecfa849c82412a"/>
    <p:sldId xmlns:r="http://schemas.openxmlformats.org/officeDocument/2006/relationships" id="303" r:id="R0f4c5c59b6c74842"/>
    <p:sldId xmlns:r="http://schemas.openxmlformats.org/officeDocument/2006/relationships" id="304" r:id="R4a04934d5a8c4d7c"/>
    <p:sldId xmlns:r="http://schemas.openxmlformats.org/officeDocument/2006/relationships" id="305" r:id="Rae1220a43d0d41f3"/>
    <p:sldId xmlns:r="http://schemas.openxmlformats.org/officeDocument/2006/relationships" id="306" r:id="R85e483155bb34755"/>
    <p:sldId xmlns:r="http://schemas.openxmlformats.org/officeDocument/2006/relationships" id="307" r:id="R8f3e04bb13cf490c"/>
    <p:sldId xmlns:r="http://schemas.openxmlformats.org/officeDocument/2006/relationships" id="308" r:id="R5043ac6a39854dd1"/>
    <p:sldId xmlns:r="http://schemas.openxmlformats.org/officeDocument/2006/relationships" id="309" r:id="Rced5caf3977c4c23"/>
    <p:sldId xmlns:r="http://schemas.openxmlformats.org/officeDocument/2006/relationships" id="310" r:id="Rbc897f1045a84f73"/>
    <p:sldId xmlns:r="http://schemas.openxmlformats.org/officeDocument/2006/relationships" id="311" r:id="R35a2dc0d8d2f4c42"/>
    <p:sldId xmlns:r="http://schemas.openxmlformats.org/officeDocument/2006/relationships" id="312" r:id="Rd261ba2311eb4b5a"/>
    <p:sldId xmlns:r="http://schemas.openxmlformats.org/officeDocument/2006/relationships" id="313" r:id="R7aad11be2da849be"/>
    <p:sldId xmlns:r="http://schemas.openxmlformats.org/officeDocument/2006/relationships" id="314" r:id="Rcfa3b13ae8de4738"/>
    <p:sldId xmlns:r="http://schemas.openxmlformats.org/officeDocument/2006/relationships" id="315" r:id="R1e2d984042974095"/>
    <p:sldId xmlns:r="http://schemas.openxmlformats.org/officeDocument/2006/relationships" id="316" r:id="Rfc4b5212759041d7"/>
    <p:sldId xmlns:r="http://schemas.openxmlformats.org/officeDocument/2006/relationships" id="317" r:id="R31ee0d795c2045b8"/>
    <p:sldId xmlns:r="http://schemas.openxmlformats.org/officeDocument/2006/relationships" id="318" r:id="R338af6a2bd7945fc"/>
    <p:sldId xmlns:r="http://schemas.openxmlformats.org/officeDocument/2006/relationships" id="319" r:id="R8643cfa28b5d49d2"/>
    <p:sldId xmlns:r="http://schemas.openxmlformats.org/officeDocument/2006/relationships" id="320" r:id="R02ccf0a610504e39"/>
    <p:sldId xmlns:r="http://schemas.openxmlformats.org/officeDocument/2006/relationships" id="321" r:id="R23c5385365254d57"/>
    <p:sldId xmlns:r="http://schemas.openxmlformats.org/officeDocument/2006/relationships" id="322" r:id="R6de592818dba40c1"/>
    <p:sldId xmlns:r="http://schemas.openxmlformats.org/officeDocument/2006/relationships" id="323" r:id="R368a6a59149544a3"/>
    <p:sldId xmlns:r="http://schemas.openxmlformats.org/officeDocument/2006/relationships" id="324" r:id="R75191b0c05e84000"/>
    <p:sldId xmlns:r="http://schemas.openxmlformats.org/officeDocument/2006/relationships" id="325" r:id="Ra3ba1dcda61c4b28"/>
    <p:sldId xmlns:r="http://schemas.openxmlformats.org/officeDocument/2006/relationships" id="326" r:id="R48115408d879480e"/>
    <p:sldId xmlns:r="http://schemas.openxmlformats.org/officeDocument/2006/relationships" id="327" r:id="Ra7741207ae504559"/>
    <p:sldId xmlns:r="http://schemas.openxmlformats.org/officeDocument/2006/relationships" id="328" r:id="R9bc3db51f8eb4595"/>
    <p:sldId xmlns:r="http://schemas.openxmlformats.org/officeDocument/2006/relationships" id="329" r:id="R7b8e45107f5547d7"/>
    <p:sldId xmlns:r="http://schemas.openxmlformats.org/officeDocument/2006/relationships" id="330" r:id="R54aa0edff6e84d8f"/>
    <p:sldId xmlns:r="http://schemas.openxmlformats.org/officeDocument/2006/relationships" id="331" r:id="R35a2c99ff11345cb"/>
    <p:sldId xmlns:r="http://schemas.openxmlformats.org/officeDocument/2006/relationships" id="332" r:id="R84c75beeb23e4034"/>
    <p:sldId xmlns:r="http://schemas.openxmlformats.org/officeDocument/2006/relationships" id="333" r:id="R0880aa6327494f87"/>
    <p:sldId xmlns:r="http://schemas.openxmlformats.org/officeDocument/2006/relationships" id="334" r:id="R904cb345c85245b2"/>
    <p:sldId xmlns:r="http://schemas.openxmlformats.org/officeDocument/2006/relationships" id="335" r:id="Red1ed2f519f8495f"/>
    <p:sldId xmlns:r="http://schemas.openxmlformats.org/officeDocument/2006/relationships" id="336" r:id="R9c54c9a4c68d4aa5"/>
    <p:sldId xmlns:r="http://schemas.openxmlformats.org/officeDocument/2006/relationships" id="337" r:id="Rbbd242fb86c847d4"/>
    <p:sldId xmlns:r="http://schemas.openxmlformats.org/officeDocument/2006/relationships" id="338" r:id="Rbaf88e043d0f4b1b"/>
    <p:sldId xmlns:r="http://schemas.openxmlformats.org/officeDocument/2006/relationships" id="339" r:id="Reae909f5f6cb47ef"/>
    <p:sldId xmlns:r="http://schemas.openxmlformats.org/officeDocument/2006/relationships" id="340" r:id="Rc4bd2d800b5d443d"/>
    <p:sldId xmlns:r="http://schemas.openxmlformats.org/officeDocument/2006/relationships" id="341" r:id="R54ad9663141d482f"/>
    <p:sldId xmlns:r="http://schemas.openxmlformats.org/officeDocument/2006/relationships" id="342" r:id="R60b7dd4864434d92"/>
    <p:sldId xmlns:r="http://schemas.openxmlformats.org/officeDocument/2006/relationships" id="343" r:id="R8b4edd204fc64218"/>
    <p:sldId xmlns:r="http://schemas.openxmlformats.org/officeDocument/2006/relationships" id="344" r:id="R0b6182190a5c47e4"/>
    <p:sldId xmlns:r="http://schemas.openxmlformats.org/officeDocument/2006/relationships" id="345" r:id="R5e3280fb29ef429e"/>
    <p:sldId xmlns:r="http://schemas.openxmlformats.org/officeDocument/2006/relationships" id="346" r:id="R8f4f2d0159e84aa0"/>
    <p:sldId xmlns:r="http://schemas.openxmlformats.org/officeDocument/2006/relationships" id="347" r:id="R4efadc4356444649"/>
    <p:sldId xmlns:r="http://schemas.openxmlformats.org/officeDocument/2006/relationships" id="348" r:id="Rf579a07263a94746"/>
    <p:sldId xmlns:r="http://schemas.openxmlformats.org/officeDocument/2006/relationships" id="349" r:id="R968f36665af54653"/>
    <p:sldId xmlns:r="http://schemas.openxmlformats.org/officeDocument/2006/relationships" id="350" r:id="Rafb056c5e1a34f94"/>
    <p:sldId xmlns:r="http://schemas.openxmlformats.org/officeDocument/2006/relationships" id="351" r:id="R92dc6166edc94eae"/>
    <p:sldId xmlns:r="http://schemas.openxmlformats.org/officeDocument/2006/relationships" id="352" r:id="Rf628f21965454cdc"/>
    <p:sldId xmlns:r="http://schemas.openxmlformats.org/officeDocument/2006/relationships" id="353" r:id="R93fdda13befa4245"/>
    <p:sldId xmlns:r="http://schemas.openxmlformats.org/officeDocument/2006/relationships" id="354" r:id="Rca5c0d4434614956"/>
    <p:sldId xmlns:r="http://schemas.openxmlformats.org/officeDocument/2006/relationships" id="355" r:id="Rd26d5a97879e4f5f"/>
    <p:sldId xmlns:r="http://schemas.openxmlformats.org/officeDocument/2006/relationships" id="356" r:id="Rc4c4944419bd48af"/>
    <p:sldId xmlns:r="http://schemas.openxmlformats.org/officeDocument/2006/relationships" id="357" r:id="R5d32b9816efa4e3e"/>
    <p:sldId xmlns:r="http://schemas.openxmlformats.org/officeDocument/2006/relationships" id="358" r:id="R78ae01e9c40c4bb3"/>
    <p:sldId xmlns:r="http://schemas.openxmlformats.org/officeDocument/2006/relationships" id="359" r:id="Rb5ebcb57cc7f4655"/>
    <p:sldId xmlns:r="http://schemas.openxmlformats.org/officeDocument/2006/relationships" id="360" r:id="Rcfdbbfa1f86f4e2f"/>
    <p:sldId xmlns:r="http://schemas.openxmlformats.org/officeDocument/2006/relationships" id="361" r:id="R44929bece60746fa"/>
    <p:sldId xmlns:r="http://schemas.openxmlformats.org/officeDocument/2006/relationships" id="362" r:id="R99ded7c7d5a2413b"/>
    <p:sldId xmlns:r="http://schemas.openxmlformats.org/officeDocument/2006/relationships" id="363" r:id="Redc5e6a1efa240ad"/>
    <p:sldId xmlns:r="http://schemas.openxmlformats.org/officeDocument/2006/relationships" id="364" r:id="R2f18776422494002"/>
    <p:sldId xmlns:r="http://schemas.openxmlformats.org/officeDocument/2006/relationships" id="365" r:id="Rbffcfac51ada4eb3"/>
    <p:sldId xmlns:r="http://schemas.openxmlformats.org/officeDocument/2006/relationships" id="366" r:id="R7a841d707d164fa5"/>
    <p:sldId xmlns:r="http://schemas.openxmlformats.org/officeDocument/2006/relationships" id="367" r:id="Rc8b15293671f4613"/>
    <p:sldId xmlns:r="http://schemas.openxmlformats.org/officeDocument/2006/relationships" id="368" r:id="R7a3b37cea16d4359"/>
    <p:sldId xmlns:r="http://schemas.openxmlformats.org/officeDocument/2006/relationships" id="369" r:id="R78522cc78eaa4ccc"/>
    <p:sldId xmlns:r="http://schemas.openxmlformats.org/officeDocument/2006/relationships" id="370" r:id="R5968bca6d6064376"/>
    <p:sldId xmlns:r="http://schemas.openxmlformats.org/officeDocument/2006/relationships" id="371" r:id="R8e6dba840d074c4d"/>
    <p:sldId xmlns:r="http://schemas.openxmlformats.org/officeDocument/2006/relationships" id="372" r:id="Rb58dc97c74cd421c"/>
    <p:sldId xmlns:r="http://schemas.openxmlformats.org/officeDocument/2006/relationships" id="373" r:id="Re2ec4153ce464c4f"/>
    <p:sldId xmlns:r="http://schemas.openxmlformats.org/officeDocument/2006/relationships" id="374" r:id="R20318a9f84444c03"/>
    <p:sldId xmlns:r="http://schemas.openxmlformats.org/officeDocument/2006/relationships" id="375" r:id="Rbd3af1d5062e4a74"/>
    <p:sldId xmlns:r="http://schemas.openxmlformats.org/officeDocument/2006/relationships" id="376" r:id="R30177b8c9d894201"/>
    <p:sldId xmlns:r="http://schemas.openxmlformats.org/officeDocument/2006/relationships" id="377" r:id="Re7dd8262d8894dcd"/>
    <p:sldId xmlns:r="http://schemas.openxmlformats.org/officeDocument/2006/relationships" id="378" r:id="R9152f110d9664f2e"/>
    <p:sldId xmlns:r="http://schemas.openxmlformats.org/officeDocument/2006/relationships" id="379" r:id="R142b74424ea641a1"/>
    <p:sldId xmlns:r="http://schemas.openxmlformats.org/officeDocument/2006/relationships" id="380" r:id="R960441756ce54a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7cda608970d4db5" /><Relationship Type="http://schemas.openxmlformats.org/officeDocument/2006/relationships/slideMaster" Target="/ppt/slideMasters/slideMaster1.xml" Id="R4e948aa03f704c7f" /><Relationship Type="http://schemas.openxmlformats.org/officeDocument/2006/relationships/notesMaster" Target="/ppt/notesMasters/notesMaster1.xml" Id="R9bbe0f91ef664de0" /><Relationship Type="http://schemas.openxmlformats.org/officeDocument/2006/relationships/presProps" Target="/ppt/presProps.xml" Id="Rec7b03c6040f435a" /><Relationship Type="http://schemas.openxmlformats.org/officeDocument/2006/relationships/viewProps" Target="/ppt/viewProps.xml" Id="Re51ce424bd7541c1" /><Relationship Type="http://schemas.openxmlformats.org/officeDocument/2006/relationships/tableStyles" Target="/ppt/tableStyles.xml" Id="R61d27db2c3214281" /><Relationship Type="http://schemas.openxmlformats.org/officeDocument/2006/relationships/slide" Target="/ppt/slides/slide1.xml" Id="Rcba097d207ac424f" /><Relationship Type="http://schemas.openxmlformats.org/officeDocument/2006/relationships/slide" Target="/ppt/slides/slide2.xml" Id="R2d3036a1baf24b1c" /><Relationship Type="http://schemas.openxmlformats.org/officeDocument/2006/relationships/slide" Target="/ppt/slides/slide3.xml" Id="R60bd3092c25e40ef" /><Relationship Type="http://schemas.openxmlformats.org/officeDocument/2006/relationships/slide" Target="/ppt/slides/slide4.xml" Id="R997005a554434127" /><Relationship Type="http://schemas.openxmlformats.org/officeDocument/2006/relationships/slide" Target="/ppt/slides/slide5.xml" Id="R178628e4ba414a28" /><Relationship Type="http://schemas.openxmlformats.org/officeDocument/2006/relationships/slide" Target="/ppt/slides/slide6.xml" Id="Rf09dd41a7030407b" /><Relationship Type="http://schemas.openxmlformats.org/officeDocument/2006/relationships/slide" Target="/ppt/slides/slide7.xml" Id="R88182ee85984483b" /><Relationship Type="http://schemas.openxmlformats.org/officeDocument/2006/relationships/slide" Target="/ppt/slides/slide8.xml" Id="Rc802f87efb0b43bc" /><Relationship Type="http://schemas.openxmlformats.org/officeDocument/2006/relationships/slide" Target="/ppt/slides/slide9.xml" Id="R939006d66af144ff" /><Relationship Type="http://schemas.openxmlformats.org/officeDocument/2006/relationships/slide" Target="/ppt/slides/slide10.xml" Id="Re7d634fec0ee4b52" /><Relationship Type="http://schemas.openxmlformats.org/officeDocument/2006/relationships/slide" Target="/ppt/slides/slide11.xml" Id="Rb2ee22b28deb4f16" /><Relationship Type="http://schemas.openxmlformats.org/officeDocument/2006/relationships/slide" Target="/ppt/slides/slide12.xml" Id="Re9e6223ac1a3418a" /><Relationship Type="http://schemas.openxmlformats.org/officeDocument/2006/relationships/slide" Target="/ppt/slides/slide13.xml" Id="R27a759e2b9964092" /><Relationship Type="http://schemas.openxmlformats.org/officeDocument/2006/relationships/slide" Target="/ppt/slides/slide14.xml" Id="Re426a2b22d8545db" /><Relationship Type="http://schemas.openxmlformats.org/officeDocument/2006/relationships/slide" Target="/ppt/slides/slide15.xml" Id="Rfe784b69f36a4245" /><Relationship Type="http://schemas.openxmlformats.org/officeDocument/2006/relationships/slide" Target="/ppt/slides/slide16.xml" Id="R5a2eea56d975490f" /><Relationship Type="http://schemas.openxmlformats.org/officeDocument/2006/relationships/slide" Target="/ppt/slides/slide17.xml" Id="R00c54ff71768436c" /><Relationship Type="http://schemas.openxmlformats.org/officeDocument/2006/relationships/slide" Target="/ppt/slides/slide18.xml" Id="R998d27a48c80491d" /><Relationship Type="http://schemas.openxmlformats.org/officeDocument/2006/relationships/slide" Target="/ppt/slides/slide19.xml" Id="R68f95314ee924e42" /><Relationship Type="http://schemas.openxmlformats.org/officeDocument/2006/relationships/slide" Target="/ppt/slides/slide20.xml" Id="R1921b7b3c1cb4421" /><Relationship Type="http://schemas.openxmlformats.org/officeDocument/2006/relationships/slide" Target="/ppt/slides/slide21.xml" Id="R028ee6db0c034bfa" /><Relationship Type="http://schemas.openxmlformats.org/officeDocument/2006/relationships/slide" Target="/ppt/slides/slide22.xml" Id="Ree1b7e9485ea4e38" /><Relationship Type="http://schemas.openxmlformats.org/officeDocument/2006/relationships/slide" Target="/ppt/slides/slide23.xml" Id="Rb5d6941b3d544c8b" /><Relationship Type="http://schemas.openxmlformats.org/officeDocument/2006/relationships/slide" Target="/ppt/slides/slide24.xml" Id="R84c496b523e4415b" /><Relationship Type="http://schemas.openxmlformats.org/officeDocument/2006/relationships/slide" Target="/ppt/slides/slide25.xml" Id="R3a4b3e49b1ff405f" /><Relationship Type="http://schemas.openxmlformats.org/officeDocument/2006/relationships/slide" Target="/ppt/slides/slide26.xml" Id="R0037f91f921e4477" /><Relationship Type="http://schemas.openxmlformats.org/officeDocument/2006/relationships/slide" Target="/ppt/slides/slide27.xml" Id="Rfef93f2da95a4354" /><Relationship Type="http://schemas.openxmlformats.org/officeDocument/2006/relationships/slide" Target="/ppt/slides/slide28.xml" Id="R88d631cea6a942e5" /><Relationship Type="http://schemas.openxmlformats.org/officeDocument/2006/relationships/slide" Target="/ppt/slides/slide29.xml" Id="R4f753919a3da4d83" /><Relationship Type="http://schemas.openxmlformats.org/officeDocument/2006/relationships/slide" Target="/ppt/slides/slide30.xml" Id="R64a7141a995e493b" /><Relationship Type="http://schemas.openxmlformats.org/officeDocument/2006/relationships/slide" Target="/ppt/slides/slide31.xml" Id="Rde2359d780594dc9" /><Relationship Type="http://schemas.openxmlformats.org/officeDocument/2006/relationships/slide" Target="/ppt/slides/slide32.xml" Id="Rd5856733921f42a7" /><Relationship Type="http://schemas.openxmlformats.org/officeDocument/2006/relationships/slide" Target="/ppt/slides/slide33.xml" Id="R8e6e28d5b9d14702" /><Relationship Type="http://schemas.openxmlformats.org/officeDocument/2006/relationships/slide" Target="/ppt/slides/slide34.xml" Id="Rf9e2a6f6c3f44514" /><Relationship Type="http://schemas.openxmlformats.org/officeDocument/2006/relationships/slide" Target="/ppt/slides/slide35.xml" Id="R8aa5d19d54084ea3" /><Relationship Type="http://schemas.openxmlformats.org/officeDocument/2006/relationships/slide" Target="/ppt/slides/slide36.xml" Id="R1a3ec716fe41406b" /><Relationship Type="http://schemas.openxmlformats.org/officeDocument/2006/relationships/slide" Target="/ppt/slides/slide37.xml" Id="Rdf4d17f291d0413c" /><Relationship Type="http://schemas.openxmlformats.org/officeDocument/2006/relationships/slide" Target="/ppt/slides/slide38.xml" Id="R8cf4a1501a7841b3" /><Relationship Type="http://schemas.openxmlformats.org/officeDocument/2006/relationships/slide" Target="/ppt/slides/slide39.xml" Id="Rbed9c38562784f56" /><Relationship Type="http://schemas.openxmlformats.org/officeDocument/2006/relationships/slide" Target="/ppt/slides/slide40.xml" Id="R12d7991196a541a7" /><Relationship Type="http://schemas.openxmlformats.org/officeDocument/2006/relationships/slide" Target="/ppt/slides/slide41.xml" Id="R2e6c87360a95464c" /><Relationship Type="http://schemas.openxmlformats.org/officeDocument/2006/relationships/slide" Target="/ppt/slides/slide42.xml" Id="R7be21c3918184b71" /><Relationship Type="http://schemas.openxmlformats.org/officeDocument/2006/relationships/slide" Target="/ppt/slides/slide43.xml" Id="Racbe2ebdb34f4648" /><Relationship Type="http://schemas.openxmlformats.org/officeDocument/2006/relationships/slide" Target="/ppt/slides/slide44.xml" Id="R8d3df4d9a54a4ffb" /><Relationship Type="http://schemas.openxmlformats.org/officeDocument/2006/relationships/slide" Target="/ppt/slides/slide45.xml" Id="R57af471be56245ec" /><Relationship Type="http://schemas.openxmlformats.org/officeDocument/2006/relationships/slide" Target="/ppt/slides/slide46.xml" Id="R01790d0d7fa74083" /><Relationship Type="http://schemas.openxmlformats.org/officeDocument/2006/relationships/slide" Target="/ppt/slides/slide47.xml" Id="R1aecfa849c82412a" /><Relationship Type="http://schemas.openxmlformats.org/officeDocument/2006/relationships/slide" Target="/ppt/slides/slide48.xml" Id="R0f4c5c59b6c74842" /><Relationship Type="http://schemas.openxmlformats.org/officeDocument/2006/relationships/slide" Target="/ppt/slides/slide49.xml" Id="R4a04934d5a8c4d7c" /><Relationship Type="http://schemas.openxmlformats.org/officeDocument/2006/relationships/slide" Target="/ppt/slides/slide50.xml" Id="Rae1220a43d0d41f3" /><Relationship Type="http://schemas.openxmlformats.org/officeDocument/2006/relationships/slide" Target="/ppt/slides/slide51.xml" Id="R85e483155bb34755" /><Relationship Type="http://schemas.openxmlformats.org/officeDocument/2006/relationships/slide" Target="/ppt/slides/slide52.xml" Id="R8f3e04bb13cf490c" /><Relationship Type="http://schemas.openxmlformats.org/officeDocument/2006/relationships/slide" Target="/ppt/slides/slide53.xml" Id="R5043ac6a39854dd1" /><Relationship Type="http://schemas.openxmlformats.org/officeDocument/2006/relationships/slide" Target="/ppt/slides/slide54.xml" Id="Rced5caf3977c4c23" /><Relationship Type="http://schemas.openxmlformats.org/officeDocument/2006/relationships/slide" Target="/ppt/slides/slide55.xml" Id="Rbc897f1045a84f73" /><Relationship Type="http://schemas.openxmlformats.org/officeDocument/2006/relationships/slide" Target="/ppt/slides/slide56.xml" Id="R35a2dc0d8d2f4c42" /><Relationship Type="http://schemas.openxmlformats.org/officeDocument/2006/relationships/slide" Target="/ppt/slides/slide57.xml" Id="Rd261ba2311eb4b5a" /><Relationship Type="http://schemas.openxmlformats.org/officeDocument/2006/relationships/slide" Target="/ppt/slides/slide58.xml" Id="R7aad11be2da849be" /><Relationship Type="http://schemas.openxmlformats.org/officeDocument/2006/relationships/slide" Target="/ppt/slides/slide59.xml" Id="Rcfa3b13ae8de4738" /><Relationship Type="http://schemas.openxmlformats.org/officeDocument/2006/relationships/slide" Target="/ppt/slides/slide60.xml" Id="R1e2d984042974095" /><Relationship Type="http://schemas.openxmlformats.org/officeDocument/2006/relationships/slide" Target="/ppt/slides/slide61.xml" Id="Rfc4b5212759041d7" /><Relationship Type="http://schemas.openxmlformats.org/officeDocument/2006/relationships/slide" Target="/ppt/slides/slide62.xml" Id="R31ee0d795c2045b8" /><Relationship Type="http://schemas.openxmlformats.org/officeDocument/2006/relationships/slide" Target="/ppt/slides/slide63.xml" Id="R338af6a2bd7945fc" /><Relationship Type="http://schemas.openxmlformats.org/officeDocument/2006/relationships/slide" Target="/ppt/slides/slide64.xml" Id="R8643cfa28b5d49d2" /><Relationship Type="http://schemas.openxmlformats.org/officeDocument/2006/relationships/slide" Target="/ppt/slides/slide65.xml" Id="R02ccf0a610504e39" /><Relationship Type="http://schemas.openxmlformats.org/officeDocument/2006/relationships/slide" Target="/ppt/slides/slide66.xml" Id="R23c5385365254d57" /><Relationship Type="http://schemas.openxmlformats.org/officeDocument/2006/relationships/slide" Target="/ppt/slides/slide67.xml" Id="R6de592818dba40c1" /><Relationship Type="http://schemas.openxmlformats.org/officeDocument/2006/relationships/slide" Target="/ppt/slides/slide68.xml" Id="R368a6a59149544a3" /><Relationship Type="http://schemas.openxmlformats.org/officeDocument/2006/relationships/slide" Target="/ppt/slides/slide69.xml" Id="R75191b0c05e84000" /><Relationship Type="http://schemas.openxmlformats.org/officeDocument/2006/relationships/slide" Target="/ppt/slides/slide70.xml" Id="Ra3ba1dcda61c4b28" /><Relationship Type="http://schemas.openxmlformats.org/officeDocument/2006/relationships/slide" Target="/ppt/slides/slide71.xml" Id="R48115408d879480e" /><Relationship Type="http://schemas.openxmlformats.org/officeDocument/2006/relationships/slide" Target="/ppt/slides/slide72.xml" Id="Ra7741207ae504559" /><Relationship Type="http://schemas.openxmlformats.org/officeDocument/2006/relationships/slide" Target="/ppt/slides/slide73.xml" Id="R9bc3db51f8eb4595" /><Relationship Type="http://schemas.openxmlformats.org/officeDocument/2006/relationships/slide" Target="/ppt/slides/slide74.xml" Id="R7b8e45107f5547d7" /><Relationship Type="http://schemas.openxmlformats.org/officeDocument/2006/relationships/slide" Target="/ppt/slides/slide75.xml" Id="R54aa0edff6e84d8f" /><Relationship Type="http://schemas.openxmlformats.org/officeDocument/2006/relationships/slide" Target="/ppt/slides/slide76.xml" Id="R35a2c99ff11345cb" /><Relationship Type="http://schemas.openxmlformats.org/officeDocument/2006/relationships/slide" Target="/ppt/slides/slide77.xml" Id="R84c75beeb23e4034" /><Relationship Type="http://schemas.openxmlformats.org/officeDocument/2006/relationships/slide" Target="/ppt/slides/slide78.xml" Id="R0880aa6327494f87" /><Relationship Type="http://schemas.openxmlformats.org/officeDocument/2006/relationships/slide" Target="/ppt/slides/slide79.xml" Id="R904cb345c85245b2" /><Relationship Type="http://schemas.openxmlformats.org/officeDocument/2006/relationships/slide" Target="/ppt/slides/slide80.xml" Id="Red1ed2f519f8495f" /><Relationship Type="http://schemas.openxmlformats.org/officeDocument/2006/relationships/slide" Target="/ppt/slides/slide81.xml" Id="R9c54c9a4c68d4aa5" /><Relationship Type="http://schemas.openxmlformats.org/officeDocument/2006/relationships/slide" Target="/ppt/slides/slide82.xml" Id="Rbbd242fb86c847d4" /><Relationship Type="http://schemas.openxmlformats.org/officeDocument/2006/relationships/slide" Target="/ppt/slides/slide83.xml" Id="Rbaf88e043d0f4b1b" /><Relationship Type="http://schemas.openxmlformats.org/officeDocument/2006/relationships/slide" Target="/ppt/slides/slide84.xml" Id="Reae909f5f6cb47ef" /><Relationship Type="http://schemas.openxmlformats.org/officeDocument/2006/relationships/slide" Target="/ppt/slides/slide85.xml" Id="Rc4bd2d800b5d443d" /><Relationship Type="http://schemas.openxmlformats.org/officeDocument/2006/relationships/slide" Target="/ppt/slides/slide86.xml" Id="R54ad9663141d482f" /><Relationship Type="http://schemas.openxmlformats.org/officeDocument/2006/relationships/slide" Target="/ppt/slides/slide87.xml" Id="R60b7dd4864434d92" /><Relationship Type="http://schemas.openxmlformats.org/officeDocument/2006/relationships/slide" Target="/ppt/slides/slide88.xml" Id="R8b4edd204fc64218" /><Relationship Type="http://schemas.openxmlformats.org/officeDocument/2006/relationships/slide" Target="/ppt/slides/slide89.xml" Id="R0b6182190a5c47e4" /><Relationship Type="http://schemas.openxmlformats.org/officeDocument/2006/relationships/slide" Target="/ppt/slides/slide90.xml" Id="R5e3280fb29ef429e" /><Relationship Type="http://schemas.openxmlformats.org/officeDocument/2006/relationships/slide" Target="/ppt/slides/slide91.xml" Id="R8f4f2d0159e84aa0" /><Relationship Type="http://schemas.openxmlformats.org/officeDocument/2006/relationships/slide" Target="/ppt/slides/slide92.xml" Id="R4efadc4356444649" /><Relationship Type="http://schemas.openxmlformats.org/officeDocument/2006/relationships/slide" Target="/ppt/slides/slide93.xml" Id="Rf579a07263a94746" /><Relationship Type="http://schemas.openxmlformats.org/officeDocument/2006/relationships/slide" Target="/ppt/slides/slide94.xml" Id="R968f36665af54653" /><Relationship Type="http://schemas.openxmlformats.org/officeDocument/2006/relationships/slide" Target="/ppt/slides/slide95.xml" Id="Rafb056c5e1a34f94" /><Relationship Type="http://schemas.openxmlformats.org/officeDocument/2006/relationships/slide" Target="/ppt/slides/slide96.xml" Id="R92dc6166edc94eae" /><Relationship Type="http://schemas.openxmlformats.org/officeDocument/2006/relationships/slide" Target="/ppt/slides/slide97.xml" Id="Rf628f21965454cdc" /><Relationship Type="http://schemas.openxmlformats.org/officeDocument/2006/relationships/slide" Target="/ppt/slides/slide98.xml" Id="R93fdda13befa4245" /><Relationship Type="http://schemas.openxmlformats.org/officeDocument/2006/relationships/slide" Target="/ppt/slides/slide99.xml" Id="Rca5c0d4434614956" /><Relationship Type="http://schemas.openxmlformats.org/officeDocument/2006/relationships/slide" Target="/ppt/slides/slide100.xml" Id="Rd26d5a97879e4f5f" /><Relationship Type="http://schemas.openxmlformats.org/officeDocument/2006/relationships/slide" Target="/ppt/slides/slide101.xml" Id="Rc4c4944419bd48af" /><Relationship Type="http://schemas.openxmlformats.org/officeDocument/2006/relationships/slide" Target="/ppt/slides/slide102.xml" Id="R5d32b9816efa4e3e" /><Relationship Type="http://schemas.openxmlformats.org/officeDocument/2006/relationships/slide" Target="/ppt/slides/slide103.xml" Id="R78ae01e9c40c4bb3" /><Relationship Type="http://schemas.openxmlformats.org/officeDocument/2006/relationships/slide" Target="/ppt/slides/slide104.xml" Id="Rb5ebcb57cc7f4655" /><Relationship Type="http://schemas.openxmlformats.org/officeDocument/2006/relationships/slide" Target="/ppt/slides/slide105.xml" Id="Rcfdbbfa1f86f4e2f" /><Relationship Type="http://schemas.openxmlformats.org/officeDocument/2006/relationships/slide" Target="/ppt/slides/slide106.xml" Id="R44929bece60746fa" /><Relationship Type="http://schemas.openxmlformats.org/officeDocument/2006/relationships/slide" Target="/ppt/slides/slide107.xml" Id="R99ded7c7d5a2413b" /><Relationship Type="http://schemas.openxmlformats.org/officeDocument/2006/relationships/slide" Target="/ppt/slides/slide108.xml" Id="Redc5e6a1efa240ad" /><Relationship Type="http://schemas.openxmlformats.org/officeDocument/2006/relationships/slide" Target="/ppt/slides/slide109.xml" Id="R2f18776422494002" /><Relationship Type="http://schemas.openxmlformats.org/officeDocument/2006/relationships/slide" Target="/ppt/slides/slide110.xml" Id="Rbffcfac51ada4eb3" /><Relationship Type="http://schemas.openxmlformats.org/officeDocument/2006/relationships/slide" Target="/ppt/slides/slide111.xml" Id="R7a841d707d164fa5" /><Relationship Type="http://schemas.openxmlformats.org/officeDocument/2006/relationships/slide" Target="/ppt/slides/slide112.xml" Id="Rc8b15293671f4613" /><Relationship Type="http://schemas.openxmlformats.org/officeDocument/2006/relationships/slide" Target="/ppt/slides/slide113.xml" Id="R7a3b37cea16d4359" /><Relationship Type="http://schemas.openxmlformats.org/officeDocument/2006/relationships/slide" Target="/ppt/slides/slide114.xml" Id="R78522cc78eaa4ccc" /><Relationship Type="http://schemas.openxmlformats.org/officeDocument/2006/relationships/slide" Target="/ppt/slides/slide115.xml" Id="R5968bca6d6064376" /><Relationship Type="http://schemas.openxmlformats.org/officeDocument/2006/relationships/slide" Target="/ppt/slides/slide116.xml" Id="R8e6dba840d074c4d" /><Relationship Type="http://schemas.openxmlformats.org/officeDocument/2006/relationships/slide" Target="/ppt/slides/slide117.xml" Id="Rb58dc97c74cd421c" /><Relationship Type="http://schemas.openxmlformats.org/officeDocument/2006/relationships/slide" Target="/ppt/slides/slide118.xml" Id="Re2ec4153ce464c4f" /><Relationship Type="http://schemas.openxmlformats.org/officeDocument/2006/relationships/slide" Target="/ppt/slides/slide119.xml" Id="R20318a9f84444c03" /><Relationship Type="http://schemas.openxmlformats.org/officeDocument/2006/relationships/slide" Target="/ppt/slides/slide120.xml" Id="Rbd3af1d5062e4a74" /><Relationship Type="http://schemas.openxmlformats.org/officeDocument/2006/relationships/slide" Target="/ppt/slides/slide121.xml" Id="R30177b8c9d894201" /><Relationship Type="http://schemas.openxmlformats.org/officeDocument/2006/relationships/slide" Target="/ppt/slides/slide122.xml" Id="Re7dd8262d8894dcd" /><Relationship Type="http://schemas.openxmlformats.org/officeDocument/2006/relationships/slide" Target="/ppt/slides/slide123.xml" Id="R9152f110d9664f2e" /><Relationship Type="http://schemas.openxmlformats.org/officeDocument/2006/relationships/slide" Target="/ppt/slides/slide124.xml" Id="R142b74424ea641a1" /><Relationship Type="http://schemas.openxmlformats.org/officeDocument/2006/relationships/slide" Target="/ppt/slides/slide125.xml" Id="R960441756ce54a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bcb3a859eb48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fb2fb7ddb44d06" /><Relationship Type="http://schemas.openxmlformats.org/officeDocument/2006/relationships/notesMaster" Target="/ppt/notesMasters/notesMaster1.xml" Id="R5b844f196a2446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bb00e049934279" /><Relationship Type="http://schemas.openxmlformats.org/officeDocument/2006/relationships/notesMaster" Target="/ppt/notesMasters/notesMaster1.xml" Id="R5d43bde93f054b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b22ff24ee04de1" /><Relationship Type="http://schemas.openxmlformats.org/officeDocument/2006/relationships/notesMaster" Target="/ppt/notesMasters/notesMaster1.xml" Id="R794776d7f90d40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cd7aa930814fbd" /><Relationship Type="http://schemas.openxmlformats.org/officeDocument/2006/relationships/notesMaster" Target="/ppt/notesMasters/notesMaster1.xml" Id="Ree857c853b8444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0b9730a1c547ed" /><Relationship Type="http://schemas.openxmlformats.org/officeDocument/2006/relationships/notesMaster" Target="/ppt/notesMasters/notesMaster1.xml" Id="R2b4ead3b89494d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eaa26017fd4c75" /><Relationship Type="http://schemas.openxmlformats.org/officeDocument/2006/relationships/notesMaster" Target="/ppt/notesMasters/notesMaster1.xml" Id="Rdfd44d32346340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33055d7ef448a8" /><Relationship Type="http://schemas.openxmlformats.org/officeDocument/2006/relationships/notesMaster" Target="/ppt/notesMasters/notesMaster1.xml" Id="Rc9960839b20b4e4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8ac31f7b954bc2" /><Relationship Type="http://schemas.openxmlformats.org/officeDocument/2006/relationships/notesMaster" Target="/ppt/notesMasters/notesMaster1.xml" Id="Re44f31418ded49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7a108ca4864bbf" /><Relationship Type="http://schemas.openxmlformats.org/officeDocument/2006/relationships/notesMaster" Target="/ppt/notesMasters/notesMaster1.xml" Id="Rb2063aab49b341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4767648644c4dd8" /><Relationship Type="http://schemas.openxmlformats.org/officeDocument/2006/relationships/notesMaster" Target="/ppt/notesMasters/notesMaster1.xml" Id="R40d03e34ce5543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b1e6e66bbbf4ed8" /><Relationship Type="http://schemas.openxmlformats.org/officeDocument/2006/relationships/notesMaster" Target="/ppt/notesMasters/notesMaster1.xml" Id="R75f38e9753264c9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e53c76ef2414f2e" /><Relationship Type="http://schemas.openxmlformats.org/officeDocument/2006/relationships/notesMaster" Target="/ppt/notesMasters/notesMaster1.xml" Id="Reca62033962541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91e490d40ab4b0e" /><Relationship Type="http://schemas.openxmlformats.org/officeDocument/2006/relationships/notesMaster" Target="/ppt/notesMasters/notesMaster1.xml" Id="R8ae3ebf48a67453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f682cf0614243c8" /><Relationship Type="http://schemas.openxmlformats.org/officeDocument/2006/relationships/notesMaster" Target="/ppt/notesMasters/notesMaster1.xml" Id="R487e67bf04384c2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bda37e32f5948df" /><Relationship Type="http://schemas.openxmlformats.org/officeDocument/2006/relationships/notesMaster" Target="/ppt/notesMasters/notesMaster1.xml" Id="R6f3046f25e4b4ce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61b440474db40c7" /><Relationship Type="http://schemas.openxmlformats.org/officeDocument/2006/relationships/notesMaster" Target="/ppt/notesMasters/notesMaster1.xml" Id="R83cf4b7d70ea4de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0d26f49567d4dfe" /><Relationship Type="http://schemas.openxmlformats.org/officeDocument/2006/relationships/notesMaster" Target="/ppt/notesMasters/notesMaster1.xml" Id="R4be3e8672f73489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03e49df66aa4105" /><Relationship Type="http://schemas.openxmlformats.org/officeDocument/2006/relationships/notesMaster" Target="/ppt/notesMasters/notesMaster1.xml" Id="Rcc96afe69c224fe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7919bc130b54df2" /><Relationship Type="http://schemas.openxmlformats.org/officeDocument/2006/relationships/notesMaster" Target="/ppt/notesMasters/notesMaster1.xml" Id="R04e540e1a4044fb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6506ae0effc4ad0" /><Relationship Type="http://schemas.openxmlformats.org/officeDocument/2006/relationships/notesMaster" Target="/ppt/notesMasters/notesMaster1.xml" Id="R7bdb8a25a43745c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3160d8bb8f34785" /><Relationship Type="http://schemas.openxmlformats.org/officeDocument/2006/relationships/notesMaster" Target="/ppt/notesMasters/notesMaster1.xml" Id="R8444ac9224c74e4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5360b20ab6846fc" /><Relationship Type="http://schemas.openxmlformats.org/officeDocument/2006/relationships/notesMaster" Target="/ppt/notesMasters/notesMaster1.xml" Id="Ra55385eefd5044a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13b5d89710b4f6e" /><Relationship Type="http://schemas.openxmlformats.org/officeDocument/2006/relationships/notesMaster" Target="/ppt/notesMasters/notesMaster1.xml" Id="R51cc11c136d74d9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516952fe2fe4a59" /><Relationship Type="http://schemas.openxmlformats.org/officeDocument/2006/relationships/notesMaster" Target="/ppt/notesMasters/notesMaster1.xml" Id="Rb1b22d4ddde346e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192928643794c50" /><Relationship Type="http://schemas.openxmlformats.org/officeDocument/2006/relationships/notesMaster" Target="/ppt/notesMasters/notesMaster1.xml" Id="R28c28f16baf8403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1fcc37ab8bf409f" /><Relationship Type="http://schemas.openxmlformats.org/officeDocument/2006/relationships/notesMaster" Target="/ppt/notesMasters/notesMaster1.xml" Id="R64ff33b7dba7411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52ab106405a4930" /><Relationship Type="http://schemas.openxmlformats.org/officeDocument/2006/relationships/notesMaster" Target="/ppt/notesMasters/notesMaster1.xml" Id="R5c5a4d7a6672456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988ff49023d4936" /><Relationship Type="http://schemas.openxmlformats.org/officeDocument/2006/relationships/notesMaster" Target="/ppt/notesMasters/notesMaster1.xml" Id="R5700efe138a7407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57279c149fb4ab8" /><Relationship Type="http://schemas.openxmlformats.org/officeDocument/2006/relationships/notesMaster" Target="/ppt/notesMasters/notesMaster1.xml" Id="Rbf3555f08ff3490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d32b2761942470a" /><Relationship Type="http://schemas.openxmlformats.org/officeDocument/2006/relationships/notesMaster" Target="/ppt/notesMasters/notesMaster1.xml" Id="R9881f78300c3463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4ada0609a9b46da" /><Relationship Type="http://schemas.openxmlformats.org/officeDocument/2006/relationships/notesMaster" Target="/ppt/notesMasters/notesMaster1.xml" Id="R7a8f289c0b31419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d067844d028482f" /><Relationship Type="http://schemas.openxmlformats.org/officeDocument/2006/relationships/notesMaster" Target="/ppt/notesMasters/notesMaster1.xml" Id="R7f42ebb86cf243e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6911515498b4825" /><Relationship Type="http://schemas.openxmlformats.org/officeDocument/2006/relationships/notesMaster" Target="/ppt/notesMasters/notesMaster1.xml" Id="R2432d52ce10d42d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7d2fe07c03e4299" /><Relationship Type="http://schemas.openxmlformats.org/officeDocument/2006/relationships/notesMaster" Target="/ppt/notesMasters/notesMaster1.xml" Id="R8c7bfaf6de9346d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c385d7d6af64f78" /><Relationship Type="http://schemas.openxmlformats.org/officeDocument/2006/relationships/notesMaster" Target="/ppt/notesMasters/notesMaster1.xml" Id="R1e8d9995182440c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5f49af552004f94" /><Relationship Type="http://schemas.openxmlformats.org/officeDocument/2006/relationships/notesMaster" Target="/ppt/notesMasters/notesMaster1.xml" Id="R088f1922c830499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505a90315f84379" /><Relationship Type="http://schemas.openxmlformats.org/officeDocument/2006/relationships/notesMaster" Target="/ppt/notesMasters/notesMaster1.xml" Id="R2ab430bd1eae4d1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6fd3713507e4afe" /><Relationship Type="http://schemas.openxmlformats.org/officeDocument/2006/relationships/notesMaster" Target="/ppt/notesMasters/notesMaster1.xml" Id="R137766d3ae5c4f6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e33a51c0bed4639" /><Relationship Type="http://schemas.openxmlformats.org/officeDocument/2006/relationships/notesMaster" Target="/ppt/notesMasters/notesMaster1.xml" Id="R24994779f6d5467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2d20cc4c9314a05" /><Relationship Type="http://schemas.openxmlformats.org/officeDocument/2006/relationships/notesMaster" Target="/ppt/notesMasters/notesMaster1.xml" Id="R1b85739c68ca4ad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914d67693a44dc7" /><Relationship Type="http://schemas.openxmlformats.org/officeDocument/2006/relationships/notesMaster" Target="/ppt/notesMasters/notesMaster1.xml" Id="R2c6288889a894a8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22d44d68a1b4c03" /><Relationship Type="http://schemas.openxmlformats.org/officeDocument/2006/relationships/notesMaster" Target="/ppt/notesMasters/notesMaster1.xml" Id="Rbe4603b2cb7449d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beef592119c4516" /><Relationship Type="http://schemas.openxmlformats.org/officeDocument/2006/relationships/notesMaster" Target="/ppt/notesMasters/notesMaster1.xml" Id="R995268b86464475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eed708611c4445d" /><Relationship Type="http://schemas.openxmlformats.org/officeDocument/2006/relationships/notesMaster" Target="/ppt/notesMasters/notesMaster1.xml" Id="R87c84f6a52d2450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3cf18fcff904e34" /><Relationship Type="http://schemas.openxmlformats.org/officeDocument/2006/relationships/notesMaster" Target="/ppt/notesMasters/notesMaster1.xml" Id="R1344a452163347b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dc6b48b41064e4e" /><Relationship Type="http://schemas.openxmlformats.org/officeDocument/2006/relationships/notesMaster" Target="/ppt/notesMasters/notesMaster1.xml" Id="R99f1d74dab82481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ab5493621304178" /><Relationship Type="http://schemas.openxmlformats.org/officeDocument/2006/relationships/notesMaster" Target="/ppt/notesMasters/notesMaster1.xml" Id="Reaa6f6c2737b4f7d"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40a9363973f4b48" /><Relationship Type="http://schemas.openxmlformats.org/officeDocument/2006/relationships/notesMaster" Target="/ppt/notesMasters/notesMaster1.xml" Id="Ra95ecc96c81247d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bf75797ec524c33" /><Relationship Type="http://schemas.openxmlformats.org/officeDocument/2006/relationships/notesMaster" Target="/ppt/notesMasters/notesMaster1.xml" Id="R55dc82a2dbf1463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2d369e171b64a8b" /><Relationship Type="http://schemas.openxmlformats.org/officeDocument/2006/relationships/notesMaster" Target="/ppt/notesMasters/notesMaster1.xml" Id="R8664a241cf5a4b8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0e85e91ecdc4321" /><Relationship Type="http://schemas.openxmlformats.org/officeDocument/2006/relationships/notesMaster" Target="/ppt/notesMasters/notesMaster1.xml" Id="Rfbc80dc4aec84bd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28b891462d0473d" /><Relationship Type="http://schemas.openxmlformats.org/officeDocument/2006/relationships/notesMaster" Target="/ppt/notesMasters/notesMaster1.xml" Id="R792e510a74b449f9"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3647d17ad6b404b" /><Relationship Type="http://schemas.openxmlformats.org/officeDocument/2006/relationships/notesMaster" Target="/ppt/notesMasters/notesMaster1.xml" Id="R28ea76774eda4b8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46e090888e14656" /><Relationship Type="http://schemas.openxmlformats.org/officeDocument/2006/relationships/notesMaster" Target="/ppt/notesMasters/notesMaster1.xml" Id="R8d7f7ad718624feb"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1a1af3ef27be4435" /><Relationship Type="http://schemas.openxmlformats.org/officeDocument/2006/relationships/notesMaster" Target="/ppt/notesMasters/notesMaster1.xml" Id="R283a635ed8ac4cf6"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191097a415d4e3f" /><Relationship Type="http://schemas.openxmlformats.org/officeDocument/2006/relationships/notesMaster" Target="/ppt/notesMasters/notesMaster1.xml" Id="Rc7d9bc1f05d74733"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15fa0159a6e4137" /><Relationship Type="http://schemas.openxmlformats.org/officeDocument/2006/relationships/notesMaster" Target="/ppt/notesMasters/notesMaster1.xml" Id="R06c788f3c8a84c0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ea7d76db6de43c3" /><Relationship Type="http://schemas.openxmlformats.org/officeDocument/2006/relationships/notesMaster" Target="/ppt/notesMasters/notesMaster1.xml" Id="R772fcfbdd8d248fa"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59fdb00e9d04cd8" /><Relationship Type="http://schemas.openxmlformats.org/officeDocument/2006/relationships/notesMaster" Target="/ppt/notesMasters/notesMaster1.xml" Id="Rab81858c168048d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801c45ebb384b9c" /><Relationship Type="http://schemas.openxmlformats.org/officeDocument/2006/relationships/notesMaster" Target="/ppt/notesMasters/notesMaster1.xml" Id="R7b402e9c340948a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57f6c2bad56f44b9" /><Relationship Type="http://schemas.openxmlformats.org/officeDocument/2006/relationships/notesMaster" Target="/ppt/notesMasters/notesMaster1.xml" Id="R24772e072bb04f7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1a99ab8ee1684f22" /><Relationship Type="http://schemas.openxmlformats.org/officeDocument/2006/relationships/notesMaster" Target="/ppt/notesMasters/notesMaster1.xml" Id="R51891de5675c4700"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442333c61dc34062" /><Relationship Type="http://schemas.openxmlformats.org/officeDocument/2006/relationships/notesMaster" Target="/ppt/notesMasters/notesMaster1.xml" Id="R4647451b93004bc2"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51e58497010c4f4e" /><Relationship Type="http://schemas.openxmlformats.org/officeDocument/2006/relationships/notesMaster" Target="/ppt/notesMasters/notesMaster1.xml" Id="Rcae7562a030e4c59"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4e25a215c32e4fa3" /><Relationship Type="http://schemas.openxmlformats.org/officeDocument/2006/relationships/notesMaster" Target="/ppt/notesMasters/notesMaster1.xml" Id="R52fbc94f20fa43a2"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90f20c5cf3fe4d41" /><Relationship Type="http://schemas.openxmlformats.org/officeDocument/2006/relationships/notesMaster" Target="/ppt/notesMasters/notesMaster1.xml" Id="Rd1f409db16874084"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7d71dd2560374df8" /><Relationship Type="http://schemas.openxmlformats.org/officeDocument/2006/relationships/notesMaster" Target="/ppt/notesMasters/notesMaster1.xml" Id="R699afe012b71427a"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352af650081e41f2" /><Relationship Type="http://schemas.openxmlformats.org/officeDocument/2006/relationships/notesMaster" Target="/ppt/notesMasters/notesMaster1.xml" Id="Re2b8cc27772f4656"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0c3869eca8d64fca" /><Relationship Type="http://schemas.openxmlformats.org/officeDocument/2006/relationships/notesMaster" Target="/ppt/notesMasters/notesMaster1.xml" Id="Ra743c20c62b643cc"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a96f491802184bc0" /><Relationship Type="http://schemas.openxmlformats.org/officeDocument/2006/relationships/notesMaster" Target="/ppt/notesMasters/notesMaster1.xml" Id="Rab9e42209d154cb9"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b704eee43ae47f3" /><Relationship Type="http://schemas.openxmlformats.org/officeDocument/2006/relationships/notesMaster" Target="/ppt/notesMasters/notesMaster1.xml" Id="R9630f955f23144ec"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d42e3f5601724439" /><Relationship Type="http://schemas.openxmlformats.org/officeDocument/2006/relationships/notesMaster" Target="/ppt/notesMasters/notesMaster1.xml" Id="Ra0322c06abfe4797"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b0d7d90464644e14" /><Relationship Type="http://schemas.openxmlformats.org/officeDocument/2006/relationships/notesMaster" Target="/ppt/notesMasters/notesMaster1.xml" Id="Rf55a701943b94ca7"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b1a2ffd3de3c4075" /><Relationship Type="http://schemas.openxmlformats.org/officeDocument/2006/relationships/notesMaster" Target="/ppt/notesMasters/notesMaster1.xml" Id="Rb1b7f21cfc3a48e1"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de8cd0fdc82d42ba" /><Relationship Type="http://schemas.openxmlformats.org/officeDocument/2006/relationships/notesMaster" Target="/ppt/notesMasters/notesMaster1.xml" Id="R686c7b955c4f4b60"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d2ea26dbbb9340c5" /><Relationship Type="http://schemas.openxmlformats.org/officeDocument/2006/relationships/notesMaster" Target="/ppt/notesMasters/notesMaster1.xml" Id="R6812ae1f557d49b5"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af6a8b700d6e4aea" /><Relationship Type="http://schemas.openxmlformats.org/officeDocument/2006/relationships/notesMaster" Target="/ppt/notesMasters/notesMaster1.xml" Id="R70db691951fd4108"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d874251596814404" /><Relationship Type="http://schemas.openxmlformats.org/officeDocument/2006/relationships/notesMaster" Target="/ppt/notesMasters/notesMaster1.xml" Id="Rdcc8a38839f847da"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e04ee7fbdcce4902" /><Relationship Type="http://schemas.openxmlformats.org/officeDocument/2006/relationships/notesMaster" Target="/ppt/notesMasters/notesMaster1.xml" Id="R6cb44a11a6e74bb5"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ac8ac75c7a0f4dd8" /><Relationship Type="http://schemas.openxmlformats.org/officeDocument/2006/relationships/notesMaster" Target="/ppt/notesMasters/notesMaster1.xml" Id="R8eb1cbc8d92e4db7"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16cc780746bf41e5" /><Relationship Type="http://schemas.openxmlformats.org/officeDocument/2006/relationships/notesMaster" Target="/ppt/notesMasters/notesMaster1.xml" Id="R46a8a1c9c8c540d6"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d85fe35b3c7940e8" /><Relationship Type="http://schemas.openxmlformats.org/officeDocument/2006/relationships/notesMaster" Target="/ppt/notesMasters/notesMaster1.xml" Id="R757e56a3b85442b1"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b2b5e579cc8b495e" /><Relationship Type="http://schemas.openxmlformats.org/officeDocument/2006/relationships/notesMaster" Target="/ppt/notesMasters/notesMaster1.xml" Id="Rce420803b19c4ff2"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1b1025e3f52147ae" /><Relationship Type="http://schemas.openxmlformats.org/officeDocument/2006/relationships/notesMaster" Target="/ppt/notesMasters/notesMaster1.xml" Id="R675a63d11d804d0a"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996211acbd144e52" /><Relationship Type="http://schemas.openxmlformats.org/officeDocument/2006/relationships/notesMaster" Target="/ppt/notesMasters/notesMaster1.xml" Id="R9f40d559c7e6425e"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923f547cdf124c0e" /><Relationship Type="http://schemas.openxmlformats.org/officeDocument/2006/relationships/notesMaster" Target="/ppt/notesMasters/notesMaster1.xml" Id="R4af33ffdc932423d"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4dbf0db26f604081" /><Relationship Type="http://schemas.openxmlformats.org/officeDocument/2006/relationships/notesMaster" Target="/ppt/notesMasters/notesMaster1.xml" Id="R9c83a2d7de07484b"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85d758dab3eb4645" /><Relationship Type="http://schemas.openxmlformats.org/officeDocument/2006/relationships/notesMaster" Target="/ppt/notesMasters/notesMaster1.xml" Id="R674d0ab3767f4d7d"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986d2fc2a183447c" /><Relationship Type="http://schemas.openxmlformats.org/officeDocument/2006/relationships/notesMaster" Target="/ppt/notesMasters/notesMaster1.xml" Id="R3cbf1fa8c79d41ea"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ecbe662ce0e54803" /><Relationship Type="http://schemas.openxmlformats.org/officeDocument/2006/relationships/notesMaster" Target="/ppt/notesMasters/notesMaster1.xml" Id="R872d0743b2f3418c"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e184a24f0c284df6" /><Relationship Type="http://schemas.openxmlformats.org/officeDocument/2006/relationships/notesMaster" Target="/ppt/notesMasters/notesMaster1.xml" Id="Ra01c2a450f87407b"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eb97db25d70f4f31" /><Relationship Type="http://schemas.openxmlformats.org/officeDocument/2006/relationships/notesMaster" Target="/ppt/notesMasters/notesMaster1.xml" Id="Racf4cff9341b4f6e"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c0c32d28691c488b" /><Relationship Type="http://schemas.openxmlformats.org/officeDocument/2006/relationships/notesMaster" Target="/ppt/notesMasters/notesMaster1.xml" Id="R36df12a13fdb4772"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7d207a1bd9e0484b" /><Relationship Type="http://schemas.openxmlformats.org/officeDocument/2006/relationships/notesMaster" Target="/ppt/notesMasters/notesMaster1.xml" Id="Rfad9ae69d8d14c73"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40f68638c6a44d45" /><Relationship Type="http://schemas.openxmlformats.org/officeDocument/2006/relationships/notesMaster" Target="/ppt/notesMasters/notesMaster1.xml" Id="R64fbe14a8f464459"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9ac93799479a4c37" /><Relationship Type="http://schemas.openxmlformats.org/officeDocument/2006/relationships/notesMaster" Target="/ppt/notesMasters/notesMaster1.xml" Id="Red2fd48ad8a74355"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76afbffe81954741" /><Relationship Type="http://schemas.openxmlformats.org/officeDocument/2006/relationships/notesMaster" Target="/ppt/notesMasters/notesMaster1.xml" Id="Rcf5b1e719be44028"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11c60c68219347f7" /><Relationship Type="http://schemas.openxmlformats.org/officeDocument/2006/relationships/notesMaster" Target="/ppt/notesMasters/notesMaster1.xml" Id="Rc0e5bff7c65c4faa"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de389d8a103040de" /><Relationship Type="http://schemas.openxmlformats.org/officeDocument/2006/relationships/notesMaster" Target="/ppt/notesMasters/notesMaster1.xml" Id="R8743b457592e4e49"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066b6242ba8b4402" /><Relationship Type="http://schemas.openxmlformats.org/officeDocument/2006/relationships/notesMaster" Target="/ppt/notesMasters/notesMaster1.xml" Id="Rbee2b22fda62495f"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19ca376102ac4772" /><Relationship Type="http://schemas.openxmlformats.org/officeDocument/2006/relationships/notesMaster" Target="/ppt/notesMasters/notesMaster1.xml" Id="Radcd995cadfd4a70"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4926122cd68e42f5" /><Relationship Type="http://schemas.openxmlformats.org/officeDocument/2006/relationships/notesMaster" Target="/ppt/notesMasters/notesMaster1.xml" Id="R60b13dbde6f44876"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7475c0fc7dd94cf0" /><Relationship Type="http://schemas.openxmlformats.org/officeDocument/2006/relationships/notesMaster" Target="/ppt/notesMasters/notesMaster1.xml" Id="Rd45caeff5d164c8a"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99136c4633ce4d72" /><Relationship Type="http://schemas.openxmlformats.org/officeDocument/2006/relationships/notesMaster" Target="/ppt/notesMasters/notesMaster1.xml" Id="R33293c1a10e44c65"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f1be3bee559f4330" /><Relationship Type="http://schemas.openxmlformats.org/officeDocument/2006/relationships/notesMaster" Target="/ppt/notesMasters/notesMaster1.xml" Id="R45c58c71a7954e06"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d6b010b5edc647ad" /><Relationship Type="http://schemas.openxmlformats.org/officeDocument/2006/relationships/notesMaster" Target="/ppt/notesMasters/notesMaster1.xml" Id="Rb48a3187939a4020"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cd28acbae42c4172" /><Relationship Type="http://schemas.openxmlformats.org/officeDocument/2006/relationships/notesMaster" Target="/ppt/notesMasters/notesMaster1.xml" Id="R80fbafaf160e4404"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0ca5933bb7fb4b3a" /><Relationship Type="http://schemas.openxmlformats.org/officeDocument/2006/relationships/notesMaster" Target="/ppt/notesMasters/notesMaster1.xml" Id="Rc5dba99f1f0a416f"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20292fa217f8404d" /><Relationship Type="http://schemas.openxmlformats.org/officeDocument/2006/relationships/notesMaster" Target="/ppt/notesMasters/notesMaster1.xml" Id="R767f37aab4694e5d"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1ad26091fbac451e" /><Relationship Type="http://schemas.openxmlformats.org/officeDocument/2006/relationships/notesMaster" Target="/ppt/notesMasters/notesMaster1.xml" Id="R6c14d450517e4edc"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b5ed9b3146a44d3f" /><Relationship Type="http://schemas.openxmlformats.org/officeDocument/2006/relationships/notesMaster" Target="/ppt/notesMasters/notesMaster1.xml" Id="Rbc30dd9b91394a23"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45cfc6e34fd84836" /><Relationship Type="http://schemas.openxmlformats.org/officeDocument/2006/relationships/notesMaster" Target="/ppt/notesMasters/notesMaster1.xml" Id="R40793c2b21984066"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50519d331cf74cf9" /><Relationship Type="http://schemas.openxmlformats.org/officeDocument/2006/relationships/notesMaster" Target="/ppt/notesMasters/notesMaster1.xml" Id="Rb86a7262ad40451d"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df5c2376f34b46be" /><Relationship Type="http://schemas.openxmlformats.org/officeDocument/2006/relationships/notesMaster" Target="/ppt/notesMasters/notesMaster1.xml" Id="R2a83b9c615ae4a8e"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3d50058629344a2b" /><Relationship Type="http://schemas.openxmlformats.org/officeDocument/2006/relationships/notesMaster" Target="/ppt/notesMasters/notesMaster1.xml" Id="Rd4bbea50cb9e4b1d"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e9d4ab990a2a4ff7" /><Relationship Type="http://schemas.openxmlformats.org/officeDocument/2006/relationships/notesMaster" Target="/ppt/notesMasters/notesMaster1.xml" Id="R0fca367bcbf34be4"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875d66ada53d4199" /><Relationship Type="http://schemas.openxmlformats.org/officeDocument/2006/relationships/notesMaster" Target="/ppt/notesMasters/notesMaster1.xml" Id="R5c6ca3596b064cac"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74b3a6ee194745ba" /><Relationship Type="http://schemas.openxmlformats.org/officeDocument/2006/relationships/notesMaster" Target="/ppt/notesMasters/notesMaster1.xml" Id="Rc06f5422e584417f"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8088dfade98f4431" /><Relationship Type="http://schemas.openxmlformats.org/officeDocument/2006/relationships/notesMaster" Target="/ppt/notesMasters/notesMaster1.xml" Id="R0ee01203ef7a410d"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e739b1436a1349a8" /><Relationship Type="http://schemas.openxmlformats.org/officeDocument/2006/relationships/notesMaster" Target="/ppt/notesMasters/notesMaster1.xml" Id="R839dbe9142da4828"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03dc9646299f440e" /><Relationship Type="http://schemas.openxmlformats.org/officeDocument/2006/relationships/notesMaster" Target="/ppt/notesMasters/notesMaster1.xml" Id="R2f952fe641fc4b04"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01e294e075bb4881" /><Relationship Type="http://schemas.openxmlformats.org/officeDocument/2006/relationships/notesMaster" Target="/ppt/notesMasters/notesMaster1.xml" Id="Rae4c3df76b3a4d71"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e66ff3c9c9b8418b" /><Relationship Type="http://schemas.openxmlformats.org/officeDocument/2006/relationships/notesMaster" Target="/ppt/notesMasters/notesMaster1.xml" Id="R0aa8669ed2eb4ba8"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47c3a8cdf1944989" /><Relationship Type="http://schemas.openxmlformats.org/officeDocument/2006/relationships/notesMaster" Target="/ppt/notesMasters/notesMaster1.xml" Id="Rfcb115c5a8b4428e"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1a00b0365c354392" /><Relationship Type="http://schemas.openxmlformats.org/officeDocument/2006/relationships/notesMaster" Target="/ppt/notesMasters/notesMaster1.xml" Id="Rf158f67654ad47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STC2-001 — Sleep-Time Compute — 이름이 기제보다 넓다</a:t>
            </a:r>
            <a:endParaRPr/>
          </a:p>
          <a:p xmlns:a="http://schemas.openxmlformats.org/drawingml/2006/main">
            <a:r>
              <a:t>핵심 결론: 답은 하나가 아니라 경로마다 다르다</a:t>
            </a:r>
            <a:endParaRPr/>
          </a:p>
          <a:p xmlns:a="http://schemas.openxmlformats.org/drawingml/2006/main">
            <a:r>
              <a:t/>
            </a:r>
            <a:endParaRPr/>
          </a:p>
          <a:p xmlns:a="http://schemas.openxmlformats.org/drawingml/2006/main">
            <a:r>
              <a:t>[발표 대본]</a:t>
            </a:r>
            <a:endParaRPr/>
          </a:p>
          <a:p xmlns:a="http://schemas.openxmlformats.org/drawingml/2006/main">
            <a:r>
              <a:t>오늘 두 시간 동안 답할 질문은 하나입니다 — sleep-time compute은 유망한가. 결론부터 말하면 그 질문은 지금 형태로는 답이 없습니다. 이름 하나 아래 서로를 모르는 세 개의 기제가 들어와 있고, 셋을 같은 자로 잰 사람이 없기 때문입니다. 그래서 이 발표는 답을 먼저 주지 않고, 답할 수 있는 형태로 질문을 바꾸는 절차를 보여 드립니다. 판별식으로 대상을 확정하고, 비용과 바이트 두 개의 자를 세우고, 그 위에서 경로별로 판정합니다. 마지막 30분은 Q&amp;A입니다. 발표 중에도 끊고 물어 주십시오 — 특히 '그 숫자는 어디서 왔나'는 언제든 환영합니다.</a:t>
            </a:r>
            <a:endParaRPr/>
          </a:p>
          <a:p xmlns:a="http://schemas.openxmlformats.org/drawingml/2006/main">
            <a:r>
              <a:t/>
            </a:r>
            <a:endParaRPr/>
          </a:p>
          <a:p xmlns:a="http://schemas.openxmlformats.org/drawingml/2006/main">
            <a:r>
              <a:t>• 판별: 네 조건으로 대상을 확정한다</a:t>
            </a:r>
            <a:endParaRPr/>
          </a:p>
          <a:p xmlns:a="http://schemas.openxmlformats.org/drawingml/2006/main">
            <a:r>
              <a:t>• 회계: 비용과 바이트를 같은 자로 옮긴다</a:t>
            </a:r>
            <a:endParaRPr/>
          </a:p>
          <a:p xmlns:a="http://schemas.openxmlformats.org/drawingml/2006/main">
            <a:r>
              <a:t>• 판정: 경로별로 답하고 판정 불가를 남긴다</a:t>
            </a:r>
            <a:endParaRPr/>
          </a:p>
          <a:p xmlns:a="http://schemas.openxmlformats.org/drawingml/2006/main">
            <a:r>
              <a:t>• 반증: 뒤집을 관측을 함께 적는다</a:t>
            </a:r>
            <a:endParaRPr/>
          </a:p>
          <a:p xmlns:a="http://schemas.openxmlformats.org/drawingml/2006/main">
            <a:r>
              <a:t/>
            </a:r>
            <a:endParaRPr/>
          </a:p>
          <a:p xmlns:a="http://schemas.openxmlformats.org/drawingml/2006/main">
            <a:r>
              <a:t>[Sources]</a:t>
            </a:r>
            <a:endParaRPr/>
          </a:p>
          <a:p xmlns:a="http://schemas.openxmlformats.org/drawingml/2006/main">
            <a:r>
              <a:t>study-kr-stc/front/00-preface.md</a:t>
            </a:r>
            <a:endParaRPr/>
          </a:p>
          <a:p xmlns:a="http://schemas.openxmlformats.org/drawingml/2006/main">
            <a:r>
              <a:t>dossier/stc-v2/PRE-RESEARCH.md §5 (척추 논지 A1)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STC2-002 — 이 발표가 답할 질문 — 일곱 개 더하기 하나</a:t>
            </a:r>
            <a:endParaRPr/>
          </a:p>
          <a:p xmlns:a="http://schemas.openxmlformats.org/drawingml/2006/main">
            <a:r>
              <a:t>핵심 결론: Q2를 먼저 답하지 않으면 나머지 일곱이 형태를 갖추지 못한다</a:t>
            </a:r>
            <a:endParaRPr/>
          </a:p>
          <a:p xmlns:a="http://schemas.openxmlformats.org/drawingml/2006/main">
            <a:r>
              <a:t/>
            </a:r>
            <a:endParaRPr/>
          </a:p>
          <a:p xmlns:a="http://schemas.openxmlformats.org/drawingml/2006/main">
            <a:r>
              <a:t>[발표 대본]</a:t>
            </a:r>
            <a:endParaRPr/>
          </a:p>
          <a:p xmlns:a="http://schemas.openxmlformats.org/drawingml/2006/main">
            <a:r>
              <a:t>질문은 원래 일곱 개였습니다. 유망한가, 주류가 될까, 무슨 문제를 푸는가, 최선인가, 대안 대비 우월한가, scaling law는 어떻게 되는가, memory device 기회는 무엇인가. 여기에 여덟 번째를 제가 더했습니다 — 무엇이 실제로 이 범주에 속하는가. 이것이 Q2입니다. 왜 더했느냐. 나머지 일곱이 전부 이 질문의 답 위에 서기 때문입니다. 대상이 확정되지 않으면 '유망한가'의 주어가 없고, 주어가 없으면 술어도 없습니다. 오늘 발표의 순서가 곧 이 표의 순서입니다. Q2를 먼저 닫고, Q3의 자를 만들고, 그 다음에 Q4로 갑니다.</a:t>
            </a:r>
            <a:endParaRPr/>
          </a:p>
          <a:p xmlns:a="http://schemas.openxmlformats.org/drawingml/2006/main">
            <a:r>
              <a:t/>
            </a:r>
            <a:endParaRPr/>
          </a:p>
          <a:p xmlns:a="http://schemas.openxmlformats.org/drawingml/2006/main">
            <a:r>
              <a:t>• Q1 무슨 문제를 푸는가: 경로마다 다르다 — §4에서 셋으로 갈라 답한다</a:t>
            </a:r>
            <a:endParaRPr/>
          </a:p>
          <a:p xmlns:a="http://schemas.openxmlformats.org/drawingml/2006/main">
            <a:r>
              <a:t>• Q2 무엇이 이 범주인가: 이 발표가 스스로 더한 질문. 나머지의 전제</a:t>
            </a:r>
            <a:endParaRPr/>
          </a:p>
          <a:p xmlns:a="http://schemas.openxmlformats.org/drawingml/2006/main">
            <a:r>
              <a:t>• Q3 비용은 비교 가능한가: 통일 회계를 세워야 비교가 성립한다</a:t>
            </a:r>
            <a:endParaRPr/>
          </a:p>
          <a:p xmlns:a="http://schemas.openxmlformats.org/drawingml/2006/main">
            <a:r>
              <a:t>• Q4 유망한가·최선인가: 경로별 판정. 판정 불가로 남는 칸이 있다</a:t>
            </a:r>
            <a:endParaRPr/>
          </a:p>
          <a:p xmlns:a="http://schemas.openxmlformats.org/drawingml/2006/main">
            <a:r>
              <a:t>• Q5 주류가 될까: 조건으로만 답한다. 조건 없는 예측은 쓰지 않는다</a:t>
            </a:r>
            <a:endParaRPr/>
          </a:p>
          <a:p xmlns:a="http://schemas.openxmlformats.org/drawingml/2006/main">
            <a:r>
              <a:t>• Q6 scaling law가 있는가: B_s를 축으로 놓을 수 있는지부터 감사한다</a:t>
            </a:r>
            <a:endParaRPr/>
          </a:p>
          <a:p xmlns:a="http://schemas.openxmlformats.org/drawingml/2006/main">
            <a:r>
              <a:t>• Q7 device 기회가 있는가: 상태 바이트가 회계되어야 성립하는 논의</a:t>
            </a:r>
            <a:endParaRPr/>
          </a:p>
          <a:p xmlns:a="http://schemas.openxmlformats.org/drawingml/2006/main">
            <a:r>
              <a:t>• Q8 무엇이 이를 뒤집는가: 반증 불가능한 판정은 쓰지 않는다</a:t>
            </a:r>
            <a:endParaRPr/>
          </a:p>
          <a:p xmlns:a="http://schemas.openxmlformats.org/drawingml/2006/main">
            <a:r>
              <a:t>• 답이 놓인 자리 ①: ch11 · 판별식과 corpus 29편 전수 분류</a:t>
            </a:r>
            <a:endParaRPr/>
          </a:p>
          <a:p xmlns:a="http://schemas.openxmlformats.org/drawingml/2006/main">
            <a:r>
              <a:t>• 답이 놓인 자리 ②: ch24 · 대상 확정과 간격의 구조성 판정</a:t>
            </a:r>
            <a:endParaRPr/>
          </a:p>
          <a:p xmlns:a="http://schemas.openxmlformats.org/drawingml/2006/main">
            <a:r>
              <a:t>• 답이 놓인 자리 ③: ch25·ch26 · 시간의 자와 바이트의 자</a:t>
            </a:r>
            <a:endParaRPr/>
          </a:p>
          <a:p xmlns:a="http://schemas.openxmlformats.org/drawingml/2006/main">
            <a:r>
              <a:t>• 답이 놓인 자리 ④: ch27 · 경로별 판정과 판정 불가 칸</a:t>
            </a:r>
            <a:endParaRPr/>
          </a:p>
          <a:p xmlns:a="http://schemas.openxmlformats.org/drawingml/2006/main">
            <a:r>
              <a:t>• 답이 놓인 자리 ⑤: ch28·ch29 · 예산 축 감사와 device 좌표</a:t>
            </a:r>
            <a:endParaRPr/>
          </a:p>
          <a:p xmlns:a="http://schemas.openxmlformats.org/drawingml/2006/main">
            <a:r>
              <a:t>• 답이 놓인 자리 ⑥: ch30 · 판정 32개와 각각의 반증 관측</a:t>
            </a:r>
            <a:endParaRPr/>
          </a:p>
          <a:p xmlns:a="http://schemas.openxmlformats.org/drawingml/2006/main">
            <a:r>
              <a:t/>
            </a:r>
            <a:endParaRPr/>
          </a:p>
          <a:p xmlns:a="http://schemas.openxmlformats.org/drawingml/2006/main">
            <a:r>
              <a:t>[Sources]</a:t>
            </a:r>
            <a:endParaRPr/>
          </a:p>
          <a:p xmlns:a="http://schemas.openxmlformats.org/drawingml/2006/main">
            <a:r>
              <a:t>study-kr-stc/part1/ch01 §01.7</a:t>
            </a:r>
            <a:endParaRPr/>
          </a:p>
          <a:p xmlns:a="http://schemas.openxmlformats.org/drawingml/2006/main">
            <a:r>
              <a:t>study-kr-stc/front/00-toc.md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STC2-003 — 같은 이름 아래 세 개의 다른 대상이 있다</a:t>
            </a:r>
            <a:endParaRPr/>
          </a:p>
          <a:p xmlns:a="http://schemas.openxmlformats.org/drawingml/2006/main">
            <a:r>
              <a:t>핵심 결론: 셋 다 자기 절차를 sleep이라 부르고, 셋을 같은 자로 잰 사람은 없다</a:t>
            </a:r>
            <a:endParaRPr/>
          </a:p>
          <a:p xmlns:a="http://schemas.openxmlformats.org/drawingml/2006/main">
            <a:r>
              <a:t/>
            </a:r>
            <a:endParaRPr/>
          </a:p>
          <a:p xmlns:a="http://schemas.openxmlformats.org/drawingml/2006/main">
            <a:r>
              <a:t>[발표 대본]</a:t>
            </a:r>
            <a:endParaRPr/>
          </a:p>
          <a:p xmlns:a="http://schemas.openxmlformats.org/drawingml/2006/main">
            <a:r>
              <a:t>구체적으로 무슨 일이 벌어지고 있는지부터 보겠습니다. 세 논문이 있습니다. 첫째는 대화 문맥을 미리 읽어 요약을 만들어 두고 그것을 다음 질의의 프롬프트에 싣습니다. 가중치는 한 바이트도 바뀌지 않습니다. 둘째는 sleep 라운드마다 배포 가중치에 저랭크 expert를 덧붙입니다. 체크포인트가 바뀝니다. 셋째는 KV cache를 비우기 전에 같은 chunk를 fast weight에 몇 번 더 접어 넣습니다. 배포도 안 바뀌고 저장소도 안 생깁니다. 셋 다 자기 절차를 sleep이라 부릅니다. 층을 지정하는 어휘가 없으면 이 셋은 비교 대상조차 되지 못합니다.</a:t>
            </a:r>
            <a:endParaRPr/>
          </a:p>
          <a:p xmlns:a="http://schemas.openxmlformats.org/drawingml/2006/main">
            <a:r>
              <a:t/>
            </a:r>
            <a:endParaRPr/>
          </a:p>
          <a:p xmlns:a="http://schemas.openxmlformats.org/drawingml/2006/main">
            <a:r>
              <a:t>• 대화 요약: 질의 전 요약을 벡터 DB에 적재한다 — 모델 밖</a:t>
            </a:r>
            <a:endParaRPr/>
          </a:p>
          <a:p xmlns:a="http://schemas.openxmlformats.org/drawingml/2006/main">
            <a:r>
              <a:t>• 저랭크 쓰기: 배포 가중치에 저랭크 expert를 덧붙인다</a:t>
            </a:r>
            <a:endParaRPr/>
          </a:p>
          <a:p xmlns:a="http://schemas.openxmlformats.org/drawingml/2006/main">
            <a:r>
              <a:t>• 재귀 추가: KV cache를 비우기 전 recurrence를 더 돈다</a:t>
            </a:r>
            <a:endParaRPr/>
          </a:p>
          <a:p xmlns:a="http://schemas.openxmlformats.org/drawingml/2006/main">
            <a:r>
              <a:t/>
            </a:r>
            <a:endParaRPr/>
          </a:p>
          <a:p xmlns:a="http://schemas.openxmlformats.org/drawingml/2006/main">
            <a:r>
              <a:t>[Sources]</a:t>
            </a:r>
            <a:endParaRPr/>
          </a:p>
          <a:p xmlns:a="http://schemas.openxmlformats.org/drawingml/2006/main">
            <a:r>
              <a:t>[Letta STC arXiv:2504.13171] App. K</a:t>
            </a:r>
            <a:endParaRPr/>
          </a:p>
          <a:p xmlns:a="http://schemas.openxmlformats.org/drawingml/2006/main">
            <a:r>
              <a:t>[LM Need Sleep arXiv:2606.03979] §3.2</a:t>
            </a:r>
            <a:endParaRPr/>
          </a:p>
          <a:p xmlns:a="http://schemas.openxmlformats.org/drawingml/2006/main">
            <a:r>
              <a:t>[Do LMs Need Sleep? arXiv:2605.26099] Eq.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STC2-004 — 이 발표를 지탱하는 장치 넷</a:t>
            </a:r>
            <a:endParaRPr/>
          </a:p>
          <a:p xmlns:a="http://schemas.openxmlformats.org/drawingml/2006/main">
            <a:r>
              <a:t>핵심 결론: 넷 다 앞 모노그래프에서 부족했거나 없었던 것이고, 넷 다 반증 가능하게 설계했다</a:t>
            </a:r>
            <a:endParaRPr/>
          </a:p>
          <a:p xmlns:a="http://schemas.openxmlformats.org/drawingml/2006/main">
            <a:r>
              <a:t/>
            </a:r>
            <a:endParaRPr/>
          </a:p>
          <a:p xmlns:a="http://schemas.openxmlformats.org/drawingml/2006/main">
            <a:r>
              <a:t>[발표 대본]</a:t>
            </a:r>
            <a:endParaRPr/>
          </a:p>
          <a:p xmlns:a="http://schemas.openxmlformats.org/drawingml/2006/main">
            <a:r>
              <a:t>이 발표를 지탱하는 장치가 넷입니다. 판별식은 어떤 절차가 이 범주인지 네 조건으로 판정합니다. 논문의 자기 규정도 성능도 묻지 않고, 보는 것은 갱신식과 시계의 쌍뿐입니다. 통일 회계는 모든 기여를 네 값으로 환산합니다. 논문에 값이 없으면 추정치로 메우지 않고 '논문에 없음'이라고 씁니다. 정직성 규칙은 논문에 불리한 사실의 누락을 결함으로 취급합니다. 자기 ablation이 반증하는 캡션 주장, baseline이 이기는 수치, 비용 침묵을 성능 서사로 메우는 서술 — 셋 다 본문에 그대로 싣습니다. 마지막으로 등급화는 제 실험에 같은 자를 대는 장치입니다. 뒤에서 자세히 보겠습니다.</a:t>
            </a:r>
            <a:endParaRPr/>
          </a:p>
          <a:p xmlns:a="http://schemas.openxmlformats.org/drawingml/2006/main">
            <a:r>
              <a:t/>
            </a:r>
            <a:endParaRPr/>
          </a:p>
          <a:p xmlns:a="http://schemas.openxmlformats.org/drawingml/2006/main">
            <a:r>
              <a:t>• 판별식: 네 조건 · 갱신식과 시계만 본다</a:t>
            </a:r>
            <a:endParaRPr/>
          </a:p>
          <a:p xmlns:a="http://schemas.openxmlformats.org/drawingml/2006/main">
            <a:r>
              <a:t>• 통일 회계: 네 값 · B_s, L_w, C_cap, ρ로 환산한다</a:t>
            </a:r>
            <a:endParaRPr/>
          </a:p>
          <a:p xmlns:a="http://schemas.openxmlformats.org/drawingml/2006/main">
            <a:r>
              <a:t>• 정직성 규칙: 불리한 사실 · 완곡화와 누락을 결함으로 본다</a:t>
            </a:r>
            <a:endParaRPr/>
          </a:p>
          <a:p xmlns:a="http://schemas.openxmlformats.org/drawingml/2006/main">
            <a:r>
              <a:t>• 등급화: 자기 실험 · 무엇을 단정 못 하는지 먼저 적는다</a:t>
            </a:r>
            <a:endParaRPr/>
          </a:p>
          <a:p xmlns:a="http://schemas.openxmlformats.org/drawingml/2006/main">
            <a:r>
              <a:t/>
            </a:r>
            <a:endParaRPr/>
          </a:p>
          <a:p xmlns:a="http://schemas.openxmlformats.org/drawingml/2006/main">
            <a:r>
              <a:t>[Sources]</a:t>
            </a:r>
            <a:endParaRPr/>
          </a:p>
          <a:p xmlns:a="http://schemas.openxmlformats.org/drawingml/2006/main">
            <a:r>
              <a:t>study-kr-stc/front/00-preface.md §이 책의 방법</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STC2-005 — 척추 논지 — 이름이 기제보다 넓다</a:t>
            </a:r>
            <a:endParaRPr/>
          </a:p>
          <a:p xmlns:a="http://schemas.openxmlformats.org/drawingml/2006/main">
            <a:r>
              <a:t>핵심 결론: 그러므로 '유망한가'는 판별과 회계를 세운 뒤에만 답할 수 있는 질문이다</a:t>
            </a:r>
            <a:endParaRPr/>
          </a:p>
          <a:p xmlns:a="http://schemas.openxmlformats.org/drawingml/2006/main">
            <a:r>
              <a:t/>
            </a:r>
            <a:endParaRPr/>
          </a:p>
          <a:p xmlns:a="http://schemas.openxmlformats.org/drawingml/2006/main">
            <a:r>
              <a:t>[발표 대본]</a:t>
            </a:r>
            <a:endParaRPr/>
          </a:p>
          <a:p xmlns:a="http://schemas.openxmlformats.org/drawingml/2006/main">
            <a:r>
              <a:t>오늘의 척추 논지를 미리 한 문장으로 드리겠습니다. 'sleep-time compute'은 축이 아니라 세 개의 서로 모르는 축이며, 그 이름은 기제보다 넓다. 네 부분으로 쪼개면 이렇습니다. 이름은 하나인데 기제는 셋입니다. 그 셋은 서로를 인용하지 않고, 심지어 같은 경로 안에서도 창시 논문이 인용되지 않습니다. 그리고 비용을 보고하지 않아 나란히 놓을 수 없습니다. 이 논지가 오늘 발표의 전부를 조직합니다. 앞부분은 이 문장을 증거로 세우는 과정이고, 뒷부분은 이 문장 위에서 판정하는 과정입니다. 그리고 이 논지가 무너지는 조건도 뒤에서 명시합니다 — 반증 조건이 없는 주장은 오늘 쓰지 않습니다.</a:t>
            </a:r>
            <a:endParaRPr/>
          </a:p>
          <a:p xmlns:a="http://schemas.openxmlformats.org/drawingml/2006/main">
            <a:r>
              <a:t/>
            </a:r>
            <a:endParaRPr/>
          </a:p>
          <a:p xmlns:a="http://schemas.openxmlformats.org/drawingml/2006/main">
            <a:r>
              <a:t>• 이름: 하나. 생물학에서 왔고 논증은 오지 않았다</a:t>
            </a:r>
            <a:endParaRPr/>
          </a:p>
          <a:p xmlns:a="http://schemas.openxmlformats.org/drawingml/2006/main">
            <a:r>
              <a:t>• 기제: 셋. E·W·Θ가 각각 다른 층을 갱신한다</a:t>
            </a:r>
            <a:endParaRPr/>
          </a:p>
          <a:p xmlns:a="http://schemas.openxmlformats.org/drawingml/2006/main">
            <a:r>
              <a:t>• 인용: 서로를, 때로는 같은 경로의 창시 논문마저 안 한다</a:t>
            </a:r>
            <a:endParaRPr/>
          </a:p>
          <a:p xmlns:a="http://schemas.openxmlformats.org/drawingml/2006/main">
            <a:r>
              <a:t>• 비용: 보고되지 않아 세 경로가 비교 불가능하다</a:t>
            </a:r>
            <a:endParaRPr/>
          </a:p>
          <a:p xmlns:a="http://schemas.openxmlformats.org/drawingml/2006/main">
            <a:r>
              <a:t/>
            </a:r>
            <a:endParaRPr/>
          </a:p>
          <a:p xmlns:a="http://schemas.openxmlformats.org/drawingml/2006/main">
            <a:r>
              <a:t>[Sources]</a:t>
            </a:r>
            <a:endParaRPr/>
          </a:p>
          <a:p xmlns:a="http://schemas.openxmlformats.org/drawingml/2006/main">
            <a:r>
              <a:t>dossier/stc-v2/PRE-RESEARCH.md §5</a:t>
            </a:r>
            <a:endParaRPr/>
          </a:p>
          <a:p xmlns:a="http://schemas.openxmlformats.org/drawingml/2006/main">
            <a:r>
              <a:t>study-kr-stc ch11 §11.3 [평가]</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STC2-006 — 두 시간의 지도 — 여섯 걸음</a:t>
            </a:r>
            <a:endParaRPr/>
          </a:p>
          <a:p xmlns:a="http://schemas.openxmlformats.org/drawingml/2006/main">
            <a:r>
              <a:t>핵심 결론: 앞 세 걸음이 질문의 형태를 만들고, 뒤 세 걸음이 답한다</a:t>
            </a:r>
            <a:endParaRPr/>
          </a:p>
          <a:p xmlns:a="http://schemas.openxmlformats.org/drawingml/2006/main">
            <a:r>
              <a:t/>
            </a:r>
            <a:endParaRPr/>
          </a:p>
          <a:p xmlns:a="http://schemas.openxmlformats.org/drawingml/2006/main">
            <a:r>
              <a:t>[발표 대본]</a:t>
            </a:r>
            <a:endParaRPr/>
          </a:p>
          <a:p xmlns:a="http://schemas.openxmlformats.org/drawingml/2006/main">
            <a:r>
              <a:t>두 시간을 여섯 걸음으로 나눴습니다. 먼저 배경입니다. 청중 중에 training 실무를 매일 하지 않는 분이 계실 것을 전제하고, 세 층과 비용 4종을 처음부터 세웁니다. 여기가 25분입니다. 그 다음이 판별식과 전수 분류. 여기서 오늘의 첫 실질 발견이 나옵니다. 세 번째가 가장 깁니다 — 세 경로를 하나씩 순회하면서 각 경로의 대표 논문이 무엇을 사고 무엇을 지불하는지 봅니다. 네 번째가 제가 직접 돌린 실험 넷, 다섯 번째가 판정, 마지막이 한계입니다. 중간에 쉬는 시간을 따로 두지 않겠습니다. 필요하시면 편하게 나갔다 오십시오.</a:t>
            </a:r>
            <a:endParaRPr/>
          </a:p>
          <a:p xmlns:a="http://schemas.openxmlformats.org/drawingml/2006/main">
            <a:r>
              <a:t/>
            </a:r>
            <a:endParaRPr/>
          </a:p>
          <a:p xmlns:a="http://schemas.openxmlformats.org/drawingml/2006/main">
            <a:r>
              <a:t>• 배경: 세 층 · 4종 · 25분</a:t>
            </a:r>
            <a:endParaRPr/>
          </a:p>
          <a:p xmlns:a="http://schemas.openxmlformats.org/drawingml/2006/main">
            <a:r>
              <a:t>• 판별: 판별식 · 분류 · 20분</a:t>
            </a:r>
            <a:endParaRPr/>
          </a:p>
          <a:p xmlns:a="http://schemas.openxmlformats.org/drawingml/2006/main">
            <a:r>
              <a:t>• 계보: E · W · Θ · 35분</a:t>
            </a:r>
            <a:endParaRPr/>
          </a:p>
          <a:p xmlns:a="http://schemas.openxmlformats.org/drawingml/2006/main">
            <a:r>
              <a:t>• 실험: X1–X4 · 등급 · 15분</a:t>
            </a:r>
            <a:endParaRPr/>
          </a:p>
          <a:p xmlns:a="http://schemas.openxmlformats.org/drawingml/2006/main">
            <a:r>
              <a:t>• 판정: 경로별 답 · 20분</a:t>
            </a:r>
            <a:endParaRPr/>
          </a:p>
          <a:p xmlns:a="http://schemas.openxmlformats.org/drawingml/2006/main">
            <a:r>
              <a:t>• 한계: 반증 조건 · 5분</a:t>
            </a:r>
            <a:endParaRPr/>
          </a:p>
          <a:p xmlns:a="http://schemas.openxmlformats.org/drawingml/2006/main">
            <a:r>
              <a:t/>
            </a:r>
            <a:endParaRPr/>
          </a:p>
          <a:p xmlns:a="http://schemas.openxmlformats.org/drawingml/2006/main">
            <a:r>
              <a:t>[Sources]</a:t>
            </a:r>
            <a:endParaRPr/>
          </a:p>
          <a:p xmlns:a="http://schemas.openxmlformats.org/drawingml/2006/main">
            <a:r>
              <a:t>study-kr-stc Part I (ch01–ch10), Part II (ch11–ch23), Part III (ch24–ch30)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STC2-007 — 청중과의 계약 — 무엇을 단정하고 무엇을 안 하는가</a:t>
            </a:r>
            <a:endParaRPr/>
          </a:p>
          <a:p xmlns:a="http://schemas.openxmlformats.org/drawingml/2006/main">
            <a:r>
              <a:t>핵심 결론: 비율·순서·자릿수·crossover는 단정한다. 절대치는 하한 또는 방향성으로만 쓴다</a:t>
            </a:r>
            <a:endParaRPr/>
          </a:p>
          <a:p xmlns:a="http://schemas.openxmlformats.org/drawingml/2006/main">
            <a:r>
              <a:t/>
            </a:r>
            <a:endParaRPr/>
          </a:p>
          <a:p xmlns:a="http://schemas.openxmlformats.org/drawingml/2006/main">
            <a:r>
              <a:t>[발표 대본]</a:t>
            </a:r>
            <a:endParaRPr/>
          </a:p>
          <a:p xmlns:a="http://schemas.openxmlformats.org/drawingml/2006/main">
            <a:r>
              <a:t>발표를 시작하기 전에 계약을 하나 하겠습니다. 오늘 제가 단정문으로 말하는 것은 네 종류뿐입니다. 첫째, 부재의 진술 — '어느 논문도 이걸 인쇄하지 않았다'. 둘째, 구조 분류와 식의 성질. 셋째, 자릿수와 순서. 넷째, crossover가 존재한다는 사실. 반대로 제가 절대 단정하지 않는 것도 넷입니다. 지연·처리량·전력의 값, 절대 바이트, 임계의 절대 토큰 수, 그리고 반복 라운드 수입니다. 이유는 단순합니다. 이 발표가 딛는 실험 넷 중 GPU 실측은 하나도 없습니다. 두 개는 닫힌 형태 회계, 하나는 문헌 감사, 하나는 numpy 최소모형입니다. 그러니 발표 중에 제가 이 선을 넘으면 지적해 주십시오. 그게 오늘 가장 반가운 질문입니다.</a:t>
            </a:r>
            <a:endParaRPr/>
          </a:p>
          <a:p xmlns:a="http://schemas.openxmlformats.org/drawingml/2006/main">
            <a:r>
              <a:t/>
            </a:r>
            <a:endParaRPr/>
          </a:p>
          <a:p xmlns:a="http://schemas.openxmlformats.org/drawingml/2006/main">
            <a:r>
              <a:t>• 단정: 부재·구조·식의 성질</a:t>
            </a:r>
            <a:endParaRPr/>
          </a:p>
          <a:p xmlns:a="http://schemas.openxmlformats.org/drawingml/2006/main">
            <a:r>
              <a:t>• 단정: 자릿수와 순서</a:t>
            </a:r>
            <a:endParaRPr/>
          </a:p>
          <a:p xmlns:a="http://schemas.openxmlformats.org/drawingml/2006/main">
            <a:r>
              <a:t>• 방향: 회계의 절대치</a:t>
            </a:r>
            <a:endParaRPr/>
          </a:p>
          <a:p xmlns:a="http://schemas.openxmlformats.org/drawingml/2006/main">
            <a:r>
              <a:t>• 부호: 최소모형의 결과</a:t>
            </a:r>
            <a:endParaRPr/>
          </a:p>
          <a:p xmlns:a="http://schemas.openxmlformats.org/drawingml/2006/main">
            <a:r>
              <a:t>• 금지: 지연·처리량·전력</a:t>
            </a:r>
            <a:endParaRPr/>
          </a:p>
          <a:p xmlns:a="http://schemas.openxmlformats.org/drawingml/2006/main">
            <a:r>
              <a:t/>
            </a:r>
            <a:endParaRPr/>
          </a:p>
          <a:p xmlns:a="http://schemas.openxmlformats.org/drawingml/2006/main">
            <a:r>
              <a:t>[Sources]</a:t>
            </a:r>
            <a:endParaRPr/>
          </a:p>
          <a:p xmlns:a="http://schemas.openxmlformats.org/drawingml/2006/main">
            <a:r>
              <a:t>study-kr-stc ch24 §24.2</a:t>
            </a:r>
            <a:endParaRPr/>
          </a:p>
          <a:p xmlns:a="http://schemas.openxmlformats.org/drawingml/2006/main">
            <a:r>
              <a:t>study-kr-stc ch30 표 30-1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STC2-008 — 앞 모노그래프에서 무엇을 그대로 가져오는가</a:t>
            </a:r>
            <a:endParaRPr/>
          </a:p>
          <a:p xmlns:a="http://schemas.openxmlformats.org/drawingml/2006/main">
            <a:r>
              <a:t>핵심 결론: 두 책은 겹치지 않고 이어진다 — 결론을 억지로 하나로 잇지 않는 규율도 승계한다</a:t>
            </a:r>
            <a:endParaRPr/>
          </a:p>
          <a:p xmlns:a="http://schemas.openxmlformats.org/drawingml/2006/main">
            <a:r>
              <a:t/>
            </a:r>
            <a:endParaRPr/>
          </a:p>
          <a:p xmlns:a="http://schemas.openxmlformats.org/drawingml/2006/main">
            <a:r>
              <a:t>[발표 대본]</a:t>
            </a:r>
            <a:endParaRPr/>
          </a:p>
          <a:p xmlns:a="http://schemas.openxmlformats.org/drawingml/2006/main">
            <a:r>
              <a:t>이 발표는 두 번째 모노그래프입니다. 첫 번째는 Google Research의 test-time memorization 계열을 하나의 연구 프로그램으로 읽은 Neural Memory였습니다. 그 책의 척추는 fast weights W의 갱신식 하나였고, 오늘 쓰는 (U-W)는 그 식과 글자 그대로 같습니다. 기호도 부호도 바꾸지 않았습니다. 달라지는 것은 시야입니다. 앞 책은 세 층 중 W 하나만 다뤘습니다. 오늘은 그 위인 Θ와 밖인 E로 확장하고, 갱신의 시계를 wake에서 오프라인으로 옮깁니다. 그리고 규율 하나를 그대로 승계합니다 — 두 책의 결론을 억지로 하나로 잇지 않는다. 오늘 memory-centric 논증을 펴는 자리는 딱 한 군데이고, 그 자리는 앞 책이 짚은 자리와 다른 자리입니다.</a:t>
            </a:r>
            <a:endParaRPr/>
          </a:p>
          <a:p xmlns:a="http://schemas.openxmlformats.org/drawingml/2006/main">
            <a:r>
              <a:t/>
            </a:r>
            <a:endParaRPr/>
          </a:p>
          <a:p xmlns:a="http://schemas.openxmlformats.org/drawingml/2006/main">
            <a:r>
              <a:t>• 식: (U-W)는 NM의 master equation (M)과 같은 식이다</a:t>
            </a:r>
            <a:endParaRPr/>
          </a:p>
          <a:p xmlns:a="http://schemas.openxmlformats.org/drawingml/2006/main">
            <a:r>
              <a:t>• 기호: Θ·W·S_t·η_t·β_t·α_t의 의미를 재정의하지 않는다</a:t>
            </a:r>
            <a:endParaRPr/>
          </a:p>
          <a:p xmlns:a="http://schemas.openxmlformats.org/drawingml/2006/main">
            <a:r>
              <a:t>• 규율: 등급 계약과 '억지 통합 금지'를 그대로 가져온다</a:t>
            </a:r>
            <a:endParaRPr/>
          </a:p>
          <a:p xmlns:a="http://schemas.openxmlformats.org/drawingml/2006/main">
            <a:r>
              <a:t/>
            </a:r>
            <a:endParaRPr/>
          </a:p>
          <a:p xmlns:a="http://schemas.openxmlformats.org/drawingml/2006/main">
            <a:r>
              <a:t>[Sources]</a:t>
            </a:r>
            <a:endParaRPr/>
          </a:p>
          <a:p xmlns:a="http://schemas.openxmlformats.org/drawingml/2006/main">
            <a:r>
              <a:t>study-kr-stc/front/00-preface.md</a:t>
            </a:r>
            <a:endParaRPr/>
          </a:p>
          <a:p xmlns:a="http://schemas.openxmlformats.org/drawingml/2006/main">
            <a:r>
              <a:t>NM ch01 §1.1, ch12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STC2-009 — 오늘 쓸 기호 세 개 — Θ, W, E</a:t>
            </a:r>
            <a:endParaRPr/>
          </a:p>
          <a:p xmlns:a="http://schemas.openxmlformats.org/drawingml/2006/main">
            <a:r>
              <a:t>핵심 결론: 세 층의 결정적 차이는 크기가 아니라 누가 소유하고 언제 사라지는가이다</a:t>
            </a:r>
            <a:endParaRPr/>
          </a:p>
          <a:p xmlns:a="http://schemas.openxmlformats.org/drawingml/2006/main">
            <a:r>
              <a:t/>
            </a:r>
            <a:endParaRPr/>
          </a:p>
          <a:p xmlns:a="http://schemas.openxmlformats.org/drawingml/2006/main">
            <a:r>
              <a:t>[발표 대본]</a:t>
            </a:r>
            <a:endParaRPr/>
          </a:p>
          <a:p xmlns:a="http://schemas.openxmlformats.org/drawingml/2006/main">
            <a:r>
              <a:t>오늘 필요한 기호는 딱 셋입니다. 이 셋만 잡고 계시면 나머지는 따라옵니다. Θ는 slow weights입니다. pre-train과 학습 라운드에서 움직이는 파라미터, 즉 여러분이 배포하는 아티팩트 그 자체입니다. W는 fast weights입니다. test-time에 토큰이나 chunk 단위로 움직이는, 가중치 형태의 내부 상태입니다. KV cache와 비슷한 자리에 있지만 고정 크기 손실 압축이라는 점이 다릅니다. E는 external store입니다. 모델 밖에 텍스트나 벡터나 그래프로 저장되는 기억입니다. 세 층의 결정적 차이는 크기도 정확도도 아닙니다. 누가 소유하고 언제 사라지는가입니다. E는 임의 시점에 지울 수 있고, W는 세션과 함께 사라지며, Θ는 지우는 연산 자체가 정의되지 않습니다.</a:t>
            </a:r>
            <a:endParaRPr/>
          </a:p>
          <a:p xmlns:a="http://schemas.openxmlformats.org/drawingml/2006/main">
            <a:r>
              <a:t/>
            </a:r>
            <a:endParaRPr/>
          </a:p>
          <a:p xmlns:a="http://schemas.openxmlformats.org/drawingml/2006/main">
            <a:r>
              <a:t>• Θ: slow weights · 배포 아티팩트를 이루는 가중치</a:t>
            </a:r>
            <a:endParaRPr/>
          </a:p>
          <a:p xmlns:a="http://schemas.openxmlformats.org/drawingml/2006/main">
            <a:r>
              <a:t>• W: fast weights · 요청·세션에 붙는 가중치 형태 상태</a:t>
            </a:r>
            <a:endParaRPr/>
          </a:p>
          <a:p xmlns:a="http://schemas.openxmlformats.org/drawingml/2006/main">
            <a:r>
              <a:t>• E: external store · 모델 밖의 텍스트·벡터·그래프</a:t>
            </a:r>
            <a:endParaRPr/>
          </a:p>
          <a:p xmlns:a="http://schemas.openxmlformats.org/drawingml/2006/main">
            <a:r>
              <a:t/>
            </a:r>
            <a:endParaRPr/>
          </a:p>
          <a:p xmlns:a="http://schemas.openxmlformats.org/drawingml/2006/main">
            <a:r>
              <a:t>[Sources]</a:t>
            </a:r>
            <a:endParaRPr/>
          </a:p>
          <a:p xmlns:a="http://schemas.openxmlformats.org/drawingml/2006/main">
            <a:r>
              <a:t>study-kr-stc ch01 §01.2</a:t>
            </a:r>
            <a:endParaRPr/>
          </a:p>
          <a:p xmlns:a="http://schemas.openxmlformats.org/drawingml/2006/main">
            <a:r>
              <a:t>NM ch01 §1.1 (Θ·W 승계)</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STC2-010 — 왜 세 층으로 나누는가 — 서빙 질문 넷</a:t>
            </a:r>
            <a:endParaRPr/>
          </a:p>
          <a:p xmlns:a="http://schemas.openxmlformats.org/drawingml/2006/main">
            <a:r>
              <a:t>핵심 결론: 네 질문의 답은 전부 '무엇이 바뀌었는가'에 달려 있고, 그 무엇은 정확히 셋뿐이다</a:t>
            </a:r>
            <a:endParaRPr/>
          </a:p>
          <a:p xmlns:a="http://schemas.openxmlformats.org/drawingml/2006/main">
            <a:r>
              <a:t/>
            </a:r>
            <a:endParaRPr/>
          </a:p>
          <a:p xmlns:a="http://schemas.openxmlformats.org/drawingml/2006/main">
            <a:r>
              <a:t>[발표 대본]</a:t>
            </a:r>
            <a:endParaRPr/>
          </a:p>
          <a:p xmlns:a="http://schemas.openxmlformats.org/drawingml/2006/main">
            <a:r>
              <a:t>'모델이 자는 동안 뭔가를 정리해 둔다'는 서술은 서빙 엔지니어의 어떤 질문에도 답하지 않습니다. 네 개만 들어 보면 즉시 드러납니다. 이 상태를 evict해도 되는가. 산출물이 모델 밖 레코드면 재계산 가능한 캐시라 evict가 정책 문제입니다. 배포 가중치면 evict라는 연산 자체가 없습니다. 이 사용자의 산출물이 다른 사용자와 같은 배치에 섞여도 되는가. 텍스트는 프롬프트에 붙으니 섞입니다. 사용자별 가중치 delta가 생기면 shared-weight batching의 전제가 깨집니다. sleep을 100번 돌리면 무엇이 나빠지는가. 레코드가 쌓이는 쪽은 저장량이 자라고 검색 정밀도가 떨어집니다. 가중치를 고치는 쪽은 이전에 알던 것이 손상됩니다. 열화의 정체가 층마다 다릅니다. 그래서 3분할은 새 이론이 아니라 회계 단위의 선택입니다.</a:t>
            </a:r>
            <a:endParaRPr/>
          </a:p>
          <a:p xmlns:a="http://schemas.openxmlformats.org/drawingml/2006/main">
            <a:r>
              <a:t/>
            </a:r>
            <a:endParaRPr/>
          </a:p>
          <a:p xmlns:a="http://schemas.openxmlformats.org/drawingml/2006/main">
            <a:r>
              <a:t>• evict 가능한가: 레코드면 정책, 가중치면 롤백</a:t>
            </a:r>
            <a:endParaRPr/>
          </a:p>
          <a:p xmlns:a="http://schemas.openxmlformats.org/drawingml/2006/main">
            <a:r>
              <a:t>• 배치에 섞이는가: 사용자별 delta가 생기면 깨진다</a:t>
            </a:r>
            <a:endParaRPr/>
          </a:p>
          <a:p xmlns:a="http://schemas.openxmlformats.org/drawingml/2006/main">
            <a:r>
              <a:t>• 롤백 단위는: 행인가 세션인가 아티팩트인가</a:t>
            </a:r>
            <a:endParaRPr/>
          </a:p>
          <a:p xmlns:a="http://schemas.openxmlformats.org/drawingml/2006/main">
            <a:r>
              <a:t/>
            </a:r>
            <a:endParaRPr/>
          </a:p>
          <a:p xmlns:a="http://schemas.openxmlformats.org/drawingml/2006/main">
            <a:r>
              <a:t>[Sources]</a:t>
            </a:r>
            <a:endParaRPr/>
          </a:p>
          <a:p xmlns:a="http://schemas.openxmlformats.org/drawingml/2006/main">
            <a:r>
              <a:t>study-kr-stc ch01 §01.1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STC2-011 — 소유와 수명이 나머지를 전부 정한다</a:t>
            </a:r>
            <a:endParaRPr/>
          </a:p>
          <a:p xmlns:a="http://schemas.openxmlformats.org/drawingml/2006/main">
            <a:r>
              <a:t>핵심 결론: 이 소유·수명 차이가 뒤에 나올 비용 4종의 값을 전부 결정한다</a:t>
            </a:r>
            <a:endParaRPr/>
          </a:p>
          <a:p xmlns:a="http://schemas.openxmlformats.org/drawingml/2006/main">
            <a:r>
              <a:t/>
            </a:r>
            <a:endParaRPr/>
          </a:p>
          <a:p xmlns:a="http://schemas.openxmlformats.org/drawingml/2006/main">
            <a:r>
              <a:t>[발표 대본]</a:t>
            </a:r>
            <a:endParaRPr/>
          </a:p>
          <a:p xmlns:a="http://schemas.openxmlformats.org/drawingml/2006/main">
            <a:r>
              <a:t>세 층을 수명으로 다시 읽으면 이렇게 됩니다. E는 요청과 독립적으로 존속하고 임의 시점에 지울 수 있습니다. 롤백은 행 하나 삭제입니다. W는 상태를 들고 있는 주체가 사라지면 함께 사라집니다. 그래서 총량이 아니라 동시성에 걸립니다 — 누적되지 않는 대신 활성 세션 하나하나가 메모리를 점유합니다. Θ는 지우는 연산이 정의되지 않습니다. 바꾸려면 새 아티팩트를 만들어 배포해야 합니다. 이 한 장이 오늘 발표의 후반부 전체를 예고합니다. 수명이 다르면 어느 메모리 계층에 사는지가 다르고, 어느 계층에 사는지가 다르면 조달 대상이 다릅니다.</a:t>
            </a:r>
            <a:endParaRPr/>
          </a:p>
          <a:p xmlns:a="http://schemas.openxmlformats.org/drawingml/2006/main">
            <a:r>
              <a:t/>
            </a:r>
            <a:endParaRPr/>
          </a:p>
          <a:p xmlns:a="http://schemas.openxmlformats.org/drawingml/2006/main">
            <a:r>
              <a:t>• E 레코드: 요청과 독립. 임의 시점에 삭제 가능</a:t>
            </a:r>
            <a:endParaRPr/>
          </a:p>
          <a:p xmlns:a="http://schemas.openxmlformats.org/drawingml/2006/main">
            <a:r>
              <a:t>• W 상태: 들고 있는 주체가 사라지면 함께 사라진다</a:t>
            </a:r>
            <a:endParaRPr/>
          </a:p>
          <a:p xmlns:a="http://schemas.openxmlformats.org/drawingml/2006/main">
            <a:r>
              <a:t>• Θ 가중치: 지우는 연산이 없다. 새 아티팩트가 필요</a:t>
            </a:r>
            <a:endParaRPr/>
          </a:p>
          <a:p xmlns:a="http://schemas.openxmlformats.org/drawingml/2006/main">
            <a:r>
              <a:t>• 롤백 단위: 행 삭제 · 세션 종료 · 체크포인트 교체</a:t>
            </a:r>
            <a:endParaRPr/>
          </a:p>
          <a:p xmlns:a="http://schemas.openxmlformats.org/drawingml/2006/main">
            <a:r>
              <a:t>• batching: E는 온전, W는 부분 파손, Θ는 delta 단위 파손</a:t>
            </a:r>
            <a:endParaRPr/>
          </a:p>
          <a:p xmlns:a="http://schemas.openxmlformats.org/drawingml/2006/main">
            <a:r>
              <a:t/>
            </a:r>
            <a:endParaRPr/>
          </a:p>
          <a:p xmlns:a="http://schemas.openxmlformats.org/drawingml/2006/main">
            <a:r>
              <a:t>[Sources]</a:t>
            </a:r>
            <a:endParaRPr/>
          </a:p>
          <a:p xmlns:a="http://schemas.openxmlformats.org/drawingml/2006/main">
            <a:r>
              <a:t>study-kr-stc ch01 §01.2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STC2-012 — 읽기는 하나 — 세 층을 모두 통과한다</a:t>
            </a:r>
            <a:endParaRPr/>
          </a:p>
          <a:p xmlns:a="http://schemas.openxmlformats.org/drawingml/2006/main">
            <a:r>
              <a:t>핵심 결론: ret(E,q)는 여러분 어휘로 vector DB 조회 한 번이고, 비용도 그렇게 회계한다</a:t>
            </a:r>
            <a:endParaRPr/>
          </a:p>
          <a:p xmlns:a="http://schemas.openxmlformats.org/drawingml/2006/main">
            <a:r>
              <a:t/>
            </a:r>
            <a:endParaRPr/>
          </a:p>
          <a:p xmlns:a="http://schemas.openxmlformats.org/drawingml/2006/main">
            <a:r>
              <a:t>[발표 대본]</a:t>
            </a:r>
            <a:endParaRPr/>
          </a:p>
          <a:p xmlns:a="http://schemas.openxmlformats.org/drawingml/2006/main">
            <a:r>
              <a:t>읽기 식은 하나입니다. 답을 만들 때 무엇을 보는가를 남김없이 적은 것입니다. ŷ = f(q; Θ, W, ret(E,q)). 질의를 받아서, 가중치와 fast weight 상태와 외부 저장소에서 검색한 것을 보고 답을 냅니다. ret(E,q)는 여러분의 어휘로는 vector DB 조회 한 번이고, 비용도 그렇게 회계합니다 — wake 지연에 잡히고 sleep 예산에는 잡히지 않습니다. 중요한 것은 읽기는 하나인데 쓰기는 셋이라는 점입니다. 다음 세 장에서 그 셋을 하나씩 보겠습니다.</a:t>
            </a:r>
            <a:endParaRPr/>
          </a:p>
          <a:p xmlns:a="http://schemas.openxmlformats.org/drawingml/2006/main">
            <a:r>
              <a:t/>
            </a:r>
            <a:endParaRPr/>
          </a:p>
          <a:p xmlns:a="http://schemas.openxmlformats.org/drawingml/2006/main">
            <a:r>
              <a:t>• 질의 q: ⇒ 세 층을 모두 읽는다</a:t>
            </a:r>
            <a:endParaRPr/>
          </a:p>
          <a:p xmlns:a="http://schemas.openxmlformats.org/drawingml/2006/main">
            <a:r>
              <a:t>• Θ 가중치: ret(E,q)는 vector DB 조회 한 번. L_w에만 잡힌다</a:t>
            </a:r>
            <a:endParaRPr/>
          </a:p>
          <a:p xmlns:a="http://schemas.openxmlformats.org/drawingml/2006/main">
            <a:r>
              <a:t>• W 상태: </a:t>
            </a:r>
            <a:endParaRPr/>
          </a:p>
          <a:p xmlns:a="http://schemas.openxmlformats.org/drawingml/2006/main">
            <a:r>
              <a:t>• ret(E,q): </a:t>
            </a:r>
            <a:endParaRPr/>
          </a:p>
          <a:p xmlns:a="http://schemas.openxmlformats.org/drawingml/2006/main">
            <a:r>
              <a:t/>
            </a:r>
            <a:endParaRPr/>
          </a:p>
          <a:p xmlns:a="http://schemas.openxmlformats.org/drawingml/2006/main">
            <a:r>
              <a:t>[Sources]</a:t>
            </a:r>
            <a:endParaRPr/>
          </a:p>
          <a:p xmlns:a="http://schemas.openxmlformats.org/drawingml/2006/main">
            <a:r>
              <a:t>study-kr-stc ch01 §01.3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STC2-013 — 쓰기 ① — fast weights에 쓴다</a:t>
            </a:r>
            <a:endParaRPr/>
          </a:p>
          <a:p xmlns:a="http://schemas.openxmlformats.org/drawingml/2006/main">
            <a:r>
              <a:t>핵심 결론: 이 식은 앞 모노그래프의 master equation과 글자 그대로 같다. 재정의하지 않는다</a:t>
            </a:r>
            <a:endParaRPr/>
          </a:p>
          <a:p xmlns:a="http://schemas.openxmlformats.org/drawingml/2006/main">
            <a:r>
              <a:t/>
            </a:r>
            <a:endParaRPr/>
          </a:p>
          <a:p xmlns:a="http://schemas.openxmlformats.org/drawingml/2006/main">
            <a:r>
              <a:t>[발표 대본]</a:t>
            </a:r>
            <a:endParaRPr/>
          </a:p>
          <a:p xmlns:a="http://schemas.openxmlformats.org/drawingml/2006/main">
            <a:r>
              <a:t>첫째, W에 쓰는 규칙입니다. 토큰 하나가 도착할 때마다 inner loss의 gradient 방향으로 상태를 한 걸음 옮긴다는 뜻입니다. α는 이전 상태를 얼마나 남길지, η는 inner learning rate, S는 모멘텀 항입니다. 이 식은 앞 모노그래프에서 300쪽에 걸쳐 해부한 그 식입니다. 오늘 성분 해설은 하지 않겠습니다. 필요한 것은 하나 — 시계가 토큰이라는 사실입니다. 그리고 오늘의 W-경로는 이 식을 wake가 아니라 오프라인에 추가로 한 번 더 도는 절차를 말합니다.</a:t>
            </a:r>
            <a:endParaRPr/>
          </a:p>
          <a:p xmlns:a="http://schemas.openxmlformats.org/drawingml/2006/main">
            <a:r>
              <a:t/>
            </a:r>
            <a:endParaRPr/>
          </a:p>
          <a:p xmlns:a="http://schemas.openxmlformats.org/drawingml/2006/main">
            <a:r>
              <a:t>• α 남김비율: ⇒ 시계는 토큰</a:t>
            </a:r>
            <a:endParaRPr/>
          </a:p>
          <a:p xmlns:a="http://schemas.openxmlformats.org/drawingml/2006/main">
            <a:r>
              <a:t>• S 모멘텀: NM의 master equation (M)과 글자 그대로 같다</a:t>
            </a:r>
            <a:endParaRPr/>
          </a:p>
          <a:p xmlns:a="http://schemas.openxmlformats.org/drawingml/2006/main">
            <a:r>
              <a:t>• η inner lr: </a:t>
            </a:r>
            <a:endParaRPr/>
          </a:p>
          <a:p xmlns:a="http://schemas.openxmlformats.org/drawingml/2006/main">
            <a:r>
              <a:t>• 시계 = 토큰: </a:t>
            </a:r>
            <a:endParaRPr/>
          </a:p>
          <a:p xmlns:a="http://schemas.openxmlformats.org/drawingml/2006/main">
            <a:r>
              <a:t/>
            </a:r>
            <a:endParaRPr/>
          </a:p>
          <a:p xmlns:a="http://schemas.openxmlformats.org/drawingml/2006/main">
            <a:r>
              <a:t>[Sources]</a:t>
            </a:r>
            <a:endParaRPr/>
          </a:p>
          <a:p xmlns:a="http://schemas.openxmlformats.org/drawingml/2006/main">
            <a:r>
              <a:t>study-kr-stc ch01 §01.3</a:t>
            </a:r>
            <a:endParaRPr/>
          </a:p>
          <a:p xmlns:a="http://schemas.openxmlformats.org/drawingml/2006/main">
            <a:r>
              <a:t>NM ch01 §1.4, NM ch12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STC2-014 — 쓰기 ② — slow weights에 쓴다</a:t>
            </a:r>
            <a:endParaRPr/>
          </a:p>
          <a:p xmlns:a="http://schemas.openxmlformats.org/drawingml/2006/main">
            <a:r>
              <a:t>핵심 결론: R_k를 어떻게 만드는가가 Θ-경로 설계의 절반이고, Part I의 절반이 그 이야기다</a:t>
            </a:r>
            <a:endParaRPr/>
          </a:p>
          <a:p xmlns:a="http://schemas.openxmlformats.org/drawingml/2006/main">
            <a:r>
              <a:t/>
            </a:r>
            <a:endParaRPr/>
          </a:p>
          <a:p xmlns:a="http://schemas.openxmlformats.org/drawingml/2006/main">
            <a:r>
              <a:t>[발표 대본]</a:t>
            </a:r>
            <a:endParaRPr/>
          </a:p>
          <a:p xmlns:a="http://schemas.openxmlformats.org/drawingml/2006/main">
            <a:r>
              <a:t>둘째, Θ에 쓰는 규칙입니다. 라운드 k까지의 경험으로 학습 집합 R_k를 만들고, 그것으로 outer loss를 줄이는 한 라운드를 돕니다. 여기서 두 가지만 기억해 주십시오. η_Θ는 sleep learning rate이고 앞 장의 inner η와 다른 것입니다. 둘을 섞어 쓰면 그 순간 논의가 무너집니다. 그리고 R_k입니다. replay·distillation·합성 데이터를 통칭하는 기호인데, 이것을 어떻게 만드느냐가 Θ-경로 설계의 절반입니다. training 실무를 모르는 분들을 위해 다음 여덟 장에서 그 어휘를 최소한으로 깔겠습니다.</a:t>
            </a:r>
            <a:endParaRPr/>
          </a:p>
          <a:p xmlns:a="http://schemas.openxmlformats.org/drawingml/2006/main">
            <a:r>
              <a:t/>
            </a:r>
            <a:endParaRPr/>
          </a:p>
          <a:p xmlns:a="http://schemas.openxmlformats.org/drawingml/2006/main">
            <a:r>
              <a:t>• R_k 학습집합: ⇒ 시계는 라운드</a:t>
            </a:r>
            <a:endParaRPr/>
          </a:p>
          <a:p xmlns:a="http://schemas.openxmlformats.org/drawingml/2006/main">
            <a:r>
              <a:t>• gen(H;B_s): η_Θ는 inner η와 다르다. 섞어 쓰면 논의가 무너진다</a:t>
            </a:r>
            <a:endParaRPr/>
          </a:p>
          <a:p xmlns:a="http://schemas.openxmlformats.org/drawingml/2006/main">
            <a:r>
              <a:t>• η_Θ sleep lr: </a:t>
            </a:r>
            <a:endParaRPr/>
          </a:p>
          <a:p xmlns:a="http://schemas.openxmlformats.org/drawingml/2006/main">
            <a:r>
              <a:t>• 시계 = 라운드: </a:t>
            </a:r>
            <a:endParaRPr/>
          </a:p>
          <a:p xmlns:a="http://schemas.openxmlformats.org/drawingml/2006/main">
            <a:r>
              <a:t/>
            </a:r>
            <a:endParaRPr/>
          </a:p>
          <a:p xmlns:a="http://schemas.openxmlformats.org/drawingml/2006/main">
            <a:r>
              <a:t>[Sources]</a:t>
            </a:r>
            <a:endParaRPr/>
          </a:p>
          <a:p xmlns:a="http://schemas.openxmlformats.org/drawingml/2006/main">
            <a:r>
              <a:t>study-kr-stc ch01 §01.3</a:t>
            </a:r>
            <a:endParaRPr/>
          </a:p>
          <a:p xmlns:a="http://schemas.openxmlformats.org/drawingml/2006/main">
            <a:r>
              <a:t>study-kr-stc ch02–ch07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STC2-015 — 쓰기 ③ — 모델 밖에 쓴다</a:t>
            </a:r>
            <a:endParaRPr/>
          </a:p>
          <a:p xmlns:a="http://schemas.openxmlformats.org/drawingml/2006/main">
            <a:r>
              <a:t>핵심 결론: wr의 형태 — 덮어쓰기인가 합집합인가 판단인가 — 가 E-경로 논문들을 가르는 축이다</a:t>
            </a:r>
            <a:endParaRPr/>
          </a:p>
          <a:p xmlns:a="http://schemas.openxmlformats.org/drawingml/2006/main">
            <a:r>
              <a:t/>
            </a:r>
            <a:endParaRPr/>
          </a:p>
          <a:p xmlns:a="http://schemas.openxmlformats.org/drawingml/2006/main">
            <a:r>
              <a:t>[발표 대본]</a:t>
            </a:r>
            <a:endParaRPr/>
          </a:p>
          <a:p xmlns:a="http://schemas.openxmlformats.org/drawingml/2006/main">
            <a:r>
              <a:t>셋째, E에 쓰는 규칙입니다. 질의를 보기 전에 문맥을 예산 B_s로 오프라인 처리해 learned context ĉ를 만들고, 그것을 store에 기록합니다. S는 절차입니다. 이 절차 안에 실제로 추론이 들어 있느냐가 판별식 두 번째 조건의 내용이 됩니다. RAG는 여기가 항등사상이라 예산이 0입니다. wr은 쓰기 연산자입니다. 덮어쓰기인가, 합집합인가, ADD/UPDATE/DELETE를 판단하는가 — 이 형태가 E-경로 논문들을 가르는 축입니다. 세 식의 차이는 전부 좌변에 있습니다. 그래서 어떤 논문을 읽든 첫 질문은 하나입니다: 이 절차의 좌변은 무엇인가.</a:t>
            </a:r>
            <a:endParaRPr/>
          </a:p>
          <a:p xmlns:a="http://schemas.openxmlformats.org/drawingml/2006/main">
            <a:r>
              <a:t/>
            </a:r>
            <a:endParaRPr/>
          </a:p>
          <a:p xmlns:a="http://schemas.openxmlformats.org/drawingml/2006/main">
            <a:r>
              <a:t>• ĉ = S(c;B_s): ⇒ 시계는 세션</a:t>
            </a:r>
            <a:endParaRPr/>
          </a:p>
          <a:p xmlns:a="http://schemas.openxmlformats.org/drawingml/2006/main">
            <a:r>
              <a:t>• wr 쓰기연산: S에 추론이 들어 있는지가 조건 (2)의 내용이다</a:t>
            </a:r>
            <a:endParaRPr/>
          </a:p>
          <a:p xmlns:a="http://schemas.openxmlformats.org/drawingml/2006/main">
            <a:r>
              <a:t>• 시계 = 세션: </a:t>
            </a:r>
            <a:endParaRPr/>
          </a:p>
          <a:p xmlns:a="http://schemas.openxmlformats.org/drawingml/2006/main">
            <a:r>
              <a:t>• Θ·W 불변: </a:t>
            </a:r>
            <a:endParaRPr/>
          </a:p>
          <a:p xmlns:a="http://schemas.openxmlformats.org/drawingml/2006/main">
            <a:r>
              <a:t/>
            </a:r>
            <a:endParaRPr/>
          </a:p>
          <a:p xmlns:a="http://schemas.openxmlformats.org/drawingml/2006/main">
            <a:r>
              <a:t>[Sources]</a:t>
            </a:r>
            <a:endParaRPr/>
          </a:p>
          <a:p xmlns:a="http://schemas.openxmlformats.org/drawingml/2006/main">
            <a:r>
              <a:t>study-kr-stc ch01 §01.3</a:t>
            </a:r>
            <a:endParaRPr/>
          </a:p>
          <a:p xmlns:a="http://schemas.openxmlformats.org/drawingml/2006/main">
            <a:r>
              <a:t>study-kr-stc ch14, ch15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STC2-016 — 읽는 규칙 하나 — 좌변을 적어라</a:t>
            </a:r>
            <a:endParaRPr/>
          </a:p>
          <a:p xmlns:a="http://schemas.openxmlformats.org/drawingml/2006/main">
            <a:r>
              <a:t>핵심 결론: 좌변을 못 적으면 그 절차는 아직 이해되지 않은 것이다</a:t>
            </a:r>
            <a:endParaRPr/>
          </a:p>
          <a:p xmlns:a="http://schemas.openxmlformats.org/drawingml/2006/main">
            <a:r>
              <a:t/>
            </a:r>
            <a:endParaRPr/>
          </a:p>
          <a:p xmlns:a="http://schemas.openxmlformats.org/drawingml/2006/main">
            <a:r>
              <a:t>[발표 대본]</a:t>
            </a:r>
            <a:endParaRPr/>
          </a:p>
          <a:p xmlns:a="http://schemas.openxmlformats.org/drawingml/2006/main">
            <a:r>
              <a:t>여기서 오늘 가장 실용적인 규칙 하나를 드리겠습니다. 논문을 읽을 때 좌변을 적으십시오. 무엇이 바뀌는가. Θ인가 W인가 E인가. 이게 첫 질문입니다. 그 다음 첨자를 봅니다. 토큰 t인가, sleep 라운드 k인가, 세션 τ인가. 이게 시계입니다. 마지막으로 그 바뀐 상태를 누가 읽는지 봅니다. 같은 질의가 읽으면 test-time compute이고, 이후 질의가 읽으면 sleep입니다. 이 세 질문이 곧 판별식이고, 논문의 제목으로는 셋 다 답할 수 없습니다.</a:t>
            </a:r>
            <a:endParaRPr/>
          </a:p>
          <a:p xmlns:a="http://schemas.openxmlformats.org/drawingml/2006/main">
            <a:r>
              <a:t/>
            </a:r>
            <a:endParaRPr/>
          </a:p>
          <a:p xmlns:a="http://schemas.openxmlformats.org/drawingml/2006/main">
            <a:r>
              <a:t>• 좌변: 무엇이 바뀌는가 — Θ인가 W인가 E인가</a:t>
            </a:r>
            <a:endParaRPr/>
          </a:p>
          <a:p xmlns:a="http://schemas.openxmlformats.org/drawingml/2006/main">
            <a:r>
              <a:t>• 첨자: 언제 바뀌는가 — 토큰 t인가 라운드 k인가</a:t>
            </a:r>
            <a:endParaRPr/>
          </a:p>
          <a:p xmlns:a="http://schemas.openxmlformats.org/drawingml/2006/main">
            <a:r>
              <a:t>• 소비자: 누가 읽는가 — 같은 질의인가 이후 질의인가</a:t>
            </a:r>
            <a:endParaRPr/>
          </a:p>
          <a:p xmlns:a="http://schemas.openxmlformats.org/drawingml/2006/main">
            <a:r>
              <a:t/>
            </a:r>
            <a:endParaRPr/>
          </a:p>
          <a:p xmlns:a="http://schemas.openxmlformats.org/drawingml/2006/main">
            <a:r>
              <a:t>[Sources]</a:t>
            </a:r>
            <a:endParaRPr/>
          </a:p>
          <a:p xmlns:a="http://schemas.openxmlformats.org/drawingml/2006/main">
            <a:r>
              <a:t>study-kr-stc ch01 §01.3</a:t>
            </a:r>
            <a:endParaRPr/>
          </a:p>
          <a:p xmlns:a="http://schemas.openxmlformats.org/drawingml/2006/main">
            <a:r>
              <a:t>study-kr-stc ch11 §11.2.2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STC2-017 — 세 경로 — 실행하는 식과 배포의 변화</a:t>
            </a:r>
            <a:endParaRPr/>
          </a:p>
          <a:p xmlns:a="http://schemas.openxmlformats.org/drawingml/2006/main">
            <a:r>
              <a:t>핵심 결론: 경로를 걸치는 절차는 순서를 밝힌다 — 예: (U-E)로 ĉ를 만든 뒤 그것을 R로 삼아 (U-Θ)를 돈다</a:t>
            </a:r>
            <a:endParaRPr/>
          </a:p>
          <a:p xmlns:a="http://schemas.openxmlformats.org/drawingml/2006/main">
            <a:r>
              <a:t/>
            </a:r>
            <a:endParaRPr/>
          </a:p>
          <a:p xmlns:a="http://schemas.openxmlformats.org/drawingml/2006/main">
            <a:r>
              <a:t>[발표 대본]</a:t>
            </a:r>
            <a:endParaRPr/>
          </a:p>
          <a:p xmlns:a="http://schemas.openxmlformats.org/drawingml/2006/main">
            <a:r>
              <a:t>이제 세 경로를 정의합니다. E-경로는 질의 전 오프라인 추론의 산출물을 모델 밖에 적재합니다. (U-E)만 실행하고 Θ와 W는 불변입니다. W-경로는 문맥을 fast weight로 접어 넣고 원 문맥을 버립니다. (U-W)를 wake가 아니라 오프라인에 추가로 실행합니다. Θ-경로는 경험을 slow weights로 통합합니다. 배포 아티팩트가 바뀝니다 — 이게 결정적 차이입니다. 그리고 두 경로를 걸치는 절차는 순서를 밝힙니다. 오늘 뒤에서 볼 논문 하나가 정확히 그것을 합니다 — wake에서 W에 쌓고 sleep에서 Θ로 이송합니다.</a:t>
            </a:r>
            <a:endParaRPr/>
          </a:p>
          <a:p xmlns:a="http://schemas.openxmlformats.org/drawingml/2006/main">
            <a:r>
              <a:t/>
            </a:r>
            <a:endParaRPr/>
          </a:p>
          <a:p xmlns:a="http://schemas.openxmlformats.org/drawingml/2006/main">
            <a:r>
              <a:t>• E-경로: 레코드 · (U-E)만 실행, 배포 불변</a:t>
            </a:r>
            <a:endParaRPr/>
          </a:p>
          <a:p xmlns:a="http://schemas.openxmlformats.org/drawingml/2006/main">
            <a:r>
              <a:t>• W-경로: 텐서 · (U-W)를 오프라인에 추가 실행</a:t>
            </a:r>
            <a:endParaRPr/>
          </a:p>
          <a:p xmlns:a="http://schemas.openxmlformats.org/drawingml/2006/main">
            <a:r>
              <a:t>• Θ-경로: delta · (U-Θ) 실행, 배포가 바뀐다</a:t>
            </a:r>
            <a:endParaRPr/>
          </a:p>
          <a:p xmlns:a="http://schemas.openxmlformats.org/drawingml/2006/main">
            <a:r>
              <a:t>• 합성: 순서 · 어느 식을 먼저 도는지 밝힌다</a:t>
            </a:r>
            <a:endParaRPr/>
          </a:p>
          <a:p xmlns:a="http://schemas.openxmlformats.org/drawingml/2006/main">
            <a:r>
              <a:t/>
            </a:r>
            <a:endParaRPr/>
          </a:p>
          <a:p xmlns:a="http://schemas.openxmlformats.org/drawingml/2006/main">
            <a:r>
              <a:t>[Sources]</a:t>
            </a:r>
            <a:endParaRPr/>
          </a:p>
          <a:p xmlns:a="http://schemas.openxmlformats.org/drawingml/2006/main">
            <a:r>
              <a:t>study-kr-stc ch01 §01.4 표 1-2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STC2-018 — training 어휘 ① — 무엇이 언제 움직이는가</a:t>
            </a:r>
            <a:endParaRPr/>
          </a:p>
          <a:p xmlns:a="http://schemas.openxmlformats.org/drawingml/2006/main">
            <a:r>
              <a:t>핵심 결론: 네 레짐의 차이는 데이터의 출처와 갱신의 시계이지 optimizer가 아니다</a:t>
            </a:r>
            <a:endParaRPr/>
          </a:p>
          <a:p xmlns:a="http://schemas.openxmlformats.org/drawingml/2006/main">
            <a:r>
              <a:t/>
            </a:r>
            <a:endParaRPr/>
          </a:p>
          <a:p xmlns:a="http://schemas.openxmlformats.org/drawingml/2006/main">
            <a:r>
              <a:t>[발표 대본]</a:t>
            </a:r>
            <a:endParaRPr/>
          </a:p>
          <a:p xmlns:a="http://schemas.openxmlformats.org/drawingml/2006/main">
            <a:r>
              <a:t>여기서부터 여덟 장은 training 실무를 매일 하지 않는 분들을 위한 최소 어휘입니다. 이미 아는 분은 지나가셔도 됩니다. 먼저 레짐 지도입니다. pre-train은 대량 코퍼스로 Θ 전체를 만듭니다. SFT는 라벨된 응답으로 Θ를 맞춥니다. RL은 보상 신호로 Θ를 밉니다. continual은 배포 후에도 Θ를 계속 옮깁니다. 네 레짐의 차이는 optimizer가 아니라 데이터의 출처와 갱신의 시계입니다. 그리고 오늘의 Θ-경로는 전부 마지막 칸, 즉 continual에 해당합니다. 여러분 어휘로 옮기면 Θ-경로를 쓴다는 것은 배포 아티팩트를 다시 만든다는 뜻이고, 그 절차는 아무리 빨라도 요청 하나의 지연 안에 들어가지 않습니다.</a:t>
            </a:r>
            <a:endParaRPr/>
          </a:p>
          <a:p xmlns:a="http://schemas.openxmlformats.org/drawingml/2006/main">
            <a:r>
              <a:t/>
            </a:r>
            <a:endParaRPr/>
          </a:p>
          <a:p xmlns:a="http://schemas.openxmlformats.org/drawingml/2006/main">
            <a:r>
              <a:t>• pre-train: 대량 · 일반 코퍼스로 Θ 전체를 만든다</a:t>
            </a:r>
            <a:endParaRPr/>
          </a:p>
          <a:p xmlns:a="http://schemas.openxmlformats.org/drawingml/2006/main">
            <a:r>
              <a:t>• SFT: 지시 · 라벨된 응답으로 Θ를 맞춘다</a:t>
            </a:r>
            <a:endParaRPr/>
          </a:p>
          <a:p xmlns:a="http://schemas.openxmlformats.org/drawingml/2006/main">
            <a:r>
              <a:t>• RL: 보상 · 선호나 검증 신호로 Θ를 민다</a:t>
            </a:r>
            <a:endParaRPr/>
          </a:p>
          <a:p xmlns:a="http://schemas.openxmlformats.org/drawingml/2006/main">
            <a:r>
              <a:t>• continual: 지속 · 배포 후에도 Θ를 계속 옮긴다</a:t>
            </a:r>
            <a:endParaRPr/>
          </a:p>
          <a:p xmlns:a="http://schemas.openxmlformats.org/drawingml/2006/main">
            <a:r>
              <a:t/>
            </a:r>
            <a:endParaRPr/>
          </a:p>
          <a:p xmlns:a="http://schemas.openxmlformats.org/drawingml/2006/main">
            <a:r>
              <a:t>[Sources]</a:t>
            </a:r>
            <a:endParaRPr/>
          </a:p>
          <a:p xmlns:a="http://schemas.openxmlformats.org/drawingml/2006/main">
            <a:r>
              <a:t>study-kr-stc ch02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STC2-019 — training 어휘 ② — fine-tuning과 PEFT, 그리고 rank</a:t>
            </a:r>
            <a:endParaRPr/>
          </a:p>
          <a:p xmlns:a="http://schemas.openxmlformats.org/drawingml/2006/main">
            <a:r>
              <a:t>핵심 결론: LoRA는 배포 경제학을 풀었지 기억 문제를 풀지 않았다 — 오늘 그 차이가 계속 걸린다</a:t>
            </a:r>
            <a:endParaRPr/>
          </a:p>
          <a:p xmlns:a="http://schemas.openxmlformats.org/drawingml/2006/main">
            <a:r>
              <a:t/>
            </a:r>
            <a:endParaRPr/>
          </a:p>
          <a:p xmlns:a="http://schemas.openxmlformats.org/drawingml/2006/main">
            <a:r>
              <a:t>[발표 대본]</a:t>
            </a:r>
            <a:endParaRPr/>
          </a:p>
          <a:p xmlns:a="http://schemas.openxmlformats.org/drawingml/2006/main">
            <a:r>
              <a:t>둘째, fine-tuning과 PEFT입니다. 오늘 Θ-경로 논문들이 전부 이 어휘 위에 서 있습니다. full fine-tuning은 모든 파라미터를 옮깁니다. 사용자별로 하면 사본이 통째로 생깁니다. LoRA는 가중치에 저랭크 증분을 더합니다. 두 개의 얇은 행렬 곱이라 파라미터 수가 원본의 천분의 일 수준입니다. 오늘 계속 나올 두 손잡이가 여기 있습니다 — rank r과 적용 행렬 집합 S. 저장 바이트가 이 둘에 선형으로 붙고, 뒤에서 사용자 백만 명을 곱할 때 이 두 숫자가 TB 단위를 정합니다. 그리고 미리 못 박아 둘 것이 하나. LoRA는 배포 경제학을 풀었지 기억 문제를 풀지 않았습니다. 그 차이가 오늘 계속 걸립니다.</a:t>
            </a:r>
            <a:endParaRPr/>
          </a:p>
          <a:p xmlns:a="http://schemas.openxmlformats.org/drawingml/2006/main">
            <a:r>
              <a:t/>
            </a:r>
            <a:endParaRPr/>
          </a:p>
          <a:p xmlns:a="http://schemas.openxmlformats.org/drawingml/2006/main">
            <a:r>
              <a:t>• full FT: 전 파라미터 · 사본</a:t>
            </a:r>
            <a:endParaRPr/>
          </a:p>
          <a:p xmlns:a="http://schemas.openxmlformats.org/drawingml/2006/main">
            <a:r>
              <a:t>• adapter: 층 사이 작은 모듈</a:t>
            </a:r>
            <a:endParaRPr/>
          </a:p>
          <a:p xmlns:a="http://schemas.openxmlformats.org/drawingml/2006/main">
            <a:r>
              <a:t>• LoRA: ΔΘ = BA</a:t>
            </a:r>
            <a:endParaRPr/>
          </a:p>
          <a:p xmlns:a="http://schemas.openxmlformats.org/drawingml/2006/main">
            <a:r>
              <a:t>• rank r: 자유도 · 바이트</a:t>
            </a:r>
            <a:endParaRPr/>
          </a:p>
          <a:p xmlns:a="http://schemas.openxmlformats.org/drawingml/2006/main">
            <a:r>
              <a:t>• 집합 S: q,v 대 q,k,v,o</a:t>
            </a:r>
            <a:endParaRPr/>
          </a:p>
          <a:p xmlns:a="http://schemas.openxmlformats.org/drawingml/2006/main">
            <a:r>
              <a:t>• QLoRA: base 양자화</a:t>
            </a:r>
            <a:endParaRPr/>
          </a:p>
          <a:p xmlns:a="http://schemas.openxmlformats.org/drawingml/2006/main">
            <a:r>
              <a:t/>
            </a:r>
            <a:endParaRPr/>
          </a:p>
          <a:p xmlns:a="http://schemas.openxmlformats.org/drawingml/2006/main">
            <a:r>
              <a:t>[Sources]</a:t>
            </a:r>
            <a:endParaRPr/>
          </a:p>
          <a:p xmlns:a="http://schemas.openxmlformats.org/drawingml/2006/main">
            <a:r>
              <a:t>study-kr-stc ch03 §03.5–03.6</a:t>
            </a:r>
            <a:endParaRPr/>
          </a:p>
          <a:p xmlns:a="http://schemas.openxmlformats.org/drawingml/2006/main">
            <a:r>
              <a:t>[LoRA arXiv:2106.09685] §4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STC2-020 — training 어휘 ③ — distillation, 그리고 교사가 누구인가</a:t>
            </a:r>
            <a:endParaRPr/>
          </a:p>
          <a:p xmlns:a="http://schemas.openxmlformats.org/drawingml/2006/main">
            <a:r>
              <a:t>핵심 결론: sleep 라운드의 교사가 누구인가 — 이 질문이 뒤에서 반복 열화의 부호를 정한다</a:t>
            </a:r>
            <a:endParaRPr/>
          </a:p>
          <a:p xmlns:a="http://schemas.openxmlformats.org/drawingml/2006/main">
            <a:r>
              <a:t/>
            </a:r>
            <a:endParaRPr/>
          </a:p>
          <a:p xmlns:a="http://schemas.openxmlformats.org/drawingml/2006/main">
            <a:r>
              <a:t>[발표 대본]</a:t>
            </a:r>
            <a:endParaRPr/>
          </a:p>
          <a:p xmlns:a="http://schemas.openxmlformats.org/drawingml/2006/main">
            <a:r>
              <a:t>셋째, distillation입니다. 교사 모델의 출력을 학생이 따라 배우는 절차인데, 오늘 중요한 것은 기법이 아니라 질문 하나입니다 — 교사가 누구인가. 교사를 초기 체크포인트 Θ_0에 고정하면 frozen-teacher이고, 라운드마다 갱신된 자기 자신으로 두면 self-distillation입니다. 이 선택이 뒤에서 결정적으로 걸립니다. 반복 sleep 라운드에서 교사를 자기 자신으로 두면 무너지고, 보존된 원본에 앵커하면 오래 버팁니다. 그 부호는 오늘 세 곳에서 독립적으로 확인됩니다 — 원 논문의 순차 증류 대비, model collapse 이론, 그리고 제가 돌린 최소모형.</a:t>
            </a:r>
            <a:endParaRPr/>
          </a:p>
          <a:p xmlns:a="http://schemas.openxmlformats.org/drawingml/2006/main">
            <a:r>
              <a:t/>
            </a:r>
            <a:endParaRPr/>
          </a:p>
          <a:p xmlns:a="http://schemas.openxmlformats.org/drawingml/2006/main">
            <a:r>
              <a:t>• logit: 교사의 출력 분포를 학생이 따라 배운다</a:t>
            </a:r>
            <a:endParaRPr/>
          </a:p>
          <a:p xmlns:a="http://schemas.openxmlformats.org/drawingml/2006/main">
            <a:r>
              <a:t>• feature: 중간 표현을 맞춘다</a:t>
            </a:r>
            <a:endParaRPr/>
          </a:p>
          <a:p xmlns:a="http://schemas.openxmlformats.org/drawingml/2006/main">
            <a:r>
              <a:t>• self: 교사가 자기 자신. 라운드마다 갱신된다</a:t>
            </a:r>
            <a:endParaRPr/>
          </a:p>
          <a:p xmlns:a="http://schemas.openxmlformats.org/drawingml/2006/main">
            <a:r>
              <a:t>• frozen: 교사를 Θ_0에 고정한다</a:t>
            </a:r>
            <a:endParaRPr/>
          </a:p>
          <a:p xmlns:a="http://schemas.openxmlformats.org/drawingml/2006/main">
            <a:r>
              <a:t/>
            </a:r>
            <a:endParaRPr/>
          </a:p>
          <a:p xmlns:a="http://schemas.openxmlformats.org/drawingml/2006/main">
            <a:r>
              <a:t>[Sources]</a:t>
            </a:r>
            <a:endParaRPr/>
          </a:p>
          <a:p xmlns:a="http://schemas.openxmlformats.org/drawingml/2006/main">
            <a:r>
              <a:t>study-kr-stc ch04</a:t>
            </a:r>
            <a:endParaRPr/>
          </a:p>
          <a:p xmlns:a="http://schemas.openxmlformats.org/drawingml/2006/main">
            <a:r>
              <a:t>[Continual Facts §6.2]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STC2-021 — training 어휘 ④ — RL과 보상, 그리고 reward hacking</a:t>
            </a:r>
            <a:endParaRPr/>
          </a:p>
          <a:p xmlns:a="http://schemas.openxmlformats.org/drawingml/2006/main">
            <a:r>
              <a:t>핵심 결론: Θ-경로 sleep 논문 둘 다 쓰기 검증이 외부 신호에 의존하고, 그 신호가 실질 병목이다</a:t>
            </a:r>
            <a:endParaRPr/>
          </a:p>
          <a:p xmlns:a="http://schemas.openxmlformats.org/drawingml/2006/main">
            <a:r>
              <a:t/>
            </a:r>
            <a:endParaRPr/>
          </a:p>
          <a:p xmlns:a="http://schemas.openxmlformats.org/drawingml/2006/main">
            <a:r>
              <a:t>[발표 대본]</a:t>
            </a:r>
            <a:endParaRPr/>
          </a:p>
          <a:p xmlns:a="http://schemas.openxmlformats.org/drawingml/2006/main">
            <a:r>
              <a:t>넷째, RL입니다. 보상으로 Θ를 옮기는 경로입니다. RLHF는 사람의 비교로 보상 모델을 만들어 그것으로 밉니다. DPO는 보상 모델 없이 선호 쌍으로 바로 밉니다. RLVR은 정답이 기계 검증되는 과제 — 수학이나 코드 — 에 씁니다. 그리고 reward hacking. 보상 지표를 속이는 해로 수렴하는 현상입니다. 오늘 이 어휘가 필요한 이유는 하나입니다. Θ-경로 sleep 논문 둘 다 '무엇을 학습 집합에 넣을지'를 외부 신호로 판정합니다. 한 편은 문맥마다 정답 라벨을 요구하고, 다른 한 편은 이름도 크기도 밝혀지지 않은 외부 frozen reward model에 의존합니다. 그 논문의 실질 걸림돌은 계산이 아니라 그 oracle입니다.</a:t>
            </a:r>
            <a:endParaRPr/>
          </a:p>
          <a:p xmlns:a="http://schemas.openxmlformats.org/drawingml/2006/main">
            <a:r>
              <a:t/>
            </a:r>
            <a:endParaRPr/>
          </a:p>
          <a:p xmlns:a="http://schemas.openxmlformats.org/drawingml/2006/main">
            <a:r>
              <a:t>• RLHF: 선호 · 사람 비교로 보상 모델을 만든다</a:t>
            </a:r>
            <a:endParaRPr/>
          </a:p>
          <a:p xmlns:a="http://schemas.openxmlformats.org/drawingml/2006/main">
            <a:r>
              <a:t>• DPO: 직접 · 보상 모델 없이 선호로 바로 민다</a:t>
            </a:r>
            <a:endParaRPr/>
          </a:p>
          <a:p xmlns:a="http://schemas.openxmlformats.org/drawingml/2006/main">
            <a:r>
              <a:t>• RLVR: 검증 · 정답이 기계 검증되는 과제에 쓴다</a:t>
            </a:r>
            <a:endParaRPr/>
          </a:p>
          <a:p xmlns:a="http://schemas.openxmlformats.org/drawingml/2006/main">
            <a:r>
              <a:t>• hacking: 보상 · 지표를 속이는 해로 수렴한다</a:t>
            </a:r>
            <a:endParaRPr/>
          </a:p>
          <a:p xmlns:a="http://schemas.openxmlformats.org/drawingml/2006/main">
            <a:r>
              <a:t/>
            </a:r>
            <a:endParaRPr/>
          </a:p>
          <a:p xmlns:a="http://schemas.openxmlformats.org/drawingml/2006/main">
            <a:r>
              <a:t>[Sources]</a:t>
            </a:r>
            <a:endParaRPr/>
          </a:p>
          <a:p xmlns:a="http://schemas.openxmlformats.org/drawingml/2006/main">
            <a:r>
              <a:t>study-kr-stc ch05</a:t>
            </a:r>
            <a:endParaRPr/>
          </a:p>
          <a:p xmlns:a="http://schemas.openxmlformats.org/drawingml/2006/main">
            <a:r>
              <a:t>study-kr-stc ch20 §20.7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STC2-022 — training 어휘 ⑤ — 데이터를 만드는 법과 model collapse</a:t>
            </a:r>
            <a:endParaRPr/>
          </a:p>
          <a:p xmlns:a="http://schemas.openxmlformats.org/drawingml/2006/main">
            <a:r>
              <a:t>핵심 결론: 합성만 늘리는 것은 발산을 선형에서 로그로 낮출 뿐 유계로 만들지 못한다</a:t>
            </a:r>
            <a:endParaRPr/>
          </a:p>
          <a:p xmlns:a="http://schemas.openxmlformats.org/drawingml/2006/main">
            <a:r>
              <a:t/>
            </a:r>
            <a:endParaRPr/>
          </a:p>
          <a:p xmlns:a="http://schemas.openxmlformats.org/drawingml/2006/main">
            <a:r>
              <a:t>[발표 대본]</a:t>
            </a:r>
            <a:endParaRPr/>
          </a:p>
          <a:p xmlns:a="http://schemas.openxmlformats.org/drawingml/2006/main">
            <a:r>
              <a:t>다섯째, 자기 생성 데이터입니다. R_k를 모델이 스스로 만들면 어떻게 되는가. 세 스케줄이 있습니다. replace는 합성으로 원본을 갈아치웁니다 — 위험이 라운드에 선형으로 발산합니다. replace-multiple은 합성만 늘립니다 — 로그로 발산합니다. accumulate는 원본을 남기고 쌓습니다 — 유계입니다. 여기에 제 최소모형이 하나 더합니다. 그 세 함수형은 설계행렬이 아예 없는 가우시안 위치 모형에서도 그대로 재유도됩니다. 즉 1/i 가중은 선형회귀의 성질이 아니라 데이터 스케줄의 성질입니다. 그리고 더 중요한 것 — 그 정리는 라운드마다 분산을 상수로 재주입하므로 2차 모멘트를 원리적으로 볼 수 없습니다. 실제로 죽는 좌표가 거기입니다. 원 논문의 VAE 실험이 바로 그 자리에서 실패했습니다.</a:t>
            </a:r>
            <a:endParaRPr/>
          </a:p>
          <a:p xmlns:a="http://schemas.openxmlformats.org/drawingml/2006/main">
            <a:r>
              <a:t/>
            </a:r>
            <a:endParaRPr/>
          </a:p>
          <a:p xmlns:a="http://schemas.openxmlformats.org/drawingml/2006/main">
            <a:r>
              <a:t>• gen(H;B_s): 경험에서 학습 집합을 만드는 절차</a:t>
            </a:r>
            <a:endParaRPr/>
          </a:p>
          <a:p xmlns:a="http://schemas.openxmlformats.org/drawingml/2006/main">
            <a:r>
              <a:t>• replace: 합성으로 원본을 갈아치운다 — 위험 ~ k</a:t>
            </a:r>
            <a:endParaRPr/>
          </a:p>
          <a:p xmlns:a="http://schemas.openxmlformats.org/drawingml/2006/main">
            <a:r>
              <a:t>• replace-mult: 합성만 늘린다 — 위험 ~ log k</a:t>
            </a:r>
            <a:endParaRPr/>
          </a:p>
          <a:p xmlns:a="http://schemas.openxmlformats.org/drawingml/2006/main">
            <a:r>
              <a:t>• accumulate: 원본을 남기고 쌓는다 — 유계</a:t>
            </a:r>
            <a:endParaRPr/>
          </a:p>
          <a:p xmlns:a="http://schemas.openxmlformats.org/drawingml/2006/main">
            <a:r>
              <a:t>• 2차 모멘트: 정리가 볼 수 없는 좌표. 여기서 죽는다</a:t>
            </a:r>
            <a:endParaRPr/>
          </a:p>
          <a:p xmlns:a="http://schemas.openxmlformats.org/drawingml/2006/main">
            <a:r>
              <a:t/>
            </a:r>
            <a:endParaRPr/>
          </a:p>
          <a:p xmlns:a="http://schemas.openxmlformats.org/drawingml/2006/main">
            <a:r>
              <a:t>[Sources]</a:t>
            </a:r>
            <a:endParaRPr/>
          </a:p>
          <a:p xmlns:a="http://schemas.openxmlformats.org/drawingml/2006/main">
            <a:r>
              <a:t>study-kr-stc ch06 §06.6</a:t>
            </a:r>
            <a:endParaRPr/>
          </a:p>
          <a:p xmlns:a="http://schemas.openxmlformats.org/drawingml/2006/main">
            <a:r>
              <a:t>[model collapse Eq. 3, 4, 11; §2.3]</a:t>
            </a:r>
            <a:endParaRPr/>
          </a:p>
          <a:p xmlns:a="http://schemas.openxmlformats.org/drawingml/2006/main">
            <a:r>
              <a:t>experiments/stc/X4 PART 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STC2-023 — training 어휘 ⑥ — 망각과 replay, 그리고 ρ의 정체</a:t>
            </a:r>
            <a:endParaRPr/>
          </a:p>
          <a:p xmlns:a="http://schemas.openxmlformats.org/drawingml/2006/main">
            <a:r>
              <a:t>핵심 결론: ρ는 '라운드당 몇 %'로 보고되지만 무엇을 재느냐가 그 모양을 바꾼다</a:t>
            </a:r>
            <a:endParaRPr/>
          </a:p>
          <a:p xmlns:a="http://schemas.openxmlformats.org/drawingml/2006/main">
            <a:r>
              <a:t/>
            </a:r>
            <a:endParaRPr/>
          </a:p>
          <a:p xmlns:a="http://schemas.openxmlformats.org/drawingml/2006/main">
            <a:r>
              <a:t>[발표 대본]</a:t>
            </a:r>
            <a:endParaRPr/>
          </a:p>
          <a:p xmlns:a="http://schemas.openxmlformats.org/drawingml/2006/main">
            <a:r>
              <a:t>여섯째, 망각과 replay입니다. 오늘 비용 4종 중 마지막 값인 ρ가 이 장에서 나옵니다. catastrophic forgetting은 새것을 배우면 이전 것이 손상되는 현상입니다. 대응은 세 갈래입니다 — 옛 데이터를 섞는 rehearsal, 중요한 파라미터의 이동에 벌점을 주는 EWC, 옛 과제 손실이 늘지 않는 방향으로 사영하는 GEM. 혼합비 ω와 성능행렬 Π를 기억해 주십시오. ρ는 그 행렬에서 읽는 값입니다. 그리고 오늘 이 값에 대해 드릴 결론을 미리 말씀드리면 — corpus에서 ρ를 라운드당 비율로 인쇄한 논문이 0편입니다. 그리고 그게 게으름이 아니라는 것도 뒤에서 보이겠습니다. 무엇을 재느냐가 열화의 모양 자체를 바꿉니다.</a:t>
            </a:r>
            <a:endParaRPr/>
          </a:p>
          <a:p xmlns:a="http://schemas.openxmlformats.org/drawingml/2006/main">
            <a:r>
              <a:t/>
            </a:r>
            <a:endParaRPr/>
          </a:p>
          <a:p xmlns:a="http://schemas.openxmlformats.org/drawingml/2006/main">
            <a:r>
              <a:t>• forgetting: 새것이 옛것을 지운다</a:t>
            </a:r>
            <a:endParaRPr/>
          </a:p>
          <a:p xmlns:a="http://schemas.openxmlformats.org/drawingml/2006/main">
            <a:r>
              <a:t>• rehearsal: 옛 데이터 재투입</a:t>
            </a:r>
            <a:endParaRPr/>
          </a:p>
          <a:p xmlns:a="http://schemas.openxmlformats.org/drawingml/2006/main">
            <a:r>
              <a:t>• EWC: 이동에 벌점</a:t>
            </a:r>
            <a:endParaRPr/>
          </a:p>
          <a:p xmlns:a="http://schemas.openxmlformats.org/drawingml/2006/main">
            <a:r>
              <a:t>• GEM: 손실 증가 방향 차단</a:t>
            </a:r>
            <a:endParaRPr/>
          </a:p>
          <a:p xmlns:a="http://schemas.openxmlformats.org/drawingml/2006/main">
            <a:r>
              <a:t>• 혼합비 ω: replay 비율</a:t>
            </a:r>
            <a:endParaRPr/>
          </a:p>
          <a:p xmlns:a="http://schemas.openxmlformats.org/drawingml/2006/main">
            <a:r>
              <a:t>• 행렬 Π: 과제 × 시점 → ρ</a:t>
            </a:r>
            <a:endParaRPr/>
          </a:p>
          <a:p xmlns:a="http://schemas.openxmlformats.org/drawingml/2006/main">
            <a:r>
              <a:t/>
            </a:r>
            <a:endParaRPr/>
          </a:p>
          <a:p xmlns:a="http://schemas.openxmlformats.org/drawingml/2006/main">
            <a:r>
              <a:t>[Sources]</a:t>
            </a:r>
            <a:endParaRPr/>
          </a:p>
          <a:p xmlns:a="http://schemas.openxmlformats.org/drawingml/2006/main">
            <a:r>
              <a:t>study-kr-stc ch07</a:t>
            </a:r>
            <a:endParaRPr/>
          </a:p>
          <a:p xmlns:a="http://schemas.openxmlformats.org/drawingml/2006/main">
            <a:r>
              <a:t>study-kr-stc ch22 §22.5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STC2-024 — training 어휘 ⑦ — CLS와 생물학적 sleep, 그리고 은유의 담보</a:t>
            </a:r>
            <a:endParaRPr/>
          </a:p>
          <a:p xmlns:a="http://schemas.openxmlformats.org/drawingml/2006/main">
            <a:r>
              <a:t>핵심 결론: 이름은 생물학에서 왔고 논증은 오지 않았다 — 담보 확인은 뒤에서 다시 한다</a:t>
            </a:r>
            <a:endParaRPr/>
          </a:p>
          <a:p xmlns:a="http://schemas.openxmlformats.org/drawingml/2006/main">
            <a:r>
              <a:t/>
            </a:r>
            <a:endParaRPr/>
          </a:p>
          <a:p xmlns:a="http://schemas.openxmlformats.org/drawingml/2006/main">
            <a:r>
              <a:t>[발표 대본]</a:t>
            </a:r>
            <a:endParaRPr/>
          </a:p>
          <a:p xmlns:a="http://schemas.openxmlformats.org/drawingml/2006/main">
            <a:r>
              <a:t>일곱째, 이 라인이 이름을 빌려 온 자리입니다. Complementary Learning Systems 이론은 빠른 학습기와 느린 통합기 두 시스템을 놓습니다. 해마가 빨리 배우고, 오프라인에 그 경험을 다시 돌려 신피질로 통합한다는 그림입니다. 왜 오프라인이냐. 간섭을 줄이고 통합할 시간을 벌기 위해서입니다. 여기까지 들으면 sleep-time compute의 서사와 정확히 겹칩니다. 그런데 오늘 발표에서 제가 확인해 드릴 사실 하나 — 이 라인에 이름을 준 논문은 CLS도 hippocampal replay도 한 편도 인용하지 않습니다. 이름은 왔고 논증은 오지 않았습니다.</a:t>
            </a:r>
            <a:endParaRPr/>
          </a:p>
          <a:p xmlns:a="http://schemas.openxmlformats.org/drawingml/2006/main">
            <a:r>
              <a:t/>
            </a:r>
            <a:endParaRPr/>
          </a:p>
          <a:p xmlns:a="http://schemas.openxmlformats.org/drawingml/2006/main">
            <a:r>
              <a:t>• CLS: 빠른 학습기와 느린 통합기 두 시스템</a:t>
            </a:r>
            <a:endParaRPr/>
          </a:p>
          <a:p xmlns:a="http://schemas.openxmlformats.org/drawingml/2006/main">
            <a:r>
              <a:t>• replay: 오프라인에 경험을 다시 돌린다</a:t>
            </a:r>
            <a:endParaRPr/>
          </a:p>
          <a:p xmlns:a="http://schemas.openxmlformats.org/drawingml/2006/main">
            <a:r>
              <a:t>• 왜 오프라인: 간섭을 줄이고 통합할 시간을 벌기 위해</a:t>
            </a:r>
            <a:endParaRPr/>
          </a:p>
          <a:p xmlns:a="http://schemas.openxmlformats.org/drawingml/2006/main">
            <a:r>
              <a:t>• 담보: 이 라인은 그 논증을 빌려오지 않았다</a:t>
            </a:r>
            <a:endParaRPr/>
          </a:p>
          <a:p xmlns:a="http://schemas.openxmlformats.org/drawingml/2006/main">
            <a:r>
              <a:t/>
            </a:r>
            <a:endParaRPr/>
          </a:p>
          <a:p xmlns:a="http://schemas.openxmlformats.org/drawingml/2006/main">
            <a:r>
              <a:t>[Sources]</a:t>
            </a:r>
            <a:endParaRPr/>
          </a:p>
          <a:p xmlns:a="http://schemas.openxmlformats.org/drawingml/2006/main">
            <a:r>
              <a:t>study-kr-stc ch08</a:t>
            </a:r>
            <a:endParaRPr/>
          </a:p>
          <a:p xmlns:a="http://schemas.openxmlformats.org/drawingml/2006/main">
            <a:r>
              <a:t>study-kr-stc ch23 §23.8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STC2-025 — training 어휘 ⑧ — 기억 용량, 그리고 그 값이 하한이라는 사실</a:t>
            </a:r>
            <a:endParaRPr/>
          </a:p>
          <a:p xmlns:a="http://schemas.openxmlformats.org/drawingml/2006/main">
            <a:r>
              <a:t>핵심 결론: 3.64는 하한이다. 상한으로 쓰면 뒤집힌다</a:t>
            </a:r>
            <a:endParaRPr/>
          </a:p>
          <a:p xmlns:a="http://schemas.openxmlformats.org/drawingml/2006/main">
            <a:r>
              <a:t/>
            </a:r>
            <a:endParaRPr/>
          </a:p>
          <a:p xmlns:a="http://schemas.openxmlformats.org/drawingml/2006/main">
            <a:r>
              <a:t>[발표 대본]</a:t>
            </a:r>
            <a:endParaRPr/>
          </a:p>
          <a:p xmlns:a="http://schemas.openxmlformats.org/drawingml/2006/main">
            <a:r>
              <a:t>여덟째, 용량입니다. 파라미터 하나에 데이터셋 정보가 몇 bit나 담기는가. 측정치는 파라미터당 3.64 bits이고, 설정별 밴드가 2.86에서 4.23입니다. 정밀도를 bf16에서 fp32로 두 배 올려도 측정된 용량은 3.51에서 3.83으로 9.1퍼센트만 오릅니다. 그릇을 키워도 내용이 따라오지 않습니다. 그런데 오늘 이 숫자에서 가장 중요한 것은 값이 아니라 방향입니다. 원 논문이 명시적으로 씁니다 — 우리는 언제나 모델 용량의 하한만 재고 있다. 이 문장을 놓치면 부등호가 뒤집힙니다. 실제로 제 실험 하나가 초판에서 이 값을 상한으로 놓고 계산했다가 결론을 철회했습니다. 그 사건은 뒤에서 따로 한 장 쓰겠습니다.</a:t>
            </a:r>
            <a:endParaRPr/>
          </a:p>
          <a:p xmlns:a="http://schemas.openxmlformats.org/drawingml/2006/main">
            <a:r>
              <a:t/>
            </a:r>
            <a:endParaRPr/>
          </a:p>
          <a:p xmlns:a="http://schemas.openxmlformats.org/drawingml/2006/main">
            <a:r>
              <a:t>• bits/param 3.64: </a:t>
            </a:r>
            <a:endParaRPr/>
          </a:p>
          <a:p xmlns:a="http://schemas.openxmlformats.org/drawingml/2006/main">
            <a:r>
              <a:t>• 밴드 2.86–4.23: </a:t>
            </a:r>
            <a:endParaRPr/>
          </a:p>
          <a:p xmlns:a="http://schemas.openxmlformats.org/drawingml/2006/main">
            <a:r>
              <a:t>• bf16 3.51: </a:t>
            </a:r>
            <a:endParaRPr/>
          </a:p>
          <a:p xmlns:a="http://schemas.openxmlformats.org/drawingml/2006/main">
            <a:r>
              <a:t>• fp32 3.83: </a:t>
            </a:r>
            <a:endParaRPr/>
          </a:p>
          <a:p xmlns:a="http://schemas.openxmlformats.org/drawingml/2006/main">
            <a:r>
              <a:t>• 명시된 하한: </a:t>
            </a:r>
            <a:endParaRPr/>
          </a:p>
          <a:p xmlns:a="http://schemas.openxmlformats.org/drawingml/2006/main">
            <a:r>
              <a:t/>
            </a:r>
            <a:endParaRPr/>
          </a:p>
          <a:p xmlns:a="http://schemas.openxmlformats.org/drawingml/2006/main">
            <a:r>
              <a:t>[Sources]</a:t>
            </a:r>
            <a:endParaRPr/>
          </a:p>
          <a:p xmlns:a="http://schemas.openxmlformats.org/drawingml/2006/main">
            <a:r>
              <a:t>study-kr-stc ch09 §09.2.2</a:t>
            </a:r>
            <a:endParaRPr/>
          </a:p>
          <a:p xmlns:a="http://schemas.openxmlformats.org/drawingml/2006/main">
            <a:r>
              <a:t>[lm-memorization-capacity §3.2 'only ever measuring a lower bound']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STC2-026 — training 어휘 ⑨ — 외부 기억과 검색 비용</a:t>
            </a:r>
            <a:endParaRPr/>
          </a:p>
          <a:p xmlns:a="http://schemas.openxmlformats.org/drawingml/2006/main">
            <a:r>
              <a:t>핵심 결론: RAG는 저장 전에 추론이 없다. 이 사실이 뒤에서 판별식 조건 (2)의 내용이 된다</a:t>
            </a:r>
            <a:endParaRPr/>
          </a:p>
          <a:p xmlns:a="http://schemas.openxmlformats.org/drawingml/2006/main">
            <a:r>
              <a:t/>
            </a:r>
            <a:endParaRPr/>
          </a:p>
          <a:p xmlns:a="http://schemas.openxmlformats.org/drawingml/2006/main">
            <a:r>
              <a:t>[발표 대본]</a:t>
            </a:r>
            <a:endParaRPr/>
          </a:p>
          <a:p xmlns:a="http://schemas.openxmlformats.org/drawingml/2006/main">
            <a:r>
              <a:t>마지막 아홉째, 외부 기억입니다. 이건 여러분이 이미 아는 영역입니다. RAG는 문서를 잘라 인코딩해 색인에 넣습니다. 저장 전에 어떤 추론도 하지 않습니다 — S가 항등사상이고 문맥당 예산이 0입니다. 비용은 두 자리에 잡힙니다. 질의당 한 번의 검색 지연, 그리고 회수된 문서가 프롬프트에 실리면서 늘어나는 prefill입니다. 그리고 오늘 계속 걸릴 사실 하나 — RAG는 상태 용량을 바이트로 보고한 유일한 문헌인데, 그 단위가 corpus당입니다. 사용자당으로 단위가 바뀌는 바로 그 지점에서 숫자가 사라집니다.</a:t>
            </a:r>
            <a:endParaRPr/>
          </a:p>
          <a:p xmlns:a="http://schemas.openxmlformats.org/drawingml/2006/main">
            <a:r>
              <a:t/>
            </a:r>
            <a:endParaRPr/>
          </a:p>
          <a:p xmlns:a="http://schemas.openxmlformats.org/drawingml/2006/main">
            <a:r>
              <a:t>• 청킹·인코딩: 문서를 잘라 벡터로 만든다. 추론 없음</a:t>
            </a:r>
            <a:endParaRPr/>
          </a:p>
          <a:p xmlns:a="http://schemas.openxmlformats.org/drawingml/2006/main">
            <a:r>
              <a:t>• 인덱스: corpus당 수십 GB. host DRAM에 산다</a:t>
            </a:r>
            <a:endParaRPr/>
          </a:p>
          <a:p xmlns:a="http://schemas.openxmlformats.org/drawingml/2006/main">
            <a:r>
              <a:t>• ret(E,q): 질의당 1회 조회. L_w에만 잡힌다</a:t>
            </a:r>
            <a:endParaRPr/>
          </a:p>
          <a:p xmlns:a="http://schemas.openxmlformats.org/drawingml/2006/main">
            <a:r>
              <a:t>• 프롬프트 증가: 회수된 문서가 prefill을 늘린다</a:t>
            </a:r>
            <a:endParaRPr/>
          </a:p>
          <a:p xmlns:a="http://schemas.openxmlformats.org/drawingml/2006/main">
            <a:r>
              <a:t>• 단위 문제: corpus당 바이트이지 사용자당이 아니다</a:t>
            </a:r>
            <a:endParaRPr/>
          </a:p>
          <a:p xmlns:a="http://schemas.openxmlformats.org/drawingml/2006/main">
            <a:r>
              <a:t/>
            </a:r>
            <a:endParaRPr/>
          </a:p>
          <a:p xmlns:a="http://schemas.openxmlformats.org/drawingml/2006/main">
            <a:r>
              <a:t>[Sources]</a:t>
            </a:r>
            <a:endParaRPr/>
          </a:p>
          <a:p xmlns:a="http://schemas.openxmlformats.org/drawingml/2006/main">
            <a:r>
              <a:t>study-kr-stc ch10 §10.4</a:t>
            </a:r>
            <a:endParaRPr/>
          </a:p>
          <a:p xmlns:a="http://schemas.openxmlformats.org/drawingml/2006/main">
            <a:r>
              <a:t>[RAG arXiv:2005.11401]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STC2-027 — 비용 4종 — 오늘 모든 절차를 이 네 값으로 환산한다</a:t>
            </a:r>
            <a:endParaRPr/>
          </a:p>
          <a:p xmlns:a="http://schemas.openxmlformats.org/drawingml/2006/main">
            <a:r>
              <a:t>핵심 결론: 값이 논문에 없으면 '논문에 없음'이라고 쓴다. 추정치를 본문 수치로 올리지 않는다</a:t>
            </a:r>
            <a:endParaRPr/>
          </a:p>
          <a:p xmlns:a="http://schemas.openxmlformats.org/drawingml/2006/main">
            <a:r>
              <a:t/>
            </a:r>
            <a:endParaRPr/>
          </a:p>
          <a:p xmlns:a="http://schemas.openxmlformats.org/drawingml/2006/main">
            <a:r>
              <a:t>[발표 대본]</a:t>
            </a:r>
            <a:endParaRPr/>
          </a:p>
          <a:p xmlns:a="http://schemas.openxmlformats.org/drawingml/2006/main">
            <a:r>
              <a:t>이제 자를 만듭니다. 오늘 모든 절차를 네 값으로 환산합니다. B_s는 sleep 계산 예산입니다. 여러분 어휘로는 유휴 시간 배치 job의 비용입니다. L_w는 wake 지연 기여입니다. SLA 항목이고, 정의상 sleep은 여기에 0을 기여해야 합니다. 어떤 절차가 L_w를 늘린다면 그건 sleep이 아니라 wake-time 계산입니다. C_cap은 상태 용량, 사용자당 또는 세션당 바이트입니다. ρ는 망각·열화율, 반복 실행의 지속가능성입니다. 규칙 하나. 값이 논문에 없으면 '논문에 없음'이라고 씁니다. 오늘 이 문구를 아주 많이 보시게 될 겁니다.</a:t>
            </a:r>
            <a:endParaRPr/>
          </a:p>
          <a:p xmlns:a="http://schemas.openxmlformats.org/drawingml/2006/main">
            <a:r>
              <a:t/>
            </a:r>
            <a:endParaRPr/>
          </a:p>
          <a:p xmlns:a="http://schemas.openxmlformats.org/drawingml/2006/main">
            <a:r>
              <a:t>• B_s: 예산 · 유휴 시간 배치 job의 비용 (FLOPs·토큰)</a:t>
            </a:r>
            <a:endParaRPr/>
          </a:p>
          <a:p xmlns:a="http://schemas.openxmlformats.org/drawingml/2006/main">
            <a:r>
              <a:t>• L_w: 지연 · SLA 항목 (ms, TTFT/ITL)</a:t>
            </a:r>
            <a:endParaRPr/>
          </a:p>
          <a:p xmlns:a="http://schemas.openxmlformats.org/drawingml/2006/main">
            <a:r>
              <a:t>• C_cap: 용량 · 저장 sizing (bytes/사용자)</a:t>
            </a:r>
            <a:endParaRPr/>
          </a:p>
          <a:p xmlns:a="http://schemas.openxmlformats.org/drawingml/2006/main">
            <a:r>
              <a:t>• ρ: 열화 · 반복 실행의 지속가능성 (라운드당)</a:t>
            </a:r>
            <a:endParaRPr/>
          </a:p>
          <a:p xmlns:a="http://schemas.openxmlformats.org/drawingml/2006/main">
            <a:r>
              <a:t/>
            </a:r>
            <a:endParaRPr/>
          </a:p>
          <a:p xmlns:a="http://schemas.openxmlformats.org/drawingml/2006/main">
            <a:r>
              <a:t>[Sources]</a:t>
            </a:r>
            <a:endParaRPr/>
          </a:p>
          <a:p xmlns:a="http://schemas.openxmlformats.org/drawingml/2006/main">
            <a:r>
              <a:t>study-kr-stc ch01 §01.5 표 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STC2-028 — 상각식 (A) — 오늘 가장 자주 나올 도구</a:t>
            </a:r>
            <a:endParaRPr/>
          </a:p>
          <a:p xmlns:a="http://schemas.openxmlformats.org/drawingml/2006/main">
            <a:r>
              <a:t>핵심 결론: 식 (A)는 N_q를 안다고 가정한다. 실서빙 N_q 분포를 보고한 논문은 corpus에 0편이다</a:t>
            </a:r>
            <a:endParaRPr/>
          </a:p>
          <a:p xmlns:a="http://schemas.openxmlformats.org/drawingml/2006/main">
            <a:r>
              <a:t/>
            </a:r>
            <a:endParaRPr/>
          </a:p>
          <a:p xmlns:a="http://schemas.openxmlformats.org/drawingml/2006/main">
            <a:r>
              <a:t>[발표 대본]</a:t>
            </a:r>
            <a:endParaRPr/>
          </a:p>
          <a:p xmlns:a="http://schemas.openxmlformats.org/drawingml/2006/main">
            <a:r>
              <a:t>그리고 상각식입니다. 질의 하나당 실제로 내는 값은 wake 비용에 상각된 sleep 비용을 더한 것입니다. B_s가 클수록 좋다는 주장은 그 자체로는 성립하지 않습니다. sleep 비용은 한 문맥을 공유하는 질의 수 N_q에 나뉘기 때문입니다. 그래서 sleep을 쓸지 말지는 손익분기 N_q*를 넘느냐로 결정됩니다. 여기 중요한 유보가 하나 붙습니다. 이 식은 N_q를 안다고 가정합니다. 그런데 실서빙에서 한 문맥이 몇 번 재사용되는지의 분포를 보고한 논문이 corpus에 0편입니다. 상각 논증은 전부 조건부입니다.</a:t>
            </a:r>
            <a:endParaRPr/>
          </a:p>
          <a:p xmlns:a="http://schemas.openxmlformats.org/drawingml/2006/main">
            <a:r>
              <a:t/>
            </a:r>
            <a:endParaRPr/>
          </a:p>
          <a:p xmlns:a="http://schemas.openxmlformats.org/drawingml/2006/main">
            <a:r>
              <a:t>• C_wake: 매 질의</a:t>
            </a:r>
            <a:endParaRPr/>
          </a:p>
          <a:p xmlns:a="http://schemas.openxmlformats.org/drawingml/2006/main">
            <a:r>
              <a:t>• C_sleep: N_q 분포를 보고한 논문이 corpus에 0편이다</a:t>
            </a:r>
            <a:endParaRPr/>
          </a:p>
          <a:p xmlns:a="http://schemas.openxmlformats.org/drawingml/2006/main">
            <a:r>
              <a:t>• N_q 분모: </a:t>
            </a:r>
            <a:endParaRPr/>
          </a:p>
          <a:p xmlns:a="http://schemas.openxmlformats.org/drawingml/2006/main">
            <a:r>
              <a:t>• 손익분기: </a:t>
            </a:r>
            <a:endParaRPr/>
          </a:p>
          <a:p xmlns:a="http://schemas.openxmlformats.org/drawingml/2006/main">
            <a:r>
              <a:t/>
            </a:r>
            <a:endParaRPr/>
          </a:p>
          <a:p xmlns:a="http://schemas.openxmlformats.org/drawingml/2006/main">
            <a:r>
              <a:t>[Sources]</a:t>
            </a:r>
            <a:endParaRPr/>
          </a:p>
          <a:p xmlns:a="http://schemas.openxmlformats.org/drawingml/2006/main">
            <a:r>
              <a:t>study-kr-stc ch01 §01.5</a:t>
            </a:r>
            <a:endParaRPr/>
          </a:p>
          <a:p xmlns:a="http://schemas.openxmlformats.org/drawingml/2006/main">
            <a:r>
              <a:t>study-kr-stc ch25 §25.3.3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STC2-029 — 손으로 한 번 굴려 본다 — 손익분기 3.64</a:t>
            </a:r>
            <a:endParaRPr/>
          </a:p>
          <a:p xmlns:a="http://schemas.openxmlformats.org/drawingml/2006/main">
            <a:r>
              <a:t>핵심 결론: 이 산수는 발표의 예시다</a:t>
            </a:r>
            <a:endParaRPr/>
          </a:p>
          <a:p xmlns:a="http://schemas.openxmlformats.org/drawingml/2006/main">
            <a:r>
              <a:t/>
            </a:r>
            <a:endParaRPr/>
          </a:p>
          <a:p xmlns:a="http://schemas.openxmlformats.org/drawingml/2006/main">
            <a:r>
              <a:t>[발표 대본]</a:t>
            </a:r>
            <a:endParaRPr/>
          </a:p>
          <a:p xmlns:a="http://schemas.openxmlformats.org/drawingml/2006/main">
            <a:r>
              <a:t>식을 한 번 손으로 굴려 보겠습니다. 이건 제 예시이지 어느 논문의 수치가 아닙니다. 한 세션 문맥이 만 토큰이고 이걸 N_q개 질의가 공유한다고 합시다. 생성 토큰은 입력의 열 배로 셉니다. sleep 없는 baseline은 질의마다 만 토큰을 prefill하고 300 토큰을 생성하니 13,000입니다. N_q와 무관합니다. E-경로는 sleep에서 문맥을 한 번 읽고 3,000 토큰을 생성해 500 토큰짜리 요약을 만듭니다. sleep 비용 40,000. wake는 요약만 prefill하고 150 토큰 생성이니 2,000입니다. 손익분기는 3.64. 즉 한 문맥을 네 번 이상 질의하면 이깁니다. 아주 그럴듯하죠. 오늘 후반부의 절반이 이 계산에서 무엇이 빠졌는지에 관한 이야기입니다.</a:t>
            </a:r>
            <a:endParaRPr/>
          </a:p>
          <a:p xmlns:a="http://schemas.openxmlformats.org/drawingml/2006/main">
            <a:r>
              <a:t/>
            </a:r>
            <a:endParaRPr/>
          </a:p>
          <a:p xmlns:a="http://schemas.openxmlformats.org/drawingml/2006/main">
            <a:r>
              <a:t>• baseline: 10,000 prefill + 300×10 = 13,000: </a:t>
            </a:r>
            <a:endParaRPr/>
          </a:p>
          <a:p xmlns:a="http://schemas.openxmlformats.org/drawingml/2006/main">
            <a:r>
              <a:t>• sleep: 10,000 + 3,000×10 = 40,000: </a:t>
            </a:r>
            <a:endParaRPr/>
          </a:p>
          <a:p xmlns:a="http://schemas.openxmlformats.org/drawingml/2006/main">
            <a:r>
              <a:t>• wake: 500 + 150×10 = 2,000: </a:t>
            </a:r>
            <a:endParaRPr/>
          </a:p>
          <a:p xmlns:a="http://schemas.openxmlformats.org/drawingml/2006/main">
            <a:r>
              <a:t>• N_q* = 40,000/11,000 = 3.64: </a:t>
            </a:r>
            <a:endParaRPr/>
          </a:p>
          <a:p xmlns:a="http://schemas.openxmlformats.org/drawingml/2006/main">
            <a:r>
              <a:t>• 손익분기는 네 번째 질의 근처: </a:t>
            </a:r>
            <a:endParaRPr/>
          </a:p>
          <a:p xmlns:a="http://schemas.openxmlformats.org/drawingml/2006/main">
            <a:r>
              <a:t/>
            </a:r>
            <a:endParaRPr/>
          </a:p>
          <a:p xmlns:a="http://schemas.openxmlformats.org/drawingml/2006/main">
            <a:r>
              <a:t>[Sources]</a:t>
            </a:r>
            <a:endParaRPr/>
          </a:p>
          <a:p xmlns:a="http://schemas.openxmlformats.org/drawingml/2006/main">
            <a:r>
              <a:t>study-kr-stc ch01 Worked micro-example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STC2-030 — Rosetta 사전 — 서빙 어휘로 옮기면 이렇게 된다</a:t>
            </a:r>
            <a:endParaRPr/>
          </a:p>
          <a:p xmlns:a="http://schemas.openxmlformats.org/drawingml/2006/main">
            <a:r>
              <a:t>핵심 결론: ⚠ 표시는 직관을 그대로 이식하면 틀리는 자리다</a:t>
            </a:r>
            <a:endParaRPr/>
          </a:p>
          <a:p xmlns:a="http://schemas.openxmlformats.org/drawingml/2006/main">
            <a:r>
              <a:t/>
            </a:r>
            <a:endParaRPr/>
          </a:p>
          <a:p xmlns:a="http://schemas.openxmlformats.org/drawingml/2006/main">
            <a:r>
              <a:t>[발표 대본]</a:t>
            </a:r>
            <a:endParaRPr/>
          </a:p>
          <a:p xmlns:a="http://schemas.openxmlformats.org/drawingml/2006/main">
            <a:r>
              <a:t>배경의 마지막입니다. 지금까지 세운 어휘를 여러분이 매일 쓰는 어휘로 옮겨 놓은 사전입니다. 여기서 셋째 열이 가장 중요합니다. 동일인지, 유비인지, 아니면 차이가 논점인지. ⚠ 표시가 붙은 넷만 짚겠습니다. prefix cache와 learned context는 다릅니다 — 캐시는 같은 계산의 재사용이고 ĉ는 새 추론의 선행 수행입니다. shared-weight batching은 사용자별 delta가 생기는 순간 성립하지 않습니다. 롤백은 사용자별이면 대상이 사용자 수만큼 늘어납니다. 그리고 마지막 행이 정의의 시금석입니다 — sleep은 정의상 L_w에 0을 기여합니다. 이 사전을 손에 쥐고 다음 절로 넘어가겠습니다. 이제 판별식입니다.</a:t>
            </a:r>
            <a:endParaRPr/>
          </a:p>
          <a:p xmlns:a="http://schemas.openxmlformats.org/drawingml/2006/main">
            <a:r>
              <a:t/>
            </a:r>
            <a:endParaRPr/>
          </a:p>
          <a:p xmlns:a="http://schemas.openxmlformats.org/drawingml/2006/main">
            <a:r>
              <a:t>• prefix cache: ⚠ ĉ는 같은 계산 재사용이 아니라 새 추론의 선행</a:t>
            </a:r>
            <a:endParaRPr/>
          </a:p>
          <a:p xmlns:a="http://schemas.openxmlformats.org/drawingml/2006/main">
            <a:r>
              <a:t>• KV cache: W — append-only 무손실 대 고정 크기 손실 압축</a:t>
            </a:r>
            <a:endParaRPr/>
          </a:p>
          <a:p xmlns:a="http://schemas.openxmlformats.org/drawingml/2006/main">
            <a:r>
              <a:t>• vector DB 조회: ret(E,q) — 동일. 비용도 동일하게 회계</a:t>
            </a:r>
            <a:endParaRPr/>
          </a:p>
          <a:p xmlns:a="http://schemas.openxmlformats.org/drawingml/2006/main">
            <a:r>
              <a:t>• 모델 재배포: (U-Θ) 1회 — 배포 아티팩트가 바뀐다</a:t>
            </a:r>
            <a:endParaRPr/>
          </a:p>
          <a:p xmlns:a="http://schemas.openxmlformats.org/drawingml/2006/main">
            <a:r>
              <a:t>• shared batching: ⚠ 사용자별 delta가 생기면 성립하지 않는다</a:t>
            </a:r>
            <a:endParaRPr/>
          </a:p>
          <a:p xmlns:a="http://schemas.openxmlformats.org/drawingml/2006/main">
            <a:r>
              <a:t>• warm-up·사전컴파일: sleep 라운드 — 단 sleep은 품질을 바꾼다</a:t>
            </a:r>
            <a:endParaRPr/>
          </a:p>
          <a:p xmlns:a="http://schemas.openxmlformats.org/drawingml/2006/main">
            <a:r>
              <a:t>• checkpoint 크기: C_cap — Θ 상태량은 여기서 직접 읽힌다</a:t>
            </a:r>
            <a:endParaRPr/>
          </a:p>
          <a:p xmlns:a="http://schemas.openxmlformats.org/drawingml/2006/main">
            <a:r>
              <a:t>• reuse distance: N_q — 같은 회계, 새 이름. 상각의 분모</a:t>
            </a:r>
            <a:endParaRPr/>
          </a:p>
          <a:p xmlns:a="http://schemas.openxmlformats.org/drawingml/2006/main">
            <a:r>
              <a:t>• write amplification: B_s ÷ 늘어난 C_cap — 1바이트를 만드는 계산</a:t>
            </a:r>
            <a:endParaRPr/>
          </a:p>
          <a:p xmlns:a="http://schemas.openxmlformats.org/drawingml/2006/main">
            <a:r>
              <a:t>• LSM compaction·GC: E의 감쇠·병합·삭제. 유무가 설계를 가른다</a:t>
            </a:r>
            <a:endParaRPr/>
          </a:p>
          <a:p xmlns:a="http://schemas.openxmlformats.org/drawingml/2006/main">
            <a:r>
              <a:t>• 카나리·롤백: ⚠ 사용자별이면 롤백 대상이 사용자 수만큼</a:t>
            </a:r>
            <a:endParaRPr/>
          </a:p>
          <a:p xmlns:a="http://schemas.openxmlformats.org/drawingml/2006/main">
            <a:r>
              <a:t>• dtype 선택: C_cap의 정보 밀도 — 같은 도구, 새 대상</a:t>
            </a:r>
            <a:endParaRPr/>
          </a:p>
          <a:p xmlns:a="http://schemas.openxmlformats.org/drawingml/2006/main">
            <a:r>
              <a:t>• SLA(TTFT/ITL): L_w — sleep은 여기에 0을 기여해야 한다</a:t>
            </a:r>
            <a:endParaRPr/>
          </a:p>
          <a:p xmlns:a="http://schemas.openxmlformats.org/drawingml/2006/main">
            <a:r>
              <a:t>• GEMM shape: delta 단위 라우팅이 실패하면 grouped-GEMM</a:t>
            </a:r>
            <a:endParaRPr/>
          </a:p>
          <a:p xmlns:a="http://schemas.openxmlformats.org/drawingml/2006/main">
            <a:r>
              <a:t/>
            </a:r>
            <a:endParaRPr/>
          </a:p>
          <a:p xmlns:a="http://schemas.openxmlformats.org/drawingml/2006/main">
            <a:r>
              <a:t>[Sources]</a:t>
            </a:r>
            <a:endParaRPr/>
          </a:p>
          <a:p xmlns:a="http://schemas.openxmlformats.org/drawingml/2006/main">
            <a:r>
              <a:t>study-kr-stc ch01 §01.6 표 1-4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STC2-031 — 판별식 — 네 조건을 모두 만족해야 한다</a:t>
            </a:r>
            <a:endParaRPr/>
          </a:p>
          <a:p xmlns:a="http://schemas.openxmlformats.org/drawingml/2006/main">
            <a:r>
              <a:t>핵심 결론: 판별식은 논문의 자기 규정도 성능도 묻지 않는다. 보는 것은 갱신식과 시계의 쌍뿐이다</a:t>
            </a:r>
            <a:endParaRPr/>
          </a:p>
          <a:p xmlns:a="http://schemas.openxmlformats.org/drawingml/2006/main">
            <a:r>
              <a:t/>
            </a:r>
            <a:endParaRPr/>
          </a:p>
          <a:p xmlns:a="http://schemas.openxmlformats.org/drawingml/2006/main">
            <a:r>
              <a:t>[발표 대본]</a:t>
            </a:r>
            <a:endParaRPr/>
          </a:p>
          <a:p xmlns:a="http://schemas.openxmlformats.org/drawingml/2006/main">
            <a:r>
              <a:t>이제 오늘의 핵심 도구입니다. 어떤 절차가 sleep-time compute인가. 네 조건입니다. 하나, 상태를 바꾸는 연산이 질의 도착 전에 실행되는가. 둘, 그 연산이 0보다 큰 추가 계산을 소비하는가. 셋, Θ·W·E 중 어느 한 층의 상태를 실제로 바꾸는가. 넷, 바뀐 상태가 그 연산을 유발한 질의가 아닌 이후 질의에 쓰이는가. 넷을 모두 만족해야 합니다. 하나라도 빠지면 인접 문헌이지 이 범주가 아닙니다. 그리고 이 도구가 무엇을 안 보는지가 중요합니다. 제목에 sleep이 들어 있는지, 저자가 자기 절차를 뭐라고 부르는지 — 판정에 안 들어옵니다. 성능도 안 봅니다.</a:t>
            </a:r>
            <a:endParaRPr/>
          </a:p>
          <a:p xmlns:a="http://schemas.openxmlformats.org/drawingml/2006/main">
            <a:r>
              <a:t/>
            </a:r>
            <a:endParaRPr/>
          </a:p>
          <a:p xmlns:a="http://schemas.openxmlformats.org/drawingml/2006/main">
            <a:r>
              <a:t>• (1) 시계: 질의 전 · 상태 변경이 q 도착 전에 실행되는가</a:t>
            </a:r>
            <a:endParaRPr/>
          </a:p>
          <a:p xmlns:a="http://schemas.openxmlformats.org/drawingml/2006/main">
            <a:r>
              <a:t>• (2) 예산: B_s&gt;0 · 추가 계산을 실제로 소비하는가</a:t>
            </a:r>
            <a:endParaRPr/>
          </a:p>
          <a:p xmlns:a="http://schemas.openxmlformats.org/drawingml/2006/main">
            <a:r>
              <a:t>• (3) 대상: 층 · Θ·W·E 중 하나의 상태를 실제로 바꾸는가</a:t>
            </a:r>
            <a:endParaRPr/>
          </a:p>
          <a:p xmlns:a="http://schemas.openxmlformats.org/drawingml/2006/main">
            <a:r>
              <a:t>• (4) 소비자: 이후 질의 · 그 변화를 다른 질의가 쓰는가</a:t>
            </a:r>
            <a:endParaRPr/>
          </a:p>
          <a:p xmlns:a="http://schemas.openxmlformats.org/drawingml/2006/main">
            <a:r>
              <a:t/>
            </a:r>
            <a:endParaRPr/>
          </a:p>
          <a:p xmlns:a="http://schemas.openxmlformats.org/drawingml/2006/main">
            <a:r>
              <a:t>[Sources]</a:t>
            </a:r>
            <a:endParaRPr/>
          </a:p>
          <a:p xmlns:a="http://schemas.openxmlformats.org/drawingml/2006/main">
            <a:r>
              <a:t>study-kr-stc ch11 §11.2.1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STC2-032 — 판별식이 묻지 않는 것 둘</a:t>
            </a:r>
            <a:endParaRPr/>
          </a:p>
          <a:p xmlns:a="http://schemas.openxmlformats.org/drawingml/2006/main">
            <a:r>
              <a:t>핵심 결론: 이득이 있는지는 이 범주에 속하는지와 무관하다 — 이득의 크기는 판정 절이 다룬다</a:t>
            </a:r>
            <a:endParaRPr/>
          </a:p>
          <a:p xmlns:a="http://schemas.openxmlformats.org/drawingml/2006/main">
            <a:r>
              <a:t/>
            </a:r>
            <a:endParaRPr/>
          </a:p>
          <a:p xmlns:a="http://schemas.openxmlformats.org/drawingml/2006/main">
            <a:r>
              <a:t>[발표 대본]</a:t>
            </a:r>
            <a:endParaRPr/>
          </a:p>
          <a:p xmlns:a="http://schemas.openxmlformats.org/drawingml/2006/main">
            <a:r>
              <a:t>판별식이 묻지 않는 것 두 가지를 못 박겠습니다. 첫째, 논문의 자기 규정. 제목에 sleep이나 consolidation이 들어 있는지는 보지 않습니다. 오늘 제가 보여 드릴 사례 중 하나는 제목의 세 낱말 중 둘이 Θ-경로를 가리키는데 가중치를 한 번도 안 건드립니다. 둘째, 성능. 이득이 있는지 없는지는 이 범주에 속하는지와 무관합니다. 이게 왜 중요하냐면 — 나중에 어떤 논문의 성능 수치가 재현 실패로 내려가도 오늘의 분류는 안 바뀝니다. 분류와 평가를 같은 관측으로 무너뜨릴 수 없다는 것이 이 둘을 나눈 이유입니다.</a:t>
            </a:r>
            <a:endParaRPr/>
          </a:p>
          <a:p xmlns:a="http://schemas.openxmlformats.org/drawingml/2006/main">
            <a:r>
              <a:t/>
            </a:r>
            <a:endParaRPr/>
          </a:p>
          <a:p xmlns:a="http://schemas.openxmlformats.org/drawingml/2006/main">
            <a:r>
              <a:t>• 자기 규정: 제목·초록·저자의 명명은 입력이 아니다</a:t>
            </a:r>
            <a:endParaRPr/>
          </a:p>
          <a:p xmlns:a="http://schemas.openxmlformats.org/drawingml/2006/main">
            <a:r>
              <a:t>• 성능: 이득의 유무와 크기는 소속과 무관하다</a:t>
            </a:r>
            <a:endParaRPr/>
          </a:p>
          <a:p xmlns:a="http://schemas.openxmlformats.org/drawingml/2006/main">
            <a:r>
              <a:t>• 재량: 다섯 단계를 같은 순서로 돌아 제거한다</a:t>
            </a:r>
            <a:endParaRPr/>
          </a:p>
          <a:p xmlns:a="http://schemas.openxmlformats.org/drawingml/2006/main">
            <a:r>
              <a:t/>
            </a:r>
            <a:endParaRPr/>
          </a:p>
          <a:p xmlns:a="http://schemas.openxmlformats.org/drawingml/2006/main">
            <a:r>
              <a:t>[Sources]</a:t>
            </a:r>
            <a:endParaRPr/>
          </a:p>
          <a:p xmlns:a="http://schemas.openxmlformats.org/drawingml/2006/main">
            <a:r>
              <a:t>study-kr-stc ch11 §11.2.1</a:t>
            </a:r>
            <a:endParaRPr/>
          </a:p>
          <a:p xmlns:a="http://schemas.openxmlformats.org/drawingml/2006/main">
            <a:r>
              <a:t>study-kr-stc ch24 §24.5 '반증되지 않는 것'</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STC2-033 — 적용 절차 — 다섯 단계를 같은 순서로 돈다</a:t>
            </a:r>
            <a:endParaRPr/>
          </a:p>
          <a:p xmlns:a="http://schemas.openxmlformats.org/drawingml/2006/main">
            <a:r>
              <a:t>핵심 결론: 1–2단계는 논문의 수식만 보고, 3–5단계는 실험 설정만 본다. 저자의 서술은 입력이 아니다</a:t>
            </a:r>
            <a:endParaRPr/>
          </a:p>
          <a:p xmlns:a="http://schemas.openxmlformats.org/drawingml/2006/main">
            <a:r>
              <a:t/>
            </a:r>
            <a:endParaRPr/>
          </a:p>
          <a:p xmlns:a="http://schemas.openxmlformats.org/drawingml/2006/main">
            <a:r>
              <a:t>[발표 대본]</a:t>
            </a:r>
            <a:endParaRPr/>
          </a:p>
          <a:p xmlns:a="http://schemas.openxmlformats.org/drawingml/2006/main">
            <a:r>
              <a:t>판정을 재현 가능하게 만들려면 절차가 필요합니다. 다섯 단계를 순서대로 밟습니다. 먼저 논문의 수식 중 상태를 좌변에 놓은 것을 전부 뽑습니다. 하나도 없으면 조건 셋에서 탈락입니다. 그 좌변을 세 층에 배정합니다. 배포 아티팩트면 Θ, 요청에 붙는 가중치 형태면 W, 모델 밖 레코드면 E. 그 연산자의 시계를 읽습니다. 첨자가 토큰이면 t, sleep 라운드면 k, 세션이면 τ. 그리고 예산과 소비자를 확인합니다. 1·2단계는 수식만 보고, 3·4·5단계는 실험 설정만 봅니다. 저자의 서술은 어느 단계에도 입력되지 않습니다. 그래서 판정에 재량이 개입하지 않습니다.</a:t>
            </a:r>
            <a:endParaRPr/>
          </a:p>
          <a:p xmlns:a="http://schemas.openxmlformats.org/drawingml/2006/main">
            <a:r>
              <a:t/>
            </a:r>
            <a:endParaRPr/>
          </a:p>
          <a:p xmlns:a="http://schemas.openxmlformats.org/drawingml/2006/main">
            <a:r>
              <a:t>• 연산자: 좌변이 상태인 식</a:t>
            </a:r>
            <a:endParaRPr/>
          </a:p>
          <a:p xmlns:a="http://schemas.openxmlformats.org/drawingml/2006/main">
            <a:r>
              <a:t>• 층 배정: Θ · W · E</a:t>
            </a:r>
            <a:endParaRPr/>
          </a:p>
          <a:p xmlns:a="http://schemas.openxmlformats.org/drawingml/2006/main">
            <a:r>
              <a:t>• 시계: t · k · τ</a:t>
            </a:r>
            <a:endParaRPr/>
          </a:p>
          <a:p xmlns:a="http://schemas.openxmlformats.org/drawingml/2006/main">
            <a:r>
              <a:t>• 예산: 추론인가 저장인가</a:t>
            </a:r>
            <a:endParaRPr/>
          </a:p>
          <a:p xmlns:a="http://schemas.openxmlformats.org/drawingml/2006/main">
            <a:r>
              <a:t>• 소비자: 이후 질의인가</a:t>
            </a:r>
            <a:endParaRPr/>
          </a:p>
          <a:p xmlns:a="http://schemas.openxmlformats.org/drawingml/2006/main">
            <a:r>
              <a:t>• 재현성: 재량 없음</a:t>
            </a:r>
            <a:endParaRPr/>
          </a:p>
          <a:p xmlns:a="http://schemas.openxmlformats.org/drawingml/2006/main">
            <a:r>
              <a:t/>
            </a:r>
            <a:endParaRPr/>
          </a:p>
          <a:p xmlns:a="http://schemas.openxmlformats.org/drawingml/2006/main">
            <a:r>
              <a:t>[Sources]</a:t>
            </a:r>
            <a:endParaRPr/>
          </a:p>
          <a:p xmlns:a="http://schemas.openxmlformats.org/drawingml/2006/main">
            <a:r>
              <a:t>study-kr-stc ch11 §11.2.2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STC2-034 — 조건 (1)을 빼면 — 모든 쓰기가 sleep이 된다</a:t>
            </a:r>
            <a:endParaRPr/>
          </a:p>
          <a:p xmlns:a="http://schemas.openxmlformats.org/drawingml/2006/main">
            <a:r>
              <a:t>핵심 결론: 조건 (1)이 없으면 'sleep-time compute'은 그냥 '쓰기'의 다른 이름이 된다</a:t>
            </a:r>
            <a:endParaRPr/>
          </a:p>
          <a:p xmlns:a="http://schemas.openxmlformats.org/drawingml/2006/main">
            <a:r>
              <a:t/>
            </a:r>
            <a:endParaRPr/>
          </a:p>
          <a:p xmlns:a="http://schemas.openxmlformats.org/drawingml/2006/main">
            <a:r>
              <a:t>[발표 대본]</a:t>
            </a:r>
            <a:endParaRPr/>
          </a:p>
          <a:p xmlns:a="http://schemas.openxmlformats.org/drawingml/2006/main">
            <a:r>
              <a:t>네 조건이 전부 필요하다는 것은 각각을 제거해 보면 드러납니다. 조건마다 실제 corpus에서 다른 논문이 잘못 들어옵니다. 조건 하나를 빼면 모든 쓰기가 sleep이 됩니다. MemGPT는 쓰기를 사용자 턴 안에서 수행합니다 — 함수 호출을 디코딩해 저장소를 고치는 연산이 답을 만드는 것과 같은 예산에서 나갑니다. 그러면 이 쓰기와 sleep 라운드의 쓰기가 구분되지 않고, 우리가 세운 시금석 — sleep은 정의상 wake 지연에 0을 기여한다 — 이 무너집니다. 그러면 'sleep-time compute'은 그냥 '쓰기'의 다른 이름이 됩니다.</a:t>
            </a:r>
            <a:endParaRPr/>
          </a:p>
          <a:p xmlns:a="http://schemas.openxmlformats.org/drawingml/2006/main">
            <a:r>
              <a:t/>
            </a:r>
            <a:endParaRPr/>
          </a:p>
          <a:p xmlns:a="http://schemas.openxmlformats.org/drawingml/2006/main">
            <a:r>
              <a:t>• MemGPT: 쓰기를 사용자 턴 안에서 수행한다</a:t>
            </a:r>
            <a:endParaRPr/>
          </a:p>
          <a:p xmlns:a="http://schemas.openxmlformats.org/drawingml/2006/main">
            <a:r>
              <a:t>• SCM 요약: 인코더 호출이 매 턴 일어난다</a:t>
            </a:r>
            <a:endParaRPr/>
          </a:p>
          <a:p xmlns:a="http://schemas.openxmlformats.org/drawingml/2006/main">
            <a:r>
              <a:t>• 시금석: sleep은 정의상 L_w에 0을 기여한다</a:t>
            </a:r>
            <a:endParaRPr/>
          </a:p>
          <a:p xmlns:a="http://schemas.openxmlformats.org/drawingml/2006/main">
            <a:r>
              <a:t/>
            </a:r>
            <a:endParaRPr/>
          </a:p>
          <a:p xmlns:a="http://schemas.openxmlformats.org/drawingml/2006/main">
            <a:r>
              <a:t>[Sources]</a:t>
            </a:r>
            <a:endParaRPr/>
          </a:p>
          <a:p xmlns:a="http://schemas.openxmlformats.org/drawingml/2006/main">
            <a:r>
              <a:t>study-kr-stc ch11 §11.2.3</a:t>
            </a:r>
            <a:endParaRPr/>
          </a:p>
          <a:p xmlns:a="http://schemas.openxmlformats.org/drawingml/2006/main">
            <a:r>
              <a:t>[MemGPT §2.3]</a:t>
            </a:r>
            <a:endParaRPr/>
          </a:p>
          <a:p xmlns:a="http://schemas.openxmlformats.org/drawingml/2006/main">
            <a:r>
              <a:t>[SCM §3.2]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STC2-035 — 조건 (2)를 빼면 — 저장이 추론으로 승격된다</a:t>
            </a:r>
            <a:endParaRPr/>
          </a:p>
          <a:p xmlns:a="http://schemas.openxmlformats.org/drawingml/2006/main">
            <a:r>
              <a:t>핵심 결론: 조건 (2)가 없으면 색인 구축이 전부 sleep-time compute이 되고 상각식의 분자가 정의를 잃는다</a:t>
            </a:r>
            <a:endParaRPr/>
          </a:p>
          <a:p xmlns:a="http://schemas.openxmlformats.org/drawingml/2006/main">
            <a:r>
              <a:t/>
            </a:r>
            <a:endParaRPr/>
          </a:p>
          <a:p xmlns:a="http://schemas.openxmlformats.org/drawingml/2006/main">
            <a:r>
              <a:t>[발표 대본]</a:t>
            </a:r>
            <a:endParaRPr/>
          </a:p>
          <a:p xmlns:a="http://schemas.openxmlformats.org/drawingml/2006/main">
            <a:r>
              <a:t>조건 둘을 빼면 저장이 추론으로 승격됩니다. RAG는 문서를 잘라 인코딩해 색인에 넣을 뿐 저장 전에 어떤 추론도 하지 않습니다. S가 항등사상이고 문맥당 예산이 0입니다. Memorizing Transformers도 같은 자리입니다. 저장되는 것이 그 층의 forward pass가 이미 만든 키·값 텐서 그대로입니다. 논문 스스로 씁니다 — kNN 조회는 긴 거리의 토큰을 평균하거나 요약하지 않고 먼 문맥에서도 정확한 값을 회수한다고. 조건 둘이 없으면 색인 구축이 전부 이 범주가 되고, 상각식의 분자가 정의를 잃습니다.</a:t>
            </a:r>
            <a:endParaRPr/>
          </a:p>
          <a:p xmlns:a="http://schemas.openxmlformats.org/drawingml/2006/main">
            <a:r>
              <a:t/>
            </a:r>
            <a:endParaRPr/>
          </a:p>
          <a:p xmlns:a="http://schemas.openxmlformats.org/drawingml/2006/main">
            <a:r>
              <a:t>• RAG: 잘라 인코딩할 뿐 저장 전 추론이 없다</a:t>
            </a:r>
            <a:endParaRPr/>
          </a:p>
          <a:p xmlns:a="http://schemas.openxmlformats.org/drawingml/2006/main">
            <a:r>
              <a:t>• MemTrans: 저장되는 것이 forward가 만든 (k,v) 그대로</a:t>
            </a:r>
            <a:endParaRPr/>
          </a:p>
          <a:p xmlns:a="http://schemas.openxmlformats.org/drawingml/2006/main">
            <a:r>
              <a:t>• 원문: '평균하거나 요약하지 않고 정확한 값을 회수'</a:t>
            </a:r>
            <a:endParaRPr/>
          </a:p>
          <a:p xmlns:a="http://schemas.openxmlformats.org/drawingml/2006/main">
            <a:r>
              <a:t/>
            </a:r>
            <a:endParaRPr/>
          </a:p>
          <a:p xmlns:a="http://schemas.openxmlformats.org/drawingml/2006/main">
            <a:r>
              <a:t>[Sources]</a:t>
            </a:r>
            <a:endParaRPr/>
          </a:p>
          <a:p xmlns:a="http://schemas.openxmlformats.org/drawingml/2006/main">
            <a:r>
              <a:t>study-kr-stc ch11 §11.2.3</a:t>
            </a:r>
            <a:endParaRPr/>
          </a:p>
          <a:p xmlns:a="http://schemas.openxmlformats.org/drawingml/2006/main">
            <a:r>
              <a:t>[RAG arXiv:2005.11401]</a:t>
            </a:r>
            <a:endParaRPr/>
          </a:p>
          <a:p xmlns:a="http://schemas.openxmlformats.org/drawingml/2006/main">
            <a:r>
              <a:t>[Memorizing Transformers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STC2-036 — 조건 (3)을 빼면 — 읽기를 바꾼 논문이 쓰기 논문으로 둔갑한다</a:t>
            </a:r>
            <a:endParaRPr/>
          </a:p>
          <a:p xmlns:a="http://schemas.openxmlformats.org/drawingml/2006/main">
            <a:r>
              <a:t>핵심 결론: 조건 (3)이 없으면 식 (R)을 고친 논문과 (U-*)를 고친 논문이 섞이고 경로 구분이 무너진다</a:t>
            </a:r>
            <a:endParaRPr/>
          </a:p>
          <a:p xmlns:a="http://schemas.openxmlformats.org/drawingml/2006/main">
            <a:r>
              <a:t/>
            </a:r>
            <a:endParaRPr/>
          </a:p>
          <a:p xmlns:a="http://schemas.openxmlformats.org/drawingml/2006/main">
            <a:r>
              <a:t>[발표 대본]</a:t>
            </a:r>
            <a:endParaRPr/>
          </a:p>
          <a:p xmlns:a="http://schemas.openxmlformats.org/drawingml/2006/main">
            <a:r>
              <a:t>조건 셋을 빼면 읽기를 바꾼 논문이 쓰기를 바꾼 논문으로 둔갑합니다. Memory Caching이 정확히 이 경우입니다. 갱신 규칙이 baseline과 글자 그대로 같습니다. 세그먼트 경계에서 일어나는 일은 갱신이 아니라 과거 iterate의 보존입니다. 바뀐 것은 읽기입니다 — 단일 W를 읽던 자리에서 캐시 집합 위의 게이트된 혼합을 읽습니다. 이게 왜 결정적이냐. 읽기식을 바꾼 논문의 무거운 항은 질의마다 다시 지불됩니다. 즉 원리적으로 상각되지 않습니다. 상각식의 분모를 키워도 줄지 않는 비용을 sleep 비용과 같은 표에 놓으면 안 됩니다.</a:t>
            </a:r>
            <a:endParaRPr/>
          </a:p>
          <a:p xmlns:a="http://schemas.openxmlformats.org/drawingml/2006/main">
            <a:r>
              <a:t/>
            </a:r>
            <a:endParaRPr/>
          </a:p>
          <a:p xmlns:a="http://schemas.openxmlformats.org/drawingml/2006/main">
            <a:r>
              <a:t>• 갱신 규칙: baseline과 글자 그대로 같다</a:t>
            </a:r>
            <a:endParaRPr/>
          </a:p>
          <a:p xmlns:a="http://schemas.openxmlformats.org/drawingml/2006/main">
            <a:r>
              <a:t>• 바뀐 것: 캐시 집합 위의 게이트된 혼합을 읽는다</a:t>
            </a:r>
            <a:endParaRPr/>
          </a:p>
          <a:p xmlns:a="http://schemas.openxmlformats.org/drawingml/2006/main">
            <a:r>
              <a:t>• 경계에서: 갱신이 아니라 과거 iterate의 보존이다</a:t>
            </a:r>
            <a:endParaRPr/>
          </a:p>
          <a:p xmlns:a="http://schemas.openxmlformats.org/drawingml/2006/main">
            <a:r>
              <a:t/>
            </a:r>
            <a:endParaRPr/>
          </a:p>
          <a:p xmlns:a="http://schemas.openxmlformats.org/drawingml/2006/main">
            <a:r>
              <a:t>[Sources]</a:t>
            </a:r>
            <a:endParaRPr/>
          </a:p>
          <a:p xmlns:a="http://schemas.openxmlformats.org/drawingml/2006/main">
            <a:r>
              <a:t>study-kr-stc ch11 §11.2.3</a:t>
            </a:r>
            <a:endParaRPr/>
          </a:p>
          <a:p xmlns:a="http://schemas.openxmlformats.org/drawingml/2006/main">
            <a:r>
              <a:t>[Memory Caching Eq. 4, 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STC2-037 — 조건 (4)를 빼면 — test-time compute 전체가 들어온다</a:t>
            </a:r>
            <a:endParaRPr/>
          </a:p>
          <a:p xmlns:a="http://schemas.openxmlformats.org/drawingml/2006/main">
            <a:r>
              <a:t>핵심 결론: 이 라인을 만든 논문이 test-time 예산의 대안으로 자신을 제시했다는 점에서 이 조건은 양보할 수 없다</a:t>
            </a:r>
            <a:endParaRPr/>
          </a:p>
          <a:p xmlns:a="http://schemas.openxmlformats.org/drawingml/2006/main">
            <a:r>
              <a:t/>
            </a:r>
            <a:endParaRPr/>
          </a:p>
          <a:p xmlns:a="http://schemas.openxmlformats.org/drawingml/2006/main">
            <a:r>
              <a:t>[발표 대본]</a:t>
            </a:r>
            <a:endParaRPr/>
          </a:p>
          <a:p xmlns:a="http://schemas.openxmlformats.org/drawingml/2006/main">
            <a:r>
              <a:t>마지막으로 조건 넷을 빼면 같은 질의 안에서 소비되고 끝나는 계산이 들어옵니다. chain-of-thought와 scratchpad가 대표입니다. 상태를 만들고 그 상태를 읽지만, 만든 질의가 끝나면 사라집니다. 문헌 쪽 사례는 Nested Learning입니다. 논문 스스로 씁니다 — 획득된 in-context 지식은 현재 문맥이 제거되면 존속하지 않는다고. CMS의 블록은 일정 step 뒤 재초기화됩니다. 조건 넷이 없으면 test-time compute 전체가 sleep-time compute이 되어 두 개념의 대립 자체가 사라집니다. 이 라인을 만든 논문이 test-time 예산의 '대안'으로 자신을 제시했다는 점에서 이 조건은 특히 양보할 수 없습니다.</a:t>
            </a:r>
            <a:endParaRPr/>
          </a:p>
          <a:p xmlns:a="http://schemas.openxmlformats.org/drawingml/2006/main">
            <a:r>
              <a:t/>
            </a:r>
            <a:endParaRPr/>
          </a:p>
          <a:p xmlns:a="http://schemas.openxmlformats.org/drawingml/2006/main">
            <a:r>
              <a:t>• CoT·scratchpad: 상태를 만들고 읽지만 질의와 함께 사라진다</a:t>
            </a:r>
            <a:endParaRPr/>
          </a:p>
          <a:p xmlns:a="http://schemas.openxmlformats.org/drawingml/2006/main">
            <a:r>
              <a:t>• Nested Learning: '문맥이 제거되면 in-context 지식은 존속 안 함'</a:t>
            </a:r>
            <a:endParaRPr/>
          </a:p>
          <a:p xmlns:a="http://schemas.openxmlformats.org/drawingml/2006/main">
            <a:r>
              <a:t>• CMS 블록: 일정 step 뒤 초기값으로 되돌아간다</a:t>
            </a:r>
            <a:endParaRPr/>
          </a:p>
          <a:p xmlns:a="http://schemas.openxmlformats.org/drawingml/2006/main">
            <a:r>
              <a:t/>
            </a:r>
            <a:endParaRPr/>
          </a:p>
          <a:p xmlns:a="http://schemas.openxmlformats.org/drawingml/2006/main">
            <a:r>
              <a:t>[Sources]</a:t>
            </a:r>
            <a:endParaRPr/>
          </a:p>
          <a:p xmlns:a="http://schemas.openxmlformats.org/drawingml/2006/main">
            <a:r>
              <a:t>study-kr-stc ch11 §11.2.3</a:t>
            </a:r>
            <a:endParaRPr/>
          </a:p>
          <a:p xmlns:a="http://schemas.openxmlformats.org/drawingml/2006/main">
            <a:r>
              <a:t>[NL §6, §7.1]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STC2-038 — 전수 분류 결과 — 29편이 9 + 1 + 19로 갈린다</a:t>
            </a:r>
            <a:endParaRPr/>
          </a:p>
          <a:p xmlns:a="http://schemas.openxmlformats.org/drawingml/2006/main">
            <a:r>
              <a:t>핵심 결론: 경계 사례는 통과군에 세지 않는다</a:t>
            </a:r>
            <a:endParaRPr/>
          </a:p>
          <a:p xmlns:a="http://schemas.openxmlformats.org/drawingml/2006/main">
            <a:r>
              <a:t/>
            </a:r>
            <a:endParaRPr/>
          </a:p>
          <a:p xmlns:a="http://schemas.openxmlformats.org/drawingml/2006/main">
            <a:r>
              <a:t>[발표 대본]</a:t>
            </a:r>
            <a:endParaRPr/>
          </a:p>
          <a:p xmlns:a="http://schemas.openxmlformats.org/drawingml/2006/main">
            <a:r>
              <a:t>다섯 단계를 corpus 29편 전체에 돌린 결과입니다. 통과가 9편, 경계 사례가 1편, 불충족이 19편입니다. 불충족 19편은 이 이름 아래 자주 함께 거론되는 B군 9편과, 애초에 이 범주를 자처하지 않는 배경 문헌 C군 10편의 합입니다. 그리고 여기가 오늘의 첫 실질 발견입니다. 통과 9편의 경로 분포를 보십시오. E가 6편, Θ가 2편, W가 1편입니다. 극단적으로 치우쳐 있습니다. W-경로는 정면 사례가 하나뿐입니다. 이 분포가 뒤의 판정에 직접 영향을 줍니다 — 경로별 판정을 하려면 각 경로에 비교할 논문이 있어야 하는데, W-경로는 표본이 1입니다.</a:t>
            </a:r>
            <a:endParaRPr/>
          </a:p>
          <a:p xmlns:a="http://schemas.openxmlformats.org/drawingml/2006/main">
            <a:r>
              <a:t/>
            </a:r>
            <a:endParaRPr/>
          </a:p>
          <a:p xmlns:a="http://schemas.openxmlformats.org/drawingml/2006/main">
            <a:r>
              <a:t>• A군 통과 9편: </a:t>
            </a:r>
            <a:endParaRPr/>
          </a:p>
          <a:p xmlns:a="http://schemas.openxmlformats.org/drawingml/2006/main">
            <a:r>
              <a:t>• 경계 1편: </a:t>
            </a:r>
            <a:endParaRPr/>
          </a:p>
          <a:p xmlns:a="http://schemas.openxmlformats.org/drawingml/2006/main">
            <a:r>
              <a:t>• B군 불충족 9편: </a:t>
            </a:r>
            <a:endParaRPr/>
          </a:p>
          <a:p xmlns:a="http://schemas.openxmlformats.org/drawingml/2006/main">
            <a:r>
              <a:t>• C군 배경 10편: </a:t>
            </a:r>
            <a:endParaRPr/>
          </a:p>
          <a:p xmlns:a="http://schemas.openxmlformats.org/drawingml/2006/main">
            <a:r>
              <a:t>• E 6 / Θ 2 / W 1: </a:t>
            </a:r>
            <a:endParaRPr/>
          </a:p>
          <a:p xmlns:a="http://schemas.openxmlformats.org/drawingml/2006/main">
            <a:r>
              <a:t/>
            </a:r>
            <a:endParaRPr/>
          </a:p>
          <a:p xmlns:a="http://schemas.openxmlformats.org/drawingml/2006/main">
            <a:r>
              <a:t>[Sources]</a:t>
            </a:r>
            <a:endParaRPr/>
          </a:p>
          <a:p xmlns:a="http://schemas.openxmlformats.org/drawingml/2006/main">
            <a:r>
              <a:t>study-kr-stc ch11 §11.3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STC2-039 — A군 — 판별식을 통과한 아홉 편과 경계 사례 하나</a:t>
            </a:r>
            <a:endParaRPr/>
          </a:p>
          <a:p xmlns:a="http://schemas.openxmlformats.org/drawingml/2006/main">
            <a:r>
              <a:t>핵심 결론: 층으로 읽으면 E에 치우쳐 있고, 시계로 읽으면 '질의 전'의 주기가 논문마다 다르다</a:t>
            </a:r>
            <a:endParaRPr/>
          </a:p>
          <a:p xmlns:a="http://schemas.openxmlformats.org/drawingml/2006/main">
            <a:r>
              <a:t/>
            </a:r>
            <a:endParaRPr/>
          </a:p>
          <a:p xmlns:a="http://schemas.openxmlformats.org/drawingml/2006/main">
            <a:r>
              <a:t>[발표 대본]</a:t>
            </a:r>
            <a:endParaRPr/>
          </a:p>
          <a:p xmlns:a="http://schemas.openxmlformats.org/drawingml/2006/main">
            <a:r>
              <a:t>통과한 아홉 편과 경계 사례 하나를 한 화면에 놓았습니다. 오늘 뒤에서 이 목록을 계속 참조하게 됩니다. 위 일곱이 E-경로입니다. 이 라인의 이름을 만든 Letta STC, 그 저자의 이전 작업인 MemGPT, 그리고 프로덕션 시스템 넷. 아래 셋 중 하나가 W-경로, 둘이 Θ-경로입니다. 시계 열을 보십시오. 같은 '질의 전'인데 주기가 전부 다릅니다. 문맥 하나에 한 번, 메시지쌍마다, 에피소드마다, 과제 종료 후, 명시적 sleep 라운드마다. 이 이질성이 상각식에 그대로 얹힙니다. 분모 N_q가 세는 대상이 논문마다 달라집니다. 통과군이라는 사실만으로 두 논문의 상각 논증을 나란히 비교하면 안 됩니다.</a:t>
            </a:r>
            <a:endParaRPr/>
          </a:p>
          <a:p xmlns:a="http://schemas.openxmlformats.org/drawingml/2006/main">
            <a:r>
              <a:t/>
            </a:r>
            <a:endParaRPr/>
          </a:p>
          <a:p xmlns:a="http://schemas.openxmlformats.org/drawingml/2006/main">
            <a:r>
              <a:t>• Letta STC 2504.13171: E · 질의 전 1회. 이 라인의 이름을 만든 논문</a:t>
            </a:r>
            <a:endParaRPr/>
          </a:p>
          <a:p xmlns:a="http://schemas.openxmlformats.org/drawingml/2006/main">
            <a:r>
              <a:t>• MemGPT 2310.08560: E · 대화 중 — 경계 사례, (1) 불충족</a:t>
            </a:r>
            <a:endParaRPr/>
          </a:p>
          <a:p xmlns:a="http://schemas.openxmlformats.org/drawingml/2006/main">
            <a:r>
              <a:t>• Mem0 2504.19413: E · 메시지쌍마다 ADD/UPDATE/DELETE 판단</a:t>
            </a:r>
            <a:endParaRPr/>
          </a:p>
          <a:p xmlns:a="http://schemas.openxmlformats.org/drawingml/2006/main">
            <a:r>
              <a:t>• Zep 2501.13956: E · 에피소드마다 + 주기적 community refresh</a:t>
            </a:r>
            <a:endParaRPr/>
          </a:p>
          <a:p xmlns:a="http://schemas.openxmlformats.org/drawingml/2006/main">
            <a:r>
              <a:t>• ReasoningBank 2509.25140: E · 과제 종료 후. wr이 순수 합집합</a:t>
            </a:r>
            <a:endParaRPr/>
          </a:p>
          <a:p xmlns:a="http://schemas.openxmlformats.org/drawingml/2006/main">
            <a:r>
              <a:t>• SCM 2604.20943: E · 대화 후. 제목은 consolidation, 가중치 불변</a:t>
            </a:r>
            <a:endParaRPr/>
          </a:p>
          <a:p xmlns:a="http://schemas.openxmlformats.org/drawingml/2006/main">
            <a:r>
              <a:t>• Multi-Timescale 2605.05097: E · 이벤트마다. 유일 실험에서 LLM 미사용</a:t>
            </a:r>
            <a:endParaRPr/>
          </a:p>
          <a:p xmlns:a="http://schemas.openxmlformats.org/drawingml/2006/main">
            <a:r>
              <a:t>• Do LMs Need Sleep? 2605.26099: W · KV 비우기 전 N회 재귀. 유일한 정면 사례</a:t>
            </a:r>
            <a:endParaRPr/>
          </a:p>
          <a:p xmlns:a="http://schemas.openxmlformats.org/drawingml/2006/main">
            <a:r>
              <a:t>• SEAL 2506.10943: Θ · 두 시간척도. 자기 생성 self-edit</a:t>
            </a:r>
            <a:endParaRPr/>
          </a:p>
          <a:p xmlns:a="http://schemas.openxmlformats.org/drawingml/2006/main">
            <a:r>
              <a:t>• LM Need Sleep 2606.03979: Θ ← W · sleep 라운드 k마다 이송</a:t>
            </a:r>
            <a:endParaRPr/>
          </a:p>
          <a:p xmlns:a="http://schemas.openxmlformats.org/drawingml/2006/main">
            <a:r>
              <a:t>• 층 분포: E 6편 · Θ 2편 · W 1편. 경계 사례를 더하면 E가 7</a:t>
            </a:r>
            <a:endParaRPr/>
          </a:p>
          <a:p xmlns:a="http://schemas.openxmlformats.org/drawingml/2006/main">
            <a:r>
              <a:t>• 시계 분포: 질의 전 1회부터 메시지쌍마다까지 주기가 다르다</a:t>
            </a:r>
            <a:endParaRPr/>
          </a:p>
          <a:p xmlns:a="http://schemas.openxmlformats.org/drawingml/2006/main">
            <a:r>
              <a:t>• 상각의 분모: N_q가 세는 대상이 논문마다 달라진다</a:t>
            </a:r>
            <a:endParaRPr/>
          </a:p>
          <a:p xmlns:a="http://schemas.openxmlformats.org/drawingml/2006/main">
            <a:r>
              <a:t>• W-경로 표본: 1. 그 하나마저 자기 주류 계보와 접점이 없다</a:t>
            </a:r>
            <a:endParaRPr/>
          </a:p>
          <a:p xmlns:a="http://schemas.openxmlformats.org/drawingml/2006/main">
            <a:r>
              <a:t/>
            </a:r>
            <a:endParaRPr/>
          </a:p>
          <a:p xmlns:a="http://schemas.openxmlformats.org/drawingml/2006/main">
            <a:r>
              <a:t>[Sources]</a:t>
            </a:r>
            <a:endParaRPr/>
          </a:p>
          <a:p xmlns:a="http://schemas.openxmlformats.org/drawingml/2006/main">
            <a:r>
              <a:t>study-kr-stc ch11 표 11-1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STC2-040 — B군 — 불충족 아홉 편과 걸린 조건</a:t>
            </a:r>
            <a:endParaRPr/>
          </a:p>
          <a:p xmlns:a="http://schemas.openxmlformats.org/drawingml/2006/main">
            <a:r>
              <a:t>핵심 결론: 판별식을 통과하지 못한다는 것은 이 범주가 아니라는 뜻이지 쓸모없다는 뜻이 아니다</a:t>
            </a:r>
            <a:endParaRPr/>
          </a:p>
          <a:p xmlns:a="http://schemas.openxmlformats.org/drawingml/2006/main">
            <a:r>
              <a:t/>
            </a:r>
            <a:endParaRPr/>
          </a:p>
          <a:p xmlns:a="http://schemas.openxmlformats.org/drawingml/2006/main">
            <a:r>
              <a:t>[발표 대본]</a:t>
            </a:r>
            <a:endParaRPr/>
          </a:p>
          <a:p xmlns:a="http://schemas.openxmlformats.org/drawingml/2006/main">
            <a:r>
              <a:t>불충족 아홉 편입니다. 각 행에 걸린 조건 번호를 달았습니다. 주목하실 것은 아래 셋 — LoRA, ROME, MEMIT입니다. 이 셋은 다른 이유로 탈락합니다. '무엇을 어디에 어떻게 쓰는가'는 완전히 규정하지만 '언제 쓰는가'는 규정하지 않습니다. 3단계에서 읽을 첨자가 없습니다. 그래서 이 셋은 불충족으로 적되 탈락 사유를 시계 부재로 따로 표기하고, 쓰기 primitive라는 별도의 지위를 줍니다. 이들을 어느 시계에 얹을지는 이들을 쓰는 논문의 선택이고, 그 선택이 곧 Θ-경로 논문들의 설계입니다. 그리고 강조해 둘 것 — 통과하지 못한다는 것은 이 범주가 아니라는 뜻이지 쓸모없다는 뜻이 아닙니다. 이 아홉 편이 뒤에서 전부 다시 등장합니다.</a:t>
            </a:r>
            <a:endParaRPr/>
          </a:p>
          <a:p xmlns:a="http://schemas.openxmlformats.org/drawingml/2006/main">
            <a:r>
              <a:t/>
            </a:r>
            <a:endParaRPr/>
          </a:p>
          <a:p xmlns:a="http://schemas.openxmlformats.org/drawingml/2006/main">
            <a:r>
              <a:t>• Nested Learning: (1)(4) · 시계가 토큰, 문맥 끝나면 소멸</a:t>
            </a:r>
            <a:endParaRPr/>
          </a:p>
          <a:p xmlns:a="http://schemas.openxmlformats.org/drawingml/2006/main">
            <a:r>
              <a:t>• Memory Caching: (2)(3) · B_s=0, 읽기식을 바꿨다</a:t>
            </a:r>
            <a:endParaRPr/>
          </a:p>
          <a:p xmlns:a="http://schemas.openxmlformats.org/drawingml/2006/main">
            <a:r>
              <a:t>• Memory Layers: (1)(3) · pre-training 1회, 배포 후 정지</a:t>
            </a:r>
            <a:endParaRPr/>
          </a:p>
          <a:p xmlns:a="http://schemas.openxmlformats.org/drawingml/2006/main">
            <a:r>
              <a:t>• Generative Adapter: (1) · 갱신은 (U-W), 시계는 wake</a:t>
            </a:r>
            <a:endParaRPr/>
          </a:p>
          <a:p xmlns:a="http://schemas.openxmlformats.org/drawingml/2006/main">
            <a:r>
              <a:t>• LoRA: (1) 시계 부재 · 쓰기 primitive이지 절차 아님</a:t>
            </a:r>
            <a:endParaRPr/>
          </a:p>
          <a:p xmlns:a="http://schemas.openxmlformats.org/drawingml/2006/main">
            <a:r>
              <a:t>• ROME: (1) 시계 부재 · 저자가 실용 목적 아니라 명시</a:t>
            </a:r>
            <a:endParaRPr/>
          </a:p>
          <a:p xmlns:a="http://schemas.openxmlformats.org/drawingml/2006/main">
            <a:r>
              <a:t>• MEMIT: (1) 시계 부재 · 같은 편집의 대량 확장판</a:t>
            </a:r>
            <a:endParaRPr/>
          </a:p>
          <a:p xmlns:a="http://schemas.openxmlformats.org/drawingml/2006/main">
            <a:r>
              <a:t>• RAG: (2) · ĉ가 항등사상. 저장 전 추론 없음</a:t>
            </a:r>
            <a:endParaRPr/>
          </a:p>
          <a:p xmlns:a="http://schemas.openxmlformats.org/drawingml/2006/main">
            <a:r>
              <a:t>• Memorizing Transformers: (1)(2) · forward 중 (k,v) 캐시 적재</a:t>
            </a:r>
            <a:endParaRPr/>
          </a:p>
          <a:p xmlns:a="http://schemas.openxmlformats.org/drawingml/2006/main">
            <a:r>
              <a:t>• 시계 부재 셋: LoRA·ROME·MEMIT — 쓰기 primitive의 지위를 준다</a:t>
            </a:r>
            <a:endParaRPr/>
          </a:p>
          <a:p xmlns:a="http://schemas.openxmlformats.org/drawingml/2006/main">
            <a:r>
              <a:t>• 탈락 (1) 최다: 질의 전이 아니라는 이유가 가장 많다</a:t>
            </a:r>
            <a:endParaRPr/>
          </a:p>
          <a:p xmlns:a="http://schemas.openxmlformats.org/drawingml/2006/main">
            <a:r>
              <a:t>• 탈락 (2): 저장 전에 추론이 없는 두 편</a:t>
            </a:r>
            <a:endParaRPr/>
          </a:p>
          <a:p xmlns:a="http://schemas.openxmlformats.org/drawingml/2006/main">
            <a:r>
              <a:t>• 탈락 (3): 상태가 아니라 읽기를 바꾼 두 편</a:t>
            </a:r>
            <a:endParaRPr/>
          </a:p>
          <a:p xmlns:a="http://schemas.openxmlformats.org/drawingml/2006/main">
            <a:r>
              <a:t>• 쓸모: 용량 실측·천장 차수·반증 축을 공급한다</a:t>
            </a:r>
            <a:endParaRPr/>
          </a:p>
          <a:p xmlns:a="http://schemas.openxmlformats.org/drawingml/2006/main">
            <a:r>
              <a:t/>
            </a:r>
            <a:endParaRPr/>
          </a:p>
          <a:p xmlns:a="http://schemas.openxmlformats.org/drawingml/2006/main">
            <a:r>
              <a:t>[Sources]</a:t>
            </a:r>
            <a:endParaRPr/>
          </a:p>
          <a:p xmlns:a="http://schemas.openxmlformats.org/drawingml/2006/main">
            <a:r>
              <a:t>study-kr-stc ch11 표 11-2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STC2-041 — C군 — 판정 대상이 아니지만 증거가 되는 열 편</a:t>
            </a:r>
            <a:endParaRPr/>
          </a:p>
          <a:p xmlns:a="http://schemas.openxmlformats.org/drawingml/2006/main">
            <a:r>
              <a:t>핵심 결론: 분류의 목적은 배제가 아니라 각 문헌을 자기가 실제로 증거가 되는 자리에 놓는 것이다</a:t>
            </a:r>
            <a:endParaRPr/>
          </a:p>
          <a:p xmlns:a="http://schemas.openxmlformats.org/drawingml/2006/main">
            <a:r>
              <a:t/>
            </a:r>
            <a:endParaRPr/>
          </a:p>
          <a:p xmlns:a="http://schemas.openxmlformats.org/drawingml/2006/main">
            <a:r>
              <a:t>[발표 대본]</a:t>
            </a:r>
            <a:endParaRPr/>
          </a:p>
          <a:p xmlns:a="http://schemas.openxmlformats.org/drawingml/2006/main">
            <a:r>
              <a:t>C군 열 편입니다. 애초에 이 범주를 자처하지 않는 배경·제약 문헌이고, 판별식의 판정 대상이 아니라 다른 장들이 근거로 쓰는 재료입니다. 이 목록을 그냥 넘기지 마십시오. 오늘 후반부의 판정 여러 개가 이 열 편 위에 섭니다. 용량 상한 이론이 오늘 Θ-경로 용량 논의의 분자를 공급하고, model collapse가 반복 열화의 함수형을 공급하며, 'Can a LM Learn Facts Continually'가 유일한 다라운드 증거를 공급합니다. 그리고 아래 둘 — 생물 실증 두 편이 이 라인이 빌려 쓴 은유의 담보를 확인하는 자리입니다.</a:t>
            </a:r>
            <a:endParaRPr/>
          </a:p>
          <a:p xmlns:a="http://schemas.openxmlformats.org/drawingml/2006/main">
            <a:r>
              <a:t/>
            </a:r>
            <a:endParaRPr/>
          </a:p>
          <a:p xmlns:a="http://schemas.openxmlformats.org/drawingml/2006/main">
            <a:r>
              <a:t>• EWC: 지속학습 일반 · 망각 대응의 원형</a:t>
            </a:r>
            <a:endParaRPr/>
          </a:p>
          <a:p xmlns:a="http://schemas.openxmlformats.org/drawingml/2006/main">
            <a:r>
              <a:t>• Deep Generative Replay: replay의 원형</a:t>
            </a:r>
            <a:endParaRPr/>
          </a:p>
          <a:p xmlns:a="http://schemas.openxmlformats.org/drawingml/2006/main">
            <a:r>
              <a:t>• GEM: 성능행렬 Π의 출처</a:t>
            </a:r>
            <a:endParaRPr/>
          </a:p>
          <a:p xmlns:a="http://schemas.openxmlformats.org/drawingml/2006/main">
            <a:r>
              <a:t>• model collapse: 자기생성 데이터일 때 걸리는 제약</a:t>
            </a:r>
            <a:endParaRPr/>
          </a:p>
          <a:p xmlns:a="http://schemas.openxmlformats.org/drawingml/2006/main">
            <a:r>
              <a:t>• How much do LMs memorize: 용량 상한 이론. 3.64 bits/param</a:t>
            </a:r>
            <a:endParaRPr/>
          </a:p>
          <a:p xmlns:a="http://schemas.openxmlformats.org/drawingml/2006/main">
            <a:r>
              <a:t>• LoRA as Knowledge Memory: 저랭크 쓰기의 용량 실측</a:t>
            </a:r>
            <a:endParaRPr/>
          </a:p>
          <a:p xmlns:a="http://schemas.openxmlformats.org/drawingml/2006/main">
            <a:r>
              <a:t>• Rate–Distortion Compaction: 무엇을 버릴 것인가의 이론</a:t>
            </a:r>
            <a:endParaRPr/>
          </a:p>
          <a:p xmlns:a="http://schemas.openxmlformats.org/drawingml/2006/main">
            <a:r>
              <a:t>• Can a LM Learn Facts Continually: Θ-경로의 반증 후보</a:t>
            </a:r>
            <a:endParaRPr/>
          </a:p>
          <a:p xmlns:a="http://schemas.openxmlformats.org/drawingml/2006/main">
            <a:r>
              <a:t>• Sleep prevents forgetting (PLOS): 생물 실증</a:t>
            </a:r>
            <a:endParaRPr/>
          </a:p>
          <a:p xmlns:a="http://schemas.openxmlformats.org/drawingml/2006/main">
            <a:r>
              <a:t>• PAD (eLife): 생물 실증 · dreaming</a:t>
            </a:r>
            <a:endParaRPr/>
          </a:p>
          <a:p xmlns:a="http://schemas.openxmlformats.org/drawingml/2006/main">
            <a:r>
              <a:t>• 어디에 쓰이나 ①: 3.64 bits/param → Θ 용량 회계의 분자</a:t>
            </a:r>
            <a:endParaRPr/>
          </a:p>
          <a:p xmlns:a="http://schemas.openxmlformats.org/drawingml/2006/main">
            <a:r>
              <a:t>• 어디에 쓰이나 ②: model collapse → 반복 열화의 함수형</a:t>
            </a:r>
            <a:endParaRPr/>
          </a:p>
          <a:p xmlns:a="http://schemas.openxmlformats.org/drawingml/2006/main">
            <a:r>
              <a:t>• 어디에 쓰이나 ③: Continual Facts → 유일한 다라운드 증거</a:t>
            </a:r>
            <a:endParaRPr/>
          </a:p>
          <a:p xmlns:a="http://schemas.openxmlformats.org/drawingml/2006/main">
            <a:r>
              <a:t>• 어디에 쓰이나 ④: 생물 두 편 → 은유의 담보 확인</a:t>
            </a:r>
            <a:endParaRPr/>
          </a:p>
          <a:p xmlns:a="http://schemas.openxmlformats.org/drawingml/2006/main">
            <a:r>
              <a:t/>
            </a:r>
            <a:endParaRPr/>
          </a:p>
          <a:p xmlns:a="http://schemas.openxmlformats.org/drawingml/2006/main">
            <a:r>
              <a:t>[Sources]</a:t>
            </a:r>
            <a:endParaRPr/>
          </a:p>
          <a:p xmlns:a="http://schemas.openxmlformats.org/drawingml/2006/main">
            <a:r>
              <a:t>study-kr-stc ch11 표 11-3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STC2-042 — 이름과 실제가 갈리는 다섯 사례</a:t>
            </a:r>
            <a:endParaRPr/>
          </a:p>
          <a:p xmlns:a="http://schemas.openxmlformats.org/drawingml/2006/main">
            <a:r>
              <a:t>핵심 결론: 분류는 산출물의 모양이 아니라 (갱신식, 시계)의 쌍으로 한다</a:t>
            </a:r>
            <a:endParaRPr/>
          </a:p>
          <a:p xmlns:a="http://schemas.openxmlformats.org/drawingml/2006/main">
            <a:r>
              <a:t/>
            </a:r>
            <a:endParaRPr/>
          </a:p>
          <a:p xmlns:a="http://schemas.openxmlformats.org/drawingml/2006/main">
            <a:r>
              <a:t>[발표 대본]</a:t>
            </a:r>
            <a:endParaRPr/>
          </a:p>
          <a:p xmlns:a="http://schemas.openxmlformats.org/drawingml/2006/main">
            <a:r>
              <a:t>다섯 사례를 골랐습니다. 어긋남의 유형이 서로 다르기 때문입니다. SCM은 제목의 세 낱말 중 둘이 Θ-경로를 가리킵니다. 그런데 다섯 갱신 연산자의 좌변이 전부 NetworkX 그래프와 텍스트 버퍼입니다. 논문 스스로 씁니다 — 학습이나 fine-tuning이 필요 없다고. 통과는 하되 경로는 E입니다. Memory Caching은 갱신식이 아니라 읽기식을 바꿨습니다. Nested Learning은 갱신 주파수 연속체를 놓았지만 모든 시계가 토큰입니다 — 축이 있다는 사실만으로 W-경로의 결과를 Θ-경로로 옮겨 읽으면 안 됩니다. Memory Layers는 배포 후 아무것도 안 바뀝니다. Generative Adapter는 산출물이 LoRA 모양인데 시계가 wake입니다. 다섯이 함께 말하는 것은 하나입니다 — 분류는 모양이 아니라 갱신식과 시계의 쌍으로 합니다.</a:t>
            </a:r>
            <a:endParaRPr/>
          </a:p>
          <a:p xmlns:a="http://schemas.openxmlformats.org/drawingml/2006/main">
            <a:r>
              <a:t/>
            </a:r>
            <a:endParaRPr/>
          </a:p>
          <a:p xmlns:a="http://schemas.openxmlformats.org/drawingml/2006/main">
            <a:r>
              <a:t>• SCM: 제목은 consolidation, 좌변은 전부 그래프다</a:t>
            </a:r>
            <a:endParaRPr/>
          </a:p>
          <a:p xmlns:a="http://schemas.openxmlformats.org/drawingml/2006/main">
            <a:r>
              <a:t>• MemCaching: 갱신식이 아니라 읽기식을 바꿨다. B_s=0</a:t>
            </a:r>
            <a:endParaRPr/>
          </a:p>
          <a:p xmlns:a="http://schemas.openxmlformats.org/drawingml/2006/main">
            <a:r>
              <a:t>• NestedLearn: 연속체는 표기의 다리이지 기제의 다리가 아니다</a:t>
            </a:r>
            <a:endParaRPr/>
          </a:p>
          <a:p xmlns:a="http://schemas.openxmlformats.org/drawingml/2006/main">
            <a:r>
              <a:t>• MemLayers: 배포 후 정지. 볼 시계가 없다</a:t>
            </a:r>
            <a:endParaRPr/>
          </a:p>
          <a:p xmlns:a="http://schemas.openxmlformats.org/drawingml/2006/main">
            <a:r>
              <a:t>• GenAdapter: 산출물은 LoRA 모양, 시계는 wake다</a:t>
            </a:r>
            <a:endParaRPr/>
          </a:p>
          <a:p xmlns:a="http://schemas.openxmlformats.org/drawingml/2006/main">
            <a:r>
              <a:t/>
            </a:r>
            <a:endParaRPr/>
          </a:p>
          <a:p xmlns:a="http://schemas.openxmlformats.org/drawingml/2006/main">
            <a:r>
              <a:t>[Sources]</a:t>
            </a:r>
            <a:endParaRPr/>
          </a:p>
          <a:p xmlns:a="http://schemas.openxmlformats.org/drawingml/2006/main">
            <a:r>
              <a:t>study-kr-stc ch11 §11.4.1–11.4.5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STC2-043 — SCM 한 편을 다섯 단계로 실제로 밟아 본다</a:t>
            </a:r>
            <a:endParaRPr/>
          </a:p>
          <a:p xmlns:a="http://schemas.openxmlformats.org/drawingml/2006/main">
            <a:r>
              <a:t>핵심 결론: 연산자가 같아도 좌변이 다르면 다른 층이고, 비용·용량·롤백 단위가 전부 달라진다</a:t>
            </a:r>
            <a:endParaRPr/>
          </a:p>
          <a:p xmlns:a="http://schemas.openxmlformats.org/drawingml/2006/main">
            <a:r>
              <a:t/>
            </a:r>
            <a:endParaRPr/>
          </a:p>
          <a:p xmlns:a="http://schemas.openxmlformats.org/drawingml/2006/main">
            <a:r>
              <a:t>[발표 대본]</a:t>
            </a:r>
            <a:endParaRPr/>
          </a:p>
          <a:p xmlns:a="http://schemas.openxmlformats.org/drawingml/2006/main">
            <a:r>
              <a:t>다섯 단계를 실제로 밟는 모습을 한 번만 보여 드리겠습니다. SCM입니다. 1단계, 갱신 연산자는 다섯입니다 — 기존 edge 강화, 전역 downscale, 장기 저장소로의 transfer, REM 단계의 dream, prune. 2단계, 그 연산자들의 좌변이 전부 NetworkX 그래프와 텍스트 버퍼이고 둘 다 모델 밖입니다. 층은 E입니다. 3단계, 시계는 대화 후이고 트리거가 스케줄이 아니라 상태 의존입니다 — 버퍼 엔트로피, 충돌 밀도, 경과 시간 중 하나가 임계를 넘으면 사이클이 돕니다. 4단계, 예산은 0보다 크되 극단적으로 작습니다. 다섯 연산 어디에도 LLM 호출이 없습니다. 5단계 통과. 결론 — 통과지만 경로는 E입니다. 이 어긋남의 원인은 제목이 아니라 연산자의 이름을 층과 혼동한 것입니다. consolidation과 pruning은 신경과학에서 시냅스에 걸리는 연산이고, 시냅스의 인공 대응물은 가중치입니다. SCM은 같은 연산자를 그래프의 edge에 겁니다.</a:t>
            </a:r>
            <a:endParaRPr/>
          </a:p>
          <a:p xmlns:a="http://schemas.openxmlformats.org/drawingml/2006/main">
            <a:r>
              <a:t/>
            </a:r>
            <a:endParaRPr/>
          </a:p>
          <a:p xmlns:a="http://schemas.openxmlformats.org/drawingml/2006/main">
            <a:r>
              <a:t>• 1 연산자: hebb·downscale·transfer·dream·prune</a:t>
            </a:r>
            <a:endParaRPr/>
          </a:p>
          <a:p xmlns:a="http://schemas.openxmlformats.org/drawingml/2006/main">
            <a:r>
              <a:t>• 2 좌변: 전부 그래프와 텍스트 버퍼 — 모델 밖</a:t>
            </a:r>
            <a:endParaRPr/>
          </a:p>
          <a:p xmlns:a="http://schemas.openxmlformats.org/drawingml/2006/main">
            <a:r>
              <a:t>• 3 시계: 대화 후. 트리거가 상태 의존이다</a:t>
            </a:r>
            <a:endParaRPr/>
          </a:p>
          <a:p xmlns:a="http://schemas.openxmlformats.org/drawingml/2006/main">
            <a:r>
              <a:t>• 4 예산: 0보다 크되 LLM 호출이 하나도 없다</a:t>
            </a:r>
            <a:endParaRPr/>
          </a:p>
          <a:p xmlns:a="http://schemas.openxmlformats.org/drawingml/2006/main">
            <a:r>
              <a:t>• 5 소비자: 이후 턴의 검색이 읽는다 — 통과</a:t>
            </a:r>
            <a:endParaRPr/>
          </a:p>
          <a:p xmlns:a="http://schemas.openxmlformats.org/drawingml/2006/main">
            <a:r>
              <a:t/>
            </a:r>
            <a:endParaRPr/>
          </a:p>
          <a:p xmlns:a="http://schemas.openxmlformats.org/drawingml/2006/main">
            <a:r>
              <a:t>[Sources]</a:t>
            </a:r>
            <a:endParaRPr/>
          </a:p>
          <a:p xmlns:a="http://schemas.openxmlformats.org/drawingml/2006/main">
            <a:r>
              <a:t>study-kr-stc ch11 §11.4.1</a:t>
            </a:r>
            <a:endParaRPr/>
          </a:p>
          <a:p xmlns:a="http://schemas.openxmlformats.org/drawingml/2006/main">
            <a:r>
              <a:t>[SCM Algorithm 1; §3.6; §3.8]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STC2-044 — 경계 사례 규칙 — MemGPT는 되고 RAG는 안 되는 이유</a:t>
            </a:r>
            <a:endParaRPr/>
          </a:p>
          <a:p xmlns:a="http://schemas.openxmlformats.org/drawingml/2006/main">
            <a:r>
              <a:t>핵심 결론: 경계 사례 자격은 탈락 조건의 개수만으로 주어지지 않는다</a:t>
            </a:r>
            <a:endParaRPr/>
          </a:p>
          <a:p xmlns:a="http://schemas.openxmlformats.org/drawingml/2006/main">
            <a:r>
              <a:t/>
            </a:r>
            <a:endParaRPr/>
          </a:p>
          <a:p xmlns:a="http://schemas.openxmlformats.org/drawingml/2006/main">
            <a:r>
              <a:t>[발표 대본]</a:t>
            </a:r>
            <a:endParaRPr/>
          </a:p>
          <a:p xmlns:a="http://schemas.openxmlformats.org/drawingml/2006/main">
            <a:r>
              <a:t>경계 사례 규칙을 하나 세워야 했습니다. MemGPT 때문입니다. MemGPT는 조건 둘·셋·넷을 만족하고 하나만 만족하지 않습니다. 그런데 그 쓰기의 산출물은 이후 질의에 쓰이고, E-경로의 통과 논문들이 자기 계보를 여기서 시작합니다. 규칙은 이렇습니다. 넷 중 셋을 만족하고 통과군의 논문이 그것을 조상으로 지목하는 경우에 한해, 해당 경로의 출발점으로 서술한다. 단 탈락 조건을 명시하고, 통과군으로 세지 않는다. 규칙이 필요한 이유는 계보적 조상과 범주 소속이 다른 문제이기 때문입니다. 조상을 빼면 bridge 사슬이 끊기고, 조상을 통과로 세면 조건 하나가 무력해집니다. 반대 방향도 못 박습니다. RAG는 탈락 조건이 하나지만 통과군이 조상으로 지목하지 않습니다 — Letta STC의 참고문헌 22개에 RAG가 없습니다. 그래서 경계 사례가 아니라 배경입니다.</a:t>
            </a:r>
            <a:endParaRPr/>
          </a:p>
          <a:p xmlns:a="http://schemas.openxmlformats.org/drawingml/2006/main">
            <a:r>
              <a:t/>
            </a:r>
            <a:endParaRPr/>
          </a:p>
          <a:p xmlns:a="http://schemas.openxmlformats.org/drawingml/2006/main">
            <a:r>
              <a:t>• 조건: 네 조건 중 셋을 만족하고, 통과군이 조상으로 지목</a:t>
            </a:r>
            <a:endParaRPr/>
          </a:p>
          <a:p xmlns:a="http://schemas.openxmlformats.org/drawingml/2006/main">
            <a:r>
              <a:t>• 의무: 탈락 조건 명시 + 통과군으로 세지 않기</a:t>
            </a:r>
            <a:endParaRPr/>
          </a:p>
          <a:p xmlns:a="http://schemas.openxmlformats.org/drawingml/2006/main">
            <a:r>
              <a:t>• RAG: 탈락 조건 하나지만 조상 지목이 없다 — 배경</a:t>
            </a:r>
            <a:endParaRPr/>
          </a:p>
          <a:p xmlns:a="http://schemas.openxmlformats.org/drawingml/2006/main">
            <a:r>
              <a:t/>
            </a:r>
            <a:endParaRPr/>
          </a:p>
          <a:p xmlns:a="http://schemas.openxmlformats.org/drawingml/2006/main">
            <a:r>
              <a:t>[Sources]</a:t>
            </a:r>
            <a:endParaRPr/>
          </a:p>
          <a:p xmlns:a="http://schemas.openxmlformats.org/drawingml/2006/main">
            <a:r>
              <a:t>study-kr-stc ch11 §11.5</a:t>
            </a:r>
            <a:endParaRPr/>
          </a:p>
          <a:p xmlns:a="http://schemas.openxmlformats.org/drawingml/2006/main">
            <a:r>
              <a:t>[Letta STC §2]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STC2-045 — 침묵 지도 — 연대가 강제한 침묵과 선택된 침묵</a:t>
            </a:r>
            <a:endParaRPr/>
          </a:p>
          <a:p xmlns:a="http://schemas.openxmlformats.org/drawingml/2006/main">
            <a:r>
              <a:t>핵심 결론: 선택된 침묵 넷 · 근접 동시성 11일은 강제 쪽에 놓는다</a:t>
            </a:r>
            <a:endParaRPr/>
          </a:p>
          <a:p xmlns:a="http://schemas.openxmlformats.org/drawingml/2006/main">
            <a:r>
              <a:t/>
            </a:r>
            <a:endParaRPr/>
          </a:p>
          <a:p xmlns:a="http://schemas.openxmlformats.org/drawingml/2006/main">
            <a:r>
              <a:t>[발표 대본]</a:t>
            </a:r>
            <a:endParaRPr/>
          </a:p>
          <a:p xmlns:a="http://schemas.openxmlformats.org/drawingml/2006/main">
            <a:r>
              <a:t>다음은 침묵 지도입니다. corpus의 참고문헌을 전수 확인했습니다. 먼저 구분이 필요합니다. 2021년 논문이 2025년 논문을 인용하지 않는 것은 침묵이 아니라 연대입니다. 그래서 물을 수 있는 것은 하나뿐입니다 — 뒤에 온 논문이 앞선 논문을 인용했는가. 그 기준으로 선택된 침묵이 넷 두드러집니다. Memory Layers는 선행하는 MemGPT·LoRA·ROME·EWC를 하나도 인용하지 않으면서 결론에서 continual learning과 망각을 거론합니다. Nested Learning은 8개월 선행하고 이 이름을 만든 논문을 인용하지 않습니다. Letta STC 자신이 세 방향 모두에 침묵합니다. ReasoningBank는 'sleep'이라는 단어를 한 번도 쓰지 않습니다. 공정하게 하나 덧붙이면, Mem0가 Letta STC를 인용하지 않는 것은 공개 간격이 11일이라 근접 동시성으로 보고 강제 쪽에 놓았습니다. 같은 사실을 선택된 침묵으로 서술하면 근거 없는 비난이 됩니다.</a:t>
            </a:r>
            <a:endParaRPr/>
          </a:p>
          <a:p xmlns:a="http://schemas.openxmlformats.org/drawingml/2006/main">
            <a:r>
              <a:t/>
            </a:r>
            <a:endParaRPr/>
          </a:p>
          <a:p xmlns:a="http://schemas.openxmlformats.org/drawingml/2006/main">
            <a:r>
              <a:t>• 정의: 뒤에 온 논문이 앞선 논문을 인용했는가만 묻는다</a:t>
            </a:r>
            <a:endParaRPr/>
          </a:p>
          <a:p xmlns:a="http://schemas.openxmlformats.org/drawingml/2006/main">
            <a:r>
              <a:t>• Memory Layers: MemGPT·LoRA·ROME·EWC 넷 다 미인용</a:t>
            </a:r>
            <a:endParaRPr/>
          </a:p>
          <a:p xmlns:a="http://schemas.openxmlformats.org/drawingml/2006/main">
            <a:r>
              <a:t>• Nested Learning: 8개월 선행한 Letta STC를 인용하지 않는다</a:t>
            </a:r>
            <a:endParaRPr/>
          </a:p>
          <a:p xmlns:a="http://schemas.openxmlformats.org/drawingml/2006/main">
            <a:r>
              <a:t>• Letta STC: W·Θ·생물 세 방향 모두에 침묵한다</a:t>
            </a:r>
            <a:endParaRPr/>
          </a:p>
          <a:p xmlns:a="http://schemas.openxmlformats.org/drawingml/2006/main">
            <a:r>
              <a:t>• ReasoningBank: 'sleep'이 논문 전체에 한 번도 안 나온다</a:t>
            </a:r>
            <a:endParaRPr/>
          </a:p>
          <a:p xmlns:a="http://schemas.openxmlformats.org/drawingml/2006/main">
            <a:r>
              <a:t/>
            </a:r>
            <a:endParaRPr/>
          </a:p>
          <a:p xmlns:a="http://schemas.openxmlformats.org/drawingml/2006/main">
            <a:r>
              <a:t>[Sources]</a:t>
            </a:r>
            <a:endParaRPr/>
          </a:p>
          <a:p xmlns:a="http://schemas.openxmlformats.org/drawingml/2006/main">
            <a:r>
              <a:t>study-kr-stc ch11 §11.6, §11.6.1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STC2-046 — 같은 경로 안에서도 창시 논문이 인용되지 않는다</a:t>
            </a:r>
            <a:endParaRPr/>
          </a:p>
          <a:p xmlns:a="http://schemas.openxmlformats.org/drawingml/2006/main">
            <a:r>
              <a:t>핵심 결론: 인용 누락이 아니라 공동체가 다르다는 뜻이다 — 이 이름은 그들의 검색어가 아니다</a:t>
            </a:r>
            <a:endParaRPr/>
          </a:p>
          <a:p xmlns:a="http://schemas.openxmlformats.org/drawingml/2006/main">
            <a:r>
              <a:t/>
            </a:r>
            <a:endParaRPr/>
          </a:p>
          <a:p xmlns:a="http://schemas.openxmlformats.org/drawingml/2006/main">
            <a:r>
              <a:t>[발표 대본]</a:t>
            </a:r>
            <a:endParaRPr/>
          </a:p>
          <a:p xmlns:a="http://schemas.openxmlformats.org/drawingml/2006/main">
            <a:r>
              <a:t>경로 사이의 단절보다 더 놀라운 것은 경로 안의 단절입니다. E-경로에서 이 라인의 이름을 만든 논문은 Letta STC입니다. 그런데 같은 경로의 후속 논문 둘이 그것을 인용하지 않습니다. ReasoningBank는 5개월 뒤에 나왔고 'sleep'이라는 단어를 한 번도 쓰지 않습니다. 두 논문 모두 다음 질의가 오기 전에 과거 문맥의 요약을 외부 저장소에 씁니다 — 같은 연산을 합니다. 같은 연산을 하는 논문이 그 연산에 이름을 붙인 논문을 보지 않는다는 것은 인용 누락이 아니라 공동체가 다르다는 뜻입니다. 사슬은 반대 방향으로도 끊겨 있습니다. Letta STC 자신이 상속받은 open question이 없습니다. 참고문헌 22개이고, 계보 진술이라 할 것은 같은 저자의 이전 작업에 대한 운영체제 prefetching 유비 하나뿐입니다. 그리고 세 경로를 모두 읽은 문헌이 한 편 있는데, 기제 논문이 아니라 이론·서베이 쪽에서 나왔습니다. 그 사실 자체가 corpus의 상태를 말해 줍니다.</a:t>
            </a:r>
            <a:endParaRPr/>
          </a:p>
          <a:p xmlns:a="http://schemas.openxmlformats.org/drawingml/2006/main">
            <a:r>
              <a:t/>
            </a:r>
            <a:endParaRPr/>
          </a:p>
          <a:p xmlns:a="http://schemas.openxmlformats.org/drawingml/2006/main">
            <a:r>
              <a:t>• E-경로: ReasoningBank는 5개월 뒤에 나왔다</a:t>
            </a:r>
            <a:endParaRPr/>
          </a:p>
          <a:p xmlns:a="http://schemas.openxmlformats.org/drawingml/2006/main">
            <a:r>
              <a:t>• W-경로: 주류 계보를 한 편도 인용하지 않는다</a:t>
            </a:r>
            <a:endParaRPr/>
          </a:p>
          <a:p xmlns:a="http://schemas.openxmlformats.org/drawingml/2006/main">
            <a:r>
              <a:t>• 상속: Letta STC 자신이 상속받은 질문이 없다</a:t>
            </a:r>
            <a:endParaRPr/>
          </a:p>
          <a:p xmlns:a="http://schemas.openxmlformats.org/drawingml/2006/main">
            <a:r>
              <a:t>• 예외: 통합적으로 읽은 문헌은 이론 쪽 한 편뿐</a:t>
            </a:r>
            <a:endParaRPr/>
          </a:p>
          <a:p xmlns:a="http://schemas.openxmlformats.org/drawingml/2006/main">
            <a:r>
              <a:t/>
            </a:r>
            <a:endParaRPr/>
          </a:p>
          <a:p xmlns:a="http://schemas.openxmlformats.org/drawingml/2006/main">
            <a:r>
              <a:t>[Sources]</a:t>
            </a:r>
            <a:endParaRPr/>
          </a:p>
          <a:p xmlns:a="http://schemas.openxmlformats.org/drawingml/2006/main">
            <a:r>
              <a:t>study-kr-stc ch11 §11.7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STC2-047 — E-경로 — 모델 밖에 쓰고 프롬프트로 읽는다</a:t>
            </a:r>
            <a:endParaRPr/>
          </a:p>
          <a:p xmlns:a="http://schemas.openxmlformats.org/drawingml/2006/main">
            <a:r>
              <a:t>핵심 결론: 통과 9편 중 6편이 여기 있고, 이 라인의 이름도 여기서 나왔다</a:t>
            </a:r>
            <a:endParaRPr/>
          </a:p>
          <a:p xmlns:a="http://schemas.openxmlformats.org/drawingml/2006/main">
            <a:r>
              <a:t/>
            </a:r>
            <a:endParaRPr/>
          </a:p>
          <a:p xmlns:a="http://schemas.openxmlformats.org/drawingml/2006/main">
            <a:r>
              <a:t>[발표 대본]</a:t>
            </a:r>
            <a:endParaRPr/>
          </a:p>
          <a:p xmlns:a="http://schemas.openxmlformats.org/drawingml/2006/main">
            <a:r>
              <a:t>이제 세 경로를 하나씩 순회합니다. 가장 붐비는 E-경로부터 시작합니다. 좌변은 모델 밖 레코드입니다. Θ와 W는 한 번도 안 움직입니다. 시계는 세션 단위 — 대화 후, 과제 후, 에피소드마다. 읽기는 검색 한 번과 그 결과가 실린 프롬프트입니다. 그리고 이 경로가 실제로 가진 가장 강한 논거를 미리 말씀드립니다 — shared-weight batching이 그대로 보존됩니다. 상태가 가중치에 내려앉지 않으니 서로 다른 사용자의 요청이 같은 가중치 위에서 한 배치로 묶입니다. 재미있는 것은, 오늘 보실 다섯 논문 중 아무도 이 논거를 주장하지 않는다는 점입니다.</a:t>
            </a:r>
            <a:endParaRPr/>
          </a:p>
          <a:p xmlns:a="http://schemas.openxmlformats.org/drawingml/2006/main">
            <a:r>
              <a:t/>
            </a:r>
            <a:endParaRPr/>
          </a:p>
          <a:p xmlns:a="http://schemas.openxmlformats.org/drawingml/2006/main">
            <a:r>
              <a:t>• 좌변: 레코드 · 텍스트·벡터·그래프. Θ와 W는 불변</a:t>
            </a:r>
            <a:endParaRPr/>
          </a:p>
          <a:p xmlns:a="http://schemas.openxmlformats.org/drawingml/2006/main">
            <a:r>
              <a:t>• 시계: 세션 · 대화 후, 과제 후, 에피소드마다</a:t>
            </a:r>
            <a:endParaRPr/>
          </a:p>
          <a:p xmlns:a="http://schemas.openxmlformats.org/drawingml/2006/main">
            <a:r>
              <a:t>• 읽기: 검색 · ret(E,q) 한 번 + 프롬프트 증가</a:t>
            </a:r>
            <a:endParaRPr/>
          </a:p>
          <a:p xmlns:a="http://schemas.openxmlformats.org/drawingml/2006/main">
            <a:r>
              <a:t>• 이점: 배칭 · shared-weight batching이 온전하다</a:t>
            </a:r>
            <a:endParaRPr/>
          </a:p>
          <a:p xmlns:a="http://schemas.openxmlformats.org/drawingml/2006/main">
            <a:r>
              <a:t/>
            </a:r>
            <a:endParaRPr/>
          </a:p>
          <a:p xmlns:a="http://schemas.openxmlformats.org/drawingml/2006/main">
            <a:r>
              <a:t>[Sources]</a:t>
            </a:r>
            <a:endParaRPr/>
          </a:p>
          <a:p xmlns:a="http://schemas.openxmlformats.org/drawingml/2006/main">
            <a:r>
              <a:t>study-kr-stc ch11 §11.8</a:t>
            </a:r>
            <a:endParaRPr/>
          </a:p>
          <a:p xmlns:a="http://schemas.openxmlformats.org/drawingml/2006/main">
            <a:r>
              <a:t>study-kr-stc ch14 §14.7, ch15 §15.7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STC2-048 — 가장 이른 조상 — Memorizing Transformers는 왜 이 범주가 아닌가</a:t>
            </a:r>
            <a:endParaRPr/>
          </a:p>
          <a:p xmlns:a="http://schemas.openxmlformats.org/drawingml/2006/main">
            <a:r>
              <a:t>핵심 결론: 이 기제는 저장을 압축하지 않고 계산을 압축한다. B_s 축의 원점이다</a:t>
            </a:r>
            <a:endParaRPr/>
          </a:p>
          <a:p xmlns:a="http://schemas.openxmlformats.org/drawingml/2006/main">
            <a:r>
              <a:t/>
            </a:r>
            <a:endParaRPr/>
          </a:p>
          <a:p xmlns:a="http://schemas.openxmlformats.org/drawingml/2006/main">
            <a:r>
              <a:t>[발표 대본]</a:t>
            </a:r>
            <a:endParaRPr/>
          </a:p>
          <a:p xmlns:a="http://schemas.openxmlformats.org/drawingml/2006/main">
            <a:r>
              <a:t>E-경로의 가장 이른 조상입니다. 이 범주는 아니지만 명제 하나를 처음 세웠습니다 — 미분 불가능한 외부 저장소를 attention으로 읽는 것이 미분 가능한 문맥을 키우는 것보다 낫다. 쓰기는 forward pass가 이미 만든 키·값 텐서를 그대로 적재하는 것입니다. 즉 S가 표현 공간의 항등사상이고 한계 예산이 0입니다. 조건 하나와 둘에 걸립니다. 이 논문을 오늘 B_s 축의 원점으로 읽겠습니다. 예산이 0인 자리에서 E-경로가 어디까지 갈 수 있는지를 보여 주는 지점입니다. 그리고 이 논문이 남긴 정직한 사실 하나 — 이 기제는 저장을 압축하지 않고 계산을 압축합니다. 뒤에 오는 논문들이 상각을 주장할 때 이 구분이 흐려집니다.</a:t>
            </a:r>
            <a:endParaRPr/>
          </a:p>
          <a:p xmlns:a="http://schemas.openxmlformats.org/drawingml/2006/main">
            <a:r>
              <a:t/>
            </a:r>
            <a:endParaRPr/>
          </a:p>
          <a:p xmlns:a="http://schemas.openxmlformats.org/drawingml/2006/main">
            <a:r>
              <a:t>• 명제: 미분 불가 저장소를 attention으로 읽는 것이 낫다</a:t>
            </a:r>
            <a:endParaRPr/>
          </a:p>
          <a:p xmlns:a="http://schemas.openxmlformats.org/drawingml/2006/main">
            <a:r>
              <a:t>• 쓰기: forward가 만든 (k,v) 그대로. S가 항등사상</a:t>
            </a:r>
            <a:endParaRPr/>
          </a:p>
          <a:p xmlns:a="http://schemas.openxmlformats.org/drawingml/2006/main">
            <a:r>
              <a:t>• 읽기: 12층 중 layer 9에서 top-32 회수 후 attention</a:t>
            </a:r>
            <a:endParaRPr/>
          </a:p>
          <a:p xmlns:a="http://schemas.openxmlformats.org/drawingml/2006/main">
            <a:r>
              <a:t>• 탈락: 조건 (1)(2). 쓰기가 wake pass 안에 있다</a:t>
            </a:r>
            <a:endParaRPr/>
          </a:p>
          <a:p xmlns:a="http://schemas.openxmlformats.org/drawingml/2006/main">
            <a:r>
              <a:t>• 비용 4종: 값이 든 칸이 없다. C_cap은 개수로만</a:t>
            </a:r>
            <a:endParaRPr/>
          </a:p>
          <a:p xmlns:a="http://schemas.openxmlformats.org/drawingml/2006/main">
            <a:r>
              <a:t/>
            </a:r>
            <a:endParaRPr/>
          </a:p>
          <a:p xmlns:a="http://schemas.openxmlformats.org/drawingml/2006/main">
            <a:r>
              <a:t>[Sources]</a:t>
            </a:r>
            <a:endParaRPr/>
          </a:p>
          <a:p xmlns:a="http://schemas.openxmlformats.org/drawingml/2006/main">
            <a:r>
              <a:t>study-kr-stc ch12 §12.5, §12.7</a:t>
            </a:r>
            <a:endParaRPr/>
          </a:p>
          <a:p xmlns:a="http://schemas.openxmlformats.org/drawingml/2006/main">
            <a:r>
              <a:t>[Memorizing Transformers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STC2-049 — RAG에서 MemGPT로 — 단위가 corpus당에서 사용자당으로 바뀐다</a:t>
            </a:r>
            <a:endParaRPr/>
          </a:p>
          <a:p xmlns:a="http://schemas.openxmlformats.org/drawingml/2006/main">
            <a:r>
              <a:t>핵심 결론: 쓰기가 대화 중 임계 경로 위에서 일어나므로 구조적 조상이되 sleep-time compute은 아니다</a:t>
            </a:r>
            <a:endParaRPr/>
          </a:p>
          <a:p xmlns:a="http://schemas.openxmlformats.org/drawingml/2006/main">
            <a:r>
              <a:t/>
            </a:r>
            <a:endParaRPr/>
          </a:p>
          <a:p xmlns:a="http://schemas.openxmlformats.org/drawingml/2006/main">
            <a:r>
              <a:t>[발표 대본]</a:t>
            </a:r>
            <a:endParaRPr/>
          </a:p>
          <a:p xmlns:a="http://schemas.openxmlformats.org/drawingml/2006/main">
            <a:r>
              <a:t>다음이 MemGPT입니다. E-경로의 서술이 여기서 시작합니다. 상속한 문제는 Lost in the Middle입니다. 긴 문맥을 지원할 대안 기법이 절실하다는 진술을 그대로 물려받습니다. 관점이 바뀌는 지점이 여기입니다. 이동을 촉발하는 것이 질의가 아니라 상주 층의 용량 초과가 되면, E 설계의 1차 변수가 검색 품질에서 잔류 정책으로 바뀝니다. 그런데 중요한 사실 하나 — 아무것도 학습되지 않습니다. 동결된 폐쇄 API 위의 prompt-engineered function calling이고, gradient도 loss도 이 방법의 파라미터도 없습니다. 그리고 여기가 오늘 계속 걸릴 자리입니다. RAG에서는 상태 용량이 corpus당 수십 GB로 보고됩니다. 사용자당으로 단위가 바뀌는 바로 이 논문에서 숫자가 사라집니다.</a:t>
            </a:r>
            <a:endParaRPr/>
          </a:p>
          <a:p xmlns:a="http://schemas.openxmlformats.org/drawingml/2006/main">
            <a:r>
              <a:t/>
            </a:r>
            <a:endParaRPr/>
          </a:p>
          <a:p xmlns:a="http://schemas.openxmlformats.org/drawingml/2006/main">
            <a:r>
              <a:t>• 상속: Lost in Middle</a:t>
            </a:r>
            <a:endParaRPr/>
          </a:p>
          <a:p xmlns:a="http://schemas.openxmlformats.org/drawingml/2006/main">
            <a:r>
              <a:t>• 관점: 질의 아닌 용량 초과</a:t>
            </a:r>
            <a:endParaRPr/>
          </a:p>
          <a:p xmlns:a="http://schemas.openxmlformats.org/drawingml/2006/main">
            <a:r>
              <a:t>• 학습: gradient 없음</a:t>
            </a:r>
            <a:endParaRPr/>
          </a:p>
          <a:p xmlns:a="http://schemas.openxmlformats.org/drawingml/2006/main">
            <a:r>
              <a:t>• 탈락: 조건 (1) — 턴 안</a:t>
            </a:r>
            <a:endParaRPr/>
          </a:p>
          <a:p xmlns:a="http://schemas.openxmlformats.org/drawingml/2006/main">
            <a:r>
              <a:t>• 비용: 네 칸 전부 없음</a:t>
            </a:r>
            <a:endParaRPr/>
          </a:p>
          <a:p xmlns:a="http://schemas.openxmlformats.org/drawingml/2006/main">
            <a:r>
              <a:t>• 귀결: 답당 비용 증가</a:t>
            </a:r>
            <a:endParaRPr/>
          </a:p>
          <a:p xmlns:a="http://schemas.openxmlformats.org/drawingml/2006/main">
            <a:r>
              <a:t/>
            </a:r>
            <a:endParaRPr/>
          </a:p>
          <a:p xmlns:a="http://schemas.openxmlformats.org/drawingml/2006/main">
            <a:r>
              <a:t>[Sources]</a:t>
            </a:r>
            <a:endParaRPr/>
          </a:p>
          <a:p xmlns:a="http://schemas.openxmlformats.org/drawingml/2006/main">
            <a:r>
              <a:t>study-kr-stc ch13</a:t>
            </a:r>
            <a:endParaRPr/>
          </a:p>
          <a:p xmlns:a="http://schemas.openxmlformats.org/drawingml/2006/main">
            <a:r>
              <a:t>[MemGPT §2.3,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STC2-050 — Letta `Sleep-time Compute` — 이름을 만든 논문</a:t>
            </a:r>
            <a:endParaRPr/>
          </a:p>
          <a:p xmlns:a="http://schemas.openxmlformats.org/drawingml/2006/main">
            <a:r>
              <a:t>핵심 결론: 상속받은 open question이 없다. 참고문헌 22개에 계보 진술은 유비 하나뿐이다</a:t>
            </a:r>
            <a:endParaRPr/>
          </a:p>
          <a:p xmlns:a="http://schemas.openxmlformats.org/drawingml/2006/main">
            <a:r>
              <a:t/>
            </a:r>
            <a:endParaRPr/>
          </a:p>
          <a:p xmlns:a="http://schemas.openxmlformats.org/drawingml/2006/main">
            <a:r>
              <a:t>[발표 대본]</a:t>
            </a:r>
            <a:endParaRPr/>
          </a:p>
          <a:p xmlns:a="http://schemas.openxmlformats.org/drawingml/2006/main">
            <a:r>
              <a:t>이제 이 라인의 이름을 만든 논문입니다. 먼저 서지적 사실부터. 이 논문은 상속받은 open question 없이 시작합니다. 참고문헌 22개이고, 계보 진술이라 할 것은 같은 저자의 이전 작업에 대한 운영체제 prefetching 유비 하나뿐입니다. 문제를 물려받는 대신 test-time scaling 문헌에 stateless 가정을 부여해 공백을 제조합니다. 그리고 이 논문에는 번호 붙은 수식이 하나도 없습니다. 가장 중요한 사실은 sleep이라는 낱말의 뜻입니다. 이 논문에서 sleep은 consolidation 이론의 용어가 아니라 '상호작용 사이에 모델이 노는 시간'을 가리키는 조작적 낱말입니다. 참고문헌 22편에 CLS도 hippocampal replay도 없습니다. 이름은 생물학에서 왔고 논증은 오지 않았습니다. 그러므로 뒤에 온 논문들이 같은 단어를 쓴다는 사실은 공유된 이론적 입장의 증거가 아닙니다.</a:t>
            </a:r>
            <a:endParaRPr/>
          </a:p>
          <a:p xmlns:a="http://schemas.openxmlformats.org/drawingml/2006/main">
            <a:r>
              <a:t/>
            </a:r>
            <a:endParaRPr/>
          </a:p>
          <a:p xmlns:a="http://schemas.openxmlformats.org/drawingml/2006/main">
            <a:r>
              <a:t>• 공백 제조: test-time scaling에 stateless 가정을 부여</a:t>
            </a:r>
            <a:endParaRPr/>
          </a:p>
          <a:p xmlns:a="http://schemas.openxmlformats.org/drawingml/2006/main">
            <a:r>
              <a:t>• 계보: OS prefetching 유비 하나. 문제 상속 아님</a:t>
            </a:r>
            <a:endParaRPr/>
          </a:p>
          <a:p xmlns:a="http://schemas.openxmlformats.org/drawingml/2006/main">
            <a:r>
              <a:t>• 번호 수식: 논문에 번호 붙은 수식이 하나도 없다</a:t>
            </a:r>
            <a:endParaRPr/>
          </a:p>
          <a:p xmlns:a="http://schemas.openxmlformats.org/drawingml/2006/main">
            <a:r>
              <a:t>• sleep의 뜻: consolidation이 아니라 유휴 시간</a:t>
            </a:r>
            <a:endParaRPr/>
          </a:p>
          <a:p xmlns:a="http://schemas.openxmlformats.org/drawingml/2006/main">
            <a:r>
              <a:t>• 생물 인용: CLS도 replay도 0편</a:t>
            </a:r>
            <a:endParaRPr/>
          </a:p>
          <a:p xmlns:a="http://schemas.openxmlformats.org/drawingml/2006/main">
            <a:r>
              <a:t/>
            </a:r>
            <a:endParaRPr/>
          </a:p>
          <a:p xmlns:a="http://schemas.openxmlformats.org/drawingml/2006/main">
            <a:r>
              <a:t>[Sources]</a:t>
            </a:r>
            <a:endParaRPr/>
          </a:p>
          <a:p xmlns:a="http://schemas.openxmlformats.org/drawingml/2006/main">
            <a:r>
              <a:t>study-kr-stc ch14 §14.1–14.3</a:t>
            </a:r>
            <a:endParaRPr/>
          </a:p>
          <a:p xmlns:a="http://schemas.openxmlformats.org/drawingml/2006/main">
            <a:r>
              <a:t>[Letta STC §1, §2, §7]</a:t>
            </a:r>
            <a:endParaRPr/>
          </a:p>
          <a:p xmlns:a="http://schemas.openxmlformats.org/drawingml/2006/main">
            <a:r>
              <a:t>study-kr-stc ch23 §23.8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STC2-051 — Letta STC의 기제 — (U-E) 하나가 네 겹으로 특수화된다</a:t>
            </a:r>
            <a:endParaRPr/>
          </a:p>
          <a:p xmlns:a="http://schemas.openxmlformats.org/drawingml/2006/main">
            <a:r>
              <a:t>핵심 결론: 네 특수화가 이 방법의 비용 구조를 전부 정한다</a:t>
            </a:r>
            <a:endParaRPr/>
          </a:p>
          <a:p xmlns:a="http://schemas.openxmlformats.org/drawingml/2006/main">
            <a:r>
              <a:t/>
            </a:r>
            <a:endParaRPr/>
          </a:p>
          <a:p xmlns:a="http://schemas.openxmlformats.org/drawingml/2006/main">
            <a:r>
              <a:t>[발표 대본]</a:t>
            </a:r>
            <a:endParaRPr/>
          </a:p>
          <a:p xmlns:a="http://schemas.openxmlformats.org/drawingml/2006/main">
            <a:r>
              <a:t>기제는 (U-E) 하나인데 네 겹으로 특수화되어 있습니다. 쓰기 연산자는 파괴적 덮어쓰기입니다. 문맥 블록을 새 문자열로 통째로 대체합니다. 되돌리기가 없습니다. S는 깊이 10 이하의 반복 자기 재작성입니다. 즉 여기에 실제로 추론이 들어 있습니다 — 그래서 예산이 0보다 크고 판별식을 통과합니다. 검색은 항등입니다. 검색이 아니라 만들어 둔 문자열이 그대로 프롬프트에 붙습니다. 그리고 Θ는 동결, W는 존재하지 않습니다. 이 네 특수화가 이 방법의 비용 구조를 전부 정합니다 — 특히 '프롬프트에 붙는다'는 마지막 항이 뒤에서 결정적으로 걸립니다.</a:t>
            </a:r>
            <a:endParaRPr/>
          </a:p>
          <a:p xmlns:a="http://schemas.openxmlformats.org/drawingml/2006/main">
            <a:r>
              <a:t/>
            </a:r>
            <a:endParaRPr/>
          </a:p>
          <a:p xmlns:a="http://schemas.openxmlformats.org/drawingml/2006/main">
            <a:r>
              <a:t>• wr: 파괴적 덮어쓰기</a:t>
            </a:r>
            <a:endParaRPr/>
          </a:p>
          <a:p xmlns:a="http://schemas.openxmlformats.org/drawingml/2006/main">
            <a:r>
              <a:t>• S(·;B_s): J≤10 자기 재작성</a:t>
            </a:r>
            <a:endParaRPr/>
          </a:p>
          <a:p xmlns:a="http://schemas.openxmlformats.org/drawingml/2006/main">
            <a:r>
              <a:t>• ret: 항등 · 프롬프트 접합</a:t>
            </a:r>
            <a:endParaRPr/>
          </a:p>
          <a:p xmlns:a="http://schemas.openxmlformats.org/drawingml/2006/main">
            <a:r>
              <a:t>• E 범위: 문맥 단위 · 휘발성</a:t>
            </a:r>
            <a:endParaRPr/>
          </a:p>
          <a:p xmlns:a="http://schemas.openxmlformats.org/drawingml/2006/main">
            <a:r>
              <a:t>• Θ: 동결</a:t>
            </a:r>
            <a:endParaRPr/>
          </a:p>
          <a:p xmlns:a="http://schemas.openxmlformats.org/drawingml/2006/main">
            <a:r>
              <a:t>• W: 없음</a:t>
            </a:r>
            <a:endParaRPr/>
          </a:p>
          <a:p xmlns:a="http://schemas.openxmlformats.org/drawingml/2006/main">
            <a:r>
              <a:t/>
            </a:r>
            <a:endParaRPr/>
          </a:p>
          <a:p xmlns:a="http://schemas.openxmlformats.org/drawingml/2006/main">
            <a:r>
              <a:t>[Sources]</a:t>
            </a:r>
            <a:endParaRPr/>
          </a:p>
          <a:p xmlns:a="http://schemas.openxmlformats.org/drawingml/2006/main">
            <a:r>
              <a:t>study-kr-stc ch14 §14.3</a:t>
            </a:r>
            <a:endParaRPr/>
          </a:p>
          <a:p xmlns:a="http://schemas.openxmlformats.org/drawingml/2006/main">
            <a:r>
              <a:t>[Letta STC App. 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STC2-052 — 'learned'는 gradient를 뜻하지 않는다 — 논문 자신이 그렇게 쓴다</a:t>
            </a:r>
            <a:endParaRPr/>
          </a:p>
          <a:p xmlns:a="http://schemas.openxmlformats.org/drawingml/2006/main">
            <a:r>
              <a:t>핵심 결론: 이 문장이 이 발표의 3경로 분할의 1차 근거다</a:t>
            </a:r>
            <a:endParaRPr/>
          </a:p>
          <a:p xmlns:a="http://schemas.openxmlformats.org/drawingml/2006/main">
            <a:r>
              <a:t/>
            </a:r>
            <a:endParaRPr/>
          </a:p>
          <a:p xmlns:a="http://schemas.openxmlformats.org/drawingml/2006/main">
            <a:r>
              <a:t>[발표 대본]</a:t>
            </a:r>
            <a:endParaRPr/>
          </a:p>
          <a:p xmlns:a="http://schemas.openxmlformats.org/drawingml/2006/main">
            <a:r>
              <a:t>여기서 한 문장만 정확히 인용하겠습니다. learned context의 'learned'는 gradient를 뜻하지 않습니다. 그리고 이건 제 해석이 아니라 논문 본문이 스스로 정확하게 쓴 것입니다 — 표현이 형성되는 공간이 parameter도 activation도 아니라 자연어라는 뜻이라고. 이 문장이 오늘 3경로 분할의 1차 근거입니다. 같은 논문이 자기 산출물이 가중치가 아니라고 명시하고 있으니, 그 논문의 결과를 Θ-경로 결과와 나란히 놓는 것은 논문 자신의 서술에 반하는 일입니다. 논문이 자기에 대해 정확하게 쓴 자리는 그대로 인용하고, 부정확한 자리만 지적하는 것이 오늘의 규칙입니다.</a:t>
            </a:r>
            <a:endParaRPr/>
          </a:p>
          <a:p xmlns:a="http://schemas.openxmlformats.org/drawingml/2006/main">
            <a:r>
              <a:t/>
            </a:r>
            <a:endParaRPr/>
          </a:p>
          <a:p xmlns:a="http://schemas.openxmlformats.org/drawingml/2006/main">
            <a:r>
              <a:t>• learned: gradient 아님</a:t>
            </a:r>
            <a:endParaRPr/>
          </a:p>
          <a:p xmlns:a="http://schemas.openxmlformats.org/drawingml/2006/main">
            <a:r>
              <a:t>• 공간: 자연어</a:t>
            </a:r>
            <a:endParaRPr/>
          </a:p>
          <a:p xmlns:a="http://schemas.openxmlformats.org/drawingml/2006/main">
            <a:r>
              <a:t>• 귀결: 층이 E다</a:t>
            </a:r>
            <a:endParaRPr/>
          </a:p>
          <a:p xmlns:a="http://schemas.openxmlformats.org/drawingml/2006/main">
            <a:r>
              <a:t>• 근거: 3경로 분할</a:t>
            </a:r>
            <a:endParaRPr/>
          </a:p>
          <a:p xmlns:a="http://schemas.openxmlformats.org/drawingml/2006/main">
            <a:r>
              <a:t/>
            </a:r>
            <a:endParaRPr/>
          </a:p>
          <a:p xmlns:a="http://schemas.openxmlformats.org/drawingml/2006/main">
            <a:r>
              <a:t>[Sources]</a:t>
            </a:r>
            <a:endParaRPr/>
          </a:p>
          <a:p xmlns:a="http://schemas.openxmlformats.org/drawingml/2006/main">
            <a:r>
              <a:t>study-kr-stc ch14 §14.3</a:t>
            </a:r>
            <a:endParaRPr/>
          </a:p>
          <a:p xmlns:a="http://schemas.openxmlformats.org/drawingml/2006/main">
            <a:r>
              <a:t>[Letta STC §7, p.13]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STC2-053 — 비용모델 — 생성 토큰만 세고 prefill 항이 없다</a:t>
            </a:r>
            <a:endParaRPr/>
          </a:p>
          <a:p xmlns:a="http://schemas.openxmlformats.org/drawingml/2006/main">
            <a:r>
              <a:t>핵심 결론: 빠진 항의 방향과 방법이 작동하는 방향이 같다 — 이 방법은 프롬프트를 늘린다</a:t>
            </a:r>
            <a:endParaRPr/>
          </a:p>
          <a:p xmlns:a="http://schemas.openxmlformats.org/drawingml/2006/main">
            <a:r>
              <a:t/>
            </a:r>
            <a:endParaRPr/>
          </a:p>
          <a:p xmlns:a="http://schemas.openxmlformats.org/drawingml/2006/main">
            <a:r>
              <a:t>[발표 대본]</a:t>
            </a:r>
            <a:endParaRPr/>
          </a:p>
          <a:p xmlns:a="http://schemas.openxmlformats.org/drawingml/2006/main">
            <a:r>
              <a:t>이 논문의 비용모델을 열어 보겠습니다. 비용모델은 'tokens generated at test-time'만 셉니다. 즉 입력 토큰의 비용이 회계에 없습니다. 그런데 이 방법의 기제 자체가 입력을 길게 만드는 것입니다. learned context는 원 문맥을 압축한 게 아니라 문맥에 대한 추론의 산출물이고, 원 문맥보다 깁니다. 게다가 원 문맥을 버리지도 않습니다. 여기에 병렬 재표현 κ_par를 곱하면 — 논문이 최대 10벌까지 씁니다 — 열 개의 재표현이 매 질의마다 prefill됩니다. 빠진 항의 방향과 이 방법이 작동하는 방향이 같습니다. 이게 뒤에서 실험 X1의 출발점입니다.</a:t>
            </a:r>
            <a:endParaRPr/>
          </a:p>
          <a:p xmlns:a="http://schemas.openxmlformats.org/drawingml/2006/main">
            <a:r>
              <a:t/>
            </a:r>
            <a:endParaRPr/>
          </a:p>
          <a:p xmlns:a="http://schemas.openxmlformats.org/drawingml/2006/main">
            <a:r>
              <a:t>• 생성 토큰: κ=10 wake</a:t>
            </a:r>
            <a:endParaRPr/>
          </a:p>
          <a:p xmlns:a="http://schemas.openxmlformats.org/drawingml/2006/main">
            <a:r>
              <a:t>• 입력 토큰: 이 방법의 기제가 프롬프트를 늘리는 방향으로 작동한다</a:t>
            </a:r>
            <a:endParaRPr/>
          </a:p>
          <a:p xmlns:a="http://schemas.openxmlformats.org/drawingml/2006/main">
            <a:r>
              <a:t>• κ_par 재표현: </a:t>
            </a:r>
            <a:endParaRPr/>
          </a:p>
          <a:p xmlns:a="http://schemas.openxmlformats.org/drawingml/2006/main">
            <a:r>
              <a:t>• 빠진 항: </a:t>
            </a:r>
            <a:endParaRPr/>
          </a:p>
          <a:p xmlns:a="http://schemas.openxmlformats.org/drawingml/2006/main">
            <a:r>
              <a:t/>
            </a:r>
            <a:endParaRPr/>
          </a:p>
          <a:p xmlns:a="http://schemas.openxmlformats.org/drawingml/2006/main">
            <a:r>
              <a:t>[Sources]</a:t>
            </a:r>
            <a:endParaRPr/>
          </a:p>
          <a:p xmlns:a="http://schemas.openxmlformats.org/drawingml/2006/main">
            <a:r>
              <a:t>study-kr-stc ch14 §14.5</a:t>
            </a:r>
            <a:endParaRPr/>
          </a:p>
          <a:p xmlns:a="http://schemas.openxmlformats.org/drawingml/2006/main">
            <a:r>
              <a:t>[Letta STC §5.3, p.8]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STC2-054 — 5× · 13% · 2.5× 는 어디서 나온 수인가</a:t>
            </a:r>
            <a:endParaRPr/>
          </a:p>
          <a:p xmlns:a="http://schemas.openxmlformats.org/drawingml/2006/main">
            <a:r>
              <a:t>핵심 결론: 네 벤치마크가 전부 저자 제작 변형이고, 기존 stateful reasoning 벤치가 하나도 없다</a:t>
            </a:r>
            <a:endParaRPr/>
          </a:p>
          <a:p xmlns:a="http://schemas.openxmlformats.org/drawingml/2006/main">
            <a:r>
              <a:t/>
            </a:r>
            <a:endParaRPr/>
          </a:p>
          <a:p xmlns:a="http://schemas.openxmlformats.org/drawingml/2006/main">
            <a:r>
              <a:t>[발표 대본]</a:t>
            </a:r>
            <a:endParaRPr/>
          </a:p>
          <a:p xmlns:a="http://schemas.openxmlformats.org/drawingml/2006/main">
            <a:r>
              <a:t>헤드라인 수치의 출처를 확인하겠습니다. 5배 절감, 13퍼센트 향상, 2.5배. 네 벤치마크가 전부 저자 제작 변형입니다. Stateful GSM-Symbolic은 GSM8K에 문맥 몇 문장을 붙인 것, Stateful AIME은 60문항인데 문맥이 빈 인스턴스가 개수 미상으로 포함되고 수동 재배열이 있었습니다. Multi-Query는 90.9퍼센트가 모델 생성 문항이고 생성된 답의 검증은 보고되지 않았습니다. 그리고 회계 전체를 위아래로 움직이는 상수 κ_cost가 있습니다. 논문은 latency-optimized inference가 대략 10배 비쌀 수 있다고 쓰고 각주로 벤더 문서 페이지를 가리킵니다. 재는 실험도, 민감도 분석도 없습니다. 오해 없으시길 — 이 목록은 이 논문이 나쁘다는 뜻이 아닙니다. 이득의 크기를 서빙 스택으로 옮길 때 무엇을 통과해야 하는지의 목록입니다.</a:t>
            </a:r>
            <a:endParaRPr/>
          </a:p>
          <a:p xmlns:a="http://schemas.openxmlformats.org/drawingml/2006/main">
            <a:r>
              <a:t/>
            </a:r>
            <a:endParaRPr/>
          </a:p>
          <a:p xmlns:a="http://schemas.openxmlformats.org/drawingml/2006/main">
            <a:r>
              <a:t>• GSM-Sym: 저자 제작 변형. GSM8K에 문맥 몇 문장을 붙였다</a:t>
            </a:r>
            <a:endParaRPr/>
          </a:p>
          <a:p xmlns:a="http://schemas.openxmlformats.org/drawingml/2006/main">
            <a:r>
              <a:t>• AIME: 60문항. 문맥이 빈 인스턴스가 개수 미상 포함</a:t>
            </a:r>
            <a:endParaRPr/>
          </a:p>
          <a:p xmlns:a="http://schemas.openxmlformats.org/drawingml/2006/main">
            <a:r>
              <a:t>• Multi-Q: 90.9%가 모델 생성 문항. 생성 답 검증 미보고</a:t>
            </a:r>
            <a:endParaRPr/>
          </a:p>
          <a:p xmlns:a="http://schemas.openxmlformats.org/drawingml/2006/main">
            <a:r>
              <a:t>• SWE-Feat: 형제 PR 묶음. 절감이 약 1.5×로 작다</a:t>
            </a:r>
            <a:endParaRPr/>
          </a:p>
          <a:p xmlns:a="http://schemas.openxmlformats.org/drawingml/2006/main">
            <a:r>
              <a:t>• κ_cost=10: 벤더 문서 인용 한 줄. 민감도 분석 없음</a:t>
            </a:r>
            <a:endParaRPr/>
          </a:p>
          <a:p xmlns:a="http://schemas.openxmlformats.org/drawingml/2006/main">
            <a:r>
              <a:t/>
            </a:r>
            <a:endParaRPr/>
          </a:p>
          <a:p xmlns:a="http://schemas.openxmlformats.org/drawingml/2006/main">
            <a:r>
              <a:t>[Sources]</a:t>
            </a:r>
            <a:endParaRPr/>
          </a:p>
          <a:p xmlns:a="http://schemas.openxmlformats.org/drawingml/2006/main">
            <a:r>
              <a:t>study-kr-stc ch14 §14.6</a:t>
            </a:r>
            <a:endParaRPr/>
          </a:p>
          <a:p xmlns:a="http://schemas.openxmlformats.org/drawingml/2006/main">
            <a:r>
              <a:t>[Letta STC App. J, pp.27–28; Table 1, p.19]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STC2-055 — 이득은 높은 예산에서 역전하고, sleep 스케일링은 비단조다</a:t>
            </a:r>
            <a:endParaRPr/>
          </a:p>
          <a:p xmlns:a="http://schemas.openxmlformats.org/drawingml/2006/main">
            <a:r>
              <a:t>핵심 결론: 둘 다 논문 안에 있다</a:t>
            </a:r>
            <a:endParaRPr/>
          </a:p>
          <a:p xmlns:a="http://schemas.openxmlformats.org/drawingml/2006/main">
            <a:r>
              <a:t/>
            </a:r>
            <a:endParaRPr/>
          </a:p>
          <a:p xmlns:a="http://schemas.openxmlformats.org/drawingml/2006/main">
            <a:r>
              <a:t>[발표 대본]</a:t>
            </a:r>
            <a:endParaRPr/>
          </a:p>
          <a:p xmlns:a="http://schemas.openxmlformats.org/drawingml/2006/main">
            <a:r>
              <a:t>이 논문 안에 실려 있는 두 사실을 짚겠습니다. 첫째, 이득이 높은 test-time 예산에서 역전합니다. 두 과제 모두에서입니다. 논문은 SWE-Features에서 'test-time 예산이 높으면 test-time compute만 쓰는 쪽이 더 나을 수 있다'고 씁니다. 둘째, sleep 스케일링이 비단조입니다. 병렬 재표현을 5벌 쓰는 것이 10벌보다 대체로 낫습니다. 그리고 그 기제는 제시되지 않았습니다. 이 두 사실이 중요한 이유는 청중이 자연스럽게 갖는 기대 — sleep 라운드를 늘릴수록 좋아진다 — 를 논문 자신이 지지하지 않기 때문입니다. 뒤에서 회계 쪽에서 보면 10벌이 나빠지는 데에는 품질과 무관한 이유가 하나 더 있다는 것을 보여 드리겠습니다.</a:t>
            </a:r>
            <a:endParaRPr/>
          </a:p>
          <a:p xmlns:a="http://schemas.openxmlformats.org/drawingml/2006/main">
            <a:r>
              <a:t/>
            </a:r>
            <a:endParaRPr/>
          </a:p>
          <a:p xmlns:a="http://schemas.openxmlformats.org/drawingml/2006/main">
            <a:r>
              <a:t>• GSM에서 역전: </a:t>
            </a:r>
            <a:endParaRPr/>
          </a:p>
          <a:p xmlns:a="http://schemas.openxmlformats.org/drawingml/2006/main">
            <a:r>
              <a:t>• SWE에서 역전: </a:t>
            </a:r>
            <a:endParaRPr/>
          </a:p>
          <a:p xmlns:a="http://schemas.openxmlformats.org/drawingml/2006/main">
            <a:r>
              <a:t>• 병렬 5벌 &gt; 10벌: </a:t>
            </a:r>
            <a:endParaRPr/>
          </a:p>
          <a:p xmlns:a="http://schemas.openxmlformats.org/drawingml/2006/main">
            <a:r>
              <a:t>• 기제 제시 없음: </a:t>
            </a:r>
            <a:endParaRPr/>
          </a:p>
          <a:p xmlns:a="http://schemas.openxmlformats.org/drawingml/2006/main">
            <a:r>
              <a:t>• 논문 자신의 보고: </a:t>
            </a:r>
            <a:endParaRPr/>
          </a:p>
          <a:p xmlns:a="http://schemas.openxmlformats.org/drawingml/2006/main">
            <a:r>
              <a:t/>
            </a:r>
            <a:endParaRPr/>
          </a:p>
          <a:p xmlns:a="http://schemas.openxmlformats.org/drawingml/2006/main">
            <a:r>
              <a:t>[Sources]</a:t>
            </a:r>
            <a:endParaRPr/>
          </a:p>
          <a:p xmlns:a="http://schemas.openxmlformats.org/drawingml/2006/main">
            <a:r>
              <a:t>study-kr-stc ch14 §14.6</a:t>
            </a:r>
            <a:endParaRPr/>
          </a:p>
          <a:p xmlns:a="http://schemas.openxmlformats.org/drawingml/2006/main">
            <a:r>
              <a:t>[Letta STC §5.1, §5.2, §6]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STC2-056 — 프로덕션 넷 — Mem0 · Zep · ReasoningBank · SCM</a:t>
            </a:r>
            <a:endParaRPr/>
          </a:p>
          <a:p xmlns:a="http://schemas.openxmlformats.org/drawingml/2006/main">
            <a:r>
              <a:t>핵심 결론: 다섯 시스템 전부 (U-E)만 실행한다. gradient도 손실 함수도 논문 안에 없다</a:t>
            </a:r>
            <a:endParaRPr/>
          </a:p>
          <a:p xmlns:a="http://schemas.openxmlformats.org/drawingml/2006/main">
            <a:r>
              <a:t/>
            </a:r>
            <a:endParaRPr/>
          </a:p>
          <a:p xmlns:a="http://schemas.openxmlformats.org/drawingml/2006/main">
            <a:r>
              <a:t>[발표 대본]</a:t>
            </a:r>
            <a:endParaRPr/>
          </a:p>
          <a:p xmlns:a="http://schemas.openxmlformats.org/drawingml/2006/main">
            <a:r>
              <a:t>이제 프로덕션 쪽입니다. 다섯 시스템을 한 화면에 놓았습니다. Mem0는 메시지쌍마다 네 연산 — 추가·갱신·삭제·무시 — 중 하나를 판단합니다. Zep은 이중 시간 그래프에 비파괴적으로 쓰고 주기적으로 community를 갱신합니다. ReasoningBank는 과제가 끝날 때마다 쓰는데 연산이 순수 합집합입니다. SCM은 그래프 동역학이고 sleep 사이클에 LLM 호출이 아예 없습니다. 다섯 전부 (U-E)만 실행합니다. Θ는 한 번도 안 움직이고 W는 존재하지 않으며, gradient도 손실 함수도 논문 안에 없습니다. 그래서 이 다섯은 '학습 시스템'이 아니라 '쓰기 정책'의 다섯 변종으로 읽는 것이 정확합니다.</a:t>
            </a:r>
            <a:endParaRPr/>
          </a:p>
          <a:p xmlns:a="http://schemas.openxmlformats.org/drawingml/2006/main">
            <a:r>
              <a:t/>
            </a:r>
            <a:endParaRPr/>
          </a:p>
          <a:p xmlns:a="http://schemas.openxmlformats.org/drawingml/2006/main">
            <a:r>
              <a:t>• Mem0: 네 연산 판단</a:t>
            </a:r>
            <a:endParaRPr/>
          </a:p>
          <a:p xmlns:a="http://schemas.openxmlformats.org/drawingml/2006/main">
            <a:r>
              <a:t>• Zep: 이중 시간 그래프</a:t>
            </a:r>
            <a:endParaRPr/>
          </a:p>
          <a:p xmlns:a="http://schemas.openxmlformats.org/drawingml/2006/main">
            <a:r>
              <a:t>• R-Bank: 과제 후 합집합</a:t>
            </a:r>
            <a:endParaRPr/>
          </a:p>
          <a:p xmlns:a="http://schemas.openxmlformats.org/drawingml/2006/main">
            <a:r>
              <a:t>• SCM: LLM 없는 사이클</a:t>
            </a:r>
            <a:endParaRPr/>
          </a:p>
          <a:p xmlns:a="http://schemas.openxmlformats.org/drawingml/2006/main">
            <a:r>
              <a:t>• Memini: 감쇠 ODE</a:t>
            </a:r>
            <a:endParaRPr/>
          </a:p>
          <a:p xmlns:a="http://schemas.openxmlformats.org/drawingml/2006/main">
            <a:r>
              <a:t>• 공통: Θ 불변 · W 없음</a:t>
            </a:r>
            <a:endParaRPr/>
          </a:p>
          <a:p xmlns:a="http://schemas.openxmlformats.org/drawingml/2006/main">
            <a:r>
              <a:t/>
            </a:r>
            <a:endParaRPr/>
          </a:p>
          <a:p xmlns:a="http://schemas.openxmlformats.org/drawingml/2006/main">
            <a:r>
              <a:t>[Sources]</a:t>
            </a:r>
            <a:endParaRPr/>
          </a:p>
          <a:p xmlns:a="http://schemas.openxmlformats.org/drawingml/2006/main">
            <a:r>
              <a:t>study-kr-stc ch15 §15.3–15.4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STC2-057 — 쓰기 연산자의 네 형태 — 그리고 수축 가능한 것은 둘뿐</a:t>
            </a:r>
            <a:endParaRPr/>
          </a:p>
          <a:p xmlns:a="http://schemas.openxmlformats.org/drawingml/2006/main">
            <a:r>
              <a:t>핵심 결론: 수축 가능한 둘 다 삭제 정확도를 측정하지 않는다</a:t>
            </a:r>
            <a:endParaRPr/>
          </a:p>
          <a:p xmlns:a="http://schemas.openxmlformats.org/drawingml/2006/main">
            <a:r>
              <a:t/>
            </a:r>
            <a:endParaRPr/>
          </a:p>
          <a:p xmlns:a="http://schemas.openxmlformats.org/drawingml/2006/main">
            <a:r>
              <a:t>[발표 대본]</a:t>
            </a:r>
            <a:endParaRPr/>
          </a:p>
          <a:p xmlns:a="http://schemas.openxmlformats.org/drawingml/2006/main">
            <a:r>
              <a:t>쓰기 연산자를 형태로 갈라 보면 넷입니다. 네 연산 문법, 그래프 delta, 순수 합집합, 그리고 감쇠 동역학. 여기서 봐야 할 축은 하나입니다 — 이 중 상태가 줄어들 수 있는 것, 즉 수축 가능한 것이 몇 개인가. 둘뿐입니다. Mem0의 DELETE와 SCM의 prune. 그리고 그 둘 다 삭제 정확도를 측정하지 않습니다. Mem0의 DELETE는 동결 LLM의 감사되지 않은 판단으로 항목을 하드 삭제하는데, 삭제 정확도도 오삭제율도 DELETE 비활성 ablation도 전부 없습니다. 여러분 어휘로 옮기면 — 이 저장소들은 GC 정책이 있는데 GC의 정확도를 아무도 재지 않은 상태입니다.</a:t>
            </a:r>
            <a:endParaRPr/>
          </a:p>
          <a:p xmlns:a="http://schemas.openxmlformats.org/drawingml/2006/main">
            <a:r>
              <a:t/>
            </a:r>
            <a:endParaRPr/>
          </a:p>
          <a:p xmlns:a="http://schemas.openxmlformats.org/drawingml/2006/main">
            <a:r>
              <a:t>• 네 연산 문법: 판단 · Mem0의 ADD/UPDATE/DELETE/NOOP</a:t>
            </a:r>
            <a:endParaRPr/>
          </a:p>
          <a:p xmlns:a="http://schemas.openxmlformats.org/drawingml/2006/main">
            <a:r>
              <a:t>• 그래프 delta: 누적 · Zep과 Mem0^g. 비파괴적이다</a:t>
            </a:r>
            <a:endParaRPr/>
          </a:p>
          <a:p xmlns:a="http://schemas.openxmlformats.org/drawingml/2006/main">
            <a:r>
              <a:t>• 합집합: 단조 · ReasoningBank. 지우지 않는다</a:t>
            </a:r>
            <a:endParaRPr/>
          </a:p>
          <a:p xmlns:a="http://schemas.openxmlformats.org/drawingml/2006/main">
            <a:r>
              <a:t>• 동역학: 감쇠 · SCM·Memini. prune이 유일한 수축</a:t>
            </a:r>
            <a:endParaRPr/>
          </a:p>
          <a:p xmlns:a="http://schemas.openxmlformats.org/drawingml/2006/main">
            <a:r>
              <a:t/>
            </a:r>
            <a:endParaRPr/>
          </a:p>
          <a:p xmlns:a="http://schemas.openxmlformats.org/drawingml/2006/main">
            <a:r>
              <a:t>[Sources]</a:t>
            </a:r>
            <a:endParaRPr/>
          </a:p>
          <a:p xmlns:a="http://schemas.openxmlformats.org/drawingml/2006/main">
            <a:r>
              <a:t>study-kr-stc ch15 §15.3</a:t>
            </a:r>
            <a:endParaRPr/>
          </a:p>
          <a:p xmlns:a="http://schemas.openxmlformats.org/drawingml/2006/main">
            <a:r>
              <a:t>[Mem0 Alg. 1]</a:t>
            </a:r>
            <a:endParaRPr/>
          </a:p>
          <a:p xmlns:a="http://schemas.openxmlformats.org/drawingml/2006/main">
            <a:r>
              <a:t>[SCM Algorithm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STC2-058 — E-경로의 대가 — 품질 1위가 반복적으로 '기억 없음'이다</a:t>
            </a:r>
            <a:endParaRPr/>
          </a:p>
          <a:p xmlns:a="http://schemas.openxmlformats.org/drawingml/2006/main">
            <a:r>
              <a:t>핵심 결론: 이것은 이 발표의 재구성이 아니라 논문들 자신의 표다</a:t>
            </a:r>
            <a:endParaRPr/>
          </a:p>
          <a:p xmlns:a="http://schemas.openxmlformats.org/drawingml/2006/main">
            <a:r>
              <a:t/>
            </a:r>
            <a:endParaRPr/>
          </a:p>
          <a:p xmlns:a="http://schemas.openxmlformats.org/drawingml/2006/main">
            <a:r>
              <a:t>[발표 대본]</a:t>
            </a:r>
            <a:endParaRPr/>
          </a:p>
          <a:p xmlns:a="http://schemas.openxmlformats.org/drawingml/2006/main">
            <a:r>
              <a:t>그리고 E-경로의 가장 불편한 사실입니다. 다섯 시스템의 자기 표를 읽으면 품질 1위가 반복적으로 기억 시스템 없는 구성입니다. Mem0에서 full-context가 72.90퍼센트로 제안 시스템 66.88퍼센트를 이깁니다. 격차가 논문이 인쇄한 표준편차의 20배를 넘습니다. Zep의 DMR에서는 자명한 full-conversation baseline이 이미 비교 대상을 이깁니다. SCM에서는 망각 없는 그래프 baseline이 동률입니다. ReasoningBank에서는 검색 항목이 하나를 넘어가면 성공률이 단조로 나빠집니다. 다시 강조합니다 — 이건 제 재구성이 아니라 논문들 자신의 수치입니다. 한 논문은 본문에서 그 사실을 문장으로 인정하기까지 합니다. 그럼에도 비용과 지연의 이득은 실재합니다. 26,000 토큰을 수백 토큰으로 줄이면 prefill이 줍니다. 뒤 판정 절에서 이 두 사실을 어떻게 화해시키는지 보겠습니다.</a:t>
            </a:r>
            <a:endParaRPr/>
          </a:p>
          <a:p xmlns:a="http://schemas.openxmlformats.org/drawingml/2006/main">
            <a:r>
              <a:t/>
            </a:r>
            <a:endParaRPr/>
          </a:p>
          <a:p xmlns:a="http://schemas.openxmlformats.org/drawingml/2006/main">
            <a:r>
              <a:t>• Mem0: full-context 72.90% 대 Mem0 66.88% (J)</a:t>
            </a:r>
            <a:endParaRPr/>
          </a:p>
          <a:p xmlns:a="http://schemas.openxmlformats.org/drawingml/2006/main">
            <a:r>
              <a:t>• Zep DMR: full-conversation 94.4%가 MemGPT 93.4%를 이김</a:t>
            </a:r>
            <a:endParaRPr/>
          </a:p>
          <a:p xmlns:a="http://schemas.openxmlformats.org/drawingml/2006/main">
            <a:r>
              <a:t>• SCM: 무망각 그래프 baseline이 22/22로 동률</a:t>
            </a:r>
            <a:endParaRPr/>
          </a:p>
          <a:p xmlns:a="http://schemas.openxmlformats.org/drawingml/2006/main">
            <a:r>
              <a:t>• ReasoningBank: 검색 항목을 늘리면 성공률이 단조 악화</a:t>
            </a:r>
            <a:endParaRPr/>
          </a:p>
          <a:p xmlns:a="http://schemas.openxmlformats.org/drawingml/2006/main">
            <a:r>
              <a:t>• 표준편차: 격차가 인쇄된 sd의 20배를 넘는다</a:t>
            </a:r>
            <a:endParaRPr/>
          </a:p>
          <a:p xmlns:a="http://schemas.openxmlformats.org/drawingml/2006/main">
            <a:r>
              <a:t/>
            </a:r>
            <a:endParaRPr/>
          </a:p>
          <a:p xmlns:a="http://schemas.openxmlformats.org/drawingml/2006/main">
            <a:r>
              <a:t>[Sources]</a:t>
            </a:r>
            <a:endParaRPr/>
          </a:p>
          <a:p xmlns:a="http://schemas.openxmlformats.org/drawingml/2006/main">
            <a:r>
              <a:t>study-kr-stc ch15 §15.6</a:t>
            </a:r>
            <a:endParaRPr/>
          </a:p>
          <a:p xmlns:a="http://schemas.openxmlformats.org/drawingml/2006/main">
            <a:r>
              <a:t>[Mem0 Table 2]</a:t>
            </a:r>
            <a:endParaRPr/>
          </a:p>
          <a:p xmlns:a="http://schemas.openxmlformats.org/drawingml/2006/main">
            <a:r>
              <a:t>[Zep Table 1, §4.2]</a:t>
            </a:r>
            <a:endParaRPr/>
          </a:p>
          <a:p xmlns:a="http://schemas.openxmlformats.org/drawingml/2006/main">
            <a:r>
              <a:t>[ReasoningBank §C.1 Fig. 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STC2-059 — W-경로 — 문맥을 접고 원 문맥을 버린다</a:t>
            </a:r>
            <a:endParaRPr/>
          </a:p>
          <a:p xmlns:a="http://schemas.openxmlformats.org/drawingml/2006/main">
            <a:r>
              <a:t>핵심 결론: 회계상 가장 유리한 형태를 가진 경로인데 판별식 정면 통과가 한 편뿐이다</a:t>
            </a:r>
            <a:endParaRPr/>
          </a:p>
          <a:p xmlns:a="http://schemas.openxmlformats.org/drawingml/2006/main">
            <a:r>
              <a:t/>
            </a:r>
            <a:endParaRPr/>
          </a:p>
          <a:p xmlns:a="http://schemas.openxmlformats.org/drawingml/2006/main">
            <a:r>
              <a:t>[발표 대본]</a:t>
            </a:r>
            <a:endParaRPr/>
          </a:p>
          <a:p xmlns:a="http://schemas.openxmlformats.org/drawingml/2006/main">
            <a:r>
              <a:t>두 번째 경로입니다. 문맥을 fast weight로 접어 넣고 원 문맥을 버립니다. 이 경로에는 다른 둘이 갖지 못한 회계상 이점이 하나 있습니다. 원 문맥을 실제로 버리면 매 질의 프롬프트가 줄어듭니다 — 즉 나뉘지 않는 항이 음의 기여를 합니다. 뒤에서 볼 상각 논증의 구조적 결함에서 벗어나는 가장 깨끗한 설계가 정확히 이것입니다. 대가도 분명합니다. 상태가 시퀀스마다 초기화되어 요청과 함께 죽습니다. 사용자당 지속 저장소가 생기지 않고, 그래서 요청 간 상각도 생기지 않습니다. 그리고 이 경로의 문제는 증거의 양입니다. 판별식을 정면으로 통과하는 논문이 한 편입니다.</a:t>
            </a:r>
            <a:endParaRPr/>
          </a:p>
          <a:p xmlns:a="http://schemas.openxmlformats.org/drawingml/2006/main">
            <a:r>
              <a:t/>
            </a:r>
            <a:endParaRPr/>
          </a:p>
          <a:p xmlns:a="http://schemas.openxmlformats.org/drawingml/2006/main">
            <a:r>
              <a:t>• 좌변: 텐서 · 가중치 형태의 세션 상태</a:t>
            </a:r>
            <a:endParaRPr/>
          </a:p>
          <a:p xmlns:a="http://schemas.openxmlformats.org/drawingml/2006/main">
            <a:r>
              <a:t>• 시계: chunk · (U-W)를 오프라인에 추가로 돈다</a:t>
            </a:r>
            <a:endParaRPr/>
          </a:p>
          <a:p xmlns:a="http://schemas.openxmlformats.org/drawingml/2006/main">
            <a:r>
              <a:t>• 이점: 버림 · 원 문맥을 실제로 버릴 수 있다</a:t>
            </a:r>
            <a:endParaRPr/>
          </a:p>
          <a:p xmlns:a="http://schemas.openxmlformats.org/drawingml/2006/main">
            <a:r>
              <a:t>• 한계: 휘발 · 상태가 요청과 함께 죽는다</a:t>
            </a:r>
            <a:endParaRPr/>
          </a:p>
          <a:p xmlns:a="http://schemas.openxmlformats.org/drawingml/2006/main">
            <a:r>
              <a:t/>
            </a:r>
            <a:endParaRPr/>
          </a:p>
          <a:p xmlns:a="http://schemas.openxmlformats.org/drawingml/2006/main">
            <a:r>
              <a:t>[Sources]</a:t>
            </a:r>
            <a:endParaRPr/>
          </a:p>
          <a:p xmlns:a="http://schemas.openxmlformats.org/drawingml/2006/main">
            <a:r>
              <a:t>study-kr-stc ch11 §11.8</a:t>
            </a:r>
            <a:endParaRPr/>
          </a:p>
          <a:p xmlns:a="http://schemas.openxmlformats.org/drawingml/2006/main">
            <a:r>
              <a:t>study-kr-stc ch27 §27.3.3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STC2-060 — 경첩 — Generative Adapter는 왜 Θ-경로가 아닌가</a:t>
            </a:r>
            <a:endParaRPr/>
          </a:p>
          <a:p xmlns:a="http://schemas.openxmlformats.org/drawingml/2006/main">
            <a:r>
              <a:t>핵심 결론: 산출물은 LoRA 모양이고 논문이 그 형태를 직접 유도하는데, 갱신식은 (U-W)이고 시계는 wake다</a:t>
            </a:r>
            <a:endParaRPr/>
          </a:p>
          <a:p xmlns:a="http://schemas.openxmlformats.org/drawingml/2006/main">
            <a:r>
              <a:t/>
            </a:r>
            <a:endParaRPr/>
          </a:p>
          <a:p xmlns:a="http://schemas.openxmlformats.org/drawingml/2006/main">
            <a:r>
              <a:t>[발표 대본]</a:t>
            </a:r>
            <a:endParaRPr/>
          </a:p>
          <a:p xmlns:a="http://schemas.openxmlformats.org/drawingml/2006/main">
            <a:r>
              <a:t>W-경로로 들어가기 전에 경첩 장을 하나 지나갑니다. Generative Adapter입니다. 이 논문은 문맥을 받아 한 번의 forward로 adapter를 만들어 냅니다. 산출물의 모양이 LoRA이고, 논문이 그 형태를 명시적으로 유도합니다. 산출물만 보면 전형적인 Θ-경로 아티팩트입니다. 갱신식을 보면 다른 그림이 나옵니다. (U-W)의 항과 하나씩 대조하면 α가 없고, β가 항등적으로 1이며, η가 없고, gradient 자리에 chunk 자신의 Gram 행렬의 학습된 쌍선형 사영이 들어갑니다. gradient-free 변종이지만 형태는 (U-W)입니다. 그리고 결정적으로 base 가중치가 미분되지도 수정되지도 않습니다 — contextualization 이후의 체크포인트가 이전과 바이트 단위로 같습니다. 배포 아티팩트가 안 바뀌니 Θ-경로가 아닙니다. 시계는 wake입니다. 그래서 이 범주도 아닙니다.</a:t>
            </a:r>
            <a:endParaRPr/>
          </a:p>
          <a:p xmlns:a="http://schemas.openxmlformats.org/drawingml/2006/main">
            <a:r>
              <a:t/>
            </a:r>
            <a:endParaRPr/>
          </a:p>
          <a:p xmlns:a="http://schemas.openxmlformats.org/drawingml/2006/main">
            <a:r>
              <a:t>• 산출물: LoRA. 논문이 그 형태를 명시적으로 유도</a:t>
            </a:r>
            <a:endParaRPr/>
          </a:p>
          <a:p xmlns:a="http://schemas.openxmlformats.org/drawingml/2006/main">
            <a:r>
              <a:t>• 갱신식: S_t=S_{t-1}+A₂HᵀHB₁ — (U-W) 변종</a:t>
            </a:r>
            <a:endParaRPr/>
          </a:p>
          <a:p xmlns:a="http://schemas.openxmlformats.org/drawingml/2006/main">
            <a:r>
              <a:t>• 빈 항 넷: α 없음, β≡1, η 없음, inner loss 없음</a:t>
            </a:r>
            <a:endParaRPr/>
          </a:p>
          <a:p xmlns:a="http://schemas.openxmlformats.org/drawingml/2006/main">
            <a:r>
              <a:t>• 체크포인트: 이전과 바이트 단위로 같다</a:t>
            </a:r>
            <a:endParaRPr/>
          </a:p>
          <a:p xmlns:a="http://schemas.openxmlformats.org/drawingml/2006/main">
            <a:r>
              <a:t>• 시계: wake. 그 자리에서 접고 그 문맥에 답한다</a:t>
            </a:r>
            <a:endParaRPr/>
          </a:p>
          <a:p xmlns:a="http://schemas.openxmlformats.org/drawingml/2006/main">
            <a:r>
              <a:t/>
            </a:r>
            <a:endParaRPr/>
          </a:p>
          <a:p xmlns:a="http://schemas.openxmlformats.org/drawingml/2006/main">
            <a:r>
              <a:t>[Sources]</a:t>
            </a:r>
            <a:endParaRPr/>
          </a:p>
          <a:p xmlns:a="http://schemas.openxmlformats.org/drawingml/2006/main">
            <a:r>
              <a:t>study-kr-stc ch16 §16.4</a:t>
            </a:r>
            <a:endParaRPr/>
          </a:p>
          <a:p xmlns:a="http://schemas.openxmlformats.org/drawingml/2006/main">
            <a:r>
              <a:t>[Generative Adapter Eq. 3, 6, 8–9]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STC2-061 — 모양으로 분류하면 세 판정이 동시에 틀린다</a:t>
            </a:r>
            <a:endParaRPr/>
          </a:p>
          <a:p xmlns:a="http://schemas.openxmlformats.org/drawingml/2006/main">
            <a:r>
              <a:t>핵심 결론: 모양은 저장·전송·롤백 단위를 정하고, 시계와 갱신식이 경로를 정한다</a:t>
            </a:r>
            <a:endParaRPr/>
          </a:p>
          <a:p xmlns:a="http://schemas.openxmlformats.org/drawingml/2006/main">
            <a:r>
              <a:t/>
            </a:r>
            <a:endParaRPr/>
          </a:p>
          <a:p xmlns:a="http://schemas.openxmlformats.org/drawingml/2006/main">
            <a:r>
              <a:t>[발표 대본]</a:t>
            </a:r>
            <a:endParaRPr/>
          </a:p>
          <a:p xmlns:a="http://schemas.openxmlformats.org/drawingml/2006/main">
            <a:r>
              <a:t>여기서 오늘의 방법론적 주장 하나가 실증됩니다. 산출물의 모양으로 분류하면 Generative Adapter가 Θ-경로로, SCM이 Θ-경로로, Memory Caching이 sleep-time compute으로 들어옵니다. 셋 다 틀립니다. 반대로 갱신식과 시계의 쌍으로 분류하면 세 판정이 동시에 바로잡힙니다. 그리고 그 판정이 곧 비용·용량·롤백 단위의 판정이 됩니다 — 그것이 이 분류가 회계에 쓸모 있는 이유입니다. 실무 문장으로 옮기면 이렇습니다. 모양은 무엇을 저장하고 전송하고 롤백하는지를 정하고, 시계와 갱신식은 그 비용을 누가 언제 내는지를 정합니다. 둘 다 필요하지만 순서가 있습니다.</a:t>
            </a:r>
            <a:endParaRPr/>
          </a:p>
          <a:p xmlns:a="http://schemas.openxmlformats.org/drawingml/2006/main">
            <a:r>
              <a:t/>
            </a:r>
            <a:endParaRPr/>
          </a:p>
          <a:p xmlns:a="http://schemas.openxmlformats.org/drawingml/2006/main">
            <a:r>
              <a:t>• GenAdapter: 모양으로 보면 Θ, 실제로는 W이고 시계는 wake</a:t>
            </a:r>
            <a:endParaRPr/>
          </a:p>
          <a:p xmlns:a="http://schemas.openxmlformats.org/drawingml/2006/main">
            <a:r>
              <a:t>• SCM: 제목으로 보면 Θ, 실제로는 E다</a:t>
            </a:r>
            <a:endParaRPr/>
          </a:p>
          <a:p xmlns:a="http://schemas.openxmlformats.org/drawingml/2006/main">
            <a:r>
              <a:t>• MemCaching: 문제의식으로 보면 이 범주, 실제로는 읽기 변경</a:t>
            </a:r>
            <a:endParaRPr/>
          </a:p>
          <a:p xmlns:a="http://schemas.openxmlformats.org/drawingml/2006/main">
            <a:r>
              <a:t/>
            </a:r>
            <a:endParaRPr/>
          </a:p>
          <a:p xmlns:a="http://schemas.openxmlformats.org/drawingml/2006/main">
            <a:r>
              <a:t>[Sources]</a:t>
            </a:r>
            <a:endParaRPr/>
          </a:p>
          <a:p xmlns:a="http://schemas.openxmlformats.org/drawingml/2006/main">
            <a:r>
              <a:t>study-kr-stc ch11 §11.4.5</a:t>
            </a:r>
            <a:endParaRPr/>
          </a:p>
          <a:p xmlns:a="http://schemas.openxmlformats.org/drawingml/2006/main">
            <a:r>
              <a:t>study-kr-stc ch16 §16.4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STC2-062 — `Do LMs Need Sleep?` — W-경로의 유일한 정면 사례</a:t>
            </a:r>
            <a:endParaRPr/>
          </a:p>
          <a:p xmlns:a="http://schemas.openxmlformats.org/drawingml/2006/main">
            <a:r>
              <a:t>핵심 결론: 논문이 보여 주는 식은 논문이 돌린 식이 아니다</a:t>
            </a:r>
            <a:endParaRPr/>
          </a:p>
          <a:p xmlns:a="http://schemas.openxmlformats.org/drawingml/2006/main">
            <a:r>
              <a:t/>
            </a:r>
            <a:endParaRPr/>
          </a:p>
          <a:p xmlns:a="http://schemas.openxmlformats.org/drawingml/2006/main">
            <a:r>
              <a:t>[발표 대본]</a:t>
            </a:r>
            <a:endParaRPr/>
          </a:p>
          <a:p xmlns:a="http://schemas.openxmlformats.org/drawingml/2006/main">
            <a:r>
              <a:t>W-경로의 유일한 정면 사례입니다. 출발점은 진단의 교정입니다. attention-SSM 하이브리드의 실패 원인을 용량이 아니라 계산으로 옮깁니다 — 상태가 작아서가 아니라 그 상태를 만드는 데 계산을 덜 써서라는 것입니다. 기제는 같은 chunk를 fast weight에 N번 누적해 쓰는 것입니다. 그냥 반복이 아니라, 매 pass의 키·값을 직전 pass의 W가 만든 특징에서 다시 뽑습니다. (U-W)와 특징 정제 고정점 반복의 합성입니다. 그런데 여기서 정직하게 말씀드릴 것이 있습니다. 논문이 보여 주는 식은 논문이 돌린 식이 아닙니다. 제시된 식은 Mamba-2 형태이고 실험은 GDN이며, 다른 절에는 또 다른 형태가 나옵니다. 국소 규칙 ablation은 없고, 논문 자신이 '구체적 갱신 규칙은 중요하지 않다'고 범위 밖으로 선언합니다.</a:t>
            </a:r>
            <a:endParaRPr/>
          </a:p>
          <a:p xmlns:a="http://schemas.openxmlformats.org/drawingml/2006/main">
            <a:r>
              <a:t/>
            </a:r>
            <a:endParaRPr/>
          </a:p>
          <a:p xmlns:a="http://schemas.openxmlformats.org/drawingml/2006/main">
            <a:r>
              <a:t>• 진단: 용량 아닌 계산</a:t>
            </a:r>
            <a:endParaRPr/>
          </a:p>
          <a:p xmlns:a="http://schemas.openxmlformats.org/drawingml/2006/main">
            <a:r>
              <a:t>• 기제: chunk를 N번 누적</a:t>
            </a:r>
            <a:endParaRPr/>
          </a:p>
          <a:p xmlns:a="http://schemas.openxmlformats.org/drawingml/2006/main">
            <a:r>
              <a:t>• 정제: 특징 고정점 반복</a:t>
            </a:r>
            <a:endParaRPr/>
          </a:p>
          <a:p xmlns:a="http://schemas.openxmlformats.org/drawingml/2006/main">
            <a:r>
              <a:t>• 표기: L과 T가 뒤바뀜</a:t>
            </a:r>
            <a:endParaRPr/>
          </a:p>
          <a:p xmlns:a="http://schemas.openxmlformats.org/drawingml/2006/main">
            <a:r>
              <a:t>• 식 불일치: 제시 ≠ 실행</a:t>
            </a:r>
            <a:endParaRPr/>
          </a:p>
          <a:p xmlns:a="http://schemas.openxmlformats.org/drawingml/2006/main">
            <a:r>
              <a:t>• 선언: 규칙은 무관</a:t>
            </a:r>
            <a:endParaRPr/>
          </a:p>
          <a:p xmlns:a="http://schemas.openxmlformats.org/drawingml/2006/main">
            <a:r>
              <a:t/>
            </a:r>
            <a:endParaRPr/>
          </a:p>
          <a:p xmlns:a="http://schemas.openxmlformats.org/drawingml/2006/main">
            <a:r>
              <a:t>[Sources]</a:t>
            </a:r>
            <a:endParaRPr/>
          </a:p>
          <a:p xmlns:a="http://schemas.openxmlformats.org/drawingml/2006/main">
            <a:r>
              <a:t>study-kr-stc ch17 §17.2–17.3</a:t>
            </a:r>
            <a:endParaRPr/>
          </a:p>
          <a:p xmlns:a="http://schemas.openxmlformats.org/drawingml/2006/main">
            <a:r>
              <a:t>[Do LMs Need Sleep? Eq. 3; §3.1]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STC2-063 — 판별식 통과가 설정에 달려 있다</a:t>
            </a:r>
            <a:endParaRPr/>
          </a:p>
          <a:p xmlns:a="http://schemas.openxmlformats.org/drawingml/2006/main">
            <a:r>
              <a:t>핵심 결론: 같은 논문의 두 설정 중 하나에서는 sleep-time compute이고 다른 하나에서는 아니다</a:t>
            </a:r>
            <a:endParaRPr/>
          </a:p>
          <a:p xmlns:a="http://schemas.openxmlformats.org/drawingml/2006/main">
            <a:r>
              <a:t/>
            </a:r>
            <a:endParaRPr/>
          </a:p>
          <a:p xmlns:a="http://schemas.openxmlformats.org/drawingml/2006/main">
            <a:r>
              <a:t>[발표 대본]</a:t>
            </a:r>
            <a:endParaRPr/>
          </a:p>
          <a:p xmlns:a="http://schemas.openxmlformats.org/drawingml/2006/main">
            <a:r>
              <a:t>그리고 이 논문에서 가장 흥미로운 사실입니다. 판별식 통과가 설정에 달려 있습니다. 질의보다 consolidation이 앞서는 것은 Depo 설정뿐입니다. 거기서는 한 문맥을 열 개 질의가 공유하는 구조가 실험 설계로 정해져 있습니다. 그런데 수치가 나오는 헤드라인 설정은 질문을 문맥 앞에 놓습니다. 그러면 consolidation이 질의 조건부가 되고, 한 문맥당 질의가 하나입니다. 그 설정에서 상각식은 붕괴합니다. wake에서 뺀 계산이 같은 요청 안의 다른 국면으로 옮겨 갈 뿐이고, 요청 전체의 계산량은 재귀 횟수에 대략 비례해 늘어납니다. 즉 이 경로에서 팔리는 것은 총비용 절감이 아니라 비용의 시간 배치입니다. 그리고 그 배치의 이득을 재려면 wake 지연이 필요한데, 그 칸이 비어 있습니다.</a:t>
            </a:r>
            <a:endParaRPr/>
          </a:p>
          <a:p xmlns:a="http://schemas.openxmlformats.org/drawingml/2006/main">
            <a:r>
              <a:t/>
            </a:r>
            <a:endParaRPr/>
          </a:p>
          <a:p xmlns:a="http://schemas.openxmlformats.org/drawingml/2006/main">
            <a:r>
              <a:t>• Depo 설정: consolidation이 질의보다 앞선다. N_q=10</a:t>
            </a:r>
            <a:endParaRPr/>
          </a:p>
          <a:p xmlns:a="http://schemas.openxmlformats.org/drawingml/2006/main">
            <a:r>
              <a:t>• GSM-Infinite: 질문이 문맥 앞. consolidation이 질의 조건부</a:t>
            </a:r>
            <a:endParaRPr/>
          </a:p>
          <a:p xmlns:a="http://schemas.openxmlformats.org/drawingml/2006/main">
            <a:r>
              <a:t>• 귀결: N_q=1이라 식 (A)가 합으로 붕괴한다</a:t>
            </a:r>
            <a:endParaRPr/>
          </a:p>
          <a:p xmlns:a="http://schemas.openxmlformats.org/drawingml/2006/main">
            <a:r>
              <a:t/>
            </a:r>
            <a:endParaRPr/>
          </a:p>
          <a:p xmlns:a="http://schemas.openxmlformats.org/drawingml/2006/main">
            <a:r>
              <a:t>[Sources]</a:t>
            </a:r>
            <a:endParaRPr/>
          </a:p>
          <a:p xmlns:a="http://schemas.openxmlformats.org/drawingml/2006/main">
            <a:r>
              <a:t>study-kr-stc ch17 §17.4</a:t>
            </a:r>
            <a:endParaRPr/>
          </a:p>
          <a:p xmlns:a="http://schemas.openxmlformats.org/drawingml/2006/main">
            <a:r>
              <a:t>study-kr-stc ch25 표 25-2 유형 VI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STC2-064 — 비용 4종 전부 부재, 그리고 계산량을 맞춘 baseline이 없다</a:t>
            </a:r>
            <a:endParaRPr/>
          </a:p>
          <a:p xmlns:a="http://schemas.openxmlformats.org/drawingml/2006/main">
            <a:r>
              <a:t>핵심 결론: N번 재귀하는 실행이 이미 쓴 계산을 상대편에게 주지 않은 비교다</a:t>
            </a:r>
            <a:endParaRPr/>
          </a:p>
          <a:p xmlns:a="http://schemas.openxmlformats.org/drawingml/2006/main">
            <a:r>
              <a:t/>
            </a:r>
            <a:endParaRPr/>
          </a:p>
          <a:p xmlns:a="http://schemas.openxmlformats.org/drawingml/2006/main">
            <a:r>
              <a:t>[발표 대본]</a:t>
            </a:r>
            <a:endParaRPr/>
          </a:p>
          <a:p xmlns:a="http://schemas.openxmlformats.org/drawingml/2006/main">
            <a:r>
              <a:t>비용 4종을 채워 보겠습니다. 네 칸 전부 논문에 없습니다. B_s는 구조로만 있습니다 — 몇 번 재귀하는지는 알지만 그게 몇 FLOPs인지는 없습니다. L_w는 아키텍처 보장으로만 있습니다 — 고정 크기 상태니까 decode가 문맥 길이에 무관하다는 것은 잰 값이 아닙니다. C_cap이 특히 아픕니다. 이 논문은 상태가 고정 크기라는 것을 셀링 포인트로 삼으면서 그 크기를 계산할 재료를 인쇄하지 않았습니다. 그리고 실험 쪽에서 가장 무거운 지적 — 계산량을 맞춘 baseline이 없습니다. 캐시를 유지하도록 허용한 full attention baseline은 어느 과제·어느 스케일에서도 실행되지 않았습니다. N번 재귀하는 실행은 이미 N배 계산을 썼는데, 그 계산을 상대편에게 주지 않은 비교입니다.</a:t>
            </a:r>
            <a:endParaRPr/>
          </a:p>
          <a:p xmlns:a="http://schemas.openxmlformats.org/drawingml/2006/main">
            <a:r>
              <a:t/>
            </a:r>
            <a:endParaRPr/>
          </a:p>
          <a:p xmlns:a="http://schemas.openxmlformats.org/drawingml/2006/main">
            <a:r>
              <a:t>• B_s: 구조로만 있다. 수치가 없다</a:t>
            </a:r>
            <a:endParaRPr/>
          </a:p>
          <a:p xmlns:a="http://schemas.openxmlformats.org/drawingml/2006/main">
            <a:r>
              <a:t>• L_w: 아키텍처 보장이지 측정이 아니다</a:t>
            </a:r>
            <a:endParaRPr/>
          </a:p>
          <a:p xmlns:a="http://schemas.openxmlformats.org/drawingml/2006/main">
            <a:r>
              <a:t>• C_cap: 상태 차원·head 수·dtype이 없어 유도 불가</a:t>
            </a:r>
            <a:endParaRPr/>
          </a:p>
          <a:p xmlns:a="http://schemas.openxmlformats.org/drawingml/2006/main">
            <a:r>
              <a:t>• ρ: 관측될 레짐에 논문이 들어가지 않는다</a:t>
            </a:r>
            <a:endParaRPr/>
          </a:p>
          <a:p xmlns:a="http://schemas.openxmlformats.org/drawingml/2006/main">
            <a:r>
              <a:t>• 대조군: 캐시 유지 full attention이 어디에도 없다</a:t>
            </a:r>
            <a:endParaRPr/>
          </a:p>
          <a:p xmlns:a="http://schemas.openxmlformats.org/drawingml/2006/main">
            <a:r>
              <a:t/>
            </a:r>
            <a:endParaRPr/>
          </a:p>
          <a:p xmlns:a="http://schemas.openxmlformats.org/drawingml/2006/main">
            <a:r>
              <a:t>[Sources]</a:t>
            </a:r>
            <a:endParaRPr/>
          </a:p>
          <a:p xmlns:a="http://schemas.openxmlformats.org/drawingml/2006/main">
            <a:r>
              <a:t>study-kr-stc ch17 §17.5, §17.6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STC2-065 — 이 경로에서 함께 거론되지만 이 범주가 아닌 둘</a:t>
            </a:r>
            <a:endParaRPr/>
          </a:p>
          <a:p xmlns:a="http://schemas.openxmlformats.org/drawingml/2006/main">
            <a:r>
              <a:t>핵심 결론: 둘 다 이 범주는 아니되 뒤에서 용량 천장과 반증 축의 재료를 공급한다</a:t>
            </a:r>
            <a:endParaRPr/>
          </a:p>
          <a:p xmlns:a="http://schemas.openxmlformats.org/drawingml/2006/main">
            <a:r>
              <a:t/>
            </a:r>
            <a:endParaRPr/>
          </a:p>
          <a:p xmlns:a="http://schemas.openxmlformats.org/drawingml/2006/main">
            <a:r>
              <a:t>[발표 대본]</a:t>
            </a:r>
            <a:endParaRPr/>
          </a:p>
          <a:p xmlns:a="http://schemas.openxmlformats.org/drawingml/2006/main">
            <a:r>
              <a:t>이 경로에서 자주 함께 거론되는 둘을 정리하고 넘어가겠습니다. Nested Learning은 갱신 주파수라는 하나의 축 위에 pre-training부터 attention까지를 늘어놓습니다. 축이 하나이므로 W와 Θ 사이에 다리가 놓인 것처럼 읽힙니다. 그런데 모든 시계가 살아 있는 시퀀스의 토큰이고, 실험이 스윕하는 최저 주파수가 2K 토큰입니다. 가장 느린 층조차 긴 문서 하나 분량입니다. 그리고 논문 자신이 오프라인 consolidation을 명시적으로 범위 밖에 둡니다. 결론은 이렇습니다 — 연속체는 표기의 다리이지 기제의 다리가 아닙니다. Memory Caching은 갱신식을 한 글자도 안 바꿨습니다. 다만 이 논문이 값진 것 하나를 줍니다 — 고정 크기 W 하나로는 recall이 무너진다는 것을 정량화하고, 로그 분할이면 캐시 개수가 log₂L 이하라는 답을 줍니다. W층 용량 천장의 차수입니다.</a:t>
            </a:r>
            <a:endParaRPr/>
          </a:p>
          <a:p xmlns:a="http://schemas.openxmlformats.org/drawingml/2006/main">
            <a:r>
              <a:t/>
            </a:r>
            <a:endParaRPr/>
          </a:p>
          <a:p xmlns:a="http://schemas.openxmlformats.org/drawingml/2006/main">
            <a:r>
              <a:t>• NL: 모든 시계가 토큰</a:t>
            </a:r>
            <a:endParaRPr/>
          </a:p>
          <a:p xmlns:a="http://schemas.openxmlformats.org/drawingml/2006/main">
            <a:r>
              <a:t>• NL 최저: 2K 토큰이 한계</a:t>
            </a:r>
            <a:endParaRPr/>
          </a:p>
          <a:p xmlns:a="http://schemas.openxmlformats.org/drawingml/2006/main">
            <a:r>
              <a:t>• NL 선언: 오프라인은 범위 밖</a:t>
            </a:r>
            <a:endParaRPr/>
          </a:p>
          <a:p xmlns:a="http://schemas.openxmlformats.org/drawingml/2006/main">
            <a:r>
              <a:t>• MC: 읽기식만 바꿨다</a:t>
            </a:r>
            <a:endParaRPr/>
          </a:p>
          <a:p xmlns:a="http://schemas.openxmlformats.org/drawingml/2006/main">
            <a:r>
              <a:t>• MC 천장: log₂L 이하 캐시</a:t>
            </a:r>
            <a:endParaRPr/>
          </a:p>
          <a:p xmlns:a="http://schemas.openxmlformats.org/drawingml/2006/main">
            <a:r>
              <a:t/>
            </a:r>
            <a:endParaRPr/>
          </a:p>
          <a:p xmlns:a="http://schemas.openxmlformats.org/drawingml/2006/main">
            <a:r>
              <a:t>[Sources]</a:t>
            </a:r>
            <a:endParaRPr/>
          </a:p>
          <a:p xmlns:a="http://schemas.openxmlformats.org/drawingml/2006/main">
            <a:r>
              <a:t>study-kr-stc ch18 §18.4, §18.5, §18.7</a:t>
            </a:r>
            <a:endParaRPr/>
          </a:p>
          <a:p xmlns:a="http://schemas.openxmlformats.org/drawingml/2006/main">
            <a:r>
              <a:t>[NL §1, §9.1]</a:t>
            </a:r>
            <a:endParaRPr/>
          </a:p>
          <a:p xmlns:a="http://schemas.openxmlformats.org/drawingml/2006/main">
            <a:r>
              <a:t>[MC §4.2]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STC2-066 — Θ-경로 — 배포 아티팩트 자체를 바꾼다</a:t>
            </a:r>
            <a:endParaRPr/>
          </a:p>
          <a:p xmlns:a="http://schemas.openxmlformats.org/drawingml/2006/main">
            <a:r>
              <a:t>핵심 결론: 질의당 한계 decode 비용 0을 사기 위해 배치 효율과 웜 스토리지를 지불한다</a:t>
            </a:r>
            <a:endParaRPr/>
          </a:p>
          <a:p xmlns:a="http://schemas.openxmlformats.org/drawingml/2006/main">
            <a:r>
              <a:t/>
            </a:r>
            <a:endParaRPr/>
          </a:p>
          <a:p xmlns:a="http://schemas.openxmlformats.org/drawingml/2006/main">
            <a:r>
              <a:t>[발표 대본]</a:t>
            </a:r>
            <a:endParaRPr/>
          </a:p>
          <a:p xmlns:a="http://schemas.openxmlformats.org/drawingml/2006/main">
            <a:r>
              <a:t>마지막 경로입니다. 경험을 slow weights로 통합해 배포 아티팩트 자체를 바꿉니다. 이 경로만 줄 수 있는 성질이 하나 있습니다. 가중치에 담긴 사실은 질의당 한계 decode 비용이 0입니다 — 검색도 없고 프롬프트 증가도 없습니다. E-경로가 원리적으로 줄 수 없는 성질입니다. 대가도 분명합니다. 사용자별 delta가 생기는 순간 shared-weight batching이 깨지고, 사용자당 웜 스토리지가 생기며, 롤백 단위가 사라집니다. 그리고 이 경로에는 다른 둘에 없는 축이 하나 더 있습니다 — 반복입니다. 라운드를 여러 번 돌면 무엇이 무너지는가. 이게 오늘 이 경로의 판정을 조건부로 만드는 핵심입니다.</a:t>
            </a:r>
            <a:endParaRPr/>
          </a:p>
          <a:p xmlns:a="http://schemas.openxmlformats.org/drawingml/2006/main">
            <a:r>
              <a:t/>
            </a:r>
            <a:endParaRPr/>
          </a:p>
          <a:p xmlns:a="http://schemas.openxmlformats.org/drawingml/2006/main">
            <a:r>
              <a:t>• 좌변: delta · 가중치. 배포 아티팩트가 바뀐다</a:t>
            </a:r>
            <a:endParaRPr/>
          </a:p>
          <a:p xmlns:a="http://schemas.openxmlformats.org/drawingml/2006/main">
            <a:r>
              <a:t>• 시계: 라운드 · sleep 라운드 k마다</a:t>
            </a:r>
            <a:endParaRPr/>
          </a:p>
          <a:p xmlns:a="http://schemas.openxmlformats.org/drawingml/2006/main">
            <a:r>
              <a:t>• 이점: 0 · 담긴 사실의 질의당 한계 비용이 0이다</a:t>
            </a:r>
            <a:endParaRPr/>
          </a:p>
          <a:p xmlns:a="http://schemas.openxmlformats.org/drawingml/2006/main">
            <a:r>
              <a:t>• 대가: 배칭 · shared-weight batching이 깨진다</a:t>
            </a:r>
            <a:endParaRPr/>
          </a:p>
          <a:p xmlns:a="http://schemas.openxmlformats.org/drawingml/2006/main">
            <a:r>
              <a:t/>
            </a:r>
            <a:endParaRPr/>
          </a:p>
          <a:p xmlns:a="http://schemas.openxmlformats.org/drawingml/2006/main">
            <a:r>
              <a:t>[Sources]</a:t>
            </a:r>
            <a:endParaRPr/>
          </a:p>
          <a:p xmlns:a="http://schemas.openxmlformats.org/drawingml/2006/main">
            <a:r>
              <a:t>study-kr-stc ch11 §11.8</a:t>
            </a:r>
            <a:endParaRPr/>
          </a:p>
          <a:p xmlns:a="http://schemas.openxmlformats.org/drawingml/2006/main">
            <a:r>
              <a:t>study-kr-stc ch27 §27.3.4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STC2-067 — 쓰기 primitive ① — LoRA, 그리고 그것이 풀지 않은 문제</a:t>
            </a:r>
            <a:endParaRPr/>
          </a:p>
          <a:p xmlns:a="http://schemas.openxmlformats.org/drawingml/2006/main">
            <a:r>
              <a:t>핵심 결론: LoRA는 배포 경제학을 풀었지 기억 문제를 풀지 않았다. 시계가 없어 이 범주도 아니다</a:t>
            </a:r>
            <a:endParaRPr/>
          </a:p>
          <a:p xmlns:a="http://schemas.openxmlformats.org/drawingml/2006/main">
            <a:r>
              <a:t/>
            </a:r>
            <a:endParaRPr/>
          </a:p>
          <a:p xmlns:a="http://schemas.openxmlformats.org/drawingml/2006/main">
            <a:r>
              <a:t>[발표 대본]</a:t>
            </a:r>
            <a:endParaRPr/>
          </a:p>
          <a:p xmlns:a="http://schemas.openxmlformats.org/drawingml/2006/main">
            <a:r>
              <a:t>Θ-경로를 읽으려면 쓰기 primitive 두 개를 먼저 세워야 합니다. 첫째가 LoRA입니다. 가중치에 저랭크 증분을 더합니다. 저장 바이트가 rank에 선형으로 붙고, 8B 모델에 rank 16이면 수 MB입니다. 그리고 merge하면 추론 지연 추가가 0이라는 성질이 있는데, 이건 측정이 아니라 구조의 귀결입니다. 머지된 가중치는 원래 가중치와 같은 shape이니까요. 판별식으로는 시계 부재로 탈락합니다. 무엇을 어디에 어떻게 쓰는지는 완전히 규정하지만 언제 쓰는지는 규정하지 않습니다. 그리고 오늘 뒤에서 아플 부재 하나 — 원 논문에 delta의 load 시간도 대역폭도 나오지 않습니다. 서빙에 올리려면 그게 첫 번째로 필요한 숫자입니다.</a:t>
            </a:r>
            <a:endParaRPr/>
          </a:p>
          <a:p xmlns:a="http://schemas.openxmlformats.org/drawingml/2006/main">
            <a:r>
              <a:t/>
            </a:r>
            <a:endParaRPr/>
          </a:p>
          <a:p xmlns:a="http://schemas.openxmlformats.org/drawingml/2006/main">
            <a:r>
              <a:t>• 형태: ΔΘ = BA</a:t>
            </a:r>
            <a:endParaRPr/>
          </a:p>
          <a:p xmlns:a="http://schemas.openxmlformats.org/drawingml/2006/main">
            <a:r>
              <a:t>• rank r: 바이트가 선형</a:t>
            </a:r>
            <a:endParaRPr/>
          </a:p>
          <a:p xmlns:a="http://schemas.openxmlformats.org/drawingml/2006/main">
            <a:r>
              <a:t>• merge: 지연 추가 0 (구조)</a:t>
            </a:r>
            <a:endParaRPr/>
          </a:p>
          <a:p xmlns:a="http://schemas.openxmlformats.org/drawingml/2006/main">
            <a:r>
              <a:t>• 탈락: 시계 부재</a:t>
            </a:r>
            <a:endParaRPr/>
          </a:p>
          <a:p xmlns:a="http://schemas.openxmlformats.org/drawingml/2006/main">
            <a:r>
              <a:t>• 지위: 쓰기 primitive</a:t>
            </a:r>
            <a:endParaRPr/>
          </a:p>
          <a:p xmlns:a="http://schemas.openxmlformats.org/drawingml/2006/main">
            <a:r>
              <a:t>• 미보고: load 시간 없음</a:t>
            </a:r>
            <a:endParaRPr/>
          </a:p>
          <a:p xmlns:a="http://schemas.openxmlformats.org/drawingml/2006/main">
            <a:r>
              <a:t/>
            </a:r>
            <a:endParaRPr/>
          </a:p>
          <a:p xmlns:a="http://schemas.openxmlformats.org/drawingml/2006/main">
            <a:r>
              <a:t>[Sources]</a:t>
            </a:r>
            <a:endParaRPr/>
          </a:p>
          <a:p xmlns:a="http://schemas.openxmlformats.org/drawingml/2006/main">
            <a:r>
              <a:t>study-kr-stc ch03 §03.5–03.6, ch19</a:t>
            </a:r>
            <a:endParaRPr/>
          </a:p>
          <a:p xmlns:a="http://schemas.openxmlformats.org/drawingml/2006/main">
            <a:r>
              <a:t>[LoRA §4.1, §4.2]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STC2-068 — 쓰기 primitive ② — ROME과 MEMIT, 그리고 저자 자신의 유보</a:t>
            </a:r>
            <a:endParaRPr/>
          </a:p>
          <a:p xmlns:a="http://schemas.openxmlformats.org/drawingml/2006/main">
            <a:r>
              <a:t>핵심 결론: 이 논문을 Θ-경로 primitive로 세우는 것은 이 발표의 재구성이며 저자의 주장 범위를 넘는다</a:t>
            </a:r>
            <a:endParaRPr/>
          </a:p>
          <a:p xmlns:a="http://schemas.openxmlformats.org/drawingml/2006/main">
            <a:r>
              <a:t/>
            </a:r>
            <a:endParaRPr/>
          </a:p>
          <a:p xmlns:a="http://schemas.openxmlformats.org/drawingml/2006/main">
            <a:r>
              <a:t>[발표 대본]</a:t>
            </a:r>
            <a:endParaRPr/>
          </a:p>
          <a:p xmlns:a="http://schemas.openxmlformats.org/drawingml/2006/main">
            <a:r>
              <a:t>둘째 primitive는 직접 편집입니다. ROME과 MEMIT. 먼저 흥미로운 사실 하나. ROME의 갱신에는 learning rate가 존재하지 않습니다. 등식제약 최소제곱의 닫힌 해입니다. Θ-경로의 쓰기가 반드시 SGD여야 하는 것은 아니라는 존재증명입니다. 그리고 정직성 규칙에 따라 반드시 실어야 할 문장이 있습니다. ROME 저자 자신이 씁니다 — 이것은 지식 저장 기제를 이해하기 위한 도구이며 대규모 모델 학습을 위한 실용적 방법으로 의도되지 않았다고. 그러니 이 논문을 Θ-경로 쓰기 primitive로 세우는 것은 제 재구성이고, 저자의 주장 범위를 넘습니다. 그 사실을 명시하고 씁니다. MEMIT은 같은 편집을 대량 확장한 판인데, 여기서 결정적인 구조적 사실이 나옵니다 — 분리 가능한 delta 아티팩트를 만들지 않습니다. 공유 가중치를 제자리에서 고칩니다.</a:t>
            </a:r>
            <a:endParaRPr/>
          </a:p>
          <a:p xmlns:a="http://schemas.openxmlformats.org/drawingml/2006/main">
            <a:r>
              <a:t/>
            </a:r>
            <a:endParaRPr/>
          </a:p>
          <a:p xmlns:a="http://schemas.openxmlformats.org/drawingml/2006/main">
            <a:r>
              <a:t>• ROME 갱신: 등식제약 최소제곱의 닫힌 해. η_Θ가 없다</a:t>
            </a:r>
            <a:endParaRPr/>
          </a:p>
          <a:p xmlns:a="http://schemas.openxmlformats.org/drawingml/2006/main">
            <a:r>
              <a:t>• 저자 유보: '실용적 방법으로 의도되지 않았다'</a:t>
            </a:r>
            <a:endParaRPr/>
          </a:p>
          <a:p xmlns:a="http://schemas.openxmlformats.org/drawingml/2006/main">
            <a:r>
              <a:t>• MEMIT: 같은 편집을 대량으로 확장. 제자리 덧셈</a:t>
            </a:r>
            <a:endParaRPr/>
          </a:p>
          <a:p xmlns:a="http://schemas.openxmlformats.org/drawingml/2006/main">
            <a:r>
              <a:t>• 지위: delta 아티팩트를 만들지 않는다</a:t>
            </a:r>
            <a:endParaRPr/>
          </a:p>
          <a:p xmlns:a="http://schemas.openxmlformats.org/drawingml/2006/main">
            <a:r>
              <a:t>• gradient 불필요: Θ 쓰기가 반드시 SGD여야 하는 건 아니다</a:t>
            </a:r>
            <a:endParaRPr/>
          </a:p>
          <a:p xmlns:a="http://schemas.openxmlformats.org/drawingml/2006/main">
            <a:r>
              <a:t/>
            </a:r>
            <a:endParaRPr/>
          </a:p>
          <a:p xmlns:a="http://schemas.openxmlformats.org/drawingml/2006/main">
            <a:r>
              <a:t>[Sources]</a:t>
            </a:r>
            <a:endParaRPr/>
          </a:p>
          <a:p xmlns:a="http://schemas.openxmlformats.org/drawingml/2006/main">
            <a:r>
              <a:t>study-kr-stc ch19 §19.7</a:t>
            </a:r>
            <a:endParaRPr/>
          </a:p>
          <a:p xmlns:a="http://schemas.openxmlformats.org/drawingml/2006/main">
            <a:r>
              <a:t>[ROME §3.7]</a:t>
            </a:r>
            <a:endParaRPr/>
          </a:p>
          <a:p xmlns:a="http://schemas.openxmlformats.org/drawingml/2006/main">
            <a:r>
              <a:t>[MEMIT Algorithm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STC2-069 — 편집 용량 10,000과 그 대가</a:t>
            </a:r>
            <a:endParaRPr/>
          </a:p>
          <a:p xmlns:a="http://schemas.openxmlformats.org/drawingml/2006/main">
            <a:r>
              <a:t>핵심 결론: 10,000은 관측된 하한이다</a:t>
            </a:r>
            <a:endParaRPr/>
          </a:p>
          <a:p xmlns:a="http://schemas.openxmlformats.org/drawingml/2006/main">
            <a:r>
              <a:t/>
            </a:r>
            <a:endParaRPr/>
          </a:p>
          <a:p xmlns:a="http://schemas.openxmlformats.org/drawingml/2006/main">
            <a:r>
              <a:t>[발표 대본]</a:t>
            </a:r>
            <a:endParaRPr/>
          </a:p>
          <a:p xmlns:a="http://schemas.openxmlformats.org/drawingml/2006/main">
            <a:r>
              <a:t>직접 편집의 용량 실측입니다. GPT-J 6B에 만 개의 사실을 편집해 넣을 수 있습니다. 그 지점에서 specificity가 83.5에서 73.7로 떨어집니다. 강조할 것은 — 만 개는 붕괴점이 아니라 관측된 하한입니다. 논문이 거기서 멈춘 것뿐입니다. 그리고 정직성 규칙상 함께 실어야 할 수치가 있습니다. 같은 방법의 zsRE 종합점수에서 Specificity가 26.6인데, 그 값은 편집하지 않은 원본 모델의 27.0보다 낮습니다. 비용은 만 개 편집에 7시간 26분, A6000 한 장 기준입니다. 그중 88퍼센트가 한 중간 단계에 들어갑니다. 편집당 2.68초라는 값은 제 나눗셈이고 논문에 없습니다. 이 절대치를 다른 모델·다른 가속기로 옮기는 것은 외삽이므로 오늘 쓰지 않겠습니다. 쓸 수 있는 것은 상각의 구조입니다.</a:t>
            </a:r>
            <a:endParaRPr/>
          </a:p>
          <a:p xmlns:a="http://schemas.openxmlformats.org/drawingml/2006/main">
            <a:r>
              <a:t/>
            </a:r>
            <a:endParaRPr/>
          </a:p>
          <a:p xmlns:a="http://schemas.openxmlformats.org/drawingml/2006/main">
            <a:r>
              <a:t>• GPT-J 6B 10,000 편집: </a:t>
            </a:r>
            <a:endParaRPr/>
          </a:p>
          <a:p xmlns:a="http://schemas.openxmlformats.org/drawingml/2006/main">
            <a:r>
              <a:t>• specificity 83.5 → 73.7: </a:t>
            </a:r>
            <a:endParaRPr/>
          </a:p>
          <a:p xmlns:a="http://schemas.openxmlformats.org/drawingml/2006/main">
            <a:r>
              <a:t>• zsRE Specificity 26.6: </a:t>
            </a:r>
            <a:endParaRPr/>
          </a:p>
          <a:p xmlns:a="http://schemas.openxmlformats.org/drawingml/2006/main">
            <a:r>
              <a:t>• 미편집 GPT-J 27.0: </a:t>
            </a:r>
            <a:endParaRPr/>
          </a:p>
          <a:p xmlns:a="http://schemas.openxmlformats.org/drawingml/2006/main">
            <a:r>
              <a:t>• 편집당 2.68초 (본서 나눗셈): </a:t>
            </a:r>
            <a:endParaRPr/>
          </a:p>
          <a:p xmlns:a="http://schemas.openxmlformats.org/drawingml/2006/main">
            <a:r>
              <a:t/>
            </a:r>
            <a:endParaRPr/>
          </a:p>
          <a:p xmlns:a="http://schemas.openxmlformats.org/drawingml/2006/main">
            <a:r>
              <a:t>[Sources]</a:t>
            </a:r>
            <a:endParaRPr/>
          </a:p>
          <a:p xmlns:a="http://schemas.openxmlformats.org/drawingml/2006/main">
            <a:r>
              <a:t>study-kr-stc ch19 §19.6.2</a:t>
            </a:r>
            <a:endParaRPr/>
          </a:p>
          <a:p xmlns:a="http://schemas.openxmlformats.org/drawingml/2006/main">
            <a:r>
              <a:t>[MEMIT Table 1, Table 2; §5.2.2; App. B.4]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STC2-070 — 갈림길 — delta인가 직접 편집인가</a:t>
            </a:r>
            <a:endParaRPr/>
          </a:p>
          <a:p xmlns:a="http://schemas.openxmlformats.org/drawingml/2006/main">
            <a:r>
              <a:t>핵심 결론: 직접 편집은 전역 사실 갱신의 도구이고, delta는 개인화의 도구다. 이 구분을 제기한 논문이 없다</a:t>
            </a:r>
            <a:endParaRPr/>
          </a:p>
          <a:p xmlns:a="http://schemas.openxmlformats.org/drawingml/2006/main">
            <a:r>
              <a:t/>
            </a:r>
            <a:endParaRPr/>
          </a:p>
          <a:p xmlns:a="http://schemas.openxmlformats.org/drawingml/2006/main">
            <a:r>
              <a:t>[발표 대본]</a:t>
            </a:r>
            <a:endParaRPr/>
          </a:p>
          <a:p xmlns:a="http://schemas.openxmlformats.org/drawingml/2006/main">
            <a:r>
              <a:t>여기서 갈림길이 하나 생깁니다. 그리고 이 갈림길이 뒤에서 세 자릿수 차이를 만듭니다. Θ에 쓰는 방식은 산출물의 형태로 갈립니다. delta 방식은 분리 가능한 아티팩트를 남기고, 직접 편집은 base에 흡수시켜 아무것도 남기지 않습니다. 갈림길은 저랭크냐 아니냐가 아닙니다. 직접 편집의 겉보기 장점은 상태량이 0이라는 것입니다. 편집을 10개 하든 만 개 하든 체크포인트 크기가 같습니다. 그리고 편집이 전역이면 — 모든 사용자에게 같은 사실이면 — 그 장점은 진짜입니다. 가중치 1벌을 계속 공유하니 batching이 살아남습니다. 개인화를 요구하는 순간 그 0이 전체 사본으로 바뀝니다. 분리 가능한 아티팩트가 애초에 생기지 않기 때문입니다. 이 구분을 제기한 논문이 corpus에 없습니다.</a:t>
            </a:r>
            <a:endParaRPr/>
          </a:p>
          <a:p xmlns:a="http://schemas.openxmlformats.org/drawingml/2006/main">
            <a:r>
              <a:t/>
            </a:r>
            <a:endParaRPr/>
          </a:p>
          <a:p xmlns:a="http://schemas.openxmlformats.org/drawingml/2006/main">
            <a:r>
              <a:t>• delta: 분리 가능한 아티팩트. 사용자별로 붙였다 뗀다</a:t>
            </a:r>
            <a:endParaRPr/>
          </a:p>
          <a:p xmlns:a="http://schemas.openxmlformats.org/drawingml/2006/main">
            <a:r>
              <a:t>• 직접 편집: base에 흡수. 아무것도 남기지 않는다</a:t>
            </a:r>
            <a:endParaRPr/>
          </a:p>
          <a:p xmlns:a="http://schemas.openxmlformats.org/drawingml/2006/main">
            <a:r>
              <a:t>• 귀결: 전역이면 편집이 이기고, 개인화면 delta여야 한다</a:t>
            </a:r>
            <a:endParaRPr/>
          </a:p>
          <a:p xmlns:a="http://schemas.openxmlformats.org/drawingml/2006/main">
            <a:r>
              <a:t/>
            </a:r>
            <a:endParaRPr/>
          </a:p>
          <a:p xmlns:a="http://schemas.openxmlformats.org/drawingml/2006/main">
            <a:r>
              <a:t>[Sources]</a:t>
            </a:r>
            <a:endParaRPr/>
          </a:p>
          <a:p xmlns:a="http://schemas.openxmlformats.org/drawingml/2006/main">
            <a:r>
              <a:t>study-kr-stc ch19 §19.7</a:t>
            </a:r>
            <a:endParaRPr/>
          </a:p>
          <a:p xmlns:a="http://schemas.openxmlformats.org/drawingml/2006/main">
            <a:r>
              <a:t>study-kr-stc ch26 §26.4 판정 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STC2-071 — SEAL — 모델이 자기 학습 데이터를 쓴다</a:t>
            </a:r>
            <a:endParaRPr/>
          </a:p>
          <a:p xmlns:a="http://schemas.openxmlformats.org/drawingml/2006/main">
            <a:r>
              <a:t>핵심 결론: corpus에서 가장 순수한 Θ-경로 읽기다 — wake 프롬프트에 passage가 없다</a:t>
            </a:r>
            <a:endParaRPr/>
          </a:p>
          <a:p xmlns:a="http://schemas.openxmlformats.org/drawingml/2006/main">
            <a:r>
              <a:t/>
            </a:r>
            <a:endParaRPr/>
          </a:p>
          <a:p xmlns:a="http://schemas.openxmlformats.org/drawingml/2006/main">
            <a:r>
              <a:t>[발표 대본]</a:t>
            </a:r>
            <a:endParaRPr/>
          </a:p>
          <a:p xmlns:a="http://schemas.openxmlformats.org/drawingml/2006/main">
            <a:r>
              <a:t>Θ-경로의 첫 정면 사례입니다. 핵심 개념은 self-edit입니다. 모델이 자기 가중치 갱신의 내용을 지정해 쓴 자연어 산출물입니다. 실증된 형식이 둘 — 문장에서 뽑은 함의 목록, 그리고 augmentation 종류와 learning rate와 epoch와 loss mask를 명세한 것. 두 번째 형식이 흥미롭습니다. 표준 (U-Θ)의 gen 절차에 대한 가장 날카로운 확장입니다 — 모델이 데이터뿐 아니라 갱신 규칙 자체를 씁니다. 구조는 두 시간척도입니다. 안쪽은 문맥마다 self-edit으로 SFT하고, 바깥쪽은 그 결과 점수를 보상으로 self-edit 생성 정책을 밉니다. 그리고 읽기 쪽이 특이합니다. W도 없고 검색도 없습니다. wake 프롬프트에 passage가 없습니다. corpus에서 가장 순수한 Θ-경로 읽기입니다.</a:t>
            </a:r>
            <a:endParaRPr/>
          </a:p>
          <a:p xmlns:a="http://schemas.openxmlformats.org/drawingml/2006/main">
            <a:r>
              <a:t/>
            </a:r>
            <a:endParaRPr/>
          </a:p>
          <a:p xmlns:a="http://schemas.openxmlformats.org/drawingml/2006/main">
            <a:r>
              <a:t>• self-edit: 자연어 갱신 명세</a:t>
            </a:r>
            <a:endParaRPr/>
          </a:p>
          <a:p xmlns:a="http://schemas.openxmlformats.org/drawingml/2006/main">
            <a:r>
              <a:t>• 형식 ①: 함의 목록</a:t>
            </a:r>
            <a:endParaRPr/>
          </a:p>
          <a:p xmlns:a="http://schemas.openxmlformats.org/drawingml/2006/main">
            <a:r>
              <a:t>• 형식 ②: lr·epoch·mask</a:t>
            </a:r>
            <a:endParaRPr/>
          </a:p>
          <a:p xmlns:a="http://schemas.openxmlformats.org/drawingml/2006/main">
            <a:r>
              <a:t>• inner: 문맥마다 SFT</a:t>
            </a:r>
            <a:endParaRPr/>
          </a:p>
          <a:p xmlns:a="http://schemas.openxmlformats.org/drawingml/2006/main">
            <a:r>
              <a:t>• outer: 점수로 정책 갱신</a:t>
            </a:r>
            <a:endParaRPr/>
          </a:p>
          <a:p xmlns:a="http://schemas.openxmlformats.org/drawingml/2006/main">
            <a:r>
              <a:t>• 읽기: W 없음 · 검색 없음</a:t>
            </a:r>
            <a:endParaRPr/>
          </a:p>
          <a:p xmlns:a="http://schemas.openxmlformats.org/drawingml/2006/main">
            <a:r>
              <a:t/>
            </a:r>
            <a:endParaRPr/>
          </a:p>
          <a:p xmlns:a="http://schemas.openxmlformats.org/drawingml/2006/main">
            <a:r>
              <a:t>[Sources]</a:t>
            </a:r>
            <a:endParaRPr/>
          </a:p>
          <a:p xmlns:a="http://schemas.openxmlformats.org/drawingml/2006/main">
            <a:r>
              <a:t>study-kr-stc ch20 §20.2–20.4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STC2-072 — SEAL — 자기 표가 논지를 세 번 깎는다</a:t>
            </a:r>
            <a:endParaRPr/>
          </a:p>
          <a:p xmlns:a="http://schemas.openxmlformats.org/drawingml/2006/main">
            <a:r>
              <a:t>핵심 결론: 실제 걸림돌은 계산이 아니라 문맥마다 라벨을 요구하는 보상 oracle이다</a:t>
            </a:r>
            <a:endParaRPr/>
          </a:p>
          <a:p xmlns:a="http://schemas.openxmlformats.org/drawingml/2006/main">
            <a:r>
              <a:t/>
            </a:r>
            <a:endParaRPr/>
          </a:p>
          <a:p xmlns:a="http://schemas.openxmlformats.org/drawingml/2006/main">
            <a:r>
              <a:t>[발표 대본]</a:t>
            </a:r>
            <a:endParaRPr/>
          </a:p>
          <a:p xmlns:a="http://schemas.openxmlformats.org/drawingml/2006/main">
            <a:r>
              <a:t>그리고 이 논문의 자기 표가 논지를 세 번 깎습니다. 전부 논문 안에 있는 수치입니다. 첫째, 초록의 'GPT-4.1 능가'는 세 열 중 한 열에서만 성립합니다. 나머지 두 열에서는 GPT-4.1이 이깁니다. 논문 본문은 이를 진술하는데 초록은 범위 조건을 달지 않습니다. 둘째, RL 없는 프롬프트 두 개가 RL 헤드라인을 넘습니다. 셋째, 정의적 기여인 TTT 보상을 지워도 성능이 크게 안 떨어지고 약 72배 쌉니다. 그리고 하나 더 — 모델이 self-edit 형식을 스스로 정하면 성능이 18.9로 무너집니다. 즉 형식은 사람이 정해 줘야 합니다. 정리하면 이 논문의 실제 걸림돌은 계산이 아닙니다. 문맥마다 정답 라벨을 요구하는 보상 oracle입니다.</a:t>
            </a:r>
            <a:endParaRPr/>
          </a:p>
          <a:p xmlns:a="http://schemas.openxmlformats.org/drawingml/2006/main">
            <a:r>
              <a:t/>
            </a:r>
            <a:endParaRPr/>
          </a:p>
          <a:p xmlns:a="http://schemas.openxmlformats.org/drawingml/2006/main">
            <a:r>
              <a:t>• 초록 범위: 'GPT-4.1 능가'는 세 열 중 한 열에서만 성립</a:t>
            </a:r>
            <a:endParaRPr/>
          </a:p>
          <a:p xmlns:a="http://schemas.openxmlformats.org/drawingml/2006/main">
            <a:r>
              <a:t>• RL 없이: 프롬프트 둘(49.3·49.4)이 RL 헤드라인 47.0을 넘음</a:t>
            </a:r>
            <a:endParaRPr/>
          </a:p>
          <a:p xmlns:a="http://schemas.openxmlformats.org/drawingml/2006/main">
            <a:r>
              <a:t>• TTT 보상: 지워도 45.6이고 약 72배 싸다</a:t>
            </a:r>
            <a:endParaRPr/>
          </a:p>
          <a:p xmlns:a="http://schemas.openxmlformats.org/drawingml/2006/main">
            <a:r>
              <a:t>• 형식 자율: 모델이 형식을 스스로 정하면 18.9로 무너진다</a:t>
            </a:r>
            <a:endParaRPr/>
          </a:p>
          <a:p xmlns:a="http://schemas.openxmlformats.org/drawingml/2006/main">
            <a:r>
              <a:t>• 벤치 구성: TTT 가해성으로 필터된 19과제 — Oracle 100%는 구성상 참</a:t>
            </a:r>
            <a:endParaRPr/>
          </a:p>
          <a:p xmlns:a="http://schemas.openxmlformats.org/drawingml/2006/main">
            <a:r>
              <a:t/>
            </a:r>
            <a:endParaRPr/>
          </a:p>
          <a:p xmlns:a="http://schemas.openxmlformats.org/drawingml/2006/main">
            <a:r>
              <a:t>[Sources]</a:t>
            </a:r>
            <a:endParaRPr/>
          </a:p>
          <a:p xmlns:a="http://schemas.openxmlformats.org/drawingml/2006/main">
            <a:r>
              <a:t>study-kr-stc ch20 §20.6</a:t>
            </a:r>
            <a:endParaRPr/>
          </a:p>
          <a:p xmlns:a="http://schemas.openxmlformats.org/drawingml/2006/main">
            <a:r>
              <a:t>[SEAL §4.2]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STC2-073 — `LM Need Sleep` — wake의 W에서 sleep의 Θ로 이송한다</a:t>
            </a:r>
            <a:endParaRPr/>
          </a:p>
          <a:p xmlns:a="http://schemas.openxmlformats.org/drawingml/2006/main">
            <a:r>
              <a:t>핵심 결론: corpus에서 bridge-in이 교과서적으로 성립하는 거의 유일한 사례다</a:t>
            </a:r>
            <a:endParaRPr/>
          </a:p>
          <a:p xmlns:a="http://schemas.openxmlformats.org/drawingml/2006/main">
            <a:r>
              <a:t/>
            </a:r>
            <a:endParaRPr/>
          </a:p>
          <a:p xmlns:a="http://schemas.openxmlformats.org/drawingml/2006/main">
            <a:r>
              <a:t>[발표 대본]</a:t>
            </a:r>
            <a:endParaRPr/>
          </a:p>
          <a:p xmlns:a="http://schemas.openxmlformats.org/drawingml/2006/main">
            <a:r>
              <a:t>Θ-경로의 두 번째이자 이 라인에서 가장 정면인 사례입니다. 먼저 서지적으로 특별한 점 하나. 이 논문의 bridge-in은 corpus에서 거의 유일하게 양쪽이 닫혀 있습니다. Nested Learning이 오프라인 consolidation을 범위 밖으로 선언했고, 이 논문이 '우리는 두 번째 종류, 즉 sleep을 통한 오프라인 consolidation에 집중한다'로 그 자리를 받습니다. 두 논문의 제1저자가 같습니다. 기제에서 새로 보이는 것은 순서입니다. wake 갱신은 (U-W)이고, sleep의 세 단계가 W에서 Θ로의 이송 연산자이며, 마지막의 리셋이 그것을 복사가 아니라 이송으로 만듭니다. corpus에서 이 연산자를 명시적으로 가진 유일한 논문입니다. 그리고 회계에 치명적인 차이가 하나 — 라운드마다 Θ의 차원이 커집니다. 저랭크 expert를 계속 덧붙이기 때문입니다.</a:t>
            </a:r>
            <a:endParaRPr/>
          </a:p>
          <a:p xmlns:a="http://schemas.openxmlformats.org/drawingml/2006/main">
            <a:r>
              <a:t/>
            </a:r>
            <a:endParaRPr/>
          </a:p>
          <a:p xmlns:a="http://schemas.openxmlformats.org/drawingml/2006/main">
            <a:r>
              <a:t>• bridge-in: 상속 · NL이 범위 밖에 둔 자리를 명시적으로 받는다</a:t>
            </a:r>
            <a:endParaRPr/>
          </a:p>
          <a:p xmlns:a="http://schemas.openxmlformats.org/drawingml/2006/main">
            <a:r>
              <a:t>• wake: (U-W) · 살아 있는 시퀀스에서 fast weight에 쌓는다</a:t>
            </a:r>
            <a:endParaRPr/>
          </a:p>
          <a:p xmlns:a="http://schemas.openxmlformats.org/drawingml/2006/main">
            <a:r>
              <a:t>• sleep: 이송 · 세 단계로 Θ에 옮기고 W를 리셋한다</a:t>
            </a:r>
            <a:endParaRPr/>
          </a:p>
          <a:p xmlns:a="http://schemas.openxmlformats.org/drawingml/2006/main">
            <a:r>
              <a:t>• 확장: 성장 · dim Θ가 라운드마다 커진다</a:t>
            </a:r>
            <a:endParaRPr/>
          </a:p>
          <a:p xmlns:a="http://schemas.openxmlformats.org/drawingml/2006/main">
            <a:r>
              <a:t/>
            </a:r>
            <a:endParaRPr/>
          </a:p>
          <a:p xmlns:a="http://schemas.openxmlformats.org/drawingml/2006/main">
            <a:r>
              <a:t>[Sources]</a:t>
            </a:r>
            <a:endParaRPr/>
          </a:p>
          <a:p xmlns:a="http://schemas.openxmlformats.org/drawingml/2006/main">
            <a:r>
              <a:t>study-kr-stc ch21 §21.1–21.3</a:t>
            </a:r>
            <a:endParaRPr/>
          </a:p>
          <a:p xmlns:a="http://schemas.openxmlformats.org/drawingml/2006/main">
            <a:r>
              <a:t>[LM Need Sleep §1, §3.3]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STC2-074 — Knowledge Seeding과 Dreaming — 그리고 그 마진의 출처</a:t>
            </a:r>
            <a:endParaRPr/>
          </a:p>
          <a:p xmlns:a="http://schemas.openxmlformats.org/drawingml/2006/main">
            <a:r>
              <a:t>핵심 결론: 마진의 절반가량이 Knowledge Seeding 없이 구조적 확장만으로 얻어진다</a:t>
            </a:r>
            <a:endParaRPr/>
          </a:p>
          <a:p xmlns:a="http://schemas.openxmlformats.org/drawingml/2006/main">
            <a:r>
              <a:t/>
            </a:r>
            <a:endParaRPr/>
          </a:p>
          <a:p xmlns:a="http://schemas.openxmlformats.org/drawingml/2006/main">
            <a:r>
              <a:t>[발표 대본]</a:t>
            </a:r>
            <a:endParaRPr/>
          </a:p>
          <a:p xmlns:a="http://schemas.openxmlformats.org/drawingml/2006/main">
            <a:r>
              <a:t>이 논문의 두 구성요소입니다. Knowledge Seeding은 sleep 라운드에 넣을 데이터를 스스로 만드는 절차이고, Dreaming은 그것으로 distillation과 RL을 도는 절차입니다. 그런데 ablation을 읽으면 마진의 출처가 다르게 보입니다. 구조적 확장만 넣고 Knowledge Seeding을 빼도 마진의 절반가량이 나옵니다. 예산은 SFT 대비 상대비만 있습니다 — step당 4배, 동일 성능 도달에 3.6배에서 4.8배. 절대값은 네 칸 모두 없습니다. 그리고 보고 상태에 대해 하나 더. 일곱 실험 중 넷은 숫자가 없고, 시드·신뢰구간·오차막대가 논문 전체에 없습니다.</a:t>
            </a:r>
            <a:endParaRPr/>
          </a:p>
          <a:p xmlns:a="http://schemas.openxmlformats.org/drawingml/2006/main">
            <a:r>
              <a:t/>
            </a:r>
            <a:endParaRPr/>
          </a:p>
          <a:p xmlns:a="http://schemas.openxmlformats.org/drawingml/2006/main">
            <a:r>
              <a:t>• Seeding: sleep에 넣을 데이터를 스스로 만든다</a:t>
            </a:r>
            <a:endParaRPr/>
          </a:p>
          <a:p xmlns:a="http://schemas.openxmlformats.org/drawingml/2006/main">
            <a:r>
              <a:t>• Dreaming: 생성된 것으로 distillation과 RL을 돈다</a:t>
            </a:r>
            <a:endParaRPr/>
          </a:p>
          <a:p xmlns:a="http://schemas.openxmlformats.org/drawingml/2006/main">
            <a:r>
              <a:t>• 확장만: 76.6→77.9 등 마진 절반이 여기서 나온다</a:t>
            </a:r>
            <a:endParaRPr/>
          </a:p>
          <a:p xmlns:a="http://schemas.openxmlformats.org/drawingml/2006/main">
            <a:r>
              <a:t>• 예산: SFT 대비 step당 4배. 절대값은 없다</a:t>
            </a:r>
            <a:endParaRPr/>
          </a:p>
          <a:p xmlns:a="http://schemas.openxmlformats.org/drawingml/2006/main">
            <a:r>
              <a:t>• 부재: 일곱 실험 중 넷은 숫자가 없다</a:t>
            </a:r>
            <a:endParaRPr/>
          </a:p>
          <a:p xmlns:a="http://schemas.openxmlformats.org/drawingml/2006/main">
            <a:r>
              <a:t/>
            </a:r>
            <a:endParaRPr/>
          </a:p>
          <a:p xmlns:a="http://schemas.openxmlformats.org/drawingml/2006/main">
            <a:r>
              <a:t>[Sources]</a:t>
            </a:r>
            <a:endParaRPr/>
          </a:p>
          <a:p xmlns:a="http://schemas.openxmlformats.org/drawingml/2006/main">
            <a:r>
              <a:t>study-kr-stc ch21 §21.4–21.6</a:t>
            </a:r>
            <a:endParaRPr/>
          </a:p>
          <a:p xmlns:a="http://schemas.openxmlformats.org/drawingml/2006/main">
            <a:r>
              <a:t>[LM Need Sleep App. B.5, p.26]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STC2-075 — ablation 역전과 상각식의 퇴화</a:t>
            </a:r>
            <a:endParaRPr/>
          </a:p>
          <a:p xmlns:a="http://schemas.openxmlformats.org/drawingml/2006/main">
            <a:r>
              <a:t>핵심 결론: Θ-경로에서 상각식은 이기는 것이 아니라 퇴화한다 — 분모가 무한하면 그 식은 아무것도 말하지 않는다</a:t>
            </a:r>
            <a:endParaRPr/>
          </a:p>
          <a:p xmlns:a="http://schemas.openxmlformats.org/drawingml/2006/main">
            <a:r>
              <a:t/>
            </a:r>
            <a:endParaRPr/>
          </a:p>
          <a:p xmlns:a="http://schemas.openxmlformats.org/drawingml/2006/main">
            <a:r>
              <a:t>[발표 대본]</a:t>
            </a:r>
            <a:endParaRPr/>
          </a:p>
          <a:p xmlns:a="http://schemas.openxmlformats.org/drawingml/2006/main">
            <a:r>
              <a:t>정직성 규칙에 따라 반드시 실어야 하는 대목입니다. 이 논문의 Semantic Reward를 제거하면 AIME-25 점수가 69.0에서 69.2로 오릅니다. 즉 그 구성요소를 빼는 게 낫습니다. 그럼에도 논문은 '모든 구성요소가 우리 방법의 성능에 긍정적으로 기여한다'고 씁니다. 그리고 그 구성요소는 이름도 크기도 밝혀지지 않은 외부 frozen reward model에 의존합니다. 회계 쪽에서도 중요한 일이 일어납니다. 이 논문에서 쓰기가 문맥별이 아니라 스케줄별이라 상각의 분모가 '앞으로의 전 트래픽'이 됩니다. 그러면 상각된 sleep 비용이 0으로 수렴합니다. 이건 이기는 게 아니라 퇴화하는 겁니다. 분모가 무한하면 그 식은 아무것도 말하지 않습니다. 그리고 그 순간 구속력 있는 질문이 ρ와 C_cap으로 옮겨 갑니다 — 그 두 칸이 corpus에서 각각 0편입니다.</a:t>
            </a:r>
            <a:endParaRPr/>
          </a:p>
          <a:p xmlns:a="http://schemas.openxmlformats.org/drawingml/2006/main">
            <a:r>
              <a:t/>
            </a:r>
            <a:endParaRPr/>
          </a:p>
          <a:p xmlns:a="http://schemas.openxmlformats.org/drawingml/2006/main">
            <a:r>
              <a:t>• Semantic Reward: 제거하면 AIME-25가 69.0에서 69.2로 오른다</a:t>
            </a:r>
            <a:endParaRPr/>
          </a:p>
          <a:p xmlns:a="http://schemas.openxmlformats.org/drawingml/2006/main">
            <a:r>
              <a:t>• 그럼에도: '모든 구성요소가 긍정적으로 기여한다'</a:t>
            </a:r>
            <a:endParaRPr/>
          </a:p>
          <a:p xmlns:a="http://schemas.openxmlformats.org/drawingml/2006/main">
            <a:r>
              <a:t>• 그 보상: 이름도 크기도 없는 외부 frozen reward model</a:t>
            </a:r>
            <a:endParaRPr/>
          </a:p>
          <a:p xmlns:a="http://schemas.openxmlformats.org/drawingml/2006/main">
            <a:r>
              <a:t>• N_q: 쓰기가 스케줄별이라 '앞으로의 전 트래픽'이 된다</a:t>
            </a:r>
            <a:endParaRPr/>
          </a:p>
          <a:p xmlns:a="http://schemas.openxmlformats.org/drawingml/2006/main">
            <a:r>
              <a:t>• 귀결: 식 (A)가 이 경로에서 퇴화한다</a:t>
            </a:r>
            <a:endParaRPr/>
          </a:p>
          <a:p xmlns:a="http://schemas.openxmlformats.org/drawingml/2006/main">
            <a:r>
              <a:t/>
            </a:r>
            <a:endParaRPr/>
          </a:p>
          <a:p xmlns:a="http://schemas.openxmlformats.org/drawingml/2006/main">
            <a:r>
              <a:t>[Sources]</a:t>
            </a:r>
            <a:endParaRPr/>
          </a:p>
          <a:p xmlns:a="http://schemas.openxmlformats.org/drawingml/2006/main">
            <a:r>
              <a:t>study-kr-stc ch21 §21.5, §21.6</a:t>
            </a:r>
            <a:endParaRPr/>
          </a:p>
          <a:p xmlns:a="http://schemas.openxmlformats.org/drawingml/2006/main">
            <a:r>
              <a:t>[LM Need Sleep Table 1, p.11; §4.2, p.13]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STC2-076 — 반증 축 — 가중치에 사실을 계속 넣을 수 있는가</a:t>
            </a:r>
            <a:endParaRPr/>
          </a:p>
          <a:p xmlns:a="http://schemas.openxmlformats.org/drawingml/2006/main">
            <a:r>
              <a:t>핵심 결론: 가장 강한 반증 후보가 반증 대상을 읽지 않고 쓰였다</a:t>
            </a:r>
            <a:endParaRPr/>
          </a:p>
          <a:p xmlns:a="http://schemas.openxmlformats.org/drawingml/2006/main">
            <a:r>
              <a:t/>
            </a:r>
            <a:endParaRPr/>
          </a:p>
          <a:p xmlns:a="http://schemas.openxmlformats.org/drawingml/2006/main">
            <a:r>
              <a:t>[발표 대본]</a:t>
            </a:r>
            <a:endParaRPr/>
          </a:p>
          <a:p xmlns:a="http://schemas.openxmlformats.org/drawingml/2006/main">
            <a:r>
              <a:t>Θ-경로의 반증 축입니다. 반복을 실제로 100라운드까지 돌려 본 유일한 논문입니다. 첫째 결과 — 유지율이 0으로 가지 않습니다. 25에서 28퍼센트에서 고원을 이룹니다. 둘째, 그리고 오늘 가장 중요한 결과 — 망각은 소거가 아니라 접근 상실입니다. 모든 strict 문항을 틀린 사실도 log-probability 상승분의 중앙값 69퍼센트, 79퍼센트를 유지합니다. 저장은 남아 있는데 읽지 못하는 겁니다. 셋째, 간섭의 소재는 저장 방식이 아니라 들어오는 쓰기입니다. 이후 쓰기 효과가 +37.6퍼센트포인트인 반면 저장 방식 효과는 −2.4입니다. 넷째, 해리. 20라운드마다 초기 체크포인트를 anchor로 consolidation을 넣으면 역량은 회복되는데 유지율은 회복되지 않습니다. 그리고 서지적 사실 하나 — 이 논문은 sleep-time compute 문헌의 어떤 open question도 상속하지 않습니다. 가장 강한 반증 후보가 반증 대상을 읽지 않고 쓰였습니다.</a:t>
            </a:r>
            <a:endParaRPr/>
          </a:p>
          <a:p xmlns:a="http://schemas.openxmlformats.org/drawingml/2006/main">
            <a:r>
              <a:t/>
            </a:r>
            <a:endParaRPr/>
          </a:p>
          <a:p xmlns:a="http://schemas.openxmlformats.org/drawingml/2006/main">
            <a:r>
              <a:t>• 루프: k=100까지 merge</a:t>
            </a:r>
            <a:endParaRPr/>
          </a:p>
          <a:p xmlns:a="http://schemas.openxmlformats.org/drawingml/2006/main">
            <a:r>
              <a:t>• 유지율: 25–28% 고원</a:t>
            </a:r>
            <a:endParaRPr/>
          </a:p>
          <a:p xmlns:a="http://schemas.openxmlformats.org/drawingml/2006/main">
            <a:r>
              <a:t>• 망각: 소거 아닌 접근 상실</a:t>
            </a:r>
            <a:endParaRPr/>
          </a:p>
          <a:p xmlns:a="http://schemas.openxmlformats.org/drawingml/2006/main">
            <a:r>
              <a:t>• 잔존: lift 69% · 79%</a:t>
            </a:r>
            <a:endParaRPr/>
          </a:p>
          <a:p xmlns:a="http://schemas.openxmlformats.org/drawingml/2006/main">
            <a:r>
              <a:t>• 간섭: 들어오는 쓰기</a:t>
            </a:r>
            <a:endParaRPr/>
          </a:p>
          <a:p xmlns:a="http://schemas.openxmlformats.org/drawingml/2006/main">
            <a:r>
              <a:t>• 해리: 역량만 회복</a:t>
            </a:r>
            <a:endParaRPr/>
          </a:p>
          <a:p xmlns:a="http://schemas.openxmlformats.org/drawingml/2006/main">
            <a:r>
              <a:t/>
            </a:r>
            <a:endParaRPr/>
          </a:p>
          <a:p xmlns:a="http://schemas.openxmlformats.org/drawingml/2006/main">
            <a:r>
              <a:t>[Sources]</a:t>
            </a:r>
            <a:endParaRPr/>
          </a:p>
          <a:p xmlns:a="http://schemas.openxmlformats.org/drawingml/2006/main">
            <a:r>
              <a:t>study-kr-stc ch22 §22.6</a:t>
            </a:r>
            <a:endParaRPr/>
          </a:p>
          <a:p xmlns:a="http://schemas.openxmlformats.org/drawingml/2006/main">
            <a:r>
              <a:t>[Continual Facts §4.3, §5.1, §6.2, §7.2]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STC2-077 — 생물학이 실제로 보인 것 — 은유의 담보를 확인한다</a:t>
            </a:r>
            <a:endParaRPr/>
          </a:p>
          <a:p xmlns:a="http://schemas.openxmlformats.org/drawingml/2006/main">
            <a:r>
              <a:t>핵심 결론: 실증된 우위는 정확도가 아니라 저장의 제거다</a:t>
            </a:r>
            <a:endParaRPr/>
          </a:p>
          <a:p xmlns:a="http://schemas.openxmlformats.org/drawingml/2006/main">
            <a:r>
              <a:t/>
            </a:r>
            <a:endParaRPr/>
          </a:p>
          <a:p xmlns:a="http://schemas.openxmlformats.org/drawingml/2006/main">
            <a:r>
              <a:t>[발표 대본]</a:t>
            </a:r>
            <a:endParaRPr/>
          </a:p>
          <a:p xmlns:a="http://schemas.openxmlformats.org/drawingml/2006/main">
            <a:r>
              <a:t>경로 순회의 마지막입니다. 이 라인이 빌려 쓴 은유의 담보를 확인합니다. PLOS 논문은 스파이킹 신경망에서 wake와 sleep 두 시계로 같은 시냅스에 씁니다. gradient가 없고, 갱신이 열 합 보존 집합으로 사영되며, 학습 집합은 잡음 위에서 망 자신을 돌려 만듭니다. 여기까지는 sleep-time compute의 서사와 잘 맞습니다. 그런데 강한 baseline을 보십시오. 과거 데이터를 저장하는 고전 interleaving이 0.68/0.65이고 sleep이 0.70/0.68입니다. 표준편차 안에서 같습니다. 논문 자신이 우위를 이론적 근거로 돌립니다. 즉 실증된 우위는 정확도가 아니라 저장의 제거입니다. 이건 중요한 결과지만 '더 잘한다'가 아닙니다. PAD 쪽은 더 조심스럽습니다. 논문 제목이 가리키는 성분의 효과도, sleep 단계 순서의 필요성도 저자 통제가 보이지 못했습니다. 이름의 공유는 이론적 약속의 공유가 아닙니다.</a:t>
            </a:r>
            <a:endParaRPr/>
          </a:p>
          <a:p xmlns:a="http://schemas.openxmlformats.org/drawingml/2006/main">
            <a:r>
              <a:t/>
            </a:r>
            <a:endParaRPr/>
          </a:p>
          <a:p xmlns:a="http://schemas.openxmlformats.org/drawingml/2006/main">
            <a:r>
              <a:t>• PLOS: wake와 sleep 두 시계로 같은 시냅스에 쓴다</a:t>
            </a:r>
            <a:endParaRPr/>
          </a:p>
          <a:p xmlns:a="http://schemas.openxmlformats.org/drawingml/2006/main">
            <a:r>
              <a:t>• 강한 baseline: 과거 데이터를 저장하는 고전 interleaving</a:t>
            </a:r>
            <a:endParaRPr/>
          </a:p>
          <a:p xmlns:a="http://schemas.openxmlformats.org/drawingml/2006/main">
            <a:r>
              <a:t>• 결과: sleep 0.70/0.68 대 interleaving 0.68/0.65</a:t>
            </a:r>
            <a:endParaRPr/>
          </a:p>
          <a:p xmlns:a="http://schemas.openxmlformats.org/drawingml/2006/main">
            <a:r>
              <a:t>• PAD: 제목이 가리키는 성분의 효과를 못 보였다</a:t>
            </a:r>
            <a:endParaRPr/>
          </a:p>
          <a:p xmlns:a="http://schemas.openxmlformats.org/drawingml/2006/main">
            <a:r>
              <a:t/>
            </a:r>
            <a:endParaRPr/>
          </a:p>
          <a:p xmlns:a="http://schemas.openxmlformats.org/drawingml/2006/main">
            <a:r>
              <a:t>[Sources]</a:t>
            </a:r>
            <a:endParaRPr/>
          </a:p>
          <a:p xmlns:a="http://schemas.openxmlformats.org/drawingml/2006/main">
            <a:r>
              <a:t>study-kr-stc ch23 §23.5, §23.6, §23.8</a:t>
            </a:r>
            <a:endParaRPr/>
          </a:p>
          <a:p xmlns:a="http://schemas.openxmlformats.org/drawingml/2006/main">
            <a:r>
              <a:t>[PLOS Sleep]</a:t>
            </a:r>
            <a:endParaRPr/>
          </a:p>
          <a:p xmlns:a="http://schemas.openxmlformats.org/drawingml/2006/main">
            <a:r>
              <a:t>[PAD eLife]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STC2-078 — 이 발표가 딛는 실험 넷 — 어느 것도 GPU 실측이 아니다</a:t>
            </a:r>
            <a:endParaRPr/>
          </a:p>
          <a:p xmlns:a="http://schemas.openxmlformats.org/drawingml/2006/main">
            <a:r>
              <a:t>핵심 결론: 이 host에 NVIDIA GPU가 없다. 그래서 이 발표에는 지연·처리량·전력의 측정값이 하나도 없다</a:t>
            </a:r>
            <a:endParaRPr/>
          </a:p>
          <a:p xmlns:a="http://schemas.openxmlformats.org/drawingml/2006/main">
            <a:r>
              <a:t/>
            </a:r>
            <a:endParaRPr/>
          </a:p>
          <a:p xmlns:a="http://schemas.openxmlformats.org/drawingml/2006/main">
            <a:r>
              <a:t>[발표 대본]</a:t>
            </a:r>
            <a:endParaRPr/>
          </a:p>
          <a:p xmlns:a="http://schemas.openxmlformats.org/drawingml/2006/main">
            <a:r>
              <a:t>이제 제가 직접 돌린 실험 넷입니다. 먼저 무엇이 아닌지부터 말씀드립니다. 넷 중 GPU 실측은 하나도 없습니다. 이 host에 NVIDIA GPU가 없습니다. 그래서 이 발표에는 지연도 처리량도 전력도 측정값이 한 줄도 없습니다. X1과 X2는 닫힌 형태 회계입니다. 벽시계도 청구액도 아닙니다. X3은 문헌 상태를 세는 감사입니다 — 성능도 비용도 재지 않았습니다. X4는 numpy 위의 최소모형이고 LLM 실험이 아닙니다. 넷 다 결정론적입니다. X1·X2·X3은 난수를 쓰지 않고, X4는 고정 시드로 두 번 돌려 산출물 해시가 같은 것을 확인했습니다. 그런데 재현성은 정확성이 아닙니다. 같은 입력에서 같은 답이 나온다는 건 구현이 안정하다는 뜻이지 그 답이 실제 장치에서 참이라는 뜻이 아닙니다. 이 구분을 흐리는 것이 이 종류의 실험이 저지르기 가장 쉬운 과장입니다.</a:t>
            </a:r>
            <a:endParaRPr/>
          </a:p>
          <a:p xmlns:a="http://schemas.openxmlformats.org/drawingml/2006/main">
            <a:r>
              <a:t/>
            </a:r>
            <a:endParaRPr/>
          </a:p>
          <a:p xmlns:a="http://schemas.openxmlformats.org/drawingml/2006/main">
            <a:r>
              <a:t>• X1 비용 회계: 회계 · 상각식에 빠진 항을 되살려 닫힌 형태로 푼다</a:t>
            </a:r>
            <a:endParaRPr/>
          </a:p>
          <a:p xmlns:a="http://schemas.openxmlformats.org/drawingml/2006/main">
            <a:r>
              <a:t>• X2 용량 회계: 회계 · 구성 파라미터에서 바이트를 복원한다</a:t>
            </a:r>
            <a:endParaRPr/>
          </a:p>
          <a:p xmlns:a="http://schemas.openxmlformats.org/drawingml/2006/main">
            <a:r>
              <a:t>• X3 예산 감사: 감사 · 29편의 B_s 보고 형태를 전수로 센다</a:t>
            </a:r>
            <a:endParaRPr/>
          </a:p>
          <a:p xmlns:a="http://schemas.openxmlformats.org/drawingml/2006/main">
            <a:r>
              <a:t>• X4 반복 열화: 모형 · 가우시안과 선형 연상기억. LLM 아님</a:t>
            </a:r>
            <a:endParaRPr/>
          </a:p>
          <a:p xmlns:a="http://schemas.openxmlformats.org/drawingml/2006/main">
            <a:r>
              <a:t/>
            </a:r>
            <a:endParaRPr/>
          </a:p>
          <a:p xmlns:a="http://schemas.openxmlformats.org/drawingml/2006/main">
            <a:r>
              <a:t>[Sources]</a:t>
            </a:r>
            <a:endParaRPr/>
          </a:p>
          <a:p xmlns:a="http://schemas.openxmlformats.org/drawingml/2006/main">
            <a:r>
              <a:t>experiments/stc/X1-unified-cost-accounting/result.json</a:t>
            </a:r>
            <a:endParaRPr/>
          </a:p>
          <a:p xmlns:a="http://schemas.openxmlformats.org/drawingml/2006/main">
            <a:r>
              <a:t>experiments/stc/X2/X3/X4 result.json</a:t>
            </a:r>
            <a:endParaRPr/>
          </a:p>
          <a:p xmlns:a="http://schemas.openxmlformats.org/drawingml/2006/main">
            <a:r>
              <a:t>study-kr-stc ch30 §30.2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STC2-079 — 계산해 놓고 본문에 올리지 않은 값 넷</a:t>
            </a:r>
            <a:endParaRPr/>
          </a:p>
          <a:p xmlns:a="http://schemas.openxmlformats.org/drawingml/2006/main">
            <a:r>
              <a:t>핵심 결론: 비용 칸이 비어 있는 논문에 '효율적'이라고 쓰지 않는 규칙은 이 발표의 실험에도 똑같이 적용된다</a:t>
            </a:r>
            <a:endParaRPr/>
          </a:p>
          <a:p xmlns:a="http://schemas.openxmlformats.org/drawingml/2006/main">
            <a:r>
              <a:t/>
            </a:r>
            <a:endParaRPr/>
          </a:p>
          <a:p xmlns:a="http://schemas.openxmlformats.org/drawingml/2006/main">
            <a:r>
              <a:t>[발표 대본]</a:t>
            </a:r>
            <a:endParaRPr/>
          </a:p>
          <a:p xmlns:a="http://schemas.openxmlformats.org/drawingml/2006/main">
            <a:r>
              <a:t>등급 계약을 지킨다는 것은 쓸 수 있는 것을 고르는 일이 아니라 쓰지 않기로 한 것을 밝히는 일입니다. 제가 손에 쥐고 있으면서 본문에 올리지 않는 값이 넷 있습니다. 첫째, B_s 보고율의 경로별 비율. 순서만 쓰고 비율은 안 씁니다 — 표본이 한 자릿수인 경로가 둘이라 분모가 신뢰구간을 감당하지 못합니다. 둘째, 사용자 백만 명 규모의 웜 스토리지 절대 바이트. 자릿수와 순서만 씁니다. 셋째, 상각 임계의 절대 토큰 수. 입력 여럿이 원 논문에 없어 제가 가정한 것입니다. 넷째, 반복 라운드의 감쇠율과 라운드 수. 장난감 모형의 산물입니다. 넷 다 인용하면 문장이 훨씬 강해집니다. 그렇게 쓰면 제가 논문들에 요구한 기준을 스스로 어기는 것이 됩니다.</a:t>
            </a:r>
            <a:endParaRPr/>
          </a:p>
          <a:p xmlns:a="http://schemas.openxmlformats.org/drawingml/2006/main">
            <a:r>
              <a:t/>
            </a:r>
            <a:endParaRPr/>
          </a:p>
          <a:p xmlns:a="http://schemas.openxmlformats.org/drawingml/2006/main">
            <a:r>
              <a:t>• 비율: 경로별 보고율</a:t>
            </a:r>
            <a:endParaRPr/>
          </a:p>
          <a:p xmlns:a="http://schemas.openxmlformats.org/drawingml/2006/main">
            <a:r>
              <a:t>• 바이트: 웜 스토리지 절대</a:t>
            </a:r>
            <a:endParaRPr/>
          </a:p>
          <a:p xmlns:a="http://schemas.openxmlformats.org/drawingml/2006/main">
            <a:r>
              <a:t>• 토큰: 상각 임계 절대</a:t>
            </a:r>
            <a:endParaRPr/>
          </a:p>
          <a:p xmlns:a="http://schemas.openxmlformats.org/drawingml/2006/main">
            <a:r>
              <a:t>• 라운드: 열화 pp와 K*</a:t>
            </a:r>
            <a:endParaRPr/>
          </a:p>
          <a:p xmlns:a="http://schemas.openxmlformats.org/drawingml/2006/main">
            <a:r>
              <a:t>• 이유: 표본·가정·모형</a:t>
            </a:r>
            <a:endParaRPr/>
          </a:p>
          <a:p xmlns:a="http://schemas.openxmlformats.org/drawingml/2006/main">
            <a:r>
              <a:t/>
            </a:r>
            <a:endParaRPr/>
          </a:p>
          <a:p xmlns:a="http://schemas.openxmlformats.org/drawingml/2006/main">
            <a:r>
              <a:t>[Sources]</a:t>
            </a:r>
            <a:endParaRPr/>
          </a:p>
          <a:p xmlns:a="http://schemas.openxmlformats.org/drawingml/2006/main">
            <a:r>
              <a:t>study-kr-stc ch24 §24.2</a:t>
            </a:r>
            <a:endParaRPr/>
          </a:p>
          <a:p xmlns:a="http://schemas.openxmlformats.org/drawingml/2006/main">
            <a:r>
              <a:t>study-kr-stc ch30 §30.3.5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STC2-080 — X1 설계 — 논문의 비용모델을 열어 빠진 항을 되살린다</a:t>
            </a:r>
            <a:endParaRPr/>
          </a:p>
          <a:p xmlns:a="http://schemas.openxmlformats.org/drawingml/2006/main">
            <a:r>
              <a:t>핵심 결론: 가정 둘을 판정 대상에게 유리한 쪽으로 고정했다 — 결과가 가정 탓으로 나오지 않게</a:t>
            </a:r>
            <a:endParaRPr/>
          </a:p>
          <a:p xmlns:a="http://schemas.openxmlformats.org/drawingml/2006/main">
            <a:r>
              <a:t/>
            </a:r>
            <a:endParaRPr/>
          </a:p>
          <a:p xmlns:a="http://schemas.openxmlformats.org/drawingml/2006/main">
            <a:r>
              <a:t>[발표 대본]</a:t>
            </a:r>
            <a:endParaRPr/>
          </a:p>
          <a:p xmlns:a="http://schemas.openxmlformats.org/drawingml/2006/main">
            <a:r>
              <a:t>X1부터 보겠습니다. 목적은 하나입니다 — 논문의 비용모델을 열어 무엇이 들어 있고 무엇이 빠졌는지를 결정론적으로 계산하는 것. 비용 단위는 sleep 시점에 생성된 토큰 하나를 1로 놓은 정규화 단위입니다. 그리고 손잡이 하나를 새로 답니다 — w_in, 즉 입력 토큰의 상대 비용입니다. 논문의 암묵 회계는 이 값이 0인 특수한 경우입니다. 중요한 설계 원칙 하나. 결과가 가정 탓으로 나오는 것을 막기 위해 가정을 판정 대상에게 유리한 쪽으로 고정했습니다. sleep 토큰에는 wake 배수를 적용하지 않고, sleep의 문맥 읽기를 과소계상합니다. 그리고 논문에 없어 스윕한 값이 넷 — 원 문맥 길이, learned context 길이, sleep 생성 토큰 수, N_q 분포입니다. 이 넷이 없다는 사실 자체가 X1의 첫 결과입니다.</a:t>
            </a:r>
            <a:endParaRPr/>
          </a:p>
          <a:p xmlns:a="http://schemas.openxmlformats.org/drawingml/2006/main">
            <a:r>
              <a:t/>
            </a:r>
            <a:endParaRPr/>
          </a:p>
          <a:p xmlns:a="http://schemas.openxmlformats.org/drawingml/2006/main">
            <a:r>
              <a:t>• 단위: sleep 토큰 = 1</a:t>
            </a:r>
            <a:endParaRPr/>
          </a:p>
          <a:p xmlns:a="http://schemas.openxmlformats.org/drawingml/2006/main">
            <a:r>
              <a:t>• w_in: 0 · 0.25 · 1</a:t>
            </a:r>
            <a:endParaRPr/>
          </a:p>
          <a:p xmlns:a="http://schemas.openxmlformats.org/drawingml/2006/main">
            <a:r>
              <a:t>• A1 유리: sleep에 배수 없음</a:t>
            </a:r>
            <a:endParaRPr/>
          </a:p>
          <a:p xmlns:a="http://schemas.openxmlformats.org/drawingml/2006/main">
            <a:r>
              <a:t>• A2 유리: 문맥 읽기 과소계상</a:t>
            </a:r>
            <a:endParaRPr/>
          </a:p>
          <a:p xmlns:a="http://schemas.openxmlformats.org/drawingml/2006/main">
            <a:r>
              <a:t>• A4 중립: 정확도 동일 가정</a:t>
            </a:r>
            <a:endParaRPr/>
          </a:p>
          <a:p xmlns:a="http://schemas.openxmlformats.org/drawingml/2006/main">
            <a:r>
              <a:t>• 스윕: 논문에 없는 값 넷</a:t>
            </a:r>
            <a:endParaRPr/>
          </a:p>
          <a:p xmlns:a="http://schemas.openxmlformats.org/drawingml/2006/main">
            <a:r>
              <a:t/>
            </a:r>
            <a:endParaRPr/>
          </a:p>
          <a:p xmlns:a="http://schemas.openxmlformats.org/drawingml/2006/main">
            <a:r>
              <a:t>[Sources]</a:t>
            </a:r>
            <a:endParaRPr/>
          </a:p>
          <a:p xmlns:a="http://schemas.openxmlformats.org/drawingml/2006/main">
            <a:r>
              <a:t>experiments/stc/X1-unified-cost-accounting/result.json meta</a:t>
            </a:r>
            <a:endParaRPr/>
          </a:p>
          <a:p xmlns:a="http://schemas.openxmlformats.org/drawingml/2006/main">
            <a:r>
              <a:t>study-kr-stc ch25 §25.2.3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STC2-081 — X1 파생량 ① — 임계 길이 L*</a:t>
            </a:r>
            <a:endParaRPr/>
          </a:p>
          <a:p xmlns:a="http://schemas.openxmlformats.org/drawingml/2006/main">
            <a:r>
              <a:t>핵심 결론: |ĉ|가 L*를 넘으면 N_q를 아무리 키워도 baseline을 이길 수 없다. w_in=0이면 L*=∞이다</a:t>
            </a:r>
            <a:endParaRPr/>
          </a:p>
          <a:p xmlns:a="http://schemas.openxmlformats.org/drawingml/2006/main">
            <a:r>
              <a:t/>
            </a:r>
            <a:endParaRPr/>
          </a:p>
          <a:p xmlns:a="http://schemas.openxmlformats.org/drawingml/2006/main">
            <a:r>
              <a:t>[발표 대본]</a:t>
            </a:r>
            <a:endParaRPr/>
          </a:p>
          <a:p xmlns:a="http://schemas.openxmlformats.org/drawingml/2006/main">
            <a:r>
              <a:t>첫 번째 파생량입니다. 유도는 초등적입니다. sleep을 쓰는 팔이 baseline보다 매 질의에서 싸려면, 늘어난 프롬프트 비용이 줄어든 생성 비용보다 작아야 합니다. 두 팔의 원 문맥 항과 질의 항은 소거됩니다. 그러면 임계 길이 L*가 나옵니다. learned context가 이 길이를 넘으면 N_q를 아무리 키워도 baseline을 이길 수 없습니다. 그리고 여기가 핵심입니다. 논문의 회계처럼 입력 토큰 비용을 0으로 놓으면 분모가 0이 되어 L*가 무한대로 갑니다. 즉 논문의 회계에는 이 경계가 존재하지 않습니다 — 표현조차 못 합니다. 제가 하는 일은 그 항을 되살려 경계가 어디 있는지 계산하는 것이고, 항을 되살리면 경계는 언제나 유한합니다.</a:t>
            </a:r>
            <a:endParaRPr/>
          </a:p>
          <a:p xmlns:a="http://schemas.openxmlformats.org/drawingml/2006/main">
            <a:r>
              <a:t/>
            </a:r>
            <a:endParaRPr/>
          </a:p>
          <a:p xmlns:a="http://schemas.openxmlformats.org/drawingml/2006/main">
            <a:r>
              <a:t>• κ_cost: wake 배수</a:t>
            </a:r>
            <a:endParaRPr/>
          </a:p>
          <a:p xmlns:a="http://schemas.openxmlformats.org/drawingml/2006/main">
            <a:r>
              <a:t>• ΔB_t: 논문의 회계에는 이 경계가 존재하지 않는다</a:t>
            </a:r>
            <a:endParaRPr/>
          </a:p>
          <a:p xmlns:a="http://schemas.openxmlformats.org/drawingml/2006/main">
            <a:r>
              <a:t>• w_in: </a:t>
            </a:r>
            <a:endParaRPr/>
          </a:p>
          <a:p xmlns:a="http://schemas.openxmlformats.org/drawingml/2006/main">
            <a:r>
              <a:t>• κ_∥ 병렬: </a:t>
            </a:r>
            <a:endParaRPr/>
          </a:p>
          <a:p xmlns:a="http://schemas.openxmlformats.org/drawingml/2006/main">
            <a:r>
              <a:t/>
            </a:r>
            <a:endParaRPr/>
          </a:p>
          <a:p xmlns:a="http://schemas.openxmlformats.org/drawingml/2006/main">
            <a:r>
              <a:t>[Sources]</a:t>
            </a:r>
            <a:endParaRPr/>
          </a:p>
          <a:p xmlns:a="http://schemas.openxmlformats.org/drawingml/2006/main">
            <a:r>
              <a:t>study-kr-stc ch25 §25.2.4</a:t>
            </a:r>
            <a:endParaRPr/>
          </a:p>
          <a:p xmlns:a="http://schemas.openxmlformats.org/drawingml/2006/main">
            <a:r>
              <a:t>experiments/stc/X1 Q1_Q2_critical_length_by_regime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STC2-082 — X1 파생량 ② — 손익분기는 절벽이 아니라 점근이다</a:t>
            </a:r>
            <a:endParaRPr/>
          </a:p>
          <a:p xmlns:a="http://schemas.openxmlformats.org/drawingml/2006/main">
            <a:r>
              <a:t>핵심 결론: |ĉ|→L*에서 N_q*가 발산한다. 임계에 닿기 한참 전부터 필요한 질의 수가 도달 불가능해진다</a:t>
            </a:r>
            <a:endParaRPr/>
          </a:p>
          <a:p xmlns:a="http://schemas.openxmlformats.org/drawingml/2006/main">
            <a:r>
              <a:t/>
            </a:r>
            <a:endParaRPr/>
          </a:p>
          <a:p xmlns:a="http://schemas.openxmlformats.org/drawingml/2006/main">
            <a:r>
              <a:t>[발표 대본]</a:t>
            </a:r>
            <a:endParaRPr/>
          </a:p>
          <a:p xmlns:a="http://schemas.openxmlformats.org/drawingml/2006/main">
            <a:r>
              <a:t>두 번째 파생량입니다. 같은 회계에서 손익분기를 풀면 이 형태가 나옵니다. 오른쪽 형태가 오늘 가장 중요한 식입니다. 분모에 L* 빼기 |ĉ|가 들어 있습니다. 즉 learned context가 임계에 가까워질수록 손익분기가 발산합니다. 그리고 임계를 넘으면 분모가 음수가 되어 해가 없습니다. 실무 문장으로 옮기면 — 상각 논증의 붕괴는 절벽이 아니라 점근입니다. 임계에 닿기 한참 전부터 필요한 질의 수가 실무적으로 도달 불가능해집니다. '조금 넘었네' 하는 순간이 아니라 '이미 오래전부터 안 되고 있었네'가 됩니다.</a:t>
            </a:r>
            <a:endParaRPr/>
          </a:p>
          <a:p xmlns:a="http://schemas.openxmlformats.org/drawingml/2006/main">
            <a:r>
              <a:t/>
            </a:r>
            <a:endParaRPr/>
          </a:p>
          <a:p xmlns:a="http://schemas.openxmlformats.org/drawingml/2006/main">
            <a:r>
              <a:t>• 분자 B_s: 한 번</a:t>
            </a:r>
            <a:endParaRPr/>
          </a:p>
          <a:p xmlns:a="http://schemas.openxmlformats.org/drawingml/2006/main">
            <a:r>
              <a:t>• 분모 여유: |ĉ|가 L*에 가까워질수록 필요한 질의 수가 발산한다</a:t>
            </a:r>
            <a:endParaRPr/>
          </a:p>
          <a:p xmlns:a="http://schemas.openxmlformats.org/drawingml/2006/main">
            <a:r>
              <a:t>• 발산: </a:t>
            </a:r>
            <a:endParaRPr/>
          </a:p>
          <a:p xmlns:a="http://schemas.openxmlformats.org/drawingml/2006/main">
            <a:r>
              <a:t>• 해 없음: </a:t>
            </a:r>
            <a:endParaRPr/>
          </a:p>
          <a:p xmlns:a="http://schemas.openxmlformats.org/drawingml/2006/main">
            <a:r>
              <a:t/>
            </a:r>
            <a:endParaRPr/>
          </a:p>
          <a:p xmlns:a="http://schemas.openxmlformats.org/drawingml/2006/main">
            <a:r>
              <a:t>[Sources]</a:t>
            </a:r>
            <a:endParaRPr/>
          </a:p>
          <a:p xmlns:a="http://schemas.openxmlformats.org/drawingml/2006/main">
            <a:r>
              <a:t>study-kr-stc ch25 §25.2.4</a:t>
            </a:r>
            <a:endParaRPr/>
          </a:p>
          <a:p xmlns:a="http://schemas.openxmlformats.org/drawingml/2006/main">
            <a:r>
              <a:t>experiments/stc/X1 Q3_breakeven_Nq</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STC2-083 — X1 결과 — 단정하는 것은 레짐 간 순서다</a:t>
            </a:r>
            <a:endParaRPr/>
          </a:p>
          <a:p xmlns:a="http://schemas.openxmlformats.org/drawingml/2006/main">
            <a:r>
              <a:t>핵심 결론: SWE-Features가 모든 회계 변종, 모든 κ_∥에서 최하위다. 절대 임계치는 판정 근거가 아니다</a:t>
            </a:r>
            <a:endParaRPr/>
          </a:p>
          <a:p xmlns:a="http://schemas.openxmlformats.org/drawingml/2006/main">
            <a:r>
              <a:t/>
            </a:r>
            <a:endParaRPr/>
          </a:p>
          <a:p xmlns:a="http://schemas.openxmlformats.org/drawingml/2006/main">
            <a:r>
              <a:t>[발표 대본]</a:t>
            </a:r>
            <a:endParaRPr/>
          </a:p>
          <a:p xmlns:a="http://schemas.openxmlformats.org/drawingml/2006/main">
            <a:r>
              <a:t>결과입니다. 먼저 첫 줄을 보십시오. 논문의 회계에서는 세 레짐 모두 경계가 없습니다. 항을 되살리면 경계가 생깁니다. 그리고 레짐마다 여유가 극단적으로 다릅니다. 짧은 문맥에 절감률이 큰 레짐에서는 여유가 큽니다. 문맥의 열 배가 넘습니다. 반대로 SWE-Features — 형제 PR 묶음을 문맥으로 쓰는 레짐 — 에서는 병렬 재표현을 열 벌 쓰면 임계가 원 문맥의 0.42배까지 좁아집니다. 원 문맥보다 짧은 요약조차 매 질의 비용을 늘린다는 뜻입니다. 여기서 제가 단정하는 것은 순서뿐입니다. SWE-Features가 최하위라는 것. 이건 두 방향 — 절감률 하락과 문맥 길이 증가 — 만으로 결정되므로 제가 가정한 값을 어떻게 골라도 뒤집히지 않습니다. 절대 임계치는 단정하지 않습니다. 그 값의 입력 중 여럿이 논문에 없어 제가 가정했고, 하나는 그림 축에서 읽었습니다.</a:t>
            </a:r>
            <a:endParaRPr/>
          </a:p>
          <a:p xmlns:a="http://schemas.openxmlformats.org/drawingml/2006/main">
            <a:r>
              <a:t/>
            </a:r>
            <a:endParaRPr/>
          </a:p>
          <a:p xmlns:a="http://schemas.openxmlformats.org/drawingml/2006/main">
            <a:r>
              <a:t>• 논문 회계: 세 레짐 모두 '경계 없음'</a:t>
            </a:r>
            <a:endParaRPr/>
          </a:p>
          <a:p xmlns:a="http://schemas.openxmlformats.org/drawingml/2006/main">
            <a:r>
              <a:t>• GSM-Sym: FLOPs·κ∥=1에서 문맥의 12배</a:t>
            </a:r>
            <a:endParaRPr/>
          </a:p>
          <a:p xmlns:a="http://schemas.openxmlformats.org/drawingml/2006/main">
            <a:r>
              <a:t>• AIME: 여유가 크지만 문맥이 비는 인스턴스 포함</a:t>
            </a:r>
            <a:endParaRPr/>
          </a:p>
          <a:p xmlns:a="http://schemas.openxmlformats.org/drawingml/2006/main">
            <a:r>
              <a:t>• SWE-Feat: κ∥=10이면 문맥의 0.42배까지 좁아진다</a:t>
            </a:r>
            <a:endParaRPr/>
          </a:p>
          <a:p xmlns:a="http://schemas.openxmlformats.org/drawingml/2006/main">
            <a:r>
              <a:t>• 단정: 순서만. 두 방향으로 결정되어 둔감하다</a:t>
            </a:r>
            <a:endParaRPr/>
          </a:p>
          <a:p xmlns:a="http://schemas.openxmlformats.org/drawingml/2006/main">
            <a:r>
              <a:t/>
            </a:r>
            <a:endParaRPr/>
          </a:p>
          <a:p xmlns:a="http://schemas.openxmlformats.org/drawingml/2006/main">
            <a:r>
              <a:t>[Sources]</a:t>
            </a:r>
            <a:endParaRPr/>
          </a:p>
          <a:p xmlns:a="http://schemas.openxmlformats.org/drawingml/2006/main">
            <a:r>
              <a:t>study-kr-stc ch25 §25.3.2 판정 4</a:t>
            </a:r>
            <a:endParaRPr/>
          </a:p>
          <a:p xmlns:a="http://schemas.openxmlformats.org/drawingml/2006/main">
            <a:r>
              <a:t>experiments/stc/X1 findings F2, F3, F4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STC2-084 — X1 민감도 — 회계를 지탱하는 가장 무거운 상수가 가장 근거가 얇다</a:t>
            </a:r>
            <a:endParaRPr/>
          </a:p>
          <a:p xmlns:a="http://schemas.openxmlformats.org/drawingml/2006/main">
            <a:r>
              <a:t>핵심 결론: κ_cost가 1에 가까워지면 임계가 10분의 1</a:t>
            </a:r>
            <a:endParaRPr/>
          </a:p>
          <a:p xmlns:a="http://schemas.openxmlformats.org/drawingml/2006/main">
            <a:r>
              <a:t/>
            </a:r>
            <a:endParaRPr/>
          </a:p>
          <a:p xmlns:a="http://schemas.openxmlformats.org/drawingml/2006/main">
            <a:r>
              <a:t>[발표 대본]</a:t>
            </a:r>
            <a:endParaRPr/>
          </a:p>
          <a:p xmlns:a="http://schemas.openxmlformats.org/drawingml/2006/main">
            <a:r>
              <a:t>민감도 하나만 보겠습니다. 임계는 κ_cost에 정비례합니다. 그런데 이 값의 근거는 측정이 아니라 인용입니다. 논문은 latency-optimized inference가 대략 10배 비쌀 수 있다고 쓰고 벤더 문서를 각주로 답니다. 재는 실험도 민감도 분석도 없습니다. 그리고 이 값이 틀리는 방향이 예측 가능합니다. wake 국면도 배치로 묶어 throughput-optimized로 돌리는 구성 — 즉 이 방법이 상정하는 '문맥이 먼저 오고 질의가 나중에 오는' 비대화형 워크로드에서 자연스러운 구성 — 에서는 κ_cost가 1에 가까워집니다. 그러면 임계가 10분의 1로 줄어듭니다. 이 방향의 민감도는 논문 어디에도 검토되어 있지 않습니다. 제가 여기서 단정하는 것은 비례 관계 하나입니다. 배수들은 제가 가정한 문맥 길이 위에서 그 비례를 읽은 방향성 값입니다.</a:t>
            </a:r>
            <a:endParaRPr/>
          </a:p>
          <a:p xmlns:a="http://schemas.openxmlformats.org/drawingml/2006/main">
            <a:r>
              <a:t/>
            </a:r>
            <a:endParaRPr/>
          </a:p>
          <a:p xmlns:a="http://schemas.openxmlformats.org/drawingml/2006/main">
            <a:r>
              <a:t>• κ=1 → 0.42배: </a:t>
            </a:r>
            <a:endParaRPr/>
          </a:p>
          <a:p xmlns:a="http://schemas.openxmlformats.org/drawingml/2006/main">
            <a:r>
              <a:t>• κ=2 → 0.83배: </a:t>
            </a:r>
            <a:endParaRPr/>
          </a:p>
          <a:p xmlns:a="http://schemas.openxmlformats.org/drawingml/2006/main">
            <a:r>
              <a:t>• κ=5 → 2.08배: </a:t>
            </a:r>
            <a:endParaRPr/>
          </a:p>
          <a:p xmlns:a="http://schemas.openxmlformats.org/drawingml/2006/main">
            <a:r>
              <a:t>• κ=10 → 4.17배: </a:t>
            </a:r>
            <a:endParaRPr/>
          </a:p>
          <a:p xmlns:a="http://schemas.openxmlformats.org/drawingml/2006/main">
            <a:r>
              <a:t>• κ=20 → 8.33배: </a:t>
            </a:r>
            <a:endParaRPr/>
          </a:p>
          <a:p xmlns:a="http://schemas.openxmlformats.org/drawingml/2006/main">
            <a:r>
              <a:t/>
            </a:r>
            <a:endParaRPr/>
          </a:p>
          <a:p xmlns:a="http://schemas.openxmlformats.org/drawingml/2006/main">
            <a:r>
              <a:t>[Sources]</a:t>
            </a:r>
            <a:endParaRPr/>
          </a:p>
          <a:p xmlns:a="http://schemas.openxmlformats.org/drawingml/2006/main">
            <a:r>
              <a:t>study-kr-stc ch25 §25.3.4</a:t>
            </a:r>
            <a:endParaRPr/>
          </a:p>
          <a:p xmlns:a="http://schemas.openxmlformats.org/drawingml/2006/main">
            <a:r>
              <a:t>experiments/stc/X1 findings F5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STC2-085 — X2 설계 — 아무도 바이트로 보고하지 않은 값을 복원한다</a:t>
            </a:r>
            <a:endParaRPr/>
          </a:p>
          <a:p xmlns:a="http://schemas.openxmlformats.org/drawingml/2006/main">
            <a:r>
              <a:t>핵심 결론: corpus 전체에서 상태 용량을 바이트로 보고한 논문이 0편이다. 그 사실 자체가 첫 결과다</a:t>
            </a:r>
            <a:endParaRPr/>
          </a:p>
          <a:p xmlns:a="http://schemas.openxmlformats.org/drawingml/2006/main">
            <a:r>
              <a:t/>
            </a:r>
            <a:endParaRPr/>
          </a:p>
          <a:p xmlns:a="http://schemas.openxmlformats.org/drawingml/2006/main">
            <a:r>
              <a:t>[발표 대본]</a:t>
            </a:r>
            <a:endParaRPr/>
          </a:p>
          <a:p xmlns:a="http://schemas.openxmlformats.org/drawingml/2006/main">
            <a:r>
              <a:t>X2입니다. 시간이 아니라 바이트로 잽니다. 출발점은 부재입니다. corpus 전체에서 상태 용량을 사용자당 바이트로 보고한 논문이 0편입니다. 그래서 구성 파라미터에서 복원하는 수밖에 없습니다. 앵커는 둘입니다. 앞 모노그래프가 쓴 1.3B와, Θ-경로 논문들이 실제로 실험한 규모대의 dense 8B. 여기서 각 행의 인식론적 지위가 다르다는 것을 명시해야 합니다. Θ delta의 바이트는 구성에서 정확히 나옵니다 — 근사가 없습니다. E-경로 바이트는 가정치입니다 — 논문들이 토큰 수만 보고하니까요. 그리고 dense 앵커의 W 행은 반사실입니다 — dense transformer에는 W층이 없습니다. 밀도 쪽은 분자와 분모가 비대칭입니다. 분자는 하한이고 저랭크로의 외삽인데, 분모는 dtype이 정확히 정합니다. 이 비대칭이 뒤에서 결정적으로 작동합니다.</a:t>
            </a:r>
            <a:endParaRPr/>
          </a:p>
          <a:p xmlns:a="http://schemas.openxmlformats.org/drawingml/2006/main">
            <a:r>
              <a:t/>
            </a:r>
            <a:endParaRPr/>
          </a:p>
          <a:p xmlns:a="http://schemas.openxmlformats.org/drawingml/2006/main">
            <a:r>
              <a:t>• 앵커: 1.3B와 dense-8B</a:t>
            </a:r>
            <a:endParaRPr/>
          </a:p>
          <a:p xmlns:a="http://schemas.openxmlformats.org/drawingml/2006/main">
            <a:r>
              <a:t>• Θ delta: 구성에서 정확</a:t>
            </a:r>
            <a:endParaRPr/>
          </a:p>
          <a:p xmlns:a="http://schemas.openxmlformats.org/drawingml/2006/main">
            <a:r>
              <a:t>• E 저장: 토큰 → 바이트 가정</a:t>
            </a:r>
            <a:endParaRPr/>
          </a:p>
          <a:p xmlns:a="http://schemas.openxmlformats.org/drawingml/2006/main">
            <a:r>
              <a:t>• W 상태: dense 행은 반사실</a:t>
            </a:r>
            <a:endParaRPr/>
          </a:p>
          <a:p xmlns:a="http://schemas.openxmlformats.org/drawingml/2006/main">
            <a:r>
              <a:t>• 분자: 하한 · 외삽</a:t>
            </a:r>
            <a:endParaRPr/>
          </a:p>
          <a:p xmlns:a="http://schemas.openxmlformats.org/drawingml/2006/main">
            <a:r>
              <a:t>• 분모: dtype · 정확</a:t>
            </a:r>
            <a:endParaRPr/>
          </a:p>
          <a:p xmlns:a="http://schemas.openxmlformats.org/drawingml/2006/main">
            <a:r>
              <a:t/>
            </a:r>
            <a:endParaRPr/>
          </a:p>
          <a:p xmlns:a="http://schemas.openxmlformats.org/drawingml/2006/main">
            <a:r>
              <a:t>[Sources]</a:t>
            </a:r>
            <a:endParaRPr/>
          </a:p>
          <a:p xmlns:a="http://schemas.openxmlformats.org/drawingml/2006/main">
            <a:r>
              <a:t>experiments/stc/X2-state-capacity-accounting/result.json meta</a:t>
            </a:r>
            <a:endParaRPr/>
          </a:p>
          <a:p xmlns:a="http://schemas.openxmlformats.org/drawingml/2006/main">
            <a:r>
              <a:t>study-kr-stc ch26 §26.2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STC2-086 — X2 결과 ① — 세 경로의 상태가 약 5.5 자릿수 벌어진다</a:t>
            </a:r>
            <a:endParaRPr/>
          </a:p>
          <a:p xmlns:a="http://schemas.openxmlformats.org/drawingml/2006/main">
            <a:r>
              <a:t>핵심 결론: 두 앵커에서 순서가 같고, 큰 앵커에서 격차가 더 벌어진다</a:t>
            </a:r>
            <a:endParaRPr/>
          </a:p>
          <a:p xmlns:a="http://schemas.openxmlformats.org/drawingml/2006/main">
            <a:r>
              <a:t/>
            </a:r>
            <a:endParaRPr/>
          </a:p>
          <a:p xmlns:a="http://schemas.openxmlformats.org/drawingml/2006/main">
            <a:r>
              <a:t>[발표 대본]</a:t>
            </a:r>
            <a:endParaRPr/>
          </a:p>
          <a:p xmlns:a="http://schemas.openxmlformats.org/drawingml/2006/main">
            <a:r>
              <a:t>결과 첫째입니다. dense 8B 앵커에서 E가 56 킬로바이트, Θ delta가 16.78 메가바이트, W가 17.18 기가바이트입니다. 양 끝의 비가 약 5.5 자릿수입니다. 그리고 이 격차의 원인이 중요합니다. 세 경로가 서로 다른 변수를 타기 때문입니다. E는 저장한 항목 수에 비례하고 모델과 무관합니다. Θ delta는 폭 d에 선형입니다. W는 d의 제곱입니다. 그래서 모델이 커질수록 세 경로의 상태는 서로 멀어집니다. 다시 강조합니다 — 제가 단정하는 것은 자릿수와 순서이지 절대 바이트가 아닙니다. 앵커 구성이 제 선택이므로 다른 구성에서 다른 값이 나오는 건 당연합니다. 반증이 되는 것은 자릿수 순서가 어긋나는 경우입니다. 그리고 dense 앵커의 W 행은 반사실입니다. '같은 폭·같은 깊이의 TTT류 모델이라면'이라는 조건문의 값이지 Llama급 모델이 실제로 들고 있는 상태량이 아닙니다.</a:t>
            </a:r>
            <a:endParaRPr/>
          </a:p>
          <a:p xmlns:a="http://schemas.openxmlformats.org/drawingml/2006/main">
            <a:r>
              <a:t/>
            </a:r>
            <a:endParaRPr/>
          </a:p>
          <a:p xmlns:a="http://schemas.openxmlformats.org/drawingml/2006/main">
            <a:r>
              <a:t>• E 텍스트: 56.0 KB · 콜드 · 세션~사용자 (가정)</a:t>
            </a:r>
            <a:endParaRPr/>
          </a:p>
          <a:p xmlns:a="http://schemas.openxmlformats.org/drawingml/2006/main">
            <a:r>
              <a:t>• Θ delta: 16.78 MB · 웜 · 사용자 영속 (구성에서 정확)</a:t>
            </a:r>
            <a:endParaRPr/>
          </a:p>
          <a:p xmlns:a="http://schemas.openxmlformats.org/drawingml/2006/main">
            <a:r>
              <a:t>• Θ 직접 편집: delta 0 · 개인화하면 16.0 GB</a:t>
            </a:r>
            <a:endParaRPr/>
          </a:p>
          <a:p xmlns:a="http://schemas.openxmlformats.org/drawingml/2006/main">
            <a:r>
              <a:t>• W fast weights: 17.18 GB · 핫 · 세션 (dense 행은 반사실)</a:t>
            </a:r>
            <a:endParaRPr/>
          </a:p>
          <a:p xmlns:a="http://schemas.openxmlformats.org/drawingml/2006/main">
            <a:r>
              <a:t>• 지수: E∝n · Θ∝r·d·L · W∝d²·L</a:t>
            </a:r>
            <a:endParaRPr/>
          </a:p>
          <a:p xmlns:a="http://schemas.openxmlformats.org/drawingml/2006/main">
            <a:r>
              <a:t/>
            </a:r>
            <a:endParaRPr/>
          </a:p>
          <a:p xmlns:a="http://schemas.openxmlformats.org/drawingml/2006/main">
            <a:r>
              <a:t>[Sources]</a:t>
            </a:r>
            <a:endParaRPr/>
          </a:p>
          <a:p xmlns:a="http://schemas.openxmlformats.org/drawingml/2006/main">
            <a:r>
              <a:t>study-kr-stc ch26 §26.3.1–26.3.2</a:t>
            </a:r>
            <a:endParaRPr/>
          </a:p>
          <a:p xmlns:a="http://schemas.openxmlformats.org/drawingml/2006/main">
            <a:r>
              <a:t>experiments/stc/X2 F2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STC2-087 — X2 결과 ② — 정보 밀도를 정하는 것은 dtype이다</a:t>
            </a:r>
            <a:endParaRPr/>
          </a:p>
          <a:p xmlns:a="http://schemas.openxmlformats.org/drawingml/2006/main">
            <a:r>
              <a:t>핵심 결론: 저장 폭을 절반으로 내리면 밀도가 정확히 두 배가 된다. 이 진술은 분자의 지위와 무관하게 성립한다</a:t>
            </a:r>
            <a:endParaRPr/>
          </a:p>
          <a:p xmlns:a="http://schemas.openxmlformats.org/drawingml/2006/main">
            <a:r>
              <a:t/>
            </a:r>
            <a:endParaRPr/>
          </a:p>
          <a:p xmlns:a="http://schemas.openxmlformats.org/drawingml/2006/main">
            <a:r>
              <a:t>[발표 대본]</a:t>
            </a:r>
            <a:endParaRPr/>
          </a:p>
          <a:p xmlns:a="http://schemas.openxmlformats.org/drawingml/2006/main">
            <a:r>
              <a:t>결과 둘째입니다. 그 바이트에 무엇이 담기는가. 파라미터 하나에 담기는 데이터셋 정보는 최소 3.64 bits인데, bf16 저장은 담긴 양이 얼마든 16 bits를 씁니다. 여기서 단정할 수 있는 것과 없는 것이 갈립니다. 단정할 수 있는 것은 세 행의 배수입니다 — 분자가 무엇이든 분모는 dtype이 정하므로, 저장 폭을 절반으로 내리면 저장 바이트당 정보 밀도가 정확히 두 배가 됩니다. 이 진술은 3.64가 하한이든 상한이든, 심지어 완전히 다른 수로 바뀌어도 성립합니다. 단정할 수 없는 것은 세 값 자체입니다. 1.82는 '적어도 1.82'이지 '1.82'가 아닙니다. 그러므로 결론은 이렇습니다 — delta 양자화는 Θ-경로 배포의 최적화 항목이 아니라 전제입니다. 그리고 corpus의 어느 논문도 delta를 양자화한 상태에서 지식 회수율을 측정하지 않았습니다.</a:t>
            </a:r>
            <a:endParaRPr/>
          </a:p>
          <a:p xmlns:a="http://schemas.openxmlformats.org/drawingml/2006/main">
            <a:r>
              <a:t/>
            </a:r>
            <a:endParaRPr/>
          </a:p>
          <a:p xmlns:a="http://schemas.openxmlformats.org/drawingml/2006/main">
            <a:r>
              <a:t>• bf16: 16.78 MB · 1.82 bits per byte</a:t>
            </a:r>
            <a:endParaRPr/>
          </a:p>
          <a:p xmlns:a="http://schemas.openxmlformats.org/drawingml/2006/main">
            <a:r>
              <a:t>• int8: 8.39 MB · 3.64</a:t>
            </a:r>
            <a:endParaRPr/>
          </a:p>
          <a:p xmlns:a="http://schemas.openxmlformats.org/drawingml/2006/main">
            <a:r>
              <a:t>• int4: 4.19 MB · 7.28</a:t>
            </a:r>
            <a:endParaRPr/>
          </a:p>
          <a:p xmlns:a="http://schemas.openxmlformats.org/drawingml/2006/main">
            <a:r>
              <a:t>• 유보: 세 값 전부 외삽된 양의 하한이다</a:t>
            </a:r>
            <a:endParaRPr/>
          </a:p>
          <a:p xmlns:a="http://schemas.openxmlformats.org/drawingml/2006/main">
            <a:r>
              <a:t/>
            </a:r>
            <a:endParaRPr/>
          </a:p>
          <a:p xmlns:a="http://schemas.openxmlformats.org/drawingml/2006/main">
            <a:r>
              <a:t>[Sources]</a:t>
            </a:r>
            <a:endParaRPr/>
          </a:p>
          <a:p xmlns:a="http://schemas.openxmlformats.org/drawingml/2006/main">
            <a:r>
              <a:t>study-kr-stc ch26 §26.3.3</a:t>
            </a:r>
            <a:endParaRPr/>
          </a:p>
          <a:p xmlns:a="http://schemas.openxmlformats.org/drawingml/2006/main">
            <a:r>
              <a:t>experiments/stc/X2 Q2 what_survives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STC2-088 — X2 결과 ③ — 사용자 수를 곱하면 어느 계층이 문제가 되는가</a:t>
            </a:r>
            <a:endParaRPr/>
          </a:p>
          <a:p xmlns:a="http://schemas.openxmlformats.org/drawingml/2006/main">
            <a:r>
              <a:t>핵심 결론: 직접 편집 개인화는 세 자릿수가 뛴다</a:t>
            </a:r>
            <a:endParaRPr/>
          </a:p>
          <a:p xmlns:a="http://schemas.openxmlformats.org/drawingml/2006/main">
            <a:r>
              <a:t/>
            </a:r>
            <a:endParaRPr/>
          </a:p>
          <a:p xmlns:a="http://schemas.openxmlformats.org/drawingml/2006/main">
            <a:r>
              <a:t>[발표 대본]</a:t>
            </a:r>
            <a:endParaRPr/>
          </a:p>
          <a:p xmlns:a="http://schemas.openxmlformats.org/drawingml/2006/main">
            <a:r>
              <a:t>결과 셋째입니다. 사용자당 수 MB는 작습니다. 문제는 개수입니다. 사용자 백만 명에 rank 16 bf16이면 웜 스토리지가 16.8 테라바이트입니다. int4로 내리면 4.2. rank 64면 67. 그런데 직접 편집으로 개인화하면 같은 사용자 수에서 16 페타바이트입니다. 세 자릿수가 뜁니다. 그리고 E-경로는 다른 세계에 있습니다 — 0.056 테라바이트입니다. 여기서 단정하는 것은 TB 값이 아니라 선형이라는 모양과 두 방식 사이의 세 자릿수 격차입니다. 그리고 실무 결론 하나 — 16.8 테라바이트는 오늘의 데이터센터에서 제약이 아닙니다. 제약은 총량이 아니라 그 안의 16 메가바이트 하나를 요청 지연 안에 끌어오는 것입니다.</a:t>
            </a:r>
            <a:endParaRPr/>
          </a:p>
          <a:p xmlns:a="http://schemas.openxmlformats.org/drawingml/2006/main">
            <a:r>
              <a:t/>
            </a:r>
            <a:endParaRPr/>
          </a:p>
          <a:p xmlns:a="http://schemas.openxmlformats.org/drawingml/2006/main">
            <a:r>
              <a:t>• r=16 bf16 16.8 TB: </a:t>
            </a:r>
            <a:endParaRPr/>
          </a:p>
          <a:p xmlns:a="http://schemas.openxmlformats.org/drawingml/2006/main">
            <a:r>
              <a:t>• r=16 int4 4.2 TB: </a:t>
            </a:r>
            <a:endParaRPr/>
          </a:p>
          <a:p xmlns:a="http://schemas.openxmlformats.org/drawingml/2006/main">
            <a:r>
              <a:t>• r=64 bf16 67 TB: </a:t>
            </a:r>
            <a:endParaRPr/>
          </a:p>
          <a:p xmlns:a="http://schemas.openxmlformats.org/drawingml/2006/main">
            <a:r>
              <a:t>• 직접 편집 16,000 TB: </a:t>
            </a:r>
            <a:endParaRPr/>
          </a:p>
          <a:p xmlns:a="http://schemas.openxmlformats.org/drawingml/2006/main">
            <a:r>
              <a:t>• E 텍스트 0.056 TB: </a:t>
            </a:r>
            <a:endParaRPr/>
          </a:p>
          <a:p xmlns:a="http://schemas.openxmlformats.org/drawingml/2006/main">
            <a:r>
              <a:t/>
            </a:r>
            <a:endParaRPr/>
          </a:p>
          <a:p xmlns:a="http://schemas.openxmlformats.org/drawingml/2006/main">
            <a:r>
              <a:t>[Sources]</a:t>
            </a:r>
            <a:endParaRPr/>
          </a:p>
          <a:p xmlns:a="http://schemas.openxmlformats.org/drawingml/2006/main">
            <a:r>
              <a:t>study-kr-stc ch26 §26.3.5</a:t>
            </a:r>
            <a:endParaRPr/>
          </a:p>
          <a:p xmlns:a="http://schemas.openxmlformats.org/drawingml/2006/main">
            <a:r>
              <a:t>experiments/stc/X2 Q3, F4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STC2-089 — X3 설계 — B_s가 어떻게 보고되는지를 규칙으로 전수 감사한다</a:t>
            </a:r>
            <a:endParaRPr/>
          </a:p>
          <a:p xmlns:a="http://schemas.openxmlformats.org/drawingml/2006/main">
            <a:r>
              <a:t>핵심 결론: 1차 감사 대상은 원문이 아니라 deep-read 노트다. 노트가 놓친 값은 이 감사도 놓친다</a:t>
            </a:r>
            <a:endParaRPr/>
          </a:p>
          <a:p xmlns:a="http://schemas.openxmlformats.org/drawingml/2006/main">
            <a:r>
              <a:t/>
            </a:r>
            <a:endParaRPr/>
          </a:p>
          <a:p xmlns:a="http://schemas.openxmlformats.org/drawingml/2006/main">
            <a:r>
              <a:t>[발표 대본]</a:t>
            </a:r>
            <a:endParaRPr/>
          </a:p>
          <a:p xmlns:a="http://schemas.openxmlformats.org/drawingml/2006/main">
            <a:r>
              <a:t>X3입니다. 이건 성능도 비용도 재지 않습니다. 문헌의 상태를 세는 감사입니다. 대상은 제가 원문 대조로 읽은 29편의 노트이고, 각 논문의 B_s 보고 형태를 여섯 칸 중 하나에 배정합니다 — 절대 FLOPs·토큰, optimizer step, 벽시계, 눈금 없는 서수 knob, 상대 비율, 없음. 분류는 키워드와 부정 규칙의 산물입니다. 그래서 개별 라벨은 틀릴 수 있고, 모든 라벨에 증거 스니펫과 모호성 플래그를 붙여 검증 가능하게 했습니다. 그리고 이 감사의 가장 약한 고리를 제가 먼저 말씀드립니다. 1차 대상이 원문이 아니라 제 노트입니다. 노트가 놓친 값은 이 감사도 놓칩니다. 원문에 있는데 노트에 없었다면 계수가 틀린 것이고, 그 경우 제 잘못입니다.</a:t>
            </a:r>
            <a:endParaRPr/>
          </a:p>
          <a:p xmlns:a="http://schemas.openxmlformats.org/drawingml/2006/main">
            <a:r>
              <a:t/>
            </a:r>
            <a:endParaRPr/>
          </a:p>
          <a:p xmlns:a="http://schemas.openxmlformats.org/drawingml/2006/main">
            <a:r>
              <a:t>• 대상: 노트 29편</a:t>
            </a:r>
            <a:endParaRPr/>
          </a:p>
          <a:p xmlns:a="http://schemas.openxmlformats.org/drawingml/2006/main">
            <a:r>
              <a:t>• 여섯 칸: 절대 → 없음</a:t>
            </a:r>
            <a:endParaRPr/>
          </a:p>
          <a:p xmlns:a="http://schemas.openxmlformats.org/drawingml/2006/main">
            <a:r>
              <a:t>• 규칙: 키워드 + 부정</a:t>
            </a:r>
            <a:endParaRPr/>
          </a:p>
          <a:p xmlns:a="http://schemas.openxmlformats.org/drawingml/2006/main">
            <a:r>
              <a:t>• 결정론: sha256 동일</a:t>
            </a:r>
            <a:endParaRPr/>
          </a:p>
          <a:p xmlns:a="http://schemas.openxmlformats.org/drawingml/2006/main">
            <a:r>
              <a:t>• 한계 ①: 노트 매개</a:t>
            </a:r>
            <a:endParaRPr/>
          </a:p>
          <a:p xmlns:a="http://schemas.openxmlformats.org/drawingml/2006/main">
            <a:r>
              <a:t>• 한계 ②: 문자/4 근사</a:t>
            </a:r>
            <a:endParaRPr/>
          </a:p>
          <a:p xmlns:a="http://schemas.openxmlformats.org/drawingml/2006/main">
            <a:r>
              <a:t/>
            </a:r>
            <a:endParaRPr/>
          </a:p>
          <a:p xmlns:a="http://schemas.openxmlformats.org/drawingml/2006/main">
            <a:r>
              <a:t>[Sources]</a:t>
            </a:r>
            <a:endParaRPr/>
          </a:p>
          <a:p xmlns:a="http://schemas.openxmlformats.org/drawingml/2006/main">
            <a:r>
              <a:t>experiments/stc/X3-budget-axis/result.json meta</a:t>
            </a:r>
            <a:endParaRPr/>
          </a:p>
          <a:p xmlns:a="http://schemas.openxmlformats.org/drawingml/2006/main">
            <a:r>
              <a:t>study-kr-stc ch28 §28.2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STC2-090 — X3 결과 — B_s는 이 corpus에서 축이 아니라 각주다</a:t>
            </a:r>
            <a:endParaRPr/>
          </a:p>
          <a:p xmlns:a="http://schemas.openxmlformats.org/drawingml/2006/main">
            <a:r>
              <a:t>핵심 결론: 그 19편 중 9편은 '보고 안 함'이 아니라 오프라인 패스 자체가 없어 B_s가 정의되지 않는 경우다</a:t>
            </a:r>
            <a:endParaRPr/>
          </a:p>
          <a:p xmlns:a="http://schemas.openxmlformats.org/drawingml/2006/main">
            <a:r>
              <a:t/>
            </a:r>
            <a:endParaRPr/>
          </a:p>
          <a:p xmlns:a="http://schemas.openxmlformats.org/drawingml/2006/main">
            <a:r>
              <a:t>[발표 대본]</a:t>
            </a:r>
            <a:endParaRPr/>
          </a:p>
          <a:p xmlns:a="http://schemas.openxmlformats.org/drawingml/2006/main">
            <a:r>
              <a:t>결과입니다. 29편 중 B_s를 절대 FLOPs 또는 토큰으로 인쇄한 논문이 1편입니다. 그리고 그 한 편은 상각을 주장하지 않는 논문입니다. 과제당 3748.4 토큰인데, 그 논문에서 각 과제는 자기 자신의 문맥이라 N_q가 1입니다. 5편은 optimizer step, 2편은 벽시계, 2편은 눈금 없는 서수 손잡이입니다. 그리고 19편이 침묵합니다. 여기서 중요한 구분 하나. 그 19편 중 9편은 '보고하지 않았다'가 아니라 질의 전 오프라인 패스 자체가 없어 B_s가 정의되지 않는 경우입니다. 그리고 그 아홉은 판별식 불충족군과 사실상 겹칩니다. 이게 재미있는 이유는 두 판정이 서로 다른 필드에서 독립으로 나왔기 때문입니다. 판별식은 기제 서술을 읽었고 이 감사는 비용 칸만 읽었습니다. 방향이 같다는 것은 판별식 쪽의 독립 확인입니다. 마지막으로 — 이 라인에 이름을 준 논문의 전문에서 'FLOP'은 0회 나옵니다. 상각 논증의 분자에 숫자가 없습니다.</a:t>
            </a:r>
            <a:endParaRPr/>
          </a:p>
          <a:p xmlns:a="http://schemas.openxmlformats.org/drawingml/2006/main">
            <a:r>
              <a:t/>
            </a:r>
            <a:endParaRPr/>
          </a:p>
          <a:p xmlns:a="http://schemas.openxmlformats.org/drawingml/2006/main">
            <a:r>
              <a:t>• 절대 1편: ReasoningBank 과제당 3748.4토큰. 상각 주장 안 함</a:t>
            </a:r>
            <a:endParaRPr/>
          </a:p>
          <a:p xmlns:a="http://schemas.openxmlformats.org/drawingml/2006/main">
            <a:r>
              <a:t>• step 5편: 학습 논문의 서식을 물려받은 경로들</a:t>
            </a:r>
            <a:endParaRPr/>
          </a:p>
          <a:p xmlns:a="http://schemas.openxmlformats.org/drawingml/2006/main">
            <a:r>
              <a:t>• 벽시계 2편: MFU 보고가 1편이라 FLOPs로 옮길 다리가 없다</a:t>
            </a:r>
            <a:endParaRPr/>
          </a:p>
          <a:p xmlns:a="http://schemas.openxmlformats.org/drawingml/2006/main">
            <a:r>
              <a:t>• knob 2편: 눈금 없는 비례 손잡이만. Letta STC가 여기</a:t>
            </a:r>
            <a:endParaRPr/>
          </a:p>
          <a:p xmlns:a="http://schemas.openxmlformats.org/drawingml/2006/main">
            <a:r>
              <a:t>• 없음 19편: 그중 9편은 애초에 B_s가 정의되지 않는다</a:t>
            </a:r>
            <a:endParaRPr/>
          </a:p>
          <a:p xmlns:a="http://schemas.openxmlformats.org/drawingml/2006/main">
            <a:r>
              <a:t/>
            </a:r>
            <a:endParaRPr/>
          </a:p>
          <a:p xmlns:a="http://schemas.openxmlformats.org/drawingml/2006/main">
            <a:r>
              <a:t>[Sources]</a:t>
            </a:r>
            <a:endParaRPr/>
          </a:p>
          <a:p xmlns:a="http://schemas.openxmlformats.org/drawingml/2006/main">
            <a:r>
              <a:t>study-kr-stc ch28 §28.2.1</a:t>
            </a:r>
            <a:endParaRPr/>
          </a:p>
          <a:p xmlns:a="http://schemas.openxmlformats.org/drawingml/2006/main">
            <a:r>
              <a:t>experiments/stc/X3 findings F1, F1b, F2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STC2-091 — X4 설계 — 반복 (U-Θ)를 최소 모형에서 K라운드 돌린다</a:t>
            </a:r>
            <a:endParaRPr/>
          </a:p>
          <a:p xmlns:a="http://schemas.openxmlformats.org/drawingml/2006/main">
            <a:r>
              <a:t>핵심 결론: 이송 가능한 것은 함수형·부호·조건 간 순서·crossover의 존재와 이동 방향뿐이다</a:t>
            </a:r>
            <a:endParaRPr/>
          </a:p>
          <a:p xmlns:a="http://schemas.openxmlformats.org/drawingml/2006/main">
            <a:r>
              <a:t/>
            </a:r>
            <a:endParaRPr/>
          </a:p>
          <a:p xmlns:a="http://schemas.openxmlformats.org/drawingml/2006/main">
            <a:r>
              <a:t>[발표 대본]</a:t>
            </a:r>
            <a:endParaRPr/>
          </a:p>
          <a:p xmlns:a="http://schemas.openxmlformats.org/drawingml/2006/main">
            <a:r>
              <a:t>마지막 실험 X4입니다. 다시 강조합니다 — 이건 LLM 실험이 아닙니다. 두 부분입니다. PART A는 가우시안 위치 모형입니다. 설계행렬이 아예 없는 문제인데, 여기서 model collapse의 세 함수형이 그대로 재유도되면 그 결과는 회귀의 성질이 아니라 데이터 스케줄의 성질입니다. PART B는 선형 연상기억입니다. 키에서 값으로 가는 사상을 순차적으로 덮어씁니다. adapter를 merge하는 순차 (U-Θ)의 구조를 보존하는 최소 모형입니다. 예산은 정합시킵니다. replay 혼합비를 쓸어도 라운드당 항목 수와 gradient step 수를 고정합니다. 원 논문의 'steps are matched, not tokens' 규율입니다. 그리고 이 모형이 할 수 없는 것 — 합성과 함의입니다. 선형 사상에 그 기제가 없습니다. 그래서 생성 절반은 다루지 않고 생존 절반만 다룹니다. 이송 가능한 것은 부호와 모양과 순서뿐입니다. 라운드 수도 퍼센트도 옮기지 않습니다.</a:t>
            </a:r>
            <a:endParaRPr/>
          </a:p>
          <a:p xmlns:a="http://schemas.openxmlformats.org/drawingml/2006/main">
            <a:r>
              <a:t/>
            </a:r>
            <a:endParaRPr/>
          </a:p>
          <a:p xmlns:a="http://schemas.openxmlformats.org/drawingml/2006/main">
            <a:r>
              <a:t>• PART A: 가우시안 위치</a:t>
            </a:r>
            <a:endParaRPr/>
          </a:p>
          <a:p xmlns:a="http://schemas.openxmlformats.org/drawingml/2006/main">
            <a:r>
              <a:t>• PART B: 선형 연상기억</a:t>
            </a:r>
            <a:endParaRPr/>
          </a:p>
          <a:p xmlns:a="http://schemas.openxmlformats.org/drawingml/2006/main">
            <a:r>
              <a:t>• 왜: 설계행렬 없이 재유도</a:t>
            </a:r>
            <a:endParaRPr/>
          </a:p>
          <a:p xmlns:a="http://schemas.openxmlformats.org/drawingml/2006/main">
            <a:r>
              <a:t>• 예산: 항목 · step 고정</a:t>
            </a:r>
            <a:endParaRPr/>
          </a:p>
          <a:p xmlns:a="http://schemas.openxmlformats.org/drawingml/2006/main">
            <a:r>
              <a:t>• 못 함: 합성 · 함의</a:t>
            </a:r>
            <a:endParaRPr/>
          </a:p>
          <a:p xmlns:a="http://schemas.openxmlformats.org/drawingml/2006/main">
            <a:r>
              <a:t>• 금지: 절대치 전부</a:t>
            </a:r>
            <a:endParaRPr/>
          </a:p>
          <a:p xmlns:a="http://schemas.openxmlformats.org/drawingml/2006/main">
            <a:r>
              <a:t/>
            </a:r>
            <a:endParaRPr/>
          </a:p>
          <a:p xmlns:a="http://schemas.openxmlformats.org/drawingml/2006/main">
            <a:r>
              <a:t>[Sources]</a:t>
            </a:r>
            <a:endParaRPr/>
          </a:p>
          <a:p xmlns:a="http://schemas.openxmlformats.org/drawingml/2006/main">
            <a:r>
              <a:t>experiments/stc/X4-consolidation-decay/result.json meta</a:t>
            </a:r>
            <a:endParaRPr/>
          </a:p>
          <a:p xmlns:a="http://schemas.openxmlformats.org/drawingml/2006/main">
            <a:r>
              <a:t>study-kr-stc ch29 §29.2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STC2-092 — X4 결과 — 이송해야 할 양은 ρ가 아니라 crossover다</a:t>
            </a:r>
            <a:endParaRPr/>
          </a:p>
          <a:p xmlns:a="http://schemas.openxmlformats.org/drawingml/2006/main">
            <a:r>
              <a:t>핵심 결론: replay는 보존된 원본에 앵커되어야 한다. 이 부호는 세 곳에서 독립적으로 나온다</a:t>
            </a:r>
            <a:endParaRPr/>
          </a:p>
          <a:p xmlns:a="http://schemas.openxmlformats.org/drawingml/2006/main">
            <a:r>
              <a:t/>
            </a:r>
            <a:endParaRPr/>
          </a:p>
          <a:p xmlns:a="http://schemas.openxmlformats.org/drawingml/2006/main">
            <a:r>
              <a:t>[발표 대본]</a:t>
            </a:r>
            <a:endParaRPr/>
          </a:p>
          <a:p xmlns:a="http://schemas.openxmlformats.org/drawingml/2006/main">
            <a:r>
              <a:t>결과입니다. 다섯 가지만 옮기겠습니다. 전부 부호와 모양입니다. 첫째, 열화의 모양이 무엇을 재느냐로 갈립니다. 임계로 채점하는 과제 지표는 한동안 전혀 안 움직이다가 좁은 폭에서 무너집니다. 반면 쓰기가 만든 연속 신호는 첫 라운드부터 매끄럽게 깎입니다. 같은 루프의 같은 상태를 재는데 모양이 다릅니다. 그래서 둘째 — '라운드당 몇 퍼센트'라는 단일 비율로 ρ를 보고하는 관행 자체가 오도입니다. 이송해야 할 양은 crossover, 즉 성능이 기준선을 유지하는 마지막 라운드입니다. 셋째, replay 타깃을 보존된 원본으로 두면 모델의 현재 출력으로 두는 것보다 모든 혼합비에서 오래 버팁니다. 이 부호는 세 곳에서 독립적으로 나옵니다 — 제 최소모형, model collapse 이론, 그리고 원 논문의 frozen-teacher 대비. 넷째, 이중 해리. gold replay는 사실 유지를 사고 capability는 못 삽니다. self replay는 그 반대입니다. 'replay를 넣는다'는 하나의 처방이 아니라 서로 다른 것을 사는 두 처방입니다. 다섯째, 평평한 손실 곡선은 안정의 증거가 아닙니다. 1차 모멘트가 포화하는 동안 생성 분포의 퍼짐이 죽고 있을 수 있습니다.</a:t>
            </a:r>
            <a:endParaRPr/>
          </a:p>
          <a:p xmlns:a="http://schemas.openxmlformats.org/drawingml/2006/main">
            <a:r>
              <a:t/>
            </a:r>
            <a:endParaRPr/>
          </a:p>
          <a:p xmlns:a="http://schemas.openxmlformats.org/drawingml/2006/main">
            <a:r>
              <a:t>• 모양: 과제 지표는 절벽, 연속 신호는 매끄럽게</a:t>
            </a:r>
            <a:endParaRPr/>
          </a:p>
          <a:p xmlns:a="http://schemas.openxmlformats.org/drawingml/2006/main">
            <a:r>
              <a:t>• 이송량: 라운드당 비율이 아니라 마지막 라운드 K*</a:t>
            </a:r>
            <a:endParaRPr/>
          </a:p>
          <a:p xmlns:a="http://schemas.openxmlformats.org/drawingml/2006/main">
            <a:r>
              <a:t>• 앵커: gold replay가 모든 혼합비에서 오래 버틴다</a:t>
            </a:r>
            <a:endParaRPr/>
          </a:p>
          <a:p xmlns:a="http://schemas.openxmlformats.org/drawingml/2006/main">
            <a:r>
              <a:t>• 이중 해리: gold는 유지를, self는 역량을 산다</a:t>
            </a:r>
            <a:endParaRPr/>
          </a:p>
          <a:p xmlns:a="http://schemas.openxmlformats.org/drawingml/2006/main">
            <a:r>
              <a:t>• 1차 모멘트: 평평한 손실 곡선은 안정의 증거가 아니다</a:t>
            </a:r>
            <a:endParaRPr/>
          </a:p>
          <a:p xmlns:a="http://schemas.openxmlformats.org/drawingml/2006/main">
            <a:r>
              <a:t/>
            </a:r>
            <a:endParaRPr/>
          </a:p>
          <a:p xmlns:a="http://schemas.openxmlformats.org/drawingml/2006/main">
            <a:r>
              <a:t>[Sources]</a:t>
            </a:r>
            <a:endParaRPr/>
          </a:p>
          <a:p xmlns:a="http://schemas.openxmlformats.org/drawingml/2006/main">
            <a:r>
              <a:t>experiments/stc/X4 findings F3, F4, F5, F6, F7</a:t>
            </a:r>
            <a:endParaRPr/>
          </a:p>
          <a:p xmlns:a="http://schemas.openxmlformats.org/drawingml/2006/main">
            <a:r>
              <a:t>[Continual Facts §6.2]</a:t>
            </a:r>
            <a:endParaRPr/>
          </a:p>
          <a:p xmlns:a="http://schemas.openxmlformats.org/drawingml/2006/main">
            <a:r>
              <a:t>study-kr-stc ch29 §29.3.5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STC2-093 — 판정 ① — 이 범주는 A군 아홉 편이다</a:t>
            </a:r>
            <a:endParaRPr/>
          </a:p>
          <a:p xmlns:a="http://schemas.openxmlformats.org/drawingml/2006/main">
            <a:r>
              <a:t>핵심 결론: 논문의 자기 규정과 어긋나는 자리가 여럿 있고, 어긋나는 자리에서는 이 발표의 판정을 따른다</a:t>
            </a:r>
            <a:endParaRPr/>
          </a:p>
          <a:p xmlns:a="http://schemas.openxmlformats.org/drawingml/2006/main">
            <a:r>
              <a:t/>
            </a:r>
            <a:endParaRPr/>
          </a:p>
          <a:p xmlns:a="http://schemas.openxmlformats.org/drawingml/2006/main">
            <a:r>
              <a:t>[발표 대본]</a:t>
            </a:r>
            <a:endParaRPr/>
          </a:p>
          <a:p xmlns:a="http://schemas.openxmlformats.org/drawingml/2006/main">
            <a:r>
              <a:t>이제 판정입니다. 첫 판정은 대상의 확정입니다. 이 범주는 A군 아홉 편입니다. 판별식 네 조건을 모두 만족하는 절차만 sleep-time compute이고, B군 아홉 편은 인접 문헌이지 이 범주가 아닙니다. 이 판정은 조건부가 아닙니다. 논문의 자기 규정과 어긋나는 자리가 여럿 있고, 어긋나는 자리에서는 제 판정을 따릅니다 — 제목이 Θ-경로를 가리키면서 가중치를 한 번도 안 건드리는 논문은 E-경로이고, 산출물이 LoRA 모양인데 시계가 wake인 논문은 이 범주가 아닙니다. 그리고 배제가 아니라는 점을 다시 강조합니다. B군과 C군은 자리를 옮겨 증거가 됩니다 — Θ층 용량의 실측 공급원, W층 용량 천장의 차수, 자기생성 데이터의 제약, 반증 축.</a:t>
            </a:r>
            <a:endParaRPr/>
          </a:p>
          <a:p xmlns:a="http://schemas.openxmlformats.org/drawingml/2006/main">
            <a:r>
              <a:t/>
            </a:r>
            <a:endParaRPr/>
          </a:p>
          <a:p xmlns:a="http://schemas.openxmlformats.org/drawingml/2006/main">
            <a:r>
              <a:t>• 통과 9편: 확정 · 네 조건을 모두 만족한 절차만</a:t>
            </a:r>
            <a:endParaRPr/>
          </a:p>
          <a:p xmlns:a="http://schemas.openxmlformats.org/drawingml/2006/main">
            <a:r>
              <a:t>• 경계 1편: 서술 · 출발점으로 쓰되 통과군에 안 센다</a:t>
            </a:r>
            <a:endParaRPr/>
          </a:p>
          <a:p xmlns:a="http://schemas.openxmlformats.org/drawingml/2006/main">
            <a:r>
              <a:t>• 인접 9편: 이동 · 배제가 아니라 증거로 자리를 옮긴다</a:t>
            </a:r>
            <a:endParaRPr/>
          </a:p>
          <a:p xmlns:a="http://schemas.openxmlformats.org/drawingml/2006/main">
            <a:r>
              <a:t>• 조건 없음: 확정 · 이 판정은 조건부가 아니다</a:t>
            </a:r>
            <a:endParaRPr/>
          </a:p>
          <a:p xmlns:a="http://schemas.openxmlformats.org/drawingml/2006/main">
            <a:r>
              <a:t/>
            </a:r>
            <a:endParaRPr/>
          </a:p>
          <a:p xmlns:a="http://schemas.openxmlformats.org/drawingml/2006/main">
            <a:r>
              <a:t>[Sources]</a:t>
            </a:r>
            <a:endParaRPr/>
          </a:p>
          <a:p xmlns:a="http://schemas.openxmlformats.org/drawingml/2006/main">
            <a:r>
              <a:t>study-kr-stc ch24 §24.4 판정 1</a:t>
            </a:r>
            <a:endParaRPr/>
          </a:p>
          <a:p xmlns:a="http://schemas.openxmlformats.org/drawingml/2006/main">
            <a:r>
              <a:t>study-kr-stc ch11 표 11-1·11-2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STC2-094 — 판정 ② — 간격은 구조적이다, 세 공동체가 각자의 서식을 쓴다</a:t>
            </a:r>
            <a:endParaRPr/>
          </a:p>
          <a:p xmlns:a="http://schemas.openxmlformats.org/drawingml/2006/main">
            <a:r>
              <a:t>핵심 결론: 어긋남은 정리될 통로가 없어서 유지되는 상태다 — 시간이 해결하는 종류가 아니다</a:t>
            </a:r>
            <a:endParaRPr/>
          </a:p>
          <a:p xmlns:a="http://schemas.openxmlformats.org/drawingml/2006/main">
            <a:r>
              <a:t/>
            </a:r>
            <a:endParaRPr/>
          </a:p>
          <a:p xmlns:a="http://schemas.openxmlformats.org/drawingml/2006/main">
            <a:r>
              <a:t>[발표 대본]</a:t>
            </a:r>
            <a:endParaRPr/>
          </a:p>
          <a:p xmlns:a="http://schemas.openxmlformats.org/drawingml/2006/main">
            <a:r>
              <a:t>둘째 판정. 이름과 기제의 간격은 우연한 지체가 아니라 구조적입니다. 어긋남이 무작위였다면 오래된 논문일수록 흔들리고 최근 논문일수록 수렴해야 합니다. 실제 분포는 그렇지 않습니다. 어긋남은 경로를 따라 정렬되어 있고, 정렬의 축은 기술이 아니라 공동체입니다. 가장 강한 증거는 보고 관행입니다. B_s 보고율의 경로 간 순서가 Θ &gt; E인데, 그 원인은 기제가 아닙니다. Θ-경로 논문은 학습 논문의 서식을 물려받아 step·batch·GPU-hour 칸을 애초에 갖고 있고, E-경로 논문은 시스템·제품 논문의 서식을 물려받았는데 그 서식에는 쓰기 비용을 적는 칸이 없습니다. 그리고 결정적으로 — 이 간격은 시간이 해결하는 종류가 아닙니다. 세 경로가 서로를 읽기 시작하더라도 나란히 놓을 축이 없습니다. 공유 벤치마크 교집합이 공집합이고, 상태 용량을 바이트로 적은 논문이 0편이며, 예산을 절대 단위로 적은 논문이 1편입니다. 누군가 축을 세워야 닫히는 종류입니다.</a:t>
            </a:r>
            <a:endParaRPr/>
          </a:p>
          <a:p xmlns:a="http://schemas.openxmlformats.org/drawingml/2006/main">
            <a:r>
              <a:t/>
            </a:r>
            <a:endParaRPr/>
          </a:p>
          <a:p xmlns:a="http://schemas.openxmlformats.org/drawingml/2006/main">
            <a:r>
              <a:t>• E의 대화 상대: 에이전트 기억 — 경쟁 제품, 지연, 정확도</a:t>
            </a:r>
            <a:endParaRPr/>
          </a:p>
          <a:p xmlns:a="http://schemas.openxmlformats.org/drawingml/2006/main">
            <a:r>
              <a:t>• W의 대화 상대: test-time learning — 고정 상태, recall</a:t>
            </a:r>
            <a:endParaRPr/>
          </a:p>
          <a:p xmlns:a="http://schemas.openxmlformats.org/drawingml/2006/main">
            <a:r>
              <a:t>• Θ의 대화 상대: 지속학습 — 망각, replay, step, 성능행렬</a:t>
            </a:r>
            <a:endParaRPr/>
          </a:p>
          <a:p xmlns:a="http://schemas.openxmlformats.org/drawingml/2006/main">
            <a:r>
              <a:t>• 서식의 상속: E의 서식에는 쓰기 비용 칸이 아예 없다</a:t>
            </a:r>
            <a:endParaRPr/>
          </a:p>
          <a:p xmlns:a="http://schemas.openxmlformats.org/drawingml/2006/main">
            <a:r>
              <a:t>• 통로 부재: 공유 벤치 교집합이 공집합, 바이트 0편</a:t>
            </a:r>
            <a:endParaRPr/>
          </a:p>
          <a:p xmlns:a="http://schemas.openxmlformats.org/drawingml/2006/main">
            <a:r>
              <a:t/>
            </a:r>
            <a:endParaRPr/>
          </a:p>
          <a:p xmlns:a="http://schemas.openxmlformats.org/drawingml/2006/main">
            <a:r>
              <a:t>[Sources]</a:t>
            </a:r>
            <a:endParaRPr/>
          </a:p>
          <a:p xmlns:a="http://schemas.openxmlformats.org/drawingml/2006/main">
            <a:r>
              <a:t>study-kr-stc ch24 §24.3.1</a:t>
            </a:r>
            <a:endParaRPr/>
          </a:p>
          <a:p xmlns:a="http://schemas.openxmlformats.org/drawingml/2006/main">
            <a:r>
              <a:t>study-kr-stc ch24 §24.4 판정 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STC2-095 — 간격을 방치하면 세 가지 판단이 틀린다</a:t>
            </a:r>
            <a:endParaRPr/>
          </a:p>
          <a:p xmlns:a="http://schemas.openxmlformats.org/drawingml/2006/main">
            <a:r>
              <a:t>핵심 결론: 셋 다 문헌의 결함이 아니라 문헌을 읽는 쪽의 결함이다</a:t>
            </a:r>
            <a:endParaRPr/>
          </a:p>
          <a:p xmlns:a="http://schemas.openxmlformats.org/drawingml/2006/main">
            <a:r>
              <a:t/>
            </a:r>
            <a:endParaRPr/>
          </a:p>
          <a:p xmlns:a="http://schemas.openxmlformats.org/drawingml/2006/main">
            <a:r>
              <a:t>[발표 대본]</a:t>
            </a:r>
            <a:endParaRPr/>
          </a:p>
          <a:p xmlns:a="http://schemas.openxmlformats.org/drawingml/2006/main">
            <a:r>
              <a:t>그리고 이 절이 오늘 실무에 가장 직접 닿는 자리입니다. 간격을 방치하면 세 가지 판단이 틀립니다. 첫째, 잘못된 비교. 같은 이름 아래 놓인 두 수치가 같은 축의 값이 아닙니다. 5배는 생성 토큰 축의 수평 이동이고 prefill을 세지 않습니다. Θ-경로가 보고하는 예산은 optimizer step이고, FLOPs로 옮기려면 MFU가 필요한데 그걸 보고한 논문이 29편 중 1편입니다. 읽기식을 바꾼 논문의 비용은 애초에 상각 대상이 아닙니다. 둘째, 잘못된 기대. 이름이 consolidation을 약속하므로 독자는 'sleep을 늘릴수록 좋아진다'를 기대합니다. 문헌은 그 기대를 지지하지 않습니다. 더 위험한 것은 '손실 곡선이 평평하니 안전하다'는 기대입니다. 셋째, 잘못된 투자. 'sleep-time compute에 투자한다'는 문장은 서로 다른 결정 셋을 하나로 뭉갭니다. 조달 대상이 벡터 데이터베이스인지, 웜 스토리지 계층인지, 세션당 상주 메모리인지가 그 문장 안에서 결정되지 않습니다.</a:t>
            </a:r>
            <a:endParaRPr/>
          </a:p>
          <a:p xmlns:a="http://schemas.openxmlformats.org/drawingml/2006/main">
            <a:r>
              <a:t/>
            </a:r>
            <a:endParaRPr/>
          </a:p>
          <a:p xmlns:a="http://schemas.openxmlformats.org/drawingml/2006/main">
            <a:r>
              <a:t>• 잘못된 비교: 회계의 자리가 다른 수치를 나란히 놓는다</a:t>
            </a:r>
            <a:endParaRPr/>
          </a:p>
          <a:p xmlns:a="http://schemas.openxmlformats.org/drawingml/2006/main">
            <a:r>
              <a:t>• 잘못된 기대: 라운드를 늘릴수록 좋아진다는 기대</a:t>
            </a:r>
            <a:endParaRPr/>
          </a:p>
          <a:p xmlns:a="http://schemas.openxmlformats.org/drawingml/2006/main">
            <a:r>
              <a:t>• 잘못된 투자: 세 인프라 결정을 한 문장으로 뭉갠다</a:t>
            </a:r>
            <a:endParaRPr/>
          </a:p>
          <a:p xmlns:a="http://schemas.openxmlformats.org/drawingml/2006/main">
            <a:r>
              <a:t/>
            </a:r>
            <a:endParaRPr/>
          </a:p>
          <a:p xmlns:a="http://schemas.openxmlformats.org/drawingml/2006/main">
            <a:r>
              <a:t>[Sources]</a:t>
            </a:r>
            <a:endParaRPr/>
          </a:p>
          <a:p xmlns:a="http://schemas.openxmlformats.org/drawingml/2006/main">
            <a:r>
              <a:t>study-kr-stc ch24 §24.3.2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STC2-096 — 판정 ③ — 세 경로는 지금 같은 자로 잴 수 없다, 두 층위로</a:t>
            </a:r>
            <a:endParaRPr/>
          </a:p>
          <a:p xmlns:a="http://schemas.openxmlformats.org/drawingml/2006/main">
            <a:r>
              <a:t>핵심 결론: 그래서 'sleep-time compute이 싼가'는 현재 문헌 상태에서 검증도 반증도 되지 않는다</a:t>
            </a:r>
            <a:endParaRPr/>
          </a:p>
          <a:p xmlns:a="http://schemas.openxmlformats.org/drawingml/2006/main">
            <a:r>
              <a:t/>
            </a:r>
            <a:endParaRPr/>
          </a:p>
          <a:p xmlns:a="http://schemas.openxmlformats.org/drawingml/2006/main">
            <a:r>
              <a:t>[발표 대본]</a:t>
            </a:r>
            <a:endParaRPr/>
          </a:p>
          <a:p xmlns:a="http://schemas.openxmlformats.org/drawingml/2006/main">
            <a:r>
              <a:t>셋째 판정입니다. 비용의 자를 대 봤더니 자가 부러졌습니다. 먼저 숫자. Part II가 원문 대조로 채운 21편에서 요구 단위대로 인쇄된 칸은 B_s에서 1편, wake 지연·상태 용량·열화율에서 각각 0편입니다. 그리고 네 칸이 전부 비어 있는 논문이 여섯인데, 그중 셋이 세 경로의 대표 논문입니다. 자를 대야 할 세 지점이 모두 비어 있습니다. 여기서 중요한 구분이 하나 있습니다. 못 재는 이유가 두 층위입니다. 첫 번째는 보고 관행입니다 — 값이 존재하는데 인쇄되지 않았고, 저자가 인쇄하면 즉시 해소됩니다. 두 번째는 회계 틀 자체입니다. 상각식은 E-경로의 모양을 전제하므로 W와 Θ 경로에서는 분모가 다른 것을 세거나 아예 정의되지 않습니다. 이건 값을 인쇄해도 해소되지 않습니다.</a:t>
            </a:r>
            <a:endParaRPr/>
          </a:p>
          <a:p xmlns:a="http://schemas.openxmlformats.org/drawingml/2006/main">
            <a:r>
              <a:t/>
            </a:r>
            <a:endParaRPr/>
          </a:p>
          <a:p xmlns:a="http://schemas.openxmlformats.org/drawingml/2006/main">
            <a:r>
              <a:t>• 인쇄된 칸: B_s 1편, L_w·C_cap·ρ 각각 0편 (21편 기준)</a:t>
            </a:r>
            <a:endParaRPr/>
          </a:p>
          <a:p xmlns:a="http://schemas.openxmlformats.org/drawingml/2006/main">
            <a:r>
              <a:t>• 층위 ①: 보고 관행 — 저자가 인쇄하면 즉시 해소된다</a:t>
            </a:r>
            <a:endParaRPr/>
          </a:p>
          <a:p xmlns:a="http://schemas.openxmlformats.org/drawingml/2006/main">
            <a:r>
              <a:t>• 층위 ②: 회계 틀 — 값을 인쇄해도 해소되지 않는다</a:t>
            </a:r>
            <a:endParaRPr/>
          </a:p>
          <a:p xmlns:a="http://schemas.openxmlformats.org/drawingml/2006/main">
            <a:r>
              <a:t/>
            </a:r>
            <a:endParaRPr/>
          </a:p>
          <a:p xmlns:a="http://schemas.openxmlformats.org/drawingml/2006/main">
            <a:r>
              <a:t>[Sources]</a:t>
            </a:r>
            <a:endParaRPr/>
          </a:p>
          <a:p xmlns:a="http://schemas.openxmlformats.org/drawingml/2006/main">
            <a:r>
              <a:t>study-kr-stc ch25 §25.2.1 표 25-1</a:t>
            </a:r>
            <a:endParaRPr/>
          </a:p>
          <a:p xmlns:a="http://schemas.openxmlformats.org/drawingml/2006/main">
            <a:r>
              <a:t>study-kr-stc ch25 §25.4 판정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STC2-097 — 판정 ④ — 상각 논증에는 구조적 결함이 있다</a:t>
            </a:r>
            <a:endParaRPr/>
          </a:p>
          <a:p xmlns:a="http://schemas.openxmlformats.org/drawingml/2006/main">
            <a:r>
              <a:t>핵심 결론: 실험적 반례가 아니라 식의 성질이며, 미보고 값의 선택과 무관하다</a:t>
            </a:r>
            <a:endParaRPr/>
          </a:p>
          <a:p xmlns:a="http://schemas.openxmlformats.org/drawingml/2006/main">
            <a:r>
              <a:t/>
            </a:r>
            <a:endParaRPr/>
          </a:p>
          <a:p xmlns:a="http://schemas.openxmlformats.org/drawingml/2006/main">
            <a:r>
              <a:t>[발표 대본]</a:t>
            </a:r>
            <a:endParaRPr/>
          </a:p>
          <a:p xmlns:a="http://schemas.openxmlformats.org/drawingml/2006/main">
            <a:r>
              <a:t>넷째 판정, 그리고 오늘 조건 없이 단정하는 몇 안 되는 것 중 하나입니다. 상각 논증에는 구조적 결함이 있습니다. 한 번 내는 비용만 N_q로 나뉘고, 매 질의 내는 비용은 나뉘지 않습니다. learned context는 매 질의의 프롬프트에 실려 다시 처리되고, 병렬 재표현을 붙이면 그만큼 곱해집니다. 이 항이 0이 아니면 'N_q를 키우면 언제나 이긴다'가 성립하지 않는 영역이 원리적으로 존재합니다. 그런데 논문의 비용모델은 생성 토큰만 세므로 그 영역의 경계를 무한대로 보내고, 그래서 경계를 표현조차 하지 못합니다. 이건 실험적 반례가 아니라 식의 성질입니다. 제가 어떤 값을 가정했든 무관합니다. 그래서 조건 없이 단정합니다.</a:t>
            </a:r>
            <a:endParaRPr/>
          </a:p>
          <a:p xmlns:a="http://schemas.openxmlformats.org/drawingml/2006/main">
            <a:r>
              <a:t/>
            </a:r>
            <a:endParaRPr/>
          </a:p>
          <a:p xmlns:a="http://schemas.openxmlformats.org/drawingml/2006/main">
            <a:r>
              <a:t>• 나뉘는 항: 한 번</a:t>
            </a:r>
            <a:endParaRPr/>
          </a:p>
          <a:p xmlns:a="http://schemas.openxmlformats.org/drawingml/2006/main">
            <a:r>
              <a:t>• 안 나뉘는 항: 식의 성질이지 실험적 반례가 아니다</a:t>
            </a:r>
            <a:endParaRPr/>
          </a:p>
          <a:p xmlns:a="http://schemas.openxmlformats.org/drawingml/2006/main">
            <a:r>
              <a:t>• 논문의 식: </a:t>
            </a:r>
            <a:endParaRPr/>
          </a:p>
          <a:p xmlns:a="http://schemas.openxmlformats.org/drawingml/2006/main">
            <a:r>
              <a:t>• 경계: </a:t>
            </a:r>
            <a:endParaRPr/>
          </a:p>
          <a:p xmlns:a="http://schemas.openxmlformats.org/drawingml/2006/main">
            <a:r>
              <a:t/>
            </a:r>
            <a:endParaRPr/>
          </a:p>
          <a:p xmlns:a="http://schemas.openxmlformats.org/drawingml/2006/main">
            <a:r>
              <a:t>[Sources]</a:t>
            </a:r>
            <a:endParaRPr/>
          </a:p>
          <a:p xmlns:a="http://schemas.openxmlformats.org/drawingml/2006/main">
            <a:r>
              <a:t>study-kr-stc ch25 §25.3.1</a:t>
            </a:r>
            <a:endParaRPr/>
          </a:p>
          <a:p xmlns:a="http://schemas.openxmlformats.org/drawingml/2006/main">
            <a:r>
              <a:t>study-kr-stc ch25 §25.4 판정 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STC2-098 — 판정 ⑤ — 그러나 5×는 반박되지 않는다</a:t>
            </a:r>
            <a:endParaRPr/>
          </a:p>
          <a:p xmlns:a="http://schemas.openxmlformats.org/drawingml/2006/main">
            <a:r>
              <a:t>핵심 결론: 반박 대상은 '생성 토큰 축 = 비용 축'이라는 암묵 등식이다</a:t>
            </a:r>
            <a:endParaRPr/>
          </a:p>
          <a:p xmlns:a="http://schemas.openxmlformats.org/drawingml/2006/main">
            <a:r>
              <a:t/>
            </a:r>
            <a:endParaRPr/>
          </a:p>
          <a:p xmlns:a="http://schemas.openxmlformats.org/drawingml/2006/main">
            <a:r>
              <a:t>[발표 대본]</a:t>
            </a:r>
            <a:endParaRPr/>
          </a:p>
          <a:p xmlns:a="http://schemas.openxmlformats.org/drawingml/2006/main">
            <a:r>
              <a:t>여기서 반드시 짚어야 할 것이 있습니다. 제 회계가 무엇을 하지 않는지. 짧은 문맥과 큰 절감률이 함께 있는 레짐에서는 prefill 항을 넣어도 여유가 남습니다. 병렬 재표현을 논문 최대치인 열 벌까지 밀어도 임계 안쪽입니다. 그러니 논문의 5배는 제 실험이 다루는 어떤 회계에서도 뒤집히지 않습니다. 5배는 생성 토큰 축에서 관측된 사실이고, 그 축 위의 관측을 이 계산이 반박할 수는 없습니다. 반박 대상은 다른 것입니다 — '생성 토큰 축이 곧 비용 축'이라는 암묵 등식입니다. 그 사이에 네 가지가 놓여 있습니다. 회계에 없는 prefill 항, 인쇄되지 않은 B_s, 측정 없이 단언된 κ_cost, 그리고 미지의 N_q 분포. 그리고 등식이 가장 위태로운 레짐이 논문 스스로 이득이 작다고 보고한 레짐과 일치합니다. 그 일치는 우연이 아닙니다 — 논문의 이득이 작아지는 축과 회계가 무너지는 축이 같은 축입니다.</a:t>
            </a:r>
            <a:endParaRPr/>
          </a:p>
          <a:p xmlns:a="http://schemas.openxmlformats.org/drawingml/2006/main">
            <a:r>
              <a:t/>
            </a:r>
            <a:endParaRPr/>
          </a:p>
          <a:p xmlns:a="http://schemas.openxmlformats.org/drawingml/2006/main">
            <a:r>
              <a:t>• 조건 ①: 원 문맥이 짧다</a:t>
            </a:r>
            <a:endParaRPr/>
          </a:p>
          <a:p xmlns:a="http://schemas.openxmlformats.org/drawingml/2006/main">
            <a:r>
              <a:t>• 조건 ②: 절감률이 크다</a:t>
            </a:r>
            <a:endParaRPr/>
          </a:p>
          <a:p xmlns:a="http://schemas.openxmlformats.org/drawingml/2006/main">
            <a:r>
              <a:t>• 그러면: prefill 넣어도 유지</a:t>
            </a:r>
            <a:endParaRPr/>
          </a:p>
          <a:p xmlns:a="http://schemas.openxmlformats.org/drawingml/2006/main">
            <a:r>
              <a:t>• 반박 대상: 암묵 등식</a:t>
            </a:r>
            <a:endParaRPr/>
          </a:p>
          <a:p xmlns:a="http://schemas.openxmlformats.org/drawingml/2006/main">
            <a:r>
              <a:t/>
            </a:r>
            <a:endParaRPr/>
          </a:p>
          <a:p xmlns:a="http://schemas.openxmlformats.org/drawingml/2006/main">
            <a:r>
              <a:t>[Sources]</a:t>
            </a:r>
            <a:endParaRPr/>
          </a:p>
          <a:p xmlns:a="http://schemas.openxmlformats.org/drawingml/2006/main">
            <a:r>
              <a:t>study-kr-stc ch25 §25.3.5</a:t>
            </a:r>
            <a:endParaRPr/>
          </a:p>
          <a:p xmlns:a="http://schemas.openxmlformats.org/drawingml/2006/main">
            <a:r>
              <a:t>study-kr-stc ch25 §25.4 판정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STC2-099 — 판정 ⑥ — '상태 용량'은 하나의 수가 아니다</a:t>
            </a:r>
            <a:endParaRPr/>
          </a:p>
          <a:p xmlns:a="http://schemas.openxmlformats.org/drawingml/2006/main">
            <a:r>
              <a:t>핵심 결론: 답할 수 있는 질문은 '어느 경로가 어느 계층에 얼마를 얼마 동안 두는가'다</a:t>
            </a:r>
            <a:endParaRPr/>
          </a:p>
          <a:p xmlns:a="http://schemas.openxmlformats.org/drawingml/2006/main">
            <a:r>
              <a:t/>
            </a:r>
            <a:endParaRPr/>
          </a:p>
          <a:p xmlns:a="http://schemas.openxmlformats.org/drawingml/2006/main">
            <a:r>
              <a:t>[발표 대본]</a:t>
            </a:r>
            <a:endParaRPr/>
          </a:p>
          <a:p xmlns:a="http://schemas.openxmlformats.org/drawingml/2006/main">
            <a:r>
              <a:t>여섯째 판정. '상태 용량'은 하나의 수가 아닙니다. 세 경로의 상태를 한 숫자로 비교하는 것은 범주 오류입니다. 세 항목은 단위만 같고 세는 대상이 다릅니다. E는 저장한 항목 수에 비례하고 모델과 무관합니다. Θ delta는 rank와 폭에 비례하고 저장한 항목 수와 무관합니다. W는 폭의 제곱에 비례합니다. 수명도 다릅니다. W는 세션과 함께 사라지고, Θ와 E는 사용자와 함께 남습니다. 그래서 제약의 종류가 갈립니다. W는 transient이면서 핫이라 총량이 아니라 동시성에 걸립니다. Θ delta는 영속이면서 웜이라 총량과 스테이징 지연 둘 다에 걸립니다. E는 영속이면서 콜드라 총량에만 걸립니다. 그리고 상태 회계에서 가장 나쁜 조합은 큰 지수와 긴 수명의 결합인데, 네 구조 중 이 조합에 해당하는 것이 딱 하나입니다 — 직접 편집으로 개인화하는 경우입니다.</a:t>
            </a:r>
            <a:endParaRPr/>
          </a:p>
          <a:p xmlns:a="http://schemas.openxmlformats.org/drawingml/2006/main">
            <a:r>
              <a:t/>
            </a:r>
            <a:endParaRPr/>
          </a:p>
          <a:p xmlns:a="http://schemas.openxmlformats.org/drawingml/2006/main">
            <a:r>
              <a:t>• 세는 대상: n · rdL · d²L</a:t>
            </a:r>
            <a:endParaRPr/>
          </a:p>
          <a:p xmlns:a="http://schemas.openxmlformats.org/drawingml/2006/main">
            <a:r>
              <a:t>• 수명: 세션 대 사용자</a:t>
            </a:r>
            <a:endParaRPr/>
          </a:p>
          <a:p xmlns:a="http://schemas.openxmlformats.org/drawingml/2006/main">
            <a:r>
              <a:t>• 제약: 동시성 · 지연 · 총량</a:t>
            </a:r>
            <a:endParaRPr/>
          </a:p>
          <a:p xmlns:a="http://schemas.openxmlformats.org/drawingml/2006/main">
            <a:r>
              <a:t>• 범주 오류: 한 숫자 비교</a:t>
            </a:r>
            <a:endParaRPr/>
          </a:p>
          <a:p xmlns:a="http://schemas.openxmlformats.org/drawingml/2006/main">
            <a:r>
              <a:t>• 최악 조합: 큰 지수 + 긴 수명</a:t>
            </a:r>
            <a:endParaRPr/>
          </a:p>
          <a:p xmlns:a="http://schemas.openxmlformats.org/drawingml/2006/main">
            <a:r>
              <a:t>• 드문 정렬: 작은 rank가 유리</a:t>
            </a:r>
            <a:endParaRPr/>
          </a:p>
          <a:p xmlns:a="http://schemas.openxmlformats.org/drawingml/2006/main">
            <a:r>
              <a:t/>
            </a:r>
            <a:endParaRPr/>
          </a:p>
          <a:p xmlns:a="http://schemas.openxmlformats.org/drawingml/2006/main">
            <a:r>
              <a:t>[Sources]</a:t>
            </a:r>
            <a:endParaRPr/>
          </a:p>
          <a:p xmlns:a="http://schemas.openxmlformats.org/drawingml/2006/main">
            <a:r>
              <a:t>study-kr-stc ch26 §26.3.2, §26.4 판정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STC2-100 — 판정 ⑦ — 경로 선택은 곧 메모리 계층 선택이다</a:t>
            </a:r>
            <a:endParaRPr/>
          </a:p>
          <a:p xmlns:a="http://schemas.openxmlformats.org/drawingml/2006/main">
            <a:r>
              <a:t>핵심 결론: 배치를 정하는 것은 알고리즘이 아니라 세 성장 지수가 서로 다른 변수라는 구조적 사실이다</a:t>
            </a:r>
            <a:endParaRPr/>
          </a:p>
          <a:p xmlns:a="http://schemas.openxmlformats.org/drawingml/2006/main">
            <a:r>
              <a:t/>
            </a:r>
            <a:endParaRPr/>
          </a:p>
          <a:p xmlns:a="http://schemas.openxmlformats.org/drawingml/2006/main">
            <a:r>
              <a:t>[발표 대본]</a:t>
            </a:r>
            <a:endParaRPr/>
          </a:p>
          <a:p xmlns:a="http://schemas.openxmlformats.org/drawingml/2006/main">
            <a:r>
              <a:t>일곱째 판정. 세 경로는 메모리 계층의 세 층에 각각 내려앉습니다. W는 핫입니다 — 세션당 기가바이트 단위이고 토큰마다 read-modify-write이므로 HBM 밖에 둘 수 없습니다. Θ delta는 웜입니다 — 사용자당 수 메가바이트이고 요청 지연 안에 한 번 스테이징되면 충분합니다. E는 콜드입니다 — 사용자당 수십 킬로바이트이고 질의당 한 번 읽힙니다. 그래서 경로 선택은 알고리즘 선택이면서 동시에 메모리 계층 선택이고, 후자는 전자가 정합니다. 조건을 하나 명시합니다. 이 판정은 W-경로가 고정 크기 상태를 유지한다는 전제 위에 섭니다. recall을 얻으려고 상태를 문맥에 선형으로 키우면 W는 핫 계층에 더 깊이 박힙니다. 그리고 정직하게 하나 더 — 두 앵커의 수치가 일치하는 것은 예측의 확인이 아닙니다. 그 수치가 애초에 이 지수로 만들어졌으니 항등입니다. 단정의 근거는 지수가 서로 다르다는 구조적 사실 하나입니다.</a:t>
            </a:r>
            <a:endParaRPr/>
          </a:p>
          <a:p xmlns:a="http://schemas.openxmlformats.org/drawingml/2006/main">
            <a:r>
              <a:t/>
            </a:r>
            <a:endParaRPr/>
          </a:p>
          <a:p xmlns:a="http://schemas.openxmlformats.org/drawingml/2006/main">
            <a:r>
              <a:t>• W = 핫: 세션당 GB. 토큰마다 RMW라 HBM 밖에 못 둔다</a:t>
            </a:r>
            <a:endParaRPr/>
          </a:p>
          <a:p xmlns:a="http://schemas.openxmlformats.org/drawingml/2006/main">
            <a:r>
              <a:t>• Θ = 웜: 사용자당 MB. 요청당 한 번 스테이징</a:t>
            </a:r>
            <a:endParaRPr/>
          </a:p>
          <a:p xmlns:a="http://schemas.openxmlformats.org/drawingml/2006/main">
            <a:r>
              <a:t>• E = 콜드: 사용자당 KB. 질의당 한 번 읽힌다</a:t>
            </a:r>
            <a:endParaRPr/>
          </a:p>
          <a:p xmlns:a="http://schemas.openxmlformats.org/drawingml/2006/main">
            <a:r>
              <a:t>• 조건: W가 고정 크기를 유지한다는 전제 위에 선다</a:t>
            </a:r>
            <a:endParaRPr/>
          </a:p>
          <a:p xmlns:a="http://schemas.openxmlformats.org/drawingml/2006/main">
            <a:r>
              <a:t>• 반례: recall을 얻으려면 상태가 문맥에 선형으로 큰다</a:t>
            </a:r>
            <a:endParaRPr/>
          </a:p>
          <a:p xmlns:a="http://schemas.openxmlformats.org/drawingml/2006/main">
            <a:r>
              <a:t/>
            </a:r>
            <a:endParaRPr/>
          </a:p>
          <a:p xmlns:a="http://schemas.openxmlformats.org/drawingml/2006/main">
            <a:r>
              <a:t>[Sources]</a:t>
            </a:r>
            <a:endParaRPr/>
          </a:p>
          <a:p xmlns:a="http://schemas.openxmlformats.org/drawingml/2006/main">
            <a:r>
              <a:t>study-kr-stc ch26 §26.4 판정 2</a:t>
            </a:r>
            <a:endParaRPr/>
          </a:p>
          <a:p xmlns:a="http://schemas.openxmlformats.org/drawingml/2006/main">
            <a:r>
              <a:t>study-kr-stc ch18 §18.7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STC2-101 — 판정 ⑧ — E-경로는 유망하다, 단 비용 방법으로서</a:t>
            </a:r>
            <a:endParaRPr/>
          </a:p>
          <a:p xmlns:a="http://schemas.openxmlformats.org/drawingml/2006/main">
            <a:r>
              <a:t>핵심 결론: 품질 방법으로서는 지지되지 않으며, 그 반증은 이 발표가 아니라 논문들 자신의 표에서 나온다</a:t>
            </a:r>
            <a:endParaRPr/>
          </a:p>
          <a:p xmlns:a="http://schemas.openxmlformats.org/drawingml/2006/main">
            <a:r>
              <a:t/>
            </a:r>
            <a:endParaRPr/>
          </a:p>
          <a:p xmlns:a="http://schemas.openxmlformats.org/drawingml/2006/main">
            <a:r>
              <a:t>[발표 대본]</a:t>
            </a:r>
            <a:endParaRPr/>
          </a:p>
          <a:p xmlns:a="http://schemas.openxmlformats.org/drawingml/2006/main">
            <a:r>
              <a:t>이제 원 질문에 답합니다. 경로별로 다릅니다. 먼저 E-경로. E-경로는 유망합니다. 단 비용 방법으로서입니다. 품질 방법으로서는 현재 문헌이 지지하지 않습니다. 품질 축의 근거는 네 시스템에서 같은 방향입니다 — full-context가 이기고, full-conversation이 비교 대상을 이미 이기고, 무망각 baseline이 동률이고, 검색 항목을 늘릴수록 단조 악화합니다. 비용 축은 나눠 읽어야 합니다. 이득의 방향은 구조적으로 참입니다 — 26,000 토큰을 수백 토큰으로 줄이면 prefill이 줍니다. 그러나 크기는 미확정입니다. 보고된 배수는 상대편에게 prefix cache를 켜 주지 않은 비교입니다. 그래서 이 경로에서 일어난 일은 주장의 종류가 바뀐 것입니다. 초록은 품질 주장의 문법으로 쓰였는데 표가 지지하는 것은 비용 주장입니다. 그리고 비용 주장은 성능 표가 아니라 총비용으로 방어되는데, 총비용의 분자가 이 경로에서 가장 비어 있는 칸입니다. 마지막으로 아이러니 하나 — 이 경로가 실제로 가진 가장 강한 논거인 shared-weight batching 보존을 주장하는 논문이 다섯 중 0편입니다.</a:t>
            </a:r>
            <a:endParaRPr/>
          </a:p>
          <a:p xmlns:a="http://schemas.openxmlformats.org/drawingml/2006/main">
            <a:r>
              <a:t/>
            </a:r>
            <a:endParaRPr/>
          </a:p>
          <a:p xmlns:a="http://schemas.openxmlformats.org/drawingml/2006/main">
            <a:r>
              <a:t>• 품질 축: 네 시스템에서 같은 방향 — 기억 없음이 이긴다</a:t>
            </a:r>
            <a:endParaRPr/>
          </a:p>
          <a:p xmlns:a="http://schemas.openxmlformats.org/drawingml/2006/main">
            <a:r>
              <a:t>• 비용 방향: 구조적으로 참. 프롬프트가 짧아지면 prefill이 준다</a:t>
            </a:r>
            <a:endParaRPr/>
          </a:p>
          <a:p xmlns:a="http://schemas.openxmlformats.org/drawingml/2006/main">
            <a:r>
              <a:t>• 비용 크기: 미확정. 상대편에 prefix cache를 켜지 않았다</a:t>
            </a:r>
            <a:endParaRPr/>
          </a:p>
          <a:p xmlns:a="http://schemas.openxmlformats.org/drawingml/2006/main">
            <a:r>
              <a:t>• 총비용: 분자 B_s가 이 경로에서 가장 비어 있는 칸이다</a:t>
            </a:r>
            <a:endParaRPr/>
          </a:p>
          <a:p xmlns:a="http://schemas.openxmlformats.org/drawingml/2006/main">
            <a:r>
              <a:t>• 안 쓴 논거: batching 보존을 주장한 논문이 다섯 중 0편</a:t>
            </a:r>
            <a:endParaRPr/>
          </a:p>
          <a:p xmlns:a="http://schemas.openxmlformats.org/drawingml/2006/main">
            <a:r>
              <a:t/>
            </a:r>
            <a:endParaRPr/>
          </a:p>
          <a:p xmlns:a="http://schemas.openxmlformats.org/drawingml/2006/main">
            <a:r>
              <a:t>[Sources]</a:t>
            </a:r>
            <a:endParaRPr/>
          </a:p>
          <a:p xmlns:a="http://schemas.openxmlformats.org/drawingml/2006/main">
            <a:r>
              <a:t>study-kr-stc ch27 §27.4 판정 2</a:t>
            </a:r>
            <a:endParaRPr/>
          </a:p>
          <a:p xmlns:a="http://schemas.openxmlformats.org/drawingml/2006/main">
            <a:r>
              <a:t>study-kr-stc ch27 §27.3.2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STC2-102 — 판정 ⑨ — W-경로는 판정 불가이고, 그 판정 불가가 결과다</a:t>
            </a:r>
            <a:endParaRPr/>
          </a:p>
          <a:p xmlns:a="http://schemas.openxmlformats.org/drawingml/2006/main">
            <a:r>
              <a:t>핵심 결론: 회계상 가장 유리한 형태를 가진 경로가 증거가 가장 적은 경로다</a:t>
            </a:r>
            <a:endParaRPr/>
          </a:p>
          <a:p xmlns:a="http://schemas.openxmlformats.org/drawingml/2006/main">
            <a:r>
              <a:t/>
            </a:r>
            <a:endParaRPr/>
          </a:p>
          <a:p xmlns:a="http://schemas.openxmlformats.org/drawingml/2006/main">
            <a:r>
              <a:t>[발표 대본]</a:t>
            </a:r>
            <a:endParaRPr/>
          </a:p>
          <a:p xmlns:a="http://schemas.openxmlformats.org/drawingml/2006/main">
            <a:r>
              <a:t>둘째, W-경로입니다. 현재 문헌으로 판정 불가입니다. 그리고 이건 보류가 아니라 결과입니다. A군 논문이 1편이고, 그 1편의 비용 네 칸이 전부 비어 있으며, 계산량을 맞춘 대조군이 없고, 판별식 통과조차 두 설정 중 하나에서만 성립합니다. 표본이 1인 경로에 대해서는 어떤 절차로도 강한 판정을 만들 수 없습니다. 그럼에도 이 경로에 대해 단정할 것이 하나 있습니다. 상각 논증의 구조적 결함 — 매 질의 프롬프트 항이 나뉘지 않는다 — 에서 벗어나는 가장 깨끗한 설계가 원 문맥을 실제로 버리는 것이고, 그것이 정확히 이 경로가 구조적으로 하는 일입니다. 문맥을 fast weight로 접고 원본을 버리면 나뉘지 않는 항이 음의 기여를 합니다. 즉 회계상 가장 유리한 형태를 가진 경로가 증거가 가장 적은 경로입니다. 이 불일치는 기제의 성질이 아니라 문헌의 성질입니다.</a:t>
            </a:r>
            <a:endParaRPr/>
          </a:p>
          <a:p xmlns:a="http://schemas.openxmlformats.org/drawingml/2006/main">
            <a:r>
              <a:t/>
            </a:r>
            <a:endParaRPr/>
          </a:p>
          <a:p xmlns:a="http://schemas.openxmlformats.org/drawingml/2006/main">
            <a:r>
              <a:t>• 표본: A군 논문이 1편이다</a:t>
            </a:r>
            <a:endParaRPr/>
          </a:p>
          <a:p xmlns:a="http://schemas.openxmlformats.org/drawingml/2006/main">
            <a:r>
              <a:t>• 비용: 그 1편의 네 칸이 전부 비어 있다</a:t>
            </a:r>
            <a:endParaRPr/>
          </a:p>
          <a:p xmlns:a="http://schemas.openxmlformats.org/drawingml/2006/main">
            <a:r>
              <a:t>• 대조군: 계산량을 맞춘 baseline이 없다</a:t>
            </a:r>
            <a:endParaRPr/>
          </a:p>
          <a:p xmlns:a="http://schemas.openxmlformats.org/drawingml/2006/main">
            <a:r>
              <a:t>• 설정 의존: 판별식 통과가 두 설정 중 하나에서만 성립</a:t>
            </a:r>
            <a:endParaRPr/>
          </a:p>
          <a:p xmlns:a="http://schemas.openxmlformats.org/drawingml/2006/main">
            <a:r>
              <a:t>• 그럼에도: 원 문맥을 버리는 설계가 결함의 탈출구다</a:t>
            </a:r>
            <a:endParaRPr/>
          </a:p>
          <a:p xmlns:a="http://schemas.openxmlformats.org/drawingml/2006/main">
            <a:r>
              <a:t/>
            </a:r>
            <a:endParaRPr/>
          </a:p>
          <a:p xmlns:a="http://schemas.openxmlformats.org/drawingml/2006/main">
            <a:r>
              <a:t>[Sources]</a:t>
            </a:r>
            <a:endParaRPr/>
          </a:p>
          <a:p xmlns:a="http://schemas.openxmlformats.org/drawingml/2006/main">
            <a:r>
              <a:t>study-kr-stc ch27 §27.4 판정 3</a:t>
            </a:r>
            <a:endParaRPr/>
          </a:p>
          <a:p xmlns:a="http://schemas.openxmlformats.org/drawingml/2006/main">
            <a:r>
              <a:t>study-kr-stc ch25 §25.5 항목 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STC2-103 — 판정 ⑩ — Θ-경로는 조건부로 유망하다, 조건 셋과 함께</a:t>
            </a:r>
            <a:endParaRPr/>
          </a:p>
          <a:p xmlns:a="http://schemas.openxmlformats.org/drawingml/2006/main">
            <a:r>
              <a:t>핵심 결론: 세 조건이 충족되지 않은 상태에서 '유망하다'고 쓰는 것은 이 발표가 논문들에 금지한 서술 방식이다</a:t>
            </a:r>
            <a:endParaRPr/>
          </a:p>
          <a:p xmlns:a="http://schemas.openxmlformats.org/drawingml/2006/main">
            <a:r>
              <a:t/>
            </a:r>
            <a:endParaRPr/>
          </a:p>
          <a:p xmlns:a="http://schemas.openxmlformats.org/drawingml/2006/main">
            <a:r>
              <a:t>[발표 대본]</a:t>
            </a:r>
            <a:endParaRPr/>
          </a:p>
          <a:p xmlns:a="http://schemas.openxmlformats.org/drawingml/2006/main">
            <a:r>
              <a:t>셋째, Θ-경로입니다. 조건부로 유망합니다. 세 축으로 갈라 말씀드립니다. 용량 축은 통과합니다. 가중치는 사실을 실제로 담고, 담긴 것은 쉽게 지워지지 않으며, 담긴 것의 질의당 한계 decode 비용이 0입니다. 다른 두 경로가 원리적으로 줄 수 없는 성질입니다. 반복 축은 미검증입니다. A군에서 sleep 라운드 수를 독립변수로 놓은 실험이 0편입니다. 측정되지 않은 게 아니라 측정될 실험이 설계되지 않았습니다. 그리고 반복을 실제로 돌려 본 유일한 논문이 이 경로를 지지하려는 논문이 아니라 반증하려는 논문입니다. 서빙 축은 두 개의 미논의 전제 위에 서 있습니다 — delta 양자화와 쓰기 검증. 그래서 조건 셋을 명시합니다. 원본 앵커 replay 하에서 K*가 서비스 요구를 넘는 것이 측정되고, int8 이하 양자화에서 회수율이 유지되며, 라벨 없이 쓰기를 판정하는 절차가 나오는 것. 셋 중 어느 것도 현재 corpus에 없습니다. 이 상태에서 '유망하다'고 쓰는 것은 제가 논문들에게 금지한 서술 방식입니다.</a:t>
            </a:r>
            <a:endParaRPr/>
          </a:p>
          <a:p xmlns:a="http://schemas.openxmlformats.org/drawingml/2006/main">
            <a:r>
              <a:t/>
            </a:r>
            <a:endParaRPr/>
          </a:p>
          <a:p xmlns:a="http://schemas.openxmlformats.org/drawingml/2006/main">
            <a:r>
              <a:t>• 용량 축: 통과 · 한계 비용 0</a:t>
            </a:r>
            <a:endParaRPr/>
          </a:p>
          <a:p xmlns:a="http://schemas.openxmlformats.org/drawingml/2006/main">
            <a:r>
              <a:t>• 반복 축: 미검증 · 실험 0편</a:t>
            </a:r>
            <a:endParaRPr/>
          </a:p>
          <a:p xmlns:a="http://schemas.openxmlformats.org/drawingml/2006/main">
            <a:r>
              <a:t>• 유일 증거: 반증 축에서 나온다</a:t>
            </a:r>
            <a:endParaRPr/>
          </a:p>
          <a:p xmlns:a="http://schemas.openxmlformats.org/drawingml/2006/main">
            <a:r>
              <a:t>• 조건 (i): K* &gt; 서비스 K</a:t>
            </a:r>
            <a:endParaRPr/>
          </a:p>
          <a:p xmlns:a="http://schemas.openxmlformats.org/drawingml/2006/main">
            <a:r>
              <a:t>• 조건 (ii): int8 회수율 유지</a:t>
            </a:r>
            <a:endParaRPr/>
          </a:p>
          <a:p xmlns:a="http://schemas.openxmlformats.org/drawingml/2006/main">
            <a:r>
              <a:t>• 조건 (iii): 라벨 없는 검증</a:t>
            </a:r>
            <a:endParaRPr/>
          </a:p>
          <a:p xmlns:a="http://schemas.openxmlformats.org/drawingml/2006/main">
            <a:r>
              <a:t/>
            </a:r>
            <a:endParaRPr/>
          </a:p>
          <a:p xmlns:a="http://schemas.openxmlformats.org/drawingml/2006/main">
            <a:r>
              <a:t>[Sources]</a:t>
            </a:r>
            <a:endParaRPr/>
          </a:p>
          <a:p xmlns:a="http://schemas.openxmlformats.org/drawingml/2006/main">
            <a:r>
              <a:t>study-kr-stc ch27 §27.4 판정 4</a:t>
            </a:r>
            <a:endParaRPr/>
          </a:p>
          <a:p xmlns:a="http://schemas.openxmlformats.org/drawingml/2006/main">
            <a:r>
              <a:t>study-kr-stc ch27 §27.3.4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STC2-104 — 판정 ⑪ — '최선인가'와 '우월한가'는 어디서도 판정되지 않는다</a:t>
            </a:r>
            <a:endParaRPr/>
          </a:p>
          <a:p xmlns:a="http://schemas.openxmlformats.org/drawingml/2006/main">
            <a:r>
              <a:t>핵심 결론: 실행된 대조에서는 방법이 지거나 겨우 비겼고, 방법이 이기는 축에서는 대조가 실행되지 않았다</a:t>
            </a:r>
            <a:endParaRPr/>
          </a:p>
          <a:p xmlns:a="http://schemas.openxmlformats.org/drawingml/2006/main">
            <a:r>
              <a:t/>
            </a:r>
            <a:endParaRPr/>
          </a:p>
          <a:p xmlns:a="http://schemas.openxmlformats.org/drawingml/2006/main">
            <a:r>
              <a:t>[발표 대본]</a:t>
            </a:r>
            <a:endParaRPr/>
          </a:p>
          <a:p xmlns:a="http://schemas.openxmlformats.org/drawingml/2006/main">
            <a:r>
              <a:t>네 번째 질문 — 최선인가, 대안 대비 우월한가. 이건 대조군이 있어야만 답이 있는 질문입니다. 그래서 제가 한 일은 우열을 선언하는 게 아니라 어느 대조가 실행되었고 어느 대조가 실행되지 않았는지를 세는 것입니다. 일곱 행이 하나의 패턴을 이룹니다. 실행된 대조에서는 방법이 지거나 겨우 비겼고, 방법이 이기는 축에서는 대조가 실행되지 않았습니다. E-경로는 품질 대조를 돌렸고 졌습니다. 비용 대조 — 상대편에 prefix cache를 켠 비교 — 는 안 돌렸습니다. W-경로는 계산량을 맞춘 대조를 아예 갖고 있지 않습니다. Θ-경로는 문맥 채널과의 대조를 어긋난 레짐에서 돌렸고, 검색과의 대조는 두 문장의 기각으로 대신했습니다. 그리고 빠진 대조군이 무작위가 아닙니다. 빠진 것은 언제나 가장 싸고 가장 자명한 baseline입니다. 구현 난이도가 아니라 이기기 어려운 상대라는 성질이 공통입니다. 그래서 판정 불가로 남깁니다. 이건 회피가 아닙니다. 대조군이 실행되지 않은 비교에 우열을 선언하는 것이 회피이고, 없다는 사실을 명시하는 것이 판정입니다.</a:t>
            </a:r>
            <a:endParaRPr/>
          </a:p>
          <a:p xmlns:a="http://schemas.openxmlformats.org/drawingml/2006/main">
            <a:r>
              <a:t/>
            </a:r>
            <a:endParaRPr/>
          </a:p>
          <a:p xmlns:a="http://schemas.openxmlformats.org/drawingml/2006/main">
            <a:r>
              <a:t>• E vs full-context 품질: 실행되었고 방법이 졌다</a:t>
            </a:r>
            <a:endParaRPr/>
          </a:p>
          <a:p xmlns:a="http://schemas.openxmlformats.org/drawingml/2006/main">
            <a:r>
              <a:t>• E vs full+prefix cache: 실행되지 않았다 — 비용 축 판정 불가</a:t>
            </a:r>
            <a:endParaRPr/>
          </a:p>
          <a:p xmlns:a="http://schemas.openxmlformats.org/drawingml/2006/main">
            <a:r>
              <a:t>• E vs 순수 검색: 부분 실행이되 스윕이 baseline에만 걸림</a:t>
            </a:r>
            <a:endParaRPr/>
          </a:p>
          <a:p xmlns:a="http://schemas.openxmlformats.org/drawingml/2006/main">
            <a:r>
              <a:t>• W vs 계산량 정합: 실행되지 않았다 — 판정 불가</a:t>
            </a:r>
            <a:endParaRPr/>
          </a:p>
          <a:p xmlns:a="http://schemas.openxmlformats.org/drawingml/2006/main">
            <a:r>
              <a:t>• Θ vs in-context: 실행되었으나 레짐이 어긋난다</a:t>
            </a:r>
            <a:endParaRPr/>
          </a:p>
          <a:p xmlns:a="http://schemas.openxmlformats.org/drawingml/2006/main">
            <a:r>
              <a:t>• Θ vs 검색: 두 문장의 기각으로 대신했다 — 판정 불가</a:t>
            </a:r>
            <a:endParaRPr/>
          </a:p>
          <a:p xmlns:a="http://schemas.openxmlformats.org/drawingml/2006/main">
            <a:r>
              <a:t>• 빠진 대조군의 공통점: 가장 싸고 가장 자명한 baseline이다</a:t>
            </a:r>
            <a:endParaRPr/>
          </a:p>
          <a:p xmlns:a="http://schemas.openxmlformats.org/drawingml/2006/main">
            <a:r>
              <a:t>• 그래서 판정은: 세 경로 어디에서도 '판정 불가'로 남긴다</a:t>
            </a:r>
            <a:endParaRPr/>
          </a:p>
          <a:p xmlns:a="http://schemas.openxmlformats.org/drawingml/2006/main">
            <a:r>
              <a:t>• 왜 회피가 아닌가: 없는 표를 지어내는 것이 회피다</a:t>
            </a:r>
            <a:endParaRPr/>
          </a:p>
          <a:p xmlns:a="http://schemas.openxmlformats.org/drawingml/2006/main">
            <a:r>
              <a:t>• 무엇이 필요한가: 새 수치가 아니라 새 표다</a:t>
            </a:r>
            <a:endParaRPr/>
          </a:p>
          <a:p xmlns:a="http://schemas.openxmlformats.org/drawingml/2006/main">
            <a:r>
              <a:t>• 반증 FQ1: 빈칸 하나가 채워지면 그 행이 해소된다</a:t>
            </a:r>
            <a:endParaRPr/>
          </a:p>
          <a:p xmlns:a="http://schemas.openxmlformats.org/drawingml/2006/main">
            <a:r>
              <a:t>• 반증 FQ2: 부재 판정이 틀렸다면 baseline 열을 세면 된다</a:t>
            </a:r>
            <a:endParaRPr/>
          </a:p>
          <a:p xmlns:a="http://schemas.openxmlformats.org/drawingml/2006/main">
            <a:r>
              <a:t>• 비용: 빠진 대조는 전부 실행 비용이 낮다</a:t>
            </a:r>
            <a:endParaRPr/>
          </a:p>
          <a:p xmlns:a="http://schemas.openxmlformats.org/drawingml/2006/main">
            <a:r>
              <a:t>• 재채점: corpus가 커질 때마다 같은 절차로 다시 센다</a:t>
            </a:r>
            <a:endParaRPr/>
          </a:p>
          <a:p xmlns:a="http://schemas.openxmlformats.org/drawingml/2006/main">
            <a:r>
              <a:t/>
            </a:r>
            <a:endParaRPr/>
          </a:p>
          <a:p xmlns:a="http://schemas.openxmlformats.org/drawingml/2006/main">
            <a:r>
              <a:t>[Sources]</a:t>
            </a:r>
            <a:endParaRPr/>
          </a:p>
          <a:p xmlns:a="http://schemas.openxmlformats.org/drawingml/2006/main">
            <a:r>
              <a:t>study-kr-stc ch27 표 27-4</a:t>
            </a:r>
            <a:endParaRPr/>
          </a:p>
          <a:p xmlns:a="http://schemas.openxmlformats.org/drawingml/2006/main">
            <a:r>
              <a:t>study-kr-stc ch27 §27.4 판정 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STC2-105 — 판정 ⑫ — 현재 문헌으로 B_s–품질 곡선은 그릴 수 없다</a:t>
            </a:r>
            <a:endParaRPr/>
          </a:p>
          <a:p xmlns:a="http://schemas.openxmlformats.org/drawingml/2006/main">
            <a:r>
              <a:t>핵심 결론: x축과 y축이 동시에 깨져 있다</a:t>
            </a:r>
            <a:endParaRPr/>
          </a:p>
          <a:p xmlns:a="http://schemas.openxmlformats.org/drawingml/2006/main">
            <a:r>
              <a:t/>
            </a:r>
            <a:endParaRPr/>
          </a:p>
          <a:p xmlns:a="http://schemas.openxmlformats.org/drawingml/2006/main">
            <a:r>
              <a:t>[발표 대본]</a:t>
            </a:r>
            <a:endParaRPr/>
          </a:p>
          <a:p xmlns:a="http://schemas.openxmlformats.org/drawingml/2006/main">
            <a:r>
              <a:t>여섯째 질문, scaling law입니다. 판정은 명확합니다 — 현재 문헌으로 B_s–품질 곡선은 그릴 수 없습니다. x축이 깨져 있습니다. 절대 단위로 인쇄한 논문이 1편이고 그마저 backbone 크기가 없어 환산이 닫히지 않습니다. 벽시계를 계산량으로 옮길 MFU를 보고한 노트가 29편 중 1편인데, 그 한 편은 B_s가 정의되지도 않는 논문입니다. y축도 함께 깨져 있습니다. B_s 축에 3점 이상을 놓은 논문이 4편인데, 그 넷의 벤치마크 교집합이 공집합이고 두 편 이상이 공유하는 벤치마크가 하나도 없습니다. 그리고 결정적으로 — 판별식을 통과한 논문 중 절대 예산 단위로 3점 이상을 놓은 논문이 0편입니다. 예산을 축으로 다룬 두 편은 이 라인 밖의 이론·반증 논문입니다. 범위를 명시합니다. 이건 문헌의 보고 상태에 대한 판정이지 '그런 곡선이 존재하지 않는다'는 주장이 아닙니다. 곡선은 있을 수 있고, 다만 지금 그것을 그린 사람이 없습니다. 그리고 축의 성질도 다릅니다. B_s는 유한한 N_q로 나뉘므로 눈금이 워크로드에 의존합니다. 같은 FLOPs가 워크로드에 따라 다른 비용이 됩니다.</a:t>
            </a:r>
            <a:endParaRPr/>
          </a:p>
          <a:p xmlns:a="http://schemas.openxmlformats.org/drawingml/2006/main">
            <a:r>
              <a:t/>
            </a:r>
            <a:endParaRPr/>
          </a:p>
          <a:p xmlns:a="http://schemas.openxmlformats.org/drawingml/2006/main">
            <a:r>
              <a:t>• 절대 단위 1편: </a:t>
            </a:r>
            <a:endParaRPr/>
          </a:p>
          <a:p xmlns:a="http://schemas.openxmlformats.org/drawingml/2006/main">
            <a:r>
              <a:t>• 3점 이상 4편: </a:t>
            </a:r>
            <a:endParaRPr/>
          </a:p>
          <a:p xmlns:a="http://schemas.openxmlformats.org/drawingml/2006/main">
            <a:r>
              <a:t>• 그중 절대 2편: </a:t>
            </a:r>
            <a:endParaRPr/>
          </a:p>
          <a:p xmlns:a="http://schemas.openxmlformats.org/drawingml/2006/main">
            <a:r>
              <a:t>• 공유 벤치 0건: </a:t>
            </a:r>
            <a:endParaRPr/>
          </a:p>
          <a:p xmlns:a="http://schemas.openxmlformats.org/drawingml/2006/main">
            <a:r>
              <a:t>• A군 중 0편: </a:t>
            </a:r>
            <a:endParaRPr/>
          </a:p>
          <a:p xmlns:a="http://schemas.openxmlformats.org/drawingml/2006/main">
            <a:r>
              <a:t/>
            </a:r>
            <a:endParaRPr/>
          </a:p>
          <a:p xmlns:a="http://schemas.openxmlformats.org/drawingml/2006/main">
            <a:r>
              <a:t>[Sources]</a:t>
            </a:r>
            <a:endParaRPr/>
          </a:p>
          <a:p xmlns:a="http://schemas.openxmlformats.org/drawingml/2006/main">
            <a:r>
              <a:t>study-kr-stc ch28 §28.4 판정 1</a:t>
            </a:r>
            <a:endParaRPr/>
          </a:p>
          <a:p xmlns:a="http://schemas.openxmlformats.org/drawingml/2006/main">
            <a:r>
              <a:t>experiments/stc/X3 Q3, Q4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STC2-106 — 그래서 무엇을 인쇄해야 하는가 — 최소 보고 요구 R1–R9</a:t>
            </a:r>
            <a:endParaRPr/>
          </a:p>
          <a:p xmlns:a="http://schemas.openxmlformats.org/drawingml/2006/main">
            <a:r>
              <a:t>핵심 결론: 아홉 중 새 실험을 요구하는 것은 R3 하나뿐이고 나머지 여덟은 이미 있는 로그의 인쇄다</a:t>
            </a:r>
            <a:endParaRPr/>
          </a:p>
          <a:p xmlns:a="http://schemas.openxmlformats.org/drawingml/2006/main">
            <a:r>
              <a:t/>
            </a:r>
            <a:endParaRPr/>
          </a:p>
          <a:p xmlns:a="http://schemas.openxmlformats.org/drawingml/2006/main">
            <a:r>
              <a:t>[발표 대본]</a:t>
            </a:r>
            <a:endParaRPr/>
          </a:p>
          <a:p xmlns:a="http://schemas.openxmlformats.org/drawingml/2006/main">
            <a:r>
              <a:t>그래서 이 절의 산출물은 곡선이 아니라 목록입니다. 아홉 항목이 인쇄되면 B_s 축이 복원됩니다. 최소 실행 집합은 셋입니다 — R1 또는 R2로 x축의 눈금을, R3으로 3점 이상을, R4로 공유 벤치의 y축을 확보하면 한 경로 안에서 첫 곡선이 그려집니다. R5와 R6이 붙으면 y축을 품질에서 총비용으로 옮길 수 있고, 그때 비로소 상각 회계와 같은 평면에서 만납니다. R7은 오늘 corpus에서 실제로 섞여 있는 두 양을 분리하라는 요구입니다 — 저장소 크기와 질의당 주입량. 이 둘을 섞으면 비가 한 자릿수 넘게 틀어집니다. 그리고 이 목록의 실행 비용을 기록해 둡니다. 아홉 중 새 실험을 요구하는 것은 R3 하나뿐이고, 그마저 '이미 돌린 설정에 두 점을 더한다'에 해당합니다. 나머지 여덟은 전부 이미 존재하는 실행 로그의 인쇄입니다. 그런데도 비어 있다는 것이 앞의 진단을 다시 확인합니다.</a:t>
            </a:r>
            <a:endParaRPr/>
          </a:p>
          <a:p xmlns:a="http://schemas.openxmlformats.org/drawingml/2006/main">
            <a:r>
              <a:t/>
            </a:r>
            <a:endParaRPr/>
          </a:p>
          <a:p xmlns:a="http://schemas.openxmlformats.org/drawingml/2006/main">
            <a:r>
              <a:t>• R1: B_s를 절대 FLOPs로. 못 하면 환산 입력을 함께</a:t>
            </a:r>
            <a:endParaRPr/>
          </a:p>
          <a:p xmlns:a="http://schemas.openxmlformats.org/drawingml/2006/main">
            <a:r>
              <a:t>• R2: step·벽시계면 batch·길이·파라미터·MFU를 함께</a:t>
            </a:r>
            <a:endParaRPr/>
          </a:p>
          <a:p xmlns:a="http://schemas.openxmlformats.org/drawingml/2006/main">
            <a:r>
              <a:t>• R3: 한 점이 아니라 최소 3점 sweep과 각 점의 품질</a:t>
            </a:r>
            <a:endParaRPr/>
          </a:p>
          <a:p xmlns:a="http://schemas.openxmlformats.org/drawingml/2006/main">
            <a:r>
              <a:t>• R4: 공개 벤치에서 같은 지표·같은 baseline arm으로</a:t>
            </a:r>
            <a:endParaRPr/>
          </a:p>
          <a:p xmlns:a="http://schemas.openxmlformats.org/drawingml/2006/main">
            <a:r>
              <a:t>• R5: B_s가 무엇당 예산인지와 N_q의 분포</a:t>
            </a:r>
            <a:endParaRPr/>
          </a:p>
          <a:p xmlns:a="http://schemas.openxmlformats.org/drawingml/2006/main">
            <a:r>
              <a:t>• R6: wake 쪽 델타 — |ĉ|와 |c|</a:t>
            </a:r>
            <a:endParaRPr/>
          </a:p>
          <a:p xmlns:a="http://schemas.openxmlformats.org/drawingml/2006/main">
            <a:r>
              <a:t>• R7: 저장소 크기와 질의당 주입량을 분리해서</a:t>
            </a:r>
            <a:endParaRPr/>
          </a:p>
          <a:p xmlns:a="http://schemas.openxmlformats.org/drawingml/2006/main">
            <a:r>
              <a:t>• R8: 라운드마다 내는지 한 번인지, 그리고 라운드 수</a:t>
            </a:r>
            <a:endParaRPr/>
          </a:p>
          <a:p xmlns:a="http://schemas.openxmlformats.org/drawingml/2006/main">
            <a:r>
              <a:t>• R9: 그림 축이 아니라 표에 숫자로</a:t>
            </a:r>
            <a:endParaRPr/>
          </a:p>
          <a:p xmlns:a="http://schemas.openxmlformats.org/drawingml/2006/main">
            <a:r>
              <a:t>• 최소 실행 집합: R1(또는 R2) · R3 · R4 — 첫 곡선이 그려진다</a:t>
            </a:r>
            <a:endParaRPr/>
          </a:p>
          <a:p xmlns:a="http://schemas.openxmlformats.org/drawingml/2006/main">
            <a:r>
              <a:t>• 총비용으로 옮기려면: R5 · R6이 더해져야 한다</a:t>
            </a:r>
            <a:endParaRPr/>
          </a:p>
          <a:p xmlns:a="http://schemas.openxmlformats.org/drawingml/2006/main">
            <a:r>
              <a:t>• 포화 귀속: R7이 빠지면 예산인지 그릇인지 못 가린다</a:t>
            </a:r>
            <a:endParaRPr/>
          </a:p>
          <a:p xmlns:a="http://schemas.openxmlformats.org/drawingml/2006/main">
            <a:r>
              <a:t>• 총예산 정의: R8이 빠지면 라운드 합이 정의되지 않는다</a:t>
            </a:r>
            <a:endParaRPr/>
          </a:p>
          <a:p xmlns:a="http://schemas.openxmlformats.org/drawingml/2006/main">
            <a:r>
              <a:t>• 실행 비용: 새 실험은 R3 하나. 나머지 여덟은 인쇄다</a:t>
            </a:r>
            <a:endParaRPr/>
          </a:p>
          <a:p xmlns:a="http://schemas.openxmlformats.org/drawingml/2006/main">
            <a:r>
              <a:t/>
            </a:r>
            <a:endParaRPr/>
          </a:p>
          <a:p xmlns:a="http://schemas.openxmlformats.org/drawingml/2006/main">
            <a:r>
              <a:t>[Sources]</a:t>
            </a:r>
            <a:endParaRPr/>
          </a:p>
          <a:p xmlns:a="http://schemas.openxmlformats.org/drawingml/2006/main">
            <a:r>
              <a:t>study-kr-stc ch28 §28.3.7 표 28-5</a:t>
            </a:r>
            <a:endParaRPr/>
          </a:p>
          <a:p xmlns:a="http://schemas.openxmlformats.org/drawingml/2006/main">
            <a:r>
              <a:t>study-kr-stc ch28 §28.4 판정 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STC2-107 — 판정 ⑬ — device 기회는 웜 계층이지 HBM 대역폭이 아니다</a:t>
            </a:r>
            <a:endParaRPr/>
          </a:p>
          <a:p xmlns:a="http://schemas.openxmlformats.org/drawingml/2006/main">
            <a:r>
              <a:t>핵심 결론: 이 판정은 Θ-경로가 사용자 수준 개인화로 갈 때만 성립한다</a:t>
            </a:r>
            <a:endParaRPr/>
          </a:p>
          <a:p xmlns:a="http://schemas.openxmlformats.org/drawingml/2006/main">
            <a:r>
              <a:t/>
            </a:r>
            <a:endParaRPr/>
          </a:p>
          <a:p xmlns:a="http://schemas.openxmlformats.org/drawingml/2006/main">
            <a:r>
              <a:t>[발표 대본]</a:t>
            </a:r>
            <a:endParaRPr/>
          </a:p>
          <a:p xmlns:a="http://schemas.openxmlformats.org/drawingml/2006/main">
            <a:r>
              <a:t>일곱째 질문, memory-device 기회입니다. 오늘 제가 memory-centric 논증을 펴는 유일한 자리입니다. 기회의 좌표를 셋으로 못 박습니다. 첫째 읽기 입도. Θ-경로의 읽기는 요청당 한 번이고 크기는 사용자당 delta 하나, 수 메가바이트입니다. KV cache의 스트리밍 접근도 아니고 벡터 인덱스의 작은 gather도 아닙니다 — 수 MB짜리 객체 하나에 대한 무작위 접근이고 접근 키가 사용자 ID입니다. 둘째 마감. 그 읽기는 요청 지연 안에 끝나야 합니다. 이게 부등식으로 표현됩니다. 그런데 corpus는 좌변의 두 항도, 우변의 예산도 인쇄한 적이 없습니다. 그래서 이 식은 값이 아니라 구조로만 쓸 수 있습니다. 셋째 쓰기 주기. sleep 라운드마다 delta가 새로 만들어지므로 웜 계층이 주기적으로 다시 쓰입니다. 그리고 대역폭이 아닌 이유는 산술로 정해집니다. 8B 모델을 bf16으로 서빙하면 base 가중치가 16 기가바이트이고 decode step마다 전량이 읽힙니다. 같은 요청에 붙는 delta는 그 0.105퍼센트입니다. 대역폭 예산에서 보이지 않습니다. 문제는 크기가 아니라 그 바이트가 첫 토큰 이전에 도착해야 한다는 것입니다.</a:t>
            </a:r>
            <a:endParaRPr/>
          </a:p>
          <a:p xmlns:a="http://schemas.openxmlformats.org/drawingml/2006/main">
            <a:r>
              <a:t/>
            </a:r>
            <a:endParaRPr/>
          </a:p>
          <a:p xmlns:a="http://schemas.openxmlformats.org/drawingml/2006/main">
            <a:r>
              <a:t>• 읽기 입도: 사용자당 수 MB 객체 하나의 무작위 접근</a:t>
            </a:r>
            <a:endParaRPr/>
          </a:p>
          <a:p xmlns:a="http://schemas.openxmlformats.org/drawingml/2006/main">
            <a:r>
              <a:t>• 마감: t_load + t_merge ≤ L_w. 좌변도 우변도 미보고</a:t>
            </a:r>
            <a:endParaRPr/>
          </a:p>
          <a:p xmlns:a="http://schemas.openxmlformats.org/drawingml/2006/main">
            <a:r>
              <a:t>• 쓰기 주기: 라운드마다 전량 교체. N_u에 선형</a:t>
            </a:r>
            <a:endParaRPr/>
          </a:p>
          <a:p xmlns:a="http://schemas.openxmlformats.org/drawingml/2006/main">
            <a:r>
              <a:t>• 대역폭 아님: base 가중치 읽기의 약 0.105%다</a:t>
            </a:r>
            <a:endParaRPr/>
          </a:p>
          <a:p xmlns:a="http://schemas.openxmlformats.org/drawingml/2006/main">
            <a:r>
              <a:t>• 조건: Θ-경로가 사용자 수준 개인화로 갈 때만 성립</a:t>
            </a:r>
            <a:endParaRPr/>
          </a:p>
          <a:p xmlns:a="http://schemas.openxmlformats.org/drawingml/2006/main">
            <a:r>
              <a:t/>
            </a:r>
            <a:endParaRPr/>
          </a:p>
          <a:p xmlns:a="http://schemas.openxmlformats.org/drawingml/2006/main">
            <a:r>
              <a:t>[Sources]</a:t>
            </a:r>
            <a:endParaRPr/>
          </a:p>
          <a:p xmlns:a="http://schemas.openxmlformats.org/drawingml/2006/main">
            <a:r>
              <a:t>study-kr-stc ch29 §29.3.1</a:t>
            </a:r>
            <a:endParaRPr/>
          </a:p>
          <a:p xmlns:a="http://schemas.openxmlformats.org/drawingml/2006/main">
            <a:r>
              <a:t>study-kr-stc ch29 §29.4 판정 1</a:t>
            </a:r>
            <a:endParaRPr/>
          </a:p>
          <a:p xmlns:a="http://schemas.openxmlformats.org/drawingml/2006/main">
            <a:r>
              <a:t>experiments/stc/X2 F4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STC2-108 — 라운드 주기 하나가 소자의 수명 사양을 정한다</a:t>
            </a:r>
            <a:endParaRPr/>
          </a:p>
          <a:p xmlns:a="http://schemas.openxmlformats.org/drawingml/2006/main">
            <a:r>
              <a:t>핵심 결론: 용량도 사용자 수도 dtype도 이 비에서 약분되어 사라지고 남는 것은 라운드 주기 하나다</a:t>
            </a:r>
            <a:endParaRPr/>
          </a:p>
          <a:p xmlns:a="http://schemas.openxmlformats.org/drawingml/2006/main">
            <a:r>
              <a:t/>
            </a:r>
            <a:endParaRPr/>
          </a:p>
          <a:p xmlns:a="http://schemas.openxmlformats.org/drawingml/2006/main">
            <a:r>
              <a:t>[발표 대본]</a:t>
            </a:r>
            <a:endParaRPr/>
          </a:p>
          <a:p xmlns:a="http://schemas.openxmlformats.org/drawingml/2006/main">
            <a:r>
              <a:t>device 기회의 세 번째 좌표를 마저 보겠습니다. 쓰기입니다. sleep 라운드마다 모든 사용자의 delta가 교체되므로, 웜 계층이 받는 쓰기율은 사용자 수 곱하기 delta 크기 나누기 라운드 간격입니다. 여기서 나눗셈을 하나 하면 흥미로운 것이 나옵니다. 하루 쓰기량과 상주 용량의 비, 즉 매체의 하루당 전체 재기록 횟수를 구하면 — 용량이 약분되고, 사용자 수도 약분되고, dtype도 약분됩니다. 남는 것은 라운드 주기 하나입니다. 하루 한 번 자면 1, 한 시간에 한 번 자면 24입니다. 그러므로 '얼마나 자주 자는가'라는 알고리즘 다이얼이 저장 매체의 수명 사양을 직접 정합니다. sleep 주기는 품질 다이얼이면서 동시에 소자 수명 다이얼입니다. 제가 소자를 지목하지 않으면서도 요구를 쓸 수 있는 이유가 이 식입니다. 매체가 무엇이든 이 비는 같은 형태로 걸립니다.</a:t>
            </a:r>
            <a:endParaRPr/>
          </a:p>
          <a:p xmlns:a="http://schemas.openxmlformats.org/drawingml/2006/main">
            <a:r>
              <a:t/>
            </a:r>
            <a:endParaRPr/>
          </a:p>
          <a:p xmlns:a="http://schemas.openxmlformats.org/drawingml/2006/main">
            <a:r>
              <a:t>• 쓰기율: N·C/T</a:t>
            </a:r>
            <a:endParaRPr/>
          </a:p>
          <a:p xmlns:a="http://schemas.openxmlformats.org/drawingml/2006/main">
            <a:r>
              <a:t>• 전량 교체: 용량·사용자 수·dtype이 약분되고 T_k만 남는다</a:t>
            </a:r>
            <a:endParaRPr/>
          </a:p>
          <a:p xmlns:a="http://schemas.openxmlformats.org/drawingml/2006/main">
            <a:r>
              <a:t>• 약분: </a:t>
            </a:r>
            <a:endParaRPr/>
          </a:p>
          <a:p xmlns:a="http://schemas.openxmlformats.org/drawingml/2006/main">
            <a:r>
              <a:t>• 다이얼: </a:t>
            </a:r>
            <a:endParaRPr/>
          </a:p>
          <a:p xmlns:a="http://schemas.openxmlformats.org/drawingml/2006/main">
            <a:r>
              <a:t/>
            </a:r>
            <a:endParaRPr/>
          </a:p>
          <a:p xmlns:a="http://schemas.openxmlformats.org/drawingml/2006/main">
            <a:r>
              <a:t>[Sources]</a:t>
            </a:r>
            <a:endParaRPr/>
          </a:p>
          <a:p xmlns:a="http://schemas.openxmlformats.org/drawingml/2006/main">
            <a:r>
              <a:t>study-kr-stc ch29 §29.3.1</a:t>
            </a:r>
            <a:endParaRPr/>
          </a:p>
          <a:p xmlns:a="http://schemas.openxmlformats.org/drawingml/2006/main">
            <a:r>
              <a:t>study-kr-stc ch29 §29.4 판정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STC2-109 — 이 자리는 앞 모노그래프가 짚은 자리와 다르다</a:t>
            </a:r>
            <a:endParaRPr/>
          </a:p>
          <a:p xmlns:a="http://schemas.openxmlformats.org/drawingml/2006/main">
            <a:r>
              <a:t>핵심 결론: 두 요구는 공존할 때 상쇄되지 않고 합쳐진다. 두 결론을 한 단어로 묶는 서술은 이 합산을 감춘다</a:t>
            </a:r>
            <a:endParaRPr/>
          </a:p>
          <a:p xmlns:a="http://schemas.openxmlformats.org/drawingml/2006/main">
            <a:r>
              <a:t/>
            </a:r>
            <a:endParaRPr/>
          </a:p>
          <a:p xmlns:a="http://schemas.openxmlformats.org/drawingml/2006/main">
            <a:r>
              <a:t>[발표 대본]</a:t>
            </a:r>
            <a:endParaRPr/>
          </a:p>
          <a:p xmlns:a="http://schemas.openxmlformats.org/drawingml/2006/main">
            <a:r>
              <a:t>여기서 유혹을 하나 끊고 가겠습니다. 두 모노그래프의 결론을 잇고 싶은 유혹이 이 지점에서 가장 강합니다. 둘 다 '가중치 형태의 상태가 메모리 계층에 새 요구를 만든다'고 말하기 때문입니다. 그런데 일곱 행이 전부 다릅니다. 병목 자원이 대역폭 대 접근 마감·쓰기 수명으로 다르고, 시간 입도가 토큰당 대 요청당으로 다르며, 상태 수명이 세션 대 사용자로 다릅니다. 그리고 더 중요한 것 — 두 경로가 한 배포에 공존하면 두 요구가 상쇄되지 않고 합쳐집니다. fast weight를 쓰는 모델에 사용자별 delta를 얹으면 HBM은 여전히 토큰당 RMW로 포화하고, 그 위에 요청당 웜 계층 스테이징이 추가로 얹힙니다. 이 판정에 조건이 없는 이유는 근거가 측정이 아니라 상태의 수명과 시간 입도라는 정의적 사실이기 때문입니다. 어떤 소자가 나와도 세션 상태가 사용자 상태가 되지는 않습니다.</a:t>
            </a:r>
            <a:endParaRPr/>
          </a:p>
          <a:p xmlns:a="http://schemas.openxmlformats.org/drawingml/2006/main">
            <a:r>
              <a:t/>
            </a:r>
            <a:endParaRPr/>
          </a:p>
          <a:p xmlns:a="http://schemas.openxmlformats.org/drawingml/2006/main">
            <a:r>
              <a:t>• 병목 자원: HBM 대역폭 대 웜 계층의 마감과 내구성</a:t>
            </a:r>
            <a:endParaRPr/>
          </a:p>
          <a:p xmlns:a="http://schemas.openxmlformats.org/drawingml/2006/main">
            <a:r>
              <a:t>• 시간 입도: 토큰당 대 요청당·라운드당</a:t>
            </a:r>
            <a:endParaRPr/>
          </a:p>
          <a:p xmlns:a="http://schemas.openxmlformats.org/drawingml/2006/main">
            <a:r>
              <a:t>• 상태 수명: 세션 transient 대 사용자 영속</a:t>
            </a:r>
            <a:endParaRPr/>
          </a:p>
          <a:p xmlns:a="http://schemas.openxmlformats.org/drawingml/2006/main">
            <a:r>
              <a:t>• 새 primitive: decode 경로 위 RMW 대 delta 스테이징</a:t>
            </a:r>
            <a:endParaRPr/>
          </a:p>
          <a:p xmlns:a="http://schemas.openxmlformats.org/drawingml/2006/main">
            <a:r>
              <a:t>• 공존: HBM은 여전히 포화하고 그 위에 스테이징이 얹힌다</a:t>
            </a:r>
            <a:endParaRPr/>
          </a:p>
          <a:p xmlns:a="http://schemas.openxmlformats.org/drawingml/2006/main">
            <a:r>
              <a:t/>
            </a:r>
            <a:endParaRPr/>
          </a:p>
          <a:p xmlns:a="http://schemas.openxmlformats.org/drawingml/2006/main">
            <a:r>
              <a:t>[Sources]</a:t>
            </a:r>
            <a:endParaRPr/>
          </a:p>
          <a:p xmlns:a="http://schemas.openxmlformats.org/drawingml/2006/main">
            <a:r>
              <a:t>study-kr-stc ch29 §29.3.2</a:t>
            </a:r>
            <a:endParaRPr/>
          </a:p>
          <a:p xmlns:a="http://schemas.openxmlformats.org/drawingml/2006/main">
            <a:r>
              <a:t>study-kr-stc ch29 §29.4 판정 2</a:t>
            </a:r>
            <a:endParaRPr/>
          </a:p>
          <a:p xmlns:a="http://schemas.openxmlformats.org/drawingml/2006/main">
            <a:r>
              <a:t>NM ch20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STC2-110 — shared-weight batching은 이분법이 아니라 네 단계다</a:t>
            </a:r>
            <a:endParaRPr/>
          </a:p>
          <a:p xmlns:a="http://schemas.openxmlformats.org/drawingml/2006/main">
            <a:r>
              <a:t>핵심 결론: 완화 가능한 대가와 완화 불가능한 대가를 같은 저울에 올리지 않는다</a:t>
            </a:r>
            <a:endParaRPr/>
          </a:p>
          <a:p xmlns:a="http://schemas.openxmlformats.org/drawingml/2006/main">
            <a:r>
              <a:t/>
            </a:r>
            <a:endParaRPr/>
          </a:p>
          <a:p xmlns:a="http://schemas.openxmlformats.org/drawingml/2006/main">
            <a:r>
              <a:t>[발표 대본]</a:t>
            </a:r>
            <a:endParaRPr/>
          </a:p>
          <a:p xmlns:a="http://schemas.openxmlformats.org/drawingml/2006/main">
            <a:r>
              <a:t>'Θ-경로는 batching을 깬다'는 문장은 절반만 맞습니다. 네 단계로 갈라야 합니다. E-경로는 유지됩니다. W-경로는 세션 단위로 부분 파손됩니다 — 상태가 HBM에 상주하므로 동시 세션 수가 상태 바이트로 제한됩니다. 사용자 수준 Θ delta는 delta 단위로 깨집니다. 이건 라우팅 문제입니다 — 같은 delta를 쓰는 요청을 한 배치에 모으면 배치 안에서 가중치가 다시 공유됩니다. 다만 완화의 상한이 있습니다. 개인화는 정의상 delta가 사용자마다 다르므로, 사용자 하나가 동시에 요청 하나만 보내는 대화형 워크로드에서는 배치 폭이 1에 가까워지고 남는 것은 grouped-GEMM 경로뿐입니다. 네 번째 행을 따로 강조합니다. 인구 수준 Θ-경로 — 전역 편집, 지속 사전학습, 공유 memory layer — 는 가중치 1벌을 유지하므로 이 기회를 만들지 않습니다. memory-device 기회를 만드는 것은 Θ-경로 자체가 아니라 Θ-경로의 개인화입니다. 그리고 마지막 행의 파손은 용량 문제라 완화 수단이 구조적으로 없습니다. 두 종류를 같은 저울에 올리면 안 됩니다.</a:t>
            </a:r>
            <a:endParaRPr/>
          </a:p>
          <a:p xmlns:a="http://schemas.openxmlformats.org/drawingml/2006/main">
            <a:r>
              <a:t/>
            </a:r>
            <a:endParaRPr/>
          </a:p>
          <a:p xmlns:a="http://schemas.openxmlformats.org/drawingml/2006/main">
            <a:r>
              <a:t>• E-경로: 유지 · 프롬프트 길이만 늘어난다</a:t>
            </a:r>
            <a:endParaRPr/>
          </a:p>
          <a:p xmlns:a="http://schemas.openxmlformats.org/drawingml/2006/main">
            <a:r>
              <a:t>• W-경로: 세션 단위 부분 파손 · 동시 세션 수가 제한된다</a:t>
            </a:r>
            <a:endParaRPr/>
          </a:p>
          <a:p xmlns:a="http://schemas.openxmlformats.org/drawingml/2006/main">
            <a:r>
              <a:t>• Θ 사용자 수준: delta 단위 파손 · 라우팅으로 완화 가능</a:t>
            </a:r>
            <a:endParaRPr/>
          </a:p>
          <a:p xmlns:a="http://schemas.openxmlformats.org/drawingml/2006/main">
            <a:r>
              <a:t>• Θ 인구 수준: 유지 · 가중치 1벌. 이 기회를 만들지 않는다</a:t>
            </a:r>
            <a:endParaRPr/>
          </a:p>
          <a:p xmlns:a="http://schemas.openxmlformats.org/drawingml/2006/main">
            <a:r>
              <a:t>• 직접 편집 개인화: 완전 파손 · 완화 수단이 구조적으로 없다</a:t>
            </a:r>
            <a:endParaRPr/>
          </a:p>
          <a:p xmlns:a="http://schemas.openxmlformats.org/drawingml/2006/main">
            <a:r>
              <a:t/>
            </a:r>
            <a:endParaRPr/>
          </a:p>
          <a:p xmlns:a="http://schemas.openxmlformats.org/drawingml/2006/main">
            <a:r>
              <a:t>[Sources]</a:t>
            </a:r>
            <a:endParaRPr/>
          </a:p>
          <a:p xmlns:a="http://schemas.openxmlformats.org/drawingml/2006/main">
            <a:r>
              <a:t>study-kr-stc ch29 §29.3.3</a:t>
            </a:r>
            <a:endParaRPr/>
          </a:p>
          <a:p xmlns:a="http://schemas.openxmlformats.org/drawingml/2006/main">
            <a:r>
              <a:t>study-kr-stc ch29 §29.4 판정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STC2-111 — 이 기회를 사기 전에 필요한 것은 소자가 아니라 인쇄값 셋</a:t>
            </a:r>
            <a:endParaRPr/>
          </a:p>
          <a:p xmlns:a="http://schemas.openxmlformats.org/drawingml/2006/main">
            <a:r>
              <a:t>핵심 결론: 셋 다 corpus에 0편이고 셋 다 새 하드웨어를 요구하지 않는다</a:t>
            </a:r>
            <a:endParaRPr/>
          </a:p>
          <a:p xmlns:a="http://schemas.openxmlformats.org/drawingml/2006/main">
            <a:r>
              <a:t/>
            </a:r>
            <a:endParaRPr/>
          </a:p>
          <a:p xmlns:a="http://schemas.openxmlformats.org/drawingml/2006/main">
            <a:r>
              <a:t>[발표 대본]</a:t>
            </a:r>
            <a:endParaRPr/>
          </a:p>
          <a:p xmlns:a="http://schemas.openxmlformats.org/drawingml/2006/main">
            <a:r>
              <a:t>그래서 이 기회에 대한 실무 결론입니다. 사기 전에 필요한 것은 소자가 아니라 인쇄값 셋입니다. 첫째, delta 스테이징의 wake 지연. delta를 요청 경로에 올리는 방식은 셋인데 — 미리 머지한 사본, 분리된 delta 로드, 요청 경로에서 생성 — 세 방식 어느 것에 대해서도 지연을 측정한 논문이 없습니다. 그래서 오늘 이 셋 사이의 선택은 측정이 아니라 취향으로 이루어집니다. 둘째, 양자화된 delta의 회수율. dtype 결정 하나가 총량과 마감 여유와 쓰기 수명을 같은 배수로 동시에 움직입니다. 이 분야에서 가장 큰 지렛대인데, 그 지렛대를 당겼을 때 품질이 어디서 무너지는지 잰 논문이 없습니다. 셋째, K* — 반복 지평입니다. 100라운드를 넘긴 실험이 0편입니다. 셋 다 새 하드웨어를 요구하지 않습니다. 이 분야가 웜 계층 소자를 논하기 전에 지불하지 않은 것은 자본이 아니라 실험 몇 편입니다.</a:t>
            </a:r>
            <a:endParaRPr/>
          </a:p>
          <a:p xmlns:a="http://schemas.openxmlformats.org/drawingml/2006/main">
            <a:r>
              <a:t/>
            </a:r>
            <a:endParaRPr/>
          </a:p>
          <a:p xmlns:a="http://schemas.openxmlformats.org/drawingml/2006/main">
            <a:r>
              <a:t>• delta 스테이징: 세 방식 어디에도 L_w 측정이 없다</a:t>
            </a:r>
            <a:endParaRPr/>
          </a:p>
          <a:p xmlns:a="http://schemas.openxmlformats.org/drawingml/2006/main">
            <a:r>
              <a:t>• 양자화 회수율: 가장 큰 지렛대를 당긴 논문이 0편</a:t>
            </a:r>
            <a:endParaRPr/>
          </a:p>
          <a:p xmlns:a="http://schemas.openxmlformats.org/drawingml/2006/main">
            <a:r>
              <a:t>• K* 측정: 100라운드를 넘긴 실험이 0편</a:t>
            </a:r>
            <a:endParaRPr/>
          </a:p>
          <a:p xmlns:a="http://schemas.openxmlformats.org/drawingml/2006/main">
            <a:r>
              <a:t/>
            </a:r>
            <a:endParaRPr/>
          </a:p>
          <a:p xmlns:a="http://schemas.openxmlformats.org/drawingml/2006/main">
            <a:r>
              <a:t>[Sources]</a:t>
            </a:r>
            <a:endParaRPr/>
          </a:p>
          <a:p xmlns:a="http://schemas.openxmlformats.org/drawingml/2006/main">
            <a:r>
              <a:t>study-kr-stc ch29 §29.4 판정 6</a:t>
            </a:r>
            <a:endParaRPr/>
          </a:p>
          <a:p xmlns:a="http://schemas.openxmlformats.org/drawingml/2006/main">
            <a:r>
              <a:t>study-kr-stc ch29 표 29-4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STC2-112 — 이 발표가 틀릴 수 있는 지점 다섯</a:t>
            </a:r>
            <a:endParaRPr/>
          </a:p>
          <a:p xmlns:a="http://schemas.openxmlformats.org/drawingml/2006/main">
            <a:r>
              <a:t>핵심 결론: 반증 불가능한 판정은 이 발표에서 쓰지 않는다</a:t>
            </a:r>
            <a:endParaRPr/>
          </a:p>
          <a:p xmlns:a="http://schemas.openxmlformats.org/drawingml/2006/main">
            <a:r>
              <a:t/>
            </a:r>
            <a:endParaRPr/>
          </a:p>
          <a:p xmlns:a="http://schemas.openxmlformats.org/drawingml/2006/main">
            <a:r>
              <a:t>[발표 대본]</a:t>
            </a:r>
            <a:endParaRPr/>
          </a:p>
          <a:p xmlns:a="http://schemas.openxmlformats.org/drawingml/2006/main">
            <a:r>
              <a:t>이제 이 발표가 틀릴 수 있는 지점을 적겠습니다. 다섯만 고르겠습니다. 첫째, 분류. 판별식 네 조건을 모두 만족하는데 제가 B군에 넣은 절차가 원문 대조로 확인되면 첫 판정이 틀렸습니다. 가장 가까운 후보를 제가 이미 지목해 뒀습니다 — Memory Caching이 논하는 사후 학습 변형입니다. 둘째, 간격의 구조성. E-경로 논문이 W나 Θ 방법을 같은 표 안에서 baseline으로 실행하면 — 한 문장 언급이 아니라 돌린 수치로 — 간격은 사회적 구조가 아니라 시간이 해결하는 지체였다는 뜻입니다. 셋째, 축. 절대 단위로 B_s를 3점 이상 인쇄한 논문이 셋만 모여도 곡선의 첫 조각이 그려집니다. 이건 가장 쉽게 일어날 수 있는 반증이고, 저는 그것이 일어나기를 요구하는 쪽에 서 있습니다. 넷째, 부호. 실제 LLM 실험에서 자기 출력 앵커 replay가 원본 앵커보다 오래 버티면 제 최소모형의 부호가 틀렸습니다. 다섯째, 계층. 활성 delta의 working set이 노드 로컬에 상주하고 sticky 라우팅 적중률이 높으면 별도 웜 계층 논증이 약해집니다. 단 그걸 반증하려면 평균이 아니라 꼬리 분위수 적중률을 인쇄해야 합니다.</a:t>
            </a:r>
            <a:endParaRPr/>
          </a:p>
          <a:p xmlns:a="http://schemas.openxmlformats.org/drawingml/2006/main">
            <a:r>
              <a:t/>
            </a:r>
            <a:endParaRPr/>
          </a:p>
          <a:p xmlns:a="http://schemas.openxmlformats.org/drawingml/2006/main">
            <a:r>
              <a:t>• 분류: 네 조건을 다 만족하는데 B군에 넣은 절차가 있으면</a:t>
            </a:r>
            <a:endParaRPr/>
          </a:p>
          <a:p xmlns:a="http://schemas.openxmlformats.org/drawingml/2006/main">
            <a:r>
              <a:t>• 간격: E 논문이 W·Θ를 같은 표에서 baseline으로 돌리면</a:t>
            </a:r>
            <a:endParaRPr/>
          </a:p>
          <a:p xmlns:a="http://schemas.openxmlformats.org/drawingml/2006/main">
            <a:r>
              <a:t>• 축: 절대 단위 B_s 3점을 인쇄한 논문 셋이 나오면</a:t>
            </a:r>
            <a:endParaRPr/>
          </a:p>
          <a:p xmlns:a="http://schemas.openxmlformats.org/drawingml/2006/main">
            <a:r>
              <a:t>• 부호: self replay가 gold replay보다 오래 버티면</a:t>
            </a:r>
            <a:endParaRPr/>
          </a:p>
          <a:p xmlns:a="http://schemas.openxmlformats.org/drawingml/2006/main">
            <a:r>
              <a:t>• 계층: delta working set이 노드 로컬에 상주하면</a:t>
            </a:r>
            <a:endParaRPr/>
          </a:p>
          <a:p xmlns:a="http://schemas.openxmlformats.org/drawingml/2006/main">
            <a:r>
              <a:t/>
            </a:r>
            <a:endParaRPr/>
          </a:p>
          <a:p xmlns:a="http://schemas.openxmlformats.org/drawingml/2006/main">
            <a:r>
              <a:t>[Sources]</a:t>
            </a:r>
            <a:endParaRPr/>
          </a:p>
          <a:p xmlns:a="http://schemas.openxmlformats.org/drawingml/2006/main">
            <a:r>
              <a:t>study-kr-stc ch24 §24.5</a:t>
            </a:r>
            <a:endParaRPr/>
          </a:p>
          <a:p xmlns:a="http://schemas.openxmlformats.org/drawingml/2006/main">
            <a:r>
              <a:t>study-kr-stc ch27 §27.5</a:t>
            </a:r>
            <a:endParaRPr/>
          </a:p>
          <a:p xmlns:a="http://schemas.openxmlformats.org/drawingml/2006/main">
            <a:r>
              <a:t>study-kr-stc ch29 §29.5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STC2-113 — 이 발표의 실험 하나가 초판에서 틀렸다 — 하한을 상한으로</a:t>
            </a:r>
            <a:endParaRPr/>
          </a:p>
          <a:p xmlns:a="http://schemas.openxmlformats.org/drawingml/2006/main">
            <a:r>
              <a:t>핵심 결론: 정정 이력이 없으면 살아남은 주장이 검사를 통과해서 남은 것인지 알 수 없다</a:t>
            </a:r>
            <a:endParaRPr/>
          </a:p>
          <a:p xmlns:a="http://schemas.openxmlformats.org/drawingml/2006/main">
            <a:r>
              <a:t/>
            </a:r>
            <a:endParaRPr/>
          </a:p>
          <a:p xmlns:a="http://schemas.openxmlformats.org/drawingml/2006/main">
            <a:r>
              <a:t>[발표 대본]</a:t>
            </a:r>
            <a:endParaRPr/>
          </a:p>
          <a:p xmlns:a="http://schemas.openxmlformats.org/drawingml/2006/main">
            <a:r>
              <a:t>여기서 제 실험 하나의 오류를 싣겠습니다. X2 초판은 파라미터당 3.64 bits를 상한으로 놓고 경로 간 정보 밀도 비를 계산했습니다. E가 Θ보다 바이트당 정보를 더 담는다는 결론이 나왔습니다. 그런데 원 논문은 그 값을 명시적으로 하한이라고 씁니다 — 우리는 언제나 모델 용량의 하한만 재고 있다고. 하한과 액면가를 나눈 비는 어느 방향으로도 결론을 주지 않습니다. 그래서 그 비교를 철회했습니다. 죽은 것은 경로 간 밀도의 순서 하나이고, 살아남은 것은 넷입니다 — dtype 축의 결론, 표 26-2의 자릿수 차이, 사용자 수 스케일링의 모양, 서빙 구조 분류. 이걸 본문에 싣는 이유는 셋입니다. 제가 논문들에 요구한 것을 자신에게 적용한 기록이기 때문이고, 이 오류의 종류가 이 분야에서 가장 흔한 종류 — bound의 방향을 잃는 것 — 이기 때문이며, 정정 이력이 없으면 살아남은 주장이 검사를 통과해서 남은 것인지 검사를 안 받아서 남은 것인지 독자가 구별할 수 없기 때문입니다.</a:t>
            </a:r>
            <a:endParaRPr/>
          </a:p>
          <a:p xmlns:a="http://schemas.openxmlformats.org/drawingml/2006/main">
            <a:r>
              <a:t/>
            </a:r>
            <a:endParaRPr/>
          </a:p>
          <a:p xmlns:a="http://schemas.openxmlformats.org/drawingml/2006/main">
            <a:r>
              <a:t>• 무엇이: 3.64 bits/param을 상한으로 놓고 경로 간 밀도 비 계산</a:t>
            </a:r>
            <a:endParaRPr/>
          </a:p>
          <a:p xmlns:a="http://schemas.openxmlformats.org/drawingml/2006/main">
            <a:r>
              <a:t>• 왜 틀렸나: 원 논문이 명시적으로 하한이라고 밝힌 값이다</a:t>
            </a:r>
            <a:endParaRPr/>
          </a:p>
          <a:p xmlns:a="http://schemas.openxmlformats.org/drawingml/2006/main">
            <a:r>
              <a:t>• 처리: 비교는 철회, dtype 배수는 살아남음, 반증 실험 신설</a:t>
            </a:r>
            <a:endParaRPr/>
          </a:p>
          <a:p xmlns:a="http://schemas.openxmlformats.org/drawingml/2006/main">
            <a:r>
              <a:t/>
            </a:r>
            <a:endParaRPr/>
          </a:p>
          <a:p xmlns:a="http://schemas.openxmlformats.org/drawingml/2006/main">
            <a:r>
              <a:t>[Sources]</a:t>
            </a:r>
            <a:endParaRPr/>
          </a:p>
          <a:p xmlns:a="http://schemas.openxmlformats.org/drawingml/2006/main">
            <a:r>
              <a:t>study-kr-stc ch26 §26.3.4</a:t>
            </a:r>
            <a:endParaRPr/>
          </a:p>
          <a:p xmlns:a="http://schemas.openxmlformats.org/drawingml/2006/main">
            <a:r>
              <a:t>[lm-memorization-capacity §3.2]</a:t>
            </a:r>
            <a:endParaRPr/>
          </a:p>
          <a:p xmlns:a="http://schemas.openxmlformats.org/drawingml/2006/main">
            <a:r>
              <a:t>experiments/stc/X2 F3_withdrawn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STC2-114 — 판별식을 다르게 그으면 무엇이 달라지는가</a:t>
            </a:r>
            <a:endParaRPr/>
          </a:p>
          <a:p xmlns:a="http://schemas.openxmlformats.org/drawingml/2006/main">
            <a:r>
              <a:t>핵심 결론: 네 변형 어디에서도 척추 논지는 살아남는다. 무너지는 것은 편수에 기대는 판정들이다</a:t>
            </a:r>
            <a:endParaRPr/>
          </a:p>
          <a:p xmlns:a="http://schemas.openxmlformats.org/drawingml/2006/main">
            <a:r>
              <a:t/>
            </a:r>
            <a:endParaRPr/>
          </a:p>
          <a:p xmlns:a="http://schemas.openxmlformats.org/drawingml/2006/main">
            <a:r>
              <a:t>[발표 대본]</a:t>
            </a:r>
            <a:endParaRPr/>
          </a:p>
          <a:p xmlns:a="http://schemas.openxmlformats.org/drawingml/2006/main">
            <a:r>
              <a:t>판별식은 발견이 아니라 결정입니다. 그러니 다르게 그으면 무엇이 달라지는지를 계산해야 합니다. 네 변형을 실제로 돌려 봤습니다. 시계 조건을 완화하면 MemGPT가 정식 통과가 되고 Generative Adapter가 W-경로 두 번째로 들어옵니다. 그러면 'W-경로는 표본 1'이라는 판정이 '표본 2'가 됩니다. 즉 그 판정의 근거 절반이 조건 하나의 엄격성에 직접 의존합니다. 읽기식 변경까지 확장하면 Memory Caching이 들어오는데, 대가로 상각식이 정의되지 않는 원소가 A군에 들어옵니다. 산출물 모양으로 분류하면 Θ 표본이 둘에서 넷으로 늘지만 그 넷은 갱신식이 서로 달라 비용 표를 같은 자로 채울 수 없습니다. 모양 분류가 편수를 늘리고 비교 가능성을 줄입니다. 여기서 핵심 판정 하나. 네 변형 어디에서도 척추 논지는 무너지지 않습니다. 경로 간 침묵은 참고문헌 전수 확인에서, 비용 침묵은 각 논문의 비용 절에서, 이름과 기제의 어긋남은 제목과 본문 대조에서 각각 독립적으로 읽히기 때문입니다. 무너지는 것은 편수에 기대는 판정들입니다. 그러니 제 계수를 인용하실 때는 판별식을 함께 인용해 주십시오.</a:t>
            </a:r>
            <a:endParaRPr/>
          </a:p>
          <a:p xmlns:a="http://schemas.openxmlformats.org/drawingml/2006/main">
            <a:r>
              <a:t/>
            </a:r>
            <a:endParaRPr/>
          </a:p>
          <a:p xmlns:a="http://schemas.openxmlformats.org/drawingml/2006/main">
            <a:r>
              <a:t>• (a) 시계 완화: W-경로가 표본 2</a:t>
            </a:r>
            <a:endParaRPr/>
          </a:p>
          <a:p xmlns:a="http://schemas.openxmlformats.org/drawingml/2006/main">
            <a:r>
              <a:t>• (b) 읽기 확장: 상각이 붕괴</a:t>
            </a:r>
            <a:endParaRPr/>
          </a:p>
          <a:p xmlns:a="http://schemas.openxmlformats.org/drawingml/2006/main">
            <a:r>
              <a:t>• (c) (4) 제거: 범주가 무한 확장</a:t>
            </a:r>
            <a:endParaRPr/>
          </a:p>
          <a:p xmlns:a="http://schemas.openxmlformats.org/drawingml/2006/main">
            <a:r>
              <a:t>• (d) 모양 분류: 비교 가능성 감소</a:t>
            </a:r>
            <a:endParaRPr/>
          </a:p>
          <a:p xmlns:a="http://schemas.openxmlformats.org/drawingml/2006/main">
            <a:r>
              <a:t>• 살아남음: 침묵 · 비용 · 어긋남</a:t>
            </a:r>
            <a:endParaRPr/>
          </a:p>
          <a:p xmlns:a="http://schemas.openxmlformats.org/drawingml/2006/main">
            <a:r>
              <a:t>• 무너짐: 편수 판정 셋</a:t>
            </a:r>
            <a:endParaRPr/>
          </a:p>
          <a:p xmlns:a="http://schemas.openxmlformats.org/drawingml/2006/main">
            <a:r>
              <a:t/>
            </a:r>
            <a:endParaRPr/>
          </a:p>
          <a:p xmlns:a="http://schemas.openxmlformats.org/drawingml/2006/main">
            <a:r>
              <a:t>[Sources]</a:t>
            </a:r>
            <a:endParaRPr/>
          </a:p>
          <a:p xmlns:a="http://schemas.openxmlformats.org/drawingml/2006/main">
            <a:r>
              <a:t>study-kr-stc ch30 §30.3.3</a:t>
            </a:r>
            <a:endParaRPr/>
          </a:p>
          <a:p xmlns:a="http://schemas.openxmlformats.org/drawingml/2006/main">
            <a:r>
              <a:t>study-kr-stc ch30 §30.4 판정 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STC2-115 — GPU 실측이 없다는 것이 막는 것과 막지 않는 것</a:t>
            </a:r>
            <a:endParaRPr/>
          </a:p>
          <a:p xmlns:a="http://schemas.openxmlformats.org/drawingml/2006/main">
            <a:r>
              <a:t>핵심 결론: 대가는 하나 — 이 발표는 자기 판정의 실무적 무게를 스스로 확정할 수 없다</a:t>
            </a:r>
            <a:endParaRPr/>
          </a:p>
          <a:p xmlns:a="http://schemas.openxmlformats.org/drawingml/2006/main">
            <a:r>
              <a:t/>
            </a:r>
            <a:endParaRPr/>
          </a:p>
          <a:p xmlns:a="http://schemas.openxmlformats.org/drawingml/2006/main">
            <a:r>
              <a:t>[발표 대본]</a:t>
            </a:r>
            <a:endParaRPr/>
          </a:p>
          <a:p xmlns:a="http://schemas.openxmlformats.org/drawingml/2006/main">
            <a:r>
              <a:t>한계를 정직하게 다루는 방법은 크게 말하는 것이 아니라 정확히 재는 것입니다. 실측의 부재가 막는 것은 값 주장입니다. 세 종류입니다. 절대 지연과 처리량 — 저는 delta 스테이징이 몇 밀리초인지 말하지 않습니다. 실제 서빙 스택에서의 병목 순위 — 가중치·활성·KV·delta가 공존할 때 무엇이 먼저 포화하는지는 회계로 닫히지 않습니다. 그리고 품질과 비용의 실제 교환 곡선 — 제 회계는 정확도를 동일하다고 놓고 비용만 셉니다. 막지 않는 것은 형태 주장입니다. 부재의 진술, 구조 분류, 식의 성질, 자릿수와 순서. 넷 다 GPU를 요구하지 않습니다. 그러므로 실측의 부재가 무효로 만드는 것은 제가 애초에 쓰지 않기로 한 종류의 문장입니다. 다만 대가가 하나 있고 그건 실재합니다. 저는 제 판정의 실무적 무게를 스스로 확정할 수 없습니다. 웜 계층 기회는 자릿수 논증으로 서 있고, 그 자릿수가 실제 서빙에서 어느 정도의 압력이 되는지는 측정 없이 말할 수 없습니다. 그리고 이건 형태 주장이 실측에서 안 뒤집힌다는 뜻도 아닙니다. 순서·자릿수·부호는 측정으로 반증될 수 있습니다.</a:t>
            </a:r>
            <a:endParaRPr/>
          </a:p>
          <a:p xmlns:a="http://schemas.openxmlformats.org/drawingml/2006/main">
            <a:r>
              <a:t/>
            </a:r>
            <a:endParaRPr/>
          </a:p>
          <a:p xmlns:a="http://schemas.openxmlformats.org/drawingml/2006/main">
            <a:r>
              <a:t>• 막는다 ①: 절대 지연과 처리량. 몇 ms인지 말할 수 없다</a:t>
            </a:r>
            <a:endParaRPr/>
          </a:p>
          <a:p xmlns:a="http://schemas.openxmlformats.org/drawingml/2006/main">
            <a:r>
              <a:t>• 막는다 ②: 실제 스택에서의 병목 순위</a:t>
            </a:r>
            <a:endParaRPr/>
          </a:p>
          <a:p xmlns:a="http://schemas.openxmlformats.org/drawingml/2006/main">
            <a:r>
              <a:t>• 막는다 ③: 품질과 비용의 실제 교환 곡선</a:t>
            </a:r>
            <a:endParaRPr/>
          </a:p>
          <a:p xmlns:a="http://schemas.openxmlformats.org/drawingml/2006/main">
            <a:r>
              <a:t>• 안 막는다: 부재·구조 분류·식의 성질·자릿수·순서·부호</a:t>
            </a:r>
            <a:endParaRPr/>
          </a:p>
          <a:p xmlns:a="http://schemas.openxmlformats.org/drawingml/2006/main">
            <a:r>
              <a:t>• 대가: 웜 계층 기회는 자릿수 논증으로만 서 있다</a:t>
            </a:r>
            <a:endParaRPr/>
          </a:p>
          <a:p xmlns:a="http://schemas.openxmlformats.org/drawingml/2006/main">
            <a:r>
              <a:t/>
            </a:r>
            <a:endParaRPr/>
          </a:p>
          <a:p xmlns:a="http://schemas.openxmlformats.org/drawingml/2006/main">
            <a:r>
              <a:t>[Sources]</a:t>
            </a:r>
            <a:endParaRPr/>
          </a:p>
          <a:p xmlns:a="http://schemas.openxmlformats.org/drawingml/2006/main">
            <a:r>
              <a:t>study-kr-stc ch30 §30.3.1</a:t>
            </a:r>
            <a:endParaRPr/>
          </a:p>
          <a:p xmlns:a="http://schemas.openxmlformats.org/drawingml/2006/main">
            <a:r>
              <a:t>study-kr-stc ch30 §30.4 판정 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STC2-116 — 이 발표가 가장 빨리 낡는 방식은 반박이 아니라 인쇄다</a:t>
            </a:r>
            <a:endParaRPr/>
          </a:p>
          <a:p xmlns:a="http://schemas.openxmlformats.org/drawingml/2006/main">
            <a:r>
              <a:t>핵심 결론: 문헌의 상태를 바꾸는 비용이 낮다는 사실 자체가 이 진단이 옳다는 증거다</a:t>
            </a:r>
            <a:endParaRPr/>
          </a:p>
          <a:p xmlns:a="http://schemas.openxmlformats.org/drawingml/2006/main">
            <a:r>
              <a:t/>
            </a:r>
            <a:endParaRPr/>
          </a:p>
          <a:p xmlns:a="http://schemas.openxmlformats.org/drawingml/2006/main">
            <a:r>
              <a:t>[발표 대본]</a:t>
            </a:r>
            <a:endParaRPr/>
          </a:p>
          <a:p xmlns:a="http://schemas.openxmlformats.org/drawingml/2006/main">
            <a:r>
              <a:t>한계 절의 마지막입니다. 제 판정을 움직일 새 결과 아홉 유형을 표로 정리했는데, 그중 셋이 새 실험을 요구하지 않습니다. 둘은 이미 실행된 로그의 인쇄이고 하나는 스위치를 켠 재실행입니다. 실서빙 N_q 분포 한 줄. 사용자당 상태 바이트 한 줄. prefix cache를 켠 재실행. 그리고 표 밖에도 같은 종류가 더 있습니다 — LoRA 체크포인트 하나의 파일 크기를 재는 것, 연속한 두 라운드의 delta를 diff하는 것. 그러므로 이 발표가 가장 빨리 낡는 방식은 반박이 아니라 인쇄입니다. 저를 틀리게 만들려면 새 방법을 발명할 필요가 없고, 이미 가진 값을 적기만 하면 됩니다. 반대로 잘 안 낡는 것도 있습니다. 역사적 사실 — 어느 논문이 무엇을 인쇄했고 무엇을 인용하지 않았는가. 식의 성질 — 상각식의 구조적 결함은 새 측정으로 사라지지 않고 설계를 바꿔야 사라집니다. 그리고 구조 분류. 문헌의 상태를 바꾸는 비용이 낮다는 사실 자체가 이 진단이 옳다는 증거이자, 이 발표가 오래 유효하지 않기를 바라는 이유입니다.</a:t>
            </a:r>
            <a:endParaRPr/>
          </a:p>
          <a:p xmlns:a="http://schemas.openxmlformats.org/drawingml/2006/main">
            <a:r>
              <a:t/>
            </a:r>
            <a:endParaRPr/>
          </a:p>
          <a:p xmlns:a="http://schemas.openxmlformats.org/drawingml/2006/main">
            <a:r>
              <a:t>• N_q 분포: 한 줄</a:t>
            </a:r>
            <a:endParaRPr/>
          </a:p>
          <a:p xmlns:a="http://schemas.openxmlformats.org/drawingml/2006/main">
            <a:r>
              <a:t>• 사용자당 바이트: 한 줄</a:t>
            </a:r>
            <a:endParaRPr/>
          </a:p>
          <a:p xmlns:a="http://schemas.openxmlformats.org/drawingml/2006/main">
            <a:r>
              <a:t>• prefix cache: 스위치</a:t>
            </a:r>
            <a:endParaRPr/>
          </a:p>
          <a:p xmlns:a="http://schemas.openxmlformats.org/drawingml/2006/main">
            <a:r>
              <a:t>• 체크포인트 diff: 파일 둘</a:t>
            </a:r>
            <a:endParaRPr/>
          </a:p>
          <a:p xmlns:a="http://schemas.openxmlformats.org/drawingml/2006/main">
            <a:r>
              <a:t/>
            </a:r>
            <a:endParaRPr/>
          </a:p>
          <a:p xmlns:a="http://schemas.openxmlformats.org/drawingml/2006/main">
            <a:r>
              <a:t>[Sources]</a:t>
            </a:r>
            <a:endParaRPr/>
          </a:p>
          <a:p xmlns:a="http://schemas.openxmlformats.org/drawingml/2006/main">
            <a:r>
              <a:t>study-kr-stc ch30 §30.3.4</a:t>
            </a:r>
            <a:endParaRPr/>
          </a:p>
          <a:p xmlns:a="http://schemas.openxmlformats.org/drawingml/2006/main">
            <a:r>
              <a:t>study-kr-stc ch30 §30.4 판정 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STC2-117 — Q&amp;A 지도 — 네 종류의 질문에 답하는 방식이 다르다</a:t>
            </a:r>
            <a:endParaRPr/>
          </a:p>
          <a:p xmlns:a="http://schemas.openxmlformats.org/drawingml/2006/main">
            <a:r>
              <a:t>핵심 결론: '근거가 뭐냐'는 질문에는 실험 등급으로, '그래서 어쩌라고'는 실험 목록으로 답한다</a:t>
            </a:r>
            <a:endParaRPr/>
          </a:p>
          <a:p xmlns:a="http://schemas.openxmlformats.org/drawingml/2006/main">
            <a:r>
              <a:t/>
            </a:r>
            <a:endParaRPr/>
          </a:p>
          <a:p xmlns:a="http://schemas.openxmlformats.org/drawingml/2006/main">
            <a:r>
              <a:t>[발표 대본]</a:t>
            </a:r>
            <a:endParaRPr/>
          </a:p>
          <a:p xmlns:a="http://schemas.openxmlformats.org/drawingml/2006/main">
            <a:r>
              <a:t>이제 Q&amp;A입니다. 30분 잡았습니다. 질문이 네 종류로 올 것 같아서 답하는 방식을 미리 정해 뒀습니다. 사실 질문 — '그 수치 어디서 나왔냐' — 에는 원문 위치와 절 번호로 답합니다. 등급 질문 — '그거 측정한 거냐' — 에는 계약으로 답합니다. 무엇을 단정할 수 없는지가 각 실험에 적혀 있습니다. 반대 질문 — '나는 동의 안 한다' — 에는 반증 조건으로 답합니다. 어떤 관측이 나오면 제가 틀리는지가 판정마다 적혀 있습니다. 그리고 실무 질문 — '그래서 우리가 뭘 해야 하냐' — 에는 실험 목록으로 답합니다. 다음 세 장에 제가 예상한 질문들을 미리 붙여 뒀습니다. 여기 없는 질문이 나오면 그게 오늘 가장 값진 질문입니다.</a:t>
            </a:r>
            <a:endParaRPr/>
          </a:p>
          <a:p xmlns:a="http://schemas.openxmlformats.org/drawingml/2006/main">
            <a:r>
              <a:t/>
            </a:r>
            <a:endParaRPr/>
          </a:p>
          <a:p xmlns:a="http://schemas.openxmlformats.org/drawingml/2006/main">
            <a:r>
              <a:t>• 사실 질문: 출처 · 원문 위치와 절 번호로 답한다</a:t>
            </a:r>
            <a:endParaRPr/>
          </a:p>
          <a:p xmlns:a="http://schemas.openxmlformats.org/drawingml/2006/main">
            <a:r>
              <a:t>• 등급 질문: 계약 · 무엇을 단정 못 하는지로 답한다</a:t>
            </a:r>
            <a:endParaRPr/>
          </a:p>
          <a:p xmlns:a="http://schemas.openxmlformats.org/drawingml/2006/main">
            <a:r>
              <a:t>• 반대 질문: 반증 · 어떤 관측이면 제가 틀리는지로 답한다</a:t>
            </a:r>
            <a:endParaRPr/>
          </a:p>
          <a:p xmlns:a="http://schemas.openxmlformats.org/drawingml/2006/main">
            <a:r>
              <a:t>• 실무 질문: 실험 · 무엇을 재면 결정되는지로 답한다</a:t>
            </a:r>
            <a:endParaRPr/>
          </a:p>
          <a:p xmlns:a="http://schemas.openxmlformats.org/drawingml/2006/main">
            <a:r>
              <a:t/>
            </a:r>
            <a:endParaRPr/>
          </a:p>
          <a:p xmlns:a="http://schemas.openxmlformats.org/drawingml/2006/main">
            <a:r>
              <a:t>[Sources]</a:t>
            </a:r>
            <a:endParaRPr/>
          </a:p>
          <a:p xmlns:a="http://schemas.openxmlformats.org/drawingml/2006/main">
            <a:r>
              <a:t>study-kr-stc ch30 표 30-3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STC2-118 — 예상 질문 ① — 판별식과 분류에 대하여</a:t>
            </a:r>
            <a:endParaRPr/>
          </a:p>
          <a:p xmlns:a="http://schemas.openxmlformats.org/drawingml/2006/main">
            <a:r>
              <a:t>핵심 결론: 분류에 대한 반대는 전부 책상에서 판정된다 — 원문과 표를 열면 끝난다</a:t>
            </a:r>
            <a:endParaRPr/>
          </a:p>
          <a:p xmlns:a="http://schemas.openxmlformats.org/drawingml/2006/main">
            <a:r>
              <a:t/>
            </a:r>
            <a:endParaRPr/>
          </a:p>
          <a:p xmlns:a="http://schemas.openxmlformats.org/drawingml/2006/main">
            <a:r>
              <a:t>[발표 대본]</a:t>
            </a:r>
            <a:endParaRPr/>
          </a:p>
          <a:p xmlns:a="http://schemas.openxmlformats.org/drawingml/2006/main">
            <a:r>
              <a:t>판별식에 대한 반대부터 답하겠습니다. '원하는 답을 얻으려고 사후에 재단한 것 아니냐'가 가장 자연스러운 의심입니다. 그렇다면 경계 근처의 판정이 제 논지에 유리한 쪽으로 쏠려야 합니다. 실제 판정은 반대로 갔습니다 — MemGPT는 제가 서술의 출발점으로 삼고 싶은 논문인데 통과군에 안 셌고, Memory Caching은 용량 천장의 차수를 공급하는 값진 논문인데 범주에서 뺐으며, Generative Adapter는 산출물이 제 Θ-경로 서사에 가장 잘 맞는데 시계가 wake라는 이유로 뺐습니다. '조건 하나 빼면 어떻게 되냐'는 앞에서 계산해 뒀습니다. 매번 다른 종류의 논문이 잘못 들어옵니다. 그게 네 조건이 다 일한다는 근거입니다. 'corpus가 좁지 않냐'에는 그렇다고 답합니다. 29편, 2026년 8월 기준입니다. 문헌 전체의 무작위 표본이 아니라 판별식을 세우려고 제가 고른 집합입니다. 그래서 제 계수 진술은 전부 '이 corpus의 29편 중'이라는 한정을 답니다.</a:t>
            </a:r>
            <a:endParaRPr/>
          </a:p>
          <a:p xmlns:a="http://schemas.openxmlformats.org/drawingml/2006/main">
            <a:r>
              <a:t/>
            </a:r>
            <a:endParaRPr/>
          </a:p>
          <a:p xmlns:a="http://schemas.openxmlformats.org/drawingml/2006/main">
            <a:r>
              <a:t>• 판별식이 자의적 아닌가: 편의와 반대로 간 판정 셋을 보여 드립니다</a:t>
            </a:r>
            <a:endParaRPr/>
          </a:p>
          <a:p xmlns:a="http://schemas.openxmlformats.org/drawingml/2006/main">
            <a:r>
              <a:t>• 조건 하나 빼면?: 매번 다른 종류의 논문이 잘못 들어옵니다</a:t>
            </a:r>
            <a:endParaRPr/>
          </a:p>
          <a:p xmlns:a="http://schemas.openxmlformats.org/drawingml/2006/main">
            <a:r>
              <a:t>• MemGPT는 왜 빼나: 쓰기가 턴 안에 있어 (1) 불충족입니다</a:t>
            </a:r>
            <a:endParaRPr/>
          </a:p>
          <a:p xmlns:a="http://schemas.openxmlformats.org/drawingml/2006/main">
            <a:r>
              <a:t>• RAG는 왜 경계 아닌가: 조상 지목이 없습니다. 개수 문제가 아닙니다</a:t>
            </a:r>
            <a:endParaRPr/>
          </a:p>
          <a:p xmlns:a="http://schemas.openxmlformats.org/drawingml/2006/main">
            <a:r>
              <a:t>• SCM은 왜 E인가: 다섯 연산자의 좌변이 전부 그래프입니다</a:t>
            </a:r>
            <a:endParaRPr/>
          </a:p>
          <a:p xmlns:a="http://schemas.openxmlformats.org/drawingml/2006/main">
            <a:r>
              <a:t>• corpus가 좁지 않나: 29편·2026-08. 일반화하지 않습니다</a:t>
            </a:r>
            <a:endParaRPr/>
          </a:p>
          <a:p xmlns:a="http://schemas.openxmlformats.org/drawingml/2006/main">
            <a:r>
              <a:t>• 다른 corpus면 답이 다른가: 편수 판정은 바뀌고 척추 논지는 남습니다</a:t>
            </a:r>
            <a:endParaRPr/>
          </a:p>
          <a:p xmlns:a="http://schemas.openxmlformats.org/drawingml/2006/main">
            <a:r>
              <a:t>• 왜 성능을 안 보나: 분류와 평가를 같은 관측으로 못 무너뜨립니다</a:t>
            </a:r>
            <a:endParaRPr/>
          </a:p>
          <a:p xmlns:a="http://schemas.openxmlformats.org/drawingml/2006/main">
            <a:r>
              <a:t>• 제목은 왜 무시하나: 제목으로는 좌변도 시계도 답할 수 없습니다</a:t>
            </a:r>
            <a:endParaRPr/>
          </a:p>
          <a:p xmlns:a="http://schemas.openxmlformats.org/drawingml/2006/main">
            <a:r>
              <a:t>• B군은 버리는 건가: 아닙니다. 증거가 되는 자리로 옮깁니다</a:t>
            </a:r>
            <a:endParaRPr/>
          </a:p>
          <a:p xmlns:a="http://schemas.openxmlformats.org/drawingml/2006/main">
            <a:r>
              <a:t>• 경계 사례가 더 있나: 규칙상 조건 셋 + 조상 지목이 함께 필요합니다</a:t>
            </a:r>
            <a:endParaRPr/>
          </a:p>
          <a:p xmlns:a="http://schemas.openxmlformats.org/drawingml/2006/main">
            <a:r>
              <a:t>• 판별식을 누가 정했나: 이 발표입니다. 그래서 변형 넷을 계산해 뒀습니다</a:t>
            </a:r>
            <a:endParaRPr/>
          </a:p>
          <a:p xmlns:a="http://schemas.openxmlformats.org/drawingml/2006/main">
            <a:r>
              <a:t>• 재현 가능한가: 다섯 단계 절차가 그대로 적혀 있습니다</a:t>
            </a:r>
            <a:endParaRPr/>
          </a:p>
          <a:p xmlns:a="http://schemas.openxmlformats.org/drawingml/2006/main">
            <a:r>
              <a:t>• 새 논문이 나오면: 같은 절차를 다시 돌리면 됩니다</a:t>
            </a:r>
            <a:endParaRPr/>
          </a:p>
          <a:p xmlns:a="http://schemas.openxmlformats.org/drawingml/2006/main">
            <a:r>
              <a:t/>
            </a:r>
            <a:endParaRPr/>
          </a:p>
          <a:p xmlns:a="http://schemas.openxmlformats.org/drawingml/2006/main">
            <a:r>
              <a:t>[Sources]</a:t>
            </a:r>
            <a:endParaRPr/>
          </a:p>
          <a:p xmlns:a="http://schemas.openxmlformats.org/drawingml/2006/main">
            <a:r>
              <a:t>study-kr-stc ch11 §11.2.3, §11.4, §11.5</a:t>
            </a:r>
            <a:endParaRPr/>
          </a:p>
          <a:p xmlns:a="http://schemas.openxmlformats.org/drawingml/2006/main">
            <a:r>
              <a:t>study-kr-stc ch24 §24.2, §24.5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STC2-119 — 예상 질문 ② — 회계와 숫자에 대하여</a:t>
            </a:r>
            <a:endParaRPr/>
          </a:p>
          <a:p xmlns:a="http://schemas.openxmlformats.org/drawingml/2006/main">
            <a:r>
              <a:t>핵심 결론: 절대치를 물으시면 답은 '그 값은 이 발표가 단정하지 않는 값입니다'다</a:t>
            </a:r>
            <a:endParaRPr/>
          </a:p>
          <a:p xmlns:a="http://schemas.openxmlformats.org/drawingml/2006/main">
            <a:r>
              <a:t/>
            </a:r>
            <a:endParaRPr/>
          </a:p>
          <a:p xmlns:a="http://schemas.openxmlformats.org/drawingml/2006/main">
            <a:r>
              <a:t>[발표 대본]</a:t>
            </a:r>
            <a:endParaRPr/>
          </a:p>
          <a:p xmlns:a="http://schemas.openxmlformats.org/drawingml/2006/main">
            <a:r>
              <a:t>회계 쪽 질문입니다. '5배를 부정하는 거냐'가 가장 많이 나올 질문일 겁니다. 아닙니다. 5배는 생성 토큰 축에서 관측된 사실이고 제 계산이 그걸 반박할 수 없습니다. 반박하는 것은 생성 토큰 축이 곧 비용 축이라는 암묵 등식입니다. '임계가 몇 토큰이냐'고 물으시면 답은 '그건 제가 단정하지 않는 값입니다'입니다. 제가 쓰는 것은 레짐 간 순서뿐입니다. 절대치의 입력 중 여럿이 논문에 없어 제가 가정했고, 하나는 그림 축에서 읽었습니다. 'prefix cache를 켜면 그 항이 사라지지 않냐'는 정당한 반론이고, 실제로 제 반증 목록에 있습니다. learned context가 질의 사이에 완전히 캐시되어 재계산되지 않는다는 것이 벽시계로 확인되면 임계는 실무에서 존재하지 않습니다. 다만 반증하려면 캐시 적중률까지 함께 보고해야 합니다 — 병렬 재표현이 질의마다 달라지거나 질의 토큰이 앞에 놓이면 접두사 캐시가 성립하지 않습니다. 'int4로 내려도 되냐'에는 모른다고 답합니다. 그 실험이 corpus에 0편입니다.</a:t>
            </a:r>
            <a:endParaRPr/>
          </a:p>
          <a:p xmlns:a="http://schemas.openxmlformats.org/drawingml/2006/main">
            <a:r>
              <a:t/>
            </a:r>
            <a:endParaRPr/>
          </a:p>
          <a:p xmlns:a="http://schemas.openxmlformats.org/drawingml/2006/main">
            <a:r>
              <a:t>• 5×를 부정하나: 아닙니다. 부정하는 건 축의 등식입니다</a:t>
            </a:r>
            <a:endParaRPr/>
          </a:p>
          <a:p xmlns:a="http://schemas.openxmlformats.org/drawingml/2006/main">
            <a:r>
              <a:t>• L*가 몇 토큰인가: 절대치는 단정하지 않습니다. 순서만 씁니다</a:t>
            </a:r>
            <a:endParaRPr/>
          </a:p>
          <a:p xmlns:a="http://schemas.openxmlformats.org/drawingml/2006/main">
            <a:r>
              <a:t>• prefix cache 켜면?: 임계가 실무에서 사라질 수 있습니다 — 양방향</a:t>
            </a:r>
            <a:endParaRPr/>
          </a:p>
          <a:p xmlns:a="http://schemas.openxmlformats.org/drawingml/2006/main">
            <a:r>
              <a:t>• κ_cost가 정말 10인가: 벤더 문서 인용 한 줄입니다. 측정이 없습니다</a:t>
            </a:r>
            <a:endParaRPr/>
          </a:p>
          <a:p xmlns:a="http://schemas.openxmlformats.org/drawingml/2006/main">
            <a:r>
              <a:t>• 바이트 값이 왜 다른가: 앵커 구성이 제 선택입니다. 자릿수만 보십시오</a:t>
            </a:r>
            <a:endParaRPr/>
          </a:p>
          <a:p xmlns:a="http://schemas.openxmlformats.org/drawingml/2006/main">
            <a:r>
              <a:t>• 3.64를 왜 하한이라 하나: 원 논문 §3.2가 그렇게 씁니다</a:t>
            </a:r>
            <a:endParaRPr/>
          </a:p>
          <a:p xmlns:a="http://schemas.openxmlformats.org/drawingml/2006/main">
            <a:r>
              <a:t>• int4로 내려도 되나: 그 실험이 corpus에 0편입니다. 모릅니다</a:t>
            </a:r>
            <a:endParaRPr/>
          </a:p>
          <a:p xmlns:a="http://schemas.openxmlformats.org/drawingml/2006/main">
            <a:r>
              <a:t>• N_q는 얼마로 보나: 논문의 {1,2,5,10}을 그대로 씁니다. 분포는 없습니다</a:t>
            </a:r>
            <a:endParaRPr/>
          </a:p>
          <a:p xmlns:a="http://schemas.openxmlformats.org/drawingml/2006/main">
            <a:r>
              <a:t>• 왜 GPU로 안 쟀나: 이 host에 GPU가 없습니다. 그래서 값 주장을 안 합니다</a:t>
            </a:r>
            <a:endParaRPr/>
          </a:p>
          <a:p xmlns:a="http://schemas.openxmlformats.org/drawingml/2006/main">
            <a:r>
              <a:t>• 회계가 곧 측정 아닌가: 아닙니다. 벽시계도 청구액도 아닙니다</a:t>
            </a:r>
            <a:endParaRPr/>
          </a:p>
          <a:p xmlns:a="http://schemas.openxmlformats.org/drawingml/2006/main">
            <a:r>
              <a:t>• 결정론이면 맞는 건가: 재현성은 정확성이 아닙니다</a:t>
            </a:r>
            <a:endParaRPr/>
          </a:p>
          <a:p xmlns:a="http://schemas.openxmlformats.org/drawingml/2006/main">
            <a:r>
              <a:t>• 가정이 유리하지 않나: 판정 대상에게 유리한 쪽으로 고정했습니다</a:t>
            </a:r>
            <a:endParaRPr/>
          </a:p>
          <a:p xmlns:a="http://schemas.openxmlformats.org/drawingml/2006/main">
            <a:r>
              <a:t>• X3은 원문을 봤나: 1차 대상은 노트입니다. 원문 probe를 병기했습니다</a:t>
            </a:r>
            <a:endParaRPr/>
          </a:p>
          <a:p xmlns:a="http://schemas.openxmlformats.org/drawingml/2006/main">
            <a:r>
              <a:t>• X4를 LLM으로 하면: 부호가 뒤집히면 제가 틀린 것입니다</a:t>
            </a:r>
            <a:endParaRPr/>
          </a:p>
          <a:p xmlns:a="http://schemas.openxmlformats.org/drawingml/2006/main">
            <a:r>
              <a:t/>
            </a:r>
            <a:endParaRPr/>
          </a:p>
          <a:p xmlns:a="http://schemas.openxmlformats.org/drawingml/2006/main">
            <a:r>
              <a:t>[Sources]</a:t>
            </a:r>
            <a:endParaRPr/>
          </a:p>
          <a:p xmlns:a="http://schemas.openxmlformats.org/drawingml/2006/main">
            <a:r>
              <a:t>study-kr-stc ch25 §25.3.5, §25.5</a:t>
            </a:r>
            <a:endParaRPr/>
          </a:p>
          <a:p xmlns:a="http://schemas.openxmlformats.org/drawingml/2006/main">
            <a:r>
              <a:t>study-kr-stc ch26 §26.5</a:t>
            </a:r>
            <a:endParaRPr/>
          </a:p>
          <a:p xmlns:a="http://schemas.openxmlformats.org/drawingml/2006/main">
            <a:r>
              <a:t>experiments/stc/X1 honest_limit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STC2-120 — 예상 질문 ③ — 판정과 전망에 대하여</a:t>
            </a:r>
            <a:endParaRPr/>
          </a:p>
          <a:p xmlns:a="http://schemas.openxmlformats.org/drawingml/2006/main">
            <a:r>
              <a:t>핵심 결론: 예측을 요구하시면 조건으로 답합니다. 조건 없는 예측은 이 발표의 문장이 아니다</a:t>
            </a:r>
            <a:endParaRPr/>
          </a:p>
          <a:p xmlns:a="http://schemas.openxmlformats.org/drawingml/2006/main">
            <a:r>
              <a:t/>
            </a:r>
            <a:endParaRPr/>
          </a:p>
          <a:p xmlns:a="http://schemas.openxmlformats.org/drawingml/2006/main">
            <a:r>
              <a:t>[발표 대본]</a:t>
            </a:r>
            <a:endParaRPr/>
          </a:p>
          <a:p xmlns:a="http://schemas.openxmlformats.org/drawingml/2006/main">
            <a:r>
              <a:t>판정과 전망 쪽입니다. '그래서 유망하냐'에 대한 답은 경로마다 다릅니다. E는 비용 방법으로 유망하고 품질 방법으로는 지지되지 않습니다. W는 판정 불가입니다. Θ는 세 조건이 붙은 조건부입니다. 'E가 이미 프로덕션에 배포됐는데 문헌이 약하다는 게 무슨 의미냐'는 좋은 질문입니다. 답은 — 맞습니다, 그리고 그게 제 판정의 일부입니다. 이 경로의 주류화 조건은 제품 요구와 서빙 로그가 정하지 논문이 정하지 않습니다. 배포를 정당화한 것은 성능 표가 아니라 프롬프트 길이의 산술입니다. 이 경로는 문헌이 약한 채로 주류가 될 수 있고 이미 그렇게 되고 있습니다. '합성하면 되지 않냐'는 제가 가장 동의하는 반론입니다. 세 경로가 서로 다른 문제를 푸니 합성이 가능하고, 합성되면 '어느 경로가 이기는가'라는 질문 자체가 폐기됩니다. 그런데 그 조합을 돌린 실험이 corpus에 0건입니다. 구조가 가장 강하게 가리키는 미래에 증거가 가장 없습니다. '몇 년 뒤에 답이 나오냐'는 답하지 않습니다. 예측 대신 조건과 관측을 적는 것이 오늘의 규칙입니다.</a:t>
            </a:r>
            <a:endParaRPr/>
          </a:p>
          <a:p xmlns:a="http://schemas.openxmlformats.org/drawingml/2006/main">
            <a:r>
              <a:t/>
            </a:r>
            <a:endParaRPr/>
          </a:p>
          <a:p xmlns:a="http://schemas.openxmlformats.org/drawingml/2006/main">
            <a:r>
              <a:t>• 그래서 유망한가: E는 비용으로, W는 판정 불가, Θ는 조건부입니다</a:t>
            </a:r>
            <a:endParaRPr/>
          </a:p>
          <a:p xmlns:a="http://schemas.openxmlformats.org/drawingml/2006/main">
            <a:r>
              <a:t>• 왜 하나로 답 안 하나: 셋이 푸는 문제 집합이 겹치지 않습니다</a:t>
            </a:r>
            <a:endParaRPr/>
          </a:p>
          <a:p xmlns:a="http://schemas.openxmlformats.org/drawingml/2006/main">
            <a:r>
              <a:t>• E가 이미 배포됐잖나: 맞습니다. 문헌이 약한 채로 주류가 될 수 있습니다</a:t>
            </a:r>
            <a:endParaRPr/>
          </a:p>
          <a:p xmlns:a="http://schemas.openxmlformats.org/drawingml/2006/main">
            <a:r>
              <a:t>• Θ는 언제 쓸 만해지나: 세 실험이 나오면 판정이 바뀝니다</a:t>
            </a:r>
            <a:endParaRPr/>
          </a:p>
          <a:p xmlns:a="http://schemas.openxmlformats.org/drawingml/2006/main">
            <a:r>
              <a:t>• W는 왜 표본이 1인가: 그 사실 자체가 판정이고 조건 (1)에 의존합니다</a:t>
            </a:r>
            <a:endParaRPr/>
          </a:p>
          <a:p xmlns:a="http://schemas.openxmlformats.org/drawingml/2006/main">
            <a:r>
              <a:t>• 합성하면 되지 않나: 구조가 가장 강하게 가리키는데 실험이 0건입니다</a:t>
            </a:r>
            <a:endParaRPr/>
          </a:p>
          <a:p xmlns:a="http://schemas.openxmlformats.org/drawingml/2006/main">
            <a:r>
              <a:t>• 몇 년 뒤에 답이 나오나: 예측하지 않습니다. 조건과 관측만 적습니다</a:t>
            </a:r>
            <a:endParaRPr/>
          </a:p>
          <a:p xmlns:a="http://schemas.openxmlformats.org/drawingml/2006/main">
            <a:r>
              <a:t>• 그럼 아무 말도 안 하나: 판정 불가도 판정입니다. 관측 형태를 함께 답니다</a:t>
            </a:r>
            <a:endParaRPr/>
          </a:p>
          <a:p xmlns:a="http://schemas.openxmlformats.org/drawingml/2006/main">
            <a:r>
              <a:t>• 왜 순위표가 없나: 서로를 baseline으로 돌린 표가 없습니다</a:t>
            </a:r>
            <a:endParaRPr/>
          </a:p>
          <a:p xmlns:a="http://schemas.openxmlformats.org/drawingml/2006/main">
            <a:r>
              <a:t>• E를 쓰면 되나: 지속성은 얻고 모델은 안 바뀝니다</a:t>
            </a:r>
            <a:endParaRPr/>
          </a:p>
          <a:p xmlns:a="http://schemas.openxmlformats.org/drawingml/2006/main">
            <a:r>
              <a:t>• Θ를 쓰면 되나: 즉시성을 잃고 웜 계층을 얻습니다</a:t>
            </a:r>
            <a:endParaRPr/>
          </a:p>
          <a:p xmlns:a="http://schemas.openxmlformats.org/drawingml/2006/main">
            <a:r>
              <a:t>• W를 쓰면 되나: 문맥 비용은 접고 요청을 넘지 못합니다</a:t>
            </a:r>
            <a:endParaRPr/>
          </a:p>
          <a:p xmlns:a="http://schemas.openxmlformats.org/drawingml/2006/main">
            <a:r>
              <a:t>• 결국 무엇을 재야 하나: B_s · L_w · C_cap · ρ 네 칸입니다</a:t>
            </a:r>
            <a:endParaRPr/>
          </a:p>
          <a:p xmlns:a="http://schemas.openxmlformats.org/drawingml/2006/main">
            <a:r>
              <a:t>• 지금 답이 없는 건 왜: 그 네 칸이 문헌에서 비어 있기 때문입니다</a:t>
            </a:r>
            <a:endParaRPr/>
          </a:p>
          <a:p xmlns:a="http://schemas.openxmlformats.org/drawingml/2006/main">
            <a:r>
              <a:t/>
            </a:r>
            <a:endParaRPr/>
          </a:p>
          <a:p xmlns:a="http://schemas.openxmlformats.org/drawingml/2006/main">
            <a:r>
              <a:t>[Sources]</a:t>
            </a:r>
            <a:endParaRPr/>
          </a:p>
          <a:p xmlns:a="http://schemas.openxmlformats.org/drawingml/2006/main">
            <a:r>
              <a:t>study-kr-stc ch27 표 27-5, §27.4 판정 6</a:t>
            </a:r>
            <a:endParaRPr/>
          </a:p>
          <a:p xmlns:a="http://schemas.openxmlformats.org/drawingml/2006/main">
            <a:r>
              <a:t>study-kr-stc ch30 표 30-2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STC2-121 — 그래서 우리가 무엇을 하면 되는가 — 실험 여섯</a:t>
            </a:r>
            <a:endParaRPr/>
          </a:p>
          <a:p xmlns:a="http://schemas.openxmlformats.org/drawingml/2006/main">
            <a:r>
              <a:t>핵심 결론: 여섯 중 넷은 새 하드웨어를 요구하지 않고, 둘은 이미 있는 로그의 인쇄다</a:t>
            </a:r>
            <a:endParaRPr/>
          </a:p>
          <a:p xmlns:a="http://schemas.openxmlformats.org/drawingml/2006/main">
            <a:r>
              <a:t/>
            </a:r>
            <a:endParaRPr/>
          </a:p>
          <a:p xmlns:a="http://schemas.openxmlformats.org/drawingml/2006/main">
            <a:r>
              <a:t>[발표 대본]</a:t>
            </a:r>
            <a:endParaRPr/>
          </a:p>
          <a:p xmlns:a="http://schemas.openxmlformats.org/drawingml/2006/main">
            <a:r>
              <a:t>실무 질문에 대한 답을 미리 준비했습니다. 여섯 개의 실험입니다. ①번, 총비용 대조. 상대편에 prefix cache를 켠 full-context와 같은 서빙 스택에서 총비용을 비교하는 표. 추출·갱신 호출 수는 실행 로그에 이미 있고 prefix cache는 스위치입니다. 이건 양방향으로 열려 있습니다 — E-경로가 이기면 제 판정이 강화되고 지면 무너집니다. ②번, N_q 분포. 실서빙 로그에서 한 문맥을 몇 개 질의가 공유하는지. corpus 전체에서 0편이므로 한 편만 인쇄해도 새 사실입니다. ③번, dtype만 내린 회수율 곡선. rank와 학습 집합을 고정하고 저장 폭만 내립니다. 회수 판정은 프롬프트 출력이 아니라 가능도비로 해야 합니다. ④번, K* 측정. x축은 라운드, y축은 세 지표, 팔은 replay 타깃 두 종. 이게 Θ-경로 판정을 조건부에서 확정으로 바꾸는 유일한 실험입니다. ⑤번과 ⑥번은 시스템 쪽입니다. 특히 ⑥번은 체크포인트 두 개를 diff하면 끝나는데, 값이 작게 나오면 제 쓰기 내구성 논증이 자릿수로 약해집니다.</a:t>
            </a:r>
            <a:endParaRPr/>
          </a:p>
          <a:p xmlns:a="http://schemas.openxmlformats.org/drawingml/2006/main">
            <a:r>
              <a:t/>
            </a:r>
            <a:endParaRPr/>
          </a:p>
          <a:p xmlns:a="http://schemas.openxmlformats.org/drawingml/2006/main">
            <a:r>
              <a:t>• ① 총비용: cache 켠 대조</a:t>
            </a:r>
            <a:endParaRPr/>
          </a:p>
          <a:p xmlns:a="http://schemas.openxmlformats.org/drawingml/2006/main">
            <a:r>
              <a:t>• ② N_q: 서빙 로그 분포</a:t>
            </a:r>
            <a:endParaRPr/>
          </a:p>
          <a:p xmlns:a="http://schemas.openxmlformats.org/drawingml/2006/main">
            <a:r>
              <a:t>• ③ dtype: 회수율 곡선</a:t>
            </a:r>
            <a:endParaRPr/>
          </a:p>
          <a:p xmlns:a="http://schemas.openxmlformats.org/drawingml/2006/main">
            <a:r>
              <a:t>• ④ K*: K&gt;100 측정</a:t>
            </a:r>
            <a:endParaRPr/>
          </a:p>
          <a:p xmlns:a="http://schemas.openxmlformats.org/drawingml/2006/main">
            <a:r>
              <a:t>• ⑤ 지연: 스테이징 대 생성</a:t>
            </a:r>
            <a:endParaRPr/>
          </a:p>
          <a:p xmlns:a="http://schemas.openxmlformats.org/drawingml/2006/main">
            <a:r>
              <a:t>• ⑥ diff: 라운드 간 변경률</a:t>
            </a:r>
            <a:endParaRPr/>
          </a:p>
          <a:p xmlns:a="http://schemas.openxmlformats.org/drawingml/2006/main">
            <a:r>
              <a:t/>
            </a:r>
            <a:endParaRPr/>
          </a:p>
          <a:p xmlns:a="http://schemas.openxmlformats.org/drawingml/2006/main">
            <a:r>
              <a:t>[Sources]</a:t>
            </a:r>
            <a:endParaRPr/>
          </a:p>
          <a:p xmlns:a="http://schemas.openxmlformats.org/drawingml/2006/main">
            <a:r>
              <a:t>study-kr-stc ch26 §26.5 R-2</a:t>
            </a:r>
            <a:endParaRPr/>
          </a:p>
          <a:p xmlns:a="http://schemas.openxmlformats.org/drawingml/2006/main">
            <a:r>
              <a:t>study-kr-stc ch27 §27.5 FT1</a:t>
            </a:r>
            <a:endParaRPr/>
          </a:p>
          <a:p xmlns:a="http://schemas.openxmlformats.org/drawingml/2006/main">
            <a:r>
              <a:t>study-kr-stc ch29 §29.5 R-5, R-6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STC2-122 — 반대로 지금 사지 말아야 할 것</a:t>
            </a:r>
            <a:endParaRPr/>
          </a:p>
          <a:p xmlns:a="http://schemas.openxmlformats.org/drawingml/2006/main">
            <a:r>
              <a:t>핵심 결론: 이 다섯은 전부 '측정되지 않은 값을 전제로 하는 결정'이다</a:t>
            </a:r>
            <a:endParaRPr/>
          </a:p>
          <a:p xmlns:a="http://schemas.openxmlformats.org/drawingml/2006/main">
            <a:r>
              <a:t/>
            </a:r>
            <a:endParaRPr/>
          </a:p>
          <a:p xmlns:a="http://schemas.openxmlformats.org/drawingml/2006/main">
            <a:r>
              <a:t>[발표 대본]</a:t>
            </a:r>
            <a:endParaRPr/>
          </a:p>
          <a:p xmlns:a="http://schemas.openxmlformats.org/drawingml/2006/main">
            <a:r>
              <a:t>반대로 지금 하지 말아야 할 결정 다섯도 정리해 드립니다. 첫째, 이름을 기준으로 벤더나 방법을 고르는 것. 같은 이름 아래 세 개의 다른 인프라 결정이 뭉쳐 있습니다. 둘째, sleep 예산을 늘리는 로드맵을 세우는 것. 그 축에 곡선이 없습니다. 늘리면 좋아진다는 근거가 corpus에 없고, 이름을 만든 논문에서는 비단조입니다. 셋째, 웜 계층 소자를 미리 조달하는 것. 사기 전에 필요한 인쇄값 셋이 아직 0편입니다. 그리고 그 기회는 Θ-경로가 사용자 수준 개인화로 갈 때만 생깁니다 — 인구 수준이면 안 생깁니다. 넷째, 라운드당 열화율을 SLA로 거는 것. 그건 라운드에 대해 상수가 아니라 SLA로 걸 수 있는 양이 아닙니다. 걸 수 있는 양은 '몇 라운드까지 기준선을 유지하는가'입니다. 다섯째, consolidation 서사를 그대로 믿는 것. 이름은 생물학에서 왔고 논증은 오지 않았습니다.</a:t>
            </a:r>
            <a:endParaRPr/>
          </a:p>
          <a:p xmlns:a="http://schemas.openxmlformats.org/drawingml/2006/main">
            <a:r>
              <a:t/>
            </a:r>
            <a:endParaRPr/>
          </a:p>
          <a:p xmlns:a="http://schemas.openxmlformats.org/drawingml/2006/main">
            <a:r>
              <a:t>• 이름: 이름 기준 벤더 선택</a:t>
            </a:r>
            <a:endParaRPr/>
          </a:p>
          <a:p xmlns:a="http://schemas.openxmlformats.org/drawingml/2006/main">
            <a:r>
              <a:t>• 곡선: B_s 늘리는 로드맵</a:t>
            </a:r>
            <a:endParaRPr/>
          </a:p>
          <a:p xmlns:a="http://schemas.openxmlformats.org/drawingml/2006/main">
            <a:r>
              <a:t>• 소자: 웜 계층 사전 조달</a:t>
            </a:r>
            <a:endParaRPr/>
          </a:p>
          <a:p xmlns:a="http://schemas.openxmlformats.org/drawingml/2006/main">
            <a:r>
              <a:t>• 지표: 라운드당 %를 SLA로</a:t>
            </a:r>
            <a:endParaRPr/>
          </a:p>
          <a:p xmlns:a="http://schemas.openxmlformats.org/drawingml/2006/main">
            <a:r>
              <a:t>• 은유: consolidation 서사</a:t>
            </a:r>
            <a:endParaRPr/>
          </a:p>
          <a:p xmlns:a="http://schemas.openxmlformats.org/drawingml/2006/main">
            <a:r>
              <a:t/>
            </a:r>
            <a:endParaRPr/>
          </a:p>
          <a:p xmlns:a="http://schemas.openxmlformats.org/drawingml/2006/main">
            <a:r>
              <a:t>[Sources]</a:t>
            </a:r>
            <a:endParaRPr/>
          </a:p>
          <a:p xmlns:a="http://schemas.openxmlformats.org/drawingml/2006/main">
            <a:r>
              <a:t>study-kr-stc ch24 §24.3.2</a:t>
            </a:r>
            <a:endParaRPr/>
          </a:p>
          <a:p xmlns:a="http://schemas.openxmlformats.org/drawingml/2006/main">
            <a:r>
              <a:t>study-kr-stc ch29 §29.4 판정 5, 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STC2-123 — 근거 지도 — 오늘 나온 주장은 어디를 보면 되는가</a:t>
            </a:r>
            <a:endParaRPr/>
          </a:p>
          <a:p xmlns:a="http://schemas.openxmlformats.org/drawingml/2006/main">
            <a:r>
              <a:t>핵심 결론: 각 판정에 반증 관측이 하나씩 붙어 있다. 인용하실 때 함께 인용해 주십시오</a:t>
            </a:r>
            <a:endParaRPr/>
          </a:p>
          <a:p xmlns:a="http://schemas.openxmlformats.org/drawingml/2006/main">
            <a:r>
              <a:t/>
            </a:r>
            <a:endParaRPr/>
          </a:p>
          <a:p xmlns:a="http://schemas.openxmlformats.org/drawingml/2006/main">
            <a:r>
              <a:t>[발표 대본]</a:t>
            </a:r>
            <a:endParaRPr/>
          </a:p>
          <a:p xmlns:a="http://schemas.openxmlformats.org/drawingml/2006/main">
            <a:r>
              <a:t>오늘 나온 주장의 근거 지도입니다. 슬라이드는 요약이고 근거는 여기 있습니다. 판별식과 전수 분류는 ch11. 대상 확정 판정과 그 반증 조건 여섯은 ch24. 비용 회계는 ch25와 실험 X1의 result.json. 용량 회계는 ch26과 X2. 경로별 판정은 ch27인데, 특히 표 27-2 — E-경로 평가 결함 아홉 유형 — 는 오늘 시간상 다 못 보여 드렸습니다. 다섯 시스템에 대한 개별 항목과 원문 위치가 다 붙어 있습니다. 예산 축 감사는 ch28과 X3, systems와 device는 ch29, 반복 열화는 X4입니다. 그리고 ch30의 표 30-3이 오늘 발표의 색인 역할을 합니다. 주요 판정 서른두 개에 각각 반증 관측이 하나씩 붙어 있습니다. 인용하실 때 부탁 하나 — 계수를 인용하실 때는 판별식을 함께 인용해 주십시오. 선을 다르게 그으면 숫자가 달라집니다.</a:t>
            </a:r>
            <a:endParaRPr/>
          </a:p>
          <a:p xmlns:a="http://schemas.openxmlformats.org/drawingml/2006/main">
            <a:r>
              <a:t/>
            </a:r>
            <a:endParaRPr/>
          </a:p>
          <a:p xmlns:a="http://schemas.openxmlformats.org/drawingml/2006/main">
            <a:r>
              <a:t>• 판별식·전수 분류: ch11 §11.2–11.7, 표 11-1·11-2·11-3</a:t>
            </a:r>
            <a:endParaRPr/>
          </a:p>
          <a:p xmlns:a="http://schemas.openxmlformats.org/drawingml/2006/main">
            <a:r>
              <a:t>• 대상 확정 판정: ch24 §24.4, 반증 조건 §24.5 F1–F6</a:t>
            </a:r>
            <a:endParaRPr/>
          </a:p>
          <a:p xmlns:a="http://schemas.openxmlformats.org/drawingml/2006/main">
            <a:r>
              <a:t>• 통일 비용 회계: ch25 §25.2–25.4, 실험 X1 result.json</a:t>
            </a:r>
            <a:endParaRPr/>
          </a:p>
          <a:p xmlns:a="http://schemas.openxmlformats.org/drawingml/2006/main">
            <a:r>
              <a:t>• 상태 용량 회계: ch26 §26.3–26.4, 실험 X2 result.json</a:t>
            </a:r>
            <a:endParaRPr/>
          </a:p>
          <a:p xmlns:a="http://schemas.openxmlformats.org/drawingml/2006/main">
            <a:r>
              <a:t>• 경로별 판정: ch27 §27.3–27.4, 표 27-2·27-3·27-4·27-5</a:t>
            </a:r>
            <a:endParaRPr/>
          </a:p>
          <a:p xmlns:a="http://schemas.openxmlformats.org/drawingml/2006/main">
            <a:r>
              <a:t>• 예산 축 감사: ch28 §28.2–28.4, 실험 X3 result.json</a:t>
            </a:r>
            <a:endParaRPr/>
          </a:p>
          <a:p xmlns:a="http://schemas.openxmlformats.org/drawingml/2006/main">
            <a:r>
              <a:t>• systems·device: ch29 §29.3–29.4, 식 (29-1)(29-2)(29-3)</a:t>
            </a:r>
            <a:endParaRPr/>
          </a:p>
          <a:p xmlns:a="http://schemas.openxmlformats.org/drawingml/2006/main">
            <a:r>
              <a:t>• 반복 열화: ch29 §29.3.5, 실험 X4 result.json</a:t>
            </a:r>
            <a:endParaRPr/>
          </a:p>
          <a:p xmlns:a="http://schemas.openxmlformats.org/drawingml/2006/main">
            <a:r>
              <a:t>• 한계와 반증 총람: ch30 표 30-1·30-2·30-3 (판정 32개)</a:t>
            </a:r>
            <a:endParaRPr/>
          </a:p>
          <a:p xmlns:a="http://schemas.openxmlformats.org/drawingml/2006/main">
            <a:r>
              <a:t>• 논문별 8절 해부: ch12–ch23 (논문 한 편당 한 장)</a:t>
            </a:r>
            <a:endParaRPr/>
          </a:p>
          <a:p xmlns:a="http://schemas.openxmlformats.org/drawingml/2006/main">
            <a:r>
              <a:t>• training 배경: ch02–ch10 (레짐·PEFT·distill·RL·망각·용량)</a:t>
            </a:r>
            <a:endParaRPr/>
          </a:p>
          <a:p xmlns:a="http://schemas.openxmlformats.org/drawingml/2006/main">
            <a:r>
              <a:t>• 전수 분류표: back/92-appendix-census.md</a:t>
            </a:r>
            <a:endParaRPr/>
          </a:p>
          <a:p xmlns:a="http://schemas.openxmlformats.org/drawingml/2006/main">
            <a:r>
              <a:t>• 용어 색인: back/91-glossary.md (정의 소유 장으로 연결)</a:t>
            </a:r>
            <a:endParaRPr/>
          </a:p>
          <a:p xmlns:a="http://schemas.openxmlformats.org/drawingml/2006/main">
            <a:r>
              <a:t>• 참고문헌: back/90-bibliography.md (vendored 원문 기준)</a:t>
            </a:r>
            <a:endParaRPr/>
          </a:p>
          <a:p xmlns:a="http://schemas.openxmlformats.org/drawingml/2006/main">
            <a:r>
              <a:t/>
            </a:r>
            <a:endParaRPr/>
          </a:p>
          <a:p xmlns:a="http://schemas.openxmlformats.org/drawingml/2006/main">
            <a:r>
              <a:t>[Sources]</a:t>
            </a:r>
            <a:endParaRPr/>
          </a:p>
          <a:p xmlns:a="http://schemas.openxmlformats.org/drawingml/2006/main">
            <a:r>
              <a:t>study-kr-stc/part2, part3</a:t>
            </a:r>
            <a:endParaRPr/>
          </a:p>
          <a:p xmlns:a="http://schemas.openxmlformats.org/drawingml/2006/main">
            <a:r>
              <a:t>experiments/stc/X1–X4/result.json</a:t>
            </a:r>
            <a:endParaRPr/>
          </a:p>
          <a:p xmlns:a="http://schemas.openxmlformats.org/drawingml/2006/main">
            <a:r>
              <a:t>study-kr-stc/back/90-bibliography.md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STC2-124 — 한 장 요약 — 오늘 가져가실 여섯 문장</a:t>
            </a:r>
            <a:endParaRPr/>
          </a:p>
          <a:p xmlns:a="http://schemas.openxmlformats.org/drawingml/2006/main">
            <a:r>
              <a:t>핵심 결론: 이 여섯이 두 시간의 전부다. 나머지는 근거다</a:t>
            </a:r>
            <a:endParaRPr/>
          </a:p>
          <a:p xmlns:a="http://schemas.openxmlformats.org/drawingml/2006/main">
            <a:r>
              <a:t/>
            </a:r>
            <a:endParaRPr/>
          </a:p>
          <a:p xmlns:a="http://schemas.openxmlformats.org/drawingml/2006/main">
            <a:r>
              <a:t>[발표 대본]</a:t>
            </a:r>
            <a:endParaRPr/>
          </a:p>
          <a:p xmlns:a="http://schemas.openxmlformats.org/drawingml/2006/main">
            <a:r>
              <a:t>두 시간을 여섯 문장으로 압축하겠습니다. 하나. 이름이 기제보다 넓습니다. 이 이름 아래 모인 29편 중 판별식을 통과하는 것은 아홉 편이고, 그 아홉이 세 경로로 갈립니다. 둘. 이름과 기제의 간격은 구조적입니다. 세 공동체가 각자의 어휘와 서식을 유지한 채 같은 단어를 씁니다. 셋. 상각식에는 매 질의 내는 항이 빠져 있습니다. 항을 되살리면 경계는 언제나 유한합니다. 다만 짧은 문맥·큰 절감률 레짐에서는 5배가 뒤집히지 않습니다. 넷. 경로 선택이 곧 메모리 계층 선택입니다. W는 핫, Θ는 웜, E는 콜드. 다섯. 판정은 경로마다 다릅니다. E는 비용 방법으로 유망하고, W는 판정 불가이며, Θ는 세 조건이 붙은 조건부입니다. 여섯. B_s는 이 문헌에서 축이 아니라 각주입니다. 그래서 오늘의 산출물은 곡선이 아니라 최소 보고 요구 아홉 개입니다.</a:t>
            </a:r>
            <a:endParaRPr/>
          </a:p>
          <a:p xmlns:a="http://schemas.openxmlformats.org/drawingml/2006/main">
            <a:r>
              <a:t/>
            </a:r>
            <a:endParaRPr/>
          </a:p>
          <a:p xmlns:a="http://schemas.openxmlformats.org/drawingml/2006/main">
            <a:r>
              <a:t>• 이름: 29편 중 통과 9편</a:t>
            </a:r>
            <a:endParaRPr/>
          </a:p>
          <a:p xmlns:a="http://schemas.openxmlformats.org/drawingml/2006/main">
            <a:r>
              <a:t>• 간격: 구조적 · 세 공동체</a:t>
            </a:r>
            <a:endParaRPr/>
          </a:p>
          <a:p xmlns:a="http://schemas.openxmlformats.org/drawingml/2006/main">
            <a:r>
              <a:t>• 회계: 경계는 유한하다</a:t>
            </a:r>
            <a:endParaRPr/>
          </a:p>
          <a:p xmlns:a="http://schemas.openxmlformats.org/drawingml/2006/main">
            <a:r>
              <a:t>• 계층: 경로 = 계층 선택</a:t>
            </a:r>
            <a:endParaRPr/>
          </a:p>
          <a:p xmlns:a="http://schemas.openxmlformats.org/drawingml/2006/main">
            <a:r>
              <a:t>• 판정: E · W · Θ 각각</a:t>
            </a:r>
            <a:endParaRPr/>
          </a:p>
          <a:p xmlns:a="http://schemas.openxmlformats.org/drawingml/2006/main">
            <a:r>
              <a:t>• 축: 각주 · R1–R9</a:t>
            </a:r>
            <a:endParaRPr/>
          </a:p>
          <a:p xmlns:a="http://schemas.openxmlformats.org/drawingml/2006/main">
            <a:r>
              <a:t/>
            </a:r>
            <a:endParaRPr/>
          </a:p>
          <a:p xmlns:a="http://schemas.openxmlformats.org/drawingml/2006/main">
            <a:r>
              <a:t>[Sources]</a:t>
            </a:r>
            <a:endParaRPr/>
          </a:p>
          <a:p xmlns:a="http://schemas.openxmlformats.org/drawingml/2006/main">
            <a:r>
              <a:t>study-kr-stc ch24–ch30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STC2-125 — 이 발표를 쓰는 가장 좋은 방법은 인용이 아니라 반증이다</a:t>
            </a:r>
            <a:endParaRPr/>
          </a:p>
          <a:p xmlns:a="http://schemas.openxmlformats.org/drawingml/2006/main">
            <a:r>
              <a:t>핵심 결론: 이 발표의 수명은 이 분야가 자기 비용을 적기 시작하는 날까지다</a:t>
            </a:r>
            <a:endParaRPr/>
          </a:p>
          <a:p xmlns:a="http://schemas.openxmlformats.org/drawingml/2006/main">
            <a:r>
              <a:t/>
            </a:r>
            <a:endParaRPr/>
          </a:p>
          <a:p xmlns:a="http://schemas.openxmlformats.org/drawingml/2006/main">
            <a:r>
              <a:t>[발표 대본]</a:t>
            </a:r>
            <a:endParaRPr/>
          </a:p>
          <a:p xmlns:a="http://schemas.openxmlformats.org/drawingml/2006/main">
            <a:r>
              <a:t>마지막입니다. 이 작업의 첫 질문은 'sleep-time compute은 유망한가'였습니다. 서른 장을 지나 그 질문은 다섯 개의 다른 질문으로 갈라졌고, 각각의 답에는 경로 이름과 조건이 붙었으며, 세 칸은 판정 불가로 남았습니다. 그 과정에서 제가 실제로 만든 것은 답이 아니라 답할 수 있는 형태입니다 — 판별식 하나, 자 두 개, 감사 하나, 최소모형 하나, 그리고 그 다섯이 무엇을 지탱하고 무엇을 지탱하지 못하는지를 적은 등급표. 그러므로 이 발표를 쓰는 가장 좋은 방법은 인용이 아니라 반증입니다. 판정마다 관측 하나로 무너지게 만들어 뒀고, 무너지면 그 행을 고치면 됩니다. 그리고 여러 판정은 이미 존재하는 로그를 인쇄하는 것만으로 결정됩니다. 그러니 부탁 하나 드리고 끝내겠습니다 — 값을 적어 주십시오. 이 발표의 수명은 이 분야가 자기 비용을 적기 시작하는 날까지입니다. 그날이 빨리 오는 것이 이 발표가 바라는 결말입니다. 질문 받겠습니다.</a:t>
            </a:r>
            <a:endParaRPr/>
          </a:p>
          <a:p xmlns:a="http://schemas.openxmlformats.org/drawingml/2006/main">
            <a:r>
              <a:t/>
            </a:r>
            <a:endParaRPr/>
          </a:p>
          <a:p xmlns:a="http://schemas.openxmlformats.org/drawingml/2006/main">
            <a:r>
              <a:t>• 만든 것: 답이 아니라 답할 수 있는 형태</a:t>
            </a:r>
            <a:endParaRPr/>
          </a:p>
          <a:p xmlns:a="http://schemas.openxmlformats.org/drawingml/2006/main">
            <a:r>
              <a:t>• 도구: 판별식 하나, 자 둘, 감사 하나, 모형 하나</a:t>
            </a:r>
            <a:endParaRPr/>
          </a:p>
          <a:p xmlns:a="http://schemas.openxmlformats.org/drawingml/2006/main">
            <a:r>
              <a:t>• 계약: 그 다섯이 무엇을 지탱 못 하는지의 등급표</a:t>
            </a:r>
            <a:endParaRPr/>
          </a:p>
          <a:p xmlns:a="http://schemas.openxmlformats.org/drawingml/2006/main">
            <a:r>
              <a:t>• 요청: 값을 인쇄해 주십시오. 그게 반증입니다</a:t>
            </a:r>
            <a:endParaRPr/>
          </a:p>
          <a:p xmlns:a="http://schemas.openxmlformats.org/drawingml/2006/main">
            <a:r>
              <a:t/>
            </a:r>
            <a:endParaRPr/>
          </a:p>
          <a:p xmlns:a="http://schemas.openxmlformats.org/drawingml/2006/main">
            <a:r>
              <a:t>[Sources]</a:t>
            </a:r>
            <a:endParaRPr/>
          </a:p>
          <a:p xmlns:a="http://schemas.openxmlformats.org/drawingml/2006/main">
            <a:r>
              <a:t>study-kr-stc ch30 §30.4 판정 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1f086ff46e47ab"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1fb2dc5a6d4195" /><Relationship Type="http://schemas.openxmlformats.org/officeDocument/2006/relationships/slideLayout" Target="/ppt/slideLayouts/slideLayout1.xml" Id="R9d5d91099a5f421b"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5d91099a5f421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dbdd95a490449d" /><Relationship Type="http://schemas.openxmlformats.org/officeDocument/2006/relationships/notesSlide" Target="/ppt/notesSlides/notesSlide1.xml" Id="R727b56a7474a4c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7ae1ab1f214f24" /><Relationship Type="http://schemas.openxmlformats.org/officeDocument/2006/relationships/notesSlide" Target="/ppt/notesSlides/notesSlide2.xml" Id="Rae8196d7a55045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e59e0cbd6e84615" /><Relationship Type="http://schemas.openxmlformats.org/officeDocument/2006/relationships/notesSlide" Target="/ppt/notesSlides/notesSlide3.xml" Id="R29ff686a12b941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4c01c95eca0484c" /><Relationship Type="http://schemas.openxmlformats.org/officeDocument/2006/relationships/notesSlide" Target="/ppt/notesSlides/notesSlide4.xml" Id="Rb7ba9979ce6b4d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ad0abb30c449bd" /><Relationship Type="http://schemas.openxmlformats.org/officeDocument/2006/relationships/notesSlide" Target="/ppt/notesSlides/notesSlide5.xml" Id="R94c1ffe1e20841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a19c7849b34bf3" /><Relationship Type="http://schemas.openxmlformats.org/officeDocument/2006/relationships/notesSlide" Target="/ppt/notesSlides/notesSlide6.xml" Id="Raf9df8f996a342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a435e811f84c0b" /><Relationship Type="http://schemas.openxmlformats.org/officeDocument/2006/relationships/notesSlide" Target="/ppt/notesSlides/notesSlide7.xml" Id="Rf7e380e38bf148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e4b676558f548d7" /><Relationship Type="http://schemas.openxmlformats.org/officeDocument/2006/relationships/notesSlide" Target="/ppt/notesSlides/notesSlide8.xml" Id="R23f3bdabe95f41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5ce7694a83c48d1" /><Relationship Type="http://schemas.openxmlformats.org/officeDocument/2006/relationships/notesSlide" Target="/ppt/notesSlides/notesSlide9.xml" Id="Rec5a23e74aab40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6610d7f74c443f1" /><Relationship Type="http://schemas.openxmlformats.org/officeDocument/2006/relationships/notesSlide" Target="/ppt/notesSlides/notesSlide10.xml" Id="R83d9a79642a6455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2500788c8704670" /><Relationship Type="http://schemas.openxmlformats.org/officeDocument/2006/relationships/notesSlide" Target="/ppt/notesSlides/notesSlide11.xml" Id="Rf9bc9b76b75f47b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726b84abc9e467b" /><Relationship Type="http://schemas.openxmlformats.org/officeDocument/2006/relationships/notesSlide" Target="/ppt/notesSlides/notesSlide12.xml" Id="R072cb7897b32484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33b26038b404aac" /><Relationship Type="http://schemas.openxmlformats.org/officeDocument/2006/relationships/notesSlide" Target="/ppt/notesSlides/notesSlide13.xml" Id="R0ba43385d4f1432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c6034fc8e044899" /><Relationship Type="http://schemas.openxmlformats.org/officeDocument/2006/relationships/notesSlide" Target="/ppt/notesSlides/notesSlide14.xml" Id="Rc626a66f0a294eb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e9d3109d00343f5" /><Relationship Type="http://schemas.openxmlformats.org/officeDocument/2006/relationships/notesSlide" Target="/ppt/notesSlides/notesSlide15.xml" Id="R35bb511dcdf04b2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503bc5da6754c99" /><Relationship Type="http://schemas.openxmlformats.org/officeDocument/2006/relationships/notesSlide" Target="/ppt/notesSlides/notesSlide16.xml" Id="R6fc354ff19c242a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e4d7a381b5a4365" /><Relationship Type="http://schemas.openxmlformats.org/officeDocument/2006/relationships/notesSlide" Target="/ppt/notesSlides/notesSlide17.xml" Id="R01b30949a7e04df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f86bffe2f6e4312" /><Relationship Type="http://schemas.openxmlformats.org/officeDocument/2006/relationships/notesSlide" Target="/ppt/notesSlides/notesSlide18.xml" Id="Re6c99bb2ce1245c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72b75b2598946bb" /><Relationship Type="http://schemas.openxmlformats.org/officeDocument/2006/relationships/notesSlide" Target="/ppt/notesSlides/notesSlide19.xml" Id="Ra8d2dbdcbd35484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23aa3831ce1484d" /><Relationship Type="http://schemas.openxmlformats.org/officeDocument/2006/relationships/notesSlide" Target="/ppt/notesSlides/notesSlide20.xml" Id="Rdb6999649f604b8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42b33331b174d1a" /><Relationship Type="http://schemas.openxmlformats.org/officeDocument/2006/relationships/notesSlide" Target="/ppt/notesSlides/notesSlide21.xml" Id="R80acbde124154f5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de988f3bbf64378" /><Relationship Type="http://schemas.openxmlformats.org/officeDocument/2006/relationships/notesSlide" Target="/ppt/notesSlides/notesSlide22.xml" Id="R2806d64ee5d3455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950df543b3749dd" /><Relationship Type="http://schemas.openxmlformats.org/officeDocument/2006/relationships/notesSlide" Target="/ppt/notesSlides/notesSlide23.xml" Id="Rc86b24eade9943c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c09f0453fb84c52" /><Relationship Type="http://schemas.openxmlformats.org/officeDocument/2006/relationships/notesSlide" Target="/ppt/notesSlides/notesSlide24.xml" Id="R6c8542548d5847e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136727a4a4841cb" /><Relationship Type="http://schemas.openxmlformats.org/officeDocument/2006/relationships/notesSlide" Target="/ppt/notesSlides/notesSlide25.xml" Id="R971f1ae53585406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6c081ebfe884c31" /><Relationship Type="http://schemas.openxmlformats.org/officeDocument/2006/relationships/notesSlide" Target="/ppt/notesSlides/notesSlide26.xml" Id="R13360a43a5974a8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b8198540522416d" /><Relationship Type="http://schemas.openxmlformats.org/officeDocument/2006/relationships/notesSlide" Target="/ppt/notesSlides/notesSlide27.xml" Id="R997f42fd138c4a2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c140e6dc3174515" /><Relationship Type="http://schemas.openxmlformats.org/officeDocument/2006/relationships/notesSlide" Target="/ppt/notesSlides/notesSlide28.xml" Id="Race6a18a1d8e498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6e944575c184e26" /><Relationship Type="http://schemas.openxmlformats.org/officeDocument/2006/relationships/notesSlide" Target="/ppt/notesSlides/notesSlide29.xml" Id="R3b2c75c9f4b1465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41b97f8705846c1" /><Relationship Type="http://schemas.openxmlformats.org/officeDocument/2006/relationships/notesSlide" Target="/ppt/notesSlides/notesSlide30.xml" Id="R3a91bac25ef14a3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fb19082532c49db" /><Relationship Type="http://schemas.openxmlformats.org/officeDocument/2006/relationships/notesSlide" Target="/ppt/notesSlides/notesSlide31.xml" Id="Rff8995a2ef97424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631a4716aa04abb" /><Relationship Type="http://schemas.openxmlformats.org/officeDocument/2006/relationships/notesSlide" Target="/ppt/notesSlides/notesSlide32.xml" Id="R1030678424a347c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8e54ffaae9d4ce0" /><Relationship Type="http://schemas.openxmlformats.org/officeDocument/2006/relationships/notesSlide" Target="/ppt/notesSlides/notesSlide33.xml" Id="Rba1e7bf99e3d457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93ce4c997e949ca" /><Relationship Type="http://schemas.openxmlformats.org/officeDocument/2006/relationships/notesSlide" Target="/ppt/notesSlides/notesSlide34.xml" Id="Rc688210f06ae4fc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267e52276f74fed" /><Relationship Type="http://schemas.openxmlformats.org/officeDocument/2006/relationships/notesSlide" Target="/ppt/notesSlides/notesSlide35.xml" Id="R37ebd852a29e4e6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4fbb58a235340ed" /><Relationship Type="http://schemas.openxmlformats.org/officeDocument/2006/relationships/notesSlide" Target="/ppt/notesSlides/notesSlide36.xml" Id="R212686b271ec430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741d79fa43b47ed" /><Relationship Type="http://schemas.openxmlformats.org/officeDocument/2006/relationships/notesSlide" Target="/ppt/notesSlides/notesSlide37.xml" Id="R46e65dfbaa72494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df9b6e5bf85c4fc6" /><Relationship Type="http://schemas.openxmlformats.org/officeDocument/2006/relationships/notesSlide" Target="/ppt/notesSlides/notesSlide38.xml" Id="R10c134bc19d94fe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c32a5949ebf41bd" /><Relationship Type="http://schemas.openxmlformats.org/officeDocument/2006/relationships/notesSlide" Target="/ppt/notesSlides/notesSlide39.xml" Id="R846f0efa80c344d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71f40a158904612" /><Relationship Type="http://schemas.openxmlformats.org/officeDocument/2006/relationships/notesSlide" Target="/ppt/notesSlides/notesSlide40.xml" Id="R61b80d84e2a24d7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c3ace2bc82045be" /><Relationship Type="http://schemas.openxmlformats.org/officeDocument/2006/relationships/notesSlide" Target="/ppt/notesSlides/notesSlide41.xml" Id="Rbe6b7972e48a4a0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505433cee53c4093" /><Relationship Type="http://schemas.openxmlformats.org/officeDocument/2006/relationships/notesSlide" Target="/ppt/notesSlides/notesSlide42.xml" Id="R1b35297819004ff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64bee8acf6f24d34" /><Relationship Type="http://schemas.openxmlformats.org/officeDocument/2006/relationships/notesSlide" Target="/ppt/notesSlides/notesSlide43.xml" Id="R031c687437b5400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7c6ab64310504f3e" /><Relationship Type="http://schemas.openxmlformats.org/officeDocument/2006/relationships/notesSlide" Target="/ppt/notesSlides/notesSlide44.xml" Id="Rb5069054fb1e4ec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26c6790d5cd840fe" /><Relationship Type="http://schemas.openxmlformats.org/officeDocument/2006/relationships/notesSlide" Target="/ppt/notesSlides/notesSlide45.xml" Id="Rc52a7ce7eb854dc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6d4eabc1f49b4296" /><Relationship Type="http://schemas.openxmlformats.org/officeDocument/2006/relationships/notesSlide" Target="/ppt/notesSlides/notesSlide46.xml" Id="R643d276e05cd400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1901b51c11274bcb" /><Relationship Type="http://schemas.openxmlformats.org/officeDocument/2006/relationships/notesSlide" Target="/ppt/notesSlides/notesSlide47.xml" Id="R200130006cb64f3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004a4c0653a4a98" /><Relationship Type="http://schemas.openxmlformats.org/officeDocument/2006/relationships/notesSlide" Target="/ppt/notesSlides/notesSlide48.xml" Id="Rfdc1e6c120d041e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61386d886c8b4d37" /><Relationship Type="http://schemas.openxmlformats.org/officeDocument/2006/relationships/notesSlide" Target="/ppt/notesSlides/notesSlide49.xml" Id="Ra7a93fa06a8742c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f08d01edc29d4395" /><Relationship Type="http://schemas.openxmlformats.org/officeDocument/2006/relationships/notesSlide" Target="/ppt/notesSlides/notesSlide50.xml" Id="Ref10d3379e724ad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f3251fa3bd6f4ea8" /><Relationship Type="http://schemas.openxmlformats.org/officeDocument/2006/relationships/notesSlide" Target="/ppt/notesSlides/notesSlide51.xml" Id="Refc9fb4be2b74f0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788f63fd9ae3433c" /><Relationship Type="http://schemas.openxmlformats.org/officeDocument/2006/relationships/notesSlide" Target="/ppt/notesSlides/notesSlide52.xml" Id="R264d2bf7580d4e5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ad9234d08fb94229" /><Relationship Type="http://schemas.openxmlformats.org/officeDocument/2006/relationships/notesSlide" Target="/ppt/notesSlides/notesSlide53.xml" Id="R27f606762baa453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a96af06b549a4064" /><Relationship Type="http://schemas.openxmlformats.org/officeDocument/2006/relationships/notesSlide" Target="/ppt/notesSlides/notesSlide54.xml" Id="R8b8e1a7aaad848e4"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23b048c3c66d481d" /><Relationship Type="http://schemas.openxmlformats.org/officeDocument/2006/relationships/notesSlide" Target="/ppt/notesSlides/notesSlide55.xml" Id="R12d82f11775f478b"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bf858814064d4f58" /><Relationship Type="http://schemas.openxmlformats.org/officeDocument/2006/relationships/notesSlide" Target="/ppt/notesSlides/notesSlide56.xml" Id="R971474bff5d544b8"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fb80ddd8690a49b2" /><Relationship Type="http://schemas.openxmlformats.org/officeDocument/2006/relationships/notesSlide" Target="/ppt/notesSlides/notesSlide57.xml" Id="Rbcf19ddc330a4693"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75aba43ea67744de" /><Relationship Type="http://schemas.openxmlformats.org/officeDocument/2006/relationships/notesSlide" Target="/ppt/notesSlides/notesSlide58.xml" Id="Rb9e17d42ba3347ce"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71929584bb89401f" /><Relationship Type="http://schemas.openxmlformats.org/officeDocument/2006/relationships/notesSlide" Target="/ppt/notesSlides/notesSlide59.xml" Id="R7784043a9b1d472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55509b7b5afb46f9" /><Relationship Type="http://schemas.openxmlformats.org/officeDocument/2006/relationships/notesSlide" Target="/ppt/notesSlides/notesSlide60.xml" Id="Rc24f9632c2664dc6"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dcb7a71f3b364c7a" /><Relationship Type="http://schemas.openxmlformats.org/officeDocument/2006/relationships/notesSlide" Target="/ppt/notesSlides/notesSlide61.xml" Id="R63272b83bcf745b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e78c7f1658044aa3" /><Relationship Type="http://schemas.openxmlformats.org/officeDocument/2006/relationships/notesSlide" Target="/ppt/notesSlides/notesSlide62.xml" Id="Rafd7f1dd17604592"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bb46e4bdd7894ef8" /><Relationship Type="http://schemas.openxmlformats.org/officeDocument/2006/relationships/notesSlide" Target="/ppt/notesSlides/notesSlide63.xml" Id="Rd36c2c3d4b8445ae"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3d9356ab25914f3f" /><Relationship Type="http://schemas.openxmlformats.org/officeDocument/2006/relationships/notesSlide" Target="/ppt/notesSlides/notesSlide64.xml" Id="R77d02fe607cf49c2"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a9e274d9eb8948a1" /><Relationship Type="http://schemas.openxmlformats.org/officeDocument/2006/relationships/notesSlide" Target="/ppt/notesSlides/notesSlide65.xml" Id="R6158578b62f3495e"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13e7b3c774904fc5" /><Relationship Type="http://schemas.openxmlformats.org/officeDocument/2006/relationships/notesSlide" Target="/ppt/notesSlides/notesSlide66.xml" Id="R3d21ab23373942e5"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9129a1965eb74c09" /><Relationship Type="http://schemas.openxmlformats.org/officeDocument/2006/relationships/notesSlide" Target="/ppt/notesSlides/notesSlide67.xml" Id="R5fe353741299499e"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bf4fca8b0fe94c5d" /><Relationship Type="http://schemas.openxmlformats.org/officeDocument/2006/relationships/notesSlide" Target="/ppt/notesSlides/notesSlide68.xml" Id="R6e0b8cc362094873"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267daccb93e94022" /><Relationship Type="http://schemas.openxmlformats.org/officeDocument/2006/relationships/notesSlide" Target="/ppt/notesSlides/notesSlide69.xml" Id="R13d9c3618a6c4012"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0bf19f7246474960" /><Relationship Type="http://schemas.openxmlformats.org/officeDocument/2006/relationships/notesSlide" Target="/ppt/notesSlides/notesSlide70.xml" Id="R1d40bc90a3114009"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425eefebe5ff4ca5" /><Relationship Type="http://schemas.openxmlformats.org/officeDocument/2006/relationships/notesSlide" Target="/ppt/notesSlides/notesSlide71.xml" Id="Rc885d04852d4447d"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c258150749c54d09" /><Relationship Type="http://schemas.openxmlformats.org/officeDocument/2006/relationships/notesSlide" Target="/ppt/notesSlides/notesSlide72.xml" Id="R206292bafda44d12"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058e03537ce24db4" /><Relationship Type="http://schemas.openxmlformats.org/officeDocument/2006/relationships/notesSlide" Target="/ppt/notesSlides/notesSlide73.xml" Id="Rec06922831c246c1"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ff59f22642834bc3" /><Relationship Type="http://schemas.openxmlformats.org/officeDocument/2006/relationships/notesSlide" Target="/ppt/notesSlides/notesSlide74.xml" Id="Rcd24e2a5283f4b2f"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302a68a0946d49b7" /><Relationship Type="http://schemas.openxmlformats.org/officeDocument/2006/relationships/notesSlide" Target="/ppt/notesSlides/notesSlide75.xml" Id="Rabb00c88fa984e65"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0fd57b1f5d424c82" /><Relationship Type="http://schemas.openxmlformats.org/officeDocument/2006/relationships/notesSlide" Target="/ppt/notesSlides/notesSlide76.xml" Id="R41e2655b9f6c4d8e"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ba6ce5dd411240b5" /><Relationship Type="http://schemas.openxmlformats.org/officeDocument/2006/relationships/notesSlide" Target="/ppt/notesSlides/notesSlide77.xml" Id="Rcf526306eda54012"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3416bae4fd5b4478" /><Relationship Type="http://schemas.openxmlformats.org/officeDocument/2006/relationships/notesSlide" Target="/ppt/notesSlides/notesSlide78.xml" Id="Radc4bd72cd364978"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2f69d5d913504b77" /><Relationship Type="http://schemas.openxmlformats.org/officeDocument/2006/relationships/notesSlide" Target="/ppt/notesSlides/notesSlide79.xml" Id="R9ee18227622443d1"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e9b3420661594bd7" /><Relationship Type="http://schemas.openxmlformats.org/officeDocument/2006/relationships/notesSlide" Target="/ppt/notesSlides/notesSlide80.xml" Id="R46b60b63fec34a25"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10a6eed12dd2419a" /><Relationship Type="http://schemas.openxmlformats.org/officeDocument/2006/relationships/notesSlide" Target="/ppt/notesSlides/notesSlide81.xml" Id="R5766b97ccf184ee9"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00231cef129d45e0" /><Relationship Type="http://schemas.openxmlformats.org/officeDocument/2006/relationships/notesSlide" Target="/ppt/notesSlides/notesSlide82.xml" Id="R0567dd5bd5bb4e64"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ddc66a77897846db" /><Relationship Type="http://schemas.openxmlformats.org/officeDocument/2006/relationships/notesSlide" Target="/ppt/notesSlides/notesSlide83.xml" Id="R01b1edf954e141b1"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a12da53779474bfc" /><Relationship Type="http://schemas.openxmlformats.org/officeDocument/2006/relationships/notesSlide" Target="/ppt/notesSlides/notesSlide84.xml" Id="R28f5dd1253c047c5"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360fd1f38f624163" /><Relationship Type="http://schemas.openxmlformats.org/officeDocument/2006/relationships/notesSlide" Target="/ppt/notesSlides/notesSlide85.xml" Id="Rc003cd2e2fe74376"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6ab24a0748cf4db7" /><Relationship Type="http://schemas.openxmlformats.org/officeDocument/2006/relationships/notesSlide" Target="/ppt/notesSlides/notesSlide86.xml" Id="Rf4c02fba66d94282"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a7233e0261f84d54" /><Relationship Type="http://schemas.openxmlformats.org/officeDocument/2006/relationships/notesSlide" Target="/ppt/notesSlides/notesSlide87.xml" Id="R7a003932e8c74e49"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d730eed4ef8143c7" /><Relationship Type="http://schemas.openxmlformats.org/officeDocument/2006/relationships/notesSlide" Target="/ppt/notesSlides/notesSlide88.xml" Id="Rb794a72a65ec4fbe"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9c9d7ecc8a2e4f7a" /><Relationship Type="http://schemas.openxmlformats.org/officeDocument/2006/relationships/notesSlide" Target="/ppt/notesSlides/notesSlide89.xml" Id="R9e3c7265ca054848"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0f1cf6f8b9024104" /><Relationship Type="http://schemas.openxmlformats.org/officeDocument/2006/relationships/notesSlide" Target="/ppt/notesSlides/notesSlide90.xml" Id="R5ec28b4e2af14afd"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be088bdae18d4866" /><Relationship Type="http://schemas.openxmlformats.org/officeDocument/2006/relationships/notesSlide" Target="/ppt/notesSlides/notesSlide91.xml" Id="R39653e2fc41f4143"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cf08ec537f354936" /><Relationship Type="http://schemas.openxmlformats.org/officeDocument/2006/relationships/notesSlide" Target="/ppt/notesSlides/notesSlide92.xml" Id="R93eb21e54ffc42ed"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054797f462c64e79" /><Relationship Type="http://schemas.openxmlformats.org/officeDocument/2006/relationships/notesSlide" Target="/ppt/notesSlides/notesSlide93.xml" Id="Rbc7c6256b49546e9"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fc501915aaf94ae9" /><Relationship Type="http://schemas.openxmlformats.org/officeDocument/2006/relationships/notesSlide" Target="/ppt/notesSlides/notesSlide94.xml" Id="R3f2f6d6c480540fd"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a3aeeccf18424912" /><Relationship Type="http://schemas.openxmlformats.org/officeDocument/2006/relationships/notesSlide" Target="/ppt/notesSlides/notesSlide95.xml" Id="Ra519f584ef5e44df"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62740c2ecc154e17" /><Relationship Type="http://schemas.openxmlformats.org/officeDocument/2006/relationships/notesSlide" Target="/ppt/notesSlides/notesSlide96.xml" Id="R473d1308bb594115"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9274c41a0e5f47ab" /><Relationship Type="http://schemas.openxmlformats.org/officeDocument/2006/relationships/notesSlide" Target="/ppt/notesSlides/notesSlide97.xml" Id="Rc762e7d52903471d"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6f733966550e4f23" /><Relationship Type="http://schemas.openxmlformats.org/officeDocument/2006/relationships/notesSlide" Target="/ppt/notesSlides/notesSlide98.xml" Id="Ra6d98e292fd74e43"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537eda370597418c" /><Relationship Type="http://schemas.openxmlformats.org/officeDocument/2006/relationships/notesSlide" Target="/ppt/notesSlides/notesSlide99.xml" Id="R0a3d505b5d024843"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9ebd10f5c41d41b0" /><Relationship Type="http://schemas.openxmlformats.org/officeDocument/2006/relationships/notesSlide" Target="/ppt/notesSlides/notesSlide100.xml" Id="Rfb4961b7c0cc4d77"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b8a918ce04224fc1" /><Relationship Type="http://schemas.openxmlformats.org/officeDocument/2006/relationships/notesSlide" Target="/ppt/notesSlides/notesSlide101.xml" Id="Rf7333ac78754412b"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74349e1ee508446f" /><Relationship Type="http://schemas.openxmlformats.org/officeDocument/2006/relationships/notesSlide" Target="/ppt/notesSlides/notesSlide102.xml" Id="Rca6c89d82f664ee5"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58e44b9a0d5848ac" /><Relationship Type="http://schemas.openxmlformats.org/officeDocument/2006/relationships/notesSlide" Target="/ppt/notesSlides/notesSlide103.xml" Id="R7c863cdbf876412f"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311b73291b7d47dd" /><Relationship Type="http://schemas.openxmlformats.org/officeDocument/2006/relationships/notesSlide" Target="/ppt/notesSlides/notesSlide104.xml" Id="R1e200d5e355b4bb7"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3699f748d1a54e09" /><Relationship Type="http://schemas.openxmlformats.org/officeDocument/2006/relationships/notesSlide" Target="/ppt/notesSlides/notesSlide105.xml" Id="R2f13f1080fad4213"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c07acaff135e49fb" /><Relationship Type="http://schemas.openxmlformats.org/officeDocument/2006/relationships/notesSlide" Target="/ppt/notesSlides/notesSlide106.xml" Id="R5d0f1d12d6204eed"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ec540bcdb10644dc" /><Relationship Type="http://schemas.openxmlformats.org/officeDocument/2006/relationships/notesSlide" Target="/ppt/notesSlides/notesSlide107.xml" Id="Rfe923d2db1594d37"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185788959a694f61" /><Relationship Type="http://schemas.openxmlformats.org/officeDocument/2006/relationships/notesSlide" Target="/ppt/notesSlides/notesSlide108.xml" Id="R5e96f298b2bb45ed"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2134b2931e9447e1" /><Relationship Type="http://schemas.openxmlformats.org/officeDocument/2006/relationships/notesSlide" Target="/ppt/notesSlides/notesSlide109.xml" Id="R478577bde13d4f2a"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e8d4a1f0d57b444b" /><Relationship Type="http://schemas.openxmlformats.org/officeDocument/2006/relationships/notesSlide" Target="/ppt/notesSlides/notesSlide110.xml" Id="R5afa08c66f654f65"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0814b0bdc3384898" /><Relationship Type="http://schemas.openxmlformats.org/officeDocument/2006/relationships/notesSlide" Target="/ppt/notesSlides/notesSlide111.xml" Id="R2ebcb4c6cf7c4a1d"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9d5dcfb0a08c4b59" /><Relationship Type="http://schemas.openxmlformats.org/officeDocument/2006/relationships/notesSlide" Target="/ppt/notesSlides/notesSlide112.xml" Id="Rb5183e1dfa0e4a7f"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165fed17b7c64894" /><Relationship Type="http://schemas.openxmlformats.org/officeDocument/2006/relationships/notesSlide" Target="/ppt/notesSlides/notesSlide113.xml" Id="R9c17e40f801f4893"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967654f3e0694a54" /><Relationship Type="http://schemas.openxmlformats.org/officeDocument/2006/relationships/notesSlide" Target="/ppt/notesSlides/notesSlide114.xml" Id="Rf7dad3823ba4488b"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e700777e90d24dc3" /><Relationship Type="http://schemas.openxmlformats.org/officeDocument/2006/relationships/notesSlide" Target="/ppt/notesSlides/notesSlide115.xml" Id="Rf2e3cef43d694e0d"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319268c5704f4728" /><Relationship Type="http://schemas.openxmlformats.org/officeDocument/2006/relationships/notesSlide" Target="/ppt/notesSlides/notesSlide116.xml" Id="R98e49533d82c4964"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471b322dfc6544cf" /><Relationship Type="http://schemas.openxmlformats.org/officeDocument/2006/relationships/notesSlide" Target="/ppt/notesSlides/notesSlide117.xml" Id="R198dd7dbeb004eab"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25e47226edee42b9" /><Relationship Type="http://schemas.openxmlformats.org/officeDocument/2006/relationships/notesSlide" Target="/ppt/notesSlides/notesSlide118.xml" Id="R6e290909fbd64788"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c50d44258c6b4ddf" /><Relationship Type="http://schemas.openxmlformats.org/officeDocument/2006/relationships/notesSlide" Target="/ppt/notesSlides/notesSlide119.xml" Id="Re45ad5110e4a4229"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697869d221f840f2" /><Relationship Type="http://schemas.openxmlformats.org/officeDocument/2006/relationships/notesSlide" Target="/ppt/notesSlides/notesSlide120.xml" Id="R52fc802cf5d24e77"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3a13d2d38e204d0a" /><Relationship Type="http://schemas.openxmlformats.org/officeDocument/2006/relationships/notesSlide" Target="/ppt/notesSlides/notesSlide121.xml" Id="R522346a3d27a4274"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xml" Id="Rfbc3d443e1b244ca" /><Relationship Type="http://schemas.openxmlformats.org/officeDocument/2006/relationships/notesSlide" Target="/ppt/notesSlides/notesSlide122.xml" Id="Rbcbf42534f104652"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xml" Id="Rbf12a872c1184ddb" /><Relationship Type="http://schemas.openxmlformats.org/officeDocument/2006/relationships/notesSlide" Target="/ppt/notesSlides/notesSlide123.xml" Id="R873ffd28b5344e6b"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xml" Id="Rce4fdc8d5ebe4747" /><Relationship Type="http://schemas.openxmlformats.org/officeDocument/2006/relationships/notesSlide" Target="/ppt/notesSlides/notesSlide124.xml" Id="Rf82aaa6164264b22"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xml" Id="R27212eb185ff4175" /><Relationship Type="http://schemas.openxmlformats.org/officeDocument/2006/relationships/notesSlide" Target="/ppt/notesSlides/notesSlide125.xml" Id="R15c90b57497444d5" /></Relationships>
</file>

<file path=ppt/slides/slide1.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1-status-label">
            <a:extLst xmlns:a="http://schemas.openxmlformats.org/drawingml/2006/main">
              <a:ext uri="{FF2B5EF4-FFF2-40B4-BE49-F238E27FC236}">
                <a16:creationId xmlns:a16="http://schemas.microsoft.com/office/drawing/2014/main" id="{DB7982B5-08E8-4535-99F5-1669BCDB59DA}"/>
              </a:ext>
            </a:extLst>
          </p:cNvPr>
          <p:cNvSpPr>
            <a:spLocks xmlns:a="http://schemas.openxmlformats.org/drawingml/2006/main" noGrp="1"/>
          </p:cNvSpPr>
          <p:nvPr/>
        </p:nvSpPr>
        <p:spPr>
          <a:xfrm xmlns:a="http://schemas.openxmlformats.org/drawingml/2006/main">
            <a:off x="603504" y="512064"/>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SEMINAR</a:t>
            </a:r>
            <a:endParaRPr sz="1000"/>
          </a:p>
        </p:txBody>
      </p:sp>
      <p:sp>
        <p:nvSpPr>
          <p:cNvPr id="3" name="STC-01-status-rule">
            <a:extLst xmlns:a="http://schemas.openxmlformats.org/drawingml/2006/main">
              <a:ext uri="{FF2B5EF4-FFF2-40B4-BE49-F238E27FC236}">
                <a16:creationId xmlns:a16="http://schemas.microsoft.com/office/drawing/2014/main" id="{F429ECBD-E722-417E-A088-ED2E2840A13B}"/>
              </a:ext>
            </a:extLst>
          </p:cNvPr>
          <p:cNvSpPr>
            <a:spLocks xmlns:a="http://schemas.openxmlformats.org/drawingml/2006/main" noGrp="1"/>
          </p:cNvSpPr>
          <p:nvPr/>
        </p:nvSpPr>
        <p:spPr>
          <a:xfrm xmlns:a="http://schemas.openxmlformats.org/drawingml/2006/main">
            <a:off x="1536192" y="621792"/>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5" name="STC-01-cover-rule">
            <a:extLst xmlns:a="http://schemas.openxmlformats.org/drawingml/2006/main">
              <a:ext uri="{FF2B5EF4-FFF2-40B4-BE49-F238E27FC236}">
                <a16:creationId xmlns:a16="http://schemas.microsoft.com/office/drawing/2014/main" id="{704C1924-F57C-49EE-B92E-3DFFADEED52F}"/>
              </a:ext>
            </a:extLst>
          </p:cNvPr>
          <p:cNvSpPr>
            <a:spLocks xmlns:a="http://schemas.openxmlformats.org/drawingml/2006/main" noGrp="1"/>
          </p:cNvSpPr>
          <p:nvPr/>
        </p:nvSpPr>
        <p:spPr>
          <a:xfrm xmlns:a="http://schemas.openxmlformats.org/drawingml/2006/main">
            <a:off x="694944" y="411480"/>
            <a:ext cx="10789920" cy="0"/>
          </a:xfrm>
          <a:prstGeom xmlns:a="http://schemas.openxmlformats.org/drawingml/2006/main" prst="line">
            <a:avLst/>
          </a:prstGeom>
          <a:noFill xmlns:a="http://schemas.openxmlformats.org/drawingml/2006/main"/>
          <a:ln xmlns:a="http://schemas.openxmlformats.org/drawingml/2006/main" w="63500">
            <a:solidFill>
              <a:srgbClr val="17191C"/>
            </a:solidFill>
            <a:prstDash val="solid"/>
            <a:tailEnd type="none"/>
          </a:ln>
        </p:spPr>
      </p:sp>
      <p:sp>
        <p:nvSpPr>
          <p:cNvPr id="6" name="STC-01-cover-title">
            <a:extLst xmlns:a="http://schemas.openxmlformats.org/drawingml/2006/main">
              <a:ext uri="{FF2B5EF4-FFF2-40B4-BE49-F238E27FC236}">
                <a16:creationId xmlns:a16="http://schemas.microsoft.com/office/drawing/2014/main" id="{04004804-7B96-407F-854C-08EAE125FA10}"/>
              </a:ext>
            </a:extLst>
          </p:cNvPr>
          <p:cNvSpPr>
            <a:spLocks xmlns:a="http://schemas.openxmlformats.org/drawingml/2006/main" noGrp="1"/>
          </p:cNvSpPr>
          <p:nvPr/>
        </p:nvSpPr>
        <p:spPr>
          <a:xfrm xmlns:a="http://schemas.openxmlformats.org/drawingml/2006/main">
            <a:off x="713232" y="1389888"/>
            <a:ext cx="4800600" cy="1691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400" b="1">
                <a:solidFill>
                  <a:srgbClr val="17191C"/>
                </a:solidFill>
                <a:latin typeface="Noto Serif CJK KR"/>
                <a:ea typeface="Noto Serif CJK KR"/>
                <a:cs typeface="Noto Serif CJK KR"/>
              </a:rPr>
              <a:t>SLEEP–TIME</a:t>
            </a:r>
            <a:endParaRPr sz="4400"/>
          </a:p>
          <a:p xmlns:a="http://schemas.openxmlformats.org/drawingml/2006/main">
            <a:pPr marL="0" indent="0">
              <a:buNone/>
            </a:pPr>
            <a:r>
              <a:rPr sz="4400" b="1">
                <a:solidFill>
                  <a:srgbClr val="17191C"/>
                </a:solidFill>
                <a:latin typeface="Noto Serif CJK KR"/>
                <a:ea typeface="Noto Serif CJK KR"/>
                <a:cs typeface="Noto Serif CJK KR"/>
              </a:rPr>
              <a:t>COMPUTE</a:t>
            </a:r>
            <a:endParaRPr sz="4400"/>
          </a:p>
        </p:txBody>
      </p:sp>
      <p:sp>
        <p:nvSpPr>
          <p:cNvPr id="7" name="STC-01-cover-korean">
            <a:extLst xmlns:a="http://schemas.openxmlformats.org/drawingml/2006/main">
              <a:ext uri="{FF2B5EF4-FFF2-40B4-BE49-F238E27FC236}">
                <a16:creationId xmlns:a16="http://schemas.microsoft.com/office/drawing/2014/main" id="{4419890D-4384-448D-BF69-B9674B499A43}"/>
              </a:ext>
            </a:extLst>
          </p:cNvPr>
          <p:cNvSpPr>
            <a:spLocks xmlns:a="http://schemas.openxmlformats.org/drawingml/2006/main" noGrp="1"/>
          </p:cNvSpPr>
          <p:nvPr/>
        </p:nvSpPr>
        <p:spPr>
          <a:xfrm xmlns:a="http://schemas.openxmlformats.org/drawingml/2006/main">
            <a:off x="749808" y="3328416"/>
            <a:ext cx="493776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rgbClr val="2F6B63"/>
                </a:solidFill>
                <a:latin typeface="Noto Sans CJK KR"/>
                <a:ea typeface="Noto Sans CJK KR"/>
                <a:cs typeface="Noto Sans CJK KR"/>
              </a:rPr>
              <a:t>기억 생애주기의 다음 인프라</a:t>
            </a:r>
            <a:endParaRPr sz="2400"/>
          </a:p>
        </p:txBody>
      </p:sp>
      <p:sp>
        <p:nvSpPr>
          <p:cNvPr id="8" name="STC-01-cover-subtitle">
            <a:extLst xmlns:a="http://schemas.openxmlformats.org/drawingml/2006/main">
              <a:ext uri="{FF2B5EF4-FFF2-40B4-BE49-F238E27FC236}">
                <a16:creationId xmlns:a16="http://schemas.microsoft.com/office/drawing/2014/main" id="{D8BA1CCE-373B-4D2A-9110-19CD4B9DC544}"/>
              </a:ext>
            </a:extLst>
          </p:cNvPr>
          <p:cNvSpPr>
            <a:spLocks xmlns:a="http://schemas.openxmlformats.org/drawingml/2006/main" noGrp="1"/>
          </p:cNvSpPr>
          <p:nvPr/>
        </p:nvSpPr>
        <p:spPr>
          <a:xfrm xmlns:a="http://schemas.openxmlformats.org/drawingml/2006/main">
            <a:off x="749808" y="3913632"/>
            <a:ext cx="489204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59616A"/>
                </a:solidFill>
                <a:latin typeface="Noto Sans CJK KR"/>
                <a:ea typeface="Noto Sans CJK KR"/>
                <a:cs typeface="Noto Sans CJK KR"/>
              </a:rPr>
              <a:t>판별식 하나, 자 두 개, 감사 하나, 최소모형 하나</a:t>
            </a:r>
            <a:endParaRPr sz="1800"/>
          </a:p>
        </p:txBody>
      </p:sp>
      <p:sp>
        <p:nvSpPr>
          <p:cNvPr id="9" name="STC-01-cover-field">
            <a:extLst xmlns:a="http://schemas.openxmlformats.org/drawingml/2006/main">
              <a:ext uri="{FF2B5EF4-FFF2-40B4-BE49-F238E27FC236}">
                <a16:creationId xmlns:a16="http://schemas.microsoft.com/office/drawing/2014/main" id="{E7159408-D2B1-458D-9FBF-C244ADBAC7E2}"/>
              </a:ext>
            </a:extLst>
          </p:cNvPr>
          <p:cNvSpPr>
            <a:spLocks xmlns:a="http://schemas.openxmlformats.org/drawingml/2006/main" noGrp="1"/>
          </p:cNvSpPr>
          <p:nvPr/>
        </p:nvSpPr>
        <p:spPr>
          <a:xfrm xmlns:a="http://schemas.openxmlformats.org/drawingml/2006/main">
            <a:off x="6437376" y="1225296"/>
            <a:ext cx="4626864" cy="4370832"/>
          </a:xfrm>
          <a:prstGeom xmlns:a="http://schemas.openxmlformats.org/drawingml/2006/main" prst="rect">
            <a:avLst/>
          </a:prstGeom>
          <a:solidFill xmlns:a="http://schemas.openxmlformats.org/drawingml/2006/main">
            <a:srgbClr val="ECE8DE"/>
          </a:solidFill>
          <a:ln xmlns:a="http://schemas.openxmlformats.org/drawingml/2006/main" w="12700">
            <a:solidFill>
              <a:srgbClr val="ECE8DE"/>
            </a:solidFill>
            <a:prstDash val="solid"/>
          </a:ln>
        </p:spPr>
      </p:sp>
      <p:sp>
        <p:nvSpPr>
          <p:cNvPr id="10" name="STC-01-cover-stage-0">
            <a:extLst xmlns:a="http://schemas.openxmlformats.org/drawingml/2006/main">
              <a:ext uri="{FF2B5EF4-FFF2-40B4-BE49-F238E27FC236}">
                <a16:creationId xmlns:a16="http://schemas.microsoft.com/office/drawing/2014/main" id="{C63CD4C6-0641-43EF-BD02-B734E2B52E27}"/>
              </a:ext>
            </a:extLst>
          </p:cNvPr>
          <p:cNvSpPr>
            <a:spLocks xmlns:a="http://schemas.openxmlformats.org/drawingml/2006/main" noGrp="1"/>
          </p:cNvSpPr>
          <p:nvPr/>
        </p:nvSpPr>
        <p:spPr>
          <a:xfrm xmlns:a="http://schemas.openxmlformats.org/drawingml/2006/main">
            <a:off x="6784848" y="1591056"/>
            <a:ext cx="129844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244E8A"/>
                </a:solidFill>
                <a:latin typeface="Noto Sans Mono CJK KR"/>
                <a:ea typeface="Noto Sans Mono CJK KR"/>
                <a:cs typeface="Noto Sans Mono CJK KR"/>
              </a:rPr>
              <a:t>판별</a:t>
            </a:r>
            <a:endParaRPr sz="1300"/>
          </a:p>
        </p:txBody>
      </p:sp>
      <p:sp>
        <p:nvSpPr>
          <p:cNvPr id="11" name="STC-01-cover-arrow-0">
            <a:extLst xmlns:a="http://schemas.openxmlformats.org/drawingml/2006/main">
              <a:ext uri="{FF2B5EF4-FFF2-40B4-BE49-F238E27FC236}">
                <a16:creationId xmlns:a16="http://schemas.microsoft.com/office/drawing/2014/main" id="{C8880B7E-23DA-419A-BFA6-AE6BD77760C9}"/>
              </a:ext>
            </a:extLst>
          </p:cNvPr>
          <p:cNvSpPr>
            <a:spLocks xmlns:a="http://schemas.openxmlformats.org/drawingml/2006/main" noGrp="1"/>
          </p:cNvSpPr>
          <p:nvPr/>
        </p:nvSpPr>
        <p:spPr>
          <a:xfrm xmlns:a="http://schemas.openxmlformats.org/drawingml/2006/main">
            <a:off x="8183880" y="1719072"/>
            <a:ext cx="1920240"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2" name="STC-01-cover-stage-1">
            <a:extLst xmlns:a="http://schemas.openxmlformats.org/drawingml/2006/main">
              <a:ext uri="{FF2B5EF4-FFF2-40B4-BE49-F238E27FC236}">
                <a16:creationId xmlns:a16="http://schemas.microsoft.com/office/drawing/2014/main" id="{B0C2DFA9-8637-477B-97D1-6C32D12EAABF}"/>
              </a:ext>
            </a:extLst>
          </p:cNvPr>
          <p:cNvSpPr>
            <a:spLocks xmlns:a="http://schemas.openxmlformats.org/drawingml/2006/main" noGrp="1"/>
          </p:cNvSpPr>
          <p:nvPr/>
        </p:nvSpPr>
        <p:spPr>
          <a:xfrm xmlns:a="http://schemas.openxmlformats.org/drawingml/2006/main">
            <a:off x="6784848" y="2532888"/>
            <a:ext cx="129844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244E8A"/>
                </a:solidFill>
                <a:latin typeface="Noto Sans Mono CJK KR"/>
                <a:ea typeface="Noto Sans Mono CJK KR"/>
                <a:cs typeface="Noto Sans Mono CJK KR"/>
              </a:rPr>
              <a:t>회계</a:t>
            </a:r>
            <a:endParaRPr sz="1300"/>
          </a:p>
        </p:txBody>
      </p:sp>
      <p:sp>
        <p:nvSpPr>
          <p:cNvPr id="13" name="STC-01-cover-arrow-1">
            <a:extLst xmlns:a="http://schemas.openxmlformats.org/drawingml/2006/main">
              <a:ext uri="{FF2B5EF4-FFF2-40B4-BE49-F238E27FC236}">
                <a16:creationId xmlns:a16="http://schemas.microsoft.com/office/drawing/2014/main" id="{A37ABDB1-D1CB-40A2-B292-064213D8C909}"/>
              </a:ext>
            </a:extLst>
          </p:cNvPr>
          <p:cNvSpPr>
            <a:spLocks xmlns:a="http://schemas.openxmlformats.org/drawingml/2006/main" noGrp="1"/>
          </p:cNvSpPr>
          <p:nvPr/>
        </p:nvSpPr>
        <p:spPr>
          <a:xfrm xmlns:a="http://schemas.openxmlformats.org/drawingml/2006/main">
            <a:off x="8183880" y="2660904"/>
            <a:ext cx="1920240"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4" name="STC-01-cover-stage-2">
            <a:extLst xmlns:a="http://schemas.openxmlformats.org/drawingml/2006/main">
              <a:ext uri="{FF2B5EF4-FFF2-40B4-BE49-F238E27FC236}">
                <a16:creationId xmlns:a16="http://schemas.microsoft.com/office/drawing/2014/main" id="{F44D69D8-6369-44DA-9870-D09578F453EB}"/>
              </a:ext>
            </a:extLst>
          </p:cNvPr>
          <p:cNvSpPr>
            <a:spLocks xmlns:a="http://schemas.openxmlformats.org/drawingml/2006/main" noGrp="1"/>
          </p:cNvSpPr>
          <p:nvPr/>
        </p:nvSpPr>
        <p:spPr>
          <a:xfrm xmlns:a="http://schemas.openxmlformats.org/drawingml/2006/main">
            <a:off x="6784848" y="3474720"/>
            <a:ext cx="129844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9A442D"/>
                </a:solidFill>
                <a:latin typeface="Noto Sans Mono CJK KR"/>
                <a:ea typeface="Noto Sans Mono CJK KR"/>
                <a:cs typeface="Noto Sans Mono CJK KR"/>
              </a:rPr>
              <a:t>판정</a:t>
            </a:r>
            <a:endParaRPr sz="1300"/>
          </a:p>
        </p:txBody>
      </p:sp>
      <p:sp>
        <p:nvSpPr>
          <p:cNvPr id="15" name="STC-01-cover-arrow-2">
            <a:extLst xmlns:a="http://schemas.openxmlformats.org/drawingml/2006/main">
              <a:ext uri="{FF2B5EF4-FFF2-40B4-BE49-F238E27FC236}">
                <a16:creationId xmlns:a16="http://schemas.microsoft.com/office/drawing/2014/main" id="{E3FC6CBC-2829-40E1-A752-5DB8AF20EAFF}"/>
              </a:ext>
            </a:extLst>
          </p:cNvPr>
          <p:cNvSpPr>
            <a:spLocks xmlns:a="http://schemas.openxmlformats.org/drawingml/2006/main" noGrp="1"/>
          </p:cNvSpPr>
          <p:nvPr/>
        </p:nvSpPr>
        <p:spPr>
          <a:xfrm xmlns:a="http://schemas.openxmlformats.org/drawingml/2006/main">
            <a:off x="8183880" y="3602736"/>
            <a:ext cx="1920240"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6" name="STC-01-cover-stage-3">
            <a:extLst xmlns:a="http://schemas.openxmlformats.org/drawingml/2006/main">
              <a:ext uri="{FF2B5EF4-FFF2-40B4-BE49-F238E27FC236}">
                <a16:creationId xmlns:a16="http://schemas.microsoft.com/office/drawing/2014/main" id="{240DC01A-8827-4448-81AF-05AE8A9FDDC3}"/>
              </a:ext>
            </a:extLst>
          </p:cNvPr>
          <p:cNvSpPr>
            <a:spLocks xmlns:a="http://schemas.openxmlformats.org/drawingml/2006/main" noGrp="1"/>
          </p:cNvSpPr>
          <p:nvPr/>
        </p:nvSpPr>
        <p:spPr>
          <a:xfrm xmlns:a="http://schemas.openxmlformats.org/drawingml/2006/main">
            <a:off x="6784848" y="4416552"/>
            <a:ext cx="129844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2F6B63"/>
                </a:solidFill>
                <a:latin typeface="Noto Sans Mono CJK KR"/>
                <a:ea typeface="Noto Sans Mono CJK KR"/>
                <a:cs typeface="Noto Sans Mono CJK KR"/>
              </a:rPr>
              <a:t>반증</a:t>
            </a:r>
            <a:endParaRPr sz="1300"/>
          </a:p>
        </p:txBody>
      </p:sp>
      <p:sp>
        <p:nvSpPr>
          <p:cNvPr id="17" name="STC-01-cover-arrow-3">
            <a:extLst xmlns:a="http://schemas.openxmlformats.org/drawingml/2006/main">
              <a:ext uri="{FF2B5EF4-FFF2-40B4-BE49-F238E27FC236}">
                <a16:creationId xmlns:a16="http://schemas.microsoft.com/office/drawing/2014/main" id="{1C0E84C4-6181-41AB-AB40-781CFFB5ECFA}"/>
              </a:ext>
            </a:extLst>
          </p:cNvPr>
          <p:cNvSpPr>
            <a:spLocks xmlns:a="http://schemas.openxmlformats.org/drawingml/2006/main" noGrp="1"/>
          </p:cNvSpPr>
          <p:nvPr/>
        </p:nvSpPr>
        <p:spPr>
          <a:xfrm xmlns:a="http://schemas.openxmlformats.org/drawingml/2006/main">
            <a:off x="8183880" y="4544568"/>
            <a:ext cx="1920240"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none"/>
          </a:ln>
        </p:spPr>
      </p:sp>
      <p:sp>
        <p:nvSpPr>
          <p:cNvPr id="18" name="STC-01-cover-manifest">
            <a:extLst xmlns:a="http://schemas.openxmlformats.org/drawingml/2006/main">
              <a:ext uri="{FF2B5EF4-FFF2-40B4-BE49-F238E27FC236}">
                <a16:creationId xmlns:a16="http://schemas.microsoft.com/office/drawing/2014/main" id="{3FE4815A-FBF5-4166-9D14-6D69A913882C}"/>
              </a:ext>
            </a:extLst>
          </p:cNvPr>
          <p:cNvSpPr>
            <a:spLocks xmlns:a="http://schemas.openxmlformats.org/drawingml/2006/main" noGrp="1"/>
          </p:cNvSpPr>
          <p:nvPr/>
        </p:nvSpPr>
        <p:spPr>
          <a:xfrm xmlns:a="http://schemas.openxmlformats.org/drawingml/2006/main">
            <a:off x="6784848" y="5175504"/>
            <a:ext cx="37307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59616A"/>
                </a:solidFill>
                <a:latin typeface="Noto Sans CJK KR"/>
                <a:ea typeface="Noto Sans CJK KR"/>
                <a:cs typeface="Noto Sans CJK KR"/>
              </a:rPr>
              <a:t>답은 하나가 아니라 경로마다 다르다</a:t>
            </a:r>
            <a:endParaRPr sz="1300"/>
          </a:p>
        </p:txBody>
      </p:sp>
      <p:sp>
        <p:nvSpPr>
          <p:cNvPr id="19" name="STC-01-cover-type">
            <a:extLst xmlns:a="http://schemas.openxmlformats.org/drawingml/2006/main">
              <a:ext uri="{FF2B5EF4-FFF2-40B4-BE49-F238E27FC236}">
                <a16:creationId xmlns:a16="http://schemas.microsoft.com/office/drawing/2014/main" id="{13F02C06-44C7-45AA-9C61-F3A0BA82C86C}"/>
              </a:ext>
            </a:extLst>
          </p:cNvPr>
          <p:cNvSpPr>
            <a:spLocks xmlns:a="http://schemas.openxmlformats.org/drawingml/2006/main" noGrp="1"/>
          </p:cNvSpPr>
          <p:nvPr/>
        </p:nvSpPr>
        <p:spPr>
          <a:xfrm xmlns:a="http://schemas.openxmlformats.org/drawingml/2006/main">
            <a:off x="749808" y="6144768"/>
            <a:ext cx="51206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616A"/>
                </a:solidFill>
                <a:latin typeface="Noto Sans Mono CJK KR"/>
                <a:ea typeface="Noto Sans Mono CJK KR"/>
                <a:cs typeface="Noto Sans Mono CJK KR"/>
              </a:rPr>
              <a:t>DEEP STUDY / SEMINAR / DEVICE AGENDA</a:t>
            </a:r>
            <a:endParaRPr sz="1000"/>
          </a:p>
        </p:txBody>
      </p:sp>
      <p:sp>
        <p:nvSpPr>
          <p:cNvPr id="20" name="STC-01-cover-date">
            <a:extLst xmlns:a="http://schemas.openxmlformats.org/drawingml/2006/main">
              <a:ext uri="{FF2B5EF4-FFF2-40B4-BE49-F238E27FC236}">
                <a16:creationId xmlns:a16="http://schemas.microsoft.com/office/drawing/2014/main" id="{971A3D43-9A22-405A-955D-2CF1759B2FFC}"/>
              </a:ext>
            </a:extLst>
          </p:cNvPr>
          <p:cNvSpPr>
            <a:spLocks xmlns:a="http://schemas.openxmlformats.org/drawingml/2006/main" noGrp="1"/>
          </p:cNvSpPr>
          <p:nvPr/>
        </p:nvSpPr>
        <p:spPr>
          <a:xfrm xmlns:a="http://schemas.openxmlformats.org/drawingml/2006/main">
            <a:off x="10003536" y="6144768"/>
            <a:ext cx="10972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a:solidFill>
                  <a:srgbClr val="59616A"/>
                </a:solidFill>
                <a:latin typeface="Noto Sans Mono CJK KR"/>
                <a:ea typeface="Noto Sans Mono CJK KR"/>
                <a:cs typeface="Noto Sans Mono CJK KR"/>
              </a:rPr>
              <a:t>2026.08.06</a:t>
            </a:r>
            <a:endParaRPr sz="1000"/>
          </a:p>
        </p:txBody>
      </p:sp>
    </p:spTree>
    <p:extLst>
      <p:ext uri="{BB962C8B-B14F-4D97-AF65-F5344CB8AC3E}">
        <p14:creationId xmlns:p14="http://schemas.microsoft.com/office/powerpoint/2010/main" val="1493154381"/>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7-section">
            <a:extLst xmlns:a="http://schemas.openxmlformats.org/drawingml/2006/main">
              <a:ext uri="{FF2B5EF4-FFF2-40B4-BE49-F238E27FC236}">
                <a16:creationId xmlns:a16="http://schemas.microsoft.com/office/drawing/2014/main" id="{7385C310-AB33-4F53-AA02-6351BE546D8D}"/>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ORIENTATION</a:t>
            </a:r>
            <a:endParaRPr sz="950"/>
          </a:p>
        </p:txBody>
      </p:sp>
      <p:sp>
        <p:nvSpPr>
          <p:cNvPr id="3" name="STC-27-slide-id">
            <a:extLst xmlns:a="http://schemas.openxmlformats.org/drawingml/2006/main">
              <a:ext uri="{FF2B5EF4-FFF2-40B4-BE49-F238E27FC236}">
                <a16:creationId xmlns:a16="http://schemas.microsoft.com/office/drawing/2014/main" id="{A62D30FD-D0DE-406A-AEDE-4AA35074F91C}"/>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STC-002</a:t>
            </a:r>
            <a:endParaRPr sz="950"/>
          </a:p>
        </p:txBody>
      </p:sp>
      <p:sp>
        <p:nvSpPr>
          <p:cNvPr id="4" name="STC-27-headline">
            <a:extLst xmlns:a="http://schemas.openxmlformats.org/drawingml/2006/main">
              <a:ext uri="{FF2B5EF4-FFF2-40B4-BE49-F238E27FC236}">
                <a16:creationId xmlns:a16="http://schemas.microsoft.com/office/drawing/2014/main" id="{8FCF2712-593D-425A-8EF4-E1D041C0E6D0}"/>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17191C"/>
                </a:solidFill>
                <a:latin typeface="Noto Sans CJK KR"/>
                <a:ea typeface="Noto Sans CJK KR"/>
                <a:cs typeface="Noto Sans CJK KR"/>
              </a:rPr>
              <a:t>이 발표가 답할 질문 — 일곱 개 더하기 하나</a:t>
            </a:r>
            <a:endParaRPr sz="2800"/>
          </a:p>
        </p:txBody>
      </p:sp>
      <p:sp>
        <p:nvSpPr>
          <p:cNvPr id="5" name="STC-27-status-label">
            <a:extLst xmlns:a="http://schemas.openxmlformats.org/drawingml/2006/main">
              <a:ext uri="{FF2B5EF4-FFF2-40B4-BE49-F238E27FC236}">
                <a16:creationId xmlns:a16="http://schemas.microsoft.com/office/drawing/2014/main" id="{13FFAE0E-5D8F-4108-9CA4-9ECCA2BD5C21}"/>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44E8A"/>
                </a:solidFill>
                <a:latin typeface="Noto Sans Mono CJK KR"/>
                <a:ea typeface="Noto Sans Mono CJK KR"/>
                <a:cs typeface="Noto Sans Mono CJK KR"/>
              </a:rPr>
              <a:t>질문 지도</a:t>
            </a:r>
            <a:endParaRPr sz="1000"/>
          </a:p>
        </p:txBody>
      </p:sp>
      <p:sp>
        <p:nvSpPr>
          <p:cNvPr id="6" name="STC-27-status-rule">
            <a:extLst xmlns:a="http://schemas.openxmlformats.org/drawingml/2006/main">
              <a:ext uri="{FF2B5EF4-FFF2-40B4-BE49-F238E27FC236}">
                <a16:creationId xmlns:a16="http://schemas.microsoft.com/office/drawing/2014/main" id="{561BD90D-848D-430E-BBAB-EE52DF2A1DD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44E8A"/>
            </a:solidFill>
            <a:prstDash val="solid"/>
            <a:tailEnd type="none"/>
          </a:ln>
        </p:spPr>
      </p:sp>
      <p:sp>
        <p:nvSpPr>
          <p:cNvPr id="7" name="STC-27-footer-rule">
            <a:extLst xmlns:a="http://schemas.openxmlformats.org/drawingml/2006/main">
              <a:ext uri="{FF2B5EF4-FFF2-40B4-BE49-F238E27FC236}">
                <a16:creationId xmlns:a16="http://schemas.microsoft.com/office/drawing/2014/main" id="{D505BA78-3471-4BBD-912B-BD6109CC9FC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7-source-footer">
            <a:extLst xmlns:a="http://schemas.openxmlformats.org/drawingml/2006/main">
              <a:ext uri="{FF2B5EF4-FFF2-40B4-BE49-F238E27FC236}">
                <a16:creationId xmlns:a16="http://schemas.microsoft.com/office/drawing/2014/main" id="{E99DBCAF-2804-412F-A1FC-D287D4C15657}"/>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ch01 §01.7 표 1-5 (질문 지도)</a:t>
            </a:r>
            <a:endParaRPr sz="850"/>
          </a:p>
        </p:txBody>
      </p:sp>
      <p:sp>
        <p:nvSpPr>
          <p:cNvPr id="9" name="STC-27-page-number">
            <a:extLst xmlns:a="http://schemas.openxmlformats.org/drawingml/2006/main">
              <a:ext uri="{FF2B5EF4-FFF2-40B4-BE49-F238E27FC236}">
                <a16:creationId xmlns:a16="http://schemas.microsoft.com/office/drawing/2014/main" id="{AF0F969D-856E-456F-AB63-D26607331E1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2</a:t>
            </a:r>
            <a:endParaRPr sz="850"/>
          </a:p>
        </p:txBody>
      </p:sp>
      <p:sp>
        <p:nvSpPr>
          <p:cNvPr id="11" name="STC-27-refa-num-0">
            <a:extLst xmlns:a="http://schemas.openxmlformats.org/drawingml/2006/main">
              <a:ext uri="{FF2B5EF4-FFF2-40B4-BE49-F238E27FC236}">
                <a16:creationId xmlns:a16="http://schemas.microsoft.com/office/drawing/2014/main" id="{0858B0FA-3B18-427D-9025-6A23BE3B0367}"/>
              </a:ext>
            </a:extLst>
          </p:cNvPr>
          <p:cNvSpPr>
            <a:spLocks xmlns:a="http://schemas.openxmlformats.org/drawingml/2006/main" noGrp="1"/>
          </p:cNvSpPr>
          <p:nvPr/>
        </p:nvSpPr>
        <p:spPr>
          <a:xfrm xmlns:a="http://schemas.openxmlformats.org/drawingml/2006/main">
            <a:off x="841248"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01</a:t>
            </a:r>
            <a:endParaRPr sz="950"/>
          </a:p>
        </p:txBody>
      </p:sp>
      <p:sp>
        <p:nvSpPr>
          <p:cNvPr id="12" name="STC-27-refa-text-0">
            <a:extLst xmlns:a="http://schemas.openxmlformats.org/drawingml/2006/main">
              <a:ext uri="{FF2B5EF4-FFF2-40B4-BE49-F238E27FC236}">
                <a16:creationId xmlns:a16="http://schemas.microsoft.com/office/drawing/2014/main" id="{062155EC-D1E1-4A6A-BED2-F6AC33A3C656}"/>
              </a:ext>
            </a:extLst>
          </p:cNvPr>
          <p:cNvSpPr>
            <a:spLocks xmlns:a="http://schemas.openxmlformats.org/drawingml/2006/main" noGrp="1"/>
          </p:cNvSpPr>
          <p:nvPr/>
        </p:nvSpPr>
        <p:spPr>
          <a:xfrm xmlns:a="http://schemas.openxmlformats.org/drawingml/2006/main">
            <a:off x="1353312"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Q1 무슨 문제를 푸는가 · 경로마다 다르다 — §4에서 셋으로 갈라 답한다</a:t>
            </a:r>
            <a:endParaRPr sz="1450"/>
          </a:p>
        </p:txBody>
      </p:sp>
      <p:sp>
        <p:nvSpPr>
          <p:cNvPr id="13" name="STC-27-refa-num-1">
            <a:extLst xmlns:a="http://schemas.openxmlformats.org/drawingml/2006/main">
              <a:ext uri="{FF2B5EF4-FFF2-40B4-BE49-F238E27FC236}">
                <a16:creationId xmlns:a16="http://schemas.microsoft.com/office/drawing/2014/main" id="{51CBF520-8ECD-44AE-B98F-1387ECEB6536}"/>
              </a:ext>
            </a:extLst>
          </p:cNvPr>
          <p:cNvSpPr>
            <a:spLocks xmlns:a="http://schemas.openxmlformats.org/drawingml/2006/main" noGrp="1"/>
          </p:cNvSpPr>
          <p:nvPr/>
        </p:nvSpPr>
        <p:spPr>
          <a:xfrm xmlns:a="http://schemas.openxmlformats.org/drawingml/2006/main">
            <a:off x="841248"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02</a:t>
            </a:r>
            <a:endParaRPr sz="950"/>
          </a:p>
        </p:txBody>
      </p:sp>
      <p:sp>
        <p:nvSpPr>
          <p:cNvPr id="14" name="STC-27-refa-text-1">
            <a:extLst xmlns:a="http://schemas.openxmlformats.org/drawingml/2006/main">
              <a:ext uri="{FF2B5EF4-FFF2-40B4-BE49-F238E27FC236}">
                <a16:creationId xmlns:a16="http://schemas.microsoft.com/office/drawing/2014/main" id="{A11ED546-4FD3-4619-BBDA-F1E89500025A}"/>
              </a:ext>
            </a:extLst>
          </p:cNvPr>
          <p:cNvSpPr>
            <a:spLocks xmlns:a="http://schemas.openxmlformats.org/drawingml/2006/main" noGrp="1"/>
          </p:cNvSpPr>
          <p:nvPr/>
        </p:nvSpPr>
        <p:spPr>
          <a:xfrm xmlns:a="http://schemas.openxmlformats.org/drawingml/2006/main">
            <a:off x="1353312"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Q2 무엇이 이 범주인가 · 이 발표가 스스로 더한 질문. 나머지의 전제</a:t>
            </a:r>
            <a:endParaRPr sz="1450"/>
          </a:p>
        </p:txBody>
      </p:sp>
      <p:sp>
        <p:nvSpPr>
          <p:cNvPr id="15" name="STC-27-refa-num-2">
            <a:extLst xmlns:a="http://schemas.openxmlformats.org/drawingml/2006/main">
              <a:ext uri="{FF2B5EF4-FFF2-40B4-BE49-F238E27FC236}">
                <a16:creationId xmlns:a16="http://schemas.microsoft.com/office/drawing/2014/main" id="{35A20116-4261-4BEF-8F20-7E111311BA48}"/>
              </a:ext>
            </a:extLst>
          </p:cNvPr>
          <p:cNvSpPr>
            <a:spLocks xmlns:a="http://schemas.openxmlformats.org/drawingml/2006/main" noGrp="1"/>
          </p:cNvSpPr>
          <p:nvPr/>
        </p:nvSpPr>
        <p:spPr>
          <a:xfrm xmlns:a="http://schemas.openxmlformats.org/drawingml/2006/main">
            <a:off x="841248"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03</a:t>
            </a:r>
            <a:endParaRPr sz="950"/>
          </a:p>
        </p:txBody>
      </p:sp>
      <p:sp>
        <p:nvSpPr>
          <p:cNvPr id="16" name="STC-27-refa-text-2">
            <a:extLst xmlns:a="http://schemas.openxmlformats.org/drawingml/2006/main">
              <a:ext uri="{FF2B5EF4-FFF2-40B4-BE49-F238E27FC236}">
                <a16:creationId xmlns:a16="http://schemas.microsoft.com/office/drawing/2014/main" id="{6702771D-ADC3-4D74-B59D-4D478F02E873}"/>
              </a:ext>
            </a:extLst>
          </p:cNvPr>
          <p:cNvSpPr>
            <a:spLocks xmlns:a="http://schemas.openxmlformats.org/drawingml/2006/main" noGrp="1"/>
          </p:cNvSpPr>
          <p:nvPr/>
        </p:nvSpPr>
        <p:spPr>
          <a:xfrm xmlns:a="http://schemas.openxmlformats.org/drawingml/2006/main">
            <a:off x="1353312"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Q3 비용은 비교 가능한가 · 통일 회계를 세워야 비교가 성립한다</a:t>
            </a:r>
            <a:endParaRPr sz="1450"/>
          </a:p>
        </p:txBody>
      </p:sp>
      <p:sp>
        <p:nvSpPr>
          <p:cNvPr id="17" name="STC-27-refa-num-3">
            <a:extLst xmlns:a="http://schemas.openxmlformats.org/drawingml/2006/main">
              <a:ext uri="{FF2B5EF4-FFF2-40B4-BE49-F238E27FC236}">
                <a16:creationId xmlns:a16="http://schemas.microsoft.com/office/drawing/2014/main" id="{55E8554F-18B5-482A-A521-0409C4939A68}"/>
              </a:ext>
            </a:extLst>
          </p:cNvPr>
          <p:cNvSpPr>
            <a:spLocks xmlns:a="http://schemas.openxmlformats.org/drawingml/2006/main" noGrp="1"/>
          </p:cNvSpPr>
          <p:nvPr/>
        </p:nvSpPr>
        <p:spPr>
          <a:xfrm xmlns:a="http://schemas.openxmlformats.org/drawingml/2006/main">
            <a:off x="841248"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04</a:t>
            </a:r>
            <a:endParaRPr sz="950"/>
          </a:p>
        </p:txBody>
      </p:sp>
      <p:sp>
        <p:nvSpPr>
          <p:cNvPr id="18" name="STC-27-refa-text-3">
            <a:extLst xmlns:a="http://schemas.openxmlformats.org/drawingml/2006/main">
              <a:ext uri="{FF2B5EF4-FFF2-40B4-BE49-F238E27FC236}">
                <a16:creationId xmlns:a16="http://schemas.microsoft.com/office/drawing/2014/main" id="{6643F56C-6A56-4F80-BDD8-C4233A3CAC95}"/>
              </a:ext>
            </a:extLst>
          </p:cNvPr>
          <p:cNvSpPr>
            <a:spLocks xmlns:a="http://schemas.openxmlformats.org/drawingml/2006/main" noGrp="1"/>
          </p:cNvSpPr>
          <p:nvPr/>
        </p:nvSpPr>
        <p:spPr>
          <a:xfrm xmlns:a="http://schemas.openxmlformats.org/drawingml/2006/main">
            <a:off x="1353312"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Q4 유망한가·최선인가 · 경로별 판정. 판정 불가로 남는 칸이 있다</a:t>
            </a:r>
            <a:endParaRPr sz="1450"/>
          </a:p>
        </p:txBody>
      </p:sp>
      <p:sp>
        <p:nvSpPr>
          <p:cNvPr id="19" name="STC-27-refa-num-4">
            <a:extLst xmlns:a="http://schemas.openxmlformats.org/drawingml/2006/main">
              <a:ext uri="{FF2B5EF4-FFF2-40B4-BE49-F238E27FC236}">
                <a16:creationId xmlns:a16="http://schemas.microsoft.com/office/drawing/2014/main" id="{FD11CDBD-DFE9-45A7-B011-896A803064F0}"/>
              </a:ext>
            </a:extLst>
          </p:cNvPr>
          <p:cNvSpPr>
            <a:spLocks xmlns:a="http://schemas.openxmlformats.org/drawingml/2006/main" noGrp="1"/>
          </p:cNvSpPr>
          <p:nvPr/>
        </p:nvSpPr>
        <p:spPr>
          <a:xfrm xmlns:a="http://schemas.openxmlformats.org/drawingml/2006/main">
            <a:off x="841248"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05</a:t>
            </a:r>
            <a:endParaRPr sz="950"/>
          </a:p>
        </p:txBody>
      </p:sp>
      <p:sp>
        <p:nvSpPr>
          <p:cNvPr id="20" name="STC-27-refa-text-4">
            <a:extLst xmlns:a="http://schemas.openxmlformats.org/drawingml/2006/main">
              <a:ext uri="{FF2B5EF4-FFF2-40B4-BE49-F238E27FC236}">
                <a16:creationId xmlns:a16="http://schemas.microsoft.com/office/drawing/2014/main" id="{675DB14E-5738-4DE9-95BF-1BC22BFAB9F4}"/>
              </a:ext>
            </a:extLst>
          </p:cNvPr>
          <p:cNvSpPr>
            <a:spLocks xmlns:a="http://schemas.openxmlformats.org/drawingml/2006/main" noGrp="1"/>
          </p:cNvSpPr>
          <p:nvPr/>
        </p:nvSpPr>
        <p:spPr>
          <a:xfrm xmlns:a="http://schemas.openxmlformats.org/drawingml/2006/main">
            <a:off x="1353312"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Q5 주류가 될까 · 조건으로만 답한다. 조건 없는 예측은 쓰지 않는다</a:t>
            </a:r>
            <a:endParaRPr sz="1450"/>
          </a:p>
        </p:txBody>
      </p:sp>
      <p:sp>
        <p:nvSpPr>
          <p:cNvPr id="21" name="STC-27-refa-num-5">
            <a:extLst xmlns:a="http://schemas.openxmlformats.org/drawingml/2006/main">
              <a:ext uri="{FF2B5EF4-FFF2-40B4-BE49-F238E27FC236}">
                <a16:creationId xmlns:a16="http://schemas.microsoft.com/office/drawing/2014/main" id="{1B33F735-F839-4244-A292-08A9268BD28E}"/>
              </a:ext>
            </a:extLst>
          </p:cNvPr>
          <p:cNvSpPr>
            <a:spLocks xmlns:a="http://schemas.openxmlformats.org/drawingml/2006/main" noGrp="1"/>
          </p:cNvSpPr>
          <p:nvPr/>
        </p:nvSpPr>
        <p:spPr>
          <a:xfrm xmlns:a="http://schemas.openxmlformats.org/drawingml/2006/main">
            <a:off x="841248"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06</a:t>
            </a:r>
            <a:endParaRPr sz="950"/>
          </a:p>
        </p:txBody>
      </p:sp>
      <p:sp>
        <p:nvSpPr>
          <p:cNvPr id="22" name="STC-27-refa-text-5">
            <a:extLst xmlns:a="http://schemas.openxmlformats.org/drawingml/2006/main">
              <a:ext uri="{FF2B5EF4-FFF2-40B4-BE49-F238E27FC236}">
                <a16:creationId xmlns:a16="http://schemas.microsoft.com/office/drawing/2014/main" id="{A304B551-576C-403B-AE3F-FB6BA309B549}"/>
              </a:ext>
            </a:extLst>
          </p:cNvPr>
          <p:cNvSpPr>
            <a:spLocks xmlns:a="http://schemas.openxmlformats.org/drawingml/2006/main" noGrp="1"/>
          </p:cNvSpPr>
          <p:nvPr/>
        </p:nvSpPr>
        <p:spPr>
          <a:xfrm xmlns:a="http://schemas.openxmlformats.org/drawingml/2006/main">
            <a:off x="1353312"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Q6 scaling law가 있는가 · B_s를 축으로 놓을 수 있는지부터 감사한다</a:t>
            </a:r>
            <a:endParaRPr sz="1450"/>
          </a:p>
        </p:txBody>
      </p:sp>
      <p:sp>
        <p:nvSpPr>
          <p:cNvPr id="23" name="STC-27-refa-num-6">
            <a:extLst xmlns:a="http://schemas.openxmlformats.org/drawingml/2006/main">
              <a:ext uri="{FF2B5EF4-FFF2-40B4-BE49-F238E27FC236}">
                <a16:creationId xmlns:a16="http://schemas.microsoft.com/office/drawing/2014/main" id="{C17BF4F3-BA5F-477A-AE3A-926274B15069}"/>
              </a:ext>
            </a:extLst>
          </p:cNvPr>
          <p:cNvSpPr>
            <a:spLocks xmlns:a="http://schemas.openxmlformats.org/drawingml/2006/main" noGrp="1"/>
          </p:cNvSpPr>
          <p:nvPr/>
        </p:nvSpPr>
        <p:spPr>
          <a:xfrm xmlns:a="http://schemas.openxmlformats.org/drawingml/2006/main">
            <a:off x="841248"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07</a:t>
            </a:r>
            <a:endParaRPr sz="950"/>
          </a:p>
        </p:txBody>
      </p:sp>
      <p:sp>
        <p:nvSpPr>
          <p:cNvPr id="24" name="STC-27-refa-text-6">
            <a:extLst xmlns:a="http://schemas.openxmlformats.org/drawingml/2006/main">
              <a:ext uri="{FF2B5EF4-FFF2-40B4-BE49-F238E27FC236}">
                <a16:creationId xmlns:a16="http://schemas.microsoft.com/office/drawing/2014/main" id="{289E9CA6-462B-4C66-89E4-717652A321F6}"/>
              </a:ext>
            </a:extLst>
          </p:cNvPr>
          <p:cNvSpPr>
            <a:spLocks xmlns:a="http://schemas.openxmlformats.org/drawingml/2006/main" noGrp="1"/>
          </p:cNvSpPr>
          <p:nvPr/>
        </p:nvSpPr>
        <p:spPr>
          <a:xfrm xmlns:a="http://schemas.openxmlformats.org/drawingml/2006/main">
            <a:off x="1353312"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Q7 device 기회가 있는가 · 상태 바이트가 회계되어야 성립하는 논의</a:t>
            </a:r>
            <a:endParaRPr sz="1450"/>
          </a:p>
        </p:txBody>
      </p:sp>
      <p:sp>
        <p:nvSpPr>
          <p:cNvPr id="25" name="STC-27-refa-num-7">
            <a:extLst xmlns:a="http://schemas.openxmlformats.org/drawingml/2006/main">
              <a:ext uri="{FF2B5EF4-FFF2-40B4-BE49-F238E27FC236}">
                <a16:creationId xmlns:a16="http://schemas.microsoft.com/office/drawing/2014/main" id="{39B669A8-E06B-4878-A925-504530F51F2E}"/>
              </a:ext>
            </a:extLst>
          </p:cNvPr>
          <p:cNvSpPr>
            <a:spLocks xmlns:a="http://schemas.openxmlformats.org/drawingml/2006/main" noGrp="1"/>
          </p:cNvSpPr>
          <p:nvPr/>
        </p:nvSpPr>
        <p:spPr>
          <a:xfrm xmlns:a="http://schemas.openxmlformats.org/drawingml/2006/main">
            <a:off x="6172200"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08</a:t>
            </a:r>
            <a:endParaRPr sz="950"/>
          </a:p>
        </p:txBody>
      </p:sp>
      <p:sp>
        <p:nvSpPr>
          <p:cNvPr id="26" name="STC-27-refa-text-7">
            <a:extLst xmlns:a="http://schemas.openxmlformats.org/drawingml/2006/main">
              <a:ext uri="{FF2B5EF4-FFF2-40B4-BE49-F238E27FC236}">
                <a16:creationId xmlns:a16="http://schemas.microsoft.com/office/drawing/2014/main" id="{5CA2803E-8191-41D8-A69E-C8DE26EBBBD5}"/>
              </a:ext>
            </a:extLst>
          </p:cNvPr>
          <p:cNvSpPr>
            <a:spLocks xmlns:a="http://schemas.openxmlformats.org/drawingml/2006/main" noGrp="1"/>
          </p:cNvSpPr>
          <p:nvPr/>
        </p:nvSpPr>
        <p:spPr>
          <a:xfrm xmlns:a="http://schemas.openxmlformats.org/drawingml/2006/main">
            <a:off x="6684264"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Q8 무엇이 이를 뒤집는가 · 반증 불가능한 판정은 쓰지 않는다</a:t>
            </a:r>
            <a:endParaRPr sz="1450"/>
          </a:p>
        </p:txBody>
      </p:sp>
      <p:sp>
        <p:nvSpPr>
          <p:cNvPr id="27" name="STC-27-refa-num-8">
            <a:extLst xmlns:a="http://schemas.openxmlformats.org/drawingml/2006/main">
              <a:ext uri="{FF2B5EF4-FFF2-40B4-BE49-F238E27FC236}">
                <a16:creationId xmlns:a16="http://schemas.microsoft.com/office/drawing/2014/main" id="{EB76E28F-3249-436F-BDC8-CC3B36B33971}"/>
              </a:ext>
            </a:extLst>
          </p:cNvPr>
          <p:cNvSpPr>
            <a:spLocks xmlns:a="http://schemas.openxmlformats.org/drawingml/2006/main" noGrp="1"/>
          </p:cNvSpPr>
          <p:nvPr/>
        </p:nvSpPr>
        <p:spPr>
          <a:xfrm xmlns:a="http://schemas.openxmlformats.org/drawingml/2006/main">
            <a:off x="6172200"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09</a:t>
            </a:r>
            <a:endParaRPr sz="950"/>
          </a:p>
        </p:txBody>
      </p:sp>
      <p:sp>
        <p:nvSpPr>
          <p:cNvPr id="28" name="STC-27-refa-text-8">
            <a:extLst xmlns:a="http://schemas.openxmlformats.org/drawingml/2006/main">
              <a:ext uri="{FF2B5EF4-FFF2-40B4-BE49-F238E27FC236}">
                <a16:creationId xmlns:a16="http://schemas.microsoft.com/office/drawing/2014/main" id="{42432C31-97C0-4DB4-A828-17F58B1C006C}"/>
              </a:ext>
            </a:extLst>
          </p:cNvPr>
          <p:cNvSpPr>
            <a:spLocks xmlns:a="http://schemas.openxmlformats.org/drawingml/2006/main" noGrp="1"/>
          </p:cNvSpPr>
          <p:nvPr/>
        </p:nvSpPr>
        <p:spPr>
          <a:xfrm xmlns:a="http://schemas.openxmlformats.org/drawingml/2006/main">
            <a:off x="6684264"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답이 놓인 자리 ① · ch11 · 판별식과 corpus 29편 전수 분류</a:t>
            </a:r>
            <a:endParaRPr sz="1450"/>
          </a:p>
        </p:txBody>
      </p:sp>
      <p:sp>
        <p:nvSpPr>
          <p:cNvPr id="29" name="STC-27-refa-num-9">
            <a:extLst xmlns:a="http://schemas.openxmlformats.org/drawingml/2006/main">
              <a:ext uri="{FF2B5EF4-FFF2-40B4-BE49-F238E27FC236}">
                <a16:creationId xmlns:a16="http://schemas.microsoft.com/office/drawing/2014/main" id="{7AE894C5-A4E3-431D-BBCB-B84488812967}"/>
              </a:ext>
            </a:extLst>
          </p:cNvPr>
          <p:cNvSpPr>
            <a:spLocks xmlns:a="http://schemas.openxmlformats.org/drawingml/2006/main" noGrp="1"/>
          </p:cNvSpPr>
          <p:nvPr/>
        </p:nvSpPr>
        <p:spPr>
          <a:xfrm xmlns:a="http://schemas.openxmlformats.org/drawingml/2006/main">
            <a:off x="6172200"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10</a:t>
            </a:r>
            <a:endParaRPr sz="950"/>
          </a:p>
        </p:txBody>
      </p:sp>
      <p:sp>
        <p:nvSpPr>
          <p:cNvPr id="30" name="STC-27-refa-text-9">
            <a:extLst xmlns:a="http://schemas.openxmlformats.org/drawingml/2006/main">
              <a:ext uri="{FF2B5EF4-FFF2-40B4-BE49-F238E27FC236}">
                <a16:creationId xmlns:a16="http://schemas.microsoft.com/office/drawing/2014/main" id="{5BD284A8-2458-487D-8B9E-370C7411385B}"/>
              </a:ext>
            </a:extLst>
          </p:cNvPr>
          <p:cNvSpPr>
            <a:spLocks xmlns:a="http://schemas.openxmlformats.org/drawingml/2006/main" noGrp="1"/>
          </p:cNvSpPr>
          <p:nvPr/>
        </p:nvSpPr>
        <p:spPr>
          <a:xfrm xmlns:a="http://schemas.openxmlformats.org/drawingml/2006/main">
            <a:off x="6684264"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답이 놓인 자리 ② · ch24 · 대상 확정과 간격의 구조성 판정</a:t>
            </a:r>
            <a:endParaRPr sz="1450"/>
          </a:p>
        </p:txBody>
      </p:sp>
      <p:sp>
        <p:nvSpPr>
          <p:cNvPr id="31" name="STC-27-refa-num-10">
            <a:extLst xmlns:a="http://schemas.openxmlformats.org/drawingml/2006/main">
              <a:ext uri="{FF2B5EF4-FFF2-40B4-BE49-F238E27FC236}">
                <a16:creationId xmlns:a16="http://schemas.microsoft.com/office/drawing/2014/main" id="{D8683AB3-30A2-418E-8C2F-785C7D981B49}"/>
              </a:ext>
            </a:extLst>
          </p:cNvPr>
          <p:cNvSpPr>
            <a:spLocks xmlns:a="http://schemas.openxmlformats.org/drawingml/2006/main" noGrp="1"/>
          </p:cNvSpPr>
          <p:nvPr/>
        </p:nvSpPr>
        <p:spPr>
          <a:xfrm xmlns:a="http://schemas.openxmlformats.org/drawingml/2006/main">
            <a:off x="6172200"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11</a:t>
            </a:r>
            <a:endParaRPr sz="950"/>
          </a:p>
        </p:txBody>
      </p:sp>
      <p:sp>
        <p:nvSpPr>
          <p:cNvPr id="32" name="STC-27-refa-text-10">
            <a:extLst xmlns:a="http://schemas.openxmlformats.org/drawingml/2006/main">
              <a:ext uri="{FF2B5EF4-FFF2-40B4-BE49-F238E27FC236}">
                <a16:creationId xmlns:a16="http://schemas.microsoft.com/office/drawing/2014/main" id="{D6BD7EA0-A2A2-4970-982A-7FB8848D707D}"/>
              </a:ext>
            </a:extLst>
          </p:cNvPr>
          <p:cNvSpPr>
            <a:spLocks xmlns:a="http://schemas.openxmlformats.org/drawingml/2006/main" noGrp="1"/>
          </p:cNvSpPr>
          <p:nvPr/>
        </p:nvSpPr>
        <p:spPr>
          <a:xfrm xmlns:a="http://schemas.openxmlformats.org/drawingml/2006/main">
            <a:off x="6684264"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답이 놓인 자리 ③ · ch25·ch26 · 시간의 자와 바이트의 자</a:t>
            </a:r>
            <a:endParaRPr sz="1450"/>
          </a:p>
        </p:txBody>
      </p:sp>
      <p:sp>
        <p:nvSpPr>
          <p:cNvPr id="33" name="STC-27-refa-num-11">
            <a:extLst xmlns:a="http://schemas.openxmlformats.org/drawingml/2006/main">
              <a:ext uri="{FF2B5EF4-FFF2-40B4-BE49-F238E27FC236}">
                <a16:creationId xmlns:a16="http://schemas.microsoft.com/office/drawing/2014/main" id="{460613C2-7751-43C8-A2FB-0D5F9B0DBECB}"/>
              </a:ext>
            </a:extLst>
          </p:cNvPr>
          <p:cNvSpPr>
            <a:spLocks xmlns:a="http://schemas.openxmlformats.org/drawingml/2006/main" noGrp="1"/>
          </p:cNvSpPr>
          <p:nvPr/>
        </p:nvSpPr>
        <p:spPr>
          <a:xfrm xmlns:a="http://schemas.openxmlformats.org/drawingml/2006/main">
            <a:off x="6172200"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12</a:t>
            </a:r>
            <a:endParaRPr sz="950"/>
          </a:p>
        </p:txBody>
      </p:sp>
      <p:sp>
        <p:nvSpPr>
          <p:cNvPr id="34" name="STC-27-refa-text-11">
            <a:extLst xmlns:a="http://schemas.openxmlformats.org/drawingml/2006/main">
              <a:ext uri="{FF2B5EF4-FFF2-40B4-BE49-F238E27FC236}">
                <a16:creationId xmlns:a16="http://schemas.microsoft.com/office/drawing/2014/main" id="{6585AB7C-DE90-41AD-82F9-96F612B0B13A}"/>
              </a:ext>
            </a:extLst>
          </p:cNvPr>
          <p:cNvSpPr>
            <a:spLocks xmlns:a="http://schemas.openxmlformats.org/drawingml/2006/main" noGrp="1"/>
          </p:cNvSpPr>
          <p:nvPr/>
        </p:nvSpPr>
        <p:spPr>
          <a:xfrm xmlns:a="http://schemas.openxmlformats.org/drawingml/2006/main">
            <a:off x="6684264"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답이 놓인 자리 ④ · ch27 · 경로별 판정과 판정 불가 칸</a:t>
            </a:r>
            <a:endParaRPr sz="1450"/>
          </a:p>
        </p:txBody>
      </p:sp>
      <p:sp>
        <p:nvSpPr>
          <p:cNvPr id="35" name="STC-27-refa-num-12">
            <a:extLst xmlns:a="http://schemas.openxmlformats.org/drawingml/2006/main">
              <a:ext uri="{FF2B5EF4-FFF2-40B4-BE49-F238E27FC236}">
                <a16:creationId xmlns:a16="http://schemas.microsoft.com/office/drawing/2014/main" id="{3BF3AFD4-5BFF-4F64-8958-1E971CEA8E77}"/>
              </a:ext>
            </a:extLst>
          </p:cNvPr>
          <p:cNvSpPr>
            <a:spLocks xmlns:a="http://schemas.openxmlformats.org/drawingml/2006/main" noGrp="1"/>
          </p:cNvSpPr>
          <p:nvPr/>
        </p:nvSpPr>
        <p:spPr>
          <a:xfrm xmlns:a="http://schemas.openxmlformats.org/drawingml/2006/main">
            <a:off x="6172200"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13</a:t>
            </a:r>
            <a:endParaRPr sz="950"/>
          </a:p>
        </p:txBody>
      </p:sp>
      <p:sp>
        <p:nvSpPr>
          <p:cNvPr id="36" name="STC-27-refa-text-12">
            <a:extLst xmlns:a="http://schemas.openxmlformats.org/drawingml/2006/main">
              <a:ext uri="{FF2B5EF4-FFF2-40B4-BE49-F238E27FC236}">
                <a16:creationId xmlns:a16="http://schemas.microsoft.com/office/drawing/2014/main" id="{A6CE689B-DBF7-4ACD-BBBF-ABB01DFF849C}"/>
              </a:ext>
            </a:extLst>
          </p:cNvPr>
          <p:cNvSpPr>
            <a:spLocks xmlns:a="http://schemas.openxmlformats.org/drawingml/2006/main" noGrp="1"/>
          </p:cNvSpPr>
          <p:nvPr/>
        </p:nvSpPr>
        <p:spPr>
          <a:xfrm xmlns:a="http://schemas.openxmlformats.org/drawingml/2006/main">
            <a:off x="6684264"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답이 놓인 자리 ⑤ · ch28·ch29 · 예산 축 감사와 device 좌표</a:t>
            </a:r>
            <a:endParaRPr sz="1450"/>
          </a:p>
        </p:txBody>
      </p:sp>
      <p:sp>
        <p:nvSpPr>
          <p:cNvPr id="37" name="STC-27-refa-num-13">
            <a:extLst xmlns:a="http://schemas.openxmlformats.org/drawingml/2006/main">
              <a:ext uri="{FF2B5EF4-FFF2-40B4-BE49-F238E27FC236}">
                <a16:creationId xmlns:a16="http://schemas.microsoft.com/office/drawing/2014/main" id="{2CBC69DB-9A99-46EA-A59F-BF77F82CD6C1}"/>
              </a:ext>
            </a:extLst>
          </p:cNvPr>
          <p:cNvSpPr>
            <a:spLocks xmlns:a="http://schemas.openxmlformats.org/drawingml/2006/main" noGrp="1"/>
          </p:cNvSpPr>
          <p:nvPr/>
        </p:nvSpPr>
        <p:spPr>
          <a:xfrm xmlns:a="http://schemas.openxmlformats.org/drawingml/2006/main">
            <a:off x="6172200"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14</a:t>
            </a:r>
            <a:endParaRPr sz="950"/>
          </a:p>
        </p:txBody>
      </p:sp>
      <p:sp>
        <p:nvSpPr>
          <p:cNvPr id="38" name="STC-27-refa-text-13">
            <a:extLst xmlns:a="http://schemas.openxmlformats.org/drawingml/2006/main">
              <a:ext uri="{FF2B5EF4-FFF2-40B4-BE49-F238E27FC236}">
                <a16:creationId xmlns:a16="http://schemas.microsoft.com/office/drawing/2014/main" id="{0E347A02-8998-4EC3-8A05-EF92986A2024}"/>
              </a:ext>
            </a:extLst>
          </p:cNvPr>
          <p:cNvSpPr>
            <a:spLocks xmlns:a="http://schemas.openxmlformats.org/drawingml/2006/main" noGrp="1"/>
          </p:cNvSpPr>
          <p:nvPr/>
        </p:nvSpPr>
        <p:spPr>
          <a:xfrm xmlns:a="http://schemas.openxmlformats.org/drawingml/2006/main">
            <a:off x="6684264"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답이 놓인 자리 ⑥ · ch30 · 판정 32개와 각각의 반증 관측</a:t>
            </a:r>
            <a:endParaRPr sz="1450"/>
          </a:p>
        </p:txBody>
      </p:sp>
      <p:sp>
        <p:nvSpPr>
          <p:cNvPr id="39" name="STC-27-refa-note">
            <a:extLst xmlns:a="http://schemas.openxmlformats.org/drawingml/2006/main">
              <a:ext uri="{FF2B5EF4-FFF2-40B4-BE49-F238E27FC236}">
                <a16:creationId xmlns:a16="http://schemas.microsoft.com/office/drawing/2014/main" id="{CD24E568-17B2-4E37-89AF-FBA238DDA767}"/>
              </a:ext>
            </a:extLst>
          </p:cNvPr>
          <p:cNvSpPr>
            <a:spLocks xmlns:a="http://schemas.openxmlformats.org/drawingml/2006/main" noGrp="1"/>
          </p:cNvSpPr>
          <p:nvPr/>
        </p:nvSpPr>
        <p:spPr>
          <a:xfrm xmlns:a="http://schemas.openxmlformats.org/drawingml/2006/main">
            <a:off x="2212848" y="5870448"/>
            <a:ext cx="77724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50">
                <a:solidFill>
                  <a:srgbClr val="59616A"/>
                </a:solidFill>
                <a:latin typeface="Noto Sans CJK KR"/>
                <a:ea typeface="Noto Sans CJK KR"/>
                <a:cs typeface="Noto Sans CJK KR"/>
              </a:rPr>
              <a:t>경로마다 다르다 — §4에서 셋으로 갈라 답한다</a:t>
            </a:r>
            <a:endParaRPr sz="1350"/>
          </a:p>
        </p:txBody>
      </p:sp>
    </p:spTree>
    <p:extLst>
      <p:ext uri="{BB962C8B-B14F-4D97-AF65-F5344CB8AC3E}">
        <p14:creationId xmlns:p14="http://schemas.microsoft.com/office/powerpoint/2010/main" val="1964283889"/>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2-section">
            <a:extLst xmlns:a="http://schemas.openxmlformats.org/drawingml/2006/main">
              <a:ext uri="{FF2B5EF4-FFF2-40B4-BE49-F238E27FC236}">
                <a16:creationId xmlns:a16="http://schemas.microsoft.com/office/drawing/2014/main" id="{B3AE04B8-8245-44A2-8AD4-9A767BB156F4}"/>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ORIENTATION</a:t>
            </a:r>
            <a:endParaRPr sz="950"/>
          </a:p>
        </p:txBody>
      </p:sp>
      <p:sp>
        <p:nvSpPr>
          <p:cNvPr id="3" name="STC-02-slide-id">
            <a:extLst xmlns:a="http://schemas.openxmlformats.org/drawingml/2006/main">
              <a:ext uri="{FF2B5EF4-FFF2-40B4-BE49-F238E27FC236}">
                <a16:creationId xmlns:a16="http://schemas.microsoft.com/office/drawing/2014/main" id="{BE855689-E691-4D5A-A176-FA0CC6C672AC}"/>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STC-003</a:t>
            </a:r>
            <a:endParaRPr sz="950"/>
          </a:p>
        </p:txBody>
      </p:sp>
      <p:sp>
        <p:nvSpPr>
          <p:cNvPr id="4" name="STC-02-headline">
            <a:extLst xmlns:a="http://schemas.openxmlformats.org/drawingml/2006/main">
              <a:ext uri="{FF2B5EF4-FFF2-40B4-BE49-F238E27FC236}">
                <a16:creationId xmlns:a16="http://schemas.microsoft.com/office/drawing/2014/main" id="{9F4BA35A-C084-4820-A869-3F58338107FA}"/>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같은 이름 아래 세 개의 다른 대상이 있다</a:t>
            </a:r>
            <a:endParaRPr sz="3000"/>
          </a:p>
        </p:txBody>
      </p:sp>
      <p:sp>
        <p:nvSpPr>
          <p:cNvPr id="5" name="STC-02-status-label">
            <a:extLst xmlns:a="http://schemas.openxmlformats.org/drawingml/2006/main">
              <a:ext uri="{FF2B5EF4-FFF2-40B4-BE49-F238E27FC236}">
                <a16:creationId xmlns:a16="http://schemas.microsoft.com/office/drawing/2014/main" id="{1B872D46-D4B1-425B-A362-8822456881AC}"/>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문제 제기</a:t>
            </a:r>
            <a:endParaRPr sz="1000"/>
          </a:p>
        </p:txBody>
      </p:sp>
      <p:sp>
        <p:nvSpPr>
          <p:cNvPr id="6" name="STC-02-status-rule">
            <a:extLst xmlns:a="http://schemas.openxmlformats.org/drawingml/2006/main">
              <a:ext uri="{FF2B5EF4-FFF2-40B4-BE49-F238E27FC236}">
                <a16:creationId xmlns:a16="http://schemas.microsoft.com/office/drawing/2014/main" id="{AAA2BDB5-9AB1-43CC-81F2-726033A947FE}"/>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2-footer-rule">
            <a:extLst xmlns:a="http://schemas.openxmlformats.org/drawingml/2006/main">
              <a:ext uri="{FF2B5EF4-FFF2-40B4-BE49-F238E27FC236}">
                <a16:creationId xmlns:a16="http://schemas.microsoft.com/office/drawing/2014/main" id="{90EAC1C3-0B28-440F-82C3-430CFCB7A87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2-source-footer">
            <a:extLst xmlns:a="http://schemas.openxmlformats.org/drawingml/2006/main">
              <a:ext uri="{FF2B5EF4-FFF2-40B4-BE49-F238E27FC236}">
                <a16:creationId xmlns:a16="http://schemas.microsoft.com/office/drawing/2014/main" id="{793D87D7-D04F-48E5-B4E6-8B70035D63C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ch01 목표 상자 · ch11 §11.3.1</a:t>
            </a:r>
            <a:endParaRPr sz="850"/>
          </a:p>
        </p:txBody>
      </p:sp>
      <p:sp>
        <p:nvSpPr>
          <p:cNvPr id="9" name="STC-02-page-number">
            <a:extLst xmlns:a="http://schemas.openxmlformats.org/drawingml/2006/main">
              <a:ext uri="{FF2B5EF4-FFF2-40B4-BE49-F238E27FC236}">
                <a16:creationId xmlns:a16="http://schemas.microsoft.com/office/drawing/2014/main" id="{9B82730B-5BA4-40C1-BB36-231F3E2F81B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3</a:t>
            </a:r>
            <a:endParaRPr sz="850"/>
          </a:p>
        </p:txBody>
      </p:sp>
      <p:sp>
        <p:nvSpPr>
          <p:cNvPr id="11" name="STC-02-when">
            <a:extLst xmlns:a="http://schemas.openxmlformats.org/drawingml/2006/main">
              <a:ext uri="{FF2B5EF4-FFF2-40B4-BE49-F238E27FC236}">
                <a16:creationId xmlns:a16="http://schemas.microsoft.com/office/drawing/2014/main" id="{16BCA9BF-B6CB-412C-9306-FDAB2AE1F9FD}"/>
              </a:ext>
            </a:extLst>
          </p:cNvPr>
          <p:cNvSpPr>
            <a:spLocks xmlns:a="http://schemas.openxmlformats.org/drawingml/2006/main" noGrp="1"/>
          </p:cNvSpPr>
          <p:nvPr/>
        </p:nvSpPr>
        <p:spPr>
          <a:xfrm xmlns:a="http://schemas.openxmlformats.org/drawingml/2006/main">
            <a:off x="731520" y="1673352"/>
            <a:ext cx="9601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44E8A"/>
                </a:solidFill>
                <a:latin typeface="Noto Serif CJK KR"/>
                <a:ea typeface="Noto Serif CJK KR"/>
                <a:cs typeface="Noto Serif CJK KR"/>
              </a:rPr>
              <a:t>대화 요약</a:t>
            </a:r>
            <a:endParaRPr sz="2800"/>
          </a:p>
        </p:txBody>
      </p:sp>
      <p:sp>
        <p:nvSpPr>
          <p:cNvPr id="12" name="STC-02-what">
            <a:extLst xmlns:a="http://schemas.openxmlformats.org/drawingml/2006/main">
              <a:ext uri="{FF2B5EF4-FFF2-40B4-BE49-F238E27FC236}">
                <a16:creationId xmlns:a16="http://schemas.microsoft.com/office/drawing/2014/main" id="{4D549EF3-5805-4997-88E2-74654ACC4A4F}"/>
              </a:ext>
            </a:extLst>
          </p:cNvPr>
          <p:cNvSpPr>
            <a:spLocks xmlns:a="http://schemas.openxmlformats.org/drawingml/2006/main" noGrp="1"/>
          </p:cNvSpPr>
          <p:nvPr/>
        </p:nvSpPr>
        <p:spPr>
          <a:xfrm xmlns:a="http://schemas.openxmlformats.org/drawingml/2006/main">
            <a:off x="731520" y="2761488"/>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9A442D"/>
                </a:solidFill>
                <a:latin typeface="Noto Serif CJK KR"/>
                <a:ea typeface="Noto Serif CJK KR"/>
                <a:cs typeface="Noto Serif CJK KR"/>
              </a:rPr>
              <a:t>저랭크 쓰기</a:t>
            </a:r>
            <a:endParaRPr sz="2800"/>
          </a:p>
        </p:txBody>
      </p:sp>
      <p:sp>
        <p:nvSpPr>
          <p:cNvPr id="13" name="STC-02-where">
            <a:extLst xmlns:a="http://schemas.openxmlformats.org/drawingml/2006/main">
              <a:ext uri="{FF2B5EF4-FFF2-40B4-BE49-F238E27FC236}">
                <a16:creationId xmlns:a16="http://schemas.microsoft.com/office/drawing/2014/main" id="{F2ABEEFC-09C0-4ED9-A436-4F6FF445EF5A}"/>
              </a:ext>
            </a:extLst>
          </p:cNvPr>
          <p:cNvSpPr>
            <a:spLocks xmlns:a="http://schemas.openxmlformats.org/drawingml/2006/main" noGrp="1"/>
          </p:cNvSpPr>
          <p:nvPr/>
        </p:nvSpPr>
        <p:spPr>
          <a:xfrm xmlns:a="http://schemas.openxmlformats.org/drawingml/2006/main">
            <a:off x="731520" y="3849624"/>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F6B63"/>
                </a:solidFill>
                <a:latin typeface="Noto Serif CJK KR"/>
                <a:ea typeface="Noto Serif CJK KR"/>
                <a:cs typeface="Noto Serif CJK KR"/>
              </a:rPr>
              <a:t>재귀 추가</a:t>
            </a:r>
            <a:endParaRPr sz="2800"/>
          </a:p>
        </p:txBody>
      </p:sp>
      <p:sp>
        <p:nvSpPr>
          <p:cNvPr id="14" name="STC-02-when-line">
            <a:extLst xmlns:a="http://schemas.openxmlformats.org/drawingml/2006/main">
              <a:ext uri="{FF2B5EF4-FFF2-40B4-BE49-F238E27FC236}">
                <a16:creationId xmlns:a16="http://schemas.microsoft.com/office/drawing/2014/main" id="{A0043737-4272-4C17-86C1-34866CB1C145}"/>
              </a:ext>
            </a:extLst>
          </p:cNvPr>
          <p:cNvSpPr>
            <a:spLocks xmlns:a="http://schemas.openxmlformats.org/drawingml/2006/main" noGrp="1"/>
          </p:cNvSpPr>
          <p:nvPr/>
        </p:nvSpPr>
        <p:spPr>
          <a:xfrm xmlns:a="http://schemas.openxmlformats.org/drawingml/2006/main">
            <a:off x="2148840" y="1865376"/>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5" name="STC-02-what-line">
            <a:extLst xmlns:a="http://schemas.openxmlformats.org/drawingml/2006/main">
              <a:ext uri="{FF2B5EF4-FFF2-40B4-BE49-F238E27FC236}">
                <a16:creationId xmlns:a16="http://schemas.microsoft.com/office/drawing/2014/main" id="{19984047-E359-40E7-B1A0-D045178C217D}"/>
              </a:ext>
            </a:extLst>
          </p:cNvPr>
          <p:cNvSpPr>
            <a:spLocks xmlns:a="http://schemas.openxmlformats.org/drawingml/2006/main" noGrp="1"/>
          </p:cNvSpPr>
          <p:nvPr/>
        </p:nvSpPr>
        <p:spPr>
          <a:xfrm xmlns:a="http://schemas.openxmlformats.org/drawingml/2006/main">
            <a:off x="2148840" y="2953512"/>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6" name="STC-02-where-line">
            <a:extLst xmlns:a="http://schemas.openxmlformats.org/drawingml/2006/main">
              <a:ext uri="{FF2B5EF4-FFF2-40B4-BE49-F238E27FC236}">
                <a16:creationId xmlns:a16="http://schemas.microsoft.com/office/drawing/2014/main" id="{AC3FBBFF-8861-47FA-A523-B7B08374B29E}"/>
              </a:ext>
            </a:extLst>
          </p:cNvPr>
          <p:cNvSpPr>
            <a:spLocks xmlns:a="http://schemas.openxmlformats.org/drawingml/2006/main" noGrp="1"/>
          </p:cNvSpPr>
          <p:nvPr/>
        </p:nvSpPr>
        <p:spPr>
          <a:xfrm xmlns:a="http://schemas.openxmlformats.org/drawingml/2006/main">
            <a:off x="2148840" y="4041648"/>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7" name="STC-02-when-answer">
            <a:extLst xmlns:a="http://schemas.openxmlformats.org/drawingml/2006/main">
              <a:ext uri="{FF2B5EF4-FFF2-40B4-BE49-F238E27FC236}">
                <a16:creationId xmlns:a16="http://schemas.microsoft.com/office/drawing/2014/main" id="{DE30F009-38B4-4744-A843-3338330F9296}"/>
              </a:ext>
            </a:extLst>
          </p:cNvPr>
          <p:cNvSpPr>
            <a:spLocks xmlns:a="http://schemas.openxmlformats.org/drawingml/2006/main" noGrp="1"/>
          </p:cNvSpPr>
          <p:nvPr/>
        </p:nvSpPr>
        <p:spPr>
          <a:xfrm xmlns:a="http://schemas.openxmlformats.org/drawingml/2006/main">
            <a:off x="2377440" y="1618488"/>
            <a:ext cx="7269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질의 전 요약을 벡터 DB에 적재한다 — 모델 밖</a:t>
            </a:r>
            <a:endParaRPr sz="2100"/>
          </a:p>
        </p:txBody>
      </p:sp>
      <p:sp>
        <p:nvSpPr>
          <p:cNvPr id="18" name="STC-02-what-answer">
            <a:extLst xmlns:a="http://schemas.openxmlformats.org/drawingml/2006/main">
              <a:ext uri="{FF2B5EF4-FFF2-40B4-BE49-F238E27FC236}">
                <a16:creationId xmlns:a16="http://schemas.microsoft.com/office/drawing/2014/main" id="{31F10D90-9E59-4017-AAB6-C5184B790324}"/>
              </a:ext>
            </a:extLst>
          </p:cNvPr>
          <p:cNvSpPr>
            <a:spLocks xmlns:a="http://schemas.openxmlformats.org/drawingml/2006/main" noGrp="1"/>
          </p:cNvSpPr>
          <p:nvPr/>
        </p:nvSpPr>
        <p:spPr>
          <a:xfrm xmlns:a="http://schemas.openxmlformats.org/drawingml/2006/main">
            <a:off x="2377440" y="2706624"/>
            <a:ext cx="78638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배포 가중치에 저랭크 expert를 덧붙인다</a:t>
            </a:r>
            <a:endParaRPr sz="2100"/>
          </a:p>
        </p:txBody>
      </p:sp>
      <p:sp>
        <p:nvSpPr>
          <p:cNvPr id="19" name="STC-02-where-answer">
            <a:extLst xmlns:a="http://schemas.openxmlformats.org/drawingml/2006/main">
              <a:ext uri="{FF2B5EF4-FFF2-40B4-BE49-F238E27FC236}">
                <a16:creationId xmlns:a16="http://schemas.microsoft.com/office/drawing/2014/main" id="{7B9DAECE-395E-4C23-8BFF-9AE8A0ABEE81}"/>
              </a:ext>
            </a:extLst>
          </p:cNvPr>
          <p:cNvSpPr>
            <a:spLocks xmlns:a="http://schemas.openxmlformats.org/drawingml/2006/main" noGrp="1"/>
          </p:cNvSpPr>
          <p:nvPr/>
        </p:nvSpPr>
        <p:spPr>
          <a:xfrm xmlns:a="http://schemas.openxmlformats.org/drawingml/2006/main">
            <a:off x="2377440" y="3794760"/>
            <a:ext cx="8458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KV cache를 비우기 전 recurrence를 더 돈다</a:t>
            </a:r>
            <a:endParaRPr sz="2100"/>
          </a:p>
        </p:txBody>
      </p:sp>
      <p:sp>
        <p:nvSpPr>
          <p:cNvPr id="20" name="STC-02-thesis-bar">
            <a:extLst xmlns:a="http://schemas.openxmlformats.org/drawingml/2006/main">
              <a:ext uri="{FF2B5EF4-FFF2-40B4-BE49-F238E27FC236}">
                <a16:creationId xmlns:a16="http://schemas.microsoft.com/office/drawing/2014/main" id="{307CCCCF-FC4F-496A-AFFE-4544A0437B9F}"/>
              </a:ext>
            </a:extLst>
          </p:cNvPr>
          <p:cNvSpPr>
            <a:spLocks xmlns:a="http://schemas.openxmlformats.org/drawingml/2006/main" noGrp="1"/>
          </p:cNvSpPr>
          <p:nvPr/>
        </p:nvSpPr>
        <p:spPr>
          <a:xfrm xmlns:a="http://schemas.openxmlformats.org/drawingml/2006/main">
            <a:off x="2359152" y="4791456"/>
            <a:ext cx="8174736" cy="731520"/>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02-thesis-bar-text">
            <a:extLst xmlns:a="http://schemas.openxmlformats.org/drawingml/2006/main">
              <a:ext uri="{FF2B5EF4-FFF2-40B4-BE49-F238E27FC236}">
                <a16:creationId xmlns:a16="http://schemas.microsoft.com/office/drawing/2014/main" id="{A739DA4E-B679-406F-8823-36B5720A9DC8}"/>
              </a:ext>
            </a:extLst>
          </p:cNvPr>
          <p:cNvSpPr>
            <a:spLocks xmlns:a="http://schemas.openxmlformats.org/drawingml/2006/main" noGrp="1"/>
          </p:cNvSpPr>
          <p:nvPr/>
        </p:nvSpPr>
        <p:spPr>
          <a:xfrm xmlns:a="http://schemas.openxmlformats.org/drawingml/2006/main">
            <a:off x="2606040" y="5001768"/>
            <a:ext cx="7680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900" b="1">
                <a:solidFill>
                  <a:srgbClr val="FFFFFF"/>
                </a:solidFill>
                <a:latin typeface="Noto Sans CJK KR"/>
                <a:ea typeface="Noto Sans CJK KR"/>
                <a:cs typeface="Noto Sans CJK KR"/>
              </a:rPr>
              <a:t>셋 다 자기 절차를 sleep이라 부르고, 셋을 같은 자로 잰 사람은 없다</a:t>
            </a:r>
            <a:endParaRPr sz="1900"/>
          </a:p>
        </p:txBody>
      </p:sp>
    </p:spTree>
    <p:extLst>
      <p:ext uri="{BB962C8B-B14F-4D97-AF65-F5344CB8AC3E}">
        <p14:creationId xmlns:p14="http://schemas.microsoft.com/office/powerpoint/2010/main" val="1716489855"/>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4-section">
            <a:extLst xmlns:a="http://schemas.openxmlformats.org/drawingml/2006/main">
              <a:ext uri="{FF2B5EF4-FFF2-40B4-BE49-F238E27FC236}">
                <a16:creationId xmlns:a16="http://schemas.microsoft.com/office/drawing/2014/main" id="{A0075D85-B234-44C8-902E-101F0A3CC31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ORIENTATION</a:t>
            </a:r>
            <a:endParaRPr sz="950"/>
          </a:p>
        </p:txBody>
      </p:sp>
      <p:sp>
        <p:nvSpPr>
          <p:cNvPr id="3" name="STC-04-slide-id">
            <a:extLst xmlns:a="http://schemas.openxmlformats.org/drawingml/2006/main">
              <a:ext uri="{FF2B5EF4-FFF2-40B4-BE49-F238E27FC236}">
                <a16:creationId xmlns:a16="http://schemas.microsoft.com/office/drawing/2014/main" id="{B14D52AE-8297-468B-A77A-23EAE8342583}"/>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STC-004</a:t>
            </a:r>
            <a:endParaRPr sz="950"/>
          </a:p>
        </p:txBody>
      </p:sp>
      <p:sp>
        <p:nvSpPr>
          <p:cNvPr id="4" name="STC-04-headline">
            <a:extLst xmlns:a="http://schemas.openxmlformats.org/drawingml/2006/main">
              <a:ext uri="{FF2B5EF4-FFF2-40B4-BE49-F238E27FC236}">
                <a16:creationId xmlns:a16="http://schemas.microsoft.com/office/drawing/2014/main" id="{3630F132-02F2-4CE1-9E25-749167C75A9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이 발표를 지탱하는 장치 넷</a:t>
            </a:r>
            <a:endParaRPr sz="3000"/>
          </a:p>
        </p:txBody>
      </p:sp>
      <p:sp>
        <p:nvSpPr>
          <p:cNvPr id="5" name="STC-04-status-label">
            <a:extLst xmlns:a="http://schemas.openxmlformats.org/drawingml/2006/main">
              <a:ext uri="{FF2B5EF4-FFF2-40B4-BE49-F238E27FC236}">
                <a16:creationId xmlns:a16="http://schemas.microsoft.com/office/drawing/2014/main" id="{A7ACBE27-EC77-4521-8202-C2F79CB3B4F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방법</a:t>
            </a:r>
            <a:endParaRPr sz="1000"/>
          </a:p>
        </p:txBody>
      </p:sp>
      <p:sp>
        <p:nvSpPr>
          <p:cNvPr id="6" name="STC-04-status-rule">
            <a:extLst xmlns:a="http://schemas.openxmlformats.org/drawingml/2006/main">
              <a:ext uri="{FF2B5EF4-FFF2-40B4-BE49-F238E27FC236}">
                <a16:creationId xmlns:a16="http://schemas.microsoft.com/office/drawing/2014/main" id="{168F3EE0-A99E-4D46-9138-97123A1B2E0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4-footer-rule">
            <a:extLst xmlns:a="http://schemas.openxmlformats.org/drawingml/2006/main">
              <a:ext uri="{FF2B5EF4-FFF2-40B4-BE49-F238E27FC236}">
                <a16:creationId xmlns:a16="http://schemas.microsoft.com/office/drawing/2014/main" id="{283A436D-9734-4A07-90CD-F35CB55E5AB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4-source-footer">
            <a:extLst xmlns:a="http://schemas.openxmlformats.org/drawingml/2006/main">
              <a:ext uri="{FF2B5EF4-FFF2-40B4-BE49-F238E27FC236}">
                <a16:creationId xmlns:a16="http://schemas.microsoft.com/office/drawing/2014/main" id="{883AB35B-5226-4881-AC75-8BEB5E56E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study-kr-stc/front/00-preface.md '이 책의 방법'</a:t>
            </a:r>
            <a:endParaRPr sz="850"/>
          </a:p>
        </p:txBody>
      </p:sp>
      <p:sp>
        <p:nvSpPr>
          <p:cNvPr id="9" name="STC-04-page-number">
            <a:extLst xmlns:a="http://schemas.openxmlformats.org/drawingml/2006/main">
              <a:ext uri="{FF2B5EF4-FFF2-40B4-BE49-F238E27FC236}">
                <a16:creationId xmlns:a16="http://schemas.microsoft.com/office/drawing/2014/main" id="{EFF36FC2-57B0-4E0D-A22C-A663CD6EDD60}"/>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4</a:t>
            </a:r>
            <a:endParaRPr sz="850"/>
          </a:p>
        </p:txBody>
      </p:sp>
      <p:sp>
        <p:nvSpPr>
          <p:cNvPr id="11" name="STC-04-phase-tag-0">
            <a:extLst xmlns:a="http://schemas.openxmlformats.org/drawingml/2006/main">
              <a:ext uri="{FF2B5EF4-FFF2-40B4-BE49-F238E27FC236}">
                <a16:creationId xmlns:a16="http://schemas.microsoft.com/office/drawing/2014/main" id="{BA1F2F65-E6CA-4586-80AC-30666A36C48F}"/>
              </a:ext>
            </a:extLst>
          </p:cNvPr>
          <p:cNvSpPr>
            <a:spLocks xmlns:a="http://schemas.openxmlformats.org/drawingml/2006/main" noGrp="1"/>
          </p:cNvSpPr>
          <p:nvPr/>
        </p:nvSpPr>
        <p:spPr>
          <a:xfrm xmlns:a="http://schemas.openxmlformats.org/drawingml/2006/main">
            <a:off x="768096"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59616A"/>
                </a:solidFill>
                <a:latin typeface="Noto Sans Mono CJK KR"/>
                <a:ea typeface="Noto Sans Mono CJK KR"/>
                <a:cs typeface="Noto Sans Mono CJK KR"/>
              </a:rPr>
              <a:t>판별식</a:t>
            </a:r>
            <a:endParaRPr sz="1200"/>
          </a:p>
        </p:txBody>
      </p:sp>
      <p:sp>
        <p:nvSpPr>
          <p:cNvPr id="12" name="STC-04-phase-ko-0">
            <a:extLst xmlns:a="http://schemas.openxmlformats.org/drawingml/2006/main">
              <a:ext uri="{FF2B5EF4-FFF2-40B4-BE49-F238E27FC236}">
                <a16:creationId xmlns:a16="http://schemas.microsoft.com/office/drawing/2014/main" id="{71B78324-C8F8-4909-82A4-E5B94A3ECF3B}"/>
              </a:ext>
            </a:extLst>
          </p:cNvPr>
          <p:cNvSpPr>
            <a:spLocks xmlns:a="http://schemas.openxmlformats.org/drawingml/2006/main" noGrp="1"/>
          </p:cNvSpPr>
          <p:nvPr/>
        </p:nvSpPr>
        <p:spPr>
          <a:xfrm xmlns:a="http://schemas.openxmlformats.org/drawingml/2006/main">
            <a:off x="768096"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네 조건</a:t>
            </a:r>
            <a:endParaRPr sz="2300"/>
          </a:p>
        </p:txBody>
      </p:sp>
      <p:sp>
        <p:nvSpPr>
          <p:cNvPr id="13" name="STC-04-phase-rule-0">
            <a:extLst xmlns:a="http://schemas.openxmlformats.org/drawingml/2006/main">
              <a:ext uri="{FF2B5EF4-FFF2-40B4-BE49-F238E27FC236}">
                <a16:creationId xmlns:a16="http://schemas.microsoft.com/office/drawing/2014/main" id="{7764BB8A-B05F-4718-BC24-4AD789913DE0}"/>
              </a:ext>
            </a:extLst>
          </p:cNvPr>
          <p:cNvSpPr>
            <a:spLocks xmlns:a="http://schemas.openxmlformats.org/drawingml/2006/main" noGrp="1"/>
          </p:cNvSpPr>
          <p:nvPr/>
        </p:nvSpPr>
        <p:spPr>
          <a:xfrm xmlns:a="http://schemas.openxmlformats.org/drawingml/2006/main">
            <a:off x="768096" y="2642616"/>
            <a:ext cx="2011680" cy="0"/>
          </a:xfrm>
          <a:prstGeom xmlns:a="http://schemas.openxmlformats.org/drawingml/2006/main" prst="line">
            <a:avLst/>
          </a:prstGeom>
          <a:noFill xmlns:a="http://schemas.openxmlformats.org/drawingml/2006/main"/>
          <a:ln xmlns:a="http://schemas.openxmlformats.org/drawingml/2006/main" w="50800">
            <a:solidFill>
              <a:srgbClr val="59616A"/>
            </a:solidFill>
            <a:prstDash val="solid"/>
            <a:tailEnd type="none"/>
          </a:ln>
        </p:spPr>
      </p:sp>
      <p:sp>
        <p:nvSpPr>
          <p:cNvPr id="14" name="STC-04-phase-body-0">
            <a:extLst xmlns:a="http://schemas.openxmlformats.org/drawingml/2006/main">
              <a:ext uri="{FF2B5EF4-FFF2-40B4-BE49-F238E27FC236}">
                <a16:creationId xmlns:a16="http://schemas.microsoft.com/office/drawing/2014/main" id="{D3EDF87F-330E-402B-BED1-949CABA05E93}"/>
              </a:ext>
            </a:extLst>
          </p:cNvPr>
          <p:cNvSpPr>
            <a:spLocks xmlns:a="http://schemas.openxmlformats.org/drawingml/2006/main" noGrp="1"/>
          </p:cNvSpPr>
          <p:nvPr/>
        </p:nvSpPr>
        <p:spPr>
          <a:xfrm xmlns:a="http://schemas.openxmlformats.org/drawingml/2006/main">
            <a:off x="768096"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네 조건 ·</a:t>
            </a:r>
            <a:endParaRPr sz="1800"/>
          </a:p>
          <a:p xmlns:a="http://schemas.openxmlformats.org/drawingml/2006/main">
            <a:pPr marL="0" indent="0">
              <a:buNone/>
            </a:pPr>
            <a:r>
              <a:rPr sz="1800">
                <a:solidFill>
                  <a:srgbClr val="17191C"/>
                </a:solidFill>
                <a:latin typeface="Noto Sans CJK KR"/>
                <a:ea typeface="Noto Sans CJK KR"/>
                <a:cs typeface="Noto Sans CJK KR"/>
              </a:rPr>
              <a:t>갱신식과 시계만 본다</a:t>
            </a:r>
            <a:endParaRPr sz="1800"/>
          </a:p>
        </p:txBody>
      </p:sp>
      <p:sp>
        <p:nvSpPr>
          <p:cNvPr id="15" name="STC-04-phase-arrow-0">
            <a:extLst xmlns:a="http://schemas.openxmlformats.org/drawingml/2006/main">
              <a:ext uri="{FF2B5EF4-FFF2-40B4-BE49-F238E27FC236}">
                <a16:creationId xmlns:a16="http://schemas.microsoft.com/office/drawing/2014/main" id="{783D597A-ACCC-4F6B-94A9-392B971E7A96}"/>
              </a:ext>
            </a:extLst>
          </p:cNvPr>
          <p:cNvSpPr>
            <a:spLocks xmlns:a="http://schemas.openxmlformats.org/drawingml/2006/main" noGrp="1"/>
          </p:cNvSpPr>
          <p:nvPr/>
        </p:nvSpPr>
        <p:spPr>
          <a:xfrm xmlns:a="http://schemas.openxmlformats.org/drawingml/2006/main">
            <a:off x="2962656"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16" name="STC-04-phase-tag-1">
            <a:extLst xmlns:a="http://schemas.openxmlformats.org/drawingml/2006/main">
              <a:ext uri="{FF2B5EF4-FFF2-40B4-BE49-F238E27FC236}">
                <a16:creationId xmlns:a16="http://schemas.microsoft.com/office/drawing/2014/main" id="{DF120A6C-83FF-4F70-8A23-21607B85C1A0}"/>
              </a:ext>
            </a:extLst>
          </p:cNvPr>
          <p:cNvSpPr>
            <a:spLocks xmlns:a="http://schemas.openxmlformats.org/drawingml/2006/main" noGrp="1"/>
          </p:cNvSpPr>
          <p:nvPr/>
        </p:nvSpPr>
        <p:spPr>
          <a:xfrm xmlns:a="http://schemas.openxmlformats.org/drawingml/2006/main">
            <a:off x="3593592"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통일 회계</a:t>
            </a:r>
            <a:endParaRPr sz="1200"/>
          </a:p>
        </p:txBody>
      </p:sp>
      <p:sp>
        <p:nvSpPr>
          <p:cNvPr id="17" name="STC-04-phase-ko-1">
            <a:extLst xmlns:a="http://schemas.openxmlformats.org/drawingml/2006/main">
              <a:ext uri="{FF2B5EF4-FFF2-40B4-BE49-F238E27FC236}">
                <a16:creationId xmlns:a16="http://schemas.microsoft.com/office/drawing/2014/main" id="{EC71ADFB-45C0-4738-8C38-F10FAB21F33F}"/>
              </a:ext>
            </a:extLst>
          </p:cNvPr>
          <p:cNvSpPr>
            <a:spLocks xmlns:a="http://schemas.openxmlformats.org/drawingml/2006/main" noGrp="1"/>
          </p:cNvSpPr>
          <p:nvPr/>
        </p:nvSpPr>
        <p:spPr>
          <a:xfrm xmlns:a="http://schemas.openxmlformats.org/drawingml/2006/main">
            <a:off x="3593592"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네 값</a:t>
            </a:r>
            <a:endParaRPr sz="2300"/>
          </a:p>
        </p:txBody>
      </p:sp>
      <p:sp>
        <p:nvSpPr>
          <p:cNvPr id="18" name="STC-04-phase-rule-1">
            <a:extLst xmlns:a="http://schemas.openxmlformats.org/drawingml/2006/main">
              <a:ext uri="{FF2B5EF4-FFF2-40B4-BE49-F238E27FC236}">
                <a16:creationId xmlns:a16="http://schemas.microsoft.com/office/drawing/2014/main" id="{CD51B805-650E-4380-9B3A-E873D1907749}"/>
              </a:ext>
            </a:extLst>
          </p:cNvPr>
          <p:cNvSpPr>
            <a:spLocks xmlns:a="http://schemas.openxmlformats.org/drawingml/2006/main" noGrp="1"/>
          </p:cNvSpPr>
          <p:nvPr/>
        </p:nvSpPr>
        <p:spPr>
          <a:xfrm xmlns:a="http://schemas.openxmlformats.org/drawingml/2006/main">
            <a:off x="3593592" y="2642616"/>
            <a:ext cx="2011680" cy="0"/>
          </a:xfrm>
          <a:prstGeom xmlns:a="http://schemas.openxmlformats.org/drawingml/2006/main" prst="line">
            <a:avLst/>
          </a:prstGeom>
          <a:noFill xmlns:a="http://schemas.openxmlformats.org/drawingml/2006/main"/>
          <a:ln xmlns:a="http://schemas.openxmlformats.org/drawingml/2006/main" w="50800">
            <a:solidFill>
              <a:srgbClr val="244E8A"/>
            </a:solidFill>
            <a:prstDash val="solid"/>
            <a:tailEnd type="none"/>
          </a:ln>
        </p:spPr>
      </p:sp>
      <p:sp>
        <p:nvSpPr>
          <p:cNvPr id="19" name="STC-04-phase-body-1">
            <a:extLst xmlns:a="http://schemas.openxmlformats.org/drawingml/2006/main">
              <a:ext uri="{FF2B5EF4-FFF2-40B4-BE49-F238E27FC236}">
                <a16:creationId xmlns:a16="http://schemas.microsoft.com/office/drawing/2014/main" id="{CA6AC282-8658-4035-A58F-484C6AC4BB0A}"/>
              </a:ext>
            </a:extLst>
          </p:cNvPr>
          <p:cNvSpPr>
            <a:spLocks xmlns:a="http://schemas.openxmlformats.org/drawingml/2006/main" noGrp="1"/>
          </p:cNvSpPr>
          <p:nvPr/>
        </p:nvSpPr>
        <p:spPr>
          <a:xfrm xmlns:a="http://schemas.openxmlformats.org/drawingml/2006/main">
            <a:off x="3593592"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네 값 · B_s, L_w,</a:t>
            </a:r>
            <a:endParaRPr sz="1800"/>
          </a:p>
          <a:p xmlns:a="http://schemas.openxmlformats.org/drawingml/2006/main">
            <a:pPr marL="0" indent="0">
              <a:buNone/>
            </a:pPr>
            <a:r>
              <a:rPr sz="1800">
                <a:solidFill>
                  <a:srgbClr val="17191C"/>
                </a:solidFill>
                <a:latin typeface="Noto Sans CJK KR"/>
                <a:ea typeface="Noto Sans CJK KR"/>
                <a:cs typeface="Noto Sans CJK KR"/>
              </a:rPr>
              <a:t>C_cap, ρ로 환산한다</a:t>
            </a:r>
            <a:endParaRPr sz="1800"/>
          </a:p>
        </p:txBody>
      </p:sp>
      <p:sp>
        <p:nvSpPr>
          <p:cNvPr id="20" name="STC-04-phase-arrow-1">
            <a:extLst xmlns:a="http://schemas.openxmlformats.org/drawingml/2006/main">
              <a:ext uri="{FF2B5EF4-FFF2-40B4-BE49-F238E27FC236}">
                <a16:creationId xmlns:a16="http://schemas.microsoft.com/office/drawing/2014/main" id="{78036B2A-3081-4A46-8C23-82C208923D54}"/>
              </a:ext>
            </a:extLst>
          </p:cNvPr>
          <p:cNvSpPr>
            <a:spLocks xmlns:a="http://schemas.openxmlformats.org/drawingml/2006/main" noGrp="1"/>
          </p:cNvSpPr>
          <p:nvPr/>
        </p:nvSpPr>
        <p:spPr>
          <a:xfrm xmlns:a="http://schemas.openxmlformats.org/drawingml/2006/main">
            <a:off x="5788152"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1" name="STC-04-phase-tag-2">
            <a:extLst xmlns:a="http://schemas.openxmlformats.org/drawingml/2006/main">
              <a:ext uri="{FF2B5EF4-FFF2-40B4-BE49-F238E27FC236}">
                <a16:creationId xmlns:a16="http://schemas.microsoft.com/office/drawing/2014/main" id="{14A86847-A229-4A53-8F2A-E51A71B0A175}"/>
              </a:ext>
            </a:extLst>
          </p:cNvPr>
          <p:cNvSpPr>
            <a:spLocks xmlns:a="http://schemas.openxmlformats.org/drawingml/2006/main" noGrp="1"/>
          </p:cNvSpPr>
          <p:nvPr/>
        </p:nvSpPr>
        <p:spPr>
          <a:xfrm xmlns:a="http://schemas.openxmlformats.org/drawingml/2006/main">
            <a:off x="6419088"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정직성 규칙</a:t>
            </a:r>
            <a:endParaRPr sz="1200"/>
          </a:p>
        </p:txBody>
      </p:sp>
      <p:sp>
        <p:nvSpPr>
          <p:cNvPr id="22" name="STC-04-phase-ko-2">
            <a:extLst xmlns:a="http://schemas.openxmlformats.org/drawingml/2006/main">
              <a:ext uri="{FF2B5EF4-FFF2-40B4-BE49-F238E27FC236}">
                <a16:creationId xmlns:a16="http://schemas.microsoft.com/office/drawing/2014/main" id="{582DA535-C347-498A-B2F9-C40BAE20CE4F}"/>
              </a:ext>
            </a:extLst>
          </p:cNvPr>
          <p:cNvSpPr>
            <a:spLocks xmlns:a="http://schemas.openxmlformats.org/drawingml/2006/main" noGrp="1"/>
          </p:cNvSpPr>
          <p:nvPr/>
        </p:nvSpPr>
        <p:spPr>
          <a:xfrm xmlns:a="http://schemas.openxmlformats.org/drawingml/2006/main">
            <a:off x="6419088"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불리한 사실</a:t>
            </a:r>
            <a:endParaRPr sz="2300"/>
          </a:p>
        </p:txBody>
      </p:sp>
      <p:sp>
        <p:nvSpPr>
          <p:cNvPr id="23" name="STC-04-phase-rule-2">
            <a:extLst xmlns:a="http://schemas.openxmlformats.org/drawingml/2006/main">
              <a:ext uri="{FF2B5EF4-FFF2-40B4-BE49-F238E27FC236}">
                <a16:creationId xmlns:a16="http://schemas.microsoft.com/office/drawing/2014/main" id="{604E16CE-5100-4FC5-8DB9-7A23B695EE76}"/>
              </a:ext>
            </a:extLst>
          </p:cNvPr>
          <p:cNvSpPr>
            <a:spLocks xmlns:a="http://schemas.openxmlformats.org/drawingml/2006/main" noGrp="1"/>
          </p:cNvSpPr>
          <p:nvPr/>
        </p:nvSpPr>
        <p:spPr>
          <a:xfrm xmlns:a="http://schemas.openxmlformats.org/drawingml/2006/main">
            <a:off x="6419088" y="2642616"/>
            <a:ext cx="2011680" cy="0"/>
          </a:xfrm>
          <a:prstGeom xmlns:a="http://schemas.openxmlformats.org/drawingml/2006/main" prst="line">
            <a:avLst/>
          </a:prstGeom>
          <a:noFill xmlns:a="http://schemas.openxmlformats.org/drawingml/2006/main"/>
          <a:ln xmlns:a="http://schemas.openxmlformats.org/drawingml/2006/main" w="50800">
            <a:solidFill>
              <a:srgbClr val="9A442D"/>
            </a:solidFill>
            <a:prstDash val="solid"/>
            <a:tailEnd type="none"/>
          </a:ln>
        </p:spPr>
      </p:sp>
      <p:sp>
        <p:nvSpPr>
          <p:cNvPr id="24" name="STC-04-phase-body-2">
            <a:extLst xmlns:a="http://schemas.openxmlformats.org/drawingml/2006/main">
              <a:ext uri="{FF2B5EF4-FFF2-40B4-BE49-F238E27FC236}">
                <a16:creationId xmlns:a16="http://schemas.microsoft.com/office/drawing/2014/main" id="{5BF3497A-374B-4090-AF18-46EDBA191D7C}"/>
              </a:ext>
            </a:extLst>
          </p:cNvPr>
          <p:cNvSpPr>
            <a:spLocks xmlns:a="http://schemas.openxmlformats.org/drawingml/2006/main" noGrp="1"/>
          </p:cNvSpPr>
          <p:nvPr/>
        </p:nvSpPr>
        <p:spPr>
          <a:xfrm xmlns:a="http://schemas.openxmlformats.org/drawingml/2006/main">
            <a:off x="6419088"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불리한 사실 ·</a:t>
            </a:r>
            <a:endParaRPr sz="1800"/>
          </a:p>
          <a:p xmlns:a="http://schemas.openxmlformats.org/drawingml/2006/main">
            <a:pPr marL="0" indent="0">
              <a:buNone/>
            </a:pPr>
            <a:r>
              <a:rPr sz="1800">
                <a:solidFill>
                  <a:srgbClr val="17191C"/>
                </a:solidFill>
                <a:latin typeface="Noto Sans CJK KR"/>
                <a:ea typeface="Noto Sans CJK KR"/>
                <a:cs typeface="Noto Sans CJK KR"/>
              </a:rPr>
              <a:t>완곡화와 누락을 결함으로 본다</a:t>
            </a:r>
            <a:endParaRPr sz="1800"/>
          </a:p>
        </p:txBody>
      </p:sp>
      <p:sp>
        <p:nvSpPr>
          <p:cNvPr id="25" name="STC-04-phase-arrow-2">
            <a:extLst xmlns:a="http://schemas.openxmlformats.org/drawingml/2006/main">
              <a:ext uri="{FF2B5EF4-FFF2-40B4-BE49-F238E27FC236}">
                <a16:creationId xmlns:a16="http://schemas.microsoft.com/office/drawing/2014/main" id="{4E7BA787-51DD-48C2-90C7-E4BC25DA526D}"/>
              </a:ext>
            </a:extLst>
          </p:cNvPr>
          <p:cNvSpPr>
            <a:spLocks xmlns:a="http://schemas.openxmlformats.org/drawingml/2006/main" noGrp="1"/>
          </p:cNvSpPr>
          <p:nvPr/>
        </p:nvSpPr>
        <p:spPr>
          <a:xfrm xmlns:a="http://schemas.openxmlformats.org/drawingml/2006/main">
            <a:off x="8613648"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04-phase-tag-3">
            <a:extLst xmlns:a="http://schemas.openxmlformats.org/drawingml/2006/main">
              <a:ext uri="{FF2B5EF4-FFF2-40B4-BE49-F238E27FC236}">
                <a16:creationId xmlns:a16="http://schemas.microsoft.com/office/drawing/2014/main" id="{3D317DA2-F326-4299-B8BF-54ACE3EE2AA9}"/>
              </a:ext>
            </a:extLst>
          </p:cNvPr>
          <p:cNvSpPr>
            <a:spLocks xmlns:a="http://schemas.openxmlformats.org/drawingml/2006/main" noGrp="1"/>
          </p:cNvSpPr>
          <p:nvPr/>
        </p:nvSpPr>
        <p:spPr>
          <a:xfrm xmlns:a="http://schemas.openxmlformats.org/drawingml/2006/main">
            <a:off x="9244584"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등급화</a:t>
            </a:r>
            <a:endParaRPr sz="1200"/>
          </a:p>
        </p:txBody>
      </p:sp>
      <p:sp>
        <p:nvSpPr>
          <p:cNvPr id="27" name="STC-04-phase-ko-3">
            <a:extLst xmlns:a="http://schemas.openxmlformats.org/drawingml/2006/main">
              <a:ext uri="{FF2B5EF4-FFF2-40B4-BE49-F238E27FC236}">
                <a16:creationId xmlns:a16="http://schemas.microsoft.com/office/drawing/2014/main" id="{F5446ADD-A14C-416D-B2F4-1A4E119F4329}"/>
              </a:ext>
            </a:extLst>
          </p:cNvPr>
          <p:cNvSpPr>
            <a:spLocks xmlns:a="http://schemas.openxmlformats.org/drawingml/2006/main" noGrp="1"/>
          </p:cNvSpPr>
          <p:nvPr/>
        </p:nvSpPr>
        <p:spPr>
          <a:xfrm xmlns:a="http://schemas.openxmlformats.org/drawingml/2006/main">
            <a:off x="9244584"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자기 실험</a:t>
            </a:r>
            <a:endParaRPr sz="2300"/>
          </a:p>
        </p:txBody>
      </p:sp>
      <p:sp>
        <p:nvSpPr>
          <p:cNvPr id="28" name="STC-04-phase-rule-3">
            <a:extLst xmlns:a="http://schemas.openxmlformats.org/drawingml/2006/main">
              <a:ext uri="{FF2B5EF4-FFF2-40B4-BE49-F238E27FC236}">
                <a16:creationId xmlns:a16="http://schemas.microsoft.com/office/drawing/2014/main" id="{4455D656-930A-404D-BF54-7ED24B2942EA}"/>
              </a:ext>
            </a:extLst>
          </p:cNvPr>
          <p:cNvSpPr>
            <a:spLocks xmlns:a="http://schemas.openxmlformats.org/drawingml/2006/main" noGrp="1"/>
          </p:cNvSpPr>
          <p:nvPr/>
        </p:nvSpPr>
        <p:spPr>
          <a:xfrm xmlns:a="http://schemas.openxmlformats.org/drawingml/2006/main">
            <a:off x="9244584" y="2642616"/>
            <a:ext cx="2011680" cy="0"/>
          </a:xfrm>
          <a:prstGeom xmlns:a="http://schemas.openxmlformats.org/drawingml/2006/main" prst="line">
            <a:avLst/>
          </a:prstGeom>
          <a:noFill xmlns:a="http://schemas.openxmlformats.org/drawingml/2006/main"/>
          <a:ln xmlns:a="http://schemas.openxmlformats.org/drawingml/2006/main" w="50800">
            <a:solidFill>
              <a:srgbClr val="2F6B63"/>
            </a:solidFill>
            <a:prstDash val="solid"/>
            <a:tailEnd type="none"/>
          </a:ln>
        </p:spPr>
      </p:sp>
      <p:sp>
        <p:nvSpPr>
          <p:cNvPr id="29" name="STC-04-phase-body-3">
            <a:extLst xmlns:a="http://schemas.openxmlformats.org/drawingml/2006/main">
              <a:ext uri="{FF2B5EF4-FFF2-40B4-BE49-F238E27FC236}">
                <a16:creationId xmlns:a16="http://schemas.microsoft.com/office/drawing/2014/main" id="{FE89CD84-AEBE-4991-983F-DACD28BF3807}"/>
              </a:ext>
            </a:extLst>
          </p:cNvPr>
          <p:cNvSpPr>
            <a:spLocks xmlns:a="http://schemas.openxmlformats.org/drawingml/2006/main" noGrp="1"/>
          </p:cNvSpPr>
          <p:nvPr/>
        </p:nvSpPr>
        <p:spPr>
          <a:xfrm xmlns:a="http://schemas.openxmlformats.org/drawingml/2006/main">
            <a:off x="9244584"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자기 실험 · 무엇을</a:t>
            </a:r>
            <a:endParaRPr sz="1800"/>
          </a:p>
          <a:p xmlns:a="http://schemas.openxmlformats.org/drawingml/2006/main">
            <a:pPr marL="0" indent="0">
              <a:buNone/>
            </a:pPr>
            <a:r>
              <a:rPr sz="1800">
                <a:solidFill>
                  <a:srgbClr val="17191C"/>
                </a:solidFill>
                <a:latin typeface="Noto Sans CJK KR"/>
                <a:ea typeface="Noto Sans CJK KR"/>
                <a:cs typeface="Noto Sans CJK KR"/>
              </a:rPr>
              <a:t>단정 못 하는지 먼저 적는다</a:t>
            </a:r>
            <a:endParaRPr sz="1800"/>
          </a:p>
        </p:txBody>
      </p:sp>
      <p:sp>
        <p:nvSpPr>
          <p:cNvPr id="30" name="STC-04-phase-invariant">
            <a:extLst xmlns:a="http://schemas.openxmlformats.org/drawingml/2006/main">
              <a:ext uri="{FF2B5EF4-FFF2-40B4-BE49-F238E27FC236}">
                <a16:creationId xmlns:a16="http://schemas.microsoft.com/office/drawing/2014/main" id="{03288DCF-E840-4104-9A86-10724C88811D}"/>
              </a:ext>
            </a:extLst>
          </p:cNvPr>
          <p:cNvSpPr>
            <a:spLocks xmlns:a="http://schemas.openxmlformats.org/drawingml/2006/main" noGrp="1"/>
          </p:cNvSpPr>
          <p:nvPr/>
        </p:nvSpPr>
        <p:spPr>
          <a:xfrm xmlns:a="http://schemas.openxmlformats.org/drawingml/2006/main">
            <a:off x="1188720" y="4736592"/>
            <a:ext cx="9811512" cy="6035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31" name="STC-04-phase-invariant-text">
            <a:extLst xmlns:a="http://schemas.openxmlformats.org/drawingml/2006/main">
              <a:ext uri="{FF2B5EF4-FFF2-40B4-BE49-F238E27FC236}">
                <a16:creationId xmlns:a16="http://schemas.microsoft.com/office/drawing/2014/main" id="{F965FB3E-3D1D-4CF8-8579-F6405F044BA3}"/>
              </a:ext>
            </a:extLst>
          </p:cNvPr>
          <p:cNvSpPr>
            <a:spLocks xmlns:a="http://schemas.openxmlformats.org/drawingml/2006/main" noGrp="1"/>
          </p:cNvSpPr>
          <p:nvPr/>
        </p:nvSpPr>
        <p:spPr>
          <a:xfrm xmlns:a="http://schemas.openxmlformats.org/drawingml/2006/main">
            <a:off x="1435608" y="4919472"/>
            <a:ext cx="93268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넷 다 앞 모노그래프에서 부족했거나 없었던 것이고, 넷 다 반증 가능하게 설계했다</a:t>
            </a:r>
            <a:endParaRPr sz="1700"/>
          </a:p>
        </p:txBody>
      </p:sp>
    </p:spTree>
    <p:extLst>
      <p:ext uri="{BB962C8B-B14F-4D97-AF65-F5344CB8AC3E}">
        <p14:creationId xmlns:p14="http://schemas.microsoft.com/office/powerpoint/2010/main" val="37494492"/>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6-section">
            <a:extLst xmlns:a="http://schemas.openxmlformats.org/drawingml/2006/main">
              <a:ext uri="{FF2B5EF4-FFF2-40B4-BE49-F238E27FC236}">
                <a16:creationId xmlns:a16="http://schemas.microsoft.com/office/drawing/2014/main" id="{C6CFE6F9-30C3-4ACE-B77D-C99D68BA58F5}"/>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ORIENTATION</a:t>
            </a:r>
            <a:endParaRPr sz="950"/>
          </a:p>
        </p:txBody>
      </p:sp>
      <p:sp>
        <p:nvSpPr>
          <p:cNvPr id="3" name="STC-26-slide-id">
            <a:extLst xmlns:a="http://schemas.openxmlformats.org/drawingml/2006/main">
              <a:ext uri="{FF2B5EF4-FFF2-40B4-BE49-F238E27FC236}">
                <a16:creationId xmlns:a16="http://schemas.microsoft.com/office/drawing/2014/main" id="{FBF29D78-508E-4E7A-988A-2935AC88B6A1}"/>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STC-005</a:t>
            </a:r>
            <a:endParaRPr sz="950"/>
          </a:p>
        </p:txBody>
      </p:sp>
      <p:sp>
        <p:nvSpPr>
          <p:cNvPr id="4" name="STC-26-headline">
            <a:extLst xmlns:a="http://schemas.openxmlformats.org/drawingml/2006/main">
              <a:ext uri="{FF2B5EF4-FFF2-40B4-BE49-F238E27FC236}">
                <a16:creationId xmlns:a16="http://schemas.microsoft.com/office/drawing/2014/main" id="{732EBE89-199D-4FA8-A127-19E537ABF3B3}"/>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척추 논지 — 이름이 기제보다 넓다</a:t>
            </a:r>
            <a:endParaRPr sz="3000"/>
          </a:p>
        </p:txBody>
      </p:sp>
      <p:sp>
        <p:nvSpPr>
          <p:cNvPr id="5" name="STC-26-status-label">
            <a:extLst xmlns:a="http://schemas.openxmlformats.org/drawingml/2006/main">
              <a:ext uri="{FF2B5EF4-FFF2-40B4-BE49-F238E27FC236}">
                <a16:creationId xmlns:a16="http://schemas.microsoft.com/office/drawing/2014/main" id="{DFBC3A45-EA4A-4C81-847B-98DDEA347603}"/>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척추 논지</a:t>
            </a:r>
            <a:endParaRPr sz="1000"/>
          </a:p>
        </p:txBody>
      </p:sp>
      <p:sp>
        <p:nvSpPr>
          <p:cNvPr id="6" name="STC-26-status-rule">
            <a:extLst xmlns:a="http://schemas.openxmlformats.org/drawingml/2006/main">
              <a:ext uri="{FF2B5EF4-FFF2-40B4-BE49-F238E27FC236}">
                <a16:creationId xmlns:a16="http://schemas.microsoft.com/office/drawing/2014/main" id="{D4374441-A440-47AE-BAFC-C99186B9EF6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26-footer-rule">
            <a:extLst xmlns:a="http://schemas.openxmlformats.org/drawingml/2006/main">
              <a:ext uri="{FF2B5EF4-FFF2-40B4-BE49-F238E27FC236}">
                <a16:creationId xmlns:a16="http://schemas.microsoft.com/office/drawing/2014/main" id="{D17054CE-E03B-4746-9386-8812E6B0F9F5}"/>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6-source-footer">
            <a:extLst xmlns:a="http://schemas.openxmlformats.org/drawingml/2006/main">
              <a:ext uri="{FF2B5EF4-FFF2-40B4-BE49-F238E27FC236}">
                <a16:creationId xmlns:a16="http://schemas.microsoft.com/office/drawing/2014/main" id="{27C2276F-F54F-4D86-9622-75C6D85DAA50}"/>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dossier/stc-v2/PRE-RESEARCH.md §5 (A1 확정)</a:t>
            </a:r>
            <a:endParaRPr sz="850"/>
          </a:p>
        </p:txBody>
      </p:sp>
      <p:sp>
        <p:nvSpPr>
          <p:cNvPr id="9" name="STC-26-page-number">
            <a:extLst xmlns:a="http://schemas.openxmlformats.org/drawingml/2006/main">
              <a:ext uri="{FF2B5EF4-FFF2-40B4-BE49-F238E27FC236}">
                <a16:creationId xmlns:a16="http://schemas.microsoft.com/office/drawing/2014/main" id="{514099CF-2FF1-439D-8114-7438C7271AB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5</a:t>
            </a:r>
            <a:endParaRPr sz="850"/>
          </a:p>
        </p:txBody>
      </p:sp>
      <p:sp>
        <p:nvSpPr>
          <p:cNvPr id="11" name="STC-26-con-capture">
            <a:extLst xmlns:a="http://schemas.openxmlformats.org/drawingml/2006/main">
              <a:ext uri="{FF2B5EF4-FFF2-40B4-BE49-F238E27FC236}">
                <a16:creationId xmlns:a16="http://schemas.microsoft.com/office/drawing/2014/main" id="{DD5D5F7C-59BF-4487-95AC-7D7853786246}"/>
              </a:ext>
            </a:extLst>
          </p:cNvPr>
          <p:cNvSpPr>
            <a:spLocks xmlns:a="http://schemas.openxmlformats.org/drawingml/2006/main" noGrp="1"/>
          </p:cNvSpPr>
          <p:nvPr/>
        </p:nvSpPr>
        <p:spPr>
          <a:xfrm xmlns:a="http://schemas.openxmlformats.org/drawingml/2006/main">
            <a:off x="822960" y="1828800"/>
            <a:ext cx="13258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이름</a:t>
            </a:r>
            <a:endParaRPr sz="1200"/>
          </a:p>
        </p:txBody>
      </p:sp>
      <p:sp>
        <p:nvSpPr>
          <p:cNvPr id="12" name="STC-26-con-transform">
            <a:extLst xmlns:a="http://schemas.openxmlformats.org/drawingml/2006/main">
              <a:ext uri="{FF2B5EF4-FFF2-40B4-BE49-F238E27FC236}">
                <a16:creationId xmlns:a16="http://schemas.microsoft.com/office/drawing/2014/main" id="{AD254F05-8266-4B86-A230-70C8E0018E50}"/>
              </a:ext>
            </a:extLst>
          </p:cNvPr>
          <p:cNvSpPr>
            <a:spLocks xmlns:a="http://schemas.openxmlformats.org/drawingml/2006/main" noGrp="1"/>
          </p:cNvSpPr>
          <p:nvPr/>
        </p:nvSpPr>
        <p:spPr>
          <a:xfrm xmlns:a="http://schemas.openxmlformats.org/drawingml/2006/main">
            <a:off x="3273552" y="1828800"/>
            <a:ext cx="15544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기제</a:t>
            </a:r>
            <a:endParaRPr sz="1200"/>
          </a:p>
        </p:txBody>
      </p:sp>
      <p:sp>
        <p:nvSpPr>
          <p:cNvPr id="13" name="STC-26-con-verify">
            <a:extLst xmlns:a="http://schemas.openxmlformats.org/drawingml/2006/main">
              <a:ext uri="{FF2B5EF4-FFF2-40B4-BE49-F238E27FC236}">
                <a16:creationId xmlns:a16="http://schemas.microsoft.com/office/drawing/2014/main" id="{8E44B935-058D-4160-A101-3846F7FE6B11}"/>
              </a:ext>
            </a:extLst>
          </p:cNvPr>
          <p:cNvSpPr>
            <a:spLocks xmlns:a="http://schemas.openxmlformats.org/drawingml/2006/main" noGrp="1"/>
          </p:cNvSpPr>
          <p:nvPr/>
        </p:nvSpPr>
        <p:spPr>
          <a:xfrm xmlns:a="http://schemas.openxmlformats.org/drawingml/2006/main">
            <a:off x="6016752" y="1828800"/>
            <a:ext cx="11887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인용</a:t>
            </a:r>
            <a:endParaRPr sz="1200"/>
          </a:p>
        </p:txBody>
      </p:sp>
      <p:sp>
        <p:nvSpPr>
          <p:cNvPr id="14" name="STC-26-con-reuse">
            <a:extLst xmlns:a="http://schemas.openxmlformats.org/drawingml/2006/main">
              <a:ext uri="{FF2B5EF4-FFF2-40B4-BE49-F238E27FC236}">
                <a16:creationId xmlns:a16="http://schemas.microsoft.com/office/drawing/2014/main" id="{FE44A74D-7473-4EAE-B64F-7D1B198738BB}"/>
              </a:ext>
            </a:extLst>
          </p:cNvPr>
          <p:cNvSpPr>
            <a:spLocks xmlns:a="http://schemas.openxmlformats.org/drawingml/2006/main" noGrp="1"/>
          </p:cNvSpPr>
          <p:nvPr/>
        </p:nvSpPr>
        <p:spPr>
          <a:xfrm xmlns:a="http://schemas.openxmlformats.org/drawingml/2006/main">
            <a:off x="8503920" y="1828800"/>
            <a:ext cx="1965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7191C"/>
                </a:solidFill>
                <a:latin typeface="Noto Sans Mono CJK KR"/>
                <a:ea typeface="Noto Sans Mono CJK KR"/>
                <a:cs typeface="Noto Sans Mono CJK KR"/>
              </a:rPr>
              <a:t>비용</a:t>
            </a:r>
            <a:endParaRPr sz="1200"/>
          </a:p>
        </p:txBody>
      </p:sp>
      <p:sp>
        <p:nvSpPr>
          <p:cNvPr id="15" name="STC-26-con-line">
            <a:extLst xmlns:a="http://schemas.openxmlformats.org/drawingml/2006/main">
              <a:ext uri="{FF2B5EF4-FFF2-40B4-BE49-F238E27FC236}">
                <a16:creationId xmlns:a16="http://schemas.microsoft.com/office/drawing/2014/main" id="{6B9F33DC-455B-43F8-B927-A5FEE8FB6298}"/>
              </a:ext>
            </a:extLst>
          </p:cNvPr>
          <p:cNvSpPr>
            <a:spLocks xmlns:a="http://schemas.openxmlformats.org/drawingml/2006/main" noGrp="1"/>
          </p:cNvSpPr>
          <p:nvPr/>
        </p:nvSpPr>
        <p:spPr>
          <a:xfrm xmlns:a="http://schemas.openxmlformats.org/drawingml/2006/main">
            <a:off x="1051560" y="2487168"/>
            <a:ext cx="9281160" cy="0"/>
          </a:xfrm>
          <a:prstGeom xmlns:a="http://schemas.openxmlformats.org/drawingml/2006/main" prst="line">
            <a:avLst/>
          </a:prstGeom>
          <a:noFill xmlns:a="http://schemas.openxmlformats.org/drawingml/2006/main"/>
          <a:ln xmlns:a="http://schemas.openxmlformats.org/drawingml/2006/main" w="25400">
            <a:solidFill>
              <a:srgbClr val="17191C"/>
            </a:solidFill>
            <a:prstDash val="solid"/>
            <a:tailEnd type="triangle"/>
          </a:ln>
        </p:spPr>
      </p:sp>
      <p:sp>
        <p:nvSpPr>
          <p:cNvPr id="16" name="STC-26-con-dot-0">
            <a:extLst xmlns:a="http://schemas.openxmlformats.org/drawingml/2006/main">
              <a:ext uri="{FF2B5EF4-FFF2-40B4-BE49-F238E27FC236}">
                <a16:creationId xmlns:a16="http://schemas.microsoft.com/office/drawing/2014/main" id="{18E9E8A9-F67A-4463-9047-709E74A28F43}"/>
              </a:ext>
            </a:extLst>
          </p:cNvPr>
          <p:cNvSpPr>
            <a:spLocks xmlns:a="http://schemas.openxmlformats.org/drawingml/2006/main" noGrp="1"/>
          </p:cNvSpPr>
          <p:nvPr/>
        </p:nvSpPr>
        <p:spPr>
          <a:xfrm xmlns:a="http://schemas.openxmlformats.org/drawingml/2006/main">
            <a:off x="1143000" y="2267712"/>
            <a:ext cx="438912" cy="438912"/>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7" name="STC-26-con-dot-1">
            <a:extLst xmlns:a="http://schemas.openxmlformats.org/drawingml/2006/main">
              <a:ext uri="{FF2B5EF4-FFF2-40B4-BE49-F238E27FC236}">
                <a16:creationId xmlns:a16="http://schemas.microsoft.com/office/drawing/2014/main" id="{47DAFBCE-CC13-44DF-BE97-33289CD5FCA2}"/>
              </a:ext>
            </a:extLst>
          </p:cNvPr>
          <p:cNvSpPr>
            <a:spLocks xmlns:a="http://schemas.openxmlformats.org/drawingml/2006/main" noGrp="1"/>
          </p:cNvSpPr>
          <p:nvPr/>
        </p:nvSpPr>
        <p:spPr>
          <a:xfrm xmlns:a="http://schemas.openxmlformats.org/drawingml/2006/main">
            <a:off x="3749040" y="2267712"/>
            <a:ext cx="438912" cy="438912"/>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8" name="STC-26-con-dot-2">
            <a:extLst xmlns:a="http://schemas.openxmlformats.org/drawingml/2006/main">
              <a:ext uri="{FF2B5EF4-FFF2-40B4-BE49-F238E27FC236}">
                <a16:creationId xmlns:a16="http://schemas.microsoft.com/office/drawing/2014/main" id="{DA396941-490E-4E1D-8092-36FE24F9034E}"/>
              </a:ext>
            </a:extLst>
          </p:cNvPr>
          <p:cNvSpPr>
            <a:spLocks xmlns:a="http://schemas.openxmlformats.org/drawingml/2006/main" noGrp="1"/>
          </p:cNvSpPr>
          <p:nvPr/>
        </p:nvSpPr>
        <p:spPr>
          <a:xfrm xmlns:a="http://schemas.openxmlformats.org/drawingml/2006/main">
            <a:off x="6400800" y="2267712"/>
            <a:ext cx="438912" cy="438912"/>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19" name="STC-26-con-dot-3">
            <a:extLst xmlns:a="http://schemas.openxmlformats.org/drawingml/2006/main">
              <a:ext uri="{FF2B5EF4-FFF2-40B4-BE49-F238E27FC236}">
                <a16:creationId xmlns:a16="http://schemas.microsoft.com/office/drawing/2014/main" id="{29D6F485-EAC6-4AD2-9692-7D423798FC2C}"/>
              </a:ext>
            </a:extLst>
          </p:cNvPr>
          <p:cNvSpPr>
            <a:spLocks xmlns:a="http://schemas.openxmlformats.org/drawingml/2006/main" noGrp="1"/>
          </p:cNvSpPr>
          <p:nvPr/>
        </p:nvSpPr>
        <p:spPr>
          <a:xfrm xmlns:a="http://schemas.openxmlformats.org/drawingml/2006/main">
            <a:off x="9144000" y="2267712"/>
            <a:ext cx="438912" cy="438912"/>
          </a:xfrm>
          <a:prstGeom xmlns:a="http://schemas.openxmlformats.org/drawingml/2006/main" prst="ellipse">
            <a:avLst/>
          </a:prstGeom>
          <a:solidFill xmlns:a="http://schemas.openxmlformats.org/drawingml/2006/main">
            <a:srgbClr val="17191C"/>
          </a:solidFill>
          <a:ln xmlns:a="http://schemas.openxmlformats.org/drawingml/2006/main" w="12700">
            <a:solidFill>
              <a:srgbClr val="F6F3EC"/>
            </a:solidFill>
            <a:prstDash val="solid"/>
          </a:ln>
        </p:spPr>
      </p:sp>
      <p:sp>
        <p:nvSpPr>
          <p:cNvPr id="20" name="STC-26-con-statement">
            <a:extLst xmlns:a="http://schemas.openxmlformats.org/drawingml/2006/main">
              <a:ext uri="{FF2B5EF4-FFF2-40B4-BE49-F238E27FC236}">
                <a16:creationId xmlns:a16="http://schemas.microsoft.com/office/drawing/2014/main" id="{9A706B15-F426-428F-BAE5-6F17F9D955EC}"/>
              </a:ext>
            </a:extLst>
          </p:cNvPr>
          <p:cNvSpPr>
            <a:spLocks xmlns:a="http://schemas.openxmlformats.org/drawingml/2006/main" noGrp="1"/>
          </p:cNvSpPr>
          <p:nvPr/>
        </p:nvSpPr>
        <p:spPr>
          <a:xfrm xmlns:a="http://schemas.openxmlformats.org/drawingml/2006/main">
            <a:off x="1024128" y="3163824"/>
            <a:ext cx="9829800" cy="1508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17191C"/>
                </a:solidFill>
                <a:latin typeface="Noto Serif CJK KR"/>
                <a:ea typeface="Noto Serif CJK KR"/>
                <a:cs typeface="Noto Serif CJK KR"/>
              </a:rPr>
              <a:t>'sleep-time</a:t>
            </a:r>
            <a:endParaRPr sz="2500"/>
          </a:p>
          <a:p xmlns:a="http://schemas.openxmlformats.org/drawingml/2006/main">
            <a:pPr marL="0" indent="0" algn="ctr">
              <a:buNone/>
            </a:pPr>
            <a:r>
              <a:rPr sz="2500" b="1">
                <a:solidFill>
                  <a:srgbClr val="17191C"/>
                </a:solidFill>
                <a:latin typeface="Noto Serif CJK KR"/>
                <a:ea typeface="Noto Serif CJK KR"/>
                <a:cs typeface="Noto Serif CJK KR"/>
              </a:rPr>
              <a:t>compute'은…</a:t>
            </a:r>
            <a:endParaRPr sz="2500"/>
          </a:p>
          <a:p xmlns:a="http://schemas.openxmlformats.org/drawingml/2006/main">
            <a:pPr marL="0" indent="0" algn="ctr">
              <a:buNone/>
            </a:pPr>
            <a:r>
              <a:rPr sz="2500" b="1">
                <a:solidFill>
                  <a:srgbClr val="17191C"/>
                </a:solidFill>
                <a:latin typeface="Noto Serif CJK KR"/>
                <a:ea typeface="Noto Serif CJK KR"/>
                <a:cs typeface="Noto Serif CJK KR"/>
              </a:rPr>
              <a:t>Memory fabric이 version을 보유하고</a:t>
            </a:r>
            <a:endParaRPr sz="2500"/>
          </a:p>
          <a:p xmlns:a="http://schemas.openxmlformats.org/drawingml/2006/main">
            <a:pPr marL="0" indent="0" algn="ctr">
              <a:buNone/>
            </a:pPr>
            <a:r>
              <a:rPr sz="2500" b="1">
                <a:solidFill>
                  <a:srgbClr val="17191C"/>
                </a:solidFill>
                <a:latin typeface="Noto Serif CJK KR"/>
                <a:ea typeface="Noto Serif CJK KR"/>
                <a:cs typeface="Noto Serif CJK KR"/>
              </a:rPr>
              <a:t>Control plane이 publish와 undo를 결정한다</a:t>
            </a:r>
            <a:endParaRPr sz="2500"/>
          </a:p>
        </p:txBody>
      </p:sp>
      <p:sp>
        <p:nvSpPr>
          <p:cNvPr id="21" name="STC-26-con-final">
            <a:extLst xmlns:a="http://schemas.openxmlformats.org/drawingml/2006/main">
              <a:ext uri="{FF2B5EF4-FFF2-40B4-BE49-F238E27FC236}">
                <a16:creationId xmlns:a16="http://schemas.microsoft.com/office/drawing/2014/main" id="{4ABA2515-68B2-48DF-B47D-A037DB747EDD}"/>
              </a:ext>
            </a:extLst>
          </p:cNvPr>
          <p:cNvSpPr>
            <a:spLocks xmlns:a="http://schemas.openxmlformats.org/drawingml/2006/main" noGrp="1"/>
          </p:cNvSpPr>
          <p:nvPr/>
        </p:nvSpPr>
        <p:spPr>
          <a:xfrm xmlns:a="http://schemas.openxmlformats.org/drawingml/2006/main">
            <a:off x="1965960" y="5175504"/>
            <a:ext cx="8229600" cy="502920"/>
          </a:xfrm>
          <a:prstGeom xmlns:a="http://schemas.openxmlformats.org/drawingml/2006/main" prst="rect">
            <a:avLst/>
          </a:prstGeom>
          <a:solidFill xmlns:a="http://schemas.openxmlformats.org/drawingml/2006/main">
            <a:srgbClr val="2F6B63"/>
          </a:solidFill>
          <a:ln xmlns:a="http://schemas.openxmlformats.org/drawingml/2006/main" w="12700">
            <a:solidFill>
              <a:srgbClr val="2F6B63"/>
            </a:solidFill>
            <a:prstDash val="solid"/>
          </a:ln>
        </p:spPr>
      </p:sp>
      <p:sp>
        <p:nvSpPr>
          <p:cNvPr id="22" name="STC-26-con-final-text">
            <a:extLst xmlns:a="http://schemas.openxmlformats.org/drawingml/2006/main">
              <a:ext uri="{FF2B5EF4-FFF2-40B4-BE49-F238E27FC236}">
                <a16:creationId xmlns:a16="http://schemas.microsoft.com/office/drawing/2014/main" id="{F8188F55-E068-4676-A7D0-1CF459C08858}"/>
              </a:ext>
            </a:extLst>
          </p:cNvPr>
          <p:cNvSpPr>
            <a:spLocks xmlns:a="http://schemas.openxmlformats.org/drawingml/2006/main" noGrp="1"/>
          </p:cNvSpPr>
          <p:nvPr/>
        </p:nvSpPr>
        <p:spPr>
          <a:xfrm xmlns:a="http://schemas.openxmlformats.org/drawingml/2006/main">
            <a:off x="2194560" y="5340096"/>
            <a:ext cx="77724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FFFFFF"/>
                </a:solidFill>
                <a:latin typeface="Noto Sans CJK KR"/>
                <a:ea typeface="Noto Sans CJK KR"/>
                <a:cs typeface="Noto Sans CJK KR"/>
              </a:rPr>
              <a:t>하나. 생물학에서 왔고 논증은 오지 않았다</a:t>
            </a:r>
            <a:endParaRPr sz="1700"/>
          </a:p>
        </p:txBody>
      </p:sp>
    </p:spTree>
    <p:extLst>
      <p:ext uri="{BB962C8B-B14F-4D97-AF65-F5344CB8AC3E}">
        <p14:creationId xmlns:p14="http://schemas.microsoft.com/office/powerpoint/2010/main" val="557935940"/>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ORIENTATION</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STC-006</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두 시간의 지도 — 여섯 걸음</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발표 지도</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이 발표의 구성 · study-kr-stc Part I–III 대응</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6</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배경</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세 층 · 4종 · 25분</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판별</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판별식 · 분류 · 20분</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계보</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E · W · Θ · 35분</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실험</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X1–X4 · 등급 · 15분</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판정</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경로별 답 · 20분</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한계</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반증 조건 · 5분</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앞 세 걸음이 질문의 형태를</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만들고, 뒤 세 걸음이 답한다</a:t>
            </a:r>
            <a:endParaRPr sz="1500"/>
          </a:p>
        </p:txBody>
      </p:sp>
    </p:spTree>
    <p:extLst>
      <p:ext uri="{BB962C8B-B14F-4D97-AF65-F5344CB8AC3E}">
        <p14:creationId xmlns:p14="http://schemas.microsoft.com/office/powerpoint/2010/main" val="931853972"/>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1-section">
            <a:extLst xmlns:a="http://schemas.openxmlformats.org/drawingml/2006/main">
              <a:ext uri="{FF2B5EF4-FFF2-40B4-BE49-F238E27FC236}">
                <a16:creationId xmlns:a16="http://schemas.microsoft.com/office/drawing/2014/main" id="{8BB9BD3F-B2A5-4809-9119-06656DAC1DCC}"/>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ORIENTATION</a:t>
            </a:r>
            <a:endParaRPr sz="950"/>
          </a:p>
        </p:txBody>
      </p:sp>
      <p:sp>
        <p:nvSpPr>
          <p:cNvPr id="3" name="STC-21-slide-id">
            <a:extLst xmlns:a="http://schemas.openxmlformats.org/drawingml/2006/main">
              <a:ext uri="{FF2B5EF4-FFF2-40B4-BE49-F238E27FC236}">
                <a16:creationId xmlns:a16="http://schemas.microsoft.com/office/drawing/2014/main" id="{E1BF2D37-A293-4FA6-A010-98F61D6C6436}"/>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STC-007</a:t>
            </a:r>
            <a:endParaRPr sz="950"/>
          </a:p>
        </p:txBody>
      </p:sp>
      <p:sp>
        <p:nvSpPr>
          <p:cNvPr id="4" name="STC-21-headline">
            <a:extLst xmlns:a="http://schemas.openxmlformats.org/drawingml/2006/main">
              <a:ext uri="{FF2B5EF4-FFF2-40B4-BE49-F238E27FC236}">
                <a16:creationId xmlns:a16="http://schemas.microsoft.com/office/drawing/2014/main" id="{C957F144-E07A-475B-800F-FA851D788889}"/>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청중과의 계약 — 무엇을 단정하고 무엇을 안 하는가</a:t>
            </a:r>
            <a:endParaRPr sz="3000"/>
          </a:p>
        </p:txBody>
      </p:sp>
      <p:sp>
        <p:nvSpPr>
          <p:cNvPr id="5" name="STC-21-status-label">
            <a:extLst xmlns:a="http://schemas.openxmlformats.org/drawingml/2006/main">
              <a:ext uri="{FF2B5EF4-FFF2-40B4-BE49-F238E27FC236}">
                <a16:creationId xmlns:a16="http://schemas.microsoft.com/office/drawing/2014/main" id="{A5CBE44C-A00A-4227-BC87-07F71E876613}"/>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계약</a:t>
            </a:r>
            <a:endParaRPr sz="1000"/>
          </a:p>
        </p:txBody>
      </p:sp>
      <p:sp>
        <p:nvSpPr>
          <p:cNvPr id="6" name="STC-21-status-rule">
            <a:extLst xmlns:a="http://schemas.openxmlformats.org/drawingml/2006/main">
              <a:ext uri="{FF2B5EF4-FFF2-40B4-BE49-F238E27FC236}">
                <a16:creationId xmlns:a16="http://schemas.microsoft.com/office/drawing/2014/main" id="{326874C7-2AC2-4EF3-A0AF-B337822D55FE}"/>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21-footer-rule">
            <a:extLst xmlns:a="http://schemas.openxmlformats.org/drawingml/2006/main">
              <a:ext uri="{FF2B5EF4-FFF2-40B4-BE49-F238E27FC236}">
                <a16:creationId xmlns:a16="http://schemas.microsoft.com/office/drawing/2014/main" id="{3FAEEB53-00B4-4B8F-9C15-D1D1E0AA47E5}"/>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1-source-footer">
            <a:extLst xmlns:a="http://schemas.openxmlformats.org/drawingml/2006/main">
              <a:ext uri="{FF2B5EF4-FFF2-40B4-BE49-F238E27FC236}">
                <a16:creationId xmlns:a16="http://schemas.microsoft.com/office/drawing/2014/main" id="{C15D3B91-4B19-418F-B75E-CDBAB63CBABC}"/>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ch24 §24.2 · 등급 계약(NM 승계)</a:t>
            </a:r>
            <a:endParaRPr sz="850"/>
          </a:p>
        </p:txBody>
      </p:sp>
      <p:sp>
        <p:nvSpPr>
          <p:cNvPr id="9" name="STC-21-page-number">
            <a:extLst xmlns:a="http://schemas.openxmlformats.org/drawingml/2006/main">
              <a:ext uri="{FF2B5EF4-FFF2-40B4-BE49-F238E27FC236}">
                <a16:creationId xmlns:a16="http://schemas.microsoft.com/office/drawing/2014/main" id="{6D8B17AB-5125-44EC-A34D-E5D99843272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7</a:t>
            </a:r>
            <a:endParaRPr sz="850"/>
          </a:p>
        </p:txBody>
      </p:sp>
      <p:sp>
        <p:nvSpPr>
          <p:cNvPr id="11" name="STC-21-tx-tag-0">
            <a:extLst xmlns:a="http://schemas.openxmlformats.org/drawingml/2006/main">
              <a:ext uri="{FF2B5EF4-FFF2-40B4-BE49-F238E27FC236}">
                <a16:creationId xmlns:a16="http://schemas.microsoft.com/office/drawing/2014/main" id="{C3BA3125-4962-4DAF-AB08-40AF0FFBE740}"/>
              </a:ext>
            </a:extLst>
          </p:cNvPr>
          <p:cNvSpPr>
            <a:spLocks xmlns:a="http://schemas.openxmlformats.org/drawingml/2006/main" noGrp="1"/>
          </p:cNvSpPr>
          <p:nvPr/>
        </p:nvSpPr>
        <p:spPr>
          <a:xfrm xmlns:a="http://schemas.openxmlformats.org/drawingml/2006/main">
            <a:off x="804672"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단정</a:t>
            </a:r>
            <a:endParaRPr sz="1100"/>
          </a:p>
        </p:txBody>
      </p:sp>
      <p:sp>
        <p:nvSpPr>
          <p:cNvPr id="12" name="STC-21-tx-node-0">
            <a:extLst xmlns:a="http://schemas.openxmlformats.org/drawingml/2006/main">
              <a:ext uri="{FF2B5EF4-FFF2-40B4-BE49-F238E27FC236}">
                <a16:creationId xmlns:a16="http://schemas.microsoft.com/office/drawing/2014/main" id="{53BB23E7-533E-4499-8184-5B3E4A7EFDA2}"/>
              </a:ext>
            </a:extLst>
          </p:cNvPr>
          <p:cNvSpPr>
            <a:spLocks xmlns:a="http://schemas.openxmlformats.org/drawingml/2006/main" noGrp="1"/>
          </p:cNvSpPr>
          <p:nvPr/>
        </p:nvSpPr>
        <p:spPr>
          <a:xfrm xmlns:a="http://schemas.openxmlformats.org/drawingml/2006/main">
            <a:off x="804672" y="2084832"/>
            <a:ext cx="1417320" cy="1078992"/>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3" name="STC-21-tx-body-0">
            <a:extLst xmlns:a="http://schemas.openxmlformats.org/drawingml/2006/main">
              <a:ext uri="{FF2B5EF4-FFF2-40B4-BE49-F238E27FC236}">
                <a16:creationId xmlns:a16="http://schemas.microsoft.com/office/drawing/2014/main" id="{FBD336B1-FC65-4C91-B49E-E58EE455FC4E}"/>
              </a:ext>
            </a:extLst>
          </p:cNvPr>
          <p:cNvSpPr>
            <a:spLocks xmlns:a="http://schemas.openxmlformats.org/drawingml/2006/main" noGrp="1"/>
          </p:cNvSpPr>
          <p:nvPr/>
        </p:nvSpPr>
        <p:spPr>
          <a:xfrm xmlns:a="http://schemas.openxmlformats.org/drawingml/2006/main">
            <a:off x="914400"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17191C"/>
                </a:solidFill>
                <a:latin typeface="Noto Sans CJK KR"/>
                <a:ea typeface="Noto Sans CJK KR"/>
                <a:cs typeface="Noto Sans CJK KR"/>
              </a:rPr>
              <a:t>부재·구조·식의</a:t>
            </a:r>
            <a:endParaRPr sz="1500"/>
          </a:p>
          <a:p xmlns:a="http://schemas.openxmlformats.org/drawingml/2006/main">
            <a:pPr marL="0" indent="0" algn="ctr">
              <a:buNone/>
            </a:pPr>
            <a:r>
              <a:rPr sz="1500" b="1">
                <a:solidFill>
                  <a:srgbClr val="17191C"/>
                </a:solidFill>
                <a:latin typeface="Noto Sans CJK KR"/>
                <a:ea typeface="Noto Sans CJK KR"/>
                <a:cs typeface="Noto Sans CJK KR"/>
              </a:rPr>
              <a:t>성질</a:t>
            </a:r>
            <a:endParaRPr sz="1500"/>
          </a:p>
        </p:txBody>
      </p:sp>
      <p:sp>
        <p:nvSpPr>
          <p:cNvPr id="14" name="STC-21-tx-arrow-0">
            <a:extLst xmlns:a="http://schemas.openxmlformats.org/drawingml/2006/main">
              <a:ext uri="{FF2B5EF4-FFF2-40B4-BE49-F238E27FC236}">
                <a16:creationId xmlns:a16="http://schemas.microsoft.com/office/drawing/2014/main" id="{25A11E43-C965-41E7-9C14-52E8EA3401F7}"/>
              </a:ext>
            </a:extLst>
          </p:cNvPr>
          <p:cNvSpPr>
            <a:spLocks xmlns:a="http://schemas.openxmlformats.org/drawingml/2006/main" noGrp="1"/>
          </p:cNvSpPr>
          <p:nvPr/>
        </p:nvSpPr>
        <p:spPr>
          <a:xfrm xmlns:a="http://schemas.openxmlformats.org/drawingml/2006/main">
            <a:off x="2286000" y="2615184"/>
            <a:ext cx="749808"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5" name="STC-21-tx-tag-1">
            <a:extLst xmlns:a="http://schemas.openxmlformats.org/drawingml/2006/main">
              <a:ext uri="{FF2B5EF4-FFF2-40B4-BE49-F238E27FC236}">
                <a16:creationId xmlns:a16="http://schemas.microsoft.com/office/drawing/2014/main" id="{404B7313-C00F-4D29-A5FA-939F36A1526B}"/>
              </a:ext>
            </a:extLst>
          </p:cNvPr>
          <p:cNvSpPr>
            <a:spLocks xmlns:a="http://schemas.openxmlformats.org/drawingml/2006/main" noGrp="1"/>
          </p:cNvSpPr>
          <p:nvPr/>
        </p:nvSpPr>
        <p:spPr>
          <a:xfrm xmlns:a="http://schemas.openxmlformats.org/drawingml/2006/main">
            <a:off x="3127248"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59616A"/>
                </a:solidFill>
                <a:latin typeface="Noto Sans Mono CJK KR"/>
                <a:ea typeface="Noto Sans Mono CJK KR"/>
                <a:cs typeface="Noto Sans Mono CJK KR"/>
              </a:rPr>
              <a:t>단정</a:t>
            </a:r>
            <a:endParaRPr sz="1100"/>
          </a:p>
        </p:txBody>
      </p:sp>
      <p:sp>
        <p:nvSpPr>
          <p:cNvPr id="16" name="STC-21-tx-node-1">
            <a:extLst xmlns:a="http://schemas.openxmlformats.org/drawingml/2006/main">
              <a:ext uri="{FF2B5EF4-FFF2-40B4-BE49-F238E27FC236}">
                <a16:creationId xmlns:a16="http://schemas.microsoft.com/office/drawing/2014/main" id="{7DFAFD63-2A6A-400B-AD95-61F6E85244B4}"/>
              </a:ext>
            </a:extLst>
          </p:cNvPr>
          <p:cNvSpPr>
            <a:spLocks xmlns:a="http://schemas.openxmlformats.org/drawingml/2006/main" noGrp="1"/>
          </p:cNvSpPr>
          <p:nvPr/>
        </p:nvSpPr>
        <p:spPr>
          <a:xfrm xmlns:a="http://schemas.openxmlformats.org/drawingml/2006/main">
            <a:off x="3127248" y="2084832"/>
            <a:ext cx="1417320" cy="1078992"/>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17" name="STC-21-tx-body-1">
            <a:extLst xmlns:a="http://schemas.openxmlformats.org/drawingml/2006/main">
              <a:ext uri="{FF2B5EF4-FFF2-40B4-BE49-F238E27FC236}">
                <a16:creationId xmlns:a16="http://schemas.microsoft.com/office/drawing/2014/main" id="{F8BA9679-919C-4358-AAF3-27439FE7E417}"/>
              </a:ext>
            </a:extLst>
          </p:cNvPr>
          <p:cNvSpPr>
            <a:spLocks xmlns:a="http://schemas.openxmlformats.org/drawingml/2006/main" noGrp="1"/>
          </p:cNvSpPr>
          <p:nvPr/>
        </p:nvSpPr>
        <p:spPr>
          <a:xfrm xmlns:a="http://schemas.openxmlformats.org/drawingml/2006/main">
            <a:off x="3236976"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50" b="1">
                <a:solidFill>
                  <a:srgbClr val="17191C"/>
                </a:solidFill>
                <a:latin typeface="Noto Sans CJK KR"/>
                <a:ea typeface="Noto Sans CJK KR"/>
                <a:cs typeface="Noto Sans CJK KR"/>
              </a:rPr>
              <a:t>자릿수와</a:t>
            </a:r>
            <a:endParaRPr sz="1550"/>
          </a:p>
          <a:p xmlns:a="http://schemas.openxmlformats.org/drawingml/2006/main">
            <a:pPr marL="0" indent="0" algn="ctr">
              <a:buNone/>
            </a:pPr>
            <a:r>
              <a:rPr sz="1550" b="1">
                <a:solidFill>
                  <a:srgbClr val="17191C"/>
                </a:solidFill>
                <a:latin typeface="Noto Sans CJK KR"/>
                <a:ea typeface="Noto Sans CJK KR"/>
                <a:cs typeface="Noto Sans CJK KR"/>
              </a:rPr>
              <a:t>순서</a:t>
            </a:r>
            <a:endParaRPr sz="1550"/>
          </a:p>
        </p:txBody>
      </p:sp>
      <p:sp>
        <p:nvSpPr>
          <p:cNvPr id="18" name="STC-21-tx-arrow-1">
            <a:extLst xmlns:a="http://schemas.openxmlformats.org/drawingml/2006/main">
              <a:ext uri="{FF2B5EF4-FFF2-40B4-BE49-F238E27FC236}">
                <a16:creationId xmlns:a16="http://schemas.microsoft.com/office/drawing/2014/main" id="{8FF9AF62-92FB-4B27-B05B-E439FC524C80}"/>
              </a:ext>
            </a:extLst>
          </p:cNvPr>
          <p:cNvSpPr>
            <a:spLocks xmlns:a="http://schemas.openxmlformats.org/drawingml/2006/main" noGrp="1"/>
          </p:cNvSpPr>
          <p:nvPr/>
        </p:nvSpPr>
        <p:spPr>
          <a:xfrm xmlns:a="http://schemas.openxmlformats.org/drawingml/2006/main">
            <a:off x="4608576" y="2615184"/>
            <a:ext cx="749808"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9" name="STC-21-tx-tag-2">
            <a:extLst xmlns:a="http://schemas.openxmlformats.org/drawingml/2006/main">
              <a:ext uri="{FF2B5EF4-FFF2-40B4-BE49-F238E27FC236}">
                <a16:creationId xmlns:a16="http://schemas.microsoft.com/office/drawing/2014/main" id="{DEB7B59F-ADAD-468C-A230-15D1996782BC}"/>
              </a:ext>
            </a:extLst>
          </p:cNvPr>
          <p:cNvSpPr>
            <a:spLocks xmlns:a="http://schemas.openxmlformats.org/drawingml/2006/main" noGrp="1"/>
          </p:cNvSpPr>
          <p:nvPr/>
        </p:nvSpPr>
        <p:spPr>
          <a:xfrm xmlns:a="http://schemas.openxmlformats.org/drawingml/2006/main">
            <a:off x="5449824"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방향</a:t>
            </a:r>
            <a:endParaRPr sz="1100"/>
          </a:p>
        </p:txBody>
      </p:sp>
      <p:sp>
        <p:nvSpPr>
          <p:cNvPr id="20" name="STC-21-tx-node-2">
            <a:extLst xmlns:a="http://schemas.openxmlformats.org/drawingml/2006/main">
              <a:ext uri="{FF2B5EF4-FFF2-40B4-BE49-F238E27FC236}">
                <a16:creationId xmlns:a16="http://schemas.microsoft.com/office/drawing/2014/main" id="{CC1983C5-B1FB-4342-8507-E5E9BD1F53CD}"/>
              </a:ext>
            </a:extLst>
          </p:cNvPr>
          <p:cNvSpPr>
            <a:spLocks xmlns:a="http://schemas.openxmlformats.org/drawingml/2006/main" noGrp="1"/>
          </p:cNvSpPr>
          <p:nvPr/>
        </p:nvSpPr>
        <p:spPr>
          <a:xfrm xmlns:a="http://schemas.openxmlformats.org/drawingml/2006/main">
            <a:off x="5449824" y="2084832"/>
            <a:ext cx="1417320" cy="1078992"/>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21-tx-body-2">
            <a:extLst xmlns:a="http://schemas.openxmlformats.org/drawingml/2006/main">
              <a:ext uri="{FF2B5EF4-FFF2-40B4-BE49-F238E27FC236}">
                <a16:creationId xmlns:a16="http://schemas.microsoft.com/office/drawing/2014/main" id="{7BE056EE-C08A-4D3E-B2E5-A3C85198E381}"/>
              </a:ext>
            </a:extLst>
          </p:cNvPr>
          <p:cNvSpPr>
            <a:spLocks xmlns:a="http://schemas.openxmlformats.org/drawingml/2006/main" noGrp="1"/>
          </p:cNvSpPr>
          <p:nvPr/>
        </p:nvSpPr>
        <p:spPr>
          <a:xfrm xmlns:a="http://schemas.openxmlformats.org/drawingml/2006/main">
            <a:off x="5559552"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50" b="1">
                <a:solidFill>
                  <a:srgbClr val="17191C"/>
                </a:solidFill>
                <a:latin typeface="Noto Sans CJK KR"/>
                <a:ea typeface="Noto Sans CJK KR"/>
                <a:cs typeface="Noto Sans CJK KR"/>
              </a:rPr>
              <a:t>회계의</a:t>
            </a:r>
            <a:endParaRPr sz="1550"/>
          </a:p>
          <a:p xmlns:a="http://schemas.openxmlformats.org/drawingml/2006/main">
            <a:pPr marL="0" indent="0" algn="ctr">
              <a:buNone/>
            </a:pPr>
            <a:r>
              <a:rPr sz="1550" b="1">
                <a:solidFill>
                  <a:srgbClr val="17191C"/>
                </a:solidFill>
                <a:latin typeface="Noto Sans CJK KR"/>
                <a:ea typeface="Noto Sans CJK KR"/>
                <a:cs typeface="Noto Sans CJK KR"/>
              </a:rPr>
              <a:t>절대치</a:t>
            </a:r>
            <a:endParaRPr sz="1550"/>
          </a:p>
        </p:txBody>
      </p:sp>
      <p:sp>
        <p:nvSpPr>
          <p:cNvPr id="22" name="STC-21-tx-arrow-2">
            <a:extLst xmlns:a="http://schemas.openxmlformats.org/drawingml/2006/main">
              <a:ext uri="{FF2B5EF4-FFF2-40B4-BE49-F238E27FC236}">
                <a16:creationId xmlns:a16="http://schemas.microsoft.com/office/drawing/2014/main" id="{D272B464-9913-4524-832C-F33C0DD693E5}"/>
              </a:ext>
            </a:extLst>
          </p:cNvPr>
          <p:cNvSpPr>
            <a:spLocks xmlns:a="http://schemas.openxmlformats.org/drawingml/2006/main" noGrp="1"/>
          </p:cNvSpPr>
          <p:nvPr/>
        </p:nvSpPr>
        <p:spPr>
          <a:xfrm xmlns:a="http://schemas.openxmlformats.org/drawingml/2006/main">
            <a:off x="6931152" y="2615184"/>
            <a:ext cx="749808"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23" name="STC-21-tx-tag-3">
            <a:extLst xmlns:a="http://schemas.openxmlformats.org/drawingml/2006/main">
              <a:ext uri="{FF2B5EF4-FFF2-40B4-BE49-F238E27FC236}">
                <a16:creationId xmlns:a16="http://schemas.microsoft.com/office/drawing/2014/main" id="{C1F54617-09E9-4FEC-BA52-DB7D26800FFD}"/>
              </a:ext>
            </a:extLst>
          </p:cNvPr>
          <p:cNvSpPr>
            <a:spLocks xmlns:a="http://schemas.openxmlformats.org/drawingml/2006/main" noGrp="1"/>
          </p:cNvSpPr>
          <p:nvPr/>
        </p:nvSpPr>
        <p:spPr>
          <a:xfrm xmlns:a="http://schemas.openxmlformats.org/drawingml/2006/main">
            <a:off x="7772400"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부호</a:t>
            </a:r>
            <a:endParaRPr sz="1100"/>
          </a:p>
        </p:txBody>
      </p:sp>
      <p:sp>
        <p:nvSpPr>
          <p:cNvPr id="24" name="STC-21-tx-node-3">
            <a:extLst xmlns:a="http://schemas.openxmlformats.org/drawingml/2006/main">
              <a:ext uri="{FF2B5EF4-FFF2-40B4-BE49-F238E27FC236}">
                <a16:creationId xmlns:a16="http://schemas.microsoft.com/office/drawing/2014/main" id="{5205FABA-9309-4D1E-B735-69D21F63ACA0}"/>
              </a:ext>
            </a:extLst>
          </p:cNvPr>
          <p:cNvSpPr>
            <a:spLocks xmlns:a="http://schemas.openxmlformats.org/drawingml/2006/main" noGrp="1"/>
          </p:cNvSpPr>
          <p:nvPr/>
        </p:nvSpPr>
        <p:spPr>
          <a:xfrm xmlns:a="http://schemas.openxmlformats.org/drawingml/2006/main">
            <a:off x="7772400" y="2084832"/>
            <a:ext cx="1417320" cy="1078992"/>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25" name="STC-21-tx-body-3">
            <a:extLst xmlns:a="http://schemas.openxmlformats.org/drawingml/2006/main">
              <a:ext uri="{FF2B5EF4-FFF2-40B4-BE49-F238E27FC236}">
                <a16:creationId xmlns:a16="http://schemas.microsoft.com/office/drawing/2014/main" id="{4CEBAF60-4A96-421B-AB1C-4EFE7E60FC3B}"/>
              </a:ext>
            </a:extLst>
          </p:cNvPr>
          <p:cNvSpPr>
            <a:spLocks xmlns:a="http://schemas.openxmlformats.org/drawingml/2006/main" noGrp="1"/>
          </p:cNvSpPr>
          <p:nvPr/>
        </p:nvSpPr>
        <p:spPr>
          <a:xfrm xmlns:a="http://schemas.openxmlformats.org/drawingml/2006/main">
            <a:off x="7882128"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50" b="1">
                <a:solidFill>
                  <a:srgbClr val="17191C"/>
                </a:solidFill>
                <a:latin typeface="Noto Sans CJK KR"/>
                <a:ea typeface="Noto Sans CJK KR"/>
                <a:cs typeface="Noto Sans CJK KR"/>
              </a:rPr>
              <a:t>최소모형의</a:t>
            </a:r>
            <a:endParaRPr sz="1550"/>
          </a:p>
          <a:p xmlns:a="http://schemas.openxmlformats.org/drawingml/2006/main">
            <a:pPr marL="0" indent="0" algn="ctr">
              <a:buNone/>
            </a:pPr>
            <a:r>
              <a:rPr sz="1550" b="1">
                <a:solidFill>
                  <a:srgbClr val="17191C"/>
                </a:solidFill>
                <a:latin typeface="Noto Sans CJK KR"/>
                <a:ea typeface="Noto Sans CJK KR"/>
                <a:cs typeface="Noto Sans CJK KR"/>
              </a:rPr>
              <a:t>결과</a:t>
            </a:r>
            <a:endParaRPr sz="1550"/>
          </a:p>
        </p:txBody>
      </p:sp>
      <p:sp>
        <p:nvSpPr>
          <p:cNvPr id="26" name="STC-21-tx-arrow-3">
            <a:extLst xmlns:a="http://schemas.openxmlformats.org/drawingml/2006/main">
              <a:ext uri="{FF2B5EF4-FFF2-40B4-BE49-F238E27FC236}">
                <a16:creationId xmlns:a16="http://schemas.microsoft.com/office/drawing/2014/main" id="{7B34D62B-E2F2-4A17-8604-CA2DCE342B6E}"/>
              </a:ext>
            </a:extLst>
          </p:cNvPr>
          <p:cNvSpPr>
            <a:spLocks xmlns:a="http://schemas.openxmlformats.org/drawingml/2006/main" noGrp="1"/>
          </p:cNvSpPr>
          <p:nvPr/>
        </p:nvSpPr>
        <p:spPr>
          <a:xfrm xmlns:a="http://schemas.openxmlformats.org/drawingml/2006/main">
            <a:off x="9253728" y="2615184"/>
            <a:ext cx="749808"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27" name="STC-21-tx-tag-4">
            <a:extLst xmlns:a="http://schemas.openxmlformats.org/drawingml/2006/main">
              <a:ext uri="{FF2B5EF4-FFF2-40B4-BE49-F238E27FC236}">
                <a16:creationId xmlns:a16="http://schemas.microsoft.com/office/drawing/2014/main" id="{42476528-B1DE-4070-A3CB-36583B42833C}"/>
              </a:ext>
            </a:extLst>
          </p:cNvPr>
          <p:cNvSpPr>
            <a:spLocks xmlns:a="http://schemas.openxmlformats.org/drawingml/2006/main" noGrp="1"/>
          </p:cNvSpPr>
          <p:nvPr/>
        </p:nvSpPr>
        <p:spPr>
          <a:xfrm xmlns:a="http://schemas.openxmlformats.org/drawingml/2006/main">
            <a:off x="10094976"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17191C"/>
                </a:solidFill>
                <a:latin typeface="Noto Sans Mono CJK KR"/>
                <a:ea typeface="Noto Sans Mono CJK KR"/>
                <a:cs typeface="Noto Sans Mono CJK KR"/>
              </a:rPr>
              <a:t>금지</a:t>
            </a:r>
            <a:endParaRPr sz="1100"/>
          </a:p>
        </p:txBody>
      </p:sp>
      <p:sp>
        <p:nvSpPr>
          <p:cNvPr id="28" name="STC-21-tx-node-4">
            <a:extLst xmlns:a="http://schemas.openxmlformats.org/drawingml/2006/main">
              <a:ext uri="{FF2B5EF4-FFF2-40B4-BE49-F238E27FC236}">
                <a16:creationId xmlns:a16="http://schemas.microsoft.com/office/drawing/2014/main" id="{A4F01ABE-5242-4A17-A30A-6B279F1E7991}"/>
              </a:ext>
            </a:extLst>
          </p:cNvPr>
          <p:cNvSpPr>
            <a:spLocks xmlns:a="http://schemas.openxmlformats.org/drawingml/2006/main" noGrp="1"/>
          </p:cNvSpPr>
          <p:nvPr/>
        </p:nvSpPr>
        <p:spPr>
          <a:xfrm xmlns:a="http://schemas.openxmlformats.org/drawingml/2006/main">
            <a:off x="10094976" y="2084832"/>
            <a:ext cx="1417320" cy="107899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9" name="STC-21-tx-body-4">
            <a:extLst xmlns:a="http://schemas.openxmlformats.org/drawingml/2006/main">
              <a:ext uri="{FF2B5EF4-FFF2-40B4-BE49-F238E27FC236}">
                <a16:creationId xmlns:a16="http://schemas.microsoft.com/office/drawing/2014/main" id="{3DBD0041-3D66-45D1-8D69-0DCBD9DC23B2}"/>
              </a:ext>
            </a:extLst>
          </p:cNvPr>
          <p:cNvSpPr>
            <a:spLocks xmlns:a="http://schemas.openxmlformats.org/drawingml/2006/main" noGrp="1"/>
          </p:cNvSpPr>
          <p:nvPr/>
        </p:nvSpPr>
        <p:spPr>
          <a:xfrm xmlns:a="http://schemas.openxmlformats.org/drawingml/2006/main">
            <a:off x="10204704"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50" b="1">
                <a:solidFill>
                  <a:srgbClr val="FFFFFF"/>
                </a:solidFill>
                <a:latin typeface="Noto Sans CJK KR"/>
                <a:ea typeface="Noto Sans CJK KR"/>
                <a:cs typeface="Noto Sans CJK KR"/>
              </a:rPr>
              <a:t>지연·처리량·전력</a:t>
            </a:r>
            <a:endParaRPr sz="1550"/>
          </a:p>
          <a:p xmlns:a="http://schemas.openxmlformats.org/drawingml/2006/main">
            <a:pPr marL="0" indent="0" algn="ctr">
              <a:buNone/>
            </a:pPr>
            <a:r>
              <a:rPr sz="1550" b="1">
                <a:solidFill>
                  <a:srgbClr val="FFFFFF"/>
                </a:solidFill>
                <a:latin typeface="Noto Sans CJK KR"/>
                <a:ea typeface="Noto Sans CJK KR"/>
                <a:cs typeface="Noto Sans CJK KR"/>
              </a:rPr>
              <a:t>MANIFEST</a:t>
            </a:r>
            <a:endParaRPr sz="1550"/>
          </a:p>
        </p:txBody>
      </p:sp>
      <p:sp>
        <p:nvSpPr>
          <p:cNvPr id="30" name="STC-21-tx-reject">
            <a:extLst xmlns:a="http://schemas.openxmlformats.org/drawingml/2006/main">
              <a:ext uri="{FF2B5EF4-FFF2-40B4-BE49-F238E27FC236}">
                <a16:creationId xmlns:a16="http://schemas.microsoft.com/office/drawing/2014/main" id="{0678AAE5-7BE6-48F0-9FBD-E39E3F6ACC79}"/>
              </a:ext>
            </a:extLst>
          </p:cNvPr>
          <p:cNvSpPr>
            <a:spLocks xmlns:a="http://schemas.openxmlformats.org/drawingml/2006/main" noGrp="1"/>
          </p:cNvSpPr>
          <p:nvPr/>
        </p:nvSpPr>
        <p:spPr>
          <a:xfrm xmlns:a="http://schemas.openxmlformats.org/drawingml/2006/main" flipH="1" flipV="0">
            <a:off x="5074920" y="3264408"/>
            <a:ext cx="3108960" cy="1124712"/>
          </a:xfrm>
          <a:prstGeom xmlns:a="http://schemas.openxmlformats.org/drawingml/2006/main" prst="line">
            <a:avLst/>
          </a:prstGeom>
          <a:noFill xmlns:a="http://schemas.openxmlformats.org/drawingml/2006/main"/>
          <a:ln xmlns:a="http://schemas.openxmlformats.org/drawingml/2006/main" w="17780">
            <a:solidFill>
              <a:srgbClr val="9A442D"/>
            </a:solidFill>
            <a:prstDash val="solid"/>
            <a:tailEnd type="triangle"/>
          </a:ln>
        </p:spPr>
      </p:sp>
      <p:sp>
        <p:nvSpPr>
          <p:cNvPr id="31" name="STC-21-tx-reject-label">
            <a:extLst xmlns:a="http://schemas.openxmlformats.org/drawingml/2006/main">
              <a:ext uri="{FF2B5EF4-FFF2-40B4-BE49-F238E27FC236}">
                <a16:creationId xmlns:a16="http://schemas.microsoft.com/office/drawing/2014/main" id="{7B04337F-AFB0-490A-926B-0796C30487B5}"/>
              </a:ext>
            </a:extLst>
          </p:cNvPr>
          <p:cNvSpPr>
            <a:spLocks xmlns:a="http://schemas.openxmlformats.org/drawingml/2006/main" noGrp="1"/>
          </p:cNvSpPr>
          <p:nvPr/>
        </p:nvSpPr>
        <p:spPr>
          <a:xfrm xmlns:a="http://schemas.openxmlformats.org/drawingml/2006/main">
            <a:off x="5047488" y="4480560"/>
            <a:ext cx="21031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단정</a:t>
            </a:r>
            <a:endParaRPr sz="1050"/>
          </a:p>
        </p:txBody>
      </p:sp>
      <p:sp>
        <p:nvSpPr>
          <p:cNvPr id="32" name="STC-21-tx-invariants">
            <a:extLst xmlns:a="http://schemas.openxmlformats.org/drawingml/2006/main">
              <a:ext uri="{FF2B5EF4-FFF2-40B4-BE49-F238E27FC236}">
                <a16:creationId xmlns:a16="http://schemas.microsoft.com/office/drawing/2014/main" id="{7F4A737E-D286-4BFA-BE0B-5DD5A6D248C8}"/>
              </a:ext>
            </a:extLst>
          </p:cNvPr>
          <p:cNvSpPr>
            <a:spLocks xmlns:a="http://schemas.openxmlformats.org/drawingml/2006/main" noGrp="1"/>
          </p:cNvSpPr>
          <p:nvPr/>
        </p:nvSpPr>
        <p:spPr>
          <a:xfrm xmlns:a="http://schemas.openxmlformats.org/drawingml/2006/main">
            <a:off x="1353312" y="4919472"/>
            <a:ext cx="9372600" cy="69494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33" name="STC-21-tx-invariants-text">
            <a:extLst xmlns:a="http://schemas.openxmlformats.org/drawingml/2006/main">
              <a:ext uri="{FF2B5EF4-FFF2-40B4-BE49-F238E27FC236}">
                <a16:creationId xmlns:a16="http://schemas.microsoft.com/office/drawing/2014/main" id="{D8913978-F4E0-4671-BF3B-EB53BDBED854}"/>
              </a:ext>
            </a:extLst>
          </p:cNvPr>
          <p:cNvSpPr>
            <a:spLocks xmlns:a="http://schemas.openxmlformats.org/drawingml/2006/main" noGrp="1"/>
          </p:cNvSpPr>
          <p:nvPr/>
        </p:nvSpPr>
        <p:spPr>
          <a:xfrm xmlns:a="http://schemas.openxmlformats.org/drawingml/2006/main">
            <a:off x="1645920" y="5148072"/>
            <a:ext cx="87965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17191C"/>
                </a:solidFill>
                <a:latin typeface="Noto Sans Mono CJK KR"/>
                <a:ea typeface="Noto Sans Mono CJK KR"/>
                <a:cs typeface="Noto Sans Mono CJK KR"/>
              </a:rPr>
              <a:t>비율·순서·자릿수·crossover는 단정한다. 절대치는 하한 또는 방향성으로만 쓴다</a:t>
            </a:r>
            <a:endParaRPr sz="1200"/>
          </a:p>
        </p:txBody>
      </p:sp>
      <p:sp>
        <p:nvSpPr>
          <p:cNvPr id="34" name="STC-21-tx-bottom">
            <a:extLst xmlns:a="http://schemas.openxmlformats.org/drawingml/2006/main">
              <a:ext uri="{FF2B5EF4-FFF2-40B4-BE49-F238E27FC236}">
                <a16:creationId xmlns:a16="http://schemas.microsoft.com/office/drawing/2014/main" id="{D70E8476-0CFE-4413-9553-0E102D1AAD5E}"/>
              </a:ext>
            </a:extLst>
          </p:cNvPr>
          <p:cNvSpPr>
            <a:spLocks xmlns:a="http://schemas.openxmlformats.org/drawingml/2006/main" noGrp="1"/>
          </p:cNvSpPr>
          <p:nvPr/>
        </p:nvSpPr>
        <p:spPr>
          <a:xfrm xmlns:a="http://schemas.openxmlformats.org/drawingml/2006/main">
            <a:off x="1828800" y="5788152"/>
            <a:ext cx="85496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600">
                <a:solidFill>
                  <a:srgbClr val="2F6B63"/>
                </a:solidFill>
                <a:latin typeface="Noto Sans CJK KR"/>
                <a:ea typeface="Noto Sans CJK KR"/>
                <a:cs typeface="Noto Sans CJK KR"/>
              </a:rPr>
              <a:t>비율·순서·자릿수·crossover는 단정한다. 절대치는 하한 또는 방향성으로만 쓴다</a:t>
            </a:r>
            <a:endParaRPr sz="1600"/>
          </a:p>
        </p:txBody>
      </p:sp>
    </p:spTree>
    <p:extLst>
      <p:ext uri="{BB962C8B-B14F-4D97-AF65-F5344CB8AC3E}">
        <p14:creationId xmlns:p14="http://schemas.microsoft.com/office/powerpoint/2010/main" val="1478967083"/>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2-section">
            <a:extLst xmlns:a="http://schemas.openxmlformats.org/drawingml/2006/main">
              <a:ext uri="{FF2B5EF4-FFF2-40B4-BE49-F238E27FC236}">
                <a16:creationId xmlns:a16="http://schemas.microsoft.com/office/drawing/2014/main" id="{B3AE04B8-8245-44A2-8AD4-9A767BB156F4}"/>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ORIENTATION</a:t>
            </a:r>
            <a:endParaRPr sz="950"/>
          </a:p>
        </p:txBody>
      </p:sp>
      <p:sp>
        <p:nvSpPr>
          <p:cNvPr id="3" name="STC-02-slide-id">
            <a:extLst xmlns:a="http://schemas.openxmlformats.org/drawingml/2006/main">
              <a:ext uri="{FF2B5EF4-FFF2-40B4-BE49-F238E27FC236}">
                <a16:creationId xmlns:a16="http://schemas.microsoft.com/office/drawing/2014/main" id="{BE855689-E691-4D5A-A176-FA0CC6C672AC}"/>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STC-008</a:t>
            </a:r>
            <a:endParaRPr sz="950"/>
          </a:p>
        </p:txBody>
      </p:sp>
      <p:sp>
        <p:nvSpPr>
          <p:cNvPr id="4" name="STC-02-headline">
            <a:extLst xmlns:a="http://schemas.openxmlformats.org/drawingml/2006/main">
              <a:ext uri="{FF2B5EF4-FFF2-40B4-BE49-F238E27FC236}">
                <a16:creationId xmlns:a16="http://schemas.microsoft.com/office/drawing/2014/main" id="{9F4BA35A-C084-4820-A869-3F58338107FA}"/>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앞 모노그래프에서 무엇을 그대로 가져오는가</a:t>
            </a:r>
            <a:endParaRPr sz="3000"/>
          </a:p>
        </p:txBody>
      </p:sp>
      <p:sp>
        <p:nvSpPr>
          <p:cNvPr id="5" name="STC-02-status-label">
            <a:extLst xmlns:a="http://schemas.openxmlformats.org/drawingml/2006/main">
              <a:ext uri="{FF2B5EF4-FFF2-40B4-BE49-F238E27FC236}">
                <a16:creationId xmlns:a16="http://schemas.microsoft.com/office/drawing/2014/main" id="{1B872D46-D4B1-425B-A362-8822456881AC}"/>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승계</a:t>
            </a:r>
            <a:endParaRPr sz="1000"/>
          </a:p>
        </p:txBody>
      </p:sp>
      <p:sp>
        <p:nvSpPr>
          <p:cNvPr id="6" name="STC-02-status-rule">
            <a:extLst xmlns:a="http://schemas.openxmlformats.org/drawingml/2006/main">
              <a:ext uri="{FF2B5EF4-FFF2-40B4-BE49-F238E27FC236}">
                <a16:creationId xmlns:a16="http://schemas.microsoft.com/office/drawing/2014/main" id="{AAA2BDB5-9AB1-43CC-81F2-726033A947FE}"/>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2-footer-rule">
            <a:extLst xmlns:a="http://schemas.openxmlformats.org/drawingml/2006/main">
              <a:ext uri="{FF2B5EF4-FFF2-40B4-BE49-F238E27FC236}">
                <a16:creationId xmlns:a16="http://schemas.microsoft.com/office/drawing/2014/main" id="{90EAC1C3-0B28-440F-82C3-430CFCB7A87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2-source-footer">
            <a:extLst xmlns:a="http://schemas.openxmlformats.org/drawingml/2006/main">
              <a:ext uri="{FF2B5EF4-FFF2-40B4-BE49-F238E27FC236}">
                <a16:creationId xmlns:a16="http://schemas.microsoft.com/office/drawing/2014/main" id="{793D87D7-D04F-48E5-B4E6-8B70035D63C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study-kr-stc/front/00-preface.md 'Neural Memory 모노그래프와의 관계'</a:t>
            </a:r>
            <a:endParaRPr sz="850"/>
          </a:p>
        </p:txBody>
      </p:sp>
      <p:sp>
        <p:nvSpPr>
          <p:cNvPr id="9" name="STC-02-page-number">
            <a:extLst xmlns:a="http://schemas.openxmlformats.org/drawingml/2006/main">
              <a:ext uri="{FF2B5EF4-FFF2-40B4-BE49-F238E27FC236}">
                <a16:creationId xmlns:a16="http://schemas.microsoft.com/office/drawing/2014/main" id="{9B82730B-5BA4-40C1-BB36-231F3E2F81B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8</a:t>
            </a:r>
            <a:endParaRPr sz="850"/>
          </a:p>
        </p:txBody>
      </p:sp>
      <p:sp>
        <p:nvSpPr>
          <p:cNvPr id="11" name="STC-02-when">
            <a:extLst xmlns:a="http://schemas.openxmlformats.org/drawingml/2006/main">
              <a:ext uri="{FF2B5EF4-FFF2-40B4-BE49-F238E27FC236}">
                <a16:creationId xmlns:a16="http://schemas.microsoft.com/office/drawing/2014/main" id="{16BCA9BF-B6CB-412C-9306-FDAB2AE1F9FD}"/>
              </a:ext>
            </a:extLst>
          </p:cNvPr>
          <p:cNvSpPr>
            <a:spLocks xmlns:a="http://schemas.openxmlformats.org/drawingml/2006/main" noGrp="1"/>
          </p:cNvSpPr>
          <p:nvPr/>
        </p:nvSpPr>
        <p:spPr>
          <a:xfrm xmlns:a="http://schemas.openxmlformats.org/drawingml/2006/main">
            <a:off x="731520" y="1673352"/>
            <a:ext cx="9601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44E8A"/>
                </a:solidFill>
                <a:latin typeface="Noto Serif CJK KR"/>
                <a:ea typeface="Noto Serif CJK KR"/>
                <a:cs typeface="Noto Serif CJK KR"/>
              </a:rPr>
              <a:t>식</a:t>
            </a:r>
            <a:endParaRPr sz="2800"/>
          </a:p>
        </p:txBody>
      </p:sp>
      <p:sp>
        <p:nvSpPr>
          <p:cNvPr id="12" name="STC-02-what">
            <a:extLst xmlns:a="http://schemas.openxmlformats.org/drawingml/2006/main">
              <a:ext uri="{FF2B5EF4-FFF2-40B4-BE49-F238E27FC236}">
                <a16:creationId xmlns:a16="http://schemas.microsoft.com/office/drawing/2014/main" id="{4D549EF3-5805-4997-88E2-74654ACC4A4F}"/>
              </a:ext>
            </a:extLst>
          </p:cNvPr>
          <p:cNvSpPr>
            <a:spLocks xmlns:a="http://schemas.openxmlformats.org/drawingml/2006/main" noGrp="1"/>
          </p:cNvSpPr>
          <p:nvPr/>
        </p:nvSpPr>
        <p:spPr>
          <a:xfrm xmlns:a="http://schemas.openxmlformats.org/drawingml/2006/main">
            <a:off x="731520" y="2761488"/>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9A442D"/>
                </a:solidFill>
                <a:latin typeface="Noto Serif CJK KR"/>
                <a:ea typeface="Noto Serif CJK KR"/>
                <a:cs typeface="Noto Serif CJK KR"/>
              </a:rPr>
              <a:t>기호</a:t>
            </a:r>
            <a:endParaRPr sz="2800"/>
          </a:p>
        </p:txBody>
      </p:sp>
      <p:sp>
        <p:nvSpPr>
          <p:cNvPr id="13" name="STC-02-where">
            <a:extLst xmlns:a="http://schemas.openxmlformats.org/drawingml/2006/main">
              <a:ext uri="{FF2B5EF4-FFF2-40B4-BE49-F238E27FC236}">
                <a16:creationId xmlns:a16="http://schemas.microsoft.com/office/drawing/2014/main" id="{F2ABEEFC-09C0-4ED9-A436-4F6FF445EF5A}"/>
              </a:ext>
            </a:extLst>
          </p:cNvPr>
          <p:cNvSpPr>
            <a:spLocks xmlns:a="http://schemas.openxmlformats.org/drawingml/2006/main" noGrp="1"/>
          </p:cNvSpPr>
          <p:nvPr/>
        </p:nvSpPr>
        <p:spPr>
          <a:xfrm xmlns:a="http://schemas.openxmlformats.org/drawingml/2006/main">
            <a:off x="731520" y="3849624"/>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F6B63"/>
                </a:solidFill>
                <a:latin typeface="Noto Serif CJK KR"/>
                <a:ea typeface="Noto Serif CJK KR"/>
                <a:cs typeface="Noto Serif CJK KR"/>
              </a:rPr>
              <a:t>규율</a:t>
            </a:r>
            <a:endParaRPr sz="2800"/>
          </a:p>
        </p:txBody>
      </p:sp>
      <p:sp>
        <p:nvSpPr>
          <p:cNvPr id="14" name="STC-02-when-line">
            <a:extLst xmlns:a="http://schemas.openxmlformats.org/drawingml/2006/main">
              <a:ext uri="{FF2B5EF4-FFF2-40B4-BE49-F238E27FC236}">
                <a16:creationId xmlns:a16="http://schemas.microsoft.com/office/drawing/2014/main" id="{A0043737-4272-4C17-86C1-34866CB1C145}"/>
              </a:ext>
            </a:extLst>
          </p:cNvPr>
          <p:cNvSpPr>
            <a:spLocks xmlns:a="http://schemas.openxmlformats.org/drawingml/2006/main" noGrp="1"/>
          </p:cNvSpPr>
          <p:nvPr/>
        </p:nvSpPr>
        <p:spPr>
          <a:xfrm xmlns:a="http://schemas.openxmlformats.org/drawingml/2006/main">
            <a:off x="2148840" y="1865376"/>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5" name="STC-02-what-line">
            <a:extLst xmlns:a="http://schemas.openxmlformats.org/drawingml/2006/main">
              <a:ext uri="{FF2B5EF4-FFF2-40B4-BE49-F238E27FC236}">
                <a16:creationId xmlns:a16="http://schemas.microsoft.com/office/drawing/2014/main" id="{19984047-E359-40E7-B1A0-D045178C217D}"/>
              </a:ext>
            </a:extLst>
          </p:cNvPr>
          <p:cNvSpPr>
            <a:spLocks xmlns:a="http://schemas.openxmlformats.org/drawingml/2006/main" noGrp="1"/>
          </p:cNvSpPr>
          <p:nvPr/>
        </p:nvSpPr>
        <p:spPr>
          <a:xfrm xmlns:a="http://schemas.openxmlformats.org/drawingml/2006/main">
            <a:off x="2148840" y="2953512"/>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6" name="STC-02-where-line">
            <a:extLst xmlns:a="http://schemas.openxmlformats.org/drawingml/2006/main">
              <a:ext uri="{FF2B5EF4-FFF2-40B4-BE49-F238E27FC236}">
                <a16:creationId xmlns:a16="http://schemas.microsoft.com/office/drawing/2014/main" id="{AC3FBBFF-8861-47FA-A523-B7B08374B29E}"/>
              </a:ext>
            </a:extLst>
          </p:cNvPr>
          <p:cNvSpPr>
            <a:spLocks xmlns:a="http://schemas.openxmlformats.org/drawingml/2006/main" noGrp="1"/>
          </p:cNvSpPr>
          <p:nvPr/>
        </p:nvSpPr>
        <p:spPr>
          <a:xfrm xmlns:a="http://schemas.openxmlformats.org/drawingml/2006/main">
            <a:off x="2148840" y="4041648"/>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7" name="STC-02-when-answer">
            <a:extLst xmlns:a="http://schemas.openxmlformats.org/drawingml/2006/main">
              <a:ext uri="{FF2B5EF4-FFF2-40B4-BE49-F238E27FC236}">
                <a16:creationId xmlns:a16="http://schemas.microsoft.com/office/drawing/2014/main" id="{DE30F009-38B4-4744-A843-3338330F9296}"/>
              </a:ext>
            </a:extLst>
          </p:cNvPr>
          <p:cNvSpPr>
            <a:spLocks xmlns:a="http://schemas.openxmlformats.org/drawingml/2006/main" noGrp="1"/>
          </p:cNvSpPr>
          <p:nvPr/>
        </p:nvSpPr>
        <p:spPr>
          <a:xfrm xmlns:a="http://schemas.openxmlformats.org/drawingml/2006/main">
            <a:off x="2377440" y="1618488"/>
            <a:ext cx="7269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(U-W)는 NM의 master equation (M)과 같은 식이다</a:t>
            </a:r>
            <a:endParaRPr sz="2100"/>
          </a:p>
        </p:txBody>
      </p:sp>
      <p:sp>
        <p:nvSpPr>
          <p:cNvPr id="18" name="STC-02-what-answer">
            <a:extLst xmlns:a="http://schemas.openxmlformats.org/drawingml/2006/main">
              <a:ext uri="{FF2B5EF4-FFF2-40B4-BE49-F238E27FC236}">
                <a16:creationId xmlns:a16="http://schemas.microsoft.com/office/drawing/2014/main" id="{31F10D90-9E59-4017-AAB6-C5184B790324}"/>
              </a:ext>
            </a:extLst>
          </p:cNvPr>
          <p:cNvSpPr>
            <a:spLocks xmlns:a="http://schemas.openxmlformats.org/drawingml/2006/main" noGrp="1"/>
          </p:cNvSpPr>
          <p:nvPr/>
        </p:nvSpPr>
        <p:spPr>
          <a:xfrm xmlns:a="http://schemas.openxmlformats.org/drawingml/2006/main">
            <a:off x="2377440" y="2706624"/>
            <a:ext cx="78638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Θ·W·S_t·η_t·β_t·α_t의 의미를 재정의하지 않는다</a:t>
            </a:r>
            <a:endParaRPr sz="2100"/>
          </a:p>
        </p:txBody>
      </p:sp>
      <p:sp>
        <p:nvSpPr>
          <p:cNvPr id="19" name="STC-02-where-answer">
            <a:extLst xmlns:a="http://schemas.openxmlformats.org/drawingml/2006/main">
              <a:ext uri="{FF2B5EF4-FFF2-40B4-BE49-F238E27FC236}">
                <a16:creationId xmlns:a16="http://schemas.microsoft.com/office/drawing/2014/main" id="{7B9DAECE-395E-4C23-8BFF-9AE8A0ABEE81}"/>
              </a:ext>
            </a:extLst>
          </p:cNvPr>
          <p:cNvSpPr>
            <a:spLocks xmlns:a="http://schemas.openxmlformats.org/drawingml/2006/main" noGrp="1"/>
          </p:cNvSpPr>
          <p:nvPr/>
        </p:nvSpPr>
        <p:spPr>
          <a:xfrm xmlns:a="http://schemas.openxmlformats.org/drawingml/2006/main">
            <a:off x="2377440" y="3794760"/>
            <a:ext cx="8458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등급 계약과 '억지 통합 금지'를 그대로 가져온다</a:t>
            </a:r>
            <a:endParaRPr sz="2100"/>
          </a:p>
        </p:txBody>
      </p:sp>
      <p:sp>
        <p:nvSpPr>
          <p:cNvPr id="20" name="STC-02-thesis-bar">
            <a:extLst xmlns:a="http://schemas.openxmlformats.org/drawingml/2006/main">
              <a:ext uri="{FF2B5EF4-FFF2-40B4-BE49-F238E27FC236}">
                <a16:creationId xmlns:a16="http://schemas.microsoft.com/office/drawing/2014/main" id="{307CCCCF-FC4F-496A-AFFE-4544A0437B9F}"/>
              </a:ext>
            </a:extLst>
          </p:cNvPr>
          <p:cNvSpPr>
            <a:spLocks xmlns:a="http://schemas.openxmlformats.org/drawingml/2006/main" noGrp="1"/>
          </p:cNvSpPr>
          <p:nvPr/>
        </p:nvSpPr>
        <p:spPr>
          <a:xfrm xmlns:a="http://schemas.openxmlformats.org/drawingml/2006/main">
            <a:off x="2359152" y="4791456"/>
            <a:ext cx="8174736" cy="731520"/>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02-thesis-bar-text">
            <a:extLst xmlns:a="http://schemas.openxmlformats.org/drawingml/2006/main">
              <a:ext uri="{FF2B5EF4-FFF2-40B4-BE49-F238E27FC236}">
                <a16:creationId xmlns:a16="http://schemas.microsoft.com/office/drawing/2014/main" id="{A739DA4E-B679-406F-8823-36B5720A9DC8}"/>
              </a:ext>
            </a:extLst>
          </p:cNvPr>
          <p:cNvSpPr>
            <a:spLocks xmlns:a="http://schemas.openxmlformats.org/drawingml/2006/main" noGrp="1"/>
          </p:cNvSpPr>
          <p:nvPr/>
        </p:nvSpPr>
        <p:spPr>
          <a:xfrm xmlns:a="http://schemas.openxmlformats.org/drawingml/2006/main">
            <a:off x="2606040" y="5001768"/>
            <a:ext cx="7680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900" b="1">
                <a:solidFill>
                  <a:srgbClr val="FFFFFF"/>
                </a:solidFill>
                <a:latin typeface="Noto Sans CJK KR"/>
                <a:ea typeface="Noto Sans CJK KR"/>
                <a:cs typeface="Noto Sans CJK KR"/>
              </a:rPr>
              <a:t>두 책은 겹치지 않고 이어진다 — 결론을 억지로 하나로 잇지 않는 규율도 승계한다</a:t>
            </a:r>
            <a:endParaRPr sz="1900"/>
          </a:p>
        </p:txBody>
      </p:sp>
    </p:spTree>
    <p:extLst>
      <p:ext uri="{BB962C8B-B14F-4D97-AF65-F5344CB8AC3E}">
        <p14:creationId xmlns:p14="http://schemas.microsoft.com/office/powerpoint/2010/main" val="1716489855"/>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2-section">
            <a:extLst xmlns:a="http://schemas.openxmlformats.org/drawingml/2006/main">
              <a:ext uri="{FF2B5EF4-FFF2-40B4-BE49-F238E27FC236}">
                <a16:creationId xmlns:a16="http://schemas.microsoft.com/office/drawing/2014/main" id="{B3AE04B8-8245-44A2-8AD4-9A767BB156F4}"/>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ORIENTATION</a:t>
            </a:r>
            <a:endParaRPr sz="950"/>
          </a:p>
        </p:txBody>
      </p:sp>
      <p:sp>
        <p:nvSpPr>
          <p:cNvPr id="3" name="STC-02-slide-id">
            <a:extLst xmlns:a="http://schemas.openxmlformats.org/drawingml/2006/main">
              <a:ext uri="{FF2B5EF4-FFF2-40B4-BE49-F238E27FC236}">
                <a16:creationId xmlns:a16="http://schemas.microsoft.com/office/drawing/2014/main" id="{BE855689-E691-4D5A-A176-FA0CC6C672AC}"/>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STC-009</a:t>
            </a:r>
            <a:endParaRPr sz="950"/>
          </a:p>
        </p:txBody>
      </p:sp>
      <p:sp>
        <p:nvSpPr>
          <p:cNvPr id="4" name="STC-02-headline">
            <a:extLst xmlns:a="http://schemas.openxmlformats.org/drawingml/2006/main">
              <a:ext uri="{FF2B5EF4-FFF2-40B4-BE49-F238E27FC236}">
                <a16:creationId xmlns:a16="http://schemas.microsoft.com/office/drawing/2014/main" id="{9F4BA35A-C084-4820-A869-3F58338107FA}"/>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오늘 쓸 기호 세 개 — Θ, W, E</a:t>
            </a:r>
            <a:endParaRPr sz="3000"/>
          </a:p>
        </p:txBody>
      </p:sp>
      <p:sp>
        <p:nvSpPr>
          <p:cNvPr id="5" name="STC-02-status-label">
            <a:extLst xmlns:a="http://schemas.openxmlformats.org/drawingml/2006/main">
              <a:ext uri="{FF2B5EF4-FFF2-40B4-BE49-F238E27FC236}">
                <a16:creationId xmlns:a16="http://schemas.microsoft.com/office/drawing/2014/main" id="{1B872D46-D4B1-425B-A362-8822456881AC}"/>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정의</a:t>
            </a:r>
            <a:endParaRPr sz="1000"/>
          </a:p>
        </p:txBody>
      </p:sp>
      <p:sp>
        <p:nvSpPr>
          <p:cNvPr id="6" name="STC-02-status-rule">
            <a:extLst xmlns:a="http://schemas.openxmlformats.org/drawingml/2006/main">
              <a:ext uri="{FF2B5EF4-FFF2-40B4-BE49-F238E27FC236}">
                <a16:creationId xmlns:a16="http://schemas.microsoft.com/office/drawing/2014/main" id="{AAA2BDB5-9AB1-43CC-81F2-726033A947FE}"/>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2-footer-rule">
            <a:extLst xmlns:a="http://schemas.openxmlformats.org/drawingml/2006/main">
              <a:ext uri="{FF2B5EF4-FFF2-40B4-BE49-F238E27FC236}">
                <a16:creationId xmlns:a16="http://schemas.microsoft.com/office/drawing/2014/main" id="{90EAC1C3-0B28-440F-82C3-430CFCB7A87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2-source-footer">
            <a:extLst xmlns:a="http://schemas.openxmlformats.org/drawingml/2006/main">
              <a:ext uri="{FF2B5EF4-FFF2-40B4-BE49-F238E27FC236}">
                <a16:creationId xmlns:a16="http://schemas.microsoft.com/office/drawing/2014/main" id="{793D87D7-D04F-48E5-B4E6-8B70035D63C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ch01 §01.2 표 1-1</a:t>
            </a:r>
            <a:endParaRPr sz="850"/>
          </a:p>
        </p:txBody>
      </p:sp>
      <p:sp>
        <p:nvSpPr>
          <p:cNvPr id="9" name="STC-02-page-number">
            <a:extLst xmlns:a="http://schemas.openxmlformats.org/drawingml/2006/main">
              <a:ext uri="{FF2B5EF4-FFF2-40B4-BE49-F238E27FC236}">
                <a16:creationId xmlns:a16="http://schemas.microsoft.com/office/drawing/2014/main" id="{9B82730B-5BA4-40C1-BB36-231F3E2F81B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9</a:t>
            </a:r>
            <a:endParaRPr sz="850"/>
          </a:p>
        </p:txBody>
      </p:sp>
      <p:sp>
        <p:nvSpPr>
          <p:cNvPr id="11" name="STC-02-when">
            <a:extLst xmlns:a="http://schemas.openxmlformats.org/drawingml/2006/main">
              <a:ext uri="{FF2B5EF4-FFF2-40B4-BE49-F238E27FC236}">
                <a16:creationId xmlns:a16="http://schemas.microsoft.com/office/drawing/2014/main" id="{16BCA9BF-B6CB-412C-9306-FDAB2AE1F9FD}"/>
              </a:ext>
            </a:extLst>
          </p:cNvPr>
          <p:cNvSpPr>
            <a:spLocks xmlns:a="http://schemas.openxmlformats.org/drawingml/2006/main" noGrp="1"/>
          </p:cNvSpPr>
          <p:nvPr/>
        </p:nvSpPr>
        <p:spPr>
          <a:xfrm xmlns:a="http://schemas.openxmlformats.org/drawingml/2006/main">
            <a:off x="731520" y="1673352"/>
            <a:ext cx="9601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44E8A"/>
                </a:solidFill>
                <a:latin typeface="Noto Serif CJK KR"/>
                <a:ea typeface="Noto Serif CJK KR"/>
                <a:cs typeface="Noto Serif CJK KR"/>
              </a:rPr>
              <a:t>Θ</a:t>
            </a:r>
            <a:endParaRPr sz="2800"/>
          </a:p>
        </p:txBody>
      </p:sp>
      <p:sp>
        <p:nvSpPr>
          <p:cNvPr id="12" name="STC-02-what">
            <a:extLst xmlns:a="http://schemas.openxmlformats.org/drawingml/2006/main">
              <a:ext uri="{FF2B5EF4-FFF2-40B4-BE49-F238E27FC236}">
                <a16:creationId xmlns:a16="http://schemas.microsoft.com/office/drawing/2014/main" id="{4D549EF3-5805-4997-88E2-74654ACC4A4F}"/>
              </a:ext>
            </a:extLst>
          </p:cNvPr>
          <p:cNvSpPr>
            <a:spLocks xmlns:a="http://schemas.openxmlformats.org/drawingml/2006/main" noGrp="1"/>
          </p:cNvSpPr>
          <p:nvPr/>
        </p:nvSpPr>
        <p:spPr>
          <a:xfrm xmlns:a="http://schemas.openxmlformats.org/drawingml/2006/main">
            <a:off x="731520" y="2761488"/>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9A442D"/>
                </a:solidFill>
                <a:latin typeface="Noto Serif CJK KR"/>
                <a:ea typeface="Noto Serif CJK KR"/>
                <a:cs typeface="Noto Serif CJK KR"/>
              </a:rPr>
              <a:t>W</a:t>
            </a:r>
            <a:endParaRPr sz="2800"/>
          </a:p>
        </p:txBody>
      </p:sp>
      <p:sp>
        <p:nvSpPr>
          <p:cNvPr id="13" name="STC-02-where">
            <a:extLst xmlns:a="http://schemas.openxmlformats.org/drawingml/2006/main">
              <a:ext uri="{FF2B5EF4-FFF2-40B4-BE49-F238E27FC236}">
                <a16:creationId xmlns:a16="http://schemas.microsoft.com/office/drawing/2014/main" id="{F2ABEEFC-09C0-4ED9-A436-4F6FF445EF5A}"/>
              </a:ext>
            </a:extLst>
          </p:cNvPr>
          <p:cNvSpPr>
            <a:spLocks xmlns:a="http://schemas.openxmlformats.org/drawingml/2006/main" noGrp="1"/>
          </p:cNvSpPr>
          <p:nvPr/>
        </p:nvSpPr>
        <p:spPr>
          <a:xfrm xmlns:a="http://schemas.openxmlformats.org/drawingml/2006/main">
            <a:off x="731520" y="3849624"/>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F6B63"/>
                </a:solidFill>
                <a:latin typeface="Noto Serif CJK KR"/>
                <a:ea typeface="Noto Serif CJK KR"/>
                <a:cs typeface="Noto Serif CJK KR"/>
              </a:rPr>
              <a:t>E</a:t>
            </a:r>
            <a:endParaRPr sz="2800"/>
          </a:p>
        </p:txBody>
      </p:sp>
      <p:sp>
        <p:nvSpPr>
          <p:cNvPr id="14" name="STC-02-when-line">
            <a:extLst xmlns:a="http://schemas.openxmlformats.org/drawingml/2006/main">
              <a:ext uri="{FF2B5EF4-FFF2-40B4-BE49-F238E27FC236}">
                <a16:creationId xmlns:a16="http://schemas.microsoft.com/office/drawing/2014/main" id="{A0043737-4272-4C17-86C1-34866CB1C145}"/>
              </a:ext>
            </a:extLst>
          </p:cNvPr>
          <p:cNvSpPr>
            <a:spLocks xmlns:a="http://schemas.openxmlformats.org/drawingml/2006/main" noGrp="1"/>
          </p:cNvSpPr>
          <p:nvPr/>
        </p:nvSpPr>
        <p:spPr>
          <a:xfrm xmlns:a="http://schemas.openxmlformats.org/drawingml/2006/main">
            <a:off x="2148840" y="1865376"/>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5" name="STC-02-what-line">
            <a:extLst xmlns:a="http://schemas.openxmlformats.org/drawingml/2006/main">
              <a:ext uri="{FF2B5EF4-FFF2-40B4-BE49-F238E27FC236}">
                <a16:creationId xmlns:a16="http://schemas.microsoft.com/office/drawing/2014/main" id="{19984047-E359-40E7-B1A0-D045178C217D}"/>
              </a:ext>
            </a:extLst>
          </p:cNvPr>
          <p:cNvSpPr>
            <a:spLocks xmlns:a="http://schemas.openxmlformats.org/drawingml/2006/main" noGrp="1"/>
          </p:cNvSpPr>
          <p:nvPr/>
        </p:nvSpPr>
        <p:spPr>
          <a:xfrm xmlns:a="http://schemas.openxmlformats.org/drawingml/2006/main">
            <a:off x="2148840" y="2953512"/>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6" name="STC-02-where-line">
            <a:extLst xmlns:a="http://schemas.openxmlformats.org/drawingml/2006/main">
              <a:ext uri="{FF2B5EF4-FFF2-40B4-BE49-F238E27FC236}">
                <a16:creationId xmlns:a16="http://schemas.microsoft.com/office/drawing/2014/main" id="{AC3FBBFF-8861-47FA-A523-B7B08374B29E}"/>
              </a:ext>
            </a:extLst>
          </p:cNvPr>
          <p:cNvSpPr>
            <a:spLocks xmlns:a="http://schemas.openxmlformats.org/drawingml/2006/main" noGrp="1"/>
          </p:cNvSpPr>
          <p:nvPr/>
        </p:nvSpPr>
        <p:spPr>
          <a:xfrm xmlns:a="http://schemas.openxmlformats.org/drawingml/2006/main">
            <a:off x="2148840" y="4041648"/>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7" name="STC-02-when-answer">
            <a:extLst xmlns:a="http://schemas.openxmlformats.org/drawingml/2006/main">
              <a:ext uri="{FF2B5EF4-FFF2-40B4-BE49-F238E27FC236}">
                <a16:creationId xmlns:a16="http://schemas.microsoft.com/office/drawing/2014/main" id="{DE30F009-38B4-4744-A843-3338330F9296}"/>
              </a:ext>
            </a:extLst>
          </p:cNvPr>
          <p:cNvSpPr>
            <a:spLocks xmlns:a="http://schemas.openxmlformats.org/drawingml/2006/main" noGrp="1"/>
          </p:cNvSpPr>
          <p:nvPr/>
        </p:nvSpPr>
        <p:spPr>
          <a:xfrm xmlns:a="http://schemas.openxmlformats.org/drawingml/2006/main">
            <a:off x="2377440" y="1618488"/>
            <a:ext cx="7269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slow weights · 배포 아티팩트를 이루는 가중치</a:t>
            </a:r>
            <a:endParaRPr sz="2100"/>
          </a:p>
        </p:txBody>
      </p:sp>
      <p:sp>
        <p:nvSpPr>
          <p:cNvPr id="18" name="STC-02-what-answer">
            <a:extLst xmlns:a="http://schemas.openxmlformats.org/drawingml/2006/main">
              <a:ext uri="{FF2B5EF4-FFF2-40B4-BE49-F238E27FC236}">
                <a16:creationId xmlns:a16="http://schemas.microsoft.com/office/drawing/2014/main" id="{31F10D90-9E59-4017-AAB6-C5184B790324}"/>
              </a:ext>
            </a:extLst>
          </p:cNvPr>
          <p:cNvSpPr>
            <a:spLocks xmlns:a="http://schemas.openxmlformats.org/drawingml/2006/main" noGrp="1"/>
          </p:cNvSpPr>
          <p:nvPr/>
        </p:nvSpPr>
        <p:spPr>
          <a:xfrm xmlns:a="http://schemas.openxmlformats.org/drawingml/2006/main">
            <a:off x="2377440" y="2706624"/>
            <a:ext cx="78638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fast weights · 요청·세션에 붙는 가중치 형태 상태</a:t>
            </a:r>
            <a:endParaRPr sz="2100"/>
          </a:p>
        </p:txBody>
      </p:sp>
      <p:sp>
        <p:nvSpPr>
          <p:cNvPr id="19" name="STC-02-where-answer">
            <a:extLst xmlns:a="http://schemas.openxmlformats.org/drawingml/2006/main">
              <a:ext uri="{FF2B5EF4-FFF2-40B4-BE49-F238E27FC236}">
                <a16:creationId xmlns:a16="http://schemas.microsoft.com/office/drawing/2014/main" id="{7B9DAECE-395E-4C23-8BFF-9AE8A0ABEE81}"/>
              </a:ext>
            </a:extLst>
          </p:cNvPr>
          <p:cNvSpPr>
            <a:spLocks xmlns:a="http://schemas.openxmlformats.org/drawingml/2006/main" noGrp="1"/>
          </p:cNvSpPr>
          <p:nvPr/>
        </p:nvSpPr>
        <p:spPr>
          <a:xfrm xmlns:a="http://schemas.openxmlformats.org/drawingml/2006/main">
            <a:off x="2377440" y="3794760"/>
            <a:ext cx="8458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external store · 모델 밖의 텍스트·벡터·그래프</a:t>
            </a:r>
            <a:endParaRPr sz="2100"/>
          </a:p>
        </p:txBody>
      </p:sp>
      <p:sp>
        <p:nvSpPr>
          <p:cNvPr id="20" name="STC-02-thesis-bar">
            <a:extLst xmlns:a="http://schemas.openxmlformats.org/drawingml/2006/main">
              <a:ext uri="{FF2B5EF4-FFF2-40B4-BE49-F238E27FC236}">
                <a16:creationId xmlns:a16="http://schemas.microsoft.com/office/drawing/2014/main" id="{307CCCCF-FC4F-496A-AFFE-4544A0437B9F}"/>
              </a:ext>
            </a:extLst>
          </p:cNvPr>
          <p:cNvSpPr>
            <a:spLocks xmlns:a="http://schemas.openxmlformats.org/drawingml/2006/main" noGrp="1"/>
          </p:cNvSpPr>
          <p:nvPr/>
        </p:nvSpPr>
        <p:spPr>
          <a:xfrm xmlns:a="http://schemas.openxmlformats.org/drawingml/2006/main">
            <a:off x="2359152" y="4791456"/>
            <a:ext cx="8174736" cy="731520"/>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02-thesis-bar-text">
            <a:extLst xmlns:a="http://schemas.openxmlformats.org/drawingml/2006/main">
              <a:ext uri="{FF2B5EF4-FFF2-40B4-BE49-F238E27FC236}">
                <a16:creationId xmlns:a16="http://schemas.microsoft.com/office/drawing/2014/main" id="{A739DA4E-B679-406F-8823-36B5720A9DC8}"/>
              </a:ext>
            </a:extLst>
          </p:cNvPr>
          <p:cNvSpPr>
            <a:spLocks xmlns:a="http://schemas.openxmlformats.org/drawingml/2006/main" noGrp="1"/>
          </p:cNvSpPr>
          <p:nvPr/>
        </p:nvSpPr>
        <p:spPr>
          <a:xfrm xmlns:a="http://schemas.openxmlformats.org/drawingml/2006/main">
            <a:off x="2606040" y="5001768"/>
            <a:ext cx="7680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900" b="1">
                <a:solidFill>
                  <a:srgbClr val="FFFFFF"/>
                </a:solidFill>
                <a:latin typeface="Noto Sans CJK KR"/>
                <a:ea typeface="Noto Sans CJK KR"/>
                <a:cs typeface="Noto Sans CJK KR"/>
              </a:rPr>
              <a:t>세 층의 결정적 차이는 크기가 아니라 누가 소유하고 언제 사라지는가이다</a:t>
            </a:r>
            <a:endParaRPr sz="1900"/>
          </a:p>
        </p:txBody>
      </p:sp>
    </p:spTree>
    <p:extLst>
      <p:ext uri="{BB962C8B-B14F-4D97-AF65-F5344CB8AC3E}">
        <p14:creationId xmlns:p14="http://schemas.microsoft.com/office/powerpoint/2010/main" val="1716489855"/>
      </p:ext>
    </p:extLst>
  </p:cSld>
</p:sld>
</file>

<file path=ppt/slides/slide10.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0-section">
            <a:extLst xmlns:a="http://schemas.openxmlformats.org/drawingml/2006/main">
              <a:ext uri="{FF2B5EF4-FFF2-40B4-BE49-F238E27FC236}">
                <a16:creationId xmlns:a16="http://schemas.microsoft.com/office/drawing/2014/main" id="{EF3FC378-6B44-4B49-B1BB-4667473BF88D}"/>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20-slide-id">
            <a:extLst xmlns:a="http://schemas.openxmlformats.org/drawingml/2006/main">
              <a:ext uri="{FF2B5EF4-FFF2-40B4-BE49-F238E27FC236}">
                <a16:creationId xmlns:a16="http://schemas.microsoft.com/office/drawing/2014/main" id="{CC20B574-D2C0-4046-9A1A-25ADE22F8D1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STC-010</a:t>
            </a:r>
            <a:endParaRPr sz="950"/>
          </a:p>
        </p:txBody>
      </p:sp>
      <p:sp>
        <p:nvSpPr>
          <p:cNvPr id="4" name="STC-20-headline">
            <a:extLst xmlns:a="http://schemas.openxmlformats.org/drawingml/2006/main">
              <a:ext uri="{FF2B5EF4-FFF2-40B4-BE49-F238E27FC236}">
                <a16:creationId xmlns:a16="http://schemas.microsoft.com/office/drawing/2014/main" id="{81422673-09A9-4801-94A9-13C70E66A3C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왜 세 층으로 나누는가 — 서빙 질문 넷</a:t>
            </a:r>
            <a:endParaRPr sz="3000"/>
          </a:p>
        </p:txBody>
      </p:sp>
      <p:sp>
        <p:nvSpPr>
          <p:cNvPr id="5" name="STC-20-status-label">
            <a:extLst xmlns:a="http://schemas.openxmlformats.org/drawingml/2006/main">
              <a:ext uri="{FF2B5EF4-FFF2-40B4-BE49-F238E27FC236}">
                <a16:creationId xmlns:a16="http://schemas.microsoft.com/office/drawing/2014/main" id="{14A8D44A-E47B-4BF7-8A5A-F78858804A15}"/>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정의</a:t>
            </a:r>
            <a:endParaRPr sz="1000"/>
          </a:p>
        </p:txBody>
      </p:sp>
      <p:sp>
        <p:nvSpPr>
          <p:cNvPr id="6" name="STC-20-status-rule">
            <a:extLst xmlns:a="http://schemas.openxmlformats.org/drawingml/2006/main">
              <a:ext uri="{FF2B5EF4-FFF2-40B4-BE49-F238E27FC236}">
                <a16:creationId xmlns:a16="http://schemas.microsoft.com/office/drawing/2014/main" id="{9111AC13-7AC9-486F-A35E-14918CB2FAEA}"/>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20-footer-rule">
            <a:extLst xmlns:a="http://schemas.openxmlformats.org/drawingml/2006/main">
              <a:ext uri="{FF2B5EF4-FFF2-40B4-BE49-F238E27FC236}">
                <a16:creationId xmlns:a16="http://schemas.microsoft.com/office/drawing/2014/main" id="{99AB930A-93F8-4C3C-B1B2-60A6CD2FD70F}"/>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0-source-footer">
            <a:extLst xmlns:a="http://schemas.openxmlformats.org/drawingml/2006/main">
              <a:ext uri="{FF2B5EF4-FFF2-40B4-BE49-F238E27FC236}">
                <a16:creationId xmlns:a16="http://schemas.microsoft.com/office/drawing/2014/main" id="{ACA61175-AD4B-4248-BD6E-1C9E5F3D48A1}"/>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ch01 §01.1</a:t>
            </a:r>
            <a:endParaRPr sz="850"/>
          </a:p>
        </p:txBody>
      </p:sp>
      <p:sp>
        <p:nvSpPr>
          <p:cNvPr id="9" name="STC-20-page-number">
            <a:extLst xmlns:a="http://schemas.openxmlformats.org/drawingml/2006/main">
              <a:ext uri="{FF2B5EF4-FFF2-40B4-BE49-F238E27FC236}">
                <a16:creationId xmlns:a16="http://schemas.microsoft.com/office/drawing/2014/main" id="{BFF20DF2-5531-4220-9167-36B66397782A}"/>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10</a:t>
            </a:r>
            <a:endParaRPr sz="850"/>
          </a:p>
        </p:txBody>
      </p:sp>
      <p:sp>
        <p:nvSpPr>
          <p:cNvPr id="11" name="STC-20-infra-plane-0">
            <a:extLst xmlns:a="http://schemas.openxmlformats.org/drawingml/2006/main">
              <a:ext uri="{FF2B5EF4-FFF2-40B4-BE49-F238E27FC236}">
                <a16:creationId xmlns:a16="http://schemas.microsoft.com/office/drawing/2014/main" id="{C8220505-B492-4023-B70A-A2232E14F70E}"/>
              </a:ext>
            </a:extLst>
          </p:cNvPr>
          <p:cNvSpPr>
            <a:spLocks xmlns:a="http://schemas.openxmlformats.org/drawingml/2006/main" noGrp="1"/>
          </p:cNvSpPr>
          <p:nvPr/>
        </p:nvSpPr>
        <p:spPr>
          <a:xfrm xmlns:a="http://schemas.openxmlformats.org/drawingml/2006/main">
            <a:off x="749808" y="2633472"/>
            <a:ext cx="2514600" cy="2057400"/>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2" name="STC-20-infra-label-0">
            <a:extLst xmlns:a="http://schemas.openxmlformats.org/drawingml/2006/main">
              <a:ext uri="{FF2B5EF4-FFF2-40B4-BE49-F238E27FC236}">
                <a16:creationId xmlns:a16="http://schemas.microsoft.com/office/drawing/2014/main" id="{874AE9C7-25F3-4D96-A818-0C8E56EBC16F}"/>
              </a:ext>
            </a:extLst>
          </p:cNvPr>
          <p:cNvSpPr>
            <a:spLocks xmlns:a="http://schemas.openxmlformats.org/drawingml/2006/main" noGrp="1"/>
          </p:cNvSpPr>
          <p:nvPr/>
        </p:nvSpPr>
        <p:spPr>
          <a:xfrm xmlns:a="http://schemas.openxmlformats.org/drawingml/2006/main">
            <a:off x="932688"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244E8A"/>
                </a:solidFill>
                <a:latin typeface="Noto Sans Mono CJK KR"/>
                <a:ea typeface="Noto Sans Mono CJK KR"/>
                <a:cs typeface="Noto Sans Mono CJK KR"/>
              </a:rPr>
              <a:t>evict 가능한가</a:t>
            </a:r>
            <a:endParaRPr sz="1150"/>
          </a:p>
        </p:txBody>
      </p:sp>
      <p:sp>
        <p:nvSpPr>
          <p:cNvPr id="13" name="STC-20-infra-body-0">
            <a:extLst xmlns:a="http://schemas.openxmlformats.org/drawingml/2006/main">
              <a:ext uri="{FF2B5EF4-FFF2-40B4-BE49-F238E27FC236}">
                <a16:creationId xmlns:a16="http://schemas.microsoft.com/office/drawing/2014/main" id="{EAA62413-4D3B-461E-A878-B0FEC894A515}"/>
              </a:ext>
            </a:extLst>
          </p:cNvPr>
          <p:cNvSpPr>
            <a:spLocks xmlns:a="http://schemas.openxmlformats.org/drawingml/2006/main" noGrp="1"/>
          </p:cNvSpPr>
          <p:nvPr/>
        </p:nvSpPr>
        <p:spPr>
          <a:xfrm xmlns:a="http://schemas.openxmlformats.org/drawingml/2006/main">
            <a:off x="978408"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레코드면</a:t>
            </a:r>
            <a:endParaRPr sz="1800"/>
          </a:p>
          <a:p xmlns:a="http://schemas.openxmlformats.org/drawingml/2006/main">
            <a:pPr marL="0" indent="0" algn="ctr">
              <a:buNone/>
            </a:pPr>
            <a:r>
              <a:rPr sz="1800" b="1">
                <a:solidFill>
                  <a:srgbClr val="17191C"/>
                </a:solidFill>
                <a:latin typeface="Noto Sans CJK KR"/>
                <a:ea typeface="Noto Sans CJK KR"/>
                <a:cs typeface="Noto Sans CJK KR"/>
              </a:rPr>
              <a:t>정책, 가중치면 롤백</a:t>
            </a:r>
            <a:endParaRPr sz="1800"/>
          </a:p>
        </p:txBody>
      </p:sp>
      <p:sp>
        <p:nvSpPr>
          <p:cNvPr id="14" name="STC-20-infra-arrow-0">
            <a:extLst xmlns:a="http://schemas.openxmlformats.org/drawingml/2006/main">
              <a:ext uri="{FF2B5EF4-FFF2-40B4-BE49-F238E27FC236}">
                <a16:creationId xmlns:a16="http://schemas.microsoft.com/office/drawing/2014/main" id="{B8F31725-8432-4D1D-9A1E-34BAF08A8290}"/>
              </a:ext>
            </a:extLst>
          </p:cNvPr>
          <p:cNvSpPr>
            <a:spLocks xmlns:a="http://schemas.openxmlformats.org/drawingml/2006/main" noGrp="1"/>
          </p:cNvSpPr>
          <p:nvPr/>
        </p:nvSpPr>
        <p:spPr>
          <a:xfrm xmlns:a="http://schemas.openxmlformats.org/drawingml/2006/main">
            <a:off x="3346704" y="3657600"/>
            <a:ext cx="530352"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5" name="STC-20-infra-plane-1">
            <a:extLst xmlns:a="http://schemas.openxmlformats.org/drawingml/2006/main">
              <a:ext uri="{FF2B5EF4-FFF2-40B4-BE49-F238E27FC236}">
                <a16:creationId xmlns:a16="http://schemas.microsoft.com/office/drawing/2014/main" id="{383116CD-3E34-4394-B8A0-C315F75F29F2}"/>
              </a:ext>
            </a:extLst>
          </p:cNvPr>
          <p:cNvSpPr>
            <a:spLocks xmlns:a="http://schemas.openxmlformats.org/drawingml/2006/main" noGrp="1"/>
          </p:cNvSpPr>
          <p:nvPr/>
        </p:nvSpPr>
        <p:spPr>
          <a:xfrm xmlns:a="http://schemas.openxmlformats.org/drawingml/2006/main">
            <a:off x="3977640" y="2633472"/>
            <a:ext cx="2514600" cy="2057400"/>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6" name="STC-20-infra-label-1">
            <a:extLst xmlns:a="http://schemas.openxmlformats.org/drawingml/2006/main">
              <a:ext uri="{FF2B5EF4-FFF2-40B4-BE49-F238E27FC236}">
                <a16:creationId xmlns:a16="http://schemas.microsoft.com/office/drawing/2014/main" id="{AB17AEA0-6CEA-4C76-B857-1E4165564301}"/>
              </a:ext>
            </a:extLst>
          </p:cNvPr>
          <p:cNvSpPr>
            <a:spLocks xmlns:a="http://schemas.openxmlformats.org/drawingml/2006/main" noGrp="1"/>
          </p:cNvSpPr>
          <p:nvPr/>
        </p:nvSpPr>
        <p:spPr>
          <a:xfrm xmlns:a="http://schemas.openxmlformats.org/drawingml/2006/main">
            <a:off x="4160520"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9A442D"/>
                </a:solidFill>
                <a:latin typeface="Noto Sans Mono CJK KR"/>
                <a:ea typeface="Noto Sans Mono CJK KR"/>
                <a:cs typeface="Noto Sans Mono CJK KR"/>
              </a:rPr>
              <a:t>배치에 섞이는가</a:t>
            </a:r>
            <a:endParaRPr sz="1150"/>
          </a:p>
        </p:txBody>
      </p:sp>
      <p:sp>
        <p:nvSpPr>
          <p:cNvPr id="17" name="STC-20-infra-body-1">
            <a:extLst xmlns:a="http://schemas.openxmlformats.org/drawingml/2006/main">
              <a:ext uri="{FF2B5EF4-FFF2-40B4-BE49-F238E27FC236}">
                <a16:creationId xmlns:a16="http://schemas.microsoft.com/office/drawing/2014/main" id="{8BC9875E-56D1-4FE2-AFA5-6CD36FDD67BD}"/>
              </a:ext>
            </a:extLst>
          </p:cNvPr>
          <p:cNvSpPr>
            <a:spLocks xmlns:a="http://schemas.openxmlformats.org/drawingml/2006/main" noGrp="1"/>
          </p:cNvSpPr>
          <p:nvPr/>
        </p:nvSpPr>
        <p:spPr>
          <a:xfrm xmlns:a="http://schemas.openxmlformats.org/drawingml/2006/main">
            <a:off x="4206240"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사용자별</a:t>
            </a:r>
            <a:endParaRPr sz="1800"/>
          </a:p>
          <a:p xmlns:a="http://schemas.openxmlformats.org/drawingml/2006/main">
            <a:pPr marL="0" indent="0" algn="ctr">
              <a:buNone/>
            </a:pPr>
            <a:r>
              <a:rPr sz="1800" b="1">
                <a:solidFill>
                  <a:srgbClr val="17191C"/>
                </a:solidFill>
                <a:latin typeface="Noto Sans CJK KR"/>
                <a:ea typeface="Noto Sans CJK KR"/>
                <a:cs typeface="Noto Sans CJK KR"/>
              </a:rPr>
              <a:t>delta가 생기면 깨진다</a:t>
            </a:r>
            <a:endParaRPr sz="1800"/>
          </a:p>
        </p:txBody>
      </p:sp>
      <p:sp>
        <p:nvSpPr>
          <p:cNvPr id="18" name="STC-20-infra-arrow-1">
            <a:extLst xmlns:a="http://schemas.openxmlformats.org/drawingml/2006/main">
              <a:ext uri="{FF2B5EF4-FFF2-40B4-BE49-F238E27FC236}">
                <a16:creationId xmlns:a16="http://schemas.microsoft.com/office/drawing/2014/main" id="{48A1470C-A87D-49C1-AD06-0A2A05BC7D9B}"/>
              </a:ext>
            </a:extLst>
          </p:cNvPr>
          <p:cNvSpPr>
            <a:spLocks xmlns:a="http://schemas.openxmlformats.org/drawingml/2006/main" noGrp="1"/>
          </p:cNvSpPr>
          <p:nvPr/>
        </p:nvSpPr>
        <p:spPr>
          <a:xfrm xmlns:a="http://schemas.openxmlformats.org/drawingml/2006/main">
            <a:off x="6574536" y="3657600"/>
            <a:ext cx="530352"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9" name="STC-20-infra-plane-2">
            <a:extLst xmlns:a="http://schemas.openxmlformats.org/drawingml/2006/main">
              <a:ext uri="{FF2B5EF4-FFF2-40B4-BE49-F238E27FC236}">
                <a16:creationId xmlns:a16="http://schemas.microsoft.com/office/drawing/2014/main" id="{56548C3C-0562-4527-B7A6-9AAEEE6E1179}"/>
              </a:ext>
            </a:extLst>
          </p:cNvPr>
          <p:cNvSpPr>
            <a:spLocks xmlns:a="http://schemas.openxmlformats.org/drawingml/2006/main" noGrp="1"/>
          </p:cNvSpPr>
          <p:nvPr/>
        </p:nvSpPr>
        <p:spPr>
          <a:xfrm xmlns:a="http://schemas.openxmlformats.org/drawingml/2006/main">
            <a:off x="7205472" y="2633472"/>
            <a:ext cx="2514600" cy="2057400"/>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20" name="STC-20-infra-label-2">
            <a:extLst xmlns:a="http://schemas.openxmlformats.org/drawingml/2006/main">
              <a:ext uri="{FF2B5EF4-FFF2-40B4-BE49-F238E27FC236}">
                <a16:creationId xmlns:a16="http://schemas.microsoft.com/office/drawing/2014/main" id="{7D68313E-B396-49BB-9026-C73B3F9CE439}"/>
              </a:ext>
            </a:extLst>
          </p:cNvPr>
          <p:cNvSpPr>
            <a:spLocks xmlns:a="http://schemas.openxmlformats.org/drawingml/2006/main" noGrp="1"/>
          </p:cNvSpPr>
          <p:nvPr/>
        </p:nvSpPr>
        <p:spPr>
          <a:xfrm xmlns:a="http://schemas.openxmlformats.org/drawingml/2006/main">
            <a:off x="7388352"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2F6B63"/>
                </a:solidFill>
                <a:latin typeface="Noto Sans Mono CJK KR"/>
                <a:ea typeface="Noto Sans Mono CJK KR"/>
                <a:cs typeface="Noto Sans Mono CJK KR"/>
              </a:rPr>
              <a:t>롤백 단위는</a:t>
            </a:r>
            <a:endParaRPr sz="1150"/>
          </a:p>
        </p:txBody>
      </p:sp>
      <p:sp>
        <p:nvSpPr>
          <p:cNvPr id="21" name="STC-20-infra-body-2">
            <a:extLst xmlns:a="http://schemas.openxmlformats.org/drawingml/2006/main">
              <a:ext uri="{FF2B5EF4-FFF2-40B4-BE49-F238E27FC236}">
                <a16:creationId xmlns:a16="http://schemas.microsoft.com/office/drawing/2014/main" id="{FA77EDB7-C1A2-4EE1-AB98-FF52014EEADC}"/>
              </a:ext>
            </a:extLst>
          </p:cNvPr>
          <p:cNvSpPr>
            <a:spLocks xmlns:a="http://schemas.openxmlformats.org/drawingml/2006/main" noGrp="1"/>
          </p:cNvSpPr>
          <p:nvPr/>
        </p:nvSpPr>
        <p:spPr>
          <a:xfrm xmlns:a="http://schemas.openxmlformats.org/drawingml/2006/main">
            <a:off x="7434072"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행인가</a:t>
            </a:r>
            <a:endParaRPr sz="1800"/>
          </a:p>
          <a:p xmlns:a="http://schemas.openxmlformats.org/drawingml/2006/main">
            <a:pPr marL="0" indent="0" algn="ctr">
              <a:buNone/>
            </a:pPr>
            <a:r>
              <a:rPr sz="1800" b="1">
                <a:solidFill>
                  <a:srgbClr val="17191C"/>
                </a:solidFill>
                <a:latin typeface="Noto Sans CJK KR"/>
                <a:ea typeface="Noto Sans CJK KR"/>
                <a:cs typeface="Noto Sans CJK KR"/>
              </a:rPr>
              <a:t>세션인가 아티팩트인가</a:t>
            </a:r>
            <a:endParaRPr sz="1800"/>
          </a:p>
        </p:txBody>
      </p:sp>
      <p:sp>
        <p:nvSpPr>
          <p:cNvPr id="22" name="STC-20-infra-control">
            <a:extLst xmlns:a="http://schemas.openxmlformats.org/drawingml/2006/main">
              <a:ext uri="{FF2B5EF4-FFF2-40B4-BE49-F238E27FC236}">
                <a16:creationId xmlns:a16="http://schemas.microsoft.com/office/drawing/2014/main" id="{29BE5495-BD82-4477-88F7-D6AF498D154C}"/>
              </a:ext>
            </a:extLst>
          </p:cNvPr>
          <p:cNvSpPr>
            <a:spLocks xmlns:a="http://schemas.openxmlformats.org/drawingml/2006/main" noGrp="1"/>
          </p:cNvSpPr>
          <p:nvPr/>
        </p:nvSpPr>
        <p:spPr>
          <a:xfrm xmlns:a="http://schemas.openxmlformats.org/drawingml/2006/main">
            <a:off x="1481328" y="1435608"/>
            <a:ext cx="8183880" cy="65836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3" name="STC-20-infra-control-text">
            <a:extLst xmlns:a="http://schemas.openxmlformats.org/drawingml/2006/main">
              <a:ext uri="{FF2B5EF4-FFF2-40B4-BE49-F238E27FC236}">
                <a16:creationId xmlns:a16="http://schemas.microsoft.com/office/drawing/2014/main" id="{DD79965F-265D-40C2-AEAD-EB1FC8BA1267}"/>
              </a:ext>
            </a:extLst>
          </p:cNvPr>
          <p:cNvSpPr>
            <a:spLocks xmlns:a="http://schemas.openxmlformats.org/drawingml/2006/main" noGrp="1"/>
          </p:cNvSpPr>
          <p:nvPr/>
        </p:nvSpPr>
        <p:spPr>
          <a:xfrm xmlns:a="http://schemas.openxmlformats.org/drawingml/2006/main">
            <a:off x="1773936" y="1655064"/>
            <a:ext cx="76078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b="1">
                <a:solidFill>
                  <a:srgbClr val="FFFFFF"/>
                </a:solidFill>
                <a:latin typeface="Noto Sans Mono CJK KR"/>
                <a:ea typeface="Noto Sans Mono CJK KR"/>
                <a:cs typeface="Noto Sans Mono CJK KR"/>
              </a:rPr>
              <a:t>네 질문의 답은 전부 '무엇이 바뀌었는가'에 달려 있고, 그 무엇은 정확히 셋뿐이다</a:t>
            </a:r>
            <a:endParaRPr sz="1250"/>
          </a:p>
        </p:txBody>
      </p:sp>
      <p:sp>
        <p:nvSpPr>
          <p:cNvPr id="24" name="STC-20-infra-control-wake">
            <a:extLst xmlns:a="http://schemas.openxmlformats.org/drawingml/2006/main">
              <a:ext uri="{FF2B5EF4-FFF2-40B4-BE49-F238E27FC236}">
                <a16:creationId xmlns:a16="http://schemas.microsoft.com/office/drawing/2014/main" id="{43E7917B-51C1-450C-A277-0741EFA35A12}"/>
              </a:ext>
            </a:extLst>
          </p:cNvPr>
          <p:cNvSpPr>
            <a:spLocks xmlns:a="http://schemas.openxmlformats.org/drawingml/2006/main" noGrp="1"/>
          </p:cNvSpPr>
          <p:nvPr/>
        </p:nvSpPr>
        <p:spPr>
          <a:xfrm xmlns:a="http://schemas.openxmlformats.org/drawingml/2006/main">
            <a:off x="2816352"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5" name="STC-20-infra-control-sleep">
            <a:extLst xmlns:a="http://schemas.openxmlformats.org/drawingml/2006/main">
              <a:ext uri="{FF2B5EF4-FFF2-40B4-BE49-F238E27FC236}">
                <a16:creationId xmlns:a16="http://schemas.microsoft.com/office/drawing/2014/main" id="{3A660823-14F6-4B6B-B118-257913111373}"/>
              </a:ext>
            </a:extLst>
          </p:cNvPr>
          <p:cNvSpPr>
            <a:spLocks xmlns:a="http://schemas.openxmlformats.org/drawingml/2006/main" noGrp="1"/>
          </p:cNvSpPr>
          <p:nvPr/>
        </p:nvSpPr>
        <p:spPr>
          <a:xfrm xmlns:a="http://schemas.openxmlformats.org/drawingml/2006/main">
            <a:off x="6044184"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20-infra-control-memory">
            <a:extLst xmlns:a="http://schemas.openxmlformats.org/drawingml/2006/main">
              <a:ext uri="{FF2B5EF4-FFF2-40B4-BE49-F238E27FC236}">
                <a16:creationId xmlns:a16="http://schemas.microsoft.com/office/drawing/2014/main" id="{C059216D-6C86-4256-B827-B6F048815B09}"/>
              </a:ext>
            </a:extLst>
          </p:cNvPr>
          <p:cNvSpPr>
            <a:spLocks xmlns:a="http://schemas.openxmlformats.org/drawingml/2006/main" noGrp="1"/>
          </p:cNvSpPr>
          <p:nvPr/>
        </p:nvSpPr>
        <p:spPr>
          <a:xfrm xmlns:a="http://schemas.openxmlformats.org/drawingml/2006/main">
            <a:off x="9272016"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7" name="STC-20-infra-ledger">
            <a:extLst xmlns:a="http://schemas.openxmlformats.org/drawingml/2006/main">
              <a:ext uri="{FF2B5EF4-FFF2-40B4-BE49-F238E27FC236}">
                <a16:creationId xmlns:a16="http://schemas.microsoft.com/office/drawing/2014/main" id="{FD304FC3-39EC-4FAD-A3A7-9CFE6AD014A3}"/>
              </a:ext>
            </a:extLst>
          </p:cNvPr>
          <p:cNvSpPr>
            <a:spLocks xmlns:a="http://schemas.openxmlformats.org/drawingml/2006/main" noGrp="1"/>
          </p:cNvSpPr>
          <p:nvPr/>
        </p:nvSpPr>
        <p:spPr>
          <a:xfrm xmlns:a="http://schemas.openxmlformats.org/drawingml/2006/main">
            <a:off x="10268712" y="1435608"/>
            <a:ext cx="941832" cy="325526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28" name="STC-20-infra-ledger-text">
            <a:extLst xmlns:a="http://schemas.openxmlformats.org/drawingml/2006/main">
              <a:ext uri="{FF2B5EF4-FFF2-40B4-BE49-F238E27FC236}">
                <a16:creationId xmlns:a16="http://schemas.microsoft.com/office/drawing/2014/main" id="{1F693BD4-3AF9-4EE0-8CB6-7A83368EE3F9}"/>
              </a:ext>
            </a:extLst>
          </p:cNvPr>
          <p:cNvSpPr>
            <a:spLocks xmlns:a="http://schemas.openxmlformats.org/drawingml/2006/main" noGrp="1"/>
          </p:cNvSpPr>
          <p:nvPr/>
        </p:nvSpPr>
        <p:spPr>
          <a:xfrm xmlns:a="http://schemas.openxmlformats.org/drawingml/2006/main" rot="16200000">
            <a:off x="10405872" y="2487168"/>
            <a:ext cx="66751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59616A"/>
                </a:solidFill>
                <a:latin typeface="Noto Sans Mono CJK KR"/>
                <a:ea typeface="Noto Sans Mono CJK KR"/>
                <a:cs typeface="Noto Sans Mono CJK KR"/>
              </a:rPr>
              <a:t>evict</a:t>
            </a:r>
            <a:endParaRPr sz="1100"/>
          </a:p>
          <a:p xmlns:a="http://schemas.openxmlformats.org/drawingml/2006/main">
            <a:pPr marL="0" indent="0" algn="ctr">
              <a:buNone/>
            </a:pPr>
            <a:r>
              <a:rPr sz="1100" b="1">
                <a:solidFill>
                  <a:srgbClr val="59616A"/>
                </a:solidFill>
                <a:latin typeface="Noto Sans Mono CJK KR"/>
                <a:ea typeface="Noto Sans Mono CJK KR"/>
                <a:cs typeface="Noto Sans Mono CJK KR"/>
              </a:rPr>
              <a:t>가능한가</a:t>
            </a:r>
            <a:endParaRPr sz="1100"/>
          </a:p>
        </p:txBody>
      </p:sp>
      <p:sp>
        <p:nvSpPr>
          <p:cNvPr id="29" name="STC-20-infra-latency">
            <a:extLst xmlns:a="http://schemas.openxmlformats.org/drawingml/2006/main">
              <a:ext uri="{FF2B5EF4-FFF2-40B4-BE49-F238E27FC236}">
                <a16:creationId xmlns:a16="http://schemas.microsoft.com/office/drawing/2014/main" id="{3D41E0D1-4347-465C-AE68-23FB7C1267CF}"/>
              </a:ext>
            </a:extLst>
          </p:cNvPr>
          <p:cNvSpPr>
            <a:spLocks xmlns:a="http://schemas.openxmlformats.org/drawingml/2006/main" noGrp="1"/>
          </p:cNvSpPr>
          <p:nvPr/>
        </p:nvSpPr>
        <p:spPr>
          <a:xfrm xmlns:a="http://schemas.openxmlformats.org/drawingml/2006/main">
            <a:off x="868680"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244E8A"/>
                </a:solidFill>
                <a:latin typeface="Noto Sans CJK KR"/>
                <a:ea typeface="Noto Sans CJK KR"/>
                <a:cs typeface="Noto Sans CJK KR"/>
              </a:rPr>
              <a:t>01</a:t>
            </a:r>
            <a:endParaRPr sz="1300"/>
          </a:p>
        </p:txBody>
      </p:sp>
      <p:sp>
        <p:nvSpPr>
          <p:cNvPr id="30" name="STC-20-infra-throughput">
            <a:extLst xmlns:a="http://schemas.openxmlformats.org/drawingml/2006/main">
              <a:ext uri="{FF2B5EF4-FFF2-40B4-BE49-F238E27FC236}">
                <a16:creationId xmlns:a16="http://schemas.microsoft.com/office/drawing/2014/main" id="{C8A7806F-FA6A-439E-9271-2F787EB29C92}"/>
              </a:ext>
            </a:extLst>
          </p:cNvPr>
          <p:cNvSpPr>
            <a:spLocks xmlns:a="http://schemas.openxmlformats.org/drawingml/2006/main" noGrp="1"/>
          </p:cNvSpPr>
          <p:nvPr/>
        </p:nvSpPr>
        <p:spPr>
          <a:xfrm xmlns:a="http://schemas.openxmlformats.org/drawingml/2006/main">
            <a:off x="4133088"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9A442D"/>
                </a:solidFill>
                <a:latin typeface="Noto Sans CJK KR"/>
                <a:ea typeface="Noto Sans CJK KR"/>
                <a:cs typeface="Noto Sans CJK KR"/>
              </a:rPr>
              <a:t>배치에 섞이는가</a:t>
            </a:r>
            <a:endParaRPr sz="1300"/>
          </a:p>
        </p:txBody>
      </p:sp>
      <p:sp>
        <p:nvSpPr>
          <p:cNvPr id="31" name="STC-20-infra-tiered">
            <a:extLst xmlns:a="http://schemas.openxmlformats.org/drawingml/2006/main">
              <a:ext uri="{FF2B5EF4-FFF2-40B4-BE49-F238E27FC236}">
                <a16:creationId xmlns:a16="http://schemas.microsoft.com/office/drawing/2014/main" id="{EFFD8688-A736-46D2-AA52-97BFFC250E90}"/>
              </a:ext>
            </a:extLst>
          </p:cNvPr>
          <p:cNvSpPr>
            <a:spLocks xmlns:a="http://schemas.openxmlformats.org/drawingml/2006/main" noGrp="1"/>
          </p:cNvSpPr>
          <p:nvPr/>
        </p:nvSpPr>
        <p:spPr>
          <a:xfrm xmlns:a="http://schemas.openxmlformats.org/drawingml/2006/main">
            <a:off x="7333488"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2F6B63"/>
                </a:solidFill>
                <a:latin typeface="Noto Sans CJK KR"/>
                <a:ea typeface="Noto Sans CJK KR"/>
                <a:cs typeface="Noto Sans CJK KR"/>
              </a:rPr>
              <a:t>롤백 단위는</a:t>
            </a:r>
            <a:endParaRPr sz="1300"/>
          </a:p>
        </p:txBody>
      </p:sp>
    </p:spTree>
    <p:extLst>
      <p:ext uri="{BB962C8B-B14F-4D97-AF65-F5344CB8AC3E}">
        <p14:creationId xmlns:p14="http://schemas.microsoft.com/office/powerpoint/2010/main" val="1555086896"/>
      </p:ext>
    </p:extLst>
  </p:cSld>
</p:sld>
</file>

<file path=ppt/slides/slide11.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3-section">
            <a:extLst xmlns:a="http://schemas.openxmlformats.org/drawingml/2006/main">
              <a:ext uri="{FF2B5EF4-FFF2-40B4-BE49-F238E27FC236}">
                <a16:creationId xmlns:a16="http://schemas.microsoft.com/office/drawing/2014/main" id="{DEF75E10-FC43-4F90-A29D-73D1CBC1DCC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13-slide-id">
            <a:extLst xmlns:a="http://schemas.openxmlformats.org/drawingml/2006/main">
              <a:ext uri="{FF2B5EF4-FFF2-40B4-BE49-F238E27FC236}">
                <a16:creationId xmlns:a16="http://schemas.microsoft.com/office/drawing/2014/main" id="{207357D7-4303-4447-A61C-4C79283F663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STC-011</a:t>
            </a:r>
            <a:endParaRPr sz="950"/>
          </a:p>
        </p:txBody>
      </p:sp>
      <p:sp>
        <p:nvSpPr>
          <p:cNvPr id="4" name="STC-13-headline">
            <a:extLst xmlns:a="http://schemas.openxmlformats.org/drawingml/2006/main">
              <a:ext uri="{FF2B5EF4-FFF2-40B4-BE49-F238E27FC236}">
                <a16:creationId xmlns:a16="http://schemas.microsoft.com/office/drawing/2014/main" id="{8E260E54-4985-4C50-817D-C85BDF65F5D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소유와 수명이 나머지를 전부 정한다</a:t>
            </a:r>
            <a:endParaRPr sz="3000"/>
          </a:p>
        </p:txBody>
      </p:sp>
      <p:sp>
        <p:nvSpPr>
          <p:cNvPr id="5" name="STC-13-status-label">
            <a:extLst xmlns:a="http://schemas.openxmlformats.org/drawingml/2006/main">
              <a:ext uri="{FF2B5EF4-FFF2-40B4-BE49-F238E27FC236}">
                <a16:creationId xmlns:a16="http://schemas.microsoft.com/office/drawing/2014/main" id="{76CEFCAB-90F8-4FF1-91A9-495F4B23416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정의</a:t>
            </a:r>
            <a:endParaRPr sz="1000"/>
          </a:p>
        </p:txBody>
      </p:sp>
      <p:sp>
        <p:nvSpPr>
          <p:cNvPr id="6" name="STC-13-status-rule">
            <a:extLst xmlns:a="http://schemas.openxmlformats.org/drawingml/2006/main">
              <a:ext uri="{FF2B5EF4-FFF2-40B4-BE49-F238E27FC236}">
                <a16:creationId xmlns:a16="http://schemas.microsoft.com/office/drawing/2014/main" id="{07360112-59F1-4B26-BA92-7088E3FD40C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13-footer-rule">
            <a:extLst xmlns:a="http://schemas.openxmlformats.org/drawingml/2006/main">
              <a:ext uri="{FF2B5EF4-FFF2-40B4-BE49-F238E27FC236}">
                <a16:creationId xmlns:a16="http://schemas.microsoft.com/office/drawing/2014/main" id="{26DC731C-F3A6-48D1-B411-9B2CD636969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3-source-footer">
            <a:extLst xmlns:a="http://schemas.openxmlformats.org/drawingml/2006/main">
              <a:ext uri="{FF2B5EF4-FFF2-40B4-BE49-F238E27FC236}">
                <a16:creationId xmlns:a16="http://schemas.microsoft.com/office/drawing/2014/main" id="{F8DE0C07-9BB3-4619-B392-5FCFC17ACBE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ch01 §01.2 표 1-1</a:t>
            </a:r>
            <a:endParaRPr sz="850"/>
          </a:p>
        </p:txBody>
      </p:sp>
      <p:sp>
        <p:nvSpPr>
          <p:cNvPr id="9" name="STC-13-page-number">
            <a:extLst xmlns:a="http://schemas.openxmlformats.org/drawingml/2006/main">
              <a:ext uri="{FF2B5EF4-FFF2-40B4-BE49-F238E27FC236}">
                <a16:creationId xmlns:a16="http://schemas.microsoft.com/office/drawing/2014/main" id="{77A42865-7B64-4DDF-99E9-C4F94EB652F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11</a:t>
            </a:r>
            <a:endParaRPr sz="850"/>
          </a:p>
        </p:txBody>
      </p:sp>
      <p:sp>
        <p:nvSpPr>
          <p:cNvPr id="11" name="STC-13-data-layer-0">
            <a:extLst xmlns:a="http://schemas.openxmlformats.org/drawingml/2006/main">
              <a:ext uri="{FF2B5EF4-FFF2-40B4-BE49-F238E27FC236}">
                <a16:creationId xmlns:a16="http://schemas.microsoft.com/office/drawing/2014/main" id="{E5BBE619-AB19-42FA-8122-D61948B604E8}"/>
              </a:ext>
            </a:extLst>
          </p:cNvPr>
          <p:cNvSpPr>
            <a:spLocks xmlns:a="http://schemas.openxmlformats.org/drawingml/2006/main" noGrp="1"/>
          </p:cNvSpPr>
          <p:nvPr/>
        </p:nvSpPr>
        <p:spPr>
          <a:xfrm xmlns:a="http://schemas.openxmlformats.org/drawingml/2006/main">
            <a:off x="1618488" y="1664208"/>
            <a:ext cx="8961120" cy="56692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12" name="STC-13-data-label-0">
            <a:extLst xmlns:a="http://schemas.openxmlformats.org/drawingml/2006/main">
              <a:ext uri="{FF2B5EF4-FFF2-40B4-BE49-F238E27FC236}">
                <a16:creationId xmlns:a16="http://schemas.microsoft.com/office/drawing/2014/main" id="{FDF9C9BA-3329-45E9-ABC4-2B36508291DA}"/>
              </a:ext>
            </a:extLst>
          </p:cNvPr>
          <p:cNvSpPr>
            <a:spLocks xmlns:a="http://schemas.openxmlformats.org/drawingml/2006/main" noGrp="1"/>
          </p:cNvSpPr>
          <p:nvPr/>
        </p:nvSpPr>
        <p:spPr>
          <a:xfrm xmlns:a="http://schemas.openxmlformats.org/drawingml/2006/main">
            <a:off x="1783080" y="1828800"/>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FFFFFF"/>
                </a:solidFill>
                <a:latin typeface="Noto Sans Mono CJK KR"/>
                <a:ea typeface="Noto Sans Mono CJK KR"/>
                <a:cs typeface="Noto Sans Mono CJK KR"/>
              </a:rPr>
              <a:t>E 레코드</a:t>
            </a:r>
            <a:endParaRPr sz="1050"/>
          </a:p>
        </p:txBody>
      </p:sp>
      <p:sp>
        <p:nvSpPr>
          <p:cNvPr id="13" name="STC-13-data-body-0">
            <a:extLst xmlns:a="http://schemas.openxmlformats.org/drawingml/2006/main">
              <a:ext uri="{FF2B5EF4-FFF2-40B4-BE49-F238E27FC236}">
                <a16:creationId xmlns:a16="http://schemas.microsoft.com/office/drawing/2014/main" id="{34676F1F-A035-47A9-9C53-7C294D97CEF1}"/>
              </a:ext>
            </a:extLst>
          </p:cNvPr>
          <p:cNvSpPr>
            <a:spLocks xmlns:a="http://schemas.openxmlformats.org/drawingml/2006/main" noGrp="1"/>
          </p:cNvSpPr>
          <p:nvPr/>
        </p:nvSpPr>
        <p:spPr>
          <a:xfrm xmlns:a="http://schemas.openxmlformats.org/drawingml/2006/main">
            <a:off x="3401568" y="1755648"/>
            <a:ext cx="6995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FFFFFF"/>
                </a:solidFill>
                <a:latin typeface="Noto Sans CJK KR"/>
                <a:ea typeface="Noto Sans CJK KR"/>
                <a:cs typeface="Noto Sans CJK KR"/>
              </a:rPr>
              <a:t>요청과 독립. 임의 시점에 삭제 가능</a:t>
            </a:r>
            <a:endParaRPr sz="1450"/>
          </a:p>
        </p:txBody>
      </p:sp>
      <p:sp>
        <p:nvSpPr>
          <p:cNvPr id="14" name="STC-13-data-layer-1">
            <a:extLst xmlns:a="http://schemas.openxmlformats.org/drawingml/2006/main">
              <a:ext uri="{FF2B5EF4-FFF2-40B4-BE49-F238E27FC236}">
                <a16:creationId xmlns:a16="http://schemas.microsoft.com/office/drawing/2014/main" id="{2C7AD258-BAEB-4994-96A5-F1AB29FB68DF}"/>
              </a:ext>
            </a:extLst>
          </p:cNvPr>
          <p:cNvSpPr>
            <a:spLocks xmlns:a="http://schemas.openxmlformats.org/drawingml/2006/main" noGrp="1"/>
          </p:cNvSpPr>
          <p:nvPr/>
        </p:nvSpPr>
        <p:spPr>
          <a:xfrm xmlns:a="http://schemas.openxmlformats.org/drawingml/2006/main">
            <a:off x="2258568" y="2450592"/>
            <a:ext cx="7680960" cy="566928"/>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3-data-label-1">
            <a:extLst xmlns:a="http://schemas.openxmlformats.org/drawingml/2006/main">
              <a:ext uri="{FF2B5EF4-FFF2-40B4-BE49-F238E27FC236}">
                <a16:creationId xmlns:a16="http://schemas.microsoft.com/office/drawing/2014/main" id="{02CDF8C0-80BF-43B8-B0F1-3E7D91CAE3C2}"/>
              </a:ext>
            </a:extLst>
          </p:cNvPr>
          <p:cNvSpPr>
            <a:spLocks xmlns:a="http://schemas.openxmlformats.org/drawingml/2006/main" noGrp="1"/>
          </p:cNvSpPr>
          <p:nvPr/>
        </p:nvSpPr>
        <p:spPr>
          <a:xfrm xmlns:a="http://schemas.openxmlformats.org/drawingml/2006/main">
            <a:off x="2423160" y="2615184"/>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W 상태</a:t>
            </a:r>
            <a:endParaRPr sz="1050"/>
          </a:p>
        </p:txBody>
      </p:sp>
      <p:sp>
        <p:nvSpPr>
          <p:cNvPr id="16" name="STC-13-data-body-1">
            <a:extLst xmlns:a="http://schemas.openxmlformats.org/drawingml/2006/main">
              <a:ext uri="{FF2B5EF4-FFF2-40B4-BE49-F238E27FC236}">
                <a16:creationId xmlns:a16="http://schemas.microsoft.com/office/drawing/2014/main" id="{BC62C31C-D212-42ED-AE30-842B56196CD1}"/>
              </a:ext>
            </a:extLst>
          </p:cNvPr>
          <p:cNvSpPr>
            <a:spLocks xmlns:a="http://schemas.openxmlformats.org/drawingml/2006/main" noGrp="1"/>
          </p:cNvSpPr>
          <p:nvPr/>
        </p:nvSpPr>
        <p:spPr>
          <a:xfrm xmlns:a="http://schemas.openxmlformats.org/drawingml/2006/main">
            <a:off x="4041648" y="2542032"/>
            <a:ext cx="5715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17191C"/>
                </a:solidFill>
                <a:latin typeface="Noto Sans CJK KR"/>
                <a:ea typeface="Noto Sans CJK KR"/>
                <a:cs typeface="Noto Sans CJK KR"/>
              </a:rPr>
              <a:t>들고 있는 주체가 사라지면 함께 사라진다</a:t>
            </a:r>
            <a:endParaRPr sz="1450"/>
          </a:p>
        </p:txBody>
      </p:sp>
      <p:sp>
        <p:nvSpPr>
          <p:cNvPr id="17" name="STC-13-data-layer-2">
            <a:extLst xmlns:a="http://schemas.openxmlformats.org/drawingml/2006/main">
              <a:ext uri="{FF2B5EF4-FFF2-40B4-BE49-F238E27FC236}">
                <a16:creationId xmlns:a16="http://schemas.microsoft.com/office/drawing/2014/main" id="{D6FAD0EE-091C-49BC-AC96-FF7C3FD7BF30}"/>
              </a:ext>
            </a:extLst>
          </p:cNvPr>
          <p:cNvSpPr>
            <a:spLocks xmlns:a="http://schemas.openxmlformats.org/drawingml/2006/main" noGrp="1"/>
          </p:cNvSpPr>
          <p:nvPr/>
        </p:nvSpPr>
        <p:spPr>
          <a:xfrm xmlns:a="http://schemas.openxmlformats.org/drawingml/2006/main">
            <a:off x="2898648" y="3236976"/>
            <a:ext cx="6400800" cy="566928"/>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8" name="STC-13-data-label-2">
            <a:extLst xmlns:a="http://schemas.openxmlformats.org/drawingml/2006/main">
              <a:ext uri="{FF2B5EF4-FFF2-40B4-BE49-F238E27FC236}">
                <a16:creationId xmlns:a16="http://schemas.microsoft.com/office/drawing/2014/main" id="{AA018C36-C849-429F-A2CB-A09888ED5181}"/>
              </a:ext>
            </a:extLst>
          </p:cNvPr>
          <p:cNvSpPr>
            <a:spLocks xmlns:a="http://schemas.openxmlformats.org/drawingml/2006/main" noGrp="1"/>
          </p:cNvSpPr>
          <p:nvPr/>
        </p:nvSpPr>
        <p:spPr>
          <a:xfrm xmlns:a="http://schemas.openxmlformats.org/drawingml/2006/main">
            <a:off x="3063240" y="3401568"/>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Θ 가중치</a:t>
            </a:r>
            <a:endParaRPr sz="1050"/>
          </a:p>
        </p:txBody>
      </p:sp>
      <p:sp>
        <p:nvSpPr>
          <p:cNvPr id="19" name="STC-13-data-body-2">
            <a:extLst xmlns:a="http://schemas.openxmlformats.org/drawingml/2006/main">
              <a:ext uri="{FF2B5EF4-FFF2-40B4-BE49-F238E27FC236}">
                <a16:creationId xmlns:a16="http://schemas.microsoft.com/office/drawing/2014/main" id="{41815879-EDCF-477A-A120-7092A00F5988}"/>
              </a:ext>
            </a:extLst>
          </p:cNvPr>
          <p:cNvSpPr>
            <a:spLocks xmlns:a="http://schemas.openxmlformats.org/drawingml/2006/main" noGrp="1"/>
          </p:cNvSpPr>
          <p:nvPr/>
        </p:nvSpPr>
        <p:spPr>
          <a:xfrm xmlns:a="http://schemas.openxmlformats.org/drawingml/2006/main">
            <a:off x="4681728" y="3328416"/>
            <a:ext cx="4434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지우는 연산이 없다. 새 아티팩트가 필요</a:t>
            </a:r>
            <a:endParaRPr sz="1350"/>
          </a:p>
        </p:txBody>
      </p:sp>
      <p:sp>
        <p:nvSpPr>
          <p:cNvPr id="20" name="STC-13-data-layer-3">
            <a:extLst xmlns:a="http://schemas.openxmlformats.org/drawingml/2006/main">
              <a:ext uri="{FF2B5EF4-FFF2-40B4-BE49-F238E27FC236}">
                <a16:creationId xmlns:a16="http://schemas.microsoft.com/office/drawing/2014/main" id="{FBD0C7D7-10DE-463B-9217-97D247B03C72}"/>
              </a:ext>
            </a:extLst>
          </p:cNvPr>
          <p:cNvSpPr>
            <a:spLocks xmlns:a="http://schemas.openxmlformats.org/drawingml/2006/main" noGrp="1"/>
          </p:cNvSpPr>
          <p:nvPr/>
        </p:nvSpPr>
        <p:spPr>
          <a:xfrm xmlns:a="http://schemas.openxmlformats.org/drawingml/2006/main">
            <a:off x="3538728" y="4023360"/>
            <a:ext cx="5120640" cy="566928"/>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13-data-label-3">
            <a:extLst xmlns:a="http://schemas.openxmlformats.org/drawingml/2006/main">
              <a:ext uri="{FF2B5EF4-FFF2-40B4-BE49-F238E27FC236}">
                <a16:creationId xmlns:a16="http://schemas.microsoft.com/office/drawing/2014/main" id="{8DA5B66F-AB6C-424C-B38E-EC87549B7458}"/>
              </a:ext>
            </a:extLst>
          </p:cNvPr>
          <p:cNvSpPr>
            <a:spLocks xmlns:a="http://schemas.openxmlformats.org/drawingml/2006/main" noGrp="1"/>
          </p:cNvSpPr>
          <p:nvPr/>
        </p:nvSpPr>
        <p:spPr>
          <a:xfrm xmlns:a="http://schemas.openxmlformats.org/drawingml/2006/main">
            <a:off x="3703320" y="4187952"/>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롤백 단위</a:t>
            </a:r>
            <a:endParaRPr sz="1050"/>
          </a:p>
        </p:txBody>
      </p:sp>
      <p:sp>
        <p:nvSpPr>
          <p:cNvPr id="22" name="STC-13-data-body-3">
            <a:extLst xmlns:a="http://schemas.openxmlformats.org/drawingml/2006/main">
              <a:ext uri="{FF2B5EF4-FFF2-40B4-BE49-F238E27FC236}">
                <a16:creationId xmlns:a16="http://schemas.microsoft.com/office/drawing/2014/main" id="{B07BDB02-D4B0-48AF-8A53-11814C8CDC53}"/>
              </a:ext>
            </a:extLst>
          </p:cNvPr>
          <p:cNvSpPr>
            <a:spLocks xmlns:a="http://schemas.openxmlformats.org/drawingml/2006/main" noGrp="1"/>
          </p:cNvSpPr>
          <p:nvPr/>
        </p:nvSpPr>
        <p:spPr>
          <a:xfrm xmlns:a="http://schemas.openxmlformats.org/drawingml/2006/main">
            <a:off x="5321808" y="41148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행 삭제 · 세션 종료 · 체크포인트 교체</a:t>
            </a:r>
            <a:endParaRPr sz="1350"/>
          </a:p>
        </p:txBody>
      </p:sp>
      <p:sp>
        <p:nvSpPr>
          <p:cNvPr id="23" name="STC-13-data-layer-4">
            <a:extLst xmlns:a="http://schemas.openxmlformats.org/drawingml/2006/main">
              <a:ext uri="{FF2B5EF4-FFF2-40B4-BE49-F238E27FC236}">
                <a16:creationId xmlns:a16="http://schemas.microsoft.com/office/drawing/2014/main" id="{E60963C1-8D59-4CC2-B99B-C4EA44523D22}"/>
              </a:ext>
            </a:extLst>
          </p:cNvPr>
          <p:cNvSpPr>
            <a:spLocks xmlns:a="http://schemas.openxmlformats.org/drawingml/2006/main" noGrp="1"/>
          </p:cNvSpPr>
          <p:nvPr/>
        </p:nvSpPr>
        <p:spPr>
          <a:xfrm xmlns:a="http://schemas.openxmlformats.org/drawingml/2006/main">
            <a:off x="4178808" y="4809744"/>
            <a:ext cx="3840480" cy="566928"/>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24" name="STC-13-data-label-4">
            <a:extLst xmlns:a="http://schemas.openxmlformats.org/drawingml/2006/main">
              <a:ext uri="{FF2B5EF4-FFF2-40B4-BE49-F238E27FC236}">
                <a16:creationId xmlns:a16="http://schemas.microsoft.com/office/drawing/2014/main" id="{94E567B2-40CF-45FA-B9F9-A1B39A99C7FF}"/>
              </a:ext>
            </a:extLst>
          </p:cNvPr>
          <p:cNvSpPr>
            <a:spLocks xmlns:a="http://schemas.openxmlformats.org/drawingml/2006/main" noGrp="1"/>
          </p:cNvSpPr>
          <p:nvPr/>
        </p:nvSpPr>
        <p:spPr>
          <a:xfrm xmlns:a="http://schemas.openxmlformats.org/drawingml/2006/main">
            <a:off x="4343400" y="4974336"/>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batching</a:t>
            </a:r>
            <a:endParaRPr sz="1050"/>
          </a:p>
        </p:txBody>
      </p:sp>
      <p:sp>
        <p:nvSpPr>
          <p:cNvPr id="25" name="STC-13-data-body-4">
            <a:extLst xmlns:a="http://schemas.openxmlformats.org/drawingml/2006/main">
              <a:ext uri="{FF2B5EF4-FFF2-40B4-BE49-F238E27FC236}">
                <a16:creationId xmlns:a16="http://schemas.microsoft.com/office/drawing/2014/main" id="{2C57AF49-F2CA-4C91-AE9F-A85EF45878C8}"/>
              </a:ext>
            </a:extLst>
          </p:cNvPr>
          <p:cNvSpPr>
            <a:spLocks xmlns:a="http://schemas.openxmlformats.org/drawingml/2006/main" noGrp="1"/>
          </p:cNvSpPr>
          <p:nvPr/>
        </p:nvSpPr>
        <p:spPr>
          <a:xfrm xmlns:a="http://schemas.openxmlformats.org/drawingml/2006/main">
            <a:off x="5961888" y="4901184"/>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E는 온전, W는 부분 파손, Θ는 delta 단위 파손</a:t>
            </a:r>
            <a:endParaRPr sz="1350"/>
          </a:p>
        </p:txBody>
      </p:sp>
      <p:sp>
        <p:nvSpPr>
          <p:cNvPr id="26" name="STC-13-data-warning">
            <a:extLst xmlns:a="http://schemas.openxmlformats.org/drawingml/2006/main">
              <a:ext uri="{FF2B5EF4-FFF2-40B4-BE49-F238E27FC236}">
                <a16:creationId xmlns:a16="http://schemas.microsoft.com/office/drawing/2014/main" id="{FE09EF05-9A9A-4209-946A-2FFD878EDF5A}"/>
              </a:ext>
            </a:extLst>
          </p:cNvPr>
          <p:cNvSpPr>
            <a:spLocks xmlns:a="http://schemas.openxmlformats.org/drawingml/2006/main" noGrp="1"/>
          </p:cNvSpPr>
          <p:nvPr/>
        </p:nvSpPr>
        <p:spPr>
          <a:xfrm xmlns:a="http://schemas.openxmlformats.org/drawingml/2006/main">
            <a:off x="2286000" y="5623560"/>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ans CJK KR"/>
                <a:ea typeface="Noto Sans CJK KR"/>
                <a:cs typeface="Noto Sans CJK KR"/>
              </a:rPr>
              <a:t>요청과 독립. 임의 시점에 삭제 가능</a:t>
            </a:r>
            <a:endParaRPr sz="1800"/>
          </a:p>
        </p:txBody>
      </p:sp>
    </p:spTree>
    <p:extLst>
      <p:ext uri="{BB962C8B-B14F-4D97-AF65-F5344CB8AC3E}">
        <p14:creationId xmlns:p14="http://schemas.microsoft.com/office/powerpoint/2010/main" val="877466157"/>
      </p:ext>
    </p:extLst>
  </p:cSld>
</p:sld>
</file>

<file path=ppt/slides/slide1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6-section">
            <a:extLst xmlns:a="http://schemas.openxmlformats.org/drawingml/2006/main">
              <a:ext uri="{FF2B5EF4-FFF2-40B4-BE49-F238E27FC236}">
                <a16:creationId xmlns:a16="http://schemas.microsoft.com/office/drawing/2014/main" id="{1EAEABEC-DD0D-4D7C-AA45-BE33B2388F81}"/>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16-slide-id">
            <a:extLst xmlns:a="http://schemas.openxmlformats.org/drawingml/2006/main">
              <a:ext uri="{FF2B5EF4-FFF2-40B4-BE49-F238E27FC236}">
                <a16:creationId xmlns:a16="http://schemas.microsoft.com/office/drawing/2014/main" id="{148035CD-3605-4EDB-8925-9EAAD53CDD1E}"/>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STC-012</a:t>
            </a:r>
            <a:endParaRPr sz="950"/>
          </a:p>
        </p:txBody>
      </p:sp>
      <p:sp>
        <p:nvSpPr>
          <p:cNvPr id="4" name="STC-16-headline">
            <a:extLst xmlns:a="http://schemas.openxmlformats.org/drawingml/2006/main">
              <a:ext uri="{FF2B5EF4-FFF2-40B4-BE49-F238E27FC236}">
                <a16:creationId xmlns:a16="http://schemas.microsoft.com/office/drawing/2014/main" id="{31F39839-5A4F-4AB6-A314-6FCD6EBB293B}"/>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읽기는 하나 — 세 층을 모두 통과한다</a:t>
            </a:r>
            <a:endParaRPr sz="3000"/>
          </a:p>
        </p:txBody>
      </p:sp>
      <p:sp>
        <p:nvSpPr>
          <p:cNvPr id="5" name="STC-16-status-label">
            <a:extLst xmlns:a="http://schemas.openxmlformats.org/drawingml/2006/main">
              <a:ext uri="{FF2B5EF4-FFF2-40B4-BE49-F238E27FC236}">
                <a16:creationId xmlns:a16="http://schemas.microsoft.com/office/drawing/2014/main" id="{85F97C6D-2152-4166-9EF2-FB1A30075CA5}"/>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식 (R)</a:t>
            </a:r>
            <a:endParaRPr sz="1000"/>
          </a:p>
        </p:txBody>
      </p:sp>
      <p:sp>
        <p:nvSpPr>
          <p:cNvPr id="6" name="STC-16-status-rule">
            <a:extLst xmlns:a="http://schemas.openxmlformats.org/drawingml/2006/main">
              <a:ext uri="{FF2B5EF4-FFF2-40B4-BE49-F238E27FC236}">
                <a16:creationId xmlns:a16="http://schemas.microsoft.com/office/drawing/2014/main" id="{92B0A0F6-E926-46D4-AABF-CD6F912C19B5}"/>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6-footer-rule">
            <a:extLst xmlns:a="http://schemas.openxmlformats.org/drawingml/2006/main">
              <a:ext uri="{FF2B5EF4-FFF2-40B4-BE49-F238E27FC236}">
                <a16:creationId xmlns:a16="http://schemas.microsoft.com/office/drawing/2014/main" id="{78479DB6-1C83-41B6-931F-D82AA487E2AF}"/>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6-source-footer">
            <a:extLst xmlns:a="http://schemas.openxmlformats.org/drawingml/2006/main">
              <a:ext uri="{FF2B5EF4-FFF2-40B4-BE49-F238E27FC236}">
                <a16:creationId xmlns:a16="http://schemas.microsoft.com/office/drawing/2014/main" id="{CCF7D512-F8C3-424D-AAC0-0F61432BB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ch01 §01.3 식 (R)</a:t>
            </a:r>
            <a:endParaRPr sz="850"/>
          </a:p>
        </p:txBody>
      </p:sp>
      <p:sp>
        <p:nvSpPr>
          <p:cNvPr id="9" name="STC-16-page-number">
            <a:extLst xmlns:a="http://schemas.openxmlformats.org/drawingml/2006/main">
              <a:ext uri="{FF2B5EF4-FFF2-40B4-BE49-F238E27FC236}">
                <a16:creationId xmlns:a16="http://schemas.microsoft.com/office/drawing/2014/main" id="{CB3F831C-0E59-4B32-AF78-33BF4F5C4D2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12</a:t>
            </a:r>
            <a:endParaRPr sz="850"/>
          </a:p>
        </p:txBody>
      </p:sp>
      <p:sp>
        <p:nvSpPr>
          <p:cNvPr id="11" name="STC-16-nfr-stage-0">
            <a:extLst xmlns:a="http://schemas.openxmlformats.org/drawingml/2006/main">
              <a:ext uri="{FF2B5EF4-FFF2-40B4-BE49-F238E27FC236}">
                <a16:creationId xmlns:a16="http://schemas.microsoft.com/office/drawing/2014/main" id="{BD7BCBEA-7D7C-45F9-940D-B9D49D82B0A9}"/>
              </a:ext>
            </a:extLst>
          </p:cNvPr>
          <p:cNvSpPr>
            <a:spLocks xmlns:a="http://schemas.openxmlformats.org/drawingml/2006/main" noGrp="1"/>
          </p:cNvSpPr>
          <p:nvPr/>
        </p:nvSpPr>
        <p:spPr>
          <a:xfrm xmlns:a="http://schemas.openxmlformats.org/drawingml/2006/main">
            <a:off x="868680" y="2240280"/>
            <a:ext cx="1874520" cy="713232"/>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2" name="STC-16-nfr-label-0">
            <a:extLst xmlns:a="http://schemas.openxmlformats.org/drawingml/2006/main">
              <a:ext uri="{FF2B5EF4-FFF2-40B4-BE49-F238E27FC236}">
                <a16:creationId xmlns:a16="http://schemas.microsoft.com/office/drawing/2014/main" id="{C63A95E6-8E06-4CF9-97A4-DA00A0F19370}"/>
              </a:ext>
            </a:extLst>
          </p:cNvPr>
          <p:cNvSpPr>
            <a:spLocks xmlns:a="http://schemas.openxmlformats.org/drawingml/2006/main" noGrp="1"/>
          </p:cNvSpPr>
          <p:nvPr/>
        </p:nvSpPr>
        <p:spPr>
          <a:xfrm xmlns:a="http://schemas.openxmlformats.org/drawingml/2006/main">
            <a:off x="9784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44E8A"/>
                </a:solidFill>
                <a:latin typeface="Noto Sans Mono CJK KR"/>
                <a:ea typeface="Noto Sans Mono CJK KR"/>
                <a:cs typeface="Noto Sans Mono CJK KR"/>
              </a:rPr>
              <a:t>질의 q</a:t>
            </a:r>
            <a:endParaRPr sz="1200"/>
          </a:p>
        </p:txBody>
      </p:sp>
      <p:sp>
        <p:nvSpPr>
          <p:cNvPr id="13" name="STC-16-nfr-arrow-0">
            <a:extLst xmlns:a="http://schemas.openxmlformats.org/drawingml/2006/main">
              <a:ext uri="{FF2B5EF4-FFF2-40B4-BE49-F238E27FC236}">
                <a16:creationId xmlns:a16="http://schemas.microsoft.com/office/drawing/2014/main" id="{93F6E238-5933-4840-8DE8-81F14BF46719}"/>
              </a:ext>
            </a:extLst>
          </p:cNvPr>
          <p:cNvSpPr>
            <a:spLocks xmlns:a="http://schemas.openxmlformats.org/drawingml/2006/main" noGrp="1"/>
          </p:cNvSpPr>
          <p:nvPr/>
        </p:nvSpPr>
        <p:spPr>
          <a:xfrm xmlns:a="http://schemas.openxmlformats.org/drawingml/2006/main">
            <a:off x="28437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4" name="STC-16-nfr-stage-1">
            <a:extLst xmlns:a="http://schemas.openxmlformats.org/drawingml/2006/main">
              <a:ext uri="{FF2B5EF4-FFF2-40B4-BE49-F238E27FC236}">
                <a16:creationId xmlns:a16="http://schemas.microsoft.com/office/drawing/2014/main" id="{6E375C46-F347-452D-B530-0C46A84896AE}"/>
              </a:ext>
            </a:extLst>
          </p:cNvPr>
          <p:cNvSpPr>
            <a:spLocks xmlns:a="http://schemas.openxmlformats.org/drawingml/2006/main" noGrp="1"/>
          </p:cNvSpPr>
          <p:nvPr/>
        </p:nvSpPr>
        <p:spPr>
          <a:xfrm xmlns:a="http://schemas.openxmlformats.org/drawingml/2006/main">
            <a:off x="2926080" y="2240280"/>
            <a:ext cx="1874520" cy="713232"/>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6-nfr-label-1">
            <a:extLst xmlns:a="http://schemas.openxmlformats.org/drawingml/2006/main">
              <a:ext uri="{FF2B5EF4-FFF2-40B4-BE49-F238E27FC236}">
                <a16:creationId xmlns:a16="http://schemas.microsoft.com/office/drawing/2014/main" id="{EE98E794-C92B-4BCD-9AA0-C007E2C3A901}"/>
              </a:ext>
            </a:extLst>
          </p:cNvPr>
          <p:cNvSpPr>
            <a:spLocks xmlns:a="http://schemas.openxmlformats.org/drawingml/2006/main" noGrp="1"/>
          </p:cNvSpPr>
          <p:nvPr/>
        </p:nvSpPr>
        <p:spPr>
          <a:xfrm xmlns:a="http://schemas.openxmlformats.org/drawingml/2006/main">
            <a:off x="30358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F6B63"/>
                </a:solidFill>
                <a:latin typeface="Noto Sans Mono CJK KR"/>
                <a:ea typeface="Noto Sans Mono CJK KR"/>
                <a:cs typeface="Noto Sans Mono CJK KR"/>
              </a:rPr>
              <a:t>Θ 가중치</a:t>
            </a:r>
            <a:endParaRPr sz="1200"/>
          </a:p>
        </p:txBody>
      </p:sp>
      <p:sp>
        <p:nvSpPr>
          <p:cNvPr id="16" name="STC-16-nfr-arrow-1">
            <a:extLst xmlns:a="http://schemas.openxmlformats.org/drawingml/2006/main">
              <a:ext uri="{FF2B5EF4-FFF2-40B4-BE49-F238E27FC236}">
                <a16:creationId xmlns:a16="http://schemas.microsoft.com/office/drawing/2014/main" id="{9C699781-3533-4C0E-A37B-9441C305C79A}"/>
              </a:ext>
            </a:extLst>
          </p:cNvPr>
          <p:cNvSpPr>
            <a:spLocks xmlns:a="http://schemas.openxmlformats.org/drawingml/2006/main" noGrp="1"/>
          </p:cNvSpPr>
          <p:nvPr/>
        </p:nvSpPr>
        <p:spPr>
          <a:xfrm xmlns:a="http://schemas.openxmlformats.org/drawingml/2006/main">
            <a:off x="49011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7" name="STC-16-nfr-stage-2">
            <a:extLst xmlns:a="http://schemas.openxmlformats.org/drawingml/2006/main">
              <a:ext uri="{FF2B5EF4-FFF2-40B4-BE49-F238E27FC236}">
                <a16:creationId xmlns:a16="http://schemas.microsoft.com/office/drawing/2014/main" id="{F770F86E-4C00-4545-A7D5-B4D15AB17334}"/>
              </a:ext>
            </a:extLst>
          </p:cNvPr>
          <p:cNvSpPr>
            <a:spLocks xmlns:a="http://schemas.openxmlformats.org/drawingml/2006/main" noGrp="1"/>
          </p:cNvSpPr>
          <p:nvPr/>
        </p:nvSpPr>
        <p:spPr>
          <a:xfrm xmlns:a="http://schemas.openxmlformats.org/drawingml/2006/main">
            <a:off x="5532120" y="2240280"/>
            <a:ext cx="1874520" cy="713232"/>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8" name="STC-16-nfr-label-2">
            <a:extLst xmlns:a="http://schemas.openxmlformats.org/drawingml/2006/main">
              <a:ext uri="{FF2B5EF4-FFF2-40B4-BE49-F238E27FC236}">
                <a16:creationId xmlns:a16="http://schemas.microsoft.com/office/drawing/2014/main" id="{0CA58183-872F-423D-A5A2-DC11CA73C438}"/>
              </a:ext>
            </a:extLst>
          </p:cNvPr>
          <p:cNvSpPr>
            <a:spLocks xmlns:a="http://schemas.openxmlformats.org/drawingml/2006/main" noGrp="1"/>
          </p:cNvSpPr>
          <p:nvPr/>
        </p:nvSpPr>
        <p:spPr>
          <a:xfrm xmlns:a="http://schemas.openxmlformats.org/drawingml/2006/main">
            <a:off x="564184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9A442D"/>
                </a:solidFill>
                <a:latin typeface="Noto Sans Mono CJK KR"/>
                <a:ea typeface="Noto Sans Mono CJK KR"/>
                <a:cs typeface="Noto Sans Mono CJK KR"/>
              </a:rPr>
              <a:t>W 상태</a:t>
            </a:r>
            <a:endParaRPr sz="1200"/>
          </a:p>
        </p:txBody>
      </p:sp>
      <p:sp>
        <p:nvSpPr>
          <p:cNvPr id="19" name="STC-16-nfr-arrow-2">
            <a:extLst xmlns:a="http://schemas.openxmlformats.org/drawingml/2006/main">
              <a:ext uri="{FF2B5EF4-FFF2-40B4-BE49-F238E27FC236}">
                <a16:creationId xmlns:a16="http://schemas.microsoft.com/office/drawing/2014/main" id="{05297B78-DEE0-4182-9A5E-3E5A7CD7F4DA}"/>
              </a:ext>
            </a:extLst>
          </p:cNvPr>
          <p:cNvSpPr>
            <a:spLocks xmlns:a="http://schemas.openxmlformats.org/drawingml/2006/main" noGrp="1"/>
          </p:cNvSpPr>
          <p:nvPr/>
        </p:nvSpPr>
        <p:spPr>
          <a:xfrm xmlns:a="http://schemas.openxmlformats.org/drawingml/2006/main">
            <a:off x="750722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20" name="STC-16-nfr-stage-3">
            <a:extLst xmlns:a="http://schemas.openxmlformats.org/drawingml/2006/main">
              <a:ext uri="{FF2B5EF4-FFF2-40B4-BE49-F238E27FC236}">
                <a16:creationId xmlns:a16="http://schemas.microsoft.com/office/drawing/2014/main" id="{39A20466-7E4D-40E4-A7D7-42F469ECC895}"/>
              </a:ext>
            </a:extLst>
          </p:cNvPr>
          <p:cNvSpPr>
            <a:spLocks xmlns:a="http://schemas.openxmlformats.org/drawingml/2006/main" noGrp="1"/>
          </p:cNvSpPr>
          <p:nvPr/>
        </p:nvSpPr>
        <p:spPr>
          <a:xfrm xmlns:a="http://schemas.openxmlformats.org/drawingml/2006/main">
            <a:off x="8366760" y="2240280"/>
            <a:ext cx="1874520" cy="71323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16-nfr-label-3">
            <a:extLst xmlns:a="http://schemas.openxmlformats.org/drawingml/2006/main">
              <a:ext uri="{FF2B5EF4-FFF2-40B4-BE49-F238E27FC236}">
                <a16:creationId xmlns:a16="http://schemas.microsoft.com/office/drawing/2014/main" id="{C3585ECC-6437-4548-BCD2-77F576045CDC}"/>
              </a:ext>
            </a:extLst>
          </p:cNvPr>
          <p:cNvSpPr>
            <a:spLocks xmlns:a="http://schemas.openxmlformats.org/drawingml/2006/main" noGrp="1"/>
          </p:cNvSpPr>
          <p:nvPr/>
        </p:nvSpPr>
        <p:spPr>
          <a:xfrm xmlns:a="http://schemas.openxmlformats.org/drawingml/2006/main">
            <a:off x="847648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Noto Sans Mono CJK KR"/>
                <a:ea typeface="Noto Sans Mono CJK KR"/>
                <a:cs typeface="Noto Sans Mono CJK KR"/>
              </a:rPr>
              <a:t>ret(E,q)</a:t>
            </a:r>
            <a:endParaRPr sz="1200"/>
          </a:p>
        </p:txBody>
      </p:sp>
      <p:sp>
        <p:nvSpPr>
          <p:cNvPr id="22" name="STC-16-nfr-equation">
            <a:extLst xmlns:a="http://schemas.openxmlformats.org/drawingml/2006/main">
              <a:ext uri="{FF2B5EF4-FFF2-40B4-BE49-F238E27FC236}">
                <a16:creationId xmlns:a16="http://schemas.microsoft.com/office/drawing/2014/main" id="{BE0CB8F9-6DA2-4314-B150-9934237AD497}"/>
              </a:ext>
            </a:extLst>
          </p:cNvPr>
          <p:cNvSpPr>
            <a:spLocks xmlns:a="http://schemas.openxmlformats.org/drawingml/2006/main" noGrp="1"/>
          </p:cNvSpPr>
          <p:nvPr/>
        </p:nvSpPr>
        <p:spPr>
          <a:xfrm xmlns:a="http://schemas.openxmlformats.org/drawingml/2006/main">
            <a:off x="2898648" y="3310128"/>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ŷ=f(q;Θ,W,E)</a:t>
            </a:r>
            <a:endParaRPr sz="2300"/>
          </a:p>
        </p:txBody>
      </p:sp>
      <p:sp>
        <p:nvSpPr>
          <p:cNvPr id="23" name="STC-16-nfr-result">
            <a:extLst xmlns:a="http://schemas.openxmlformats.org/drawingml/2006/main">
              <a:ext uri="{FF2B5EF4-FFF2-40B4-BE49-F238E27FC236}">
                <a16:creationId xmlns:a16="http://schemas.microsoft.com/office/drawing/2014/main" id="{C4A2FE2B-A37D-47CC-9BE0-490EB409D23D}"/>
              </a:ext>
            </a:extLst>
          </p:cNvPr>
          <p:cNvSpPr>
            <a:spLocks xmlns:a="http://schemas.openxmlformats.org/drawingml/2006/main" noGrp="1"/>
          </p:cNvSpPr>
          <p:nvPr/>
        </p:nvSpPr>
        <p:spPr>
          <a:xfrm xmlns:a="http://schemas.openxmlformats.org/drawingml/2006/main">
            <a:off x="5669280" y="3310128"/>
            <a:ext cx="22402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 세 층을 모두 읽는다</a:t>
            </a:r>
            <a:endParaRPr sz="2300"/>
          </a:p>
        </p:txBody>
      </p:sp>
      <p:sp>
        <p:nvSpPr>
          <p:cNvPr id="24" name="STC-16-nfr-result-arrow">
            <a:extLst xmlns:a="http://schemas.openxmlformats.org/drawingml/2006/main">
              <a:ext uri="{FF2B5EF4-FFF2-40B4-BE49-F238E27FC236}">
                <a16:creationId xmlns:a16="http://schemas.microsoft.com/office/drawing/2014/main" id="{1E4EFA29-21C2-4F8C-B607-F96D778A8A44}"/>
              </a:ext>
            </a:extLst>
          </p:cNvPr>
          <p:cNvSpPr>
            <a:spLocks xmlns:a="http://schemas.openxmlformats.org/drawingml/2006/main" noGrp="1"/>
          </p:cNvSpPr>
          <p:nvPr/>
        </p:nvSpPr>
        <p:spPr>
          <a:xfrm xmlns:a="http://schemas.openxmlformats.org/drawingml/2006/main">
            <a:off x="4937760" y="3493008"/>
            <a:ext cx="658368" cy="0"/>
          </a:xfrm>
          <a:prstGeom xmlns:a="http://schemas.openxmlformats.org/drawingml/2006/main" prst="line">
            <a:avLst/>
          </a:prstGeom>
          <a:noFill xmlns:a="http://schemas.openxmlformats.org/drawingml/2006/main"/>
          <a:ln xmlns:a="http://schemas.openxmlformats.org/drawingml/2006/main" w="19050">
            <a:solidFill>
              <a:srgbClr val="9A442D"/>
            </a:solidFill>
            <a:prstDash val="solid"/>
            <a:tailEnd type="triangle"/>
          </a:ln>
        </p:spPr>
      </p:sp>
      <p:sp>
        <p:nvSpPr>
          <p:cNvPr id="25" name="STC-16-nfr-carriers">
            <a:extLst xmlns:a="http://schemas.openxmlformats.org/drawingml/2006/main">
              <a:ext uri="{FF2B5EF4-FFF2-40B4-BE49-F238E27FC236}">
                <a16:creationId xmlns:a16="http://schemas.microsoft.com/office/drawing/2014/main" id="{2D5BB60A-9D8E-40F6-B3BC-8D23ECC75064}"/>
              </a:ext>
            </a:extLst>
          </p:cNvPr>
          <p:cNvSpPr>
            <a:spLocks xmlns:a="http://schemas.openxmlformats.org/drawingml/2006/main" noGrp="1"/>
          </p:cNvSpPr>
          <p:nvPr/>
        </p:nvSpPr>
        <p:spPr>
          <a:xfrm xmlns:a="http://schemas.openxmlformats.org/drawingml/2006/main">
            <a:off x="1143000" y="4261104"/>
            <a:ext cx="9838944" cy="10607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26" name="STC-16-nfr-carriers-label">
            <a:extLst xmlns:a="http://schemas.openxmlformats.org/drawingml/2006/main">
              <a:ext uri="{FF2B5EF4-FFF2-40B4-BE49-F238E27FC236}">
                <a16:creationId xmlns:a16="http://schemas.microsoft.com/office/drawing/2014/main" id="{5C382C2E-7982-40CC-9D71-4AFD2B2B295F}"/>
              </a:ext>
            </a:extLst>
          </p:cNvPr>
          <p:cNvSpPr>
            <a:spLocks xmlns:a="http://schemas.openxmlformats.org/drawingml/2006/main" noGrp="1"/>
          </p:cNvSpPr>
          <p:nvPr/>
        </p:nvSpPr>
        <p:spPr>
          <a:xfrm xmlns:a="http://schemas.openxmlformats.org/drawingml/2006/main">
            <a:off x="1389888" y="4526280"/>
            <a:ext cx="1234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2F6B63"/>
                </a:solidFill>
                <a:latin typeface="Noto Sans CJK KR"/>
                <a:ea typeface="Noto Sans CJK KR"/>
                <a:cs typeface="Noto Sans CJK KR"/>
              </a:rPr>
              <a:t>질의 q</a:t>
            </a:r>
            <a:endParaRPr sz="1700"/>
          </a:p>
        </p:txBody>
      </p:sp>
      <p:sp>
        <p:nvSpPr>
          <p:cNvPr id="27" name="STC-16-nfr-carriers-text">
            <a:extLst xmlns:a="http://schemas.openxmlformats.org/drawingml/2006/main">
              <a:ext uri="{FF2B5EF4-FFF2-40B4-BE49-F238E27FC236}">
                <a16:creationId xmlns:a16="http://schemas.microsoft.com/office/drawing/2014/main" id="{5AA006B0-54B0-4040-95FB-9C38FC9F5627}"/>
              </a:ext>
            </a:extLst>
          </p:cNvPr>
          <p:cNvSpPr>
            <a:spLocks xmlns:a="http://schemas.openxmlformats.org/drawingml/2006/main" noGrp="1"/>
          </p:cNvSpPr>
          <p:nvPr/>
        </p:nvSpPr>
        <p:spPr>
          <a:xfrm xmlns:a="http://schemas.openxmlformats.org/drawingml/2006/main">
            <a:off x="2788920" y="4434840"/>
            <a:ext cx="7818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50" b="1">
                <a:solidFill>
                  <a:srgbClr val="17191C"/>
                </a:solidFill>
                <a:latin typeface="Noto Sans CJK KR"/>
                <a:ea typeface="Noto Sans CJK KR"/>
                <a:cs typeface="Noto Sans CJK KR"/>
              </a:rPr>
              <a:t>ret(E,q)는 여러분 어휘로 vector DB 조회 한 번이고, 비용도 그렇게 회계한다</a:t>
            </a:r>
            <a:endParaRPr sz="1750"/>
          </a:p>
        </p:txBody>
      </p:sp>
      <p:sp>
        <p:nvSpPr>
          <p:cNvPr id="28" name="STC-16-nfr-carriers-note">
            <a:extLst xmlns:a="http://schemas.openxmlformats.org/drawingml/2006/main">
              <a:ext uri="{FF2B5EF4-FFF2-40B4-BE49-F238E27FC236}">
                <a16:creationId xmlns:a16="http://schemas.microsoft.com/office/drawing/2014/main" id="{61EA9E4F-60C4-4072-BF50-77434A086591}"/>
              </a:ext>
            </a:extLst>
          </p:cNvPr>
          <p:cNvSpPr>
            <a:spLocks xmlns:a="http://schemas.openxmlformats.org/drawingml/2006/main" noGrp="1"/>
          </p:cNvSpPr>
          <p:nvPr/>
        </p:nvSpPr>
        <p:spPr>
          <a:xfrm xmlns:a="http://schemas.openxmlformats.org/drawingml/2006/main">
            <a:off x="2788920" y="4974336"/>
            <a:ext cx="781812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a:solidFill>
                  <a:srgbClr val="59616A"/>
                </a:solidFill>
                <a:latin typeface="Noto Sans CJK KR"/>
                <a:ea typeface="Noto Sans CJK KR"/>
                <a:cs typeface="Noto Sans CJK KR"/>
              </a:rPr>
              <a:t>ret(E,q)는 vector DB 조회 한 번. L_w에만 잡힌다</a:t>
            </a:r>
            <a:endParaRPr sz="1400"/>
          </a:p>
        </p:txBody>
      </p:sp>
    </p:spTree>
    <p:extLst>
      <p:ext uri="{BB962C8B-B14F-4D97-AF65-F5344CB8AC3E}">
        <p14:creationId xmlns:p14="http://schemas.microsoft.com/office/powerpoint/2010/main" val="13243900"/>
      </p:ext>
    </p:extLst>
  </p:cSld>
</p:sld>
</file>

<file path=ppt/slides/slide1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6-section">
            <a:extLst xmlns:a="http://schemas.openxmlformats.org/drawingml/2006/main">
              <a:ext uri="{FF2B5EF4-FFF2-40B4-BE49-F238E27FC236}">
                <a16:creationId xmlns:a16="http://schemas.microsoft.com/office/drawing/2014/main" id="{1EAEABEC-DD0D-4D7C-AA45-BE33B2388F81}"/>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16-slide-id">
            <a:extLst xmlns:a="http://schemas.openxmlformats.org/drawingml/2006/main">
              <a:ext uri="{FF2B5EF4-FFF2-40B4-BE49-F238E27FC236}">
                <a16:creationId xmlns:a16="http://schemas.microsoft.com/office/drawing/2014/main" id="{148035CD-3605-4EDB-8925-9EAAD53CDD1E}"/>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STC-013</a:t>
            </a:r>
            <a:endParaRPr sz="950"/>
          </a:p>
        </p:txBody>
      </p:sp>
      <p:sp>
        <p:nvSpPr>
          <p:cNvPr id="4" name="STC-16-headline">
            <a:extLst xmlns:a="http://schemas.openxmlformats.org/drawingml/2006/main">
              <a:ext uri="{FF2B5EF4-FFF2-40B4-BE49-F238E27FC236}">
                <a16:creationId xmlns:a16="http://schemas.microsoft.com/office/drawing/2014/main" id="{31F39839-5A4F-4AB6-A314-6FCD6EBB293B}"/>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쓰기 ① — fast weights에 쓴다</a:t>
            </a:r>
            <a:endParaRPr sz="3000"/>
          </a:p>
        </p:txBody>
      </p:sp>
      <p:sp>
        <p:nvSpPr>
          <p:cNvPr id="5" name="STC-16-status-label">
            <a:extLst xmlns:a="http://schemas.openxmlformats.org/drawingml/2006/main">
              <a:ext uri="{FF2B5EF4-FFF2-40B4-BE49-F238E27FC236}">
                <a16:creationId xmlns:a16="http://schemas.microsoft.com/office/drawing/2014/main" id="{85F97C6D-2152-4166-9EF2-FB1A30075CA5}"/>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식 (U-W)</a:t>
            </a:r>
            <a:endParaRPr sz="1000"/>
          </a:p>
        </p:txBody>
      </p:sp>
      <p:sp>
        <p:nvSpPr>
          <p:cNvPr id="6" name="STC-16-status-rule">
            <a:extLst xmlns:a="http://schemas.openxmlformats.org/drawingml/2006/main">
              <a:ext uri="{FF2B5EF4-FFF2-40B4-BE49-F238E27FC236}">
                <a16:creationId xmlns:a16="http://schemas.microsoft.com/office/drawing/2014/main" id="{92B0A0F6-E926-46D4-AABF-CD6F912C19B5}"/>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6-footer-rule">
            <a:extLst xmlns:a="http://schemas.openxmlformats.org/drawingml/2006/main">
              <a:ext uri="{FF2B5EF4-FFF2-40B4-BE49-F238E27FC236}">
                <a16:creationId xmlns:a16="http://schemas.microsoft.com/office/drawing/2014/main" id="{78479DB6-1C83-41B6-931F-D82AA487E2AF}"/>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6-source-footer">
            <a:extLst xmlns:a="http://schemas.openxmlformats.org/drawingml/2006/main">
              <a:ext uri="{FF2B5EF4-FFF2-40B4-BE49-F238E27FC236}">
                <a16:creationId xmlns:a16="http://schemas.microsoft.com/office/drawing/2014/main" id="{CCF7D512-F8C3-424D-AAC0-0F61432BB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ch01 §01.3 식 (U-W) · NM 식 (M)</a:t>
            </a:r>
            <a:endParaRPr sz="850"/>
          </a:p>
        </p:txBody>
      </p:sp>
      <p:sp>
        <p:nvSpPr>
          <p:cNvPr id="9" name="STC-16-page-number">
            <a:extLst xmlns:a="http://schemas.openxmlformats.org/drawingml/2006/main">
              <a:ext uri="{FF2B5EF4-FFF2-40B4-BE49-F238E27FC236}">
                <a16:creationId xmlns:a16="http://schemas.microsoft.com/office/drawing/2014/main" id="{CB3F831C-0E59-4B32-AF78-33BF4F5C4D2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13</a:t>
            </a:r>
            <a:endParaRPr sz="850"/>
          </a:p>
        </p:txBody>
      </p:sp>
      <p:sp>
        <p:nvSpPr>
          <p:cNvPr id="11" name="STC-16-nfr-stage-0">
            <a:extLst xmlns:a="http://schemas.openxmlformats.org/drawingml/2006/main">
              <a:ext uri="{FF2B5EF4-FFF2-40B4-BE49-F238E27FC236}">
                <a16:creationId xmlns:a16="http://schemas.microsoft.com/office/drawing/2014/main" id="{BD7BCBEA-7D7C-45F9-940D-B9D49D82B0A9}"/>
              </a:ext>
            </a:extLst>
          </p:cNvPr>
          <p:cNvSpPr>
            <a:spLocks xmlns:a="http://schemas.openxmlformats.org/drawingml/2006/main" noGrp="1"/>
          </p:cNvSpPr>
          <p:nvPr/>
        </p:nvSpPr>
        <p:spPr>
          <a:xfrm xmlns:a="http://schemas.openxmlformats.org/drawingml/2006/main">
            <a:off x="868680" y="2240280"/>
            <a:ext cx="1874520" cy="713232"/>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2" name="STC-16-nfr-label-0">
            <a:extLst xmlns:a="http://schemas.openxmlformats.org/drawingml/2006/main">
              <a:ext uri="{FF2B5EF4-FFF2-40B4-BE49-F238E27FC236}">
                <a16:creationId xmlns:a16="http://schemas.microsoft.com/office/drawing/2014/main" id="{C63A95E6-8E06-4CF9-97A4-DA00A0F19370}"/>
              </a:ext>
            </a:extLst>
          </p:cNvPr>
          <p:cNvSpPr>
            <a:spLocks xmlns:a="http://schemas.openxmlformats.org/drawingml/2006/main" noGrp="1"/>
          </p:cNvSpPr>
          <p:nvPr/>
        </p:nvSpPr>
        <p:spPr>
          <a:xfrm xmlns:a="http://schemas.openxmlformats.org/drawingml/2006/main">
            <a:off x="9784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44E8A"/>
                </a:solidFill>
                <a:latin typeface="Noto Sans Mono CJK KR"/>
                <a:ea typeface="Noto Sans Mono CJK KR"/>
                <a:cs typeface="Noto Sans Mono CJK KR"/>
              </a:rPr>
              <a:t>α 남김비율</a:t>
            </a:r>
            <a:endParaRPr sz="1200"/>
          </a:p>
        </p:txBody>
      </p:sp>
      <p:sp>
        <p:nvSpPr>
          <p:cNvPr id="13" name="STC-16-nfr-arrow-0">
            <a:extLst xmlns:a="http://schemas.openxmlformats.org/drawingml/2006/main">
              <a:ext uri="{FF2B5EF4-FFF2-40B4-BE49-F238E27FC236}">
                <a16:creationId xmlns:a16="http://schemas.microsoft.com/office/drawing/2014/main" id="{93F6E238-5933-4840-8DE8-81F14BF46719}"/>
              </a:ext>
            </a:extLst>
          </p:cNvPr>
          <p:cNvSpPr>
            <a:spLocks xmlns:a="http://schemas.openxmlformats.org/drawingml/2006/main" noGrp="1"/>
          </p:cNvSpPr>
          <p:nvPr/>
        </p:nvSpPr>
        <p:spPr>
          <a:xfrm xmlns:a="http://schemas.openxmlformats.org/drawingml/2006/main">
            <a:off x="28437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4" name="STC-16-nfr-stage-1">
            <a:extLst xmlns:a="http://schemas.openxmlformats.org/drawingml/2006/main">
              <a:ext uri="{FF2B5EF4-FFF2-40B4-BE49-F238E27FC236}">
                <a16:creationId xmlns:a16="http://schemas.microsoft.com/office/drawing/2014/main" id="{6E375C46-F347-452D-B530-0C46A84896AE}"/>
              </a:ext>
            </a:extLst>
          </p:cNvPr>
          <p:cNvSpPr>
            <a:spLocks xmlns:a="http://schemas.openxmlformats.org/drawingml/2006/main" noGrp="1"/>
          </p:cNvSpPr>
          <p:nvPr/>
        </p:nvSpPr>
        <p:spPr>
          <a:xfrm xmlns:a="http://schemas.openxmlformats.org/drawingml/2006/main">
            <a:off x="2926080" y="2240280"/>
            <a:ext cx="1874520" cy="713232"/>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6-nfr-label-1">
            <a:extLst xmlns:a="http://schemas.openxmlformats.org/drawingml/2006/main">
              <a:ext uri="{FF2B5EF4-FFF2-40B4-BE49-F238E27FC236}">
                <a16:creationId xmlns:a16="http://schemas.microsoft.com/office/drawing/2014/main" id="{EE98E794-C92B-4BCD-9AA0-C007E2C3A901}"/>
              </a:ext>
            </a:extLst>
          </p:cNvPr>
          <p:cNvSpPr>
            <a:spLocks xmlns:a="http://schemas.openxmlformats.org/drawingml/2006/main" noGrp="1"/>
          </p:cNvSpPr>
          <p:nvPr/>
        </p:nvSpPr>
        <p:spPr>
          <a:xfrm xmlns:a="http://schemas.openxmlformats.org/drawingml/2006/main">
            <a:off x="30358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F6B63"/>
                </a:solidFill>
                <a:latin typeface="Noto Sans Mono CJK KR"/>
                <a:ea typeface="Noto Sans Mono CJK KR"/>
                <a:cs typeface="Noto Sans Mono CJK KR"/>
              </a:rPr>
              <a:t>S 모멘텀</a:t>
            </a:r>
            <a:endParaRPr sz="1200"/>
          </a:p>
        </p:txBody>
      </p:sp>
      <p:sp>
        <p:nvSpPr>
          <p:cNvPr id="16" name="STC-16-nfr-arrow-1">
            <a:extLst xmlns:a="http://schemas.openxmlformats.org/drawingml/2006/main">
              <a:ext uri="{FF2B5EF4-FFF2-40B4-BE49-F238E27FC236}">
                <a16:creationId xmlns:a16="http://schemas.microsoft.com/office/drawing/2014/main" id="{9C699781-3533-4C0E-A37B-9441C305C79A}"/>
              </a:ext>
            </a:extLst>
          </p:cNvPr>
          <p:cNvSpPr>
            <a:spLocks xmlns:a="http://schemas.openxmlformats.org/drawingml/2006/main" noGrp="1"/>
          </p:cNvSpPr>
          <p:nvPr/>
        </p:nvSpPr>
        <p:spPr>
          <a:xfrm xmlns:a="http://schemas.openxmlformats.org/drawingml/2006/main">
            <a:off x="49011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7" name="STC-16-nfr-stage-2">
            <a:extLst xmlns:a="http://schemas.openxmlformats.org/drawingml/2006/main">
              <a:ext uri="{FF2B5EF4-FFF2-40B4-BE49-F238E27FC236}">
                <a16:creationId xmlns:a16="http://schemas.microsoft.com/office/drawing/2014/main" id="{F770F86E-4C00-4545-A7D5-B4D15AB17334}"/>
              </a:ext>
            </a:extLst>
          </p:cNvPr>
          <p:cNvSpPr>
            <a:spLocks xmlns:a="http://schemas.openxmlformats.org/drawingml/2006/main" noGrp="1"/>
          </p:cNvSpPr>
          <p:nvPr/>
        </p:nvSpPr>
        <p:spPr>
          <a:xfrm xmlns:a="http://schemas.openxmlformats.org/drawingml/2006/main">
            <a:off x="5532120" y="2240280"/>
            <a:ext cx="1874520" cy="713232"/>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8" name="STC-16-nfr-label-2">
            <a:extLst xmlns:a="http://schemas.openxmlformats.org/drawingml/2006/main">
              <a:ext uri="{FF2B5EF4-FFF2-40B4-BE49-F238E27FC236}">
                <a16:creationId xmlns:a16="http://schemas.microsoft.com/office/drawing/2014/main" id="{0CA58183-872F-423D-A5A2-DC11CA73C438}"/>
              </a:ext>
            </a:extLst>
          </p:cNvPr>
          <p:cNvSpPr>
            <a:spLocks xmlns:a="http://schemas.openxmlformats.org/drawingml/2006/main" noGrp="1"/>
          </p:cNvSpPr>
          <p:nvPr/>
        </p:nvSpPr>
        <p:spPr>
          <a:xfrm xmlns:a="http://schemas.openxmlformats.org/drawingml/2006/main">
            <a:off x="564184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9A442D"/>
                </a:solidFill>
                <a:latin typeface="Noto Sans Mono CJK KR"/>
                <a:ea typeface="Noto Sans Mono CJK KR"/>
                <a:cs typeface="Noto Sans Mono CJK KR"/>
              </a:rPr>
              <a:t>η inner lr</a:t>
            </a:r>
            <a:endParaRPr sz="1200"/>
          </a:p>
        </p:txBody>
      </p:sp>
      <p:sp>
        <p:nvSpPr>
          <p:cNvPr id="19" name="STC-16-nfr-arrow-2">
            <a:extLst xmlns:a="http://schemas.openxmlformats.org/drawingml/2006/main">
              <a:ext uri="{FF2B5EF4-FFF2-40B4-BE49-F238E27FC236}">
                <a16:creationId xmlns:a16="http://schemas.microsoft.com/office/drawing/2014/main" id="{05297B78-DEE0-4182-9A5E-3E5A7CD7F4DA}"/>
              </a:ext>
            </a:extLst>
          </p:cNvPr>
          <p:cNvSpPr>
            <a:spLocks xmlns:a="http://schemas.openxmlformats.org/drawingml/2006/main" noGrp="1"/>
          </p:cNvSpPr>
          <p:nvPr/>
        </p:nvSpPr>
        <p:spPr>
          <a:xfrm xmlns:a="http://schemas.openxmlformats.org/drawingml/2006/main">
            <a:off x="750722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20" name="STC-16-nfr-stage-3">
            <a:extLst xmlns:a="http://schemas.openxmlformats.org/drawingml/2006/main">
              <a:ext uri="{FF2B5EF4-FFF2-40B4-BE49-F238E27FC236}">
                <a16:creationId xmlns:a16="http://schemas.microsoft.com/office/drawing/2014/main" id="{39A20466-7E4D-40E4-A7D7-42F469ECC895}"/>
              </a:ext>
            </a:extLst>
          </p:cNvPr>
          <p:cNvSpPr>
            <a:spLocks xmlns:a="http://schemas.openxmlformats.org/drawingml/2006/main" noGrp="1"/>
          </p:cNvSpPr>
          <p:nvPr/>
        </p:nvSpPr>
        <p:spPr>
          <a:xfrm xmlns:a="http://schemas.openxmlformats.org/drawingml/2006/main">
            <a:off x="8366760" y="2240280"/>
            <a:ext cx="1874520" cy="71323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16-nfr-label-3">
            <a:extLst xmlns:a="http://schemas.openxmlformats.org/drawingml/2006/main">
              <a:ext uri="{FF2B5EF4-FFF2-40B4-BE49-F238E27FC236}">
                <a16:creationId xmlns:a16="http://schemas.microsoft.com/office/drawing/2014/main" id="{C3585ECC-6437-4548-BCD2-77F576045CDC}"/>
              </a:ext>
            </a:extLst>
          </p:cNvPr>
          <p:cNvSpPr>
            <a:spLocks xmlns:a="http://schemas.openxmlformats.org/drawingml/2006/main" noGrp="1"/>
          </p:cNvSpPr>
          <p:nvPr/>
        </p:nvSpPr>
        <p:spPr>
          <a:xfrm xmlns:a="http://schemas.openxmlformats.org/drawingml/2006/main">
            <a:off x="847648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Noto Sans Mono CJK KR"/>
                <a:ea typeface="Noto Sans Mono CJK KR"/>
                <a:cs typeface="Noto Sans Mono CJK KR"/>
              </a:rPr>
              <a:t>시계 = 토큰</a:t>
            </a:r>
            <a:endParaRPr sz="1200"/>
          </a:p>
        </p:txBody>
      </p:sp>
      <p:sp>
        <p:nvSpPr>
          <p:cNvPr id="22" name="STC-16-nfr-equation">
            <a:extLst xmlns:a="http://schemas.openxmlformats.org/drawingml/2006/main">
              <a:ext uri="{FF2B5EF4-FFF2-40B4-BE49-F238E27FC236}">
                <a16:creationId xmlns:a16="http://schemas.microsoft.com/office/drawing/2014/main" id="{BE0CB8F9-6DA2-4314-B150-9934237AD497}"/>
              </a:ext>
            </a:extLst>
          </p:cNvPr>
          <p:cNvSpPr>
            <a:spLocks xmlns:a="http://schemas.openxmlformats.org/drawingml/2006/main" noGrp="1"/>
          </p:cNvSpPr>
          <p:nvPr/>
        </p:nvSpPr>
        <p:spPr>
          <a:xfrm xmlns:a="http://schemas.openxmlformats.org/drawingml/2006/main">
            <a:off x="2898648" y="3310128"/>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W=αW+S</a:t>
            </a:r>
            <a:endParaRPr sz="2300"/>
          </a:p>
        </p:txBody>
      </p:sp>
      <p:sp>
        <p:nvSpPr>
          <p:cNvPr id="23" name="STC-16-nfr-result">
            <a:extLst xmlns:a="http://schemas.openxmlformats.org/drawingml/2006/main">
              <a:ext uri="{FF2B5EF4-FFF2-40B4-BE49-F238E27FC236}">
                <a16:creationId xmlns:a16="http://schemas.microsoft.com/office/drawing/2014/main" id="{C4A2FE2B-A37D-47CC-9BE0-490EB409D23D}"/>
              </a:ext>
            </a:extLst>
          </p:cNvPr>
          <p:cNvSpPr>
            <a:spLocks xmlns:a="http://schemas.openxmlformats.org/drawingml/2006/main" noGrp="1"/>
          </p:cNvSpPr>
          <p:nvPr/>
        </p:nvSpPr>
        <p:spPr>
          <a:xfrm xmlns:a="http://schemas.openxmlformats.org/drawingml/2006/main">
            <a:off x="5669280" y="3310128"/>
            <a:ext cx="22402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 시계는 토큰</a:t>
            </a:r>
            <a:endParaRPr sz="2300"/>
          </a:p>
        </p:txBody>
      </p:sp>
      <p:sp>
        <p:nvSpPr>
          <p:cNvPr id="24" name="STC-16-nfr-result-arrow">
            <a:extLst xmlns:a="http://schemas.openxmlformats.org/drawingml/2006/main">
              <a:ext uri="{FF2B5EF4-FFF2-40B4-BE49-F238E27FC236}">
                <a16:creationId xmlns:a16="http://schemas.microsoft.com/office/drawing/2014/main" id="{1E4EFA29-21C2-4F8C-B607-F96D778A8A44}"/>
              </a:ext>
            </a:extLst>
          </p:cNvPr>
          <p:cNvSpPr>
            <a:spLocks xmlns:a="http://schemas.openxmlformats.org/drawingml/2006/main" noGrp="1"/>
          </p:cNvSpPr>
          <p:nvPr/>
        </p:nvSpPr>
        <p:spPr>
          <a:xfrm xmlns:a="http://schemas.openxmlformats.org/drawingml/2006/main">
            <a:off x="4937760" y="3493008"/>
            <a:ext cx="658368" cy="0"/>
          </a:xfrm>
          <a:prstGeom xmlns:a="http://schemas.openxmlformats.org/drawingml/2006/main" prst="line">
            <a:avLst/>
          </a:prstGeom>
          <a:noFill xmlns:a="http://schemas.openxmlformats.org/drawingml/2006/main"/>
          <a:ln xmlns:a="http://schemas.openxmlformats.org/drawingml/2006/main" w="19050">
            <a:solidFill>
              <a:srgbClr val="9A442D"/>
            </a:solidFill>
            <a:prstDash val="solid"/>
            <a:tailEnd type="triangle"/>
          </a:ln>
        </p:spPr>
      </p:sp>
      <p:sp>
        <p:nvSpPr>
          <p:cNvPr id="25" name="STC-16-nfr-carriers">
            <a:extLst xmlns:a="http://schemas.openxmlformats.org/drawingml/2006/main">
              <a:ext uri="{FF2B5EF4-FFF2-40B4-BE49-F238E27FC236}">
                <a16:creationId xmlns:a16="http://schemas.microsoft.com/office/drawing/2014/main" id="{2D5BB60A-9D8E-40F6-B3BC-8D23ECC75064}"/>
              </a:ext>
            </a:extLst>
          </p:cNvPr>
          <p:cNvSpPr>
            <a:spLocks xmlns:a="http://schemas.openxmlformats.org/drawingml/2006/main" noGrp="1"/>
          </p:cNvSpPr>
          <p:nvPr/>
        </p:nvSpPr>
        <p:spPr>
          <a:xfrm xmlns:a="http://schemas.openxmlformats.org/drawingml/2006/main">
            <a:off x="1143000" y="4261104"/>
            <a:ext cx="9838944" cy="10607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26" name="STC-16-nfr-carriers-label">
            <a:extLst xmlns:a="http://schemas.openxmlformats.org/drawingml/2006/main">
              <a:ext uri="{FF2B5EF4-FFF2-40B4-BE49-F238E27FC236}">
                <a16:creationId xmlns:a16="http://schemas.microsoft.com/office/drawing/2014/main" id="{5C382C2E-7982-40CC-9D71-4AFD2B2B295F}"/>
              </a:ext>
            </a:extLst>
          </p:cNvPr>
          <p:cNvSpPr>
            <a:spLocks xmlns:a="http://schemas.openxmlformats.org/drawingml/2006/main" noGrp="1"/>
          </p:cNvSpPr>
          <p:nvPr/>
        </p:nvSpPr>
        <p:spPr>
          <a:xfrm xmlns:a="http://schemas.openxmlformats.org/drawingml/2006/main">
            <a:off x="1389888" y="4526280"/>
            <a:ext cx="1234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2F6B63"/>
                </a:solidFill>
                <a:latin typeface="Noto Sans CJK KR"/>
                <a:ea typeface="Noto Sans CJK KR"/>
                <a:cs typeface="Noto Sans CJK KR"/>
              </a:rPr>
              <a:t>α 남김비율</a:t>
            </a:r>
            <a:endParaRPr sz="1700"/>
          </a:p>
        </p:txBody>
      </p:sp>
      <p:sp>
        <p:nvSpPr>
          <p:cNvPr id="27" name="STC-16-nfr-carriers-text">
            <a:extLst xmlns:a="http://schemas.openxmlformats.org/drawingml/2006/main">
              <a:ext uri="{FF2B5EF4-FFF2-40B4-BE49-F238E27FC236}">
                <a16:creationId xmlns:a16="http://schemas.microsoft.com/office/drawing/2014/main" id="{5AA006B0-54B0-4040-95FB-9C38FC9F5627}"/>
              </a:ext>
            </a:extLst>
          </p:cNvPr>
          <p:cNvSpPr>
            <a:spLocks xmlns:a="http://schemas.openxmlformats.org/drawingml/2006/main" noGrp="1"/>
          </p:cNvSpPr>
          <p:nvPr/>
        </p:nvSpPr>
        <p:spPr>
          <a:xfrm xmlns:a="http://schemas.openxmlformats.org/drawingml/2006/main">
            <a:off x="2788920" y="4434840"/>
            <a:ext cx="7818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50" b="1">
                <a:solidFill>
                  <a:srgbClr val="17191C"/>
                </a:solidFill>
                <a:latin typeface="Noto Sans CJK KR"/>
                <a:ea typeface="Noto Sans CJK KR"/>
                <a:cs typeface="Noto Sans CJK KR"/>
              </a:rPr>
              <a:t>이 식은 앞 모노그래프의 master equation과 글자 그대로 같다. 재정의하지 않는다</a:t>
            </a:r>
            <a:endParaRPr sz="1750"/>
          </a:p>
        </p:txBody>
      </p:sp>
      <p:sp>
        <p:nvSpPr>
          <p:cNvPr id="28" name="STC-16-nfr-carriers-note">
            <a:extLst xmlns:a="http://schemas.openxmlformats.org/drawingml/2006/main">
              <a:ext uri="{FF2B5EF4-FFF2-40B4-BE49-F238E27FC236}">
                <a16:creationId xmlns:a16="http://schemas.microsoft.com/office/drawing/2014/main" id="{61EA9E4F-60C4-4072-BF50-77434A086591}"/>
              </a:ext>
            </a:extLst>
          </p:cNvPr>
          <p:cNvSpPr>
            <a:spLocks xmlns:a="http://schemas.openxmlformats.org/drawingml/2006/main" noGrp="1"/>
          </p:cNvSpPr>
          <p:nvPr/>
        </p:nvSpPr>
        <p:spPr>
          <a:xfrm xmlns:a="http://schemas.openxmlformats.org/drawingml/2006/main">
            <a:off x="2788920" y="4974336"/>
            <a:ext cx="781812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a:solidFill>
                  <a:srgbClr val="59616A"/>
                </a:solidFill>
                <a:latin typeface="Noto Sans CJK KR"/>
                <a:ea typeface="Noto Sans CJK KR"/>
                <a:cs typeface="Noto Sans CJK KR"/>
              </a:rPr>
              <a:t>NM의 master equation (M)과 글자 그대로 같다</a:t>
            </a:r>
            <a:endParaRPr sz="1400"/>
          </a:p>
        </p:txBody>
      </p:sp>
    </p:spTree>
    <p:extLst>
      <p:ext uri="{BB962C8B-B14F-4D97-AF65-F5344CB8AC3E}">
        <p14:creationId xmlns:p14="http://schemas.microsoft.com/office/powerpoint/2010/main" val="13243900"/>
      </p:ext>
    </p:extLst>
  </p:cSld>
</p:sld>
</file>

<file path=ppt/slides/slide1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6-section">
            <a:extLst xmlns:a="http://schemas.openxmlformats.org/drawingml/2006/main">
              <a:ext uri="{FF2B5EF4-FFF2-40B4-BE49-F238E27FC236}">
                <a16:creationId xmlns:a16="http://schemas.microsoft.com/office/drawing/2014/main" id="{1EAEABEC-DD0D-4D7C-AA45-BE33B2388F81}"/>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16-slide-id">
            <a:extLst xmlns:a="http://schemas.openxmlformats.org/drawingml/2006/main">
              <a:ext uri="{FF2B5EF4-FFF2-40B4-BE49-F238E27FC236}">
                <a16:creationId xmlns:a16="http://schemas.microsoft.com/office/drawing/2014/main" id="{148035CD-3605-4EDB-8925-9EAAD53CDD1E}"/>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STC-014</a:t>
            </a:r>
            <a:endParaRPr sz="950"/>
          </a:p>
        </p:txBody>
      </p:sp>
      <p:sp>
        <p:nvSpPr>
          <p:cNvPr id="4" name="STC-16-headline">
            <a:extLst xmlns:a="http://schemas.openxmlformats.org/drawingml/2006/main">
              <a:ext uri="{FF2B5EF4-FFF2-40B4-BE49-F238E27FC236}">
                <a16:creationId xmlns:a16="http://schemas.microsoft.com/office/drawing/2014/main" id="{31F39839-5A4F-4AB6-A314-6FCD6EBB293B}"/>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쓰기 ② — slow weights에 쓴다</a:t>
            </a:r>
            <a:endParaRPr sz="3000"/>
          </a:p>
        </p:txBody>
      </p:sp>
      <p:sp>
        <p:nvSpPr>
          <p:cNvPr id="5" name="STC-16-status-label">
            <a:extLst xmlns:a="http://schemas.openxmlformats.org/drawingml/2006/main">
              <a:ext uri="{FF2B5EF4-FFF2-40B4-BE49-F238E27FC236}">
                <a16:creationId xmlns:a16="http://schemas.microsoft.com/office/drawing/2014/main" id="{85F97C6D-2152-4166-9EF2-FB1A30075CA5}"/>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식 (U-Θ)</a:t>
            </a:r>
            <a:endParaRPr sz="1000"/>
          </a:p>
        </p:txBody>
      </p:sp>
      <p:sp>
        <p:nvSpPr>
          <p:cNvPr id="6" name="STC-16-status-rule">
            <a:extLst xmlns:a="http://schemas.openxmlformats.org/drawingml/2006/main">
              <a:ext uri="{FF2B5EF4-FFF2-40B4-BE49-F238E27FC236}">
                <a16:creationId xmlns:a16="http://schemas.microsoft.com/office/drawing/2014/main" id="{92B0A0F6-E926-46D4-AABF-CD6F912C19B5}"/>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6-footer-rule">
            <a:extLst xmlns:a="http://schemas.openxmlformats.org/drawingml/2006/main">
              <a:ext uri="{FF2B5EF4-FFF2-40B4-BE49-F238E27FC236}">
                <a16:creationId xmlns:a16="http://schemas.microsoft.com/office/drawing/2014/main" id="{78479DB6-1C83-41B6-931F-D82AA487E2AF}"/>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6-source-footer">
            <a:extLst xmlns:a="http://schemas.openxmlformats.org/drawingml/2006/main">
              <a:ext uri="{FF2B5EF4-FFF2-40B4-BE49-F238E27FC236}">
                <a16:creationId xmlns:a16="http://schemas.microsoft.com/office/drawing/2014/main" id="{CCF7D512-F8C3-424D-AAC0-0F61432BB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ch01 §01.3 식 (U-Θ)</a:t>
            </a:r>
            <a:endParaRPr sz="850"/>
          </a:p>
        </p:txBody>
      </p:sp>
      <p:sp>
        <p:nvSpPr>
          <p:cNvPr id="9" name="STC-16-page-number">
            <a:extLst xmlns:a="http://schemas.openxmlformats.org/drawingml/2006/main">
              <a:ext uri="{FF2B5EF4-FFF2-40B4-BE49-F238E27FC236}">
                <a16:creationId xmlns:a16="http://schemas.microsoft.com/office/drawing/2014/main" id="{CB3F831C-0E59-4B32-AF78-33BF4F5C4D2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14</a:t>
            </a:r>
            <a:endParaRPr sz="850"/>
          </a:p>
        </p:txBody>
      </p:sp>
      <p:sp>
        <p:nvSpPr>
          <p:cNvPr id="11" name="STC-16-nfr-stage-0">
            <a:extLst xmlns:a="http://schemas.openxmlformats.org/drawingml/2006/main">
              <a:ext uri="{FF2B5EF4-FFF2-40B4-BE49-F238E27FC236}">
                <a16:creationId xmlns:a16="http://schemas.microsoft.com/office/drawing/2014/main" id="{BD7BCBEA-7D7C-45F9-940D-B9D49D82B0A9}"/>
              </a:ext>
            </a:extLst>
          </p:cNvPr>
          <p:cNvSpPr>
            <a:spLocks xmlns:a="http://schemas.openxmlformats.org/drawingml/2006/main" noGrp="1"/>
          </p:cNvSpPr>
          <p:nvPr/>
        </p:nvSpPr>
        <p:spPr>
          <a:xfrm xmlns:a="http://schemas.openxmlformats.org/drawingml/2006/main">
            <a:off x="868680" y="2240280"/>
            <a:ext cx="1874520" cy="713232"/>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2" name="STC-16-nfr-label-0">
            <a:extLst xmlns:a="http://schemas.openxmlformats.org/drawingml/2006/main">
              <a:ext uri="{FF2B5EF4-FFF2-40B4-BE49-F238E27FC236}">
                <a16:creationId xmlns:a16="http://schemas.microsoft.com/office/drawing/2014/main" id="{C63A95E6-8E06-4CF9-97A4-DA00A0F19370}"/>
              </a:ext>
            </a:extLst>
          </p:cNvPr>
          <p:cNvSpPr>
            <a:spLocks xmlns:a="http://schemas.openxmlformats.org/drawingml/2006/main" noGrp="1"/>
          </p:cNvSpPr>
          <p:nvPr/>
        </p:nvSpPr>
        <p:spPr>
          <a:xfrm xmlns:a="http://schemas.openxmlformats.org/drawingml/2006/main">
            <a:off x="9784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44E8A"/>
                </a:solidFill>
                <a:latin typeface="Noto Sans Mono CJK KR"/>
                <a:ea typeface="Noto Sans Mono CJK KR"/>
                <a:cs typeface="Noto Sans Mono CJK KR"/>
              </a:rPr>
              <a:t>R_k 학습집합</a:t>
            </a:r>
            <a:endParaRPr sz="1200"/>
          </a:p>
        </p:txBody>
      </p:sp>
      <p:sp>
        <p:nvSpPr>
          <p:cNvPr id="13" name="STC-16-nfr-arrow-0">
            <a:extLst xmlns:a="http://schemas.openxmlformats.org/drawingml/2006/main">
              <a:ext uri="{FF2B5EF4-FFF2-40B4-BE49-F238E27FC236}">
                <a16:creationId xmlns:a16="http://schemas.microsoft.com/office/drawing/2014/main" id="{93F6E238-5933-4840-8DE8-81F14BF46719}"/>
              </a:ext>
            </a:extLst>
          </p:cNvPr>
          <p:cNvSpPr>
            <a:spLocks xmlns:a="http://schemas.openxmlformats.org/drawingml/2006/main" noGrp="1"/>
          </p:cNvSpPr>
          <p:nvPr/>
        </p:nvSpPr>
        <p:spPr>
          <a:xfrm xmlns:a="http://schemas.openxmlformats.org/drawingml/2006/main">
            <a:off x="28437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4" name="STC-16-nfr-stage-1">
            <a:extLst xmlns:a="http://schemas.openxmlformats.org/drawingml/2006/main">
              <a:ext uri="{FF2B5EF4-FFF2-40B4-BE49-F238E27FC236}">
                <a16:creationId xmlns:a16="http://schemas.microsoft.com/office/drawing/2014/main" id="{6E375C46-F347-452D-B530-0C46A84896AE}"/>
              </a:ext>
            </a:extLst>
          </p:cNvPr>
          <p:cNvSpPr>
            <a:spLocks xmlns:a="http://schemas.openxmlformats.org/drawingml/2006/main" noGrp="1"/>
          </p:cNvSpPr>
          <p:nvPr/>
        </p:nvSpPr>
        <p:spPr>
          <a:xfrm xmlns:a="http://schemas.openxmlformats.org/drawingml/2006/main">
            <a:off x="2926080" y="2240280"/>
            <a:ext cx="1874520" cy="713232"/>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6-nfr-label-1">
            <a:extLst xmlns:a="http://schemas.openxmlformats.org/drawingml/2006/main">
              <a:ext uri="{FF2B5EF4-FFF2-40B4-BE49-F238E27FC236}">
                <a16:creationId xmlns:a16="http://schemas.microsoft.com/office/drawing/2014/main" id="{EE98E794-C92B-4BCD-9AA0-C007E2C3A901}"/>
              </a:ext>
            </a:extLst>
          </p:cNvPr>
          <p:cNvSpPr>
            <a:spLocks xmlns:a="http://schemas.openxmlformats.org/drawingml/2006/main" noGrp="1"/>
          </p:cNvSpPr>
          <p:nvPr/>
        </p:nvSpPr>
        <p:spPr>
          <a:xfrm xmlns:a="http://schemas.openxmlformats.org/drawingml/2006/main">
            <a:off x="30358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F6B63"/>
                </a:solidFill>
                <a:latin typeface="Noto Sans Mono CJK KR"/>
                <a:ea typeface="Noto Sans Mono CJK KR"/>
                <a:cs typeface="Noto Sans Mono CJK KR"/>
              </a:rPr>
              <a:t>gen(H;B_s)</a:t>
            </a:r>
            <a:endParaRPr sz="1200"/>
          </a:p>
        </p:txBody>
      </p:sp>
      <p:sp>
        <p:nvSpPr>
          <p:cNvPr id="16" name="STC-16-nfr-arrow-1">
            <a:extLst xmlns:a="http://schemas.openxmlformats.org/drawingml/2006/main">
              <a:ext uri="{FF2B5EF4-FFF2-40B4-BE49-F238E27FC236}">
                <a16:creationId xmlns:a16="http://schemas.microsoft.com/office/drawing/2014/main" id="{9C699781-3533-4C0E-A37B-9441C305C79A}"/>
              </a:ext>
            </a:extLst>
          </p:cNvPr>
          <p:cNvSpPr>
            <a:spLocks xmlns:a="http://schemas.openxmlformats.org/drawingml/2006/main" noGrp="1"/>
          </p:cNvSpPr>
          <p:nvPr/>
        </p:nvSpPr>
        <p:spPr>
          <a:xfrm xmlns:a="http://schemas.openxmlformats.org/drawingml/2006/main">
            <a:off x="49011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7" name="STC-16-nfr-stage-2">
            <a:extLst xmlns:a="http://schemas.openxmlformats.org/drawingml/2006/main">
              <a:ext uri="{FF2B5EF4-FFF2-40B4-BE49-F238E27FC236}">
                <a16:creationId xmlns:a16="http://schemas.microsoft.com/office/drawing/2014/main" id="{F770F86E-4C00-4545-A7D5-B4D15AB17334}"/>
              </a:ext>
            </a:extLst>
          </p:cNvPr>
          <p:cNvSpPr>
            <a:spLocks xmlns:a="http://schemas.openxmlformats.org/drawingml/2006/main" noGrp="1"/>
          </p:cNvSpPr>
          <p:nvPr/>
        </p:nvSpPr>
        <p:spPr>
          <a:xfrm xmlns:a="http://schemas.openxmlformats.org/drawingml/2006/main">
            <a:off x="5532120" y="2240280"/>
            <a:ext cx="1874520" cy="713232"/>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8" name="STC-16-nfr-label-2">
            <a:extLst xmlns:a="http://schemas.openxmlformats.org/drawingml/2006/main">
              <a:ext uri="{FF2B5EF4-FFF2-40B4-BE49-F238E27FC236}">
                <a16:creationId xmlns:a16="http://schemas.microsoft.com/office/drawing/2014/main" id="{0CA58183-872F-423D-A5A2-DC11CA73C438}"/>
              </a:ext>
            </a:extLst>
          </p:cNvPr>
          <p:cNvSpPr>
            <a:spLocks xmlns:a="http://schemas.openxmlformats.org/drawingml/2006/main" noGrp="1"/>
          </p:cNvSpPr>
          <p:nvPr/>
        </p:nvSpPr>
        <p:spPr>
          <a:xfrm xmlns:a="http://schemas.openxmlformats.org/drawingml/2006/main">
            <a:off x="564184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9A442D"/>
                </a:solidFill>
                <a:latin typeface="Noto Sans Mono CJK KR"/>
                <a:ea typeface="Noto Sans Mono CJK KR"/>
                <a:cs typeface="Noto Sans Mono CJK KR"/>
              </a:rPr>
              <a:t>η_Θ sleep lr</a:t>
            </a:r>
            <a:endParaRPr sz="1200"/>
          </a:p>
        </p:txBody>
      </p:sp>
      <p:sp>
        <p:nvSpPr>
          <p:cNvPr id="19" name="STC-16-nfr-arrow-2">
            <a:extLst xmlns:a="http://schemas.openxmlformats.org/drawingml/2006/main">
              <a:ext uri="{FF2B5EF4-FFF2-40B4-BE49-F238E27FC236}">
                <a16:creationId xmlns:a16="http://schemas.microsoft.com/office/drawing/2014/main" id="{05297B78-DEE0-4182-9A5E-3E5A7CD7F4DA}"/>
              </a:ext>
            </a:extLst>
          </p:cNvPr>
          <p:cNvSpPr>
            <a:spLocks xmlns:a="http://schemas.openxmlformats.org/drawingml/2006/main" noGrp="1"/>
          </p:cNvSpPr>
          <p:nvPr/>
        </p:nvSpPr>
        <p:spPr>
          <a:xfrm xmlns:a="http://schemas.openxmlformats.org/drawingml/2006/main">
            <a:off x="750722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20" name="STC-16-nfr-stage-3">
            <a:extLst xmlns:a="http://schemas.openxmlformats.org/drawingml/2006/main">
              <a:ext uri="{FF2B5EF4-FFF2-40B4-BE49-F238E27FC236}">
                <a16:creationId xmlns:a16="http://schemas.microsoft.com/office/drawing/2014/main" id="{39A20466-7E4D-40E4-A7D7-42F469ECC895}"/>
              </a:ext>
            </a:extLst>
          </p:cNvPr>
          <p:cNvSpPr>
            <a:spLocks xmlns:a="http://schemas.openxmlformats.org/drawingml/2006/main" noGrp="1"/>
          </p:cNvSpPr>
          <p:nvPr/>
        </p:nvSpPr>
        <p:spPr>
          <a:xfrm xmlns:a="http://schemas.openxmlformats.org/drawingml/2006/main">
            <a:off x="8366760" y="2240280"/>
            <a:ext cx="1874520" cy="71323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16-nfr-label-3">
            <a:extLst xmlns:a="http://schemas.openxmlformats.org/drawingml/2006/main">
              <a:ext uri="{FF2B5EF4-FFF2-40B4-BE49-F238E27FC236}">
                <a16:creationId xmlns:a16="http://schemas.microsoft.com/office/drawing/2014/main" id="{C3585ECC-6437-4548-BCD2-77F576045CDC}"/>
              </a:ext>
            </a:extLst>
          </p:cNvPr>
          <p:cNvSpPr>
            <a:spLocks xmlns:a="http://schemas.openxmlformats.org/drawingml/2006/main" noGrp="1"/>
          </p:cNvSpPr>
          <p:nvPr/>
        </p:nvSpPr>
        <p:spPr>
          <a:xfrm xmlns:a="http://schemas.openxmlformats.org/drawingml/2006/main">
            <a:off x="847648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Noto Sans Mono CJK KR"/>
                <a:ea typeface="Noto Sans Mono CJK KR"/>
                <a:cs typeface="Noto Sans Mono CJK KR"/>
              </a:rPr>
              <a:t>시계 = 라운드</a:t>
            </a:r>
            <a:endParaRPr sz="1200"/>
          </a:p>
        </p:txBody>
      </p:sp>
      <p:sp>
        <p:nvSpPr>
          <p:cNvPr id="22" name="STC-16-nfr-equation">
            <a:extLst xmlns:a="http://schemas.openxmlformats.org/drawingml/2006/main">
              <a:ext uri="{FF2B5EF4-FFF2-40B4-BE49-F238E27FC236}">
                <a16:creationId xmlns:a16="http://schemas.microsoft.com/office/drawing/2014/main" id="{BE0CB8F9-6DA2-4314-B150-9934237AD497}"/>
              </a:ext>
            </a:extLst>
          </p:cNvPr>
          <p:cNvSpPr>
            <a:spLocks xmlns:a="http://schemas.openxmlformats.org/drawingml/2006/main" noGrp="1"/>
          </p:cNvSpPr>
          <p:nvPr/>
        </p:nvSpPr>
        <p:spPr>
          <a:xfrm xmlns:a="http://schemas.openxmlformats.org/drawingml/2006/main">
            <a:off x="2898648" y="3310128"/>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Θ←Θ−η∇L(R)</a:t>
            </a:r>
            <a:endParaRPr sz="2300"/>
          </a:p>
        </p:txBody>
      </p:sp>
      <p:sp>
        <p:nvSpPr>
          <p:cNvPr id="23" name="STC-16-nfr-result">
            <a:extLst xmlns:a="http://schemas.openxmlformats.org/drawingml/2006/main">
              <a:ext uri="{FF2B5EF4-FFF2-40B4-BE49-F238E27FC236}">
                <a16:creationId xmlns:a16="http://schemas.microsoft.com/office/drawing/2014/main" id="{C4A2FE2B-A37D-47CC-9BE0-490EB409D23D}"/>
              </a:ext>
            </a:extLst>
          </p:cNvPr>
          <p:cNvSpPr>
            <a:spLocks xmlns:a="http://schemas.openxmlformats.org/drawingml/2006/main" noGrp="1"/>
          </p:cNvSpPr>
          <p:nvPr/>
        </p:nvSpPr>
        <p:spPr>
          <a:xfrm xmlns:a="http://schemas.openxmlformats.org/drawingml/2006/main">
            <a:off x="5669280" y="3310128"/>
            <a:ext cx="22402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 시계는 라운드</a:t>
            </a:r>
            <a:endParaRPr sz="2300"/>
          </a:p>
        </p:txBody>
      </p:sp>
      <p:sp>
        <p:nvSpPr>
          <p:cNvPr id="24" name="STC-16-nfr-result-arrow">
            <a:extLst xmlns:a="http://schemas.openxmlformats.org/drawingml/2006/main">
              <a:ext uri="{FF2B5EF4-FFF2-40B4-BE49-F238E27FC236}">
                <a16:creationId xmlns:a16="http://schemas.microsoft.com/office/drawing/2014/main" id="{1E4EFA29-21C2-4F8C-B607-F96D778A8A44}"/>
              </a:ext>
            </a:extLst>
          </p:cNvPr>
          <p:cNvSpPr>
            <a:spLocks xmlns:a="http://schemas.openxmlformats.org/drawingml/2006/main" noGrp="1"/>
          </p:cNvSpPr>
          <p:nvPr/>
        </p:nvSpPr>
        <p:spPr>
          <a:xfrm xmlns:a="http://schemas.openxmlformats.org/drawingml/2006/main">
            <a:off x="4937760" y="3493008"/>
            <a:ext cx="658368" cy="0"/>
          </a:xfrm>
          <a:prstGeom xmlns:a="http://schemas.openxmlformats.org/drawingml/2006/main" prst="line">
            <a:avLst/>
          </a:prstGeom>
          <a:noFill xmlns:a="http://schemas.openxmlformats.org/drawingml/2006/main"/>
          <a:ln xmlns:a="http://schemas.openxmlformats.org/drawingml/2006/main" w="19050">
            <a:solidFill>
              <a:srgbClr val="9A442D"/>
            </a:solidFill>
            <a:prstDash val="solid"/>
            <a:tailEnd type="triangle"/>
          </a:ln>
        </p:spPr>
      </p:sp>
      <p:sp>
        <p:nvSpPr>
          <p:cNvPr id="25" name="STC-16-nfr-carriers">
            <a:extLst xmlns:a="http://schemas.openxmlformats.org/drawingml/2006/main">
              <a:ext uri="{FF2B5EF4-FFF2-40B4-BE49-F238E27FC236}">
                <a16:creationId xmlns:a16="http://schemas.microsoft.com/office/drawing/2014/main" id="{2D5BB60A-9D8E-40F6-B3BC-8D23ECC75064}"/>
              </a:ext>
            </a:extLst>
          </p:cNvPr>
          <p:cNvSpPr>
            <a:spLocks xmlns:a="http://schemas.openxmlformats.org/drawingml/2006/main" noGrp="1"/>
          </p:cNvSpPr>
          <p:nvPr/>
        </p:nvSpPr>
        <p:spPr>
          <a:xfrm xmlns:a="http://schemas.openxmlformats.org/drawingml/2006/main">
            <a:off x="1143000" y="4261104"/>
            <a:ext cx="9838944" cy="10607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26" name="STC-16-nfr-carriers-label">
            <a:extLst xmlns:a="http://schemas.openxmlformats.org/drawingml/2006/main">
              <a:ext uri="{FF2B5EF4-FFF2-40B4-BE49-F238E27FC236}">
                <a16:creationId xmlns:a16="http://schemas.microsoft.com/office/drawing/2014/main" id="{5C382C2E-7982-40CC-9D71-4AFD2B2B295F}"/>
              </a:ext>
            </a:extLst>
          </p:cNvPr>
          <p:cNvSpPr>
            <a:spLocks xmlns:a="http://schemas.openxmlformats.org/drawingml/2006/main" noGrp="1"/>
          </p:cNvSpPr>
          <p:nvPr/>
        </p:nvSpPr>
        <p:spPr>
          <a:xfrm xmlns:a="http://schemas.openxmlformats.org/drawingml/2006/main">
            <a:off x="1389888" y="4526280"/>
            <a:ext cx="1234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2F6B63"/>
                </a:solidFill>
                <a:latin typeface="Noto Sans CJK KR"/>
                <a:ea typeface="Noto Sans CJK KR"/>
                <a:cs typeface="Noto Sans CJK KR"/>
              </a:rPr>
              <a:t>R_k 학습집합</a:t>
            </a:r>
            <a:endParaRPr sz="1700"/>
          </a:p>
        </p:txBody>
      </p:sp>
      <p:sp>
        <p:nvSpPr>
          <p:cNvPr id="27" name="STC-16-nfr-carriers-text">
            <a:extLst xmlns:a="http://schemas.openxmlformats.org/drawingml/2006/main">
              <a:ext uri="{FF2B5EF4-FFF2-40B4-BE49-F238E27FC236}">
                <a16:creationId xmlns:a16="http://schemas.microsoft.com/office/drawing/2014/main" id="{5AA006B0-54B0-4040-95FB-9C38FC9F5627}"/>
              </a:ext>
            </a:extLst>
          </p:cNvPr>
          <p:cNvSpPr>
            <a:spLocks xmlns:a="http://schemas.openxmlformats.org/drawingml/2006/main" noGrp="1"/>
          </p:cNvSpPr>
          <p:nvPr/>
        </p:nvSpPr>
        <p:spPr>
          <a:xfrm xmlns:a="http://schemas.openxmlformats.org/drawingml/2006/main">
            <a:off x="2788920" y="4434840"/>
            <a:ext cx="7818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50" b="1">
                <a:solidFill>
                  <a:srgbClr val="17191C"/>
                </a:solidFill>
                <a:latin typeface="Noto Sans CJK KR"/>
                <a:ea typeface="Noto Sans CJK KR"/>
                <a:cs typeface="Noto Sans CJK KR"/>
              </a:rPr>
              <a:t>R_k를 어떻게 만드는가가 Θ-경로 설계의 절반이고, Part I의 절반이 그 이야기다</a:t>
            </a:r>
            <a:endParaRPr sz="1750"/>
          </a:p>
        </p:txBody>
      </p:sp>
      <p:sp>
        <p:nvSpPr>
          <p:cNvPr id="28" name="STC-16-nfr-carriers-note">
            <a:extLst xmlns:a="http://schemas.openxmlformats.org/drawingml/2006/main">
              <a:ext uri="{FF2B5EF4-FFF2-40B4-BE49-F238E27FC236}">
                <a16:creationId xmlns:a16="http://schemas.microsoft.com/office/drawing/2014/main" id="{61EA9E4F-60C4-4072-BF50-77434A086591}"/>
              </a:ext>
            </a:extLst>
          </p:cNvPr>
          <p:cNvSpPr>
            <a:spLocks xmlns:a="http://schemas.openxmlformats.org/drawingml/2006/main" noGrp="1"/>
          </p:cNvSpPr>
          <p:nvPr/>
        </p:nvSpPr>
        <p:spPr>
          <a:xfrm xmlns:a="http://schemas.openxmlformats.org/drawingml/2006/main">
            <a:off x="2788920" y="4974336"/>
            <a:ext cx="781812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a:solidFill>
                  <a:srgbClr val="59616A"/>
                </a:solidFill>
                <a:latin typeface="Noto Sans CJK KR"/>
                <a:ea typeface="Noto Sans CJK KR"/>
                <a:cs typeface="Noto Sans CJK KR"/>
              </a:rPr>
              <a:t>η_Θ는 inner η와 다르다. 섞어 쓰면 논의가 무너진다</a:t>
            </a:r>
            <a:endParaRPr sz="1400"/>
          </a:p>
        </p:txBody>
      </p:sp>
    </p:spTree>
    <p:extLst>
      <p:ext uri="{BB962C8B-B14F-4D97-AF65-F5344CB8AC3E}">
        <p14:creationId xmlns:p14="http://schemas.microsoft.com/office/powerpoint/2010/main" val="13243900"/>
      </p:ext>
    </p:extLst>
  </p:cSld>
</p:sld>
</file>

<file path=ppt/slides/slide1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6-section">
            <a:extLst xmlns:a="http://schemas.openxmlformats.org/drawingml/2006/main">
              <a:ext uri="{FF2B5EF4-FFF2-40B4-BE49-F238E27FC236}">
                <a16:creationId xmlns:a16="http://schemas.microsoft.com/office/drawing/2014/main" id="{1EAEABEC-DD0D-4D7C-AA45-BE33B2388F81}"/>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16-slide-id">
            <a:extLst xmlns:a="http://schemas.openxmlformats.org/drawingml/2006/main">
              <a:ext uri="{FF2B5EF4-FFF2-40B4-BE49-F238E27FC236}">
                <a16:creationId xmlns:a16="http://schemas.microsoft.com/office/drawing/2014/main" id="{148035CD-3605-4EDB-8925-9EAAD53CDD1E}"/>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STC-015</a:t>
            </a:r>
            <a:endParaRPr sz="950"/>
          </a:p>
        </p:txBody>
      </p:sp>
      <p:sp>
        <p:nvSpPr>
          <p:cNvPr id="4" name="STC-16-headline">
            <a:extLst xmlns:a="http://schemas.openxmlformats.org/drawingml/2006/main">
              <a:ext uri="{FF2B5EF4-FFF2-40B4-BE49-F238E27FC236}">
                <a16:creationId xmlns:a16="http://schemas.microsoft.com/office/drawing/2014/main" id="{31F39839-5A4F-4AB6-A314-6FCD6EBB293B}"/>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쓰기 ③ — 모델 밖에 쓴다</a:t>
            </a:r>
            <a:endParaRPr sz="3000"/>
          </a:p>
        </p:txBody>
      </p:sp>
      <p:sp>
        <p:nvSpPr>
          <p:cNvPr id="5" name="STC-16-status-label">
            <a:extLst xmlns:a="http://schemas.openxmlformats.org/drawingml/2006/main">
              <a:ext uri="{FF2B5EF4-FFF2-40B4-BE49-F238E27FC236}">
                <a16:creationId xmlns:a16="http://schemas.microsoft.com/office/drawing/2014/main" id="{85F97C6D-2152-4166-9EF2-FB1A30075CA5}"/>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식 (U-E)</a:t>
            </a:r>
            <a:endParaRPr sz="1000"/>
          </a:p>
        </p:txBody>
      </p:sp>
      <p:sp>
        <p:nvSpPr>
          <p:cNvPr id="6" name="STC-16-status-rule">
            <a:extLst xmlns:a="http://schemas.openxmlformats.org/drawingml/2006/main">
              <a:ext uri="{FF2B5EF4-FFF2-40B4-BE49-F238E27FC236}">
                <a16:creationId xmlns:a16="http://schemas.microsoft.com/office/drawing/2014/main" id="{92B0A0F6-E926-46D4-AABF-CD6F912C19B5}"/>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6-footer-rule">
            <a:extLst xmlns:a="http://schemas.openxmlformats.org/drawingml/2006/main">
              <a:ext uri="{FF2B5EF4-FFF2-40B4-BE49-F238E27FC236}">
                <a16:creationId xmlns:a16="http://schemas.microsoft.com/office/drawing/2014/main" id="{78479DB6-1C83-41B6-931F-D82AA487E2AF}"/>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6-source-footer">
            <a:extLst xmlns:a="http://schemas.openxmlformats.org/drawingml/2006/main">
              <a:ext uri="{FF2B5EF4-FFF2-40B4-BE49-F238E27FC236}">
                <a16:creationId xmlns:a16="http://schemas.microsoft.com/office/drawing/2014/main" id="{CCF7D512-F8C3-424D-AAC0-0F61432BB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ch01 §01.3 식 (U-E)</a:t>
            </a:r>
            <a:endParaRPr sz="850"/>
          </a:p>
        </p:txBody>
      </p:sp>
      <p:sp>
        <p:nvSpPr>
          <p:cNvPr id="9" name="STC-16-page-number">
            <a:extLst xmlns:a="http://schemas.openxmlformats.org/drawingml/2006/main">
              <a:ext uri="{FF2B5EF4-FFF2-40B4-BE49-F238E27FC236}">
                <a16:creationId xmlns:a16="http://schemas.microsoft.com/office/drawing/2014/main" id="{CB3F831C-0E59-4B32-AF78-33BF4F5C4D2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15</a:t>
            </a:r>
            <a:endParaRPr sz="850"/>
          </a:p>
        </p:txBody>
      </p:sp>
      <p:sp>
        <p:nvSpPr>
          <p:cNvPr id="11" name="STC-16-nfr-stage-0">
            <a:extLst xmlns:a="http://schemas.openxmlformats.org/drawingml/2006/main">
              <a:ext uri="{FF2B5EF4-FFF2-40B4-BE49-F238E27FC236}">
                <a16:creationId xmlns:a16="http://schemas.microsoft.com/office/drawing/2014/main" id="{BD7BCBEA-7D7C-45F9-940D-B9D49D82B0A9}"/>
              </a:ext>
            </a:extLst>
          </p:cNvPr>
          <p:cNvSpPr>
            <a:spLocks xmlns:a="http://schemas.openxmlformats.org/drawingml/2006/main" noGrp="1"/>
          </p:cNvSpPr>
          <p:nvPr/>
        </p:nvSpPr>
        <p:spPr>
          <a:xfrm xmlns:a="http://schemas.openxmlformats.org/drawingml/2006/main">
            <a:off x="868680" y="2240280"/>
            <a:ext cx="1874520" cy="713232"/>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2" name="STC-16-nfr-label-0">
            <a:extLst xmlns:a="http://schemas.openxmlformats.org/drawingml/2006/main">
              <a:ext uri="{FF2B5EF4-FFF2-40B4-BE49-F238E27FC236}">
                <a16:creationId xmlns:a16="http://schemas.microsoft.com/office/drawing/2014/main" id="{C63A95E6-8E06-4CF9-97A4-DA00A0F19370}"/>
              </a:ext>
            </a:extLst>
          </p:cNvPr>
          <p:cNvSpPr>
            <a:spLocks xmlns:a="http://schemas.openxmlformats.org/drawingml/2006/main" noGrp="1"/>
          </p:cNvSpPr>
          <p:nvPr/>
        </p:nvSpPr>
        <p:spPr>
          <a:xfrm xmlns:a="http://schemas.openxmlformats.org/drawingml/2006/main">
            <a:off x="9784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44E8A"/>
                </a:solidFill>
                <a:latin typeface="Noto Sans Mono CJK KR"/>
                <a:ea typeface="Noto Sans Mono CJK KR"/>
                <a:cs typeface="Noto Sans Mono CJK KR"/>
              </a:rPr>
              <a:t>ĉ = S(c;B_s)</a:t>
            </a:r>
            <a:endParaRPr sz="1200"/>
          </a:p>
        </p:txBody>
      </p:sp>
      <p:sp>
        <p:nvSpPr>
          <p:cNvPr id="13" name="STC-16-nfr-arrow-0">
            <a:extLst xmlns:a="http://schemas.openxmlformats.org/drawingml/2006/main">
              <a:ext uri="{FF2B5EF4-FFF2-40B4-BE49-F238E27FC236}">
                <a16:creationId xmlns:a16="http://schemas.microsoft.com/office/drawing/2014/main" id="{93F6E238-5933-4840-8DE8-81F14BF46719}"/>
              </a:ext>
            </a:extLst>
          </p:cNvPr>
          <p:cNvSpPr>
            <a:spLocks xmlns:a="http://schemas.openxmlformats.org/drawingml/2006/main" noGrp="1"/>
          </p:cNvSpPr>
          <p:nvPr/>
        </p:nvSpPr>
        <p:spPr>
          <a:xfrm xmlns:a="http://schemas.openxmlformats.org/drawingml/2006/main">
            <a:off x="28437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4" name="STC-16-nfr-stage-1">
            <a:extLst xmlns:a="http://schemas.openxmlformats.org/drawingml/2006/main">
              <a:ext uri="{FF2B5EF4-FFF2-40B4-BE49-F238E27FC236}">
                <a16:creationId xmlns:a16="http://schemas.microsoft.com/office/drawing/2014/main" id="{6E375C46-F347-452D-B530-0C46A84896AE}"/>
              </a:ext>
            </a:extLst>
          </p:cNvPr>
          <p:cNvSpPr>
            <a:spLocks xmlns:a="http://schemas.openxmlformats.org/drawingml/2006/main" noGrp="1"/>
          </p:cNvSpPr>
          <p:nvPr/>
        </p:nvSpPr>
        <p:spPr>
          <a:xfrm xmlns:a="http://schemas.openxmlformats.org/drawingml/2006/main">
            <a:off x="2926080" y="2240280"/>
            <a:ext cx="1874520" cy="713232"/>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6-nfr-label-1">
            <a:extLst xmlns:a="http://schemas.openxmlformats.org/drawingml/2006/main">
              <a:ext uri="{FF2B5EF4-FFF2-40B4-BE49-F238E27FC236}">
                <a16:creationId xmlns:a16="http://schemas.microsoft.com/office/drawing/2014/main" id="{EE98E794-C92B-4BCD-9AA0-C007E2C3A901}"/>
              </a:ext>
            </a:extLst>
          </p:cNvPr>
          <p:cNvSpPr>
            <a:spLocks xmlns:a="http://schemas.openxmlformats.org/drawingml/2006/main" noGrp="1"/>
          </p:cNvSpPr>
          <p:nvPr/>
        </p:nvSpPr>
        <p:spPr>
          <a:xfrm xmlns:a="http://schemas.openxmlformats.org/drawingml/2006/main">
            <a:off x="30358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F6B63"/>
                </a:solidFill>
                <a:latin typeface="Noto Sans Mono CJK KR"/>
                <a:ea typeface="Noto Sans Mono CJK KR"/>
                <a:cs typeface="Noto Sans Mono CJK KR"/>
              </a:rPr>
              <a:t>wr 쓰기연산</a:t>
            </a:r>
            <a:endParaRPr sz="1200"/>
          </a:p>
        </p:txBody>
      </p:sp>
      <p:sp>
        <p:nvSpPr>
          <p:cNvPr id="16" name="STC-16-nfr-arrow-1">
            <a:extLst xmlns:a="http://schemas.openxmlformats.org/drawingml/2006/main">
              <a:ext uri="{FF2B5EF4-FFF2-40B4-BE49-F238E27FC236}">
                <a16:creationId xmlns:a16="http://schemas.microsoft.com/office/drawing/2014/main" id="{9C699781-3533-4C0E-A37B-9441C305C79A}"/>
              </a:ext>
            </a:extLst>
          </p:cNvPr>
          <p:cNvSpPr>
            <a:spLocks xmlns:a="http://schemas.openxmlformats.org/drawingml/2006/main" noGrp="1"/>
          </p:cNvSpPr>
          <p:nvPr/>
        </p:nvSpPr>
        <p:spPr>
          <a:xfrm xmlns:a="http://schemas.openxmlformats.org/drawingml/2006/main">
            <a:off x="49011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7" name="STC-16-nfr-stage-2">
            <a:extLst xmlns:a="http://schemas.openxmlformats.org/drawingml/2006/main">
              <a:ext uri="{FF2B5EF4-FFF2-40B4-BE49-F238E27FC236}">
                <a16:creationId xmlns:a16="http://schemas.microsoft.com/office/drawing/2014/main" id="{F770F86E-4C00-4545-A7D5-B4D15AB17334}"/>
              </a:ext>
            </a:extLst>
          </p:cNvPr>
          <p:cNvSpPr>
            <a:spLocks xmlns:a="http://schemas.openxmlformats.org/drawingml/2006/main" noGrp="1"/>
          </p:cNvSpPr>
          <p:nvPr/>
        </p:nvSpPr>
        <p:spPr>
          <a:xfrm xmlns:a="http://schemas.openxmlformats.org/drawingml/2006/main">
            <a:off x="5532120" y="2240280"/>
            <a:ext cx="1874520" cy="713232"/>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8" name="STC-16-nfr-label-2">
            <a:extLst xmlns:a="http://schemas.openxmlformats.org/drawingml/2006/main">
              <a:ext uri="{FF2B5EF4-FFF2-40B4-BE49-F238E27FC236}">
                <a16:creationId xmlns:a16="http://schemas.microsoft.com/office/drawing/2014/main" id="{0CA58183-872F-423D-A5A2-DC11CA73C438}"/>
              </a:ext>
            </a:extLst>
          </p:cNvPr>
          <p:cNvSpPr>
            <a:spLocks xmlns:a="http://schemas.openxmlformats.org/drawingml/2006/main" noGrp="1"/>
          </p:cNvSpPr>
          <p:nvPr/>
        </p:nvSpPr>
        <p:spPr>
          <a:xfrm xmlns:a="http://schemas.openxmlformats.org/drawingml/2006/main">
            <a:off x="564184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9A442D"/>
                </a:solidFill>
                <a:latin typeface="Noto Sans Mono CJK KR"/>
                <a:ea typeface="Noto Sans Mono CJK KR"/>
                <a:cs typeface="Noto Sans Mono CJK KR"/>
              </a:rPr>
              <a:t>시계 = 세션</a:t>
            </a:r>
            <a:endParaRPr sz="1200"/>
          </a:p>
        </p:txBody>
      </p:sp>
      <p:sp>
        <p:nvSpPr>
          <p:cNvPr id="19" name="STC-16-nfr-arrow-2">
            <a:extLst xmlns:a="http://schemas.openxmlformats.org/drawingml/2006/main">
              <a:ext uri="{FF2B5EF4-FFF2-40B4-BE49-F238E27FC236}">
                <a16:creationId xmlns:a16="http://schemas.microsoft.com/office/drawing/2014/main" id="{05297B78-DEE0-4182-9A5E-3E5A7CD7F4DA}"/>
              </a:ext>
            </a:extLst>
          </p:cNvPr>
          <p:cNvSpPr>
            <a:spLocks xmlns:a="http://schemas.openxmlformats.org/drawingml/2006/main" noGrp="1"/>
          </p:cNvSpPr>
          <p:nvPr/>
        </p:nvSpPr>
        <p:spPr>
          <a:xfrm xmlns:a="http://schemas.openxmlformats.org/drawingml/2006/main">
            <a:off x="750722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20" name="STC-16-nfr-stage-3">
            <a:extLst xmlns:a="http://schemas.openxmlformats.org/drawingml/2006/main">
              <a:ext uri="{FF2B5EF4-FFF2-40B4-BE49-F238E27FC236}">
                <a16:creationId xmlns:a16="http://schemas.microsoft.com/office/drawing/2014/main" id="{39A20466-7E4D-40E4-A7D7-42F469ECC895}"/>
              </a:ext>
            </a:extLst>
          </p:cNvPr>
          <p:cNvSpPr>
            <a:spLocks xmlns:a="http://schemas.openxmlformats.org/drawingml/2006/main" noGrp="1"/>
          </p:cNvSpPr>
          <p:nvPr/>
        </p:nvSpPr>
        <p:spPr>
          <a:xfrm xmlns:a="http://schemas.openxmlformats.org/drawingml/2006/main">
            <a:off x="8366760" y="2240280"/>
            <a:ext cx="1874520" cy="71323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16-nfr-label-3">
            <a:extLst xmlns:a="http://schemas.openxmlformats.org/drawingml/2006/main">
              <a:ext uri="{FF2B5EF4-FFF2-40B4-BE49-F238E27FC236}">
                <a16:creationId xmlns:a16="http://schemas.microsoft.com/office/drawing/2014/main" id="{C3585ECC-6437-4548-BCD2-77F576045CDC}"/>
              </a:ext>
            </a:extLst>
          </p:cNvPr>
          <p:cNvSpPr>
            <a:spLocks xmlns:a="http://schemas.openxmlformats.org/drawingml/2006/main" noGrp="1"/>
          </p:cNvSpPr>
          <p:nvPr/>
        </p:nvSpPr>
        <p:spPr>
          <a:xfrm xmlns:a="http://schemas.openxmlformats.org/drawingml/2006/main">
            <a:off x="847648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Noto Sans Mono CJK KR"/>
                <a:ea typeface="Noto Sans Mono CJK KR"/>
                <a:cs typeface="Noto Sans Mono CJK KR"/>
              </a:rPr>
              <a:t>Θ·W 불변</a:t>
            </a:r>
            <a:endParaRPr sz="1200"/>
          </a:p>
        </p:txBody>
      </p:sp>
      <p:sp>
        <p:nvSpPr>
          <p:cNvPr id="22" name="STC-16-nfr-equation">
            <a:extLst xmlns:a="http://schemas.openxmlformats.org/drawingml/2006/main">
              <a:ext uri="{FF2B5EF4-FFF2-40B4-BE49-F238E27FC236}">
                <a16:creationId xmlns:a16="http://schemas.microsoft.com/office/drawing/2014/main" id="{BE0CB8F9-6DA2-4314-B150-9934237AD497}"/>
              </a:ext>
            </a:extLst>
          </p:cNvPr>
          <p:cNvSpPr>
            <a:spLocks xmlns:a="http://schemas.openxmlformats.org/drawingml/2006/main" noGrp="1"/>
          </p:cNvSpPr>
          <p:nvPr/>
        </p:nvSpPr>
        <p:spPr>
          <a:xfrm xmlns:a="http://schemas.openxmlformats.org/drawingml/2006/main">
            <a:off x="2898648" y="3310128"/>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E←wr(E,ĉ)</a:t>
            </a:r>
            <a:endParaRPr sz="2300"/>
          </a:p>
        </p:txBody>
      </p:sp>
      <p:sp>
        <p:nvSpPr>
          <p:cNvPr id="23" name="STC-16-nfr-result">
            <a:extLst xmlns:a="http://schemas.openxmlformats.org/drawingml/2006/main">
              <a:ext uri="{FF2B5EF4-FFF2-40B4-BE49-F238E27FC236}">
                <a16:creationId xmlns:a16="http://schemas.microsoft.com/office/drawing/2014/main" id="{C4A2FE2B-A37D-47CC-9BE0-490EB409D23D}"/>
              </a:ext>
            </a:extLst>
          </p:cNvPr>
          <p:cNvSpPr>
            <a:spLocks xmlns:a="http://schemas.openxmlformats.org/drawingml/2006/main" noGrp="1"/>
          </p:cNvSpPr>
          <p:nvPr/>
        </p:nvSpPr>
        <p:spPr>
          <a:xfrm xmlns:a="http://schemas.openxmlformats.org/drawingml/2006/main">
            <a:off x="5669280" y="3310128"/>
            <a:ext cx="22402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 시계는 세션</a:t>
            </a:r>
            <a:endParaRPr sz="2300"/>
          </a:p>
        </p:txBody>
      </p:sp>
      <p:sp>
        <p:nvSpPr>
          <p:cNvPr id="24" name="STC-16-nfr-result-arrow">
            <a:extLst xmlns:a="http://schemas.openxmlformats.org/drawingml/2006/main">
              <a:ext uri="{FF2B5EF4-FFF2-40B4-BE49-F238E27FC236}">
                <a16:creationId xmlns:a16="http://schemas.microsoft.com/office/drawing/2014/main" id="{1E4EFA29-21C2-4F8C-B607-F96D778A8A44}"/>
              </a:ext>
            </a:extLst>
          </p:cNvPr>
          <p:cNvSpPr>
            <a:spLocks xmlns:a="http://schemas.openxmlformats.org/drawingml/2006/main" noGrp="1"/>
          </p:cNvSpPr>
          <p:nvPr/>
        </p:nvSpPr>
        <p:spPr>
          <a:xfrm xmlns:a="http://schemas.openxmlformats.org/drawingml/2006/main">
            <a:off x="4937760" y="3493008"/>
            <a:ext cx="658368" cy="0"/>
          </a:xfrm>
          <a:prstGeom xmlns:a="http://schemas.openxmlformats.org/drawingml/2006/main" prst="line">
            <a:avLst/>
          </a:prstGeom>
          <a:noFill xmlns:a="http://schemas.openxmlformats.org/drawingml/2006/main"/>
          <a:ln xmlns:a="http://schemas.openxmlformats.org/drawingml/2006/main" w="19050">
            <a:solidFill>
              <a:srgbClr val="9A442D"/>
            </a:solidFill>
            <a:prstDash val="solid"/>
            <a:tailEnd type="triangle"/>
          </a:ln>
        </p:spPr>
      </p:sp>
      <p:sp>
        <p:nvSpPr>
          <p:cNvPr id="25" name="STC-16-nfr-carriers">
            <a:extLst xmlns:a="http://schemas.openxmlformats.org/drawingml/2006/main">
              <a:ext uri="{FF2B5EF4-FFF2-40B4-BE49-F238E27FC236}">
                <a16:creationId xmlns:a16="http://schemas.microsoft.com/office/drawing/2014/main" id="{2D5BB60A-9D8E-40F6-B3BC-8D23ECC75064}"/>
              </a:ext>
            </a:extLst>
          </p:cNvPr>
          <p:cNvSpPr>
            <a:spLocks xmlns:a="http://schemas.openxmlformats.org/drawingml/2006/main" noGrp="1"/>
          </p:cNvSpPr>
          <p:nvPr/>
        </p:nvSpPr>
        <p:spPr>
          <a:xfrm xmlns:a="http://schemas.openxmlformats.org/drawingml/2006/main">
            <a:off x="1143000" y="4261104"/>
            <a:ext cx="9838944" cy="10607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26" name="STC-16-nfr-carriers-label">
            <a:extLst xmlns:a="http://schemas.openxmlformats.org/drawingml/2006/main">
              <a:ext uri="{FF2B5EF4-FFF2-40B4-BE49-F238E27FC236}">
                <a16:creationId xmlns:a16="http://schemas.microsoft.com/office/drawing/2014/main" id="{5C382C2E-7982-40CC-9D71-4AFD2B2B295F}"/>
              </a:ext>
            </a:extLst>
          </p:cNvPr>
          <p:cNvSpPr>
            <a:spLocks xmlns:a="http://schemas.openxmlformats.org/drawingml/2006/main" noGrp="1"/>
          </p:cNvSpPr>
          <p:nvPr/>
        </p:nvSpPr>
        <p:spPr>
          <a:xfrm xmlns:a="http://schemas.openxmlformats.org/drawingml/2006/main">
            <a:off x="1389888" y="4526280"/>
            <a:ext cx="1234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2F6B63"/>
                </a:solidFill>
                <a:latin typeface="Noto Sans CJK KR"/>
                <a:ea typeface="Noto Sans CJK KR"/>
                <a:cs typeface="Noto Sans CJK KR"/>
              </a:rPr>
              <a:t>ĉ = S(c;B_s)</a:t>
            </a:r>
            <a:endParaRPr sz="1700"/>
          </a:p>
        </p:txBody>
      </p:sp>
      <p:sp>
        <p:nvSpPr>
          <p:cNvPr id="27" name="STC-16-nfr-carriers-text">
            <a:extLst xmlns:a="http://schemas.openxmlformats.org/drawingml/2006/main">
              <a:ext uri="{FF2B5EF4-FFF2-40B4-BE49-F238E27FC236}">
                <a16:creationId xmlns:a16="http://schemas.microsoft.com/office/drawing/2014/main" id="{5AA006B0-54B0-4040-95FB-9C38FC9F5627}"/>
              </a:ext>
            </a:extLst>
          </p:cNvPr>
          <p:cNvSpPr>
            <a:spLocks xmlns:a="http://schemas.openxmlformats.org/drawingml/2006/main" noGrp="1"/>
          </p:cNvSpPr>
          <p:nvPr/>
        </p:nvSpPr>
        <p:spPr>
          <a:xfrm xmlns:a="http://schemas.openxmlformats.org/drawingml/2006/main">
            <a:off x="2788920" y="4434840"/>
            <a:ext cx="7818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50" b="1">
                <a:solidFill>
                  <a:srgbClr val="17191C"/>
                </a:solidFill>
                <a:latin typeface="Noto Sans CJK KR"/>
                <a:ea typeface="Noto Sans CJK KR"/>
                <a:cs typeface="Noto Sans CJK KR"/>
              </a:rPr>
              <a:t>wr의 형태 — 덮어쓰기인가 합집합인가 판단인가 — 가 E-경로 논문들을 가르는 축이다</a:t>
            </a:r>
            <a:endParaRPr sz="1750"/>
          </a:p>
        </p:txBody>
      </p:sp>
      <p:sp>
        <p:nvSpPr>
          <p:cNvPr id="28" name="STC-16-nfr-carriers-note">
            <a:extLst xmlns:a="http://schemas.openxmlformats.org/drawingml/2006/main">
              <a:ext uri="{FF2B5EF4-FFF2-40B4-BE49-F238E27FC236}">
                <a16:creationId xmlns:a16="http://schemas.microsoft.com/office/drawing/2014/main" id="{61EA9E4F-60C4-4072-BF50-77434A086591}"/>
              </a:ext>
            </a:extLst>
          </p:cNvPr>
          <p:cNvSpPr>
            <a:spLocks xmlns:a="http://schemas.openxmlformats.org/drawingml/2006/main" noGrp="1"/>
          </p:cNvSpPr>
          <p:nvPr/>
        </p:nvSpPr>
        <p:spPr>
          <a:xfrm xmlns:a="http://schemas.openxmlformats.org/drawingml/2006/main">
            <a:off x="2788920" y="4974336"/>
            <a:ext cx="781812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a:solidFill>
                  <a:srgbClr val="59616A"/>
                </a:solidFill>
                <a:latin typeface="Noto Sans CJK KR"/>
                <a:ea typeface="Noto Sans CJK KR"/>
                <a:cs typeface="Noto Sans CJK KR"/>
              </a:rPr>
              <a:t>S에 추론이 들어 있는지가 조건 (2)의 내용이다</a:t>
            </a:r>
            <a:endParaRPr sz="1400"/>
          </a:p>
        </p:txBody>
      </p:sp>
    </p:spTree>
    <p:extLst>
      <p:ext uri="{BB962C8B-B14F-4D97-AF65-F5344CB8AC3E}">
        <p14:creationId xmlns:p14="http://schemas.microsoft.com/office/powerpoint/2010/main" val="13243900"/>
      </p:ext>
    </p:extLst>
  </p:cSld>
</p:sld>
</file>

<file path=ppt/slides/slide1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2-section">
            <a:extLst xmlns:a="http://schemas.openxmlformats.org/drawingml/2006/main">
              <a:ext uri="{FF2B5EF4-FFF2-40B4-BE49-F238E27FC236}">
                <a16:creationId xmlns:a16="http://schemas.microsoft.com/office/drawing/2014/main" id="{B3AE04B8-8245-44A2-8AD4-9A767BB156F4}"/>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02-slide-id">
            <a:extLst xmlns:a="http://schemas.openxmlformats.org/drawingml/2006/main">
              <a:ext uri="{FF2B5EF4-FFF2-40B4-BE49-F238E27FC236}">
                <a16:creationId xmlns:a16="http://schemas.microsoft.com/office/drawing/2014/main" id="{BE855689-E691-4D5A-A176-FA0CC6C672AC}"/>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STC-016</a:t>
            </a:r>
            <a:endParaRPr sz="950"/>
          </a:p>
        </p:txBody>
      </p:sp>
      <p:sp>
        <p:nvSpPr>
          <p:cNvPr id="4" name="STC-02-headline">
            <a:extLst xmlns:a="http://schemas.openxmlformats.org/drawingml/2006/main">
              <a:ext uri="{FF2B5EF4-FFF2-40B4-BE49-F238E27FC236}">
                <a16:creationId xmlns:a16="http://schemas.microsoft.com/office/drawing/2014/main" id="{9F4BA35A-C084-4820-A869-3F58338107FA}"/>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읽는 규칙 하나 — 좌변을 적어라</a:t>
            </a:r>
            <a:endParaRPr sz="3000"/>
          </a:p>
        </p:txBody>
      </p:sp>
      <p:sp>
        <p:nvSpPr>
          <p:cNvPr id="5" name="STC-02-status-label">
            <a:extLst xmlns:a="http://schemas.openxmlformats.org/drawingml/2006/main">
              <a:ext uri="{FF2B5EF4-FFF2-40B4-BE49-F238E27FC236}">
                <a16:creationId xmlns:a16="http://schemas.microsoft.com/office/drawing/2014/main" id="{1B872D46-D4B1-425B-A362-8822456881AC}"/>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규칙</a:t>
            </a:r>
            <a:endParaRPr sz="1000"/>
          </a:p>
        </p:txBody>
      </p:sp>
      <p:sp>
        <p:nvSpPr>
          <p:cNvPr id="6" name="STC-02-status-rule">
            <a:extLst xmlns:a="http://schemas.openxmlformats.org/drawingml/2006/main">
              <a:ext uri="{FF2B5EF4-FFF2-40B4-BE49-F238E27FC236}">
                <a16:creationId xmlns:a16="http://schemas.microsoft.com/office/drawing/2014/main" id="{AAA2BDB5-9AB1-43CC-81F2-726033A947FE}"/>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2-footer-rule">
            <a:extLst xmlns:a="http://schemas.openxmlformats.org/drawingml/2006/main">
              <a:ext uri="{FF2B5EF4-FFF2-40B4-BE49-F238E27FC236}">
                <a16:creationId xmlns:a16="http://schemas.microsoft.com/office/drawing/2014/main" id="{90EAC1C3-0B28-440F-82C3-430CFCB7A87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2-source-footer">
            <a:extLst xmlns:a="http://schemas.openxmlformats.org/drawingml/2006/main">
              <a:ext uri="{FF2B5EF4-FFF2-40B4-BE49-F238E27FC236}">
                <a16:creationId xmlns:a16="http://schemas.microsoft.com/office/drawing/2014/main" id="{793D87D7-D04F-48E5-B4E6-8B70035D63C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ch01 §01.3 [해설]</a:t>
            </a:r>
            <a:endParaRPr sz="850"/>
          </a:p>
        </p:txBody>
      </p:sp>
      <p:sp>
        <p:nvSpPr>
          <p:cNvPr id="9" name="STC-02-page-number">
            <a:extLst xmlns:a="http://schemas.openxmlformats.org/drawingml/2006/main">
              <a:ext uri="{FF2B5EF4-FFF2-40B4-BE49-F238E27FC236}">
                <a16:creationId xmlns:a16="http://schemas.microsoft.com/office/drawing/2014/main" id="{9B82730B-5BA4-40C1-BB36-231F3E2F81B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16</a:t>
            </a:r>
            <a:endParaRPr sz="850"/>
          </a:p>
        </p:txBody>
      </p:sp>
      <p:sp>
        <p:nvSpPr>
          <p:cNvPr id="11" name="STC-02-when">
            <a:extLst xmlns:a="http://schemas.openxmlformats.org/drawingml/2006/main">
              <a:ext uri="{FF2B5EF4-FFF2-40B4-BE49-F238E27FC236}">
                <a16:creationId xmlns:a16="http://schemas.microsoft.com/office/drawing/2014/main" id="{16BCA9BF-B6CB-412C-9306-FDAB2AE1F9FD}"/>
              </a:ext>
            </a:extLst>
          </p:cNvPr>
          <p:cNvSpPr>
            <a:spLocks xmlns:a="http://schemas.openxmlformats.org/drawingml/2006/main" noGrp="1"/>
          </p:cNvSpPr>
          <p:nvPr/>
        </p:nvSpPr>
        <p:spPr>
          <a:xfrm xmlns:a="http://schemas.openxmlformats.org/drawingml/2006/main">
            <a:off x="731520" y="1673352"/>
            <a:ext cx="9601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44E8A"/>
                </a:solidFill>
                <a:latin typeface="Noto Serif CJK KR"/>
                <a:ea typeface="Noto Serif CJK KR"/>
                <a:cs typeface="Noto Serif CJK KR"/>
              </a:rPr>
              <a:t>좌변</a:t>
            </a:r>
            <a:endParaRPr sz="2800"/>
          </a:p>
        </p:txBody>
      </p:sp>
      <p:sp>
        <p:nvSpPr>
          <p:cNvPr id="12" name="STC-02-what">
            <a:extLst xmlns:a="http://schemas.openxmlformats.org/drawingml/2006/main">
              <a:ext uri="{FF2B5EF4-FFF2-40B4-BE49-F238E27FC236}">
                <a16:creationId xmlns:a16="http://schemas.microsoft.com/office/drawing/2014/main" id="{4D549EF3-5805-4997-88E2-74654ACC4A4F}"/>
              </a:ext>
            </a:extLst>
          </p:cNvPr>
          <p:cNvSpPr>
            <a:spLocks xmlns:a="http://schemas.openxmlformats.org/drawingml/2006/main" noGrp="1"/>
          </p:cNvSpPr>
          <p:nvPr/>
        </p:nvSpPr>
        <p:spPr>
          <a:xfrm xmlns:a="http://schemas.openxmlformats.org/drawingml/2006/main">
            <a:off x="731520" y="2761488"/>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9A442D"/>
                </a:solidFill>
                <a:latin typeface="Noto Serif CJK KR"/>
                <a:ea typeface="Noto Serif CJK KR"/>
                <a:cs typeface="Noto Serif CJK KR"/>
              </a:rPr>
              <a:t>첨자</a:t>
            </a:r>
            <a:endParaRPr sz="2800"/>
          </a:p>
        </p:txBody>
      </p:sp>
      <p:sp>
        <p:nvSpPr>
          <p:cNvPr id="13" name="STC-02-where">
            <a:extLst xmlns:a="http://schemas.openxmlformats.org/drawingml/2006/main">
              <a:ext uri="{FF2B5EF4-FFF2-40B4-BE49-F238E27FC236}">
                <a16:creationId xmlns:a16="http://schemas.microsoft.com/office/drawing/2014/main" id="{F2ABEEFC-09C0-4ED9-A436-4F6FF445EF5A}"/>
              </a:ext>
            </a:extLst>
          </p:cNvPr>
          <p:cNvSpPr>
            <a:spLocks xmlns:a="http://schemas.openxmlformats.org/drawingml/2006/main" noGrp="1"/>
          </p:cNvSpPr>
          <p:nvPr/>
        </p:nvSpPr>
        <p:spPr>
          <a:xfrm xmlns:a="http://schemas.openxmlformats.org/drawingml/2006/main">
            <a:off x="731520" y="3849624"/>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F6B63"/>
                </a:solidFill>
                <a:latin typeface="Noto Serif CJK KR"/>
                <a:ea typeface="Noto Serif CJK KR"/>
                <a:cs typeface="Noto Serif CJK KR"/>
              </a:rPr>
              <a:t>소비자</a:t>
            </a:r>
            <a:endParaRPr sz="2800"/>
          </a:p>
        </p:txBody>
      </p:sp>
      <p:sp>
        <p:nvSpPr>
          <p:cNvPr id="14" name="STC-02-when-line">
            <a:extLst xmlns:a="http://schemas.openxmlformats.org/drawingml/2006/main">
              <a:ext uri="{FF2B5EF4-FFF2-40B4-BE49-F238E27FC236}">
                <a16:creationId xmlns:a16="http://schemas.microsoft.com/office/drawing/2014/main" id="{A0043737-4272-4C17-86C1-34866CB1C145}"/>
              </a:ext>
            </a:extLst>
          </p:cNvPr>
          <p:cNvSpPr>
            <a:spLocks xmlns:a="http://schemas.openxmlformats.org/drawingml/2006/main" noGrp="1"/>
          </p:cNvSpPr>
          <p:nvPr/>
        </p:nvSpPr>
        <p:spPr>
          <a:xfrm xmlns:a="http://schemas.openxmlformats.org/drawingml/2006/main">
            <a:off x="2148840" y="1865376"/>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5" name="STC-02-what-line">
            <a:extLst xmlns:a="http://schemas.openxmlformats.org/drawingml/2006/main">
              <a:ext uri="{FF2B5EF4-FFF2-40B4-BE49-F238E27FC236}">
                <a16:creationId xmlns:a16="http://schemas.microsoft.com/office/drawing/2014/main" id="{19984047-E359-40E7-B1A0-D045178C217D}"/>
              </a:ext>
            </a:extLst>
          </p:cNvPr>
          <p:cNvSpPr>
            <a:spLocks xmlns:a="http://schemas.openxmlformats.org/drawingml/2006/main" noGrp="1"/>
          </p:cNvSpPr>
          <p:nvPr/>
        </p:nvSpPr>
        <p:spPr>
          <a:xfrm xmlns:a="http://schemas.openxmlformats.org/drawingml/2006/main">
            <a:off x="2148840" y="2953512"/>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6" name="STC-02-where-line">
            <a:extLst xmlns:a="http://schemas.openxmlformats.org/drawingml/2006/main">
              <a:ext uri="{FF2B5EF4-FFF2-40B4-BE49-F238E27FC236}">
                <a16:creationId xmlns:a16="http://schemas.microsoft.com/office/drawing/2014/main" id="{AC3FBBFF-8861-47FA-A523-B7B08374B29E}"/>
              </a:ext>
            </a:extLst>
          </p:cNvPr>
          <p:cNvSpPr>
            <a:spLocks xmlns:a="http://schemas.openxmlformats.org/drawingml/2006/main" noGrp="1"/>
          </p:cNvSpPr>
          <p:nvPr/>
        </p:nvSpPr>
        <p:spPr>
          <a:xfrm xmlns:a="http://schemas.openxmlformats.org/drawingml/2006/main">
            <a:off x="2148840" y="4041648"/>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7" name="STC-02-when-answer">
            <a:extLst xmlns:a="http://schemas.openxmlformats.org/drawingml/2006/main">
              <a:ext uri="{FF2B5EF4-FFF2-40B4-BE49-F238E27FC236}">
                <a16:creationId xmlns:a16="http://schemas.microsoft.com/office/drawing/2014/main" id="{DE30F009-38B4-4744-A843-3338330F9296}"/>
              </a:ext>
            </a:extLst>
          </p:cNvPr>
          <p:cNvSpPr>
            <a:spLocks xmlns:a="http://schemas.openxmlformats.org/drawingml/2006/main" noGrp="1"/>
          </p:cNvSpPr>
          <p:nvPr/>
        </p:nvSpPr>
        <p:spPr>
          <a:xfrm xmlns:a="http://schemas.openxmlformats.org/drawingml/2006/main">
            <a:off x="2377440" y="1618488"/>
            <a:ext cx="7269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무엇이 바뀌는가 — Θ인가 W인가 E인가</a:t>
            </a:r>
            <a:endParaRPr sz="2100"/>
          </a:p>
        </p:txBody>
      </p:sp>
      <p:sp>
        <p:nvSpPr>
          <p:cNvPr id="18" name="STC-02-what-answer">
            <a:extLst xmlns:a="http://schemas.openxmlformats.org/drawingml/2006/main">
              <a:ext uri="{FF2B5EF4-FFF2-40B4-BE49-F238E27FC236}">
                <a16:creationId xmlns:a16="http://schemas.microsoft.com/office/drawing/2014/main" id="{31F10D90-9E59-4017-AAB6-C5184B790324}"/>
              </a:ext>
            </a:extLst>
          </p:cNvPr>
          <p:cNvSpPr>
            <a:spLocks xmlns:a="http://schemas.openxmlformats.org/drawingml/2006/main" noGrp="1"/>
          </p:cNvSpPr>
          <p:nvPr/>
        </p:nvSpPr>
        <p:spPr>
          <a:xfrm xmlns:a="http://schemas.openxmlformats.org/drawingml/2006/main">
            <a:off x="2377440" y="2706624"/>
            <a:ext cx="78638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언제 바뀌는가 — 토큰 t인가 라운드 k인가</a:t>
            </a:r>
            <a:endParaRPr sz="2100"/>
          </a:p>
        </p:txBody>
      </p:sp>
      <p:sp>
        <p:nvSpPr>
          <p:cNvPr id="19" name="STC-02-where-answer">
            <a:extLst xmlns:a="http://schemas.openxmlformats.org/drawingml/2006/main">
              <a:ext uri="{FF2B5EF4-FFF2-40B4-BE49-F238E27FC236}">
                <a16:creationId xmlns:a16="http://schemas.microsoft.com/office/drawing/2014/main" id="{7B9DAECE-395E-4C23-8BFF-9AE8A0ABEE81}"/>
              </a:ext>
            </a:extLst>
          </p:cNvPr>
          <p:cNvSpPr>
            <a:spLocks xmlns:a="http://schemas.openxmlformats.org/drawingml/2006/main" noGrp="1"/>
          </p:cNvSpPr>
          <p:nvPr/>
        </p:nvSpPr>
        <p:spPr>
          <a:xfrm xmlns:a="http://schemas.openxmlformats.org/drawingml/2006/main">
            <a:off x="2377440" y="3794760"/>
            <a:ext cx="8458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누가 읽는가 — 같은 질의인가 이후 질의인가</a:t>
            </a:r>
            <a:endParaRPr sz="2100"/>
          </a:p>
        </p:txBody>
      </p:sp>
      <p:sp>
        <p:nvSpPr>
          <p:cNvPr id="20" name="STC-02-thesis-bar">
            <a:extLst xmlns:a="http://schemas.openxmlformats.org/drawingml/2006/main">
              <a:ext uri="{FF2B5EF4-FFF2-40B4-BE49-F238E27FC236}">
                <a16:creationId xmlns:a16="http://schemas.microsoft.com/office/drawing/2014/main" id="{307CCCCF-FC4F-496A-AFFE-4544A0437B9F}"/>
              </a:ext>
            </a:extLst>
          </p:cNvPr>
          <p:cNvSpPr>
            <a:spLocks xmlns:a="http://schemas.openxmlformats.org/drawingml/2006/main" noGrp="1"/>
          </p:cNvSpPr>
          <p:nvPr/>
        </p:nvSpPr>
        <p:spPr>
          <a:xfrm xmlns:a="http://schemas.openxmlformats.org/drawingml/2006/main">
            <a:off x="2359152" y="4791456"/>
            <a:ext cx="8174736" cy="731520"/>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02-thesis-bar-text">
            <a:extLst xmlns:a="http://schemas.openxmlformats.org/drawingml/2006/main">
              <a:ext uri="{FF2B5EF4-FFF2-40B4-BE49-F238E27FC236}">
                <a16:creationId xmlns:a16="http://schemas.microsoft.com/office/drawing/2014/main" id="{A739DA4E-B679-406F-8823-36B5720A9DC8}"/>
              </a:ext>
            </a:extLst>
          </p:cNvPr>
          <p:cNvSpPr>
            <a:spLocks xmlns:a="http://schemas.openxmlformats.org/drawingml/2006/main" noGrp="1"/>
          </p:cNvSpPr>
          <p:nvPr/>
        </p:nvSpPr>
        <p:spPr>
          <a:xfrm xmlns:a="http://schemas.openxmlformats.org/drawingml/2006/main">
            <a:off x="2606040" y="5001768"/>
            <a:ext cx="7680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900" b="1">
                <a:solidFill>
                  <a:srgbClr val="FFFFFF"/>
                </a:solidFill>
                <a:latin typeface="Noto Sans CJK KR"/>
                <a:ea typeface="Noto Sans CJK KR"/>
                <a:cs typeface="Noto Sans CJK KR"/>
              </a:rPr>
              <a:t>좌변을 못 적으면 그 절차는 아직 이해되지 않은 것이다</a:t>
            </a:r>
            <a:endParaRPr sz="1900"/>
          </a:p>
        </p:txBody>
      </p:sp>
    </p:spTree>
    <p:extLst>
      <p:ext uri="{BB962C8B-B14F-4D97-AF65-F5344CB8AC3E}">
        <p14:creationId xmlns:p14="http://schemas.microsoft.com/office/powerpoint/2010/main" val="1716489855"/>
      </p:ext>
    </p:extLst>
  </p:cSld>
</p:sld>
</file>

<file path=ppt/slides/slide1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4-section">
            <a:extLst xmlns:a="http://schemas.openxmlformats.org/drawingml/2006/main">
              <a:ext uri="{FF2B5EF4-FFF2-40B4-BE49-F238E27FC236}">
                <a16:creationId xmlns:a16="http://schemas.microsoft.com/office/drawing/2014/main" id="{A0075D85-B234-44C8-902E-101F0A3CC31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04-slide-id">
            <a:extLst xmlns:a="http://schemas.openxmlformats.org/drawingml/2006/main">
              <a:ext uri="{FF2B5EF4-FFF2-40B4-BE49-F238E27FC236}">
                <a16:creationId xmlns:a16="http://schemas.microsoft.com/office/drawing/2014/main" id="{B14D52AE-8297-468B-A77A-23EAE8342583}"/>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STC-017</a:t>
            </a:r>
            <a:endParaRPr sz="950"/>
          </a:p>
        </p:txBody>
      </p:sp>
      <p:sp>
        <p:nvSpPr>
          <p:cNvPr id="4" name="STC-04-headline">
            <a:extLst xmlns:a="http://schemas.openxmlformats.org/drawingml/2006/main">
              <a:ext uri="{FF2B5EF4-FFF2-40B4-BE49-F238E27FC236}">
                <a16:creationId xmlns:a16="http://schemas.microsoft.com/office/drawing/2014/main" id="{3630F132-02F2-4CE1-9E25-749167C75A9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세 경로 — 실행하는 식과 배포의 변화</a:t>
            </a:r>
            <a:endParaRPr sz="3000"/>
          </a:p>
        </p:txBody>
      </p:sp>
      <p:sp>
        <p:nvSpPr>
          <p:cNvPr id="5" name="STC-04-status-label">
            <a:extLst xmlns:a="http://schemas.openxmlformats.org/drawingml/2006/main">
              <a:ext uri="{FF2B5EF4-FFF2-40B4-BE49-F238E27FC236}">
                <a16:creationId xmlns:a16="http://schemas.microsoft.com/office/drawing/2014/main" id="{A7ACBE27-EC77-4521-8202-C2F79CB3B4F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정의</a:t>
            </a:r>
            <a:endParaRPr sz="1000"/>
          </a:p>
        </p:txBody>
      </p:sp>
      <p:sp>
        <p:nvSpPr>
          <p:cNvPr id="6" name="STC-04-status-rule">
            <a:extLst xmlns:a="http://schemas.openxmlformats.org/drawingml/2006/main">
              <a:ext uri="{FF2B5EF4-FFF2-40B4-BE49-F238E27FC236}">
                <a16:creationId xmlns:a16="http://schemas.microsoft.com/office/drawing/2014/main" id="{168F3EE0-A99E-4D46-9138-97123A1B2E0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4-footer-rule">
            <a:extLst xmlns:a="http://schemas.openxmlformats.org/drawingml/2006/main">
              <a:ext uri="{FF2B5EF4-FFF2-40B4-BE49-F238E27FC236}">
                <a16:creationId xmlns:a16="http://schemas.microsoft.com/office/drawing/2014/main" id="{283A436D-9734-4A07-90CD-F35CB55E5AB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4-source-footer">
            <a:extLst xmlns:a="http://schemas.openxmlformats.org/drawingml/2006/main">
              <a:ext uri="{FF2B5EF4-FFF2-40B4-BE49-F238E27FC236}">
                <a16:creationId xmlns:a16="http://schemas.microsoft.com/office/drawing/2014/main" id="{883AB35B-5226-4881-AC75-8BEB5E56E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ch01 §01.4 표 1-2</a:t>
            </a:r>
            <a:endParaRPr sz="850"/>
          </a:p>
        </p:txBody>
      </p:sp>
      <p:sp>
        <p:nvSpPr>
          <p:cNvPr id="9" name="STC-04-page-number">
            <a:extLst xmlns:a="http://schemas.openxmlformats.org/drawingml/2006/main">
              <a:ext uri="{FF2B5EF4-FFF2-40B4-BE49-F238E27FC236}">
                <a16:creationId xmlns:a16="http://schemas.microsoft.com/office/drawing/2014/main" id="{EFF36FC2-57B0-4E0D-A22C-A663CD6EDD60}"/>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17</a:t>
            </a:r>
            <a:endParaRPr sz="850"/>
          </a:p>
        </p:txBody>
      </p:sp>
      <p:sp>
        <p:nvSpPr>
          <p:cNvPr id="11" name="STC-04-phase-tag-0">
            <a:extLst xmlns:a="http://schemas.openxmlformats.org/drawingml/2006/main">
              <a:ext uri="{FF2B5EF4-FFF2-40B4-BE49-F238E27FC236}">
                <a16:creationId xmlns:a16="http://schemas.microsoft.com/office/drawing/2014/main" id="{BA1F2F65-E6CA-4586-80AC-30666A36C48F}"/>
              </a:ext>
            </a:extLst>
          </p:cNvPr>
          <p:cNvSpPr>
            <a:spLocks xmlns:a="http://schemas.openxmlformats.org/drawingml/2006/main" noGrp="1"/>
          </p:cNvSpPr>
          <p:nvPr/>
        </p:nvSpPr>
        <p:spPr>
          <a:xfrm xmlns:a="http://schemas.openxmlformats.org/drawingml/2006/main">
            <a:off x="768096"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59616A"/>
                </a:solidFill>
                <a:latin typeface="Noto Sans Mono CJK KR"/>
                <a:ea typeface="Noto Sans Mono CJK KR"/>
                <a:cs typeface="Noto Sans Mono CJK KR"/>
              </a:rPr>
              <a:t>E-경로</a:t>
            </a:r>
            <a:endParaRPr sz="1200"/>
          </a:p>
        </p:txBody>
      </p:sp>
      <p:sp>
        <p:nvSpPr>
          <p:cNvPr id="12" name="STC-04-phase-ko-0">
            <a:extLst xmlns:a="http://schemas.openxmlformats.org/drawingml/2006/main">
              <a:ext uri="{FF2B5EF4-FFF2-40B4-BE49-F238E27FC236}">
                <a16:creationId xmlns:a16="http://schemas.microsoft.com/office/drawing/2014/main" id="{71B78324-C8F8-4909-82A4-E5B94A3ECF3B}"/>
              </a:ext>
            </a:extLst>
          </p:cNvPr>
          <p:cNvSpPr>
            <a:spLocks xmlns:a="http://schemas.openxmlformats.org/drawingml/2006/main" noGrp="1"/>
          </p:cNvSpPr>
          <p:nvPr/>
        </p:nvSpPr>
        <p:spPr>
          <a:xfrm xmlns:a="http://schemas.openxmlformats.org/drawingml/2006/main">
            <a:off x="768096"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레코드</a:t>
            </a:r>
            <a:endParaRPr sz="2300"/>
          </a:p>
        </p:txBody>
      </p:sp>
      <p:sp>
        <p:nvSpPr>
          <p:cNvPr id="13" name="STC-04-phase-rule-0">
            <a:extLst xmlns:a="http://schemas.openxmlformats.org/drawingml/2006/main">
              <a:ext uri="{FF2B5EF4-FFF2-40B4-BE49-F238E27FC236}">
                <a16:creationId xmlns:a16="http://schemas.microsoft.com/office/drawing/2014/main" id="{7764BB8A-B05F-4718-BC24-4AD789913DE0}"/>
              </a:ext>
            </a:extLst>
          </p:cNvPr>
          <p:cNvSpPr>
            <a:spLocks xmlns:a="http://schemas.openxmlformats.org/drawingml/2006/main" noGrp="1"/>
          </p:cNvSpPr>
          <p:nvPr/>
        </p:nvSpPr>
        <p:spPr>
          <a:xfrm xmlns:a="http://schemas.openxmlformats.org/drawingml/2006/main">
            <a:off x="768096" y="2642616"/>
            <a:ext cx="2011680" cy="0"/>
          </a:xfrm>
          <a:prstGeom xmlns:a="http://schemas.openxmlformats.org/drawingml/2006/main" prst="line">
            <a:avLst/>
          </a:prstGeom>
          <a:noFill xmlns:a="http://schemas.openxmlformats.org/drawingml/2006/main"/>
          <a:ln xmlns:a="http://schemas.openxmlformats.org/drawingml/2006/main" w="50800">
            <a:solidFill>
              <a:srgbClr val="59616A"/>
            </a:solidFill>
            <a:prstDash val="solid"/>
            <a:tailEnd type="none"/>
          </a:ln>
        </p:spPr>
      </p:sp>
      <p:sp>
        <p:nvSpPr>
          <p:cNvPr id="14" name="STC-04-phase-body-0">
            <a:extLst xmlns:a="http://schemas.openxmlformats.org/drawingml/2006/main">
              <a:ext uri="{FF2B5EF4-FFF2-40B4-BE49-F238E27FC236}">
                <a16:creationId xmlns:a16="http://schemas.microsoft.com/office/drawing/2014/main" id="{D3EDF87F-330E-402B-BED1-949CABA05E93}"/>
              </a:ext>
            </a:extLst>
          </p:cNvPr>
          <p:cNvSpPr>
            <a:spLocks xmlns:a="http://schemas.openxmlformats.org/drawingml/2006/main" noGrp="1"/>
          </p:cNvSpPr>
          <p:nvPr/>
        </p:nvSpPr>
        <p:spPr>
          <a:xfrm xmlns:a="http://schemas.openxmlformats.org/drawingml/2006/main">
            <a:off x="768096"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레코드 ·</a:t>
            </a:r>
            <a:endParaRPr sz="1800"/>
          </a:p>
          <a:p xmlns:a="http://schemas.openxmlformats.org/drawingml/2006/main">
            <a:pPr marL="0" indent="0">
              <a:buNone/>
            </a:pPr>
            <a:r>
              <a:rPr sz="1800">
                <a:solidFill>
                  <a:srgbClr val="17191C"/>
                </a:solidFill>
                <a:latin typeface="Noto Sans CJK KR"/>
                <a:ea typeface="Noto Sans CJK KR"/>
                <a:cs typeface="Noto Sans CJK KR"/>
              </a:rPr>
              <a:t>(U-E)만 실행, 배포 불변</a:t>
            </a:r>
            <a:endParaRPr sz="1800"/>
          </a:p>
        </p:txBody>
      </p:sp>
      <p:sp>
        <p:nvSpPr>
          <p:cNvPr id="15" name="STC-04-phase-arrow-0">
            <a:extLst xmlns:a="http://schemas.openxmlformats.org/drawingml/2006/main">
              <a:ext uri="{FF2B5EF4-FFF2-40B4-BE49-F238E27FC236}">
                <a16:creationId xmlns:a16="http://schemas.microsoft.com/office/drawing/2014/main" id="{783D597A-ACCC-4F6B-94A9-392B971E7A96}"/>
              </a:ext>
            </a:extLst>
          </p:cNvPr>
          <p:cNvSpPr>
            <a:spLocks xmlns:a="http://schemas.openxmlformats.org/drawingml/2006/main" noGrp="1"/>
          </p:cNvSpPr>
          <p:nvPr/>
        </p:nvSpPr>
        <p:spPr>
          <a:xfrm xmlns:a="http://schemas.openxmlformats.org/drawingml/2006/main">
            <a:off x="2962656"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16" name="STC-04-phase-tag-1">
            <a:extLst xmlns:a="http://schemas.openxmlformats.org/drawingml/2006/main">
              <a:ext uri="{FF2B5EF4-FFF2-40B4-BE49-F238E27FC236}">
                <a16:creationId xmlns:a16="http://schemas.microsoft.com/office/drawing/2014/main" id="{DF120A6C-83FF-4F70-8A23-21607B85C1A0}"/>
              </a:ext>
            </a:extLst>
          </p:cNvPr>
          <p:cNvSpPr>
            <a:spLocks xmlns:a="http://schemas.openxmlformats.org/drawingml/2006/main" noGrp="1"/>
          </p:cNvSpPr>
          <p:nvPr/>
        </p:nvSpPr>
        <p:spPr>
          <a:xfrm xmlns:a="http://schemas.openxmlformats.org/drawingml/2006/main">
            <a:off x="3593592"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W-경로</a:t>
            </a:r>
            <a:endParaRPr sz="1200"/>
          </a:p>
        </p:txBody>
      </p:sp>
      <p:sp>
        <p:nvSpPr>
          <p:cNvPr id="17" name="STC-04-phase-ko-1">
            <a:extLst xmlns:a="http://schemas.openxmlformats.org/drawingml/2006/main">
              <a:ext uri="{FF2B5EF4-FFF2-40B4-BE49-F238E27FC236}">
                <a16:creationId xmlns:a16="http://schemas.microsoft.com/office/drawing/2014/main" id="{EC71ADFB-45C0-4738-8C38-F10FAB21F33F}"/>
              </a:ext>
            </a:extLst>
          </p:cNvPr>
          <p:cNvSpPr>
            <a:spLocks xmlns:a="http://schemas.openxmlformats.org/drawingml/2006/main" noGrp="1"/>
          </p:cNvSpPr>
          <p:nvPr/>
        </p:nvSpPr>
        <p:spPr>
          <a:xfrm xmlns:a="http://schemas.openxmlformats.org/drawingml/2006/main">
            <a:off x="3593592"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텐서</a:t>
            </a:r>
            <a:endParaRPr sz="2300"/>
          </a:p>
        </p:txBody>
      </p:sp>
      <p:sp>
        <p:nvSpPr>
          <p:cNvPr id="18" name="STC-04-phase-rule-1">
            <a:extLst xmlns:a="http://schemas.openxmlformats.org/drawingml/2006/main">
              <a:ext uri="{FF2B5EF4-FFF2-40B4-BE49-F238E27FC236}">
                <a16:creationId xmlns:a16="http://schemas.microsoft.com/office/drawing/2014/main" id="{CD51B805-650E-4380-9B3A-E873D1907749}"/>
              </a:ext>
            </a:extLst>
          </p:cNvPr>
          <p:cNvSpPr>
            <a:spLocks xmlns:a="http://schemas.openxmlformats.org/drawingml/2006/main" noGrp="1"/>
          </p:cNvSpPr>
          <p:nvPr/>
        </p:nvSpPr>
        <p:spPr>
          <a:xfrm xmlns:a="http://schemas.openxmlformats.org/drawingml/2006/main">
            <a:off x="3593592" y="2642616"/>
            <a:ext cx="2011680" cy="0"/>
          </a:xfrm>
          <a:prstGeom xmlns:a="http://schemas.openxmlformats.org/drawingml/2006/main" prst="line">
            <a:avLst/>
          </a:prstGeom>
          <a:noFill xmlns:a="http://schemas.openxmlformats.org/drawingml/2006/main"/>
          <a:ln xmlns:a="http://schemas.openxmlformats.org/drawingml/2006/main" w="50800">
            <a:solidFill>
              <a:srgbClr val="244E8A"/>
            </a:solidFill>
            <a:prstDash val="solid"/>
            <a:tailEnd type="none"/>
          </a:ln>
        </p:spPr>
      </p:sp>
      <p:sp>
        <p:nvSpPr>
          <p:cNvPr id="19" name="STC-04-phase-body-1">
            <a:extLst xmlns:a="http://schemas.openxmlformats.org/drawingml/2006/main">
              <a:ext uri="{FF2B5EF4-FFF2-40B4-BE49-F238E27FC236}">
                <a16:creationId xmlns:a16="http://schemas.microsoft.com/office/drawing/2014/main" id="{CA6AC282-8658-4035-A58F-484C6AC4BB0A}"/>
              </a:ext>
            </a:extLst>
          </p:cNvPr>
          <p:cNvSpPr>
            <a:spLocks xmlns:a="http://schemas.openxmlformats.org/drawingml/2006/main" noGrp="1"/>
          </p:cNvSpPr>
          <p:nvPr/>
        </p:nvSpPr>
        <p:spPr>
          <a:xfrm xmlns:a="http://schemas.openxmlformats.org/drawingml/2006/main">
            <a:off x="3593592"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텐서 · (U-W)를</a:t>
            </a:r>
            <a:endParaRPr sz="1800"/>
          </a:p>
          <a:p xmlns:a="http://schemas.openxmlformats.org/drawingml/2006/main">
            <a:pPr marL="0" indent="0">
              <a:buNone/>
            </a:pPr>
            <a:r>
              <a:rPr sz="1800">
                <a:solidFill>
                  <a:srgbClr val="17191C"/>
                </a:solidFill>
                <a:latin typeface="Noto Sans CJK KR"/>
                <a:ea typeface="Noto Sans CJK KR"/>
                <a:cs typeface="Noto Sans CJK KR"/>
              </a:rPr>
              <a:t>오프라인에 추가 실행</a:t>
            </a:r>
            <a:endParaRPr sz="1800"/>
          </a:p>
        </p:txBody>
      </p:sp>
      <p:sp>
        <p:nvSpPr>
          <p:cNvPr id="20" name="STC-04-phase-arrow-1">
            <a:extLst xmlns:a="http://schemas.openxmlformats.org/drawingml/2006/main">
              <a:ext uri="{FF2B5EF4-FFF2-40B4-BE49-F238E27FC236}">
                <a16:creationId xmlns:a16="http://schemas.microsoft.com/office/drawing/2014/main" id="{78036B2A-3081-4A46-8C23-82C208923D54}"/>
              </a:ext>
            </a:extLst>
          </p:cNvPr>
          <p:cNvSpPr>
            <a:spLocks xmlns:a="http://schemas.openxmlformats.org/drawingml/2006/main" noGrp="1"/>
          </p:cNvSpPr>
          <p:nvPr/>
        </p:nvSpPr>
        <p:spPr>
          <a:xfrm xmlns:a="http://schemas.openxmlformats.org/drawingml/2006/main">
            <a:off x="5788152"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1" name="STC-04-phase-tag-2">
            <a:extLst xmlns:a="http://schemas.openxmlformats.org/drawingml/2006/main">
              <a:ext uri="{FF2B5EF4-FFF2-40B4-BE49-F238E27FC236}">
                <a16:creationId xmlns:a16="http://schemas.microsoft.com/office/drawing/2014/main" id="{14A86847-A229-4A53-8F2A-E51A71B0A175}"/>
              </a:ext>
            </a:extLst>
          </p:cNvPr>
          <p:cNvSpPr>
            <a:spLocks xmlns:a="http://schemas.openxmlformats.org/drawingml/2006/main" noGrp="1"/>
          </p:cNvSpPr>
          <p:nvPr/>
        </p:nvSpPr>
        <p:spPr>
          <a:xfrm xmlns:a="http://schemas.openxmlformats.org/drawingml/2006/main">
            <a:off x="6419088"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Θ-경로</a:t>
            </a:r>
            <a:endParaRPr sz="1200"/>
          </a:p>
        </p:txBody>
      </p:sp>
      <p:sp>
        <p:nvSpPr>
          <p:cNvPr id="22" name="STC-04-phase-ko-2">
            <a:extLst xmlns:a="http://schemas.openxmlformats.org/drawingml/2006/main">
              <a:ext uri="{FF2B5EF4-FFF2-40B4-BE49-F238E27FC236}">
                <a16:creationId xmlns:a16="http://schemas.microsoft.com/office/drawing/2014/main" id="{582DA535-C347-498A-B2F9-C40BAE20CE4F}"/>
              </a:ext>
            </a:extLst>
          </p:cNvPr>
          <p:cNvSpPr>
            <a:spLocks xmlns:a="http://schemas.openxmlformats.org/drawingml/2006/main" noGrp="1"/>
          </p:cNvSpPr>
          <p:nvPr/>
        </p:nvSpPr>
        <p:spPr>
          <a:xfrm xmlns:a="http://schemas.openxmlformats.org/drawingml/2006/main">
            <a:off x="6419088"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delta</a:t>
            </a:r>
            <a:endParaRPr sz="2300"/>
          </a:p>
        </p:txBody>
      </p:sp>
      <p:sp>
        <p:nvSpPr>
          <p:cNvPr id="23" name="STC-04-phase-rule-2">
            <a:extLst xmlns:a="http://schemas.openxmlformats.org/drawingml/2006/main">
              <a:ext uri="{FF2B5EF4-FFF2-40B4-BE49-F238E27FC236}">
                <a16:creationId xmlns:a16="http://schemas.microsoft.com/office/drawing/2014/main" id="{604E16CE-5100-4FC5-8DB9-7A23B695EE76}"/>
              </a:ext>
            </a:extLst>
          </p:cNvPr>
          <p:cNvSpPr>
            <a:spLocks xmlns:a="http://schemas.openxmlformats.org/drawingml/2006/main" noGrp="1"/>
          </p:cNvSpPr>
          <p:nvPr/>
        </p:nvSpPr>
        <p:spPr>
          <a:xfrm xmlns:a="http://schemas.openxmlformats.org/drawingml/2006/main">
            <a:off x="6419088" y="2642616"/>
            <a:ext cx="2011680" cy="0"/>
          </a:xfrm>
          <a:prstGeom xmlns:a="http://schemas.openxmlformats.org/drawingml/2006/main" prst="line">
            <a:avLst/>
          </a:prstGeom>
          <a:noFill xmlns:a="http://schemas.openxmlformats.org/drawingml/2006/main"/>
          <a:ln xmlns:a="http://schemas.openxmlformats.org/drawingml/2006/main" w="50800">
            <a:solidFill>
              <a:srgbClr val="9A442D"/>
            </a:solidFill>
            <a:prstDash val="solid"/>
            <a:tailEnd type="none"/>
          </a:ln>
        </p:spPr>
      </p:sp>
      <p:sp>
        <p:nvSpPr>
          <p:cNvPr id="24" name="STC-04-phase-body-2">
            <a:extLst xmlns:a="http://schemas.openxmlformats.org/drawingml/2006/main">
              <a:ext uri="{FF2B5EF4-FFF2-40B4-BE49-F238E27FC236}">
                <a16:creationId xmlns:a16="http://schemas.microsoft.com/office/drawing/2014/main" id="{5BF3497A-374B-4090-AF18-46EDBA191D7C}"/>
              </a:ext>
            </a:extLst>
          </p:cNvPr>
          <p:cNvSpPr>
            <a:spLocks xmlns:a="http://schemas.openxmlformats.org/drawingml/2006/main" noGrp="1"/>
          </p:cNvSpPr>
          <p:nvPr/>
        </p:nvSpPr>
        <p:spPr>
          <a:xfrm xmlns:a="http://schemas.openxmlformats.org/drawingml/2006/main">
            <a:off x="6419088"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delta · (U-Θ)</a:t>
            </a:r>
            <a:endParaRPr sz="1800"/>
          </a:p>
          <a:p xmlns:a="http://schemas.openxmlformats.org/drawingml/2006/main">
            <a:pPr marL="0" indent="0">
              <a:buNone/>
            </a:pPr>
            <a:r>
              <a:rPr sz="1800">
                <a:solidFill>
                  <a:srgbClr val="17191C"/>
                </a:solidFill>
                <a:latin typeface="Noto Sans CJK KR"/>
                <a:ea typeface="Noto Sans CJK KR"/>
                <a:cs typeface="Noto Sans CJK KR"/>
              </a:rPr>
              <a:t>실행, 배포가 바뀐다</a:t>
            </a:r>
            <a:endParaRPr sz="1800"/>
          </a:p>
        </p:txBody>
      </p:sp>
      <p:sp>
        <p:nvSpPr>
          <p:cNvPr id="25" name="STC-04-phase-arrow-2">
            <a:extLst xmlns:a="http://schemas.openxmlformats.org/drawingml/2006/main">
              <a:ext uri="{FF2B5EF4-FFF2-40B4-BE49-F238E27FC236}">
                <a16:creationId xmlns:a16="http://schemas.microsoft.com/office/drawing/2014/main" id="{4E7BA787-51DD-48C2-90C7-E4BC25DA526D}"/>
              </a:ext>
            </a:extLst>
          </p:cNvPr>
          <p:cNvSpPr>
            <a:spLocks xmlns:a="http://schemas.openxmlformats.org/drawingml/2006/main" noGrp="1"/>
          </p:cNvSpPr>
          <p:nvPr/>
        </p:nvSpPr>
        <p:spPr>
          <a:xfrm xmlns:a="http://schemas.openxmlformats.org/drawingml/2006/main">
            <a:off x="8613648"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04-phase-tag-3">
            <a:extLst xmlns:a="http://schemas.openxmlformats.org/drawingml/2006/main">
              <a:ext uri="{FF2B5EF4-FFF2-40B4-BE49-F238E27FC236}">
                <a16:creationId xmlns:a16="http://schemas.microsoft.com/office/drawing/2014/main" id="{3D317DA2-F326-4299-B8BF-54ACE3EE2AA9}"/>
              </a:ext>
            </a:extLst>
          </p:cNvPr>
          <p:cNvSpPr>
            <a:spLocks xmlns:a="http://schemas.openxmlformats.org/drawingml/2006/main" noGrp="1"/>
          </p:cNvSpPr>
          <p:nvPr/>
        </p:nvSpPr>
        <p:spPr>
          <a:xfrm xmlns:a="http://schemas.openxmlformats.org/drawingml/2006/main">
            <a:off x="9244584"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합성</a:t>
            </a:r>
            <a:endParaRPr sz="1200"/>
          </a:p>
        </p:txBody>
      </p:sp>
      <p:sp>
        <p:nvSpPr>
          <p:cNvPr id="27" name="STC-04-phase-ko-3">
            <a:extLst xmlns:a="http://schemas.openxmlformats.org/drawingml/2006/main">
              <a:ext uri="{FF2B5EF4-FFF2-40B4-BE49-F238E27FC236}">
                <a16:creationId xmlns:a16="http://schemas.microsoft.com/office/drawing/2014/main" id="{F5446ADD-A14C-416D-B2F4-1A4E119F4329}"/>
              </a:ext>
            </a:extLst>
          </p:cNvPr>
          <p:cNvSpPr>
            <a:spLocks xmlns:a="http://schemas.openxmlformats.org/drawingml/2006/main" noGrp="1"/>
          </p:cNvSpPr>
          <p:nvPr/>
        </p:nvSpPr>
        <p:spPr>
          <a:xfrm xmlns:a="http://schemas.openxmlformats.org/drawingml/2006/main">
            <a:off x="9244584"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순서</a:t>
            </a:r>
            <a:endParaRPr sz="2300"/>
          </a:p>
        </p:txBody>
      </p:sp>
      <p:sp>
        <p:nvSpPr>
          <p:cNvPr id="28" name="STC-04-phase-rule-3">
            <a:extLst xmlns:a="http://schemas.openxmlformats.org/drawingml/2006/main">
              <a:ext uri="{FF2B5EF4-FFF2-40B4-BE49-F238E27FC236}">
                <a16:creationId xmlns:a16="http://schemas.microsoft.com/office/drawing/2014/main" id="{4455D656-930A-404D-BF54-7ED24B2942EA}"/>
              </a:ext>
            </a:extLst>
          </p:cNvPr>
          <p:cNvSpPr>
            <a:spLocks xmlns:a="http://schemas.openxmlformats.org/drawingml/2006/main" noGrp="1"/>
          </p:cNvSpPr>
          <p:nvPr/>
        </p:nvSpPr>
        <p:spPr>
          <a:xfrm xmlns:a="http://schemas.openxmlformats.org/drawingml/2006/main">
            <a:off x="9244584" y="2642616"/>
            <a:ext cx="2011680" cy="0"/>
          </a:xfrm>
          <a:prstGeom xmlns:a="http://schemas.openxmlformats.org/drawingml/2006/main" prst="line">
            <a:avLst/>
          </a:prstGeom>
          <a:noFill xmlns:a="http://schemas.openxmlformats.org/drawingml/2006/main"/>
          <a:ln xmlns:a="http://schemas.openxmlformats.org/drawingml/2006/main" w="50800">
            <a:solidFill>
              <a:srgbClr val="2F6B63"/>
            </a:solidFill>
            <a:prstDash val="solid"/>
            <a:tailEnd type="none"/>
          </a:ln>
        </p:spPr>
      </p:sp>
      <p:sp>
        <p:nvSpPr>
          <p:cNvPr id="29" name="STC-04-phase-body-3">
            <a:extLst xmlns:a="http://schemas.openxmlformats.org/drawingml/2006/main">
              <a:ext uri="{FF2B5EF4-FFF2-40B4-BE49-F238E27FC236}">
                <a16:creationId xmlns:a16="http://schemas.microsoft.com/office/drawing/2014/main" id="{FE89CD84-AEBE-4991-983F-DACD28BF3807}"/>
              </a:ext>
            </a:extLst>
          </p:cNvPr>
          <p:cNvSpPr>
            <a:spLocks xmlns:a="http://schemas.openxmlformats.org/drawingml/2006/main" noGrp="1"/>
          </p:cNvSpPr>
          <p:nvPr/>
        </p:nvSpPr>
        <p:spPr>
          <a:xfrm xmlns:a="http://schemas.openxmlformats.org/drawingml/2006/main">
            <a:off x="9244584"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순서 · 어느 식을</a:t>
            </a:r>
            <a:endParaRPr sz="1800"/>
          </a:p>
          <a:p xmlns:a="http://schemas.openxmlformats.org/drawingml/2006/main">
            <a:pPr marL="0" indent="0">
              <a:buNone/>
            </a:pPr>
            <a:r>
              <a:rPr sz="1800">
                <a:solidFill>
                  <a:srgbClr val="17191C"/>
                </a:solidFill>
                <a:latin typeface="Noto Sans CJK KR"/>
                <a:ea typeface="Noto Sans CJK KR"/>
                <a:cs typeface="Noto Sans CJK KR"/>
              </a:rPr>
              <a:t>먼저 도는지 밝힌다</a:t>
            </a:r>
            <a:endParaRPr sz="1800"/>
          </a:p>
        </p:txBody>
      </p:sp>
      <p:sp>
        <p:nvSpPr>
          <p:cNvPr id="30" name="STC-04-phase-invariant">
            <a:extLst xmlns:a="http://schemas.openxmlformats.org/drawingml/2006/main">
              <a:ext uri="{FF2B5EF4-FFF2-40B4-BE49-F238E27FC236}">
                <a16:creationId xmlns:a16="http://schemas.microsoft.com/office/drawing/2014/main" id="{03288DCF-E840-4104-9A86-10724C88811D}"/>
              </a:ext>
            </a:extLst>
          </p:cNvPr>
          <p:cNvSpPr>
            <a:spLocks xmlns:a="http://schemas.openxmlformats.org/drawingml/2006/main" noGrp="1"/>
          </p:cNvSpPr>
          <p:nvPr/>
        </p:nvSpPr>
        <p:spPr>
          <a:xfrm xmlns:a="http://schemas.openxmlformats.org/drawingml/2006/main">
            <a:off x="1188720" y="4736592"/>
            <a:ext cx="9811512" cy="6035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31" name="STC-04-phase-invariant-text">
            <a:extLst xmlns:a="http://schemas.openxmlformats.org/drawingml/2006/main">
              <a:ext uri="{FF2B5EF4-FFF2-40B4-BE49-F238E27FC236}">
                <a16:creationId xmlns:a16="http://schemas.microsoft.com/office/drawing/2014/main" id="{F965FB3E-3D1D-4CF8-8579-F6405F044BA3}"/>
              </a:ext>
            </a:extLst>
          </p:cNvPr>
          <p:cNvSpPr>
            <a:spLocks xmlns:a="http://schemas.openxmlformats.org/drawingml/2006/main" noGrp="1"/>
          </p:cNvSpPr>
          <p:nvPr/>
        </p:nvSpPr>
        <p:spPr>
          <a:xfrm xmlns:a="http://schemas.openxmlformats.org/drawingml/2006/main">
            <a:off x="1435608" y="4919472"/>
            <a:ext cx="93268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경로를 걸치는 절차는 순서를 밝힌다 — 예: (U-E)로 ĉ를 만든 뒤 그것을 R로 삼아 (U-Θ)를 돈다</a:t>
            </a:r>
            <a:endParaRPr sz="1700"/>
          </a:p>
        </p:txBody>
      </p:sp>
    </p:spTree>
    <p:extLst>
      <p:ext uri="{BB962C8B-B14F-4D97-AF65-F5344CB8AC3E}">
        <p14:creationId xmlns:p14="http://schemas.microsoft.com/office/powerpoint/2010/main" val="37494492"/>
      </p:ext>
    </p:extLst>
  </p:cSld>
</p:sld>
</file>

<file path=ppt/slides/slide1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4-section">
            <a:extLst xmlns:a="http://schemas.openxmlformats.org/drawingml/2006/main">
              <a:ext uri="{FF2B5EF4-FFF2-40B4-BE49-F238E27FC236}">
                <a16:creationId xmlns:a16="http://schemas.microsoft.com/office/drawing/2014/main" id="{A0075D85-B234-44C8-902E-101F0A3CC31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04-slide-id">
            <a:extLst xmlns:a="http://schemas.openxmlformats.org/drawingml/2006/main">
              <a:ext uri="{FF2B5EF4-FFF2-40B4-BE49-F238E27FC236}">
                <a16:creationId xmlns:a16="http://schemas.microsoft.com/office/drawing/2014/main" id="{B14D52AE-8297-468B-A77A-23EAE8342583}"/>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STC-018</a:t>
            </a:r>
            <a:endParaRPr sz="950"/>
          </a:p>
        </p:txBody>
      </p:sp>
      <p:sp>
        <p:nvSpPr>
          <p:cNvPr id="4" name="STC-04-headline">
            <a:extLst xmlns:a="http://schemas.openxmlformats.org/drawingml/2006/main">
              <a:ext uri="{FF2B5EF4-FFF2-40B4-BE49-F238E27FC236}">
                <a16:creationId xmlns:a16="http://schemas.microsoft.com/office/drawing/2014/main" id="{3630F132-02F2-4CE1-9E25-749167C75A9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training 어휘 ① — 무엇이 언제 움직이는가</a:t>
            </a:r>
            <a:endParaRPr sz="3000"/>
          </a:p>
        </p:txBody>
      </p:sp>
      <p:sp>
        <p:nvSpPr>
          <p:cNvPr id="5" name="STC-04-status-label">
            <a:extLst xmlns:a="http://schemas.openxmlformats.org/drawingml/2006/main">
              <a:ext uri="{FF2B5EF4-FFF2-40B4-BE49-F238E27FC236}">
                <a16:creationId xmlns:a16="http://schemas.microsoft.com/office/drawing/2014/main" id="{A7ACBE27-EC77-4521-8202-C2F79CB3B4F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training 배경</a:t>
            </a:r>
            <a:endParaRPr sz="1000"/>
          </a:p>
        </p:txBody>
      </p:sp>
      <p:sp>
        <p:nvSpPr>
          <p:cNvPr id="6" name="STC-04-status-rule">
            <a:extLst xmlns:a="http://schemas.openxmlformats.org/drawingml/2006/main">
              <a:ext uri="{FF2B5EF4-FFF2-40B4-BE49-F238E27FC236}">
                <a16:creationId xmlns:a16="http://schemas.microsoft.com/office/drawing/2014/main" id="{168F3EE0-A99E-4D46-9138-97123A1B2E0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4-footer-rule">
            <a:extLst xmlns:a="http://schemas.openxmlformats.org/drawingml/2006/main">
              <a:ext uri="{FF2B5EF4-FFF2-40B4-BE49-F238E27FC236}">
                <a16:creationId xmlns:a16="http://schemas.microsoft.com/office/drawing/2014/main" id="{283A436D-9734-4A07-90CD-F35CB55E5AB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4-source-footer">
            <a:extLst xmlns:a="http://schemas.openxmlformats.org/drawingml/2006/main">
              <a:ext uri="{FF2B5EF4-FFF2-40B4-BE49-F238E27FC236}">
                <a16:creationId xmlns:a16="http://schemas.microsoft.com/office/drawing/2014/main" id="{883AB35B-5226-4881-AC75-8BEB5E56E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ch02 (training 레짐 지도)</a:t>
            </a:r>
            <a:endParaRPr sz="850"/>
          </a:p>
        </p:txBody>
      </p:sp>
      <p:sp>
        <p:nvSpPr>
          <p:cNvPr id="9" name="STC-04-page-number">
            <a:extLst xmlns:a="http://schemas.openxmlformats.org/drawingml/2006/main">
              <a:ext uri="{FF2B5EF4-FFF2-40B4-BE49-F238E27FC236}">
                <a16:creationId xmlns:a16="http://schemas.microsoft.com/office/drawing/2014/main" id="{EFF36FC2-57B0-4E0D-A22C-A663CD6EDD60}"/>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18</a:t>
            </a:r>
            <a:endParaRPr sz="850"/>
          </a:p>
        </p:txBody>
      </p:sp>
      <p:sp>
        <p:nvSpPr>
          <p:cNvPr id="11" name="STC-04-phase-tag-0">
            <a:extLst xmlns:a="http://schemas.openxmlformats.org/drawingml/2006/main">
              <a:ext uri="{FF2B5EF4-FFF2-40B4-BE49-F238E27FC236}">
                <a16:creationId xmlns:a16="http://schemas.microsoft.com/office/drawing/2014/main" id="{BA1F2F65-E6CA-4586-80AC-30666A36C48F}"/>
              </a:ext>
            </a:extLst>
          </p:cNvPr>
          <p:cNvSpPr>
            <a:spLocks xmlns:a="http://schemas.openxmlformats.org/drawingml/2006/main" noGrp="1"/>
          </p:cNvSpPr>
          <p:nvPr/>
        </p:nvSpPr>
        <p:spPr>
          <a:xfrm xmlns:a="http://schemas.openxmlformats.org/drawingml/2006/main">
            <a:off x="768096"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59616A"/>
                </a:solidFill>
                <a:latin typeface="Noto Sans Mono CJK KR"/>
                <a:ea typeface="Noto Sans Mono CJK KR"/>
                <a:cs typeface="Noto Sans Mono CJK KR"/>
              </a:rPr>
              <a:t>pre-train</a:t>
            </a:r>
            <a:endParaRPr sz="1200"/>
          </a:p>
        </p:txBody>
      </p:sp>
      <p:sp>
        <p:nvSpPr>
          <p:cNvPr id="12" name="STC-04-phase-ko-0">
            <a:extLst xmlns:a="http://schemas.openxmlformats.org/drawingml/2006/main">
              <a:ext uri="{FF2B5EF4-FFF2-40B4-BE49-F238E27FC236}">
                <a16:creationId xmlns:a16="http://schemas.microsoft.com/office/drawing/2014/main" id="{71B78324-C8F8-4909-82A4-E5B94A3ECF3B}"/>
              </a:ext>
            </a:extLst>
          </p:cNvPr>
          <p:cNvSpPr>
            <a:spLocks xmlns:a="http://schemas.openxmlformats.org/drawingml/2006/main" noGrp="1"/>
          </p:cNvSpPr>
          <p:nvPr/>
        </p:nvSpPr>
        <p:spPr>
          <a:xfrm xmlns:a="http://schemas.openxmlformats.org/drawingml/2006/main">
            <a:off x="768096"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대량</a:t>
            </a:r>
            <a:endParaRPr sz="2300"/>
          </a:p>
        </p:txBody>
      </p:sp>
      <p:sp>
        <p:nvSpPr>
          <p:cNvPr id="13" name="STC-04-phase-rule-0">
            <a:extLst xmlns:a="http://schemas.openxmlformats.org/drawingml/2006/main">
              <a:ext uri="{FF2B5EF4-FFF2-40B4-BE49-F238E27FC236}">
                <a16:creationId xmlns:a16="http://schemas.microsoft.com/office/drawing/2014/main" id="{7764BB8A-B05F-4718-BC24-4AD789913DE0}"/>
              </a:ext>
            </a:extLst>
          </p:cNvPr>
          <p:cNvSpPr>
            <a:spLocks xmlns:a="http://schemas.openxmlformats.org/drawingml/2006/main" noGrp="1"/>
          </p:cNvSpPr>
          <p:nvPr/>
        </p:nvSpPr>
        <p:spPr>
          <a:xfrm xmlns:a="http://schemas.openxmlformats.org/drawingml/2006/main">
            <a:off x="768096" y="2642616"/>
            <a:ext cx="2011680" cy="0"/>
          </a:xfrm>
          <a:prstGeom xmlns:a="http://schemas.openxmlformats.org/drawingml/2006/main" prst="line">
            <a:avLst/>
          </a:prstGeom>
          <a:noFill xmlns:a="http://schemas.openxmlformats.org/drawingml/2006/main"/>
          <a:ln xmlns:a="http://schemas.openxmlformats.org/drawingml/2006/main" w="50800">
            <a:solidFill>
              <a:srgbClr val="59616A"/>
            </a:solidFill>
            <a:prstDash val="solid"/>
            <a:tailEnd type="none"/>
          </a:ln>
        </p:spPr>
      </p:sp>
      <p:sp>
        <p:nvSpPr>
          <p:cNvPr id="14" name="STC-04-phase-body-0">
            <a:extLst xmlns:a="http://schemas.openxmlformats.org/drawingml/2006/main">
              <a:ext uri="{FF2B5EF4-FFF2-40B4-BE49-F238E27FC236}">
                <a16:creationId xmlns:a16="http://schemas.microsoft.com/office/drawing/2014/main" id="{D3EDF87F-330E-402B-BED1-949CABA05E93}"/>
              </a:ext>
            </a:extLst>
          </p:cNvPr>
          <p:cNvSpPr>
            <a:spLocks xmlns:a="http://schemas.openxmlformats.org/drawingml/2006/main" noGrp="1"/>
          </p:cNvSpPr>
          <p:nvPr/>
        </p:nvSpPr>
        <p:spPr>
          <a:xfrm xmlns:a="http://schemas.openxmlformats.org/drawingml/2006/main">
            <a:off x="768096"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대량 · 일반</a:t>
            </a:r>
            <a:endParaRPr sz="1800"/>
          </a:p>
          <a:p xmlns:a="http://schemas.openxmlformats.org/drawingml/2006/main">
            <a:pPr marL="0" indent="0">
              <a:buNone/>
            </a:pPr>
            <a:r>
              <a:rPr sz="1800">
                <a:solidFill>
                  <a:srgbClr val="17191C"/>
                </a:solidFill>
                <a:latin typeface="Noto Sans CJK KR"/>
                <a:ea typeface="Noto Sans CJK KR"/>
                <a:cs typeface="Noto Sans CJK KR"/>
              </a:rPr>
              <a:t>코퍼스로 Θ 전체를 만든다</a:t>
            </a:r>
            <a:endParaRPr sz="1800"/>
          </a:p>
        </p:txBody>
      </p:sp>
      <p:sp>
        <p:nvSpPr>
          <p:cNvPr id="15" name="STC-04-phase-arrow-0">
            <a:extLst xmlns:a="http://schemas.openxmlformats.org/drawingml/2006/main">
              <a:ext uri="{FF2B5EF4-FFF2-40B4-BE49-F238E27FC236}">
                <a16:creationId xmlns:a16="http://schemas.microsoft.com/office/drawing/2014/main" id="{783D597A-ACCC-4F6B-94A9-392B971E7A96}"/>
              </a:ext>
            </a:extLst>
          </p:cNvPr>
          <p:cNvSpPr>
            <a:spLocks xmlns:a="http://schemas.openxmlformats.org/drawingml/2006/main" noGrp="1"/>
          </p:cNvSpPr>
          <p:nvPr/>
        </p:nvSpPr>
        <p:spPr>
          <a:xfrm xmlns:a="http://schemas.openxmlformats.org/drawingml/2006/main">
            <a:off x="2962656"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16" name="STC-04-phase-tag-1">
            <a:extLst xmlns:a="http://schemas.openxmlformats.org/drawingml/2006/main">
              <a:ext uri="{FF2B5EF4-FFF2-40B4-BE49-F238E27FC236}">
                <a16:creationId xmlns:a16="http://schemas.microsoft.com/office/drawing/2014/main" id="{DF120A6C-83FF-4F70-8A23-21607B85C1A0}"/>
              </a:ext>
            </a:extLst>
          </p:cNvPr>
          <p:cNvSpPr>
            <a:spLocks xmlns:a="http://schemas.openxmlformats.org/drawingml/2006/main" noGrp="1"/>
          </p:cNvSpPr>
          <p:nvPr/>
        </p:nvSpPr>
        <p:spPr>
          <a:xfrm xmlns:a="http://schemas.openxmlformats.org/drawingml/2006/main">
            <a:off x="3593592"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SFT</a:t>
            </a:r>
            <a:endParaRPr sz="1200"/>
          </a:p>
        </p:txBody>
      </p:sp>
      <p:sp>
        <p:nvSpPr>
          <p:cNvPr id="17" name="STC-04-phase-ko-1">
            <a:extLst xmlns:a="http://schemas.openxmlformats.org/drawingml/2006/main">
              <a:ext uri="{FF2B5EF4-FFF2-40B4-BE49-F238E27FC236}">
                <a16:creationId xmlns:a16="http://schemas.microsoft.com/office/drawing/2014/main" id="{EC71ADFB-45C0-4738-8C38-F10FAB21F33F}"/>
              </a:ext>
            </a:extLst>
          </p:cNvPr>
          <p:cNvSpPr>
            <a:spLocks xmlns:a="http://schemas.openxmlformats.org/drawingml/2006/main" noGrp="1"/>
          </p:cNvSpPr>
          <p:nvPr/>
        </p:nvSpPr>
        <p:spPr>
          <a:xfrm xmlns:a="http://schemas.openxmlformats.org/drawingml/2006/main">
            <a:off x="3593592"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지시</a:t>
            </a:r>
            <a:endParaRPr sz="2300"/>
          </a:p>
        </p:txBody>
      </p:sp>
      <p:sp>
        <p:nvSpPr>
          <p:cNvPr id="18" name="STC-04-phase-rule-1">
            <a:extLst xmlns:a="http://schemas.openxmlformats.org/drawingml/2006/main">
              <a:ext uri="{FF2B5EF4-FFF2-40B4-BE49-F238E27FC236}">
                <a16:creationId xmlns:a16="http://schemas.microsoft.com/office/drawing/2014/main" id="{CD51B805-650E-4380-9B3A-E873D1907749}"/>
              </a:ext>
            </a:extLst>
          </p:cNvPr>
          <p:cNvSpPr>
            <a:spLocks xmlns:a="http://schemas.openxmlformats.org/drawingml/2006/main" noGrp="1"/>
          </p:cNvSpPr>
          <p:nvPr/>
        </p:nvSpPr>
        <p:spPr>
          <a:xfrm xmlns:a="http://schemas.openxmlformats.org/drawingml/2006/main">
            <a:off x="3593592" y="2642616"/>
            <a:ext cx="2011680" cy="0"/>
          </a:xfrm>
          <a:prstGeom xmlns:a="http://schemas.openxmlformats.org/drawingml/2006/main" prst="line">
            <a:avLst/>
          </a:prstGeom>
          <a:noFill xmlns:a="http://schemas.openxmlformats.org/drawingml/2006/main"/>
          <a:ln xmlns:a="http://schemas.openxmlformats.org/drawingml/2006/main" w="50800">
            <a:solidFill>
              <a:srgbClr val="244E8A"/>
            </a:solidFill>
            <a:prstDash val="solid"/>
            <a:tailEnd type="none"/>
          </a:ln>
        </p:spPr>
      </p:sp>
      <p:sp>
        <p:nvSpPr>
          <p:cNvPr id="19" name="STC-04-phase-body-1">
            <a:extLst xmlns:a="http://schemas.openxmlformats.org/drawingml/2006/main">
              <a:ext uri="{FF2B5EF4-FFF2-40B4-BE49-F238E27FC236}">
                <a16:creationId xmlns:a16="http://schemas.microsoft.com/office/drawing/2014/main" id="{CA6AC282-8658-4035-A58F-484C6AC4BB0A}"/>
              </a:ext>
            </a:extLst>
          </p:cNvPr>
          <p:cNvSpPr>
            <a:spLocks xmlns:a="http://schemas.openxmlformats.org/drawingml/2006/main" noGrp="1"/>
          </p:cNvSpPr>
          <p:nvPr/>
        </p:nvSpPr>
        <p:spPr>
          <a:xfrm xmlns:a="http://schemas.openxmlformats.org/drawingml/2006/main">
            <a:off x="3593592"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지시 · 라벨된</a:t>
            </a:r>
            <a:endParaRPr sz="1800"/>
          </a:p>
          <a:p xmlns:a="http://schemas.openxmlformats.org/drawingml/2006/main">
            <a:pPr marL="0" indent="0">
              <a:buNone/>
            </a:pPr>
            <a:r>
              <a:rPr sz="1800">
                <a:solidFill>
                  <a:srgbClr val="17191C"/>
                </a:solidFill>
                <a:latin typeface="Noto Sans CJK KR"/>
                <a:ea typeface="Noto Sans CJK KR"/>
                <a:cs typeface="Noto Sans CJK KR"/>
              </a:rPr>
              <a:t>응답으로 Θ를 맞춘다</a:t>
            </a:r>
            <a:endParaRPr sz="1800"/>
          </a:p>
        </p:txBody>
      </p:sp>
      <p:sp>
        <p:nvSpPr>
          <p:cNvPr id="20" name="STC-04-phase-arrow-1">
            <a:extLst xmlns:a="http://schemas.openxmlformats.org/drawingml/2006/main">
              <a:ext uri="{FF2B5EF4-FFF2-40B4-BE49-F238E27FC236}">
                <a16:creationId xmlns:a16="http://schemas.microsoft.com/office/drawing/2014/main" id="{78036B2A-3081-4A46-8C23-82C208923D54}"/>
              </a:ext>
            </a:extLst>
          </p:cNvPr>
          <p:cNvSpPr>
            <a:spLocks xmlns:a="http://schemas.openxmlformats.org/drawingml/2006/main" noGrp="1"/>
          </p:cNvSpPr>
          <p:nvPr/>
        </p:nvSpPr>
        <p:spPr>
          <a:xfrm xmlns:a="http://schemas.openxmlformats.org/drawingml/2006/main">
            <a:off x="5788152"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1" name="STC-04-phase-tag-2">
            <a:extLst xmlns:a="http://schemas.openxmlformats.org/drawingml/2006/main">
              <a:ext uri="{FF2B5EF4-FFF2-40B4-BE49-F238E27FC236}">
                <a16:creationId xmlns:a16="http://schemas.microsoft.com/office/drawing/2014/main" id="{14A86847-A229-4A53-8F2A-E51A71B0A175}"/>
              </a:ext>
            </a:extLst>
          </p:cNvPr>
          <p:cNvSpPr>
            <a:spLocks xmlns:a="http://schemas.openxmlformats.org/drawingml/2006/main" noGrp="1"/>
          </p:cNvSpPr>
          <p:nvPr/>
        </p:nvSpPr>
        <p:spPr>
          <a:xfrm xmlns:a="http://schemas.openxmlformats.org/drawingml/2006/main">
            <a:off x="6419088"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RL</a:t>
            </a:r>
            <a:endParaRPr sz="1200"/>
          </a:p>
        </p:txBody>
      </p:sp>
      <p:sp>
        <p:nvSpPr>
          <p:cNvPr id="22" name="STC-04-phase-ko-2">
            <a:extLst xmlns:a="http://schemas.openxmlformats.org/drawingml/2006/main">
              <a:ext uri="{FF2B5EF4-FFF2-40B4-BE49-F238E27FC236}">
                <a16:creationId xmlns:a16="http://schemas.microsoft.com/office/drawing/2014/main" id="{582DA535-C347-498A-B2F9-C40BAE20CE4F}"/>
              </a:ext>
            </a:extLst>
          </p:cNvPr>
          <p:cNvSpPr>
            <a:spLocks xmlns:a="http://schemas.openxmlformats.org/drawingml/2006/main" noGrp="1"/>
          </p:cNvSpPr>
          <p:nvPr/>
        </p:nvSpPr>
        <p:spPr>
          <a:xfrm xmlns:a="http://schemas.openxmlformats.org/drawingml/2006/main">
            <a:off x="6419088"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보상</a:t>
            </a:r>
            <a:endParaRPr sz="2300"/>
          </a:p>
        </p:txBody>
      </p:sp>
      <p:sp>
        <p:nvSpPr>
          <p:cNvPr id="23" name="STC-04-phase-rule-2">
            <a:extLst xmlns:a="http://schemas.openxmlformats.org/drawingml/2006/main">
              <a:ext uri="{FF2B5EF4-FFF2-40B4-BE49-F238E27FC236}">
                <a16:creationId xmlns:a16="http://schemas.microsoft.com/office/drawing/2014/main" id="{604E16CE-5100-4FC5-8DB9-7A23B695EE76}"/>
              </a:ext>
            </a:extLst>
          </p:cNvPr>
          <p:cNvSpPr>
            <a:spLocks xmlns:a="http://schemas.openxmlformats.org/drawingml/2006/main" noGrp="1"/>
          </p:cNvSpPr>
          <p:nvPr/>
        </p:nvSpPr>
        <p:spPr>
          <a:xfrm xmlns:a="http://schemas.openxmlformats.org/drawingml/2006/main">
            <a:off x="6419088" y="2642616"/>
            <a:ext cx="2011680" cy="0"/>
          </a:xfrm>
          <a:prstGeom xmlns:a="http://schemas.openxmlformats.org/drawingml/2006/main" prst="line">
            <a:avLst/>
          </a:prstGeom>
          <a:noFill xmlns:a="http://schemas.openxmlformats.org/drawingml/2006/main"/>
          <a:ln xmlns:a="http://schemas.openxmlformats.org/drawingml/2006/main" w="50800">
            <a:solidFill>
              <a:srgbClr val="9A442D"/>
            </a:solidFill>
            <a:prstDash val="solid"/>
            <a:tailEnd type="none"/>
          </a:ln>
        </p:spPr>
      </p:sp>
      <p:sp>
        <p:nvSpPr>
          <p:cNvPr id="24" name="STC-04-phase-body-2">
            <a:extLst xmlns:a="http://schemas.openxmlformats.org/drawingml/2006/main">
              <a:ext uri="{FF2B5EF4-FFF2-40B4-BE49-F238E27FC236}">
                <a16:creationId xmlns:a16="http://schemas.microsoft.com/office/drawing/2014/main" id="{5BF3497A-374B-4090-AF18-46EDBA191D7C}"/>
              </a:ext>
            </a:extLst>
          </p:cNvPr>
          <p:cNvSpPr>
            <a:spLocks xmlns:a="http://schemas.openxmlformats.org/drawingml/2006/main" noGrp="1"/>
          </p:cNvSpPr>
          <p:nvPr/>
        </p:nvSpPr>
        <p:spPr>
          <a:xfrm xmlns:a="http://schemas.openxmlformats.org/drawingml/2006/main">
            <a:off x="6419088"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보상 · 선호나</a:t>
            </a:r>
            <a:endParaRPr sz="1800"/>
          </a:p>
          <a:p xmlns:a="http://schemas.openxmlformats.org/drawingml/2006/main">
            <a:pPr marL="0" indent="0">
              <a:buNone/>
            </a:pPr>
            <a:r>
              <a:rPr sz="1800">
                <a:solidFill>
                  <a:srgbClr val="17191C"/>
                </a:solidFill>
                <a:latin typeface="Noto Sans CJK KR"/>
                <a:ea typeface="Noto Sans CJK KR"/>
                <a:cs typeface="Noto Sans CJK KR"/>
              </a:rPr>
              <a:t>검증 신호로 Θ를 민다</a:t>
            </a:r>
            <a:endParaRPr sz="1800"/>
          </a:p>
        </p:txBody>
      </p:sp>
      <p:sp>
        <p:nvSpPr>
          <p:cNvPr id="25" name="STC-04-phase-arrow-2">
            <a:extLst xmlns:a="http://schemas.openxmlformats.org/drawingml/2006/main">
              <a:ext uri="{FF2B5EF4-FFF2-40B4-BE49-F238E27FC236}">
                <a16:creationId xmlns:a16="http://schemas.microsoft.com/office/drawing/2014/main" id="{4E7BA787-51DD-48C2-90C7-E4BC25DA526D}"/>
              </a:ext>
            </a:extLst>
          </p:cNvPr>
          <p:cNvSpPr>
            <a:spLocks xmlns:a="http://schemas.openxmlformats.org/drawingml/2006/main" noGrp="1"/>
          </p:cNvSpPr>
          <p:nvPr/>
        </p:nvSpPr>
        <p:spPr>
          <a:xfrm xmlns:a="http://schemas.openxmlformats.org/drawingml/2006/main">
            <a:off x="8613648"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04-phase-tag-3">
            <a:extLst xmlns:a="http://schemas.openxmlformats.org/drawingml/2006/main">
              <a:ext uri="{FF2B5EF4-FFF2-40B4-BE49-F238E27FC236}">
                <a16:creationId xmlns:a16="http://schemas.microsoft.com/office/drawing/2014/main" id="{3D317DA2-F326-4299-B8BF-54ACE3EE2AA9}"/>
              </a:ext>
            </a:extLst>
          </p:cNvPr>
          <p:cNvSpPr>
            <a:spLocks xmlns:a="http://schemas.openxmlformats.org/drawingml/2006/main" noGrp="1"/>
          </p:cNvSpPr>
          <p:nvPr/>
        </p:nvSpPr>
        <p:spPr>
          <a:xfrm xmlns:a="http://schemas.openxmlformats.org/drawingml/2006/main">
            <a:off x="9244584"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continual</a:t>
            </a:r>
            <a:endParaRPr sz="1200"/>
          </a:p>
        </p:txBody>
      </p:sp>
      <p:sp>
        <p:nvSpPr>
          <p:cNvPr id="27" name="STC-04-phase-ko-3">
            <a:extLst xmlns:a="http://schemas.openxmlformats.org/drawingml/2006/main">
              <a:ext uri="{FF2B5EF4-FFF2-40B4-BE49-F238E27FC236}">
                <a16:creationId xmlns:a16="http://schemas.microsoft.com/office/drawing/2014/main" id="{F5446ADD-A14C-416D-B2F4-1A4E119F4329}"/>
              </a:ext>
            </a:extLst>
          </p:cNvPr>
          <p:cNvSpPr>
            <a:spLocks xmlns:a="http://schemas.openxmlformats.org/drawingml/2006/main" noGrp="1"/>
          </p:cNvSpPr>
          <p:nvPr/>
        </p:nvSpPr>
        <p:spPr>
          <a:xfrm xmlns:a="http://schemas.openxmlformats.org/drawingml/2006/main">
            <a:off x="9244584"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지속</a:t>
            </a:r>
            <a:endParaRPr sz="2300"/>
          </a:p>
        </p:txBody>
      </p:sp>
      <p:sp>
        <p:nvSpPr>
          <p:cNvPr id="28" name="STC-04-phase-rule-3">
            <a:extLst xmlns:a="http://schemas.openxmlformats.org/drawingml/2006/main">
              <a:ext uri="{FF2B5EF4-FFF2-40B4-BE49-F238E27FC236}">
                <a16:creationId xmlns:a16="http://schemas.microsoft.com/office/drawing/2014/main" id="{4455D656-930A-404D-BF54-7ED24B2942EA}"/>
              </a:ext>
            </a:extLst>
          </p:cNvPr>
          <p:cNvSpPr>
            <a:spLocks xmlns:a="http://schemas.openxmlformats.org/drawingml/2006/main" noGrp="1"/>
          </p:cNvSpPr>
          <p:nvPr/>
        </p:nvSpPr>
        <p:spPr>
          <a:xfrm xmlns:a="http://schemas.openxmlformats.org/drawingml/2006/main">
            <a:off x="9244584" y="2642616"/>
            <a:ext cx="2011680" cy="0"/>
          </a:xfrm>
          <a:prstGeom xmlns:a="http://schemas.openxmlformats.org/drawingml/2006/main" prst="line">
            <a:avLst/>
          </a:prstGeom>
          <a:noFill xmlns:a="http://schemas.openxmlformats.org/drawingml/2006/main"/>
          <a:ln xmlns:a="http://schemas.openxmlformats.org/drawingml/2006/main" w="50800">
            <a:solidFill>
              <a:srgbClr val="2F6B63"/>
            </a:solidFill>
            <a:prstDash val="solid"/>
            <a:tailEnd type="none"/>
          </a:ln>
        </p:spPr>
      </p:sp>
      <p:sp>
        <p:nvSpPr>
          <p:cNvPr id="29" name="STC-04-phase-body-3">
            <a:extLst xmlns:a="http://schemas.openxmlformats.org/drawingml/2006/main">
              <a:ext uri="{FF2B5EF4-FFF2-40B4-BE49-F238E27FC236}">
                <a16:creationId xmlns:a16="http://schemas.microsoft.com/office/drawing/2014/main" id="{FE89CD84-AEBE-4991-983F-DACD28BF3807}"/>
              </a:ext>
            </a:extLst>
          </p:cNvPr>
          <p:cNvSpPr>
            <a:spLocks xmlns:a="http://schemas.openxmlformats.org/drawingml/2006/main" noGrp="1"/>
          </p:cNvSpPr>
          <p:nvPr/>
        </p:nvSpPr>
        <p:spPr>
          <a:xfrm xmlns:a="http://schemas.openxmlformats.org/drawingml/2006/main">
            <a:off x="9244584"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지속 · 배포</a:t>
            </a:r>
            <a:endParaRPr sz="1800"/>
          </a:p>
          <a:p xmlns:a="http://schemas.openxmlformats.org/drawingml/2006/main">
            <a:pPr marL="0" indent="0">
              <a:buNone/>
            </a:pPr>
            <a:r>
              <a:rPr sz="1800">
                <a:solidFill>
                  <a:srgbClr val="17191C"/>
                </a:solidFill>
                <a:latin typeface="Noto Sans CJK KR"/>
                <a:ea typeface="Noto Sans CJK KR"/>
                <a:cs typeface="Noto Sans CJK KR"/>
              </a:rPr>
              <a:t>후에도 Θ를 계속 옮긴다</a:t>
            </a:r>
            <a:endParaRPr sz="1800"/>
          </a:p>
        </p:txBody>
      </p:sp>
      <p:sp>
        <p:nvSpPr>
          <p:cNvPr id="30" name="STC-04-phase-invariant">
            <a:extLst xmlns:a="http://schemas.openxmlformats.org/drawingml/2006/main">
              <a:ext uri="{FF2B5EF4-FFF2-40B4-BE49-F238E27FC236}">
                <a16:creationId xmlns:a16="http://schemas.microsoft.com/office/drawing/2014/main" id="{03288DCF-E840-4104-9A86-10724C88811D}"/>
              </a:ext>
            </a:extLst>
          </p:cNvPr>
          <p:cNvSpPr>
            <a:spLocks xmlns:a="http://schemas.openxmlformats.org/drawingml/2006/main" noGrp="1"/>
          </p:cNvSpPr>
          <p:nvPr/>
        </p:nvSpPr>
        <p:spPr>
          <a:xfrm xmlns:a="http://schemas.openxmlformats.org/drawingml/2006/main">
            <a:off x="1188720" y="4736592"/>
            <a:ext cx="9811512" cy="6035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31" name="STC-04-phase-invariant-text">
            <a:extLst xmlns:a="http://schemas.openxmlformats.org/drawingml/2006/main">
              <a:ext uri="{FF2B5EF4-FFF2-40B4-BE49-F238E27FC236}">
                <a16:creationId xmlns:a16="http://schemas.microsoft.com/office/drawing/2014/main" id="{F965FB3E-3D1D-4CF8-8579-F6405F044BA3}"/>
              </a:ext>
            </a:extLst>
          </p:cNvPr>
          <p:cNvSpPr>
            <a:spLocks xmlns:a="http://schemas.openxmlformats.org/drawingml/2006/main" noGrp="1"/>
          </p:cNvSpPr>
          <p:nvPr/>
        </p:nvSpPr>
        <p:spPr>
          <a:xfrm xmlns:a="http://schemas.openxmlformats.org/drawingml/2006/main">
            <a:off x="1435608" y="4919472"/>
            <a:ext cx="93268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네 레짐의 차이는 데이터의 출처와 갱신의 시계이지 optimizer가 아니다</a:t>
            </a:r>
            <a:endParaRPr sz="1700"/>
          </a:p>
        </p:txBody>
      </p:sp>
    </p:spTree>
    <p:extLst>
      <p:ext uri="{BB962C8B-B14F-4D97-AF65-F5344CB8AC3E}">
        <p14:creationId xmlns:p14="http://schemas.microsoft.com/office/powerpoint/2010/main" val="37494492"/>
      </p:ext>
    </p:extLst>
  </p:cSld>
</p:sld>
</file>

<file path=ppt/slides/slide1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STC-019</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training 어휘 ② — fine-tuning과 PEFT, 그리고 rank</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training 배경</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ch03 (fine-tuning과 PEFT) · ch19</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19</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full FT</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전 파라미터 · 사본</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adapter</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층 사이 작은 모듈</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LoRA</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ΔΘ = BA</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rank r</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자유도 · 바이트</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집합 S</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q,v 대 q,k,v,o</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QLoRA</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base 양자화</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LoRA는 배포 경제학을 풀었지 기억 문제를</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풀지 않았다 — 오늘 그 차이가 계속 걸린다</a:t>
            </a:r>
            <a:endParaRPr sz="1500"/>
          </a:p>
        </p:txBody>
      </p:sp>
    </p:spTree>
    <p:extLst>
      <p:ext uri="{BB962C8B-B14F-4D97-AF65-F5344CB8AC3E}">
        <p14:creationId xmlns:p14="http://schemas.microsoft.com/office/powerpoint/2010/main" val="931853972"/>
      </p:ext>
    </p:extLst>
  </p:cSld>
</p:sld>
</file>

<file path=ppt/slides/slide20.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7-section">
            <a:extLst xmlns:a="http://schemas.openxmlformats.org/drawingml/2006/main">
              <a:ext uri="{FF2B5EF4-FFF2-40B4-BE49-F238E27FC236}">
                <a16:creationId xmlns:a16="http://schemas.microsoft.com/office/drawing/2014/main" id="{1D137726-4914-48A2-85D5-224A1CBB8B83}"/>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07-slide-id">
            <a:extLst xmlns:a="http://schemas.openxmlformats.org/drawingml/2006/main">
              <a:ext uri="{FF2B5EF4-FFF2-40B4-BE49-F238E27FC236}">
                <a16:creationId xmlns:a16="http://schemas.microsoft.com/office/drawing/2014/main" id="{135B4B6A-3B89-487A-9CEA-E5C7E5EED204}"/>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STC-020</a:t>
            </a:r>
            <a:endParaRPr sz="950"/>
          </a:p>
        </p:txBody>
      </p:sp>
      <p:sp>
        <p:nvSpPr>
          <p:cNvPr id="4" name="STC-07-headline">
            <a:extLst xmlns:a="http://schemas.openxmlformats.org/drawingml/2006/main">
              <a:ext uri="{FF2B5EF4-FFF2-40B4-BE49-F238E27FC236}">
                <a16:creationId xmlns:a16="http://schemas.microsoft.com/office/drawing/2014/main" id="{69C310FD-1BA7-40DE-9467-2AA541CBC7D3}"/>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training 어휘 ③ — distillation, 그리고 교사가 누구인가</a:t>
            </a:r>
            <a:endParaRPr sz="3000"/>
          </a:p>
        </p:txBody>
      </p:sp>
      <p:sp>
        <p:nvSpPr>
          <p:cNvPr id="5" name="STC-07-status-label">
            <a:extLst xmlns:a="http://schemas.openxmlformats.org/drawingml/2006/main">
              <a:ext uri="{FF2B5EF4-FFF2-40B4-BE49-F238E27FC236}">
                <a16:creationId xmlns:a16="http://schemas.microsoft.com/office/drawing/2014/main" id="{C89B1737-53E3-4487-92D3-B61B00B58CF8}"/>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44E8A"/>
                </a:solidFill>
                <a:latin typeface="Noto Sans Mono CJK KR"/>
                <a:ea typeface="Noto Sans Mono CJK KR"/>
                <a:cs typeface="Noto Sans Mono CJK KR"/>
              </a:rPr>
              <a:t>training 배경</a:t>
            </a:r>
            <a:endParaRPr sz="1000"/>
          </a:p>
        </p:txBody>
      </p:sp>
      <p:sp>
        <p:nvSpPr>
          <p:cNvPr id="6" name="STC-07-status-rule">
            <a:extLst xmlns:a="http://schemas.openxmlformats.org/drawingml/2006/main">
              <a:ext uri="{FF2B5EF4-FFF2-40B4-BE49-F238E27FC236}">
                <a16:creationId xmlns:a16="http://schemas.microsoft.com/office/drawing/2014/main" id="{FE4EEA0D-83FB-4682-B1D0-5F89638A4EC7}"/>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44E8A"/>
            </a:solidFill>
            <a:prstDash val="solid"/>
            <a:tailEnd type="none"/>
          </a:ln>
        </p:spPr>
      </p:sp>
      <p:sp>
        <p:nvSpPr>
          <p:cNvPr id="7" name="STC-07-footer-rule">
            <a:extLst xmlns:a="http://schemas.openxmlformats.org/drawingml/2006/main">
              <a:ext uri="{FF2B5EF4-FFF2-40B4-BE49-F238E27FC236}">
                <a16:creationId xmlns:a16="http://schemas.microsoft.com/office/drawing/2014/main" id="{D3C2358E-59CE-49F9-AE83-ECA23B717C4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7-source-footer">
            <a:extLst xmlns:a="http://schemas.openxmlformats.org/drawingml/2006/main">
              <a:ext uri="{FF2B5EF4-FFF2-40B4-BE49-F238E27FC236}">
                <a16:creationId xmlns:a16="http://schemas.microsoft.com/office/drawing/2014/main" id="{774D1206-5E02-4221-B3F8-331F3E1E6580}"/>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ch04 (distillation)</a:t>
            </a:r>
            <a:endParaRPr sz="850"/>
          </a:p>
        </p:txBody>
      </p:sp>
      <p:sp>
        <p:nvSpPr>
          <p:cNvPr id="9" name="STC-07-page-number">
            <a:extLst xmlns:a="http://schemas.openxmlformats.org/drawingml/2006/main">
              <a:ext uri="{FF2B5EF4-FFF2-40B4-BE49-F238E27FC236}">
                <a16:creationId xmlns:a16="http://schemas.microsoft.com/office/drawing/2014/main" id="{78A83FEE-1D5C-4FCE-B710-C3DA562A624A}"/>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20</a:t>
            </a:r>
            <a:endParaRPr sz="850"/>
          </a:p>
        </p:txBody>
      </p:sp>
      <p:sp>
        <p:nvSpPr>
          <p:cNvPr id="11" name="STC-07-plos-tag-0">
            <a:extLst xmlns:a="http://schemas.openxmlformats.org/drawingml/2006/main">
              <a:ext uri="{FF2B5EF4-FFF2-40B4-BE49-F238E27FC236}">
                <a16:creationId xmlns:a16="http://schemas.microsoft.com/office/drawing/2014/main" id="{477BEE9E-30E4-43A7-AEF5-0D10E930A967}"/>
              </a:ext>
            </a:extLst>
          </p:cNvPr>
          <p:cNvSpPr>
            <a:spLocks xmlns:a="http://schemas.openxmlformats.org/drawingml/2006/main" noGrp="1"/>
          </p:cNvSpPr>
          <p:nvPr/>
        </p:nvSpPr>
        <p:spPr>
          <a:xfrm xmlns:a="http://schemas.openxmlformats.org/drawingml/2006/main">
            <a:off x="841248" y="1764792"/>
            <a:ext cx="1691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logit</a:t>
            </a:r>
            <a:endParaRPr sz="1050"/>
          </a:p>
        </p:txBody>
      </p:sp>
      <p:sp>
        <p:nvSpPr>
          <p:cNvPr id="12" name="STC-07-plos-node-0">
            <a:extLst xmlns:a="http://schemas.openxmlformats.org/drawingml/2006/main">
              <a:ext uri="{FF2B5EF4-FFF2-40B4-BE49-F238E27FC236}">
                <a16:creationId xmlns:a16="http://schemas.microsoft.com/office/drawing/2014/main" id="{711415C9-6053-4EFA-8A88-19702F34B04B}"/>
              </a:ext>
            </a:extLst>
          </p:cNvPr>
          <p:cNvSpPr>
            <a:spLocks xmlns:a="http://schemas.openxmlformats.org/drawingml/2006/main" noGrp="1"/>
          </p:cNvSpPr>
          <p:nvPr/>
        </p:nvSpPr>
        <p:spPr>
          <a:xfrm xmlns:a="http://schemas.openxmlformats.org/drawingml/2006/main">
            <a:off x="841248" y="2084832"/>
            <a:ext cx="1737360" cy="1143000"/>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3" name="STC-07-plos-body-0">
            <a:extLst xmlns:a="http://schemas.openxmlformats.org/drawingml/2006/main">
              <a:ext uri="{FF2B5EF4-FFF2-40B4-BE49-F238E27FC236}">
                <a16:creationId xmlns:a16="http://schemas.microsoft.com/office/drawing/2014/main" id="{935994DA-E088-4574-AD6F-A8C3F1588EA3}"/>
              </a:ext>
            </a:extLst>
          </p:cNvPr>
          <p:cNvSpPr>
            <a:spLocks xmlns:a="http://schemas.openxmlformats.org/drawingml/2006/main" noGrp="1"/>
          </p:cNvSpPr>
          <p:nvPr/>
        </p:nvSpPr>
        <p:spPr>
          <a:xfrm xmlns:a="http://schemas.openxmlformats.org/drawingml/2006/main">
            <a:off x="978408" y="2350008"/>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교사의 출력</a:t>
            </a:r>
            <a:endParaRPr sz="1700"/>
          </a:p>
          <a:p xmlns:a="http://schemas.openxmlformats.org/drawingml/2006/main">
            <a:pPr marL="0" indent="0" algn="ctr">
              <a:buNone/>
            </a:pPr>
            <a:r>
              <a:rPr sz="1700" b="1">
                <a:solidFill>
                  <a:srgbClr val="17191C"/>
                </a:solidFill>
                <a:latin typeface="Noto Sans CJK KR"/>
                <a:ea typeface="Noto Sans CJK KR"/>
                <a:cs typeface="Noto Sans CJK KR"/>
              </a:rPr>
              <a:t>분포를 학생이 따라 배운다</a:t>
            </a:r>
            <a:endParaRPr sz="1700"/>
          </a:p>
        </p:txBody>
      </p:sp>
      <p:sp>
        <p:nvSpPr>
          <p:cNvPr id="14" name="STC-07-plos-arrow-0">
            <a:extLst xmlns:a="http://schemas.openxmlformats.org/drawingml/2006/main">
              <a:ext uri="{FF2B5EF4-FFF2-40B4-BE49-F238E27FC236}">
                <a16:creationId xmlns:a16="http://schemas.microsoft.com/office/drawing/2014/main" id="{DDFC7402-063F-4686-91B0-5B1DAACFD850}"/>
              </a:ext>
            </a:extLst>
          </p:cNvPr>
          <p:cNvSpPr>
            <a:spLocks xmlns:a="http://schemas.openxmlformats.org/drawingml/2006/main" noGrp="1"/>
          </p:cNvSpPr>
          <p:nvPr/>
        </p:nvSpPr>
        <p:spPr>
          <a:xfrm xmlns:a="http://schemas.openxmlformats.org/drawingml/2006/main">
            <a:off x="2642616" y="2651760"/>
            <a:ext cx="86868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5" name="STC-07-plos-tag-1">
            <a:extLst xmlns:a="http://schemas.openxmlformats.org/drawingml/2006/main">
              <a:ext uri="{FF2B5EF4-FFF2-40B4-BE49-F238E27FC236}">
                <a16:creationId xmlns:a16="http://schemas.microsoft.com/office/drawing/2014/main" id="{4F0CBE47-41DD-4036-8542-A439DC04CE5E}"/>
              </a:ext>
            </a:extLst>
          </p:cNvPr>
          <p:cNvSpPr>
            <a:spLocks xmlns:a="http://schemas.openxmlformats.org/drawingml/2006/main" noGrp="1"/>
          </p:cNvSpPr>
          <p:nvPr/>
        </p:nvSpPr>
        <p:spPr>
          <a:xfrm xmlns:a="http://schemas.openxmlformats.org/drawingml/2006/main">
            <a:off x="3017520" y="1764792"/>
            <a:ext cx="1691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feature</a:t>
            </a:r>
            <a:endParaRPr sz="1050"/>
          </a:p>
        </p:txBody>
      </p:sp>
      <p:sp>
        <p:nvSpPr>
          <p:cNvPr id="16" name="STC-07-plos-node-1">
            <a:extLst xmlns:a="http://schemas.openxmlformats.org/drawingml/2006/main">
              <a:ext uri="{FF2B5EF4-FFF2-40B4-BE49-F238E27FC236}">
                <a16:creationId xmlns:a16="http://schemas.microsoft.com/office/drawing/2014/main" id="{C161CFB9-271D-42F0-9370-7CE4447E08BB}"/>
              </a:ext>
            </a:extLst>
          </p:cNvPr>
          <p:cNvSpPr>
            <a:spLocks xmlns:a="http://schemas.openxmlformats.org/drawingml/2006/main" noGrp="1"/>
          </p:cNvSpPr>
          <p:nvPr/>
        </p:nvSpPr>
        <p:spPr>
          <a:xfrm xmlns:a="http://schemas.openxmlformats.org/drawingml/2006/main">
            <a:off x="3017520" y="2084832"/>
            <a:ext cx="1737360" cy="1143000"/>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7" name="STC-07-plos-body-1">
            <a:extLst xmlns:a="http://schemas.openxmlformats.org/drawingml/2006/main">
              <a:ext uri="{FF2B5EF4-FFF2-40B4-BE49-F238E27FC236}">
                <a16:creationId xmlns:a16="http://schemas.microsoft.com/office/drawing/2014/main" id="{3253C665-58CC-44A3-9B85-5E619532AC5F}"/>
              </a:ext>
            </a:extLst>
          </p:cNvPr>
          <p:cNvSpPr>
            <a:spLocks xmlns:a="http://schemas.openxmlformats.org/drawingml/2006/main" noGrp="1"/>
          </p:cNvSpPr>
          <p:nvPr/>
        </p:nvSpPr>
        <p:spPr>
          <a:xfrm xmlns:a="http://schemas.openxmlformats.org/drawingml/2006/main">
            <a:off x="3154680" y="2350008"/>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중간</a:t>
            </a:r>
            <a:endParaRPr sz="1700"/>
          </a:p>
          <a:p xmlns:a="http://schemas.openxmlformats.org/drawingml/2006/main">
            <a:pPr marL="0" indent="0" algn="ctr">
              <a:buNone/>
            </a:pPr>
            <a:r>
              <a:rPr sz="1700" b="1">
                <a:solidFill>
                  <a:srgbClr val="17191C"/>
                </a:solidFill>
                <a:latin typeface="Noto Sans CJK KR"/>
                <a:ea typeface="Noto Sans CJK KR"/>
                <a:cs typeface="Noto Sans CJK KR"/>
              </a:rPr>
              <a:t>표현을 맞춘다</a:t>
            </a:r>
            <a:endParaRPr sz="1700"/>
          </a:p>
        </p:txBody>
      </p:sp>
      <p:sp>
        <p:nvSpPr>
          <p:cNvPr id="18" name="STC-07-plos-arrow-1">
            <a:extLst xmlns:a="http://schemas.openxmlformats.org/drawingml/2006/main">
              <a:ext uri="{FF2B5EF4-FFF2-40B4-BE49-F238E27FC236}">
                <a16:creationId xmlns:a16="http://schemas.microsoft.com/office/drawing/2014/main" id="{FCCDF2E8-B001-493B-A9BA-96C7A42636DF}"/>
              </a:ext>
            </a:extLst>
          </p:cNvPr>
          <p:cNvSpPr>
            <a:spLocks xmlns:a="http://schemas.openxmlformats.org/drawingml/2006/main" noGrp="1"/>
          </p:cNvSpPr>
          <p:nvPr/>
        </p:nvSpPr>
        <p:spPr>
          <a:xfrm xmlns:a="http://schemas.openxmlformats.org/drawingml/2006/main">
            <a:off x="4818888" y="2651760"/>
            <a:ext cx="86868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9" name="STC-07-plos-tag-2">
            <a:extLst xmlns:a="http://schemas.openxmlformats.org/drawingml/2006/main">
              <a:ext uri="{FF2B5EF4-FFF2-40B4-BE49-F238E27FC236}">
                <a16:creationId xmlns:a16="http://schemas.microsoft.com/office/drawing/2014/main" id="{15EFF682-7D6E-41A3-A7F6-F9DA2E4C87AE}"/>
              </a:ext>
            </a:extLst>
          </p:cNvPr>
          <p:cNvSpPr>
            <a:spLocks xmlns:a="http://schemas.openxmlformats.org/drawingml/2006/main" noGrp="1"/>
          </p:cNvSpPr>
          <p:nvPr/>
        </p:nvSpPr>
        <p:spPr>
          <a:xfrm xmlns:a="http://schemas.openxmlformats.org/drawingml/2006/main">
            <a:off x="5193792" y="1764792"/>
            <a:ext cx="1691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self</a:t>
            </a:r>
            <a:endParaRPr sz="1050"/>
          </a:p>
        </p:txBody>
      </p:sp>
      <p:sp>
        <p:nvSpPr>
          <p:cNvPr id="20" name="STC-07-plos-node-2">
            <a:extLst xmlns:a="http://schemas.openxmlformats.org/drawingml/2006/main">
              <a:ext uri="{FF2B5EF4-FFF2-40B4-BE49-F238E27FC236}">
                <a16:creationId xmlns:a16="http://schemas.microsoft.com/office/drawing/2014/main" id="{6444BC29-B709-411A-B01C-AAC85CD1C90A}"/>
              </a:ext>
            </a:extLst>
          </p:cNvPr>
          <p:cNvSpPr>
            <a:spLocks xmlns:a="http://schemas.openxmlformats.org/drawingml/2006/main" noGrp="1"/>
          </p:cNvSpPr>
          <p:nvPr/>
        </p:nvSpPr>
        <p:spPr>
          <a:xfrm xmlns:a="http://schemas.openxmlformats.org/drawingml/2006/main">
            <a:off x="5193792" y="2084832"/>
            <a:ext cx="1737360" cy="1143000"/>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21" name="STC-07-plos-body-2">
            <a:extLst xmlns:a="http://schemas.openxmlformats.org/drawingml/2006/main">
              <a:ext uri="{FF2B5EF4-FFF2-40B4-BE49-F238E27FC236}">
                <a16:creationId xmlns:a16="http://schemas.microsoft.com/office/drawing/2014/main" id="{DFC24F49-F232-4EB7-96A7-E3FCE01CF0EF}"/>
              </a:ext>
            </a:extLst>
          </p:cNvPr>
          <p:cNvSpPr>
            <a:spLocks xmlns:a="http://schemas.openxmlformats.org/drawingml/2006/main" noGrp="1"/>
          </p:cNvSpPr>
          <p:nvPr/>
        </p:nvSpPr>
        <p:spPr>
          <a:xfrm xmlns:a="http://schemas.openxmlformats.org/drawingml/2006/main">
            <a:off x="5330952" y="2350008"/>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교사가 자기 자신.</a:t>
            </a:r>
            <a:endParaRPr sz="1700"/>
          </a:p>
          <a:p xmlns:a="http://schemas.openxmlformats.org/drawingml/2006/main">
            <a:pPr marL="0" indent="0" algn="ctr">
              <a:buNone/>
            </a:pPr>
            <a:r>
              <a:rPr sz="1700" b="1">
                <a:solidFill>
                  <a:srgbClr val="17191C"/>
                </a:solidFill>
                <a:latin typeface="Noto Sans CJK KR"/>
                <a:ea typeface="Noto Sans CJK KR"/>
                <a:cs typeface="Noto Sans CJK KR"/>
              </a:rPr>
              <a:t>라운드마다 갱신된다</a:t>
            </a:r>
            <a:endParaRPr sz="1700"/>
          </a:p>
        </p:txBody>
      </p:sp>
      <p:sp>
        <p:nvSpPr>
          <p:cNvPr id="22" name="STC-07-plos-arrow-2">
            <a:extLst xmlns:a="http://schemas.openxmlformats.org/drawingml/2006/main">
              <a:ext uri="{FF2B5EF4-FFF2-40B4-BE49-F238E27FC236}">
                <a16:creationId xmlns:a16="http://schemas.microsoft.com/office/drawing/2014/main" id="{DEA9420B-E88D-45C2-A54B-51FF0C7D3E7B}"/>
              </a:ext>
            </a:extLst>
          </p:cNvPr>
          <p:cNvSpPr>
            <a:spLocks xmlns:a="http://schemas.openxmlformats.org/drawingml/2006/main" noGrp="1"/>
          </p:cNvSpPr>
          <p:nvPr/>
        </p:nvSpPr>
        <p:spPr>
          <a:xfrm xmlns:a="http://schemas.openxmlformats.org/drawingml/2006/main">
            <a:off x="6995160" y="2651760"/>
            <a:ext cx="86868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23" name="STC-07-plos-tag-3">
            <a:extLst xmlns:a="http://schemas.openxmlformats.org/drawingml/2006/main">
              <a:ext uri="{FF2B5EF4-FFF2-40B4-BE49-F238E27FC236}">
                <a16:creationId xmlns:a16="http://schemas.microsoft.com/office/drawing/2014/main" id="{BC7C8B99-61D6-427D-B2B7-39B11F56BBCF}"/>
              </a:ext>
            </a:extLst>
          </p:cNvPr>
          <p:cNvSpPr>
            <a:spLocks xmlns:a="http://schemas.openxmlformats.org/drawingml/2006/main" noGrp="1"/>
          </p:cNvSpPr>
          <p:nvPr/>
        </p:nvSpPr>
        <p:spPr>
          <a:xfrm xmlns:a="http://schemas.openxmlformats.org/drawingml/2006/main">
            <a:off x="7818120" y="1764792"/>
            <a:ext cx="1691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frozen</a:t>
            </a:r>
            <a:endParaRPr sz="1050"/>
          </a:p>
        </p:txBody>
      </p:sp>
      <p:sp>
        <p:nvSpPr>
          <p:cNvPr id="24" name="STC-07-plos-node-3">
            <a:extLst xmlns:a="http://schemas.openxmlformats.org/drawingml/2006/main">
              <a:ext uri="{FF2B5EF4-FFF2-40B4-BE49-F238E27FC236}">
                <a16:creationId xmlns:a16="http://schemas.microsoft.com/office/drawing/2014/main" id="{7E2767A4-30EB-4666-A59C-FABEDD16407C}"/>
              </a:ext>
            </a:extLst>
          </p:cNvPr>
          <p:cNvSpPr>
            <a:spLocks xmlns:a="http://schemas.openxmlformats.org/drawingml/2006/main" noGrp="1"/>
          </p:cNvSpPr>
          <p:nvPr/>
        </p:nvSpPr>
        <p:spPr>
          <a:xfrm xmlns:a="http://schemas.openxmlformats.org/drawingml/2006/main">
            <a:off x="7818120" y="2084832"/>
            <a:ext cx="1737360" cy="1143000"/>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25" name="STC-07-plos-body-3">
            <a:extLst xmlns:a="http://schemas.openxmlformats.org/drawingml/2006/main">
              <a:ext uri="{FF2B5EF4-FFF2-40B4-BE49-F238E27FC236}">
                <a16:creationId xmlns:a16="http://schemas.microsoft.com/office/drawing/2014/main" id="{809257DE-5F16-4363-A566-4CF9FDC204D6}"/>
              </a:ext>
            </a:extLst>
          </p:cNvPr>
          <p:cNvSpPr>
            <a:spLocks xmlns:a="http://schemas.openxmlformats.org/drawingml/2006/main" noGrp="1"/>
          </p:cNvSpPr>
          <p:nvPr/>
        </p:nvSpPr>
        <p:spPr>
          <a:xfrm xmlns:a="http://schemas.openxmlformats.org/drawingml/2006/main">
            <a:off x="7955280" y="2350008"/>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교사를</a:t>
            </a:r>
            <a:endParaRPr sz="1700"/>
          </a:p>
          <a:p xmlns:a="http://schemas.openxmlformats.org/drawingml/2006/main">
            <a:pPr marL="0" indent="0" algn="ctr">
              <a:buNone/>
            </a:pPr>
            <a:r>
              <a:rPr sz="1700" b="1">
                <a:solidFill>
                  <a:srgbClr val="17191C"/>
                </a:solidFill>
                <a:latin typeface="Noto Sans CJK KR"/>
                <a:ea typeface="Noto Sans CJK KR"/>
                <a:cs typeface="Noto Sans CJK KR"/>
              </a:rPr>
              <a:t>Θ_0에 고정한다</a:t>
            </a:r>
            <a:endParaRPr sz="1700"/>
          </a:p>
        </p:txBody>
      </p:sp>
      <p:sp>
        <p:nvSpPr>
          <p:cNvPr id="26" name="STC-07-plos-number-field">
            <a:extLst xmlns:a="http://schemas.openxmlformats.org/drawingml/2006/main">
              <a:ext uri="{FF2B5EF4-FFF2-40B4-BE49-F238E27FC236}">
                <a16:creationId xmlns:a16="http://schemas.microsoft.com/office/drawing/2014/main" id="{4E2978AC-8368-4EA8-8B79-F7C178E60D71}"/>
              </a:ext>
            </a:extLst>
          </p:cNvPr>
          <p:cNvSpPr>
            <a:spLocks xmlns:a="http://schemas.openxmlformats.org/drawingml/2006/main" noGrp="1"/>
          </p:cNvSpPr>
          <p:nvPr/>
        </p:nvSpPr>
        <p:spPr>
          <a:xfrm xmlns:a="http://schemas.openxmlformats.org/drawingml/2006/main">
            <a:off x="10012680" y="1664208"/>
            <a:ext cx="1325880" cy="2011680"/>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7" name="STC-07-plos-842">
            <a:extLst xmlns:a="http://schemas.openxmlformats.org/drawingml/2006/main">
              <a:ext uri="{FF2B5EF4-FFF2-40B4-BE49-F238E27FC236}">
                <a16:creationId xmlns:a16="http://schemas.microsoft.com/office/drawing/2014/main" id="{392FC100-A9FD-4309-8FA8-1363DDE8985D}"/>
              </a:ext>
            </a:extLst>
          </p:cNvPr>
          <p:cNvSpPr>
            <a:spLocks xmlns:a="http://schemas.openxmlformats.org/drawingml/2006/main" noGrp="1"/>
          </p:cNvSpPr>
          <p:nvPr/>
        </p:nvSpPr>
        <p:spPr>
          <a:xfrm xmlns:a="http://schemas.openxmlformats.org/drawingml/2006/main">
            <a:off x="10131552" y="1938528"/>
            <a:ext cx="10972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3200" b="1">
                <a:solidFill>
                  <a:srgbClr val="FFFFFF"/>
                </a:solidFill>
                <a:latin typeface="Noto Serif CJK KR"/>
                <a:ea typeface="Noto Serif CJK KR"/>
                <a:cs typeface="Noto Serif CJK KR"/>
              </a:rPr>
              <a:t>교사</a:t>
            </a:r>
            <a:endParaRPr sz="3200"/>
          </a:p>
        </p:txBody>
      </p:sp>
      <p:sp>
        <p:nvSpPr>
          <p:cNvPr id="28" name="STC-07-plos-scope">
            <a:extLst xmlns:a="http://schemas.openxmlformats.org/drawingml/2006/main">
              <a:ext uri="{FF2B5EF4-FFF2-40B4-BE49-F238E27FC236}">
                <a16:creationId xmlns:a16="http://schemas.microsoft.com/office/drawing/2014/main" id="{A640C846-8ED3-4E78-B2F8-34C98733D95E}"/>
              </a:ext>
            </a:extLst>
          </p:cNvPr>
          <p:cNvSpPr>
            <a:spLocks xmlns:a="http://schemas.openxmlformats.org/drawingml/2006/main" noGrp="1"/>
          </p:cNvSpPr>
          <p:nvPr/>
        </p:nvSpPr>
        <p:spPr>
          <a:xfrm xmlns:a="http://schemas.openxmlformats.org/drawingml/2006/main">
            <a:off x="10131552" y="2578608"/>
            <a:ext cx="10972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FFFFFF"/>
                </a:solidFill>
                <a:latin typeface="Noto Sans CJK KR"/>
                <a:ea typeface="Noto Sans CJK KR"/>
                <a:cs typeface="Noto Sans CJK KR"/>
              </a:rPr>
              <a:t>4</a:t>
            </a:r>
            <a:endParaRPr sz="1300"/>
          </a:p>
          <a:p xmlns:a="http://schemas.openxmlformats.org/drawingml/2006/main">
            <a:pPr marL="0" indent="0" algn="ctr">
              <a:buNone/>
            </a:pPr>
            <a:r>
              <a:rPr sz="1300">
                <a:solidFill>
                  <a:srgbClr val="FFFFFF"/>
                </a:solidFill>
                <a:latin typeface="Noto Sans CJK KR"/>
                <a:ea typeface="Noto Sans CJK KR"/>
                <a:cs typeface="Noto Sans CJK KR"/>
              </a:rPr>
              <a:t>stages</a:t>
            </a:r>
            <a:endParaRPr sz="1300"/>
          </a:p>
          <a:p xmlns:a="http://schemas.openxmlformats.org/drawingml/2006/main">
            <a:pPr marL="0" indent="0" algn="ctr">
              <a:buNone/>
            </a:pPr>
            <a:r>
              <a:rPr sz="1300">
                <a:solidFill>
                  <a:srgbClr val="FFFFFF"/>
                </a:solidFill>
                <a:latin typeface="Noto Sans CJK KR"/>
                <a:ea typeface="Noto Sans CJK KR"/>
                <a:cs typeface="Noto Sans CJK KR"/>
              </a:rPr>
              <a:t>2 refs</a:t>
            </a:r>
            <a:endParaRPr sz="1300"/>
          </a:p>
        </p:txBody>
      </p:sp>
      <p:sp>
        <p:nvSpPr>
          <p:cNvPr id="29" name="STC-07-plos-seq-label">
            <a:extLst xmlns:a="http://schemas.openxmlformats.org/drawingml/2006/main">
              <a:ext uri="{FF2B5EF4-FFF2-40B4-BE49-F238E27FC236}">
                <a16:creationId xmlns:a16="http://schemas.microsoft.com/office/drawing/2014/main" id="{4B5003AB-D62F-4D2E-A7CC-C087E5B60099}"/>
              </a:ext>
            </a:extLst>
          </p:cNvPr>
          <p:cNvSpPr>
            <a:spLocks xmlns:a="http://schemas.openxmlformats.org/drawingml/2006/main" noGrp="1"/>
          </p:cNvSpPr>
          <p:nvPr/>
        </p:nvSpPr>
        <p:spPr>
          <a:xfrm xmlns:a="http://schemas.openxmlformats.org/drawingml/2006/main">
            <a:off x="914400" y="4142232"/>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9A442D"/>
                </a:solidFill>
                <a:latin typeface="Noto Sans CJK KR"/>
                <a:ea typeface="Noto Sans CJK KR"/>
                <a:cs typeface="Noto Sans CJK KR"/>
              </a:rPr>
              <a:t>logit</a:t>
            </a:r>
            <a:endParaRPr sz="1300"/>
          </a:p>
        </p:txBody>
      </p:sp>
      <p:sp>
        <p:nvSpPr>
          <p:cNvPr id="30" name="STC-07-plos-seq-num">
            <a:extLst xmlns:a="http://schemas.openxmlformats.org/drawingml/2006/main">
              <a:ext uri="{FF2B5EF4-FFF2-40B4-BE49-F238E27FC236}">
                <a16:creationId xmlns:a16="http://schemas.microsoft.com/office/drawing/2014/main" id="{4EC59591-8190-4C07-BE77-B1C069C16F76}"/>
              </a:ext>
            </a:extLst>
          </p:cNvPr>
          <p:cNvSpPr>
            <a:spLocks xmlns:a="http://schemas.openxmlformats.org/drawingml/2006/main" noGrp="1"/>
          </p:cNvSpPr>
          <p:nvPr/>
        </p:nvSpPr>
        <p:spPr>
          <a:xfrm xmlns:a="http://schemas.openxmlformats.org/drawingml/2006/main">
            <a:off x="2148840" y="4078224"/>
            <a:ext cx="23957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7191C"/>
                </a:solidFill>
                <a:latin typeface="Noto Sans Mono CJK KR"/>
                <a:ea typeface="Noto Sans Mono CJK KR"/>
                <a:cs typeface="Noto Sans Mono CJK KR"/>
              </a:rPr>
              <a:t>logit · feature</a:t>
            </a:r>
            <a:endParaRPr sz="1600"/>
          </a:p>
        </p:txBody>
      </p:sp>
      <p:sp>
        <p:nvSpPr>
          <p:cNvPr id="31" name="STC-07-plos-sleep-label">
            <a:extLst xmlns:a="http://schemas.openxmlformats.org/drawingml/2006/main">
              <a:ext uri="{FF2B5EF4-FFF2-40B4-BE49-F238E27FC236}">
                <a16:creationId xmlns:a16="http://schemas.microsoft.com/office/drawing/2014/main" id="{3C05A67A-CD6F-48DD-8144-46159D32367E}"/>
              </a:ext>
            </a:extLst>
          </p:cNvPr>
          <p:cNvSpPr>
            <a:spLocks xmlns:a="http://schemas.openxmlformats.org/drawingml/2006/main" noGrp="1"/>
          </p:cNvSpPr>
          <p:nvPr/>
        </p:nvSpPr>
        <p:spPr>
          <a:xfrm xmlns:a="http://schemas.openxmlformats.org/drawingml/2006/main">
            <a:off x="914400" y="4773168"/>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2F6B63"/>
                </a:solidFill>
                <a:latin typeface="Noto Sans CJK KR"/>
                <a:ea typeface="Noto Sans CJK KR"/>
                <a:cs typeface="Noto Sans CJK KR"/>
              </a:rPr>
              <a:t>feature</a:t>
            </a:r>
            <a:endParaRPr sz="1300"/>
          </a:p>
        </p:txBody>
      </p:sp>
      <p:sp>
        <p:nvSpPr>
          <p:cNvPr id="32" name="STC-07-plos-sleep-num">
            <a:extLst xmlns:a="http://schemas.openxmlformats.org/drawingml/2006/main">
              <a:ext uri="{FF2B5EF4-FFF2-40B4-BE49-F238E27FC236}">
                <a16:creationId xmlns:a16="http://schemas.microsoft.com/office/drawing/2014/main" id="{4B364966-9FB8-4AFF-B214-9B719ABB159C}"/>
              </a:ext>
            </a:extLst>
          </p:cNvPr>
          <p:cNvSpPr>
            <a:spLocks xmlns:a="http://schemas.openxmlformats.org/drawingml/2006/main" noGrp="1"/>
          </p:cNvSpPr>
          <p:nvPr/>
        </p:nvSpPr>
        <p:spPr>
          <a:xfrm xmlns:a="http://schemas.openxmlformats.org/drawingml/2006/main">
            <a:off x="2148840" y="4709160"/>
            <a:ext cx="42245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7191C"/>
                </a:solidFill>
                <a:latin typeface="Noto Sans Mono CJK KR"/>
                <a:ea typeface="Noto Sans Mono CJK KR"/>
                <a:cs typeface="Noto Sans Mono CJK KR"/>
              </a:rPr>
              <a:t>self-distillation은 교사가 자기 자신</a:t>
            </a:r>
            <a:endParaRPr sz="1600"/>
          </a:p>
        </p:txBody>
      </p:sp>
      <p:sp>
        <p:nvSpPr>
          <p:cNvPr id="33" name="STC-07-plos-limit-divider">
            <a:extLst xmlns:a="http://schemas.openxmlformats.org/drawingml/2006/main">
              <a:ext uri="{FF2B5EF4-FFF2-40B4-BE49-F238E27FC236}">
                <a16:creationId xmlns:a16="http://schemas.microsoft.com/office/drawing/2014/main" id="{C0D35C19-DF22-49BB-AB20-03C3F56DFA2F}"/>
              </a:ext>
            </a:extLst>
          </p:cNvPr>
          <p:cNvSpPr>
            <a:spLocks xmlns:a="http://schemas.openxmlformats.org/drawingml/2006/main" noGrp="1"/>
          </p:cNvSpPr>
          <p:nvPr/>
        </p:nvSpPr>
        <p:spPr>
          <a:xfrm xmlns:a="http://schemas.openxmlformats.org/drawingml/2006/main">
            <a:off x="6675120" y="4005072"/>
            <a:ext cx="0" cy="1426464"/>
          </a:xfrm>
          <a:prstGeom xmlns:a="http://schemas.openxmlformats.org/drawingml/2006/main" prst="line">
            <a:avLst/>
          </a:prstGeom>
          <a:noFill xmlns:a="http://schemas.openxmlformats.org/drawingml/2006/main"/>
          <a:ln xmlns:a="http://schemas.openxmlformats.org/drawingml/2006/main" w="15240">
            <a:solidFill>
              <a:srgbClr val="C9C4B8"/>
            </a:solidFill>
            <a:prstDash val="solid"/>
            <a:tailEnd type="none"/>
          </a:ln>
        </p:spPr>
      </p:sp>
      <p:sp>
        <p:nvSpPr>
          <p:cNvPr id="34" name="STC-07-plos-limit">
            <a:extLst xmlns:a="http://schemas.openxmlformats.org/drawingml/2006/main">
              <a:ext uri="{FF2B5EF4-FFF2-40B4-BE49-F238E27FC236}">
                <a16:creationId xmlns:a16="http://schemas.microsoft.com/office/drawing/2014/main" id="{477B7D5E-675D-4036-A0EA-4A37A50D4B3D}"/>
              </a:ext>
            </a:extLst>
          </p:cNvPr>
          <p:cNvSpPr>
            <a:spLocks xmlns:a="http://schemas.openxmlformats.org/drawingml/2006/main" noGrp="1"/>
          </p:cNvSpPr>
          <p:nvPr/>
        </p:nvSpPr>
        <p:spPr>
          <a:xfrm xmlns:a="http://schemas.openxmlformats.org/drawingml/2006/main">
            <a:off x="7022592" y="4059936"/>
            <a:ext cx="594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9A442D"/>
                </a:solidFill>
                <a:latin typeface="Noto Serif CJK KR"/>
                <a:ea typeface="Noto Serif CJK KR"/>
                <a:cs typeface="Noto Serif CJK KR"/>
              </a:rPr>
              <a:t>LIMIT</a:t>
            </a:r>
            <a:endParaRPr sz="1800"/>
          </a:p>
        </p:txBody>
      </p:sp>
      <p:sp>
        <p:nvSpPr>
          <p:cNvPr id="35" name="STC-07-plos-limit-text">
            <a:extLst xmlns:a="http://schemas.openxmlformats.org/drawingml/2006/main">
              <a:ext uri="{FF2B5EF4-FFF2-40B4-BE49-F238E27FC236}">
                <a16:creationId xmlns:a16="http://schemas.microsoft.com/office/drawing/2014/main" id="{506AA01B-FB2F-4186-90CA-3CA39B51D9A0}"/>
              </a:ext>
            </a:extLst>
          </p:cNvPr>
          <p:cNvSpPr>
            <a:spLocks xmlns:a="http://schemas.openxmlformats.org/drawingml/2006/main" noGrp="1"/>
          </p:cNvSpPr>
          <p:nvPr/>
        </p:nvSpPr>
        <p:spPr>
          <a:xfrm xmlns:a="http://schemas.openxmlformats.org/drawingml/2006/main">
            <a:off x="7726680" y="4014216"/>
            <a:ext cx="3438144" cy="960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a:solidFill>
                  <a:srgbClr val="17191C"/>
                </a:solidFill>
                <a:latin typeface="Noto Sans CJK KR"/>
                <a:ea typeface="Noto Sans CJK KR"/>
                <a:cs typeface="Noto Sans CJK KR"/>
              </a:rPr>
              <a:t>sleep 라운드의 교사가 누구인가 — 이</a:t>
            </a:r>
            <a:endParaRPr sz="1700"/>
          </a:p>
          <a:p xmlns:a="http://schemas.openxmlformats.org/drawingml/2006/main">
            <a:pPr marL="0" indent="0">
              <a:buNone/>
            </a:pPr>
            <a:r>
              <a:rPr sz="1700">
                <a:solidFill>
                  <a:srgbClr val="17191C"/>
                </a:solidFill>
                <a:latin typeface="Noto Sans CJK KR"/>
                <a:ea typeface="Noto Sans CJK KR"/>
                <a:cs typeface="Noto Sans CJK KR"/>
              </a:rPr>
              <a:t>질문이 뒤에서 반복 열화의 부호를 정한다</a:t>
            </a:r>
            <a:endParaRPr sz="1700"/>
          </a:p>
        </p:txBody>
      </p:sp>
    </p:spTree>
    <p:extLst>
      <p:ext uri="{BB962C8B-B14F-4D97-AF65-F5344CB8AC3E}">
        <p14:creationId xmlns:p14="http://schemas.microsoft.com/office/powerpoint/2010/main" val="1190465356"/>
      </p:ext>
    </p:extLst>
  </p:cSld>
</p:sld>
</file>

<file path=ppt/slides/slide21.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4-section">
            <a:extLst xmlns:a="http://schemas.openxmlformats.org/drawingml/2006/main">
              <a:ext uri="{FF2B5EF4-FFF2-40B4-BE49-F238E27FC236}">
                <a16:creationId xmlns:a16="http://schemas.microsoft.com/office/drawing/2014/main" id="{A0075D85-B234-44C8-902E-101F0A3CC31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04-slide-id">
            <a:extLst xmlns:a="http://schemas.openxmlformats.org/drawingml/2006/main">
              <a:ext uri="{FF2B5EF4-FFF2-40B4-BE49-F238E27FC236}">
                <a16:creationId xmlns:a16="http://schemas.microsoft.com/office/drawing/2014/main" id="{B14D52AE-8297-468B-A77A-23EAE8342583}"/>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STC-021</a:t>
            </a:r>
            <a:endParaRPr sz="950"/>
          </a:p>
        </p:txBody>
      </p:sp>
      <p:sp>
        <p:nvSpPr>
          <p:cNvPr id="4" name="STC-04-headline">
            <a:extLst xmlns:a="http://schemas.openxmlformats.org/drawingml/2006/main">
              <a:ext uri="{FF2B5EF4-FFF2-40B4-BE49-F238E27FC236}">
                <a16:creationId xmlns:a16="http://schemas.microsoft.com/office/drawing/2014/main" id="{3630F132-02F2-4CE1-9E25-749167C75A9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training 어휘 ④ — RL과 보상, 그리고 reward hacking</a:t>
            </a:r>
            <a:endParaRPr sz="3000"/>
          </a:p>
        </p:txBody>
      </p:sp>
      <p:sp>
        <p:nvSpPr>
          <p:cNvPr id="5" name="STC-04-status-label">
            <a:extLst xmlns:a="http://schemas.openxmlformats.org/drawingml/2006/main">
              <a:ext uri="{FF2B5EF4-FFF2-40B4-BE49-F238E27FC236}">
                <a16:creationId xmlns:a16="http://schemas.microsoft.com/office/drawing/2014/main" id="{A7ACBE27-EC77-4521-8202-C2F79CB3B4F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training 배경</a:t>
            </a:r>
            <a:endParaRPr sz="1000"/>
          </a:p>
        </p:txBody>
      </p:sp>
      <p:sp>
        <p:nvSpPr>
          <p:cNvPr id="6" name="STC-04-status-rule">
            <a:extLst xmlns:a="http://schemas.openxmlformats.org/drawingml/2006/main">
              <a:ext uri="{FF2B5EF4-FFF2-40B4-BE49-F238E27FC236}">
                <a16:creationId xmlns:a16="http://schemas.microsoft.com/office/drawing/2014/main" id="{168F3EE0-A99E-4D46-9138-97123A1B2E0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4-footer-rule">
            <a:extLst xmlns:a="http://schemas.openxmlformats.org/drawingml/2006/main">
              <a:ext uri="{FF2B5EF4-FFF2-40B4-BE49-F238E27FC236}">
                <a16:creationId xmlns:a16="http://schemas.microsoft.com/office/drawing/2014/main" id="{283A436D-9734-4A07-90CD-F35CB55E5AB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4-source-footer">
            <a:extLst xmlns:a="http://schemas.openxmlformats.org/drawingml/2006/main">
              <a:ext uri="{FF2B5EF4-FFF2-40B4-BE49-F238E27FC236}">
                <a16:creationId xmlns:a16="http://schemas.microsoft.com/office/drawing/2014/main" id="{883AB35B-5226-4881-AC75-8BEB5E56E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ch05 (RL for LLM)</a:t>
            </a:r>
            <a:endParaRPr sz="850"/>
          </a:p>
        </p:txBody>
      </p:sp>
      <p:sp>
        <p:nvSpPr>
          <p:cNvPr id="9" name="STC-04-page-number">
            <a:extLst xmlns:a="http://schemas.openxmlformats.org/drawingml/2006/main">
              <a:ext uri="{FF2B5EF4-FFF2-40B4-BE49-F238E27FC236}">
                <a16:creationId xmlns:a16="http://schemas.microsoft.com/office/drawing/2014/main" id="{EFF36FC2-57B0-4E0D-A22C-A663CD6EDD60}"/>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21</a:t>
            </a:r>
            <a:endParaRPr sz="850"/>
          </a:p>
        </p:txBody>
      </p:sp>
      <p:sp>
        <p:nvSpPr>
          <p:cNvPr id="11" name="STC-04-phase-tag-0">
            <a:extLst xmlns:a="http://schemas.openxmlformats.org/drawingml/2006/main">
              <a:ext uri="{FF2B5EF4-FFF2-40B4-BE49-F238E27FC236}">
                <a16:creationId xmlns:a16="http://schemas.microsoft.com/office/drawing/2014/main" id="{BA1F2F65-E6CA-4586-80AC-30666A36C48F}"/>
              </a:ext>
            </a:extLst>
          </p:cNvPr>
          <p:cNvSpPr>
            <a:spLocks xmlns:a="http://schemas.openxmlformats.org/drawingml/2006/main" noGrp="1"/>
          </p:cNvSpPr>
          <p:nvPr/>
        </p:nvSpPr>
        <p:spPr>
          <a:xfrm xmlns:a="http://schemas.openxmlformats.org/drawingml/2006/main">
            <a:off x="768096"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59616A"/>
                </a:solidFill>
                <a:latin typeface="Noto Sans Mono CJK KR"/>
                <a:ea typeface="Noto Sans Mono CJK KR"/>
                <a:cs typeface="Noto Sans Mono CJK KR"/>
              </a:rPr>
              <a:t>RLHF</a:t>
            </a:r>
            <a:endParaRPr sz="1200"/>
          </a:p>
        </p:txBody>
      </p:sp>
      <p:sp>
        <p:nvSpPr>
          <p:cNvPr id="12" name="STC-04-phase-ko-0">
            <a:extLst xmlns:a="http://schemas.openxmlformats.org/drawingml/2006/main">
              <a:ext uri="{FF2B5EF4-FFF2-40B4-BE49-F238E27FC236}">
                <a16:creationId xmlns:a16="http://schemas.microsoft.com/office/drawing/2014/main" id="{71B78324-C8F8-4909-82A4-E5B94A3ECF3B}"/>
              </a:ext>
            </a:extLst>
          </p:cNvPr>
          <p:cNvSpPr>
            <a:spLocks xmlns:a="http://schemas.openxmlformats.org/drawingml/2006/main" noGrp="1"/>
          </p:cNvSpPr>
          <p:nvPr/>
        </p:nvSpPr>
        <p:spPr>
          <a:xfrm xmlns:a="http://schemas.openxmlformats.org/drawingml/2006/main">
            <a:off x="768096"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선호</a:t>
            </a:r>
            <a:endParaRPr sz="2300"/>
          </a:p>
        </p:txBody>
      </p:sp>
      <p:sp>
        <p:nvSpPr>
          <p:cNvPr id="13" name="STC-04-phase-rule-0">
            <a:extLst xmlns:a="http://schemas.openxmlformats.org/drawingml/2006/main">
              <a:ext uri="{FF2B5EF4-FFF2-40B4-BE49-F238E27FC236}">
                <a16:creationId xmlns:a16="http://schemas.microsoft.com/office/drawing/2014/main" id="{7764BB8A-B05F-4718-BC24-4AD789913DE0}"/>
              </a:ext>
            </a:extLst>
          </p:cNvPr>
          <p:cNvSpPr>
            <a:spLocks xmlns:a="http://schemas.openxmlformats.org/drawingml/2006/main" noGrp="1"/>
          </p:cNvSpPr>
          <p:nvPr/>
        </p:nvSpPr>
        <p:spPr>
          <a:xfrm xmlns:a="http://schemas.openxmlformats.org/drawingml/2006/main">
            <a:off x="768096" y="2642616"/>
            <a:ext cx="2011680" cy="0"/>
          </a:xfrm>
          <a:prstGeom xmlns:a="http://schemas.openxmlformats.org/drawingml/2006/main" prst="line">
            <a:avLst/>
          </a:prstGeom>
          <a:noFill xmlns:a="http://schemas.openxmlformats.org/drawingml/2006/main"/>
          <a:ln xmlns:a="http://schemas.openxmlformats.org/drawingml/2006/main" w="50800">
            <a:solidFill>
              <a:srgbClr val="59616A"/>
            </a:solidFill>
            <a:prstDash val="solid"/>
            <a:tailEnd type="none"/>
          </a:ln>
        </p:spPr>
      </p:sp>
      <p:sp>
        <p:nvSpPr>
          <p:cNvPr id="14" name="STC-04-phase-body-0">
            <a:extLst xmlns:a="http://schemas.openxmlformats.org/drawingml/2006/main">
              <a:ext uri="{FF2B5EF4-FFF2-40B4-BE49-F238E27FC236}">
                <a16:creationId xmlns:a16="http://schemas.microsoft.com/office/drawing/2014/main" id="{D3EDF87F-330E-402B-BED1-949CABA05E93}"/>
              </a:ext>
            </a:extLst>
          </p:cNvPr>
          <p:cNvSpPr>
            <a:spLocks xmlns:a="http://schemas.openxmlformats.org/drawingml/2006/main" noGrp="1"/>
          </p:cNvSpPr>
          <p:nvPr/>
        </p:nvSpPr>
        <p:spPr>
          <a:xfrm xmlns:a="http://schemas.openxmlformats.org/drawingml/2006/main">
            <a:off x="768096"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선호 · 사람</a:t>
            </a:r>
            <a:endParaRPr sz="1800"/>
          </a:p>
          <a:p xmlns:a="http://schemas.openxmlformats.org/drawingml/2006/main">
            <a:pPr marL="0" indent="0">
              <a:buNone/>
            </a:pPr>
            <a:r>
              <a:rPr sz="1800">
                <a:solidFill>
                  <a:srgbClr val="17191C"/>
                </a:solidFill>
                <a:latin typeface="Noto Sans CJK KR"/>
                <a:ea typeface="Noto Sans CJK KR"/>
                <a:cs typeface="Noto Sans CJK KR"/>
              </a:rPr>
              <a:t>비교로 보상 모델을 만든다</a:t>
            </a:r>
            <a:endParaRPr sz="1800"/>
          </a:p>
        </p:txBody>
      </p:sp>
      <p:sp>
        <p:nvSpPr>
          <p:cNvPr id="15" name="STC-04-phase-arrow-0">
            <a:extLst xmlns:a="http://schemas.openxmlformats.org/drawingml/2006/main">
              <a:ext uri="{FF2B5EF4-FFF2-40B4-BE49-F238E27FC236}">
                <a16:creationId xmlns:a16="http://schemas.microsoft.com/office/drawing/2014/main" id="{783D597A-ACCC-4F6B-94A9-392B971E7A96}"/>
              </a:ext>
            </a:extLst>
          </p:cNvPr>
          <p:cNvSpPr>
            <a:spLocks xmlns:a="http://schemas.openxmlformats.org/drawingml/2006/main" noGrp="1"/>
          </p:cNvSpPr>
          <p:nvPr/>
        </p:nvSpPr>
        <p:spPr>
          <a:xfrm xmlns:a="http://schemas.openxmlformats.org/drawingml/2006/main">
            <a:off x="2962656"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16" name="STC-04-phase-tag-1">
            <a:extLst xmlns:a="http://schemas.openxmlformats.org/drawingml/2006/main">
              <a:ext uri="{FF2B5EF4-FFF2-40B4-BE49-F238E27FC236}">
                <a16:creationId xmlns:a16="http://schemas.microsoft.com/office/drawing/2014/main" id="{DF120A6C-83FF-4F70-8A23-21607B85C1A0}"/>
              </a:ext>
            </a:extLst>
          </p:cNvPr>
          <p:cNvSpPr>
            <a:spLocks xmlns:a="http://schemas.openxmlformats.org/drawingml/2006/main" noGrp="1"/>
          </p:cNvSpPr>
          <p:nvPr/>
        </p:nvSpPr>
        <p:spPr>
          <a:xfrm xmlns:a="http://schemas.openxmlformats.org/drawingml/2006/main">
            <a:off x="3593592"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DPO</a:t>
            </a:r>
            <a:endParaRPr sz="1200"/>
          </a:p>
        </p:txBody>
      </p:sp>
      <p:sp>
        <p:nvSpPr>
          <p:cNvPr id="17" name="STC-04-phase-ko-1">
            <a:extLst xmlns:a="http://schemas.openxmlformats.org/drawingml/2006/main">
              <a:ext uri="{FF2B5EF4-FFF2-40B4-BE49-F238E27FC236}">
                <a16:creationId xmlns:a16="http://schemas.microsoft.com/office/drawing/2014/main" id="{EC71ADFB-45C0-4738-8C38-F10FAB21F33F}"/>
              </a:ext>
            </a:extLst>
          </p:cNvPr>
          <p:cNvSpPr>
            <a:spLocks xmlns:a="http://schemas.openxmlformats.org/drawingml/2006/main" noGrp="1"/>
          </p:cNvSpPr>
          <p:nvPr/>
        </p:nvSpPr>
        <p:spPr>
          <a:xfrm xmlns:a="http://schemas.openxmlformats.org/drawingml/2006/main">
            <a:off x="3593592"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직접</a:t>
            </a:r>
            <a:endParaRPr sz="2300"/>
          </a:p>
        </p:txBody>
      </p:sp>
      <p:sp>
        <p:nvSpPr>
          <p:cNvPr id="18" name="STC-04-phase-rule-1">
            <a:extLst xmlns:a="http://schemas.openxmlformats.org/drawingml/2006/main">
              <a:ext uri="{FF2B5EF4-FFF2-40B4-BE49-F238E27FC236}">
                <a16:creationId xmlns:a16="http://schemas.microsoft.com/office/drawing/2014/main" id="{CD51B805-650E-4380-9B3A-E873D1907749}"/>
              </a:ext>
            </a:extLst>
          </p:cNvPr>
          <p:cNvSpPr>
            <a:spLocks xmlns:a="http://schemas.openxmlformats.org/drawingml/2006/main" noGrp="1"/>
          </p:cNvSpPr>
          <p:nvPr/>
        </p:nvSpPr>
        <p:spPr>
          <a:xfrm xmlns:a="http://schemas.openxmlformats.org/drawingml/2006/main">
            <a:off x="3593592" y="2642616"/>
            <a:ext cx="2011680" cy="0"/>
          </a:xfrm>
          <a:prstGeom xmlns:a="http://schemas.openxmlformats.org/drawingml/2006/main" prst="line">
            <a:avLst/>
          </a:prstGeom>
          <a:noFill xmlns:a="http://schemas.openxmlformats.org/drawingml/2006/main"/>
          <a:ln xmlns:a="http://schemas.openxmlformats.org/drawingml/2006/main" w="50800">
            <a:solidFill>
              <a:srgbClr val="244E8A"/>
            </a:solidFill>
            <a:prstDash val="solid"/>
            <a:tailEnd type="none"/>
          </a:ln>
        </p:spPr>
      </p:sp>
      <p:sp>
        <p:nvSpPr>
          <p:cNvPr id="19" name="STC-04-phase-body-1">
            <a:extLst xmlns:a="http://schemas.openxmlformats.org/drawingml/2006/main">
              <a:ext uri="{FF2B5EF4-FFF2-40B4-BE49-F238E27FC236}">
                <a16:creationId xmlns:a16="http://schemas.microsoft.com/office/drawing/2014/main" id="{CA6AC282-8658-4035-A58F-484C6AC4BB0A}"/>
              </a:ext>
            </a:extLst>
          </p:cNvPr>
          <p:cNvSpPr>
            <a:spLocks xmlns:a="http://schemas.openxmlformats.org/drawingml/2006/main" noGrp="1"/>
          </p:cNvSpPr>
          <p:nvPr/>
        </p:nvSpPr>
        <p:spPr>
          <a:xfrm xmlns:a="http://schemas.openxmlformats.org/drawingml/2006/main">
            <a:off x="3593592"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직접 · 보상 모델</a:t>
            </a:r>
            <a:endParaRPr sz="1800"/>
          </a:p>
          <a:p xmlns:a="http://schemas.openxmlformats.org/drawingml/2006/main">
            <a:pPr marL="0" indent="0">
              <a:buNone/>
            </a:pPr>
            <a:r>
              <a:rPr sz="1800">
                <a:solidFill>
                  <a:srgbClr val="17191C"/>
                </a:solidFill>
                <a:latin typeface="Noto Sans CJK KR"/>
                <a:ea typeface="Noto Sans CJK KR"/>
                <a:cs typeface="Noto Sans CJK KR"/>
              </a:rPr>
              <a:t>없이 선호로 바로 민다</a:t>
            </a:r>
            <a:endParaRPr sz="1800"/>
          </a:p>
        </p:txBody>
      </p:sp>
      <p:sp>
        <p:nvSpPr>
          <p:cNvPr id="20" name="STC-04-phase-arrow-1">
            <a:extLst xmlns:a="http://schemas.openxmlformats.org/drawingml/2006/main">
              <a:ext uri="{FF2B5EF4-FFF2-40B4-BE49-F238E27FC236}">
                <a16:creationId xmlns:a16="http://schemas.microsoft.com/office/drawing/2014/main" id="{78036B2A-3081-4A46-8C23-82C208923D54}"/>
              </a:ext>
            </a:extLst>
          </p:cNvPr>
          <p:cNvSpPr>
            <a:spLocks xmlns:a="http://schemas.openxmlformats.org/drawingml/2006/main" noGrp="1"/>
          </p:cNvSpPr>
          <p:nvPr/>
        </p:nvSpPr>
        <p:spPr>
          <a:xfrm xmlns:a="http://schemas.openxmlformats.org/drawingml/2006/main">
            <a:off x="5788152"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1" name="STC-04-phase-tag-2">
            <a:extLst xmlns:a="http://schemas.openxmlformats.org/drawingml/2006/main">
              <a:ext uri="{FF2B5EF4-FFF2-40B4-BE49-F238E27FC236}">
                <a16:creationId xmlns:a16="http://schemas.microsoft.com/office/drawing/2014/main" id="{14A86847-A229-4A53-8F2A-E51A71B0A175}"/>
              </a:ext>
            </a:extLst>
          </p:cNvPr>
          <p:cNvSpPr>
            <a:spLocks xmlns:a="http://schemas.openxmlformats.org/drawingml/2006/main" noGrp="1"/>
          </p:cNvSpPr>
          <p:nvPr/>
        </p:nvSpPr>
        <p:spPr>
          <a:xfrm xmlns:a="http://schemas.openxmlformats.org/drawingml/2006/main">
            <a:off x="6419088"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RLVR</a:t>
            </a:r>
            <a:endParaRPr sz="1200"/>
          </a:p>
        </p:txBody>
      </p:sp>
      <p:sp>
        <p:nvSpPr>
          <p:cNvPr id="22" name="STC-04-phase-ko-2">
            <a:extLst xmlns:a="http://schemas.openxmlformats.org/drawingml/2006/main">
              <a:ext uri="{FF2B5EF4-FFF2-40B4-BE49-F238E27FC236}">
                <a16:creationId xmlns:a16="http://schemas.microsoft.com/office/drawing/2014/main" id="{582DA535-C347-498A-B2F9-C40BAE20CE4F}"/>
              </a:ext>
            </a:extLst>
          </p:cNvPr>
          <p:cNvSpPr>
            <a:spLocks xmlns:a="http://schemas.openxmlformats.org/drawingml/2006/main" noGrp="1"/>
          </p:cNvSpPr>
          <p:nvPr/>
        </p:nvSpPr>
        <p:spPr>
          <a:xfrm xmlns:a="http://schemas.openxmlformats.org/drawingml/2006/main">
            <a:off x="6419088"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검증</a:t>
            </a:r>
            <a:endParaRPr sz="2300"/>
          </a:p>
        </p:txBody>
      </p:sp>
      <p:sp>
        <p:nvSpPr>
          <p:cNvPr id="23" name="STC-04-phase-rule-2">
            <a:extLst xmlns:a="http://schemas.openxmlformats.org/drawingml/2006/main">
              <a:ext uri="{FF2B5EF4-FFF2-40B4-BE49-F238E27FC236}">
                <a16:creationId xmlns:a16="http://schemas.microsoft.com/office/drawing/2014/main" id="{604E16CE-5100-4FC5-8DB9-7A23B695EE76}"/>
              </a:ext>
            </a:extLst>
          </p:cNvPr>
          <p:cNvSpPr>
            <a:spLocks xmlns:a="http://schemas.openxmlformats.org/drawingml/2006/main" noGrp="1"/>
          </p:cNvSpPr>
          <p:nvPr/>
        </p:nvSpPr>
        <p:spPr>
          <a:xfrm xmlns:a="http://schemas.openxmlformats.org/drawingml/2006/main">
            <a:off x="6419088" y="2642616"/>
            <a:ext cx="2011680" cy="0"/>
          </a:xfrm>
          <a:prstGeom xmlns:a="http://schemas.openxmlformats.org/drawingml/2006/main" prst="line">
            <a:avLst/>
          </a:prstGeom>
          <a:noFill xmlns:a="http://schemas.openxmlformats.org/drawingml/2006/main"/>
          <a:ln xmlns:a="http://schemas.openxmlformats.org/drawingml/2006/main" w="50800">
            <a:solidFill>
              <a:srgbClr val="9A442D"/>
            </a:solidFill>
            <a:prstDash val="solid"/>
            <a:tailEnd type="none"/>
          </a:ln>
        </p:spPr>
      </p:sp>
      <p:sp>
        <p:nvSpPr>
          <p:cNvPr id="24" name="STC-04-phase-body-2">
            <a:extLst xmlns:a="http://schemas.openxmlformats.org/drawingml/2006/main">
              <a:ext uri="{FF2B5EF4-FFF2-40B4-BE49-F238E27FC236}">
                <a16:creationId xmlns:a16="http://schemas.microsoft.com/office/drawing/2014/main" id="{5BF3497A-374B-4090-AF18-46EDBA191D7C}"/>
              </a:ext>
            </a:extLst>
          </p:cNvPr>
          <p:cNvSpPr>
            <a:spLocks xmlns:a="http://schemas.openxmlformats.org/drawingml/2006/main" noGrp="1"/>
          </p:cNvSpPr>
          <p:nvPr/>
        </p:nvSpPr>
        <p:spPr>
          <a:xfrm xmlns:a="http://schemas.openxmlformats.org/drawingml/2006/main">
            <a:off x="6419088"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검증 · 정답이 기계</a:t>
            </a:r>
            <a:endParaRPr sz="1800"/>
          </a:p>
          <a:p xmlns:a="http://schemas.openxmlformats.org/drawingml/2006/main">
            <a:pPr marL="0" indent="0">
              <a:buNone/>
            </a:pPr>
            <a:r>
              <a:rPr sz="1800">
                <a:solidFill>
                  <a:srgbClr val="17191C"/>
                </a:solidFill>
                <a:latin typeface="Noto Sans CJK KR"/>
                <a:ea typeface="Noto Sans CJK KR"/>
                <a:cs typeface="Noto Sans CJK KR"/>
              </a:rPr>
              <a:t>검증되는 과제에 쓴다</a:t>
            </a:r>
            <a:endParaRPr sz="1800"/>
          </a:p>
        </p:txBody>
      </p:sp>
      <p:sp>
        <p:nvSpPr>
          <p:cNvPr id="25" name="STC-04-phase-arrow-2">
            <a:extLst xmlns:a="http://schemas.openxmlformats.org/drawingml/2006/main">
              <a:ext uri="{FF2B5EF4-FFF2-40B4-BE49-F238E27FC236}">
                <a16:creationId xmlns:a16="http://schemas.microsoft.com/office/drawing/2014/main" id="{4E7BA787-51DD-48C2-90C7-E4BC25DA526D}"/>
              </a:ext>
            </a:extLst>
          </p:cNvPr>
          <p:cNvSpPr>
            <a:spLocks xmlns:a="http://schemas.openxmlformats.org/drawingml/2006/main" noGrp="1"/>
          </p:cNvSpPr>
          <p:nvPr/>
        </p:nvSpPr>
        <p:spPr>
          <a:xfrm xmlns:a="http://schemas.openxmlformats.org/drawingml/2006/main">
            <a:off x="8613648"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04-phase-tag-3">
            <a:extLst xmlns:a="http://schemas.openxmlformats.org/drawingml/2006/main">
              <a:ext uri="{FF2B5EF4-FFF2-40B4-BE49-F238E27FC236}">
                <a16:creationId xmlns:a16="http://schemas.microsoft.com/office/drawing/2014/main" id="{3D317DA2-F326-4299-B8BF-54ACE3EE2AA9}"/>
              </a:ext>
            </a:extLst>
          </p:cNvPr>
          <p:cNvSpPr>
            <a:spLocks xmlns:a="http://schemas.openxmlformats.org/drawingml/2006/main" noGrp="1"/>
          </p:cNvSpPr>
          <p:nvPr/>
        </p:nvSpPr>
        <p:spPr>
          <a:xfrm xmlns:a="http://schemas.openxmlformats.org/drawingml/2006/main">
            <a:off x="9244584"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hacking</a:t>
            </a:r>
            <a:endParaRPr sz="1200"/>
          </a:p>
        </p:txBody>
      </p:sp>
      <p:sp>
        <p:nvSpPr>
          <p:cNvPr id="27" name="STC-04-phase-ko-3">
            <a:extLst xmlns:a="http://schemas.openxmlformats.org/drawingml/2006/main">
              <a:ext uri="{FF2B5EF4-FFF2-40B4-BE49-F238E27FC236}">
                <a16:creationId xmlns:a16="http://schemas.microsoft.com/office/drawing/2014/main" id="{F5446ADD-A14C-416D-B2F4-1A4E119F4329}"/>
              </a:ext>
            </a:extLst>
          </p:cNvPr>
          <p:cNvSpPr>
            <a:spLocks xmlns:a="http://schemas.openxmlformats.org/drawingml/2006/main" noGrp="1"/>
          </p:cNvSpPr>
          <p:nvPr/>
        </p:nvSpPr>
        <p:spPr>
          <a:xfrm xmlns:a="http://schemas.openxmlformats.org/drawingml/2006/main">
            <a:off x="9244584"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보상</a:t>
            </a:r>
            <a:endParaRPr sz="2300"/>
          </a:p>
        </p:txBody>
      </p:sp>
      <p:sp>
        <p:nvSpPr>
          <p:cNvPr id="28" name="STC-04-phase-rule-3">
            <a:extLst xmlns:a="http://schemas.openxmlformats.org/drawingml/2006/main">
              <a:ext uri="{FF2B5EF4-FFF2-40B4-BE49-F238E27FC236}">
                <a16:creationId xmlns:a16="http://schemas.microsoft.com/office/drawing/2014/main" id="{4455D656-930A-404D-BF54-7ED24B2942EA}"/>
              </a:ext>
            </a:extLst>
          </p:cNvPr>
          <p:cNvSpPr>
            <a:spLocks xmlns:a="http://schemas.openxmlformats.org/drawingml/2006/main" noGrp="1"/>
          </p:cNvSpPr>
          <p:nvPr/>
        </p:nvSpPr>
        <p:spPr>
          <a:xfrm xmlns:a="http://schemas.openxmlformats.org/drawingml/2006/main">
            <a:off x="9244584" y="2642616"/>
            <a:ext cx="2011680" cy="0"/>
          </a:xfrm>
          <a:prstGeom xmlns:a="http://schemas.openxmlformats.org/drawingml/2006/main" prst="line">
            <a:avLst/>
          </a:prstGeom>
          <a:noFill xmlns:a="http://schemas.openxmlformats.org/drawingml/2006/main"/>
          <a:ln xmlns:a="http://schemas.openxmlformats.org/drawingml/2006/main" w="50800">
            <a:solidFill>
              <a:srgbClr val="2F6B63"/>
            </a:solidFill>
            <a:prstDash val="solid"/>
            <a:tailEnd type="none"/>
          </a:ln>
        </p:spPr>
      </p:sp>
      <p:sp>
        <p:nvSpPr>
          <p:cNvPr id="29" name="STC-04-phase-body-3">
            <a:extLst xmlns:a="http://schemas.openxmlformats.org/drawingml/2006/main">
              <a:ext uri="{FF2B5EF4-FFF2-40B4-BE49-F238E27FC236}">
                <a16:creationId xmlns:a16="http://schemas.microsoft.com/office/drawing/2014/main" id="{FE89CD84-AEBE-4991-983F-DACD28BF3807}"/>
              </a:ext>
            </a:extLst>
          </p:cNvPr>
          <p:cNvSpPr>
            <a:spLocks xmlns:a="http://schemas.openxmlformats.org/drawingml/2006/main" noGrp="1"/>
          </p:cNvSpPr>
          <p:nvPr/>
        </p:nvSpPr>
        <p:spPr>
          <a:xfrm xmlns:a="http://schemas.openxmlformats.org/drawingml/2006/main">
            <a:off x="9244584"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보상 · 지표를</a:t>
            </a:r>
            <a:endParaRPr sz="1800"/>
          </a:p>
          <a:p xmlns:a="http://schemas.openxmlformats.org/drawingml/2006/main">
            <a:pPr marL="0" indent="0">
              <a:buNone/>
            </a:pPr>
            <a:r>
              <a:rPr sz="1800">
                <a:solidFill>
                  <a:srgbClr val="17191C"/>
                </a:solidFill>
                <a:latin typeface="Noto Sans CJK KR"/>
                <a:ea typeface="Noto Sans CJK KR"/>
                <a:cs typeface="Noto Sans CJK KR"/>
              </a:rPr>
              <a:t>속이는 해로 수렴한다</a:t>
            </a:r>
            <a:endParaRPr sz="1800"/>
          </a:p>
        </p:txBody>
      </p:sp>
      <p:sp>
        <p:nvSpPr>
          <p:cNvPr id="30" name="STC-04-phase-invariant">
            <a:extLst xmlns:a="http://schemas.openxmlformats.org/drawingml/2006/main">
              <a:ext uri="{FF2B5EF4-FFF2-40B4-BE49-F238E27FC236}">
                <a16:creationId xmlns:a16="http://schemas.microsoft.com/office/drawing/2014/main" id="{03288DCF-E840-4104-9A86-10724C88811D}"/>
              </a:ext>
            </a:extLst>
          </p:cNvPr>
          <p:cNvSpPr>
            <a:spLocks xmlns:a="http://schemas.openxmlformats.org/drawingml/2006/main" noGrp="1"/>
          </p:cNvSpPr>
          <p:nvPr/>
        </p:nvSpPr>
        <p:spPr>
          <a:xfrm xmlns:a="http://schemas.openxmlformats.org/drawingml/2006/main">
            <a:off x="1188720" y="4736592"/>
            <a:ext cx="9811512" cy="6035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31" name="STC-04-phase-invariant-text">
            <a:extLst xmlns:a="http://schemas.openxmlformats.org/drawingml/2006/main">
              <a:ext uri="{FF2B5EF4-FFF2-40B4-BE49-F238E27FC236}">
                <a16:creationId xmlns:a16="http://schemas.microsoft.com/office/drawing/2014/main" id="{F965FB3E-3D1D-4CF8-8579-F6405F044BA3}"/>
              </a:ext>
            </a:extLst>
          </p:cNvPr>
          <p:cNvSpPr>
            <a:spLocks xmlns:a="http://schemas.openxmlformats.org/drawingml/2006/main" noGrp="1"/>
          </p:cNvSpPr>
          <p:nvPr/>
        </p:nvSpPr>
        <p:spPr>
          <a:xfrm xmlns:a="http://schemas.openxmlformats.org/drawingml/2006/main">
            <a:off x="1435608" y="4919472"/>
            <a:ext cx="93268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Θ-경로 sleep 논문 둘 다 쓰기 검증이 외부 신호에 의존하고, 그 신호가 실질 병목이다</a:t>
            </a:r>
            <a:endParaRPr sz="1700"/>
          </a:p>
        </p:txBody>
      </p:sp>
    </p:spTree>
    <p:extLst>
      <p:ext uri="{BB962C8B-B14F-4D97-AF65-F5344CB8AC3E}">
        <p14:creationId xmlns:p14="http://schemas.microsoft.com/office/powerpoint/2010/main" val="37494492"/>
      </p:ext>
    </p:extLst>
  </p:cSld>
</p:sld>
</file>

<file path=ppt/slides/slide2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7-section">
            <a:extLst xmlns:a="http://schemas.openxmlformats.org/drawingml/2006/main">
              <a:ext uri="{FF2B5EF4-FFF2-40B4-BE49-F238E27FC236}">
                <a16:creationId xmlns:a16="http://schemas.microsoft.com/office/drawing/2014/main" id="{92E4F8C4-5B7E-4BA3-B695-B6837EACCBA5}"/>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17-slide-id">
            <a:extLst xmlns:a="http://schemas.openxmlformats.org/drawingml/2006/main">
              <a:ext uri="{FF2B5EF4-FFF2-40B4-BE49-F238E27FC236}">
                <a16:creationId xmlns:a16="http://schemas.microsoft.com/office/drawing/2014/main" id="{90F0654A-6500-4A13-AE0F-92E29E9E7142}"/>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STC-022</a:t>
            </a:r>
            <a:endParaRPr sz="950"/>
          </a:p>
        </p:txBody>
      </p:sp>
      <p:sp>
        <p:nvSpPr>
          <p:cNvPr id="4" name="STC-17-headline">
            <a:extLst xmlns:a="http://schemas.openxmlformats.org/drawingml/2006/main">
              <a:ext uri="{FF2B5EF4-FFF2-40B4-BE49-F238E27FC236}">
                <a16:creationId xmlns:a16="http://schemas.microsoft.com/office/drawing/2014/main" id="{36BE495C-0276-48C5-8763-B49A07942DC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training 어휘 ⑤ — 데이터를 만드는 법과 model collapse</a:t>
            </a:r>
            <a:endParaRPr sz="3000"/>
          </a:p>
        </p:txBody>
      </p:sp>
      <p:sp>
        <p:nvSpPr>
          <p:cNvPr id="5" name="STC-17-status-label">
            <a:extLst xmlns:a="http://schemas.openxmlformats.org/drawingml/2006/main">
              <a:ext uri="{FF2B5EF4-FFF2-40B4-BE49-F238E27FC236}">
                <a16:creationId xmlns:a16="http://schemas.microsoft.com/office/drawing/2014/main" id="{3085FB04-162B-4BDC-9971-7067E8D465E9}"/>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9A442D"/>
                </a:solidFill>
                <a:latin typeface="Noto Sans Mono CJK KR"/>
                <a:ea typeface="Noto Sans Mono CJK KR"/>
                <a:cs typeface="Noto Sans Mono CJK KR"/>
              </a:rPr>
              <a:t>training 배경</a:t>
            </a:r>
            <a:endParaRPr sz="1000"/>
          </a:p>
        </p:txBody>
      </p:sp>
      <p:sp>
        <p:nvSpPr>
          <p:cNvPr id="6" name="STC-17-status-rule">
            <a:extLst xmlns:a="http://schemas.openxmlformats.org/drawingml/2006/main">
              <a:ext uri="{FF2B5EF4-FFF2-40B4-BE49-F238E27FC236}">
                <a16:creationId xmlns:a16="http://schemas.microsoft.com/office/drawing/2014/main" id="{578ADC5E-51EB-404F-BC45-37C9D6CD7CD7}"/>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9A442D"/>
            </a:solidFill>
            <a:prstDash val="solid"/>
            <a:tailEnd type="none"/>
          </a:ln>
        </p:spPr>
      </p:sp>
      <p:sp>
        <p:nvSpPr>
          <p:cNvPr id="7" name="STC-17-footer-rule">
            <a:extLst xmlns:a="http://schemas.openxmlformats.org/drawingml/2006/main">
              <a:ext uri="{FF2B5EF4-FFF2-40B4-BE49-F238E27FC236}">
                <a16:creationId xmlns:a16="http://schemas.microsoft.com/office/drawing/2014/main" id="{E08768A2-4454-4B40-89F4-7D7CB0E43EDC}"/>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7-source-footer">
            <a:extLst xmlns:a="http://schemas.openxmlformats.org/drawingml/2006/main">
              <a:ext uri="{FF2B5EF4-FFF2-40B4-BE49-F238E27FC236}">
                <a16:creationId xmlns:a16="http://schemas.microsoft.com/office/drawing/2014/main" id="{AD1D9E5D-8963-4E36-885F-E265EF98368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ch06 · [model collapse Eq. 3, 4, 11]</a:t>
            </a:r>
            <a:endParaRPr sz="850"/>
          </a:p>
        </p:txBody>
      </p:sp>
      <p:sp>
        <p:nvSpPr>
          <p:cNvPr id="9" name="STC-17-page-number">
            <a:extLst xmlns:a="http://schemas.openxmlformats.org/drawingml/2006/main">
              <a:ext uri="{FF2B5EF4-FFF2-40B4-BE49-F238E27FC236}">
                <a16:creationId xmlns:a16="http://schemas.microsoft.com/office/drawing/2014/main" id="{D9D3A1E4-D8BE-40ED-87D8-2EA53AA60732}"/>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22</a:t>
            </a:r>
            <a:endParaRPr sz="850"/>
          </a:p>
        </p:txBody>
      </p:sp>
      <p:sp>
        <p:nvSpPr>
          <p:cNvPr id="11" name="STC-17-scale-left-x">
            <a:extLst xmlns:a="http://schemas.openxmlformats.org/drawingml/2006/main">
              <a:ext uri="{FF2B5EF4-FFF2-40B4-BE49-F238E27FC236}">
                <a16:creationId xmlns:a16="http://schemas.microsoft.com/office/drawing/2014/main" id="{F38B9EA2-0669-4C35-A757-D44B42B288FA}"/>
              </a:ext>
            </a:extLst>
          </p:cNvPr>
          <p:cNvSpPr>
            <a:spLocks xmlns:a="http://schemas.openxmlformats.org/drawingml/2006/main" noGrp="1"/>
          </p:cNvSpPr>
          <p:nvPr/>
        </p:nvSpPr>
        <p:spPr>
          <a:xfrm xmlns:a="http://schemas.openxmlformats.org/drawingml/2006/main">
            <a:off x="1005840" y="5120640"/>
            <a:ext cx="425196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2" name="STC-17-scale-left-y">
            <a:extLst xmlns:a="http://schemas.openxmlformats.org/drawingml/2006/main">
              <a:ext uri="{FF2B5EF4-FFF2-40B4-BE49-F238E27FC236}">
                <a16:creationId xmlns:a16="http://schemas.microsoft.com/office/drawing/2014/main" id="{127EAC0F-7538-48D2-9845-E50816FBC5B6}"/>
              </a:ext>
            </a:extLst>
          </p:cNvPr>
          <p:cNvSpPr>
            <a:spLocks xmlns:a="http://schemas.openxmlformats.org/drawingml/2006/main" noGrp="1"/>
          </p:cNvSpPr>
          <p:nvPr/>
        </p:nvSpPr>
        <p:spPr>
          <a:xfrm xmlns:a="http://schemas.openxmlformats.org/drawingml/2006/main" flipH="0" flipV="1">
            <a:off x="1005840" y="1874520"/>
            <a:ext cx="0" cy="324612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3" name="STC-17-scale-left-xlabel">
            <a:extLst xmlns:a="http://schemas.openxmlformats.org/drawingml/2006/main">
              <a:ext uri="{FF2B5EF4-FFF2-40B4-BE49-F238E27FC236}">
                <a16:creationId xmlns:a16="http://schemas.microsoft.com/office/drawing/2014/main" id="{CC1A6B04-2FA6-4A11-9502-96D6C06C0406}"/>
              </a:ext>
            </a:extLst>
          </p:cNvPr>
          <p:cNvSpPr>
            <a:spLocks xmlns:a="http://schemas.openxmlformats.org/drawingml/2006/main" noGrp="1"/>
          </p:cNvSpPr>
          <p:nvPr/>
        </p:nvSpPr>
        <p:spPr>
          <a:xfrm xmlns:a="http://schemas.openxmlformats.org/drawingml/2006/main">
            <a:off x="3794760" y="5266944"/>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a:solidFill>
                  <a:srgbClr val="59616A"/>
                </a:solidFill>
                <a:latin typeface="Noto Sans CJK KR"/>
                <a:ea typeface="Noto Sans CJK KR"/>
                <a:cs typeface="Noto Sans CJK KR"/>
              </a:rPr>
              <a:t>라운드 k</a:t>
            </a:r>
            <a:endParaRPr sz="1100"/>
          </a:p>
        </p:txBody>
      </p:sp>
      <p:sp>
        <p:nvSpPr>
          <p:cNvPr id="14" name="STC-17-scale-left-ylabel">
            <a:extLst xmlns:a="http://schemas.openxmlformats.org/drawingml/2006/main">
              <a:ext uri="{FF2B5EF4-FFF2-40B4-BE49-F238E27FC236}">
                <a16:creationId xmlns:a16="http://schemas.microsoft.com/office/drawing/2014/main" id="{3FECF62E-F154-4266-9F86-FA8AD5DD6D5B}"/>
              </a:ext>
            </a:extLst>
          </p:cNvPr>
          <p:cNvSpPr>
            <a:spLocks xmlns:a="http://schemas.openxmlformats.org/drawingml/2006/main" noGrp="1"/>
          </p:cNvSpPr>
          <p:nvPr/>
        </p:nvSpPr>
        <p:spPr>
          <a:xfrm xmlns:a="http://schemas.openxmlformats.org/drawingml/2006/main" rot="16200000">
            <a:off x="594360" y="1764792"/>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9616A"/>
                </a:solidFill>
                <a:latin typeface="Noto Sans CJK KR"/>
                <a:ea typeface="Noto Sans CJK KR"/>
                <a:cs typeface="Noto Sans CJK KR"/>
              </a:rPr>
              <a:t>test risk</a:t>
            </a:r>
            <a:endParaRPr sz="1100"/>
          </a:p>
        </p:txBody>
      </p:sp>
      <p:sp>
        <p:nvSpPr>
          <p:cNvPr id="15" name="STC-17-scale-external">
            <a:extLst xmlns:a="http://schemas.openxmlformats.org/drawingml/2006/main">
              <a:ext uri="{FF2B5EF4-FFF2-40B4-BE49-F238E27FC236}">
                <a16:creationId xmlns:a16="http://schemas.microsoft.com/office/drawing/2014/main" id="{2D86127B-2D39-4C68-9E49-E6517B6F9AD8}"/>
              </a:ext>
            </a:extLst>
          </p:cNvPr>
          <p:cNvSpPr>
            <a:spLocks xmlns:a="http://schemas.openxmlformats.org/drawingml/2006/main" noGrp="1"/>
          </p:cNvSpPr>
          <p:nvPr/>
        </p:nvSpPr>
        <p:spPr>
          <a:xfrm xmlns:a="http://schemas.openxmlformats.org/drawingml/2006/main" flipH="0" flipV="1">
            <a:off x="1188720" y="2606040"/>
            <a:ext cx="3520440" cy="1874520"/>
          </a:xfrm>
          <a:prstGeom xmlns:a="http://schemas.openxmlformats.org/drawingml/2006/main" prst="line">
            <a:avLst/>
          </a:prstGeom>
          <a:noFill xmlns:a="http://schemas.openxmlformats.org/drawingml/2006/main"/>
          <a:ln xmlns:a="http://schemas.openxmlformats.org/drawingml/2006/main" w="27940">
            <a:solidFill>
              <a:srgbClr val="244E8A"/>
            </a:solidFill>
            <a:prstDash val="solid"/>
            <a:tailEnd type="none"/>
          </a:ln>
        </p:spPr>
      </p:sp>
      <p:sp>
        <p:nvSpPr>
          <p:cNvPr id="16" name="STC-17-scale-parametric">
            <a:extLst xmlns:a="http://schemas.openxmlformats.org/drawingml/2006/main">
              <a:ext uri="{FF2B5EF4-FFF2-40B4-BE49-F238E27FC236}">
                <a16:creationId xmlns:a16="http://schemas.microsoft.com/office/drawing/2014/main" id="{DFC59353-7D50-4688-AA06-2224C35349DE}"/>
              </a:ext>
            </a:extLst>
          </p:cNvPr>
          <p:cNvSpPr>
            <a:spLocks xmlns:a="http://schemas.openxmlformats.org/drawingml/2006/main" noGrp="1"/>
          </p:cNvSpPr>
          <p:nvPr/>
        </p:nvSpPr>
        <p:spPr>
          <a:xfrm xmlns:a="http://schemas.openxmlformats.org/drawingml/2006/main">
            <a:off x="1188720" y="2514600"/>
            <a:ext cx="3520440" cy="1965960"/>
          </a:xfrm>
          <a:prstGeom xmlns:a="http://schemas.openxmlformats.org/drawingml/2006/main" prst="line">
            <a:avLst/>
          </a:prstGeom>
          <a:noFill xmlns:a="http://schemas.openxmlformats.org/drawingml/2006/main"/>
          <a:ln xmlns:a="http://schemas.openxmlformats.org/drawingml/2006/main" w="27940">
            <a:solidFill>
              <a:srgbClr val="9A442D"/>
            </a:solidFill>
            <a:prstDash val="solid"/>
            <a:tailEnd type="none"/>
          </a:ln>
        </p:spPr>
      </p:sp>
      <p:sp>
        <p:nvSpPr>
          <p:cNvPr id="17" name="STC-17-scale-cross">
            <a:extLst xmlns:a="http://schemas.openxmlformats.org/drawingml/2006/main">
              <a:ext uri="{FF2B5EF4-FFF2-40B4-BE49-F238E27FC236}">
                <a16:creationId xmlns:a16="http://schemas.microsoft.com/office/drawing/2014/main" id="{38C2475A-C01B-48D1-B5C2-52F03E134CC7}"/>
              </a:ext>
            </a:extLst>
          </p:cNvPr>
          <p:cNvSpPr>
            <a:spLocks xmlns:a="http://schemas.openxmlformats.org/drawingml/2006/main" noGrp="1"/>
          </p:cNvSpPr>
          <p:nvPr/>
        </p:nvSpPr>
        <p:spPr>
          <a:xfrm xmlns:a="http://schemas.openxmlformats.org/drawingml/2006/main">
            <a:off x="2971800" y="3438144"/>
            <a:ext cx="219456" cy="219456"/>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18" name="STC-17-scale-cross-label">
            <a:extLst xmlns:a="http://schemas.openxmlformats.org/drawingml/2006/main">
              <a:ext uri="{FF2B5EF4-FFF2-40B4-BE49-F238E27FC236}">
                <a16:creationId xmlns:a16="http://schemas.microsoft.com/office/drawing/2014/main" id="{5361373B-8A27-4C3F-BCAB-13880DD0432B}"/>
              </a:ext>
            </a:extLst>
          </p:cNvPr>
          <p:cNvSpPr>
            <a:spLocks xmlns:a="http://schemas.openxmlformats.org/drawingml/2006/main" noGrp="1"/>
          </p:cNvSpPr>
          <p:nvPr/>
        </p:nvSpPr>
        <p:spPr>
          <a:xfrm xmlns:a="http://schemas.openxmlformats.org/drawingml/2006/main">
            <a:off x="3200400" y="3209544"/>
            <a:ext cx="1600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7191C"/>
                </a:solidFill>
                <a:latin typeface="Noto Sans CJK KR"/>
                <a:ea typeface="Noto Sans CJK KR"/>
                <a:cs typeface="Noto Sans CJK KR"/>
              </a:rPr>
              <a:t>accumulate</a:t>
            </a:r>
            <a:endParaRPr sz="1300"/>
          </a:p>
        </p:txBody>
      </p:sp>
      <p:sp>
        <p:nvSpPr>
          <p:cNvPr id="19" name="STC-17-scale-external-label">
            <a:extLst xmlns:a="http://schemas.openxmlformats.org/drawingml/2006/main">
              <a:ext uri="{FF2B5EF4-FFF2-40B4-BE49-F238E27FC236}">
                <a16:creationId xmlns:a16="http://schemas.microsoft.com/office/drawing/2014/main" id="{5A0E898B-D650-4683-929F-FC5564799CA5}"/>
              </a:ext>
            </a:extLst>
          </p:cNvPr>
          <p:cNvSpPr>
            <a:spLocks xmlns:a="http://schemas.openxmlformats.org/drawingml/2006/main" noGrp="1"/>
          </p:cNvSpPr>
          <p:nvPr/>
        </p:nvSpPr>
        <p:spPr>
          <a:xfrm xmlns:a="http://schemas.openxmlformats.org/drawingml/2006/main">
            <a:off x="1554480" y="4096512"/>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244E8A"/>
                </a:solidFill>
                <a:latin typeface="Noto Sans CJK KR"/>
                <a:ea typeface="Noto Sans CJK KR"/>
                <a:cs typeface="Noto Sans CJK KR"/>
              </a:rPr>
              <a:t>gen(H;B_s)</a:t>
            </a:r>
            <a:endParaRPr sz="1200"/>
          </a:p>
        </p:txBody>
      </p:sp>
      <p:sp>
        <p:nvSpPr>
          <p:cNvPr id="20" name="STC-17-scale-parametric-label">
            <a:extLst xmlns:a="http://schemas.openxmlformats.org/drawingml/2006/main">
              <a:ext uri="{FF2B5EF4-FFF2-40B4-BE49-F238E27FC236}">
                <a16:creationId xmlns:a16="http://schemas.microsoft.com/office/drawing/2014/main" id="{9314D827-DE51-4522-BD7E-BDF397FFDFC8}"/>
              </a:ext>
            </a:extLst>
          </p:cNvPr>
          <p:cNvSpPr>
            <a:spLocks xmlns:a="http://schemas.openxmlformats.org/drawingml/2006/main" noGrp="1"/>
          </p:cNvSpPr>
          <p:nvPr/>
        </p:nvSpPr>
        <p:spPr>
          <a:xfrm xmlns:a="http://schemas.openxmlformats.org/drawingml/2006/main">
            <a:off x="3986784" y="4114800"/>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9A442D"/>
                </a:solidFill>
                <a:latin typeface="Noto Sans CJK KR"/>
                <a:ea typeface="Noto Sans CJK KR"/>
                <a:cs typeface="Noto Sans CJK KR"/>
              </a:rPr>
              <a:t>1/i</a:t>
            </a:r>
            <a:endParaRPr sz="1200"/>
          </a:p>
        </p:txBody>
      </p:sp>
      <p:sp>
        <p:nvSpPr>
          <p:cNvPr id="21" name="STC-17-scale-divider">
            <a:extLst xmlns:a="http://schemas.openxmlformats.org/drawingml/2006/main">
              <a:ext uri="{FF2B5EF4-FFF2-40B4-BE49-F238E27FC236}">
                <a16:creationId xmlns:a16="http://schemas.microsoft.com/office/drawing/2014/main" id="{EED8261B-448F-4417-9C3F-674EDAAAD962}"/>
              </a:ext>
            </a:extLst>
          </p:cNvPr>
          <p:cNvSpPr>
            <a:spLocks xmlns:a="http://schemas.openxmlformats.org/drawingml/2006/main" noGrp="1"/>
          </p:cNvSpPr>
          <p:nvPr/>
        </p:nvSpPr>
        <p:spPr>
          <a:xfrm xmlns:a="http://schemas.openxmlformats.org/drawingml/2006/main">
            <a:off x="5989320" y="1755648"/>
            <a:ext cx="0" cy="3886200"/>
          </a:xfrm>
          <a:prstGeom xmlns:a="http://schemas.openxmlformats.org/drawingml/2006/main" prst="line">
            <a:avLst/>
          </a:prstGeom>
          <a:noFill xmlns:a="http://schemas.openxmlformats.org/drawingml/2006/main"/>
          <a:ln xmlns:a="http://schemas.openxmlformats.org/drawingml/2006/main" w="15240">
            <a:solidFill>
              <a:srgbClr val="C9C4B8"/>
            </a:solidFill>
            <a:prstDash val="solid"/>
            <a:tailEnd type="none"/>
          </a:ln>
        </p:spPr>
      </p:sp>
      <p:sp>
        <p:nvSpPr>
          <p:cNvPr id="22" name="STC-17-atlas-label-0">
            <a:extLst xmlns:a="http://schemas.openxmlformats.org/drawingml/2006/main">
              <a:ext uri="{FF2B5EF4-FFF2-40B4-BE49-F238E27FC236}">
                <a16:creationId xmlns:a16="http://schemas.microsoft.com/office/drawing/2014/main" id="{38500024-C3E5-449E-9177-C70AC65318D7}"/>
              </a:ext>
            </a:extLst>
          </p:cNvPr>
          <p:cNvSpPr>
            <a:spLocks xmlns:a="http://schemas.openxmlformats.org/drawingml/2006/main" noGrp="1"/>
          </p:cNvSpPr>
          <p:nvPr/>
        </p:nvSpPr>
        <p:spPr>
          <a:xfrm xmlns:a="http://schemas.openxmlformats.org/drawingml/2006/main">
            <a:off x="6473952" y="1709928"/>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gen(H;B_s)</a:t>
            </a:r>
            <a:endParaRPr sz="1050"/>
          </a:p>
        </p:txBody>
      </p:sp>
      <p:sp>
        <p:nvSpPr>
          <p:cNvPr id="23" name="STC-17-atlas-rule-0">
            <a:extLst xmlns:a="http://schemas.openxmlformats.org/drawingml/2006/main">
              <a:ext uri="{FF2B5EF4-FFF2-40B4-BE49-F238E27FC236}">
                <a16:creationId xmlns:a16="http://schemas.microsoft.com/office/drawing/2014/main" id="{740662E4-4426-481A-AD86-7B8414E58A82}"/>
              </a:ext>
            </a:extLst>
          </p:cNvPr>
          <p:cNvSpPr>
            <a:spLocks xmlns:a="http://schemas.openxmlformats.org/drawingml/2006/main" noGrp="1"/>
          </p:cNvSpPr>
          <p:nvPr/>
        </p:nvSpPr>
        <p:spPr>
          <a:xfrm xmlns:a="http://schemas.openxmlformats.org/drawingml/2006/main">
            <a:off x="8284464" y="1819656"/>
            <a:ext cx="502920" cy="0"/>
          </a:xfrm>
          <a:prstGeom xmlns:a="http://schemas.openxmlformats.org/drawingml/2006/main" prst="line">
            <a:avLst/>
          </a:prstGeom>
          <a:noFill xmlns:a="http://schemas.openxmlformats.org/drawingml/2006/main"/>
          <a:ln xmlns:a="http://schemas.openxmlformats.org/drawingml/2006/main" w="38100">
            <a:solidFill>
              <a:srgbClr val="9A442D"/>
            </a:solidFill>
            <a:prstDash val="solid"/>
            <a:tailEnd type="none"/>
          </a:ln>
        </p:spPr>
      </p:sp>
      <p:sp>
        <p:nvSpPr>
          <p:cNvPr id="24" name="STC-17-atlas-body-0">
            <a:extLst xmlns:a="http://schemas.openxmlformats.org/drawingml/2006/main">
              <a:ext uri="{FF2B5EF4-FFF2-40B4-BE49-F238E27FC236}">
                <a16:creationId xmlns:a16="http://schemas.microsoft.com/office/drawing/2014/main" id="{1B446C46-BC66-41F9-B60B-A7B63A5C03DC}"/>
              </a:ext>
            </a:extLst>
          </p:cNvPr>
          <p:cNvSpPr>
            <a:spLocks xmlns:a="http://schemas.openxmlformats.org/drawingml/2006/main" noGrp="1"/>
          </p:cNvSpPr>
          <p:nvPr/>
        </p:nvSpPr>
        <p:spPr>
          <a:xfrm xmlns:a="http://schemas.openxmlformats.org/drawingml/2006/main">
            <a:off x="8979408" y="1682496"/>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경험에서 학습 집합을 만드는 절차</a:t>
            </a:r>
            <a:endParaRPr sz="1550"/>
          </a:p>
        </p:txBody>
      </p:sp>
      <p:sp>
        <p:nvSpPr>
          <p:cNvPr id="25" name="STC-17-atlas-label-1">
            <a:extLst xmlns:a="http://schemas.openxmlformats.org/drawingml/2006/main">
              <a:ext uri="{FF2B5EF4-FFF2-40B4-BE49-F238E27FC236}">
                <a16:creationId xmlns:a16="http://schemas.microsoft.com/office/drawing/2014/main" id="{A1AD9682-CB19-4CC3-B24A-465331B8B9E9}"/>
              </a:ext>
            </a:extLst>
          </p:cNvPr>
          <p:cNvSpPr>
            <a:spLocks xmlns:a="http://schemas.openxmlformats.org/drawingml/2006/main" noGrp="1"/>
          </p:cNvSpPr>
          <p:nvPr/>
        </p:nvSpPr>
        <p:spPr>
          <a:xfrm xmlns:a="http://schemas.openxmlformats.org/drawingml/2006/main">
            <a:off x="6473952" y="2496312"/>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replace</a:t>
            </a:r>
            <a:endParaRPr sz="1050"/>
          </a:p>
        </p:txBody>
      </p:sp>
      <p:sp>
        <p:nvSpPr>
          <p:cNvPr id="26" name="STC-17-atlas-rule-1">
            <a:extLst xmlns:a="http://schemas.openxmlformats.org/drawingml/2006/main">
              <a:ext uri="{FF2B5EF4-FFF2-40B4-BE49-F238E27FC236}">
                <a16:creationId xmlns:a16="http://schemas.microsoft.com/office/drawing/2014/main" id="{9C753F1A-0E9B-4F34-8439-061056C7176A}"/>
              </a:ext>
            </a:extLst>
          </p:cNvPr>
          <p:cNvSpPr>
            <a:spLocks xmlns:a="http://schemas.openxmlformats.org/drawingml/2006/main" noGrp="1"/>
          </p:cNvSpPr>
          <p:nvPr/>
        </p:nvSpPr>
        <p:spPr>
          <a:xfrm xmlns:a="http://schemas.openxmlformats.org/drawingml/2006/main">
            <a:off x="8284464" y="2606040"/>
            <a:ext cx="502920" cy="0"/>
          </a:xfrm>
          <a:prstGeom xmlns:a="http://schemas.openxmlformats.org/drawingml/2006/main" prst="line">
            <a:avLst/>
          </a:prstGeom>
          <a:noFill xmlns:a="http://schemas.openxmlformats.org/drawingml/2006/main"/>
          <a:ln xmlns:a="http://schemas.openxmlformats.org/drawingml/2006/main" w="38100">
            <a:solidFill>
              <a:srgbClr val="244E8A"/>
            </a:solidFill>
            <a:prstDash val="solid"/>
            <a:tailEnd type="none"/>
          </a:ln>
        </p:spPr>
      </p:sp>
      <p:sp>
        <p:nvSpPr>
          <p:cNvPr id="27" name="STC-17-atlas-body-1">
            <a:extLst xmlns:a="http://schemas.openxmlformats.org/drawingml/2006/main">
              <a:ext uri="{FF2B5EF4-FFF2-40B4-BE49-F238E27FC236}">
                <a16:creationId xmlns:a16="http://schemas.microsoft.com/office/drawing/2014/main" id="{1A33A49B-1D5D-4C8F-8664-0C37F5C18102}"/>
              </a:ext>
            </a:extLst>
          </p:cNvPr>
          <p:cNvSpPr>
            <a:spLocks xmlns:a="http://schemas.openxmlformats.org/drawingml/2006/main" noGrp="1"/>
          </p:cNvSpPr>
          <p:nvPr/>
        </p:nvSpPr>
        <p:spPr>
          <a:xfrm xmlns:a="http://schemas.openxmlformats.org/drawingml/2006/main">
            <a:off x="8979408" y="2468880"/>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합성으로 원본을 갈아치운다 — 위험 ~ k</a:t>
            </a:r>
            <a:endParaRPr sz="1550"/>
          </a:p>
        </p:txBody>
      </p:sp>
      <p:sp>
        <p:nvSpPr>
          <p:cNvPr id="28" name="STC-17-atlas-label-2">
            <a:extLst xmlns:a="http://schemas.openxmlformats.org/drawingml/2006/main">
              <a:ext uri="{FF2B5EF4-FFF2-40B4-BE49-F238E27FC236}">
                <a16:creationId xmlns:a16="http://schemas.microsoft.com/office/drawing/2014/main" id="{4B5B8C07-BC12-46CD-813B-3AF219E12202}"/>
              </a:ext>
            </a:extLst>
          </p:cNvPr>
          <p:cNvSpPr>
            <a:spLocks xmlns:a="http://schemas.openxmlformats.org/drawingml/2006/main" noGrp="1"/>
          </p:cNvSpPr>
          <p:nvPr/>
        </p:nvSpPr>
        <p:spPr>
          <a:xfrm xmlns:a="http://schemas.openxmlformats.org/drawingml/2006/main">
            <a:off x="6473952" y="3282696"/>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replace-mult</a:t>
            </a:r>
            <a:endParaRPr sz="1050"/>
          </a:p>
        </p:txBody>
      </p:sp>
      <p:sp>
        <p:nvSpPr>
          <p:cNvPr id="29" name="STC-17-atlas-rule-2">
            <a:extLst xmlns:a="http://schemas.openxmlformats.org/drawingml/2006/main">
              <a:ext uri="{FF2B5EF4-FFF2-40B4-BE49-F238E27FC236}">
                <a16:creationId xmlns:a16="http://schemas.microsoft.com/office/drawing/2014/main" id="{5B2A6C3E-8059-4CE9-9C3B-70976103A271}"/>
              </a:ext>
            </a:extLst>
          </p:cNvPr>
          <p:cNvSpPr>
            <a:spLocks xmlns:a="http://schemas.openxmlformats.org/drawingml/2006/main" noGrp="1"/>
          </p:cNvSpPr>
          <p:nvPr/>
        </p:nvSpPr>
        <p:spPr>
          <a:xfrm xmlns:a="http://schemas.openxmlformats.org/drawingml/2006/main">
            <a:off x="8284464" y="3392424"/>
            <a:ext cx="502920" cy="0"/>
          </a:xfrm>
          <a:prstGeom xmlns:a="http://schemas.openxmlformats.org/drawingml/2006/main" prst="line">
            <a:avLst/>
          </a:prstGeom>
          <a:noFill xmlns:a="http://schemas.openxmlformats.org/drawingml/2006/main"/>
          <a:ln xmlns:a="http://schemas.openxmlformats.org/drawingml/2006/main" w="38100">
            <a:solidFill>
              <a:srgbClr val="2F6B63"/>
            </a:solidFill>
            <a:prstDash val="solid"/>
            <a:tailEnd type="none"/>
          </a:ln>
        </p:spPr>
      </p:sp>
      <p:sp>
        <p:nvSpPr>
          <p:cNvPr id="30" name="STC-17-atlas-body-2">
            <a:extLst xmlns:a="http://schemas.openxmlformats.org/drawingml/2006/main">
              <a:ext uri="{FF2B5EF4-FFF2-40B4-BE49-F238E27FC236}">
                <a16:creationId xmlns:a16="http://schemas.microsoft.com/office/drawing/2014/main" id="{ED8666E7-DF2A-4D85-9EB9-7BFAEFE25FBB}"/>
              </a:ext>
            </a:extLst>
          </p:cNvPr>
          <p:cNvSpPr>
            <a:spLocks xmlns:a="http://schemas.openxmlformats.org/drawingml/2006/main" noGrp="1"/>
          </p:cNvSpPr>
          <p:nvPr/>
        </p:nvSpPr>
        <p:spPr>
          <a:xfrm xmlns:a="http://schemas.openxmlformats.org/drawingml/2006/main">
            <a:off x="8979408" y="3255264"/>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합성만 늘린다 — 위험 ~ log k</a:t>
            </a:r>
            <a:endParaRPr sz="1550"/>
          </a:p>
        </p:txBody>
      </p:sp>
      <p:sp>
        <p:nvSpPr>
          <p:cNvPr id="31" name="STC-17-atlas-label-3">
            <a:extLst xmlns:a="http://schemas.openxmlformats.org/drawingml/2006/main">
              <a:ext uri="{FF2B5EF4-FFF2-40B4-BE49-F238E27FC236}">
                <a16:creationId xmlns:a16="http://schemas.microsoft.com/office/drawing/2014/main" id="{C22D209C-8F5F-4D75-9BCF-C8C2E6E5DB33}"/>
              </a:ext>
            </a:extLst>
          </p:cNvPr>
          <p:cNvSpPr>
            <a:spLocks xmlns:a="http://schemas.openxmlformats.org/drawingml/2006/main" noGrp="1"/>
          </p:cNvSpPr>
          <p:nvPr/>
        </p:nvSpPr>
        <p:spPr>
          <a:xfrm xmlns:a="http://schemas.openxmlformats.org/drawingml/2006/main">
            <a:off x="6473952" y="4069080"/>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accumulate</a:t>
            </a:r>
            <a:endParaRPr sz="1050"/>
          </a:p>
        </p:txBody>
      </p:sp>
      <p:sp>
        <p:nvSpPr>
          <p:cNvPr id="32" name="STC-17-atlas-rule-3">
            <a:extLst xmlns:a="http://schemas.openxmlformats.org/drawingml/2006/main">
              <a:ext uri="{FF2B5EF4-FFF2-40B4-BE49-F238E27FC236}">
                <a16:creationId xmlns:a16="http://schemas.microsoft.com/office/drawing/2014/main" id="{6413883D-F716-4E60-A3EA-294B9FF31579}"/>
              </a:ext>
            </a:extLst>
          </p:cNvPr>
          <p:cNvSpPr>
            <a:spLocks xmlns:a="http://schemas.openxmlformats.org/drawingml/2006/main" noGrp="1"/>
          </p:cNvSpPr>
          <p:nvPr/>
        </p:nvSpPr>
        <p:spPr>
          <a:xfrm xmlns:a="http://schemas.openxmlformats.org/drawingml/2006/main">
            <a:off x="8284464" y="4178808"/>
            <a:ext cx="502920" cy="0"/>
          </a:xfrm>
          <a:prstGeom xmlns:a="http://schemas.openxmlformats.org/drawingml/2006/main" prst="line">
            <a:avLst/>
          </a:prstGeom>
          <a:noFill xmlns:a="http://schemas.openxmlformats.org/drawingml/2006/main"/>
          <a:ln xmlns:a="http://schemas.openxmlformats.org/drawingml/2006/main" w="38100">
            <a:solidFill>
              <a:srgbClr val="9A442D"/>
            </a:solidFill>
            <a:prstDash val="solid"/>
            <a:tailEnd type="none"/>
          </a:ln>
        </p:spPr>
      </p:sp>
      <p:sp>
        <p:nvSpPr>
          <p:cNvPr id="33" name="STC-17-atlas-body-3">
            <a:extLst xmlns:a="http://schemas.openxmlformats.org/drawingml/2006/main">
              <a:ext uri="{FF2B5EF4-FFF2-40B4-BE49-F238E27FC236}">
                <a16:creationId xmlns:a16="http://schemas.microsoft.com/office/drawing/2014/main" id="{3690E37F-97C1-44E1-9B22-261955C76526}"/>
              </a:ext>
            </a:extLst>
          </p:cNvPr>
          <p:cNvSpPr>
            <a:spLocks xmlns:a="http://schemas.openxmlformats.org/drawingml/2006/main" noGrp="1"/>
          </p:cNvSpPr>
          <p:nvPr/>
        </p:nvSpPr>
        <p:spPr>
          <a:xfrm xmlns:a="http://schemas.openxmlformats.org/drawingml/2006/main">
            <a:off x="8979408" y="4041648"/>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원본을 남기고 쌓는다 — 유계</a:t>
            </a:r>
            <a:endParaRPr sz="1550"/>
          </a:p>
        </p:txBody>
      </p:sp>
      <p:sp>
        <p:nvSpPr>
          <p:cNvPr id="34" name="STC-17-atlas-label-4">
            <a:extLst xmlns:a="http://schemas.openxmlformats.org/drawingml/2006/main">
              <a:ext uri="{FF2B5EF4-FFF2-40B4-BE49-F238E27FC236}">
                <a16:creationId xmlns:a16="http://schemas.microsoft.com/office/drawing/2014/main" id="{4E09BD89-2B39-4380-8908-5D98AB0C13FF}"/>
              </a:ext>
            </a:extLst>
          </p:cNvPr>
          <p:cNvSpPr>
            <a:spLocks xmlns:a="http://schemas.openxmlformats.org/drawingml/2006/main" noGrp="1"/>
          </p:cNvSpPr>
          <p:nvPr/>
        </p:nvSpPr>
        <p:spPr>
          <a:xfrm xmlns:a="http://schemas.openxmlformats.org/drawingml/2006/main">
            <a:off x="6473952" y="4855464"/>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2차 모멘트</a:t>
            </a:r>
            <a:endParaRPr sz="1050"/>
          </a:p>
        </p:txBody>
      </p:sp>
      <p:sp>
        <p:nvSpPr>
          <p:cNvPr id="35" name="STC-17-atlas-rule-4">
            <a:extLst xmlns:a="http://schemas.openxmlformats.org/drawingml/2006/main">
              <a:ext uri="{FF2B5EF4-FFF2-40B4-BE49-F238E27FC236}">
                <a16:creationId xmlns:a16="http://schemas.microsoft.com/office/drawing/2014/main" id="{6F85C4F8-DEE9-43E4-B953-A1AA93F5F878}"/>
              </a:ext>
            </a:extLst>
          </p:cNvPr>
          <p:cNvSpPr>
            <a:spLocks xmlns:a="http://schemas.openxmlformats.org/drawingml/2006/main" noGrp="1"/>
          </p:cNvSpPr>
          <p:nvPr/>
        </p:nvSpPr>
        <p:spPr>
          <a:xfrm xmlns:a="http://schemas.openxmlformats.org/drawingml/2006/main">
            <a:off x="8284464" y="4965192"/>
            <a:ext cx="502920" cy="0"/>
          </a:xfrm>
          <a:prstGeom xmlns:a="http://schemas.openxmlformats.org/drawingml/2006/main" prst="line">
            <a:avLst/>
          </a:prstGeom>
          <a:noFill xmlns:a="http://schemas.openxmlformats.org/drawingml/2006/main"/>
          <a:ln xmlns:a="http://schemas.openxmlformats.org/drawingml/2006/main" w="38100">
            <a:solidFill>
              <a:srgbClr val="59616A"/>
            </a:solidFill>
            <a:prstDash val="solid"/>
            <a:tailEnd type="none"/>
          </a:ln>
        </p:spPr>
      </p:sp>
      <p:sp>
        <p:nvSpPr>
          <p:cNvPr id="36" name="STC-17-atlas-body-4">
            <a:extLst xmlns:a="http://schemas.openxmlformats.org/drawingml/2006/main">
              <a:ext uri="{FF2B5EF4-FFF2-40B4-BE49-F238E27FC236}">
                <a16:creationId xmlns:a16="http://schemas.microsoft.com/office/drawing/2014/main" id="{E742DFC6-454B-4514-81D0-A19D043EF25B}"/>
              </a:ext>
            </a:extLst>
          </p:cNvPr>
          <p:cNvSpPr>
            <a:spLocks xmlns:a="http://schemas.openxmlformats.org/drawingml/2006/main" noGrp="1"/>
          </p:cNvSpPr>
          <p:nvPr/>
        </p:nvSpPr>
        <p:spPr>
          <a:xfrm xmlns:a="http://schemas.openxmlformats.org/drawingml/2006/main">
            <a:off x="8979408" y="4828032"/>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정리가 볼 수 없는 좌표. 여기서 죽는다</a:t>
            </a:r>
            <a:endParaRPr sz="1550"/>
          </a:p>
        </p:txBody>
      </p:sp>
      <p:sp>
        <p:nvSpPr>
          <p:cNvPr id="37" name="STC-17-scale-nonresult">
            <a:extLst xmlns:a="http://schemas.openxmlformats.org/drawingml/2006/main">
              <a:ext uri="{FF2B5EF4-FFF2-40B4-BE49-F238E27FC236}">
                <a16:creationId xmlns:a16="http://schemas.microsoft.com/office/drawing/2014/main" id="{0DBC12A9-4F5B-4978-9410-2294970708B3}"/>
              </a:ext>
            </a:extLst>
          </p:cNvPr>
          <p:cNvSpPr>
            <a:spLocks xmlns:a="http://schemas.openxmlformats.org/drawingml/2006/main" noGrp="1"/>
          </p:cNvSpPr>
          <p:nvPr/>
        </p:nvSpPr>
        <p:spPr>
          <a:xfrm xmlns:a="http://schemas.openxmlformats.org/drawingml/2006/main">
            <a:off x="8183880" y="5715000"/>
            <a:ext cx="2971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b="1">
                <a:solidFill>
                  <a:srgbClr val="9A442D"/>
                </a:solidFill>
                <a:latin typeface="Noto Sans Mono CJK KR"/>
                <a:ea typeface="Noto Sans Mono CJK KR"/>
                <a:cs typeface="Noto Sans Mono CJK KR"/>
              </a:rPr>
              <a:t>합성만 늘리는 것은 발산을 선형에서 로그로 낮출 뿐 유계로 만들지 못한다</a:t>
            </a:r>
            <a:endParaRPr sz="1000"/>
          </a:p>
        </p:txBody>
      </p:sp>
    </p:spTree>
    <p:extLst>
      <p:ext uri="{BB962C8B-B14F-4D97-AF65-F5344CB8AC3E}">
        <p14:creationId xmlns:p14="http://schemas.microsoft.com/office/powerpoint/2010/main" val="814754748"/>
      </p:ext>
    </p:extLst>
  </p:cSld>
</p:sld>
</file>

<file path=ppt/slides/slide2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STC-023</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training 어휘 ⑥ — 망각과 replay, 그리고 ρ의 정체</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training 배경</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ch07 (망각과 replay)</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23</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forgetting</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새것이 옛것을 지운다</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rehearsal</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옛 데이터 재투입</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EWC</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이동에 벌점</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GEM</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손실 증가 방향 차단</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혼합비 ω</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replay 비율</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행렬 Π</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과제 × 시점 → ρ</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ρ는 '라운드당 몇 %'로</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보고되지만 무엇을 재느냐가 그 모양을 바꾼다</a:t>
            </a:r>
            <a:endParaRPr sz="1500"/>
          </a:p>
        </p:txBody>
      </p:sp>
    </p:spTree>
    <p:extLst>
      <p:ext uri="{BB962C8B-B14F-4D97-AF65-F5344CB8AC3E}">
        <p14:creationId xmlns:p14="http://schemas.microsoft.com/office/powerpoint/2010/main" val="931853972"/>
      </p:ext>
    </p:extLst>
  </p:cSld>
</p:sld>
</file>

<file path=ppt/slides/slide2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7-section">
            <a:extLst xmlns:a="http://schemas.openxmlformats.org/drawingml/2006/main">
              <a:ext uri="{FF2B5EF4-FFF2-40B4-BE49-F238E27FC236}">
                <a16:creationId xmlns:a16="http://schemas.microsoft.com/office/drawing/2014/main" id="{1D137726-4914-48A2-85D5-224A1CBB8B83}"/>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07-slide-id">
            <a:extLst xmlns:a="http://schemas.openxmlformats.org/drawingml/2006/main">
              <a:ext uri="{FF2B5EF4-FFF2-40B4-BE49-F238E27FC236}">
                <a16:creationId xmlns:a16="http://schemas.microsoft.com/office/drawing/2014/main" id="{135B4B6A-3B89-487A-9CEA-E5C7E5EED204}"/>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STC-024</a:t>
            </a:r>
            <a:endParaRPr sz="950"/>
          </a:p>
        </p:txBody>
      </p:sp>
      <p:sp>
        <p:nvSpPr>
          <p:cNvPr id="4" name="STC-07-headline">
            <a:extLst xmlns:a="http://schemas.openxmlformats.org/drawingml/2006/main">
              <a:ext uri="{FF2B5EF4-FFF2-40B4-BE49-F238E27FC236}">
                <a16:creationId xmlns:a16="http://schemas.microsoft.com/office/drawing/2014/main" id="{69C310FD-1BA7-40DE-9467-2AA541CBC7D3}"/>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training 어휘 ⑦ — CLS와 생물학적 sleep, 그리고 은유의 담보</a:t>
            </a:r>
            <a:endParaRPr sz="3000"/>
          </a:p>
        </p:txBody>
      </p:sp>
      <p:sp>
        <p:nvSpPr>
          <p:cNvPr id="5" name="STC-07-status-label">
            <a:extLst xmlns:a="http://schemas.openxmlformats.org/drawingml/2006/main">
              <a:ext uri="{FF2B5EF4-FFF2-40B4-BE49-F238E27FC236}">
                <a16:creationId xmlns:a16="http://schemas.microsoft.com/office/drawing/2014/main" id="{C89B1737-53E3-4487-92D3-B61B00B58CF8}"/>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44E8A"/>
                </a:solidFill>
                <a:latin typeface="Noto Sans Mono CJK KR"/>
                <a:ea typeface="Noto Sans Mono CJK KR"/>
                <a:cs typeface="Noto Sans Mono CJK KR"/>
              </a:rPr>
              <a:t>training 배경</a:t>
            </a:r>
            <a:endParaRPr sz="1000"/>
          </a:p>
        </p:txBody>
      </p:sp>
      <p:sp>
        <p:nvSpPr>
          <p:cNvPr id="6" name="STC-07-status-rule">
            <a:extLst xmlns:a="http://schemas.openxmlformats.org/drawingml/2006/main">
              <a:ext uri="{FF2B5EF4-FFF2-40B4-BE49-F238E27FC236}">
                <a16:creationId xmlns:a16="http://schemas.microsoft.com/office/drawing/2014/main" id="{FE4EEA0D-83FB-4682-B1D0-5F89638A4EC7}"/>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44E8A"/>
            </a:solidFill>
            <a:prstDash val="solid"/>
            <a:tailEnd type="none"/>
          </a:ln>
        </p:spPr>
      </p:sp>
      <p:sp>
        <p:nvSpPr>
          <p:cNvPr id="7" name="STC-07-footer-rule">
            <a:extLst xmlns:a="http://schemas.openxmlformats.org/drawingml/2006/main">
              <a:ext uri="{FF2B5EF4-FFF2-40B4-BE49-F238E27FC236}">
                <a16:creationId xmlns:a16="http://schemas.microsoft.com/office/drawing/2014/main" id="{D3C2358E-59CE-49F9-AE83-ECA23B717C4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7-source-footer">
            <a:extLst xmlns:a="http://schemas.openxmlformats.org/drawingml/2006/main">
              <a:ext uri="{FF2B5EF4-FFF2-40B4-BE49-F238E27FC236}">
                <a16:creationId xmlns:a16="http://schemas.microsoft.com/office/drawing/2014/main" id="{774D1206-5E02-4221-B3F8-331F3E1E6580}"/>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ch08 (CLS 이론) · ch23</a:t>
            </a:r>
            <a:endParaRPr sz="850"/>
          </a:p>
        </p:txBody>
      </p:sp>
      <p:sp>
        <p:nvSpPr>
          <p:cNvPr id="9" name="STC-07-page-number">
            <a:extLst xmlns:a="http://schemas.openxmlformats.org/drawingml/2006/main">
              <a:ext uri="{FF2B5EF4-FFF2-40B4-BE49-F238E27FC236}">
                <a16:creationId xmlns:a16="http://schemas.microsoft.com/office/drawing/2014/main" id="{78A83FEE-1D5C-4FCE-B710-C3DA562A624A}"/>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24</a:t>
            </a:r>
            <a:endParaRPr sz="850"/>
          </a:p>
        </p:txBody>
      </p:sp>
      <p:sp>
        <p:nvSpPr>
          <p:cNvPr id="11" name="STC-07-plos-tag-0">
            <a:extLst xmlns:a="http://schemas.openxmlformats.org/drawingml/2006/main">
              <a:ext uri="{FF2B5EF4-FFF2-40B4-BE49-F238E27FC236}">
                <a16:creationId xmlns:a16="http://schemas.microsoft.com/office/drawing/2014/main" id="{477BEE9E-30E4-43A7-AEF5-0D10E930A967}"/>
              </a:ext>
            </a:extLst>
          </p:cNvPr>
          <p:cNvSpPr>
            <a:spLocks xmlns:a="http://schemas.openxmlformats.org/drawingml/2006/main" noGrp="1"/>
          </p:cNvSpPr>
          <p:nvPr/>
        </p:nvSpPr>
        <p:spPr>
          <a:xfrm xmlns:a="http://schemas.openxmlformats.org/drawingml/2006/main">
            <a:off x="841248" y="1764792"/>
            <a:ext cx="1691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CLS</a:t>
            </a:r>
            <a:endParaRPr sz="1050"/>
          </a:p>
        </p:txBody>
      </p:sp>
      <p:sp>
        <p:nvSpPr>
          <p:cNvPr id="12" name="STC-07-plos-node-0">
            <a:extLst xmlns:a="http://schemas.openxmlformats.org/drawingml/2006/main">
              <a:ext uri="{FF2B5EF4-FFF2-40B4-BE49-F238E27FC236}">
                <a16:creationId xmlns:a16="http://schemas.microsoft.com/office/drawing/2014/main" id="{711415C9-6053-4EFA-8A88-19702F34B04B}"/>
              </a:ext>
            </a:extLst>
          </p:cNvPr>
          <p:cNvSpPr>
            <a:spLocks xmlns:a="http://schemas.openxmlformats.org/drawingml/2006/main" noGrp="1"/>
          </p:cNvSpPr>
          <p:nvPr/>
        </p:nvSpPr>
        <p:spPr>
          <a:xfrm xmlns:a="http://schemas.openxmlformats.org/drawingml/2006/main">
            <a:off x="841248" y="2084832"/>
            <a:ext cx="1737360" cy="1143000"/>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3" name="STC-07-plos-body-0">
            <a:extLst xmlns:a="http://schemas.openxmlformats.org/drawingml/2006/main">
              <a:ext uri="{FF2B5EF4-FFF2-40B4-BE49-F238E27FC236}">
                <a16:creationId xmlns:a16="http://schemas.microsoft.com/office/drawing/2014/main" id="{935994DA-E088-4574-AD6F-A8C3F1588EA3}"/>
              </a:ext>
            </a:extLst>
          </p:cNvPr>
          <p:cNvSpPr>
            <a:spLocks xmlns:a="http://schemas.openxmlformats.org/drawingml/2006/main" noGrp="1"/>
          </p:cNvSpPr>
          <p:nvPr/>
        </p:nvSpPr>
        <p:spPr>
          <a:xfrm xmlns:a="http://schemas.openxmlformats.org/drawingml/2006/main">
            <a:off x="978408" y="2350008"/>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빠른 학습기와</a:t>
            </a:r>
            <a:endParaRPr sz="1700"/>
          </a:p>
          <a:p xmlns:a="http://schemas.openxmlformats.org/drawingml/2006/main">
            <a:pPr marL="0" indent="0" algn="ctr">
              <a:buNone/>
            </a:pPr>
            <a:r>
              <a:rPr sz="1700" b="1">
                <a:solidFill>
                  <a:srgbClr val="17191C"/>
                </a:solidFill>
                <a:latin typeface="Noto Sans CJK KR"/>
                <a:ea typeface="Noto Sans CJK KR"/>
                <a:cs typeface="Noto Sans CJK KR"/>
              </a:rPr>
              <a:t>느린 통합기 두 시스템</a:t>
            </a:r>
            <a:endParaRPr sz="1700"/>
          </a:p>
        </p:txBody>
      </p:sp>
      <p:sp>
        <p:nvSpPr>
          <p:cNvPr id="14" name="STC-07-plos-arrow-0">
            <a:extLst xmlns:a="http://schemas.openxmlformats.org/drawingml/2006/main">
              <a:ext uri="{FF2B5EF4-FFF2-40B4-BE49-F238E27FC236}">
                <a16:creationId xmlns:a16="http://schemas.microsoft.com/office/drawing/2014/main" id="{DDFC7402-063F-4686-91B0-5B1DAACFD850}"/>
              </a:ext>
            </a:extLst>
          </p:cNvPr>
          <p:cNvSpPr>
            <a:spLocks xmlns:a="http://schemas.openxmlformats.org/drawingml/2006/main" noGrp="1"/>
          </p:cNvSpPr>
          <p:nvPr/>
        </p:nvSpPr>
        <p:spPr>
          <a:xfrm xmlns:a="http://schemas.openxmlformats.org/drawingml/2006/main">
            <a:off x="2642616" y="2651760"/>
            <a:ext cx="86868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5" name="STC-07-plos-tag-1">
            <a:extLst xmlns:a="http://schemas.openxmlformats.org/drawingml/2006/main">
              <a:ext uri="{FF2B5EF4-FFF2-40B4-BE49-F238E27FC236}">
                <a16:creationId xmlns:a16="http://schemas.microsoft.com/office/drawing/2014/main" id="{4F0CBE47-41DD-4036-8542-A439DC04CE5E}"/>
              </a:ext>
            </a:extLst>
          </p:cNvPr>
          <p:cNvSpPr>
            <a:spLocks xmlns:a="http://schemas.openxmlformats.org/drawingml/2006/main" noGrp="1"/>
          </p:cNvSpPr>
          <p:nvPr/>
        </p:nvSpPr>
        <p:spPr>
          <a:xfrm xmlns:a="http://schemas.openxmlformats.org/drawingml/2006/main">
            <a:off x="3017520" y="1764792"/>
            <a:ext cx="1691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replay</a:t>
            </a:r>
            <a:endParaRPr sz="1050"/>
          </a:p>
        </p:txBody>
      </p:sp>
      <p:sp>
        <p:nvSpPr>
          <p:cNvPr id="16" name="STC-07-plos-node-1">
            <a:extLst xmlns:a="http://schemas.openxmlformats.org/drawingml/2006/main">
              <a:ext uri="{FF2B5EF4-FFF2-40B4-BE49-F238E27FC236}">
                <a16:creationId xmlns:a16="http://schemas.microsoft.com/office/drawing/2014/main" id="{C161CFB9-271D-42F0-9370-7CE4447E08BB}"/>
              </a:ext>
            </a:extLst>
          </p:cNvPr>
          <p:cNvSpPr>
            <a:spLocks xmlns:a="http://schemas.openxmlformats.org/drawingml/2006/main" noGrp="1"/>
          </p:cNvSpPr>
          <p:nvPr/>
        </p:nvSpPr>
        <p:spPr>
          <a:xfrm xmlns:a="http://schemas.openxmlformats.org/drawingml/2006/main">
            <a:off x="3017520" y="2084832"/>
            <a:ext cx="1737360" cy="1143000"/>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7" name="STC-07-plos-body-1">
            <a:extLst xmlns:a="http://schemas.openxmlformats.org/drawingml/2006/main">
              <a:ext uri="{FF2B5EF4-FFF2-40B4-BE49-F238E27FC236}">
                <a16:creationId xmlns:a16="http://schemas.microsoft.com/office/drawing/2014/main" id="{3253C665-58CC-44A3-9B85-5E619532AC5F}"/>
              </a:ext>
            </a:extLst>
          </p:cNvPr>
          <p:cNvSpPr>
            <a:spLocks xmlns:a="http://schemas.openxmlformats.org/drawingml/2006/main" noGrp="1"/>
          </p:cNvSpPr>
          <p:nvPr/>
        </p:nvSpPr>
        <p:spPr>
          <a:xfrm xmlns:a="http://schemas.openxmlformats.org/drawingml/2006/main">
            <a:off x="3154680" y="2350008"/>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오프라인에</a:t>
            </a:r>
            <a:endParaRPr sz="1700"/>
          </a:p>
          <a:p xmlns:a="http://schemas.openxmlformats.org/drawingml/2006/main">
            <a:pPr marL="0" indent="0" algn="ctr">
              <a:buNone/>
            </a:pPr>
            <a:r>
              <a:rPr sz="1700" b="1">
                <a:solidFill>
                  <a:srgbClr val="17191C"/>
                </a:solidFill>
                <a:latin typeface="Noto Sans CJK KR"/>
                <a:ea typeface="Noto Sans CJK KR"/>
                <a:cs typeface="Noto Sans CJK KR"/>
              </a:rPr>
              <a:t>경험을 다시 돌린다</a:t>
            </a:r>
            <a:endParaRPr sz="1700"/>
          </a:p>
        </p:txBody>
      </p:sp>
      <p:sp>
        <p:nvSpPr>
          <p:cNvPr id="18" name="STC-07-plos-arrow-1">
            <a:extLst xmlns:a="http://schemas.openxmlformats.org/drawingml/2006/main">
              <a:ext uri="{FF2B5EF4-FFF2-40B4-BE49-F238E27FC236}">
                <a16:creationId xmlns:a16="http://schemas.microsoft.com/office/drawing/2014/main" id="{FCCDF2E8-B001-493B-A9BA-96C7A42636DF}"/>
              </a:ext>
            </a:extLst>
          </p:cNvPr>
          <p:cNvSpPr>
            <a:spLocks xmlns:a="http://schemas.openxmlformats.org/drawingml/2006/main" noGrp="1"/>
          </p:cNvSpPr>
          <p:nvPr/>
        </p:nvSpPr>
        <p:spPr>
          <a:xfrm xmlns:a="http://schemas.openxmlformats.org/drawingml/2006/main">
            <a:off x="4818888" y="2651760"/>
            <a:ext cx="86868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9" name="STC-07-plos-tag-2">
            <a:extLst xmlns:a="http://schemas.openxmlformats.org/drawingml/2006/main">
              <a:ext uri="{FF2B5EF4-FFF2-40B4-BE49-F238E27FC236}">
                <a16:creationId xmlns:a16="http://schemas.microsoft.com/office/drawing/2014/main" id="{15EFF682-7D6E-41A3-A7F6-F9DA2E4C87AE}"/>
              </a:ext>
            </a:extLst>
          </p:cNvPr>
          <p:cNvSpPr>
            <a:spLocks xmlns:a="http://schemas.openxmlformats.org/drawingml/2006/main" noGrp="1"/>
          </p:cNvSpPr>
          <p:nvPr/>
        </p:nvSpPr>
        <p:spPr>
          <a:xfrm xmlns:a="http://schemas.openxmlformats.org/drawingml/2006/main">
            <a:off x="5193792" y="1764792"/>
            <a:ext cx="1691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왜 오프라인</a:t>
            </a:r>
            <a:endParaRPr sz="1050"/>
          </a:p>
        </p:txBody>
      </p:sp>
      <p:sp>
        <p:nvSpPr>
          <p:cNvPr id="20" name="STC-07-plos-node-2">
            <a:extLst xmlns:a="http://schemas.openxmlformats.org/drawingml/2006/main">
              <a:ext uri="{FF2B5EF4-FFF2-40B4-BE49-F238E27FC236}">
                <a16:creationId xmlns:a16="http://schemas.microsoft.com/office/drawing/2014/main" id="{6444BC29-B709-411A-B01C-AAC85CD1C90A}"/>
              </a:ext>
            </a:extLst>
          </p:cNvPr>
          <p:cNvSpPr>
            <a:spLocks xmlns:a="http://schemas.openxmlformats.org/drawingml/2006/main" noGrp="1"/>
          </p:cNvSpPr>
          <p:nvPr/>
        </p:nvSpPr>
        <p:spPr>
          <a:xfrm xmlns:a="http://schemas.openxmlformats.org/drawingml/2006/main">
            <a:off x="5193792" y="2084832"/>
            <a:ext cx="1737360" cy="1143000"/>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21" name="STC-07-plos-body-2">
            <a:extLst xmlns:a="http://schemas.openxmlformats.org/drawingml/2006/main">
              <a:ext uri="{FF2B5EF4-FFF2-40B4-BE49-F238E27FC236}">
                <a16:creationId xmlns:a16="http://schemas.microsoft.com/office/drawing/2014/main" id="{DFC24F49-F232-4EB7-96A7-E3FCE01CF0EF}"/>
              </a:ext>
            </a:extLst>
          </p:cNvPr>
          <p:cNvSpPr>
            <a:spLocks xmlns:a="http://schemas.openxmlformats.org/drawingml/2006/main" noGrp="1"/>
          </p:cNvSpPr>
          <p:nvPr/>
        </p:nvSpPr>
        <p:spPr>
          <a:xfrm xmlns:a="http://schemas.openxmlformats.org/drawingml/2006/main">
            <a:off x="5330952" y="2350008"/>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간섭을 줄이고</a:t>
            </a:r>
            <a:endParaRPr sz="1700"/>
          </a:p>
          <a:p xmlns:a="http://schemas.openxmlformats.org/drawingml/2006/main">
            <a:pPr marL="0" indent="0" algn="ctr">
              <a:buNone/>
            </a:pPr>
            <a:r>
              <a:rPr sz="1700" b="1">
                <a:solidFill>
                  <a:srgbClr val="17191C"/>
                </a:solidFill>
                <a:latin typeface="Noto Sans CJK KR"/>
                <a:ea typeface="Noto Sans CJK KR"/>
                <a:cs typeface="Noto Sans CJK KR"/>
              </a:rPr>
              <a:t>통합할 시간을 벌기 위해</a:t>
            </a:r>
            <a:endParaRPr sz="1700"/>
          </a:p>
        </p:txBody>
      </p:sp>
      <p:sp>
        <p:nvSpPr>
          <p:cNvPr id="22" name="STC-07-plos-arrow-2">
            <a:extLst xmlns:a="http://schemas.openxmlformats.org/drawingml/2006/main">
              <a:ext uri="{FF2B5EF4-FFF2-40B4-BE49-F238E27FC236}">
                <a16:creationId xmlns:a16="http://schemas.microsoft.com/office/drawing/2014/main" id="{DEA9420B-E88D-45C2-A54B-51FF0C7D3E7B}"/>
              </a:ext>
            </a:extLst>
          </p:cNvPr>
          <p:cNvSpPr>
            <a:spLocks xmlns:a="http://schemas.openxmlformats.org/drawingml/2006/main" noGrp="1"/>
          </p:cNvSpPr>
          <p:nvPr/>
        </p:nvSpPr>
        <p:spPr>
          <a:xfrm xmlns:a="http://schemas.openxmlformats.org/drawingml/2006/main">
            <a:off x="6995160" y="2651760"/>
            <a:ext cx="86868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23" name="STC-07-plos-tag-3">
            <a:extLst xmlns:a="http://schemas.openxmlformats.org/drawingml/2006/main">
              <a:ext uri="{FF2B5EF4-FFF2-40B4-BE49-F238E27FC236}">
                <a16:creationId xmlns:a16="http://schemas.microsoft.com/office/drawing/2014/main" id="{BC7C8B99-61D6-427D-B2B7-39B11F56BBCF}"/>
              </a:ext>
            </a:extLst>
          </p:cNvPr>
          <p:cNvSpPr>
            <a:spLocks xmlns:a="http://schemas.openxmlformats.org/drawingml/2006/main" noGrp="1"/>
          </p:cNvSpPr>
          <p:nvPr/>
        </p:nvSpPr>
        <p:spPr>
          <a:xfrm xmlns:a="http://schemas.openxmlformats.org/drawingml/2006/main">
            <a:off x="7818120" y="1764792"/>
            <a:ext cx="1691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담보</a:t>
            </a:r>
            <a:endParaRPr sz="1050"/>
          </a:p>
        </p:txBody>
      </p:sp>
      <p:sp>
        <p:nvSpPr>
          <p:cNvPr id="24" name="STC-07-plos-node-3">
            <a:extLst xmlns:a="http://schemas.openxmlformats.org/drawingml/2006/main">
              <a:ext uri="{FF2B5EF4-FFF2-40B4-BE49-F238E27FC236}">
                <a16:creationId xmlns:a16="http://schemas.microsoft.com/office/drawing/2014/main" id="{7E2767A4-30EB-4666-A59C-FABEDD16407C}"/>
              </a:ext>
            </a:extLst>
          </p:cNvPr>
          <p:cNvSpPr>
            <a:spLocks xmlns:a="http://schemas.openxmlformats.org/drawingml/2006/main" noGrp="1"/>
          </p:cNvSpPr>
          <p:nvPr/>
        </p:nvSpPr>
        <p:spPr>
          <a:xfrm xmlns:a="http://schemas.openxmlformats.org/drawingml/2006/main">
            <a:off x="7818120" y="2084832"/>
            <a:ext cx="1737360" cy="1143000"/>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25" name="STC-07-plos-body-3">
            <a:extLst xmlns:a="http://schemas.openxmlformats.org/drawingml/2006/main">
              <a:ext uri="{FF2B5EF4-FFF2-40B4-BE49-F238E27FC236}">
                <a16:creationId xmlns:a16="http://schemas.microsoft.com/office/drawing/2014/main" id="{809257DE-5F16-4363-A566-4CF9FDC204D6}"/>
              </a:ext>
            </a:extLst>
          </p:cNvPr>
          <p:cNvSpPr>
            <a:spLocks xmlns:a="http://schemas.openxmlformats.org/drawingml/2006/main" noGrp="1"/>
          </p:cNvSpPr>
          <p:nvPr/>
        </p:nvSpPr>
        <p:spPr>
          <a:xfrm xmlns:a="http://schemas.openxmlformats.org/drawingml/2006/main">
            <a:off x="7955280" y="2350008"/>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이 라인은 그</a:t>
            </a:r>
            <a:endParaRPr sz="1700"/>
          </a:p>
          <a:p xmlns:a="http://schemas.openxmlformats.org/drawingml/2006/main">
            <a:pPr marL="0" indent="0" algn="ctr">
              <a:buNone/>
            </a:pPr>
            <a:r>
              <a:rPr sz="1700" b="1">
                <a:solidFill>
                  <a:srgbClr val="17191C"/>
                </a:solidFill>
                <a:latin typeface="Noto Sans CJK KR"/>
                <a:ea typeface="Noto Sans CJK KR"/>
                <a:cs typeface="Noto Sans CJK KR"/>
              </a:rPr>
              <a:t>논증을 빌려오지 않았다</a:t>
            </a:r>
            <a:endParaRPr sz="1700"/>
          </a:p>
        </p:txBody>
      </p:sp>
      <p:sp>
        <p:nvSpPr>
          <p:cNvPr id="26" name="STC-07-plos-number-field">
            <a:extLst xmlns:a="http://schemas.openxmlformats.org/drawingml/2006/main">
              <a:ext uri="{FF2B5EF4-FFF2-40B4-BE49-F238E27FC236}">
                <a16:creationId xmlns:a16="http://schemas.microsoft.com/office/drawing/2014/main" id="{4E2978AC-8368-4EA8-8B79-F7C178E60D71}"/>
              </a:ext>
            </a:extLst>
          </p:cNvPr>
          <p:cNvSpPr>
            <a:spLocks xmlns:a="http://schemas.openxmlformats.org/drawingml/2006/main" noGrp="1"/>
          </p:cNvSpPr>
          <p:nvPr/>
        </p:nvSpPr>
        <p:spPr>
          <a:xfrm xmlns:a="http://schemas.openxmlformats.org/drawingml/2006/main">
            <a:off x="10012680" y="1664208"/>
            <a:ext cx="1325880" cy="2011680"/>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7" name="STC-07-plos-842">
            <a:extLst xmlns:a="http://schemas.openxmlformats.org/drawingml/2006/main">
              <a:ext uri="{FF2B5EF4-FFF2-40B4-BE49-F238E27FC236}">
                <a16:creationId xmlns:a16="http://schemas.microsoft.com/office/drawing/2014/main" id="{392FC100-A9FD-4309-8FA8-1363DDE8985D}"/>
              </a:ext>
            </a:extLst>
          </p:cNvPr>
          <p:cNvSpPr>
            <a:spLocks xmlns:a="http://schemas.openxmlformats.org/drawingml/2006/main" noGrp="1"/>
          </p:cNvSpPr>
          <p:nvPr/>
        </p:nvSpPr>
        <p:spPr>
          <a:xfrm xmlns:a="http://schemas.openxmlformats.org/drawingml/2006/main">
            <a:off x="10131552" y="1938528"/>
            <a:ext cx="10972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3200" b="1">
                <a:solidFill>
                  <a:srgbClr val="FFFFFF"/>
                </a:solidFill>
                <a:latin typeface="Noto Serif CJK KR"/>
                <a:ea typeface="Noto Serif CJK KR"/>
                <a:cs typeface="Noto Serif CJK KR"/>
              </a:rPr>
              <a:t>두 층</a:t>
            </a:r>
            <a:endParaRPr sz="3200"/>
          </a:p>
        </p:txBody>
      </p:sp>
      <p:sp>
        <p:nvSpPr>
          <p:cNvPr id="28" name="STC-07-plos-scope">
            <a:extLst xmlns:a="http://schemas.openxmlformats.org/drawingml/2006/main">
              <a:ext uri="{FF2B5EF4-FFF2-40B4-BE49-F238E27FC236}">
                <a16:creationId xmlns:a16="http://schemas.microsoft.com/office/drawing/2014/main" id="{A640C846-8ED3-4E78-B2F8-34C98733D95E}"/>
              </a:ext>
            </a:extLst>
          </p:cNvPr>
          <p:cNvSpPr>
            <a:spLocks xmlns:a="http://schemas.openxmlformats.org/drawingml/2006/main" noGrp="1"/>
          </p:cNvSpPr>
          <p:nvPr/>
        </p:nvSpPr>
        <p:spPr>
          <a:xfrm xmlns:a="http://schemas.openxmlformats.org/drawingml/2006/main">
            <a:off x="10131552" y="2578608"/>
            <a:ext cx="10972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FFFFFF"/>
                </a:solidFill>
                <a:latin typeface="Noto Sans CJK KR"/>
                <a:ea typeface="Noto Sans CJK KR"/>
                <a:cs typeface="Noto Sans CJK KR"/>
              </a:rPr>
              <a:t>4</a:t>
            </a:r>
            <a:endParaRPr sz="1300"/>
          </a:p>
          <a:p xmlns:a="http://schemas.openxmlformats.org/drawingml/2006/main">
            <a:pPr marL="0" indent="0" algn="ctr">
              <a:buNone/>
            </a:pPr>
            <a:r>
              <a:rPr sz="1300">
                <a:solidFill>
                  <a:srgbClr val="FFFFFF"/>
                </a:solidFill>
                <a:latin typeface="Noto Sans CJK KR"/>
                <a:ea typeface="Noto Sans CJK KR"/>
                <a:cs typeface="Noto Sans CJK KR"/>
              </a:rPr>
              <a:t>stages</a:t>
            </a:r>
            <a:endParaRPr sz="1300"/>
          </a:p>
          <a:p xmlns:a="http://schemas.openxmlformats.org/drawingml/2006/main">
            <a:pPr marL="0" indent="0" algn="ctr">
              <a:buNone/>
            </a:pPr>
            <a:r>
              <a:rPr sz="1300">
                <a:solidFill>
                  <a:srgbClr val="FFFFFF"/>
                </a:solidFill>
                <a:latin typeface="Noto Sans CJK KR"/>
                <a:ea typeface="Noto Sans CJK KR"/>
                <a:cs typeface="Noto Sans CJK KR"/>
              </a:rPr>
              <a:t>2 refs</a:t>
            </a:r>
            <a:endParaRPr sz="1300"/>
          </a:p>
        </p:txBody>
      </p:sp>
      <p:sp>
        <p:nvSpPr>
          <p:cNvPr id="29" name="STC-07-plos-seq-label">
            <a:extLst xmlns:a="http://schemas.openxmlformats.org/drawingml/2006/main">
              <a:ext uri="{FF2B5EF4-FFF2-40B4-BE49-F238E27FC236}">
                <a16:creationId xmlns:a16="http://schemas.microsoft.com/office/drawing/2014/main" id="{4B5003AB-D62F-4D2E-A7CC-C087E5B60099}"/>
              </a:ext>
            </a:extLst>
          </p:cNvPr>
          <p:cNvSpPr>
            <a:spLocks xmlns:a="http://schemas.openxmlformats.org/drawingml/2006/main" noGrp="1"/>
          </p:cNvSpPr>
          <p:nvPr/>
        </p:nvSpPr>
        <p:spPr>
          <a:xfrm xmlns:a="http://schemas.openxmlformats.org/drawingml/2006/main">
            <a:off x="914400" y="4142232"/>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9A442D"/>
                </a:solidFill>
                <a:latin typeface="Noto Sans CJK KR"/>
                <a:ea typeface="Noto Sans CJK KR"/>
                <a:cs typeface="Noto Sans CJK KR"/>
              </a:rPr>
              <a:t>CLS</a:t>
            </a:r>
            <a:endParaRPr sz="1300"/>
          </a:p>
        </p:txBody>
      </p:sp>
      <p:sp>
        <p:nvSpPr>
          <p:cNvPr id="30" name="STC-07-plos-seq-num">
            <a:extLst xmlns:a="http://schemas.openxmlformats.org/drawingml/2006/main">
              <a:ext uri="{FF2B5EF4-FFF2-40B4-BE49-F238E27FC236}">
                <a16:creationId xmlns:a16="http://schemas.microsoft.com/office/drawing/2014/main" id="{4EC59591-8190-4C07-BE77-B1C069C16F76}"/>
              </a:ext>
            </a:extLst>
          </p:cNvPr>
          <p:cNvSpPr>
            <a:spLocks xmlns:a="http://schemas.openxmlformats.org/drawingml/2006/main" noGrp="1"/>
          </p:cNvSpPr>
          <p:nvPr/>
        </p:nvSpPr>
        <p:spPr>
          <a:xfrm xmlns:a="http://schemas.openxmlformats.org/drawingml/2006/main">
            <a:off x="2148840" y="4078224"/>
            <a:ext cx="23957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7191C"/>
                </a:solidFill>
                <a:latin typeface="Noto Sans Mono CJK KR"/>
                <a:ea typeface="Noto Sans Mono CJK KR"/>
                <a:cs typeface="Noto Sans Mono CJK KR"/>
              </a:rPr>
              <a:t>해마 ↔ 신피질</a:t>
            </a:r>
            <a:endParaRPr sz="1600"/>
          </a:p>
        </p:txBody>
      </p:sp>
      <p:sp>
        <p:nvSpPr>
          <p:cNvPr id="31" name="STC-07-plos-sleep-label">
            <a:extLst xmlns:a="http://schemas.openxmlformats.org/drawingml/2006/main">
              <a:ext uri="{FF2B5EF4-FFF2-40B4-BE49-F238E27FC236}">
                <a16:creationId xmlns:a16="http://schemas.microsoft.com/office/drawing/2014/main" id="{3C05A67A-CD6F-48DD-8144-46159D32367E}"/>
              </a:ext>
            </a:extLst>
          </p:cNvPr>
          <p:cNvSpPr>
            <a:spLocks xmlns:a="http://schemas.openxmlformats.org/drawingml/2006/main" noGrp="1"/>
          </p:cNvSpPr>
          <p:nvPr/>
        </p:nvSpPr>
        <p:spPr>
          <a:xfrm xmlns:a="http://schemas.openxmlformats.org/drawingml/2006/main">
            <a:off x="914400" y="4773168"/>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2F6B63"/>
                </a:solidFill>
                <a:latin typeface="Noto Sans CJK KR"/>
                <a:ea typeface="Noto Sans CJK KR"/>
                <a:cs typeface="Noto Sans CJK KR"/>
              </a:rPr>
              <a:t>replay</a:t>
            </a:r>
            <a:endParaRPr sz="1300"/>
          </a:p>
        </p:txBody>
      </p:sp>
      <p:sp>
        <p:nvSpPr>
          <p:cNvPr id="32" name="STC-07-plos-sleep-num">
            <a:extLst xmlns:a="http://schemas.openxmlformats.org/drawingml/2006/main">
              <a:ext uri="{FF2B5EF4-FFF2-40B4-BE49-F238E27FC236}">
                <a16:creationId xmlns:a16="http://schemas.microsoft.com/office/drawing/2014/main" id="{4B364966-9FB8-4AFF-B214-9B719ABB159C}"/>
              </a:ext>
            </a:extLst>
          </p:cNvPr>
          <p:cNvSpPr>
            <a:spLocks xmlns:a="http://schemas.openxmlformats.org/drawingml/2006/main" noGrp="1"/>
          </p:cNvSpPr>
          <p:nvPr/>
        </p:nvSpPr>
        <p:spPr>
          <a:xfrm xmlns:a="http://schemas.openxmlformats.org/drawingml/2006/main">
            <a:off x="2148840" y="4709160"/>
            <a:ext cx="42245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7191C"/>
                </a:solidFill>
                <a:latin typeface="Noto Sans Mono CJK KR"/>
                <a:ea typeface="Noto Sans Mono CJK KR"/>
                <a:cs typeface="Noto Sans Mono CJK KR"/>
              </a:rPr>
              <a:t>빠른 학습기와 느린 통합기의 분업</a:t>
            </a:r>
            <a:endParaRPr sz="1600"/>
          </a:p>
        </p:txBody>
      </p:sp>
      <p:sp>
        <p:nvSpPr>
          <p:cNvPr id="33" name="STC-07-plos-limit-divider">
            <a:extLst xmlns:a="http://schemas.openxmlformats.org/drawingml/2006/main">
              <a:ext uri="{FF2B5EF4-FFF2-40B4-BE49-F238E27FC236}">
                <a16:creationId xmlns:a16="http://schemas.microsoft.com/office/drawing/2014/main" id="{C0D35C19-DF22-49BB-AB20-03C3F56DFA2F}"/>
              </a:ext>
            </a:extLst>
          </p:cNvPr>
          <p:cNvSpPr>
            <a:spLocks xmlns:a="http://schemas.openxmlformats.org/drawingml/2006/main" noGrp="1"/>
          </p:cNvSpPr>
          <p:nvPr/>
        </p:nvSpPr>
        <p:spPr>
          <a:xfrm xmlns:a="http://schemas.openxmlformats.org/drawingml/2006/main">
            <a:off x="6675120" y="4005072"/>
            <a:ext cx="0" cy="1426464"/>
          </a:xfrm>
          <a:prstGeom xmlns:a="http://schemas.openxmlformats.org/drawingml/2006/main" prst="line">
            <a:avLst/>
          </a:prstGeom>
          <a:noFill xmlns:a="http://schemas.openxmlformats.org/drawingml/2006/main"/>
          <a:ln xmlns:a="http://schemas.openxmlformats.org/drawingml/2006/main" w="15240">
            <a:solidFill>
              <a:srgbClr val="C9C4B8"/>
            </a:solidFill>
            <a:prstDash val="solid"/>
            <a:tailEnd type="none"/>
          </a:ln>
        </p:spPr>
      </p:sp>
      <p:sp>
        <p:nvSpPr>
          <p:cNvPr id="34" name="STC-07-plos-limit">
            <a:extLst xmlns:a="http://schemas.openxmlformats.org/drawingml/2006/main">
              <a:ext uri="{FF2B5EF4-FFF2-40B4-BE49-F238E27FC236}">
                <a16:creationId xmlns:a16="http://schemas.microsoft.com/office/drawing/2014/main" id="{477B7D5E-675D-4036-A0EA-4A37A50D4B3D}"/>
              </a:ext>
            </a:extLst>
          </p:cNvPr>
          <p:cNvSpPr>
            <a:spLocks xmlns:a="http://schemas.openxmlformats.org/drawingml/2006/main" noGrp="1"/>
          </p:cNvSpPr>
          <p:nvPr/>
        </p:nvSpPr>
        <p:spPr>
          <a:xfrm xmlns:a="http://schemas.openxmlformats.org/drawingml/2006/main">
            <a:off x="7022592" y="4059936"/>
            <a:ext cx="594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9A442D"/>
                </a:solidFill>
                <a:latin typeface="Noto Serif CJK KR"/>
                <a:ea typeface="Noto Serif CJK KR"/>
                <a:cs typeface="Noto Serif CJK KR"/>
              </a:rPr>
              <a:t>LIMIT</a:t>
            </a:r>
            <a:endParaRPr sz="1800"/>
          </a:p>
        </p:txBody>
      </p:sp>
      <p:sp>
        <p:nvSpPr>
          <p:cNvPr id="35" name="STC-07-plos-limit-text">
            <a:extLst xmlns:a="http://schemas.openxmlformats.org/drawingml/2006/main">
              <a:ext uri="{FF2B5EF4-FFF2-40B4-BE49-F238E27FC236}">
                <a16:creationId xmlns:a16="http://schemas.microsoft.com/office/drawing/2014/main" id="{506AA01B-FB2F-4186-90CA-3CA39B51D9A0}"/>
              </a:ext>
            </a:extLst>
          </p:cNvPr>
          <p:cNvSpPr>
            <a:spLocks xmlns:a="http://schemas.openxmlformats.org/drawingml/2006/main" noGrp="1"/>
          </p:cNvSpPr>
          <p:nvPr/>
        </p:nvSpPr>
        <p:spPr>
          <a:xfrm xmlns:a="http://schemas.openxmlformats.org/drawingml/2006/main">
            <a:off x="7726680" y="4014216"/>
            <a:ext cx="3438144" cy="960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a:solidFill>
                  <a:srgbClr val="17191C"/>
                </a:solidFill>
                <a:latin typeface="Noto Sans CJK KR"/>
                <a:ea typeface="Noto Sans CJK KR"/>
                <a:cs typeface="Noto Sans CJK KR"/>
              </a:rPr>
              <a:t>이름은 생물학에서 왔고 논증은 오지</a:t>
            </a:r>
            <a:endParaRPr sz="1700"/>
          </a:p>
          <a:p xmlns:a="http://schemas.openxmlformats.org/drawingml/2006/main">
            <a:pPr marL="0" indent="0">
              <a:buNone/>
            </a:pPr>
            <a:r>
              <a:rPr sz="1700">
                <a:solidFill>
                  <a:srgbClr val="17191C"/>
                </a:solidFill>
                <a:latin typeface="Noto Sans CJK KR"/>
                <a:ea typeface="Noto Sans CJK KR"/>
                <a:cs typeface="Noto Sans CJK KR"/>
              </a:rPr>
              <a:t>않았다 — 담보 확인은 뒤에서 다시 한다</a:t>
            </a:r>
            <a:endParaRPr sz="1700"/>
          </a:p>
        </p:txBody>
      </p:sp>
    </p:spTree>
    <p:extLst>
      <p:ext uri="{BB962C8B-B14F-4D97-AF65-F5344CB8AC3E}">
        <p14:creationId xmlns:p14="http://schemas.microsoft.com/office/powerpoint/2010/main" val="1190465356"/>
      </p:ext>
    </p:extLst>
  </p:cSld>
</p:sld>
</file>

<file path=ppt/slides/slide2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8-section">
            <a:extLst xmlns:a="http://schemas.openxmlformats.org/drawingml/2006/main">
              <a:ext uri="{FF2B5EF4-FFF2-40B4-BE49-F238E27FC236}">
                <a16:creationId xmlns:a16="http://schemas.microsoft.com/office/drawing/2014/main" id="{7B2F2BEC-3602-48B7-8AE5-82606691E202}"/>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18-slide-id">
            <a:extLst xmlns:a="http://schemas.openxmlformats.org/drawingml/2006/main">
              <a:ext uri="{FF2B5EF4-FFF2-40B4-BE49-F238E27FC236}">
                <a16:creationId xmlns:a16="http://schemas.microsoft.com/office/drawing/2014/main" id="{9AE62136-189D-4710-BD84-EAC5632E1659}"/>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STC-025</a:t>
            </a:r>
            <a:endParaRPr sz="950"/>
          </a:p>
        </p:txBody>
      </p:sp>
      <p:sp>
        <p:nvSpPr>
          <p:cNvPr id="4" name="STC-18-headline">
            <a:extLst xmlns:a="http://schemas.openxmlformats.org/drawingml/2006/main">
              <a:ext uri="{FF2B5EF4-FFF2-40B4-BE49-F238E27FC236}">
                <a16:creationId xmlns:a16="http://schemas.microsoft.com/office/drawing/2014/main" id="{D266D2F1-778B-4F2E-AC6F-D10EF836FA1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training 어휘 ⑧ — 기억 용량, 그리고 그 값이 하한이라는 사실</a:t>
            </a:r>
            <a:endParaRPr sz="3000"/>
          </a:p>
        </p:txBody>
      </p:sp>
      <p:sp>
        <p:nvSpPr>
          <p:cNvPr id="5" name="STC-18-status-label">
            <a:extLst xmlns:a="http://schemas.openxmlformats.org/drawingml/2006/main">
              <a:ext uri="{FF2B5EF4-FFF2-40B4-BE49-F238E27FC236}">
                <a16:creationId xmlns:a16="http://schemas.microsoft.com/office/drawing/2014/main" id="{79C701E9-D174-4EFD-A18F-4DC89E642FD4}"/>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9A442D"/>
                </a:solidFill>
                <a:latin typeface="Noto Sans Mono CJK KR"/>
                <a:ea typeface="Noto Sans Mono CJK KR"/>
                <a:cs typeface="Noto Sans Mono CJK KR"/>
              </a:rPr>
              <a:t>논문 수치</a:t>
            </a:r>
            <a:endParaRPr sz="1000"/>
          </a:p>
        </p:txBody>
      </p:sp>
      <p:sp>
        <p:nvSpPr>
          <p:cNvPr id="6" name="STC-18-status-rule">
            <a:extLst xmlns:a="http://schemas.openxmlformats.org/drawingml/2006/main">
              <a:ext uri="{FF2B5EF4-FFF2-40B4-BE49-F238E27FC236}">
                <a16:creationId xmlns:a16="http://schemas.microsoft.com/office/drawing/2014/main" id="{529715C2-F602-473A-947A-5FCB9DCC7AF8}"/>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9A442D"/>
            </a:solidFill>
            <a:prstDash val="solid"/>
            <a:tailEnd type="none"/>
          </a:ln>
        </p:spPr>
      </p:sp>
      <p:sp>
        <p:nvSpPr>
          <p:cNvPr id="7" name="STC-18-footer-rule">
            <a:extLst xmlns:a="http://schemas.openxmlformats.org/drawingml/2006/main">
              <a:ext uri="{FF2B5EF4-FFF2-40B4-BE49-F238E27FC236}">
                <a16:creationId xmlns:a16="http://schemas.microsoft.com/office/drawing/2014/main" id="{403A9EAC-FF66-416C-A329-C6EC95571F21}"/>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8-source-footer">
            <a:extLst xmlns:a="http://schemas.openxmlformats.org/drawingml/2006/main">
              <a:ext uri="{FF2B5EF4-FFF2-40B4-BE49-F238E27FC236}">
                <a16:creationId xmlns:a16="http://schemas.microsoft.com/office/drawing/2014/main" id="{4E420FB2-E8CE-4EDD-9FDC-7CA418F767F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ch09 §09.2.2 · [lm-memorization-capacity §3.2, Table 1]</a:t>
            </a:r>
            <a:endParaRPr sz="850"/>
          </a:p>
        </p:txBody>
      </p:sp>
      <p:sp>
        <p:nvSpPr>
          <p:cNvPr id="9" name="STC-18-page-number">
            <a:extLst xmlns:a="http://schemas.openxmlformats.org/drawingml/2006/main">
              <a:ext uri="{FF2B5EF4-FFF2-40B4-BE49-F238E27FC236}">
                <a16:creationId xmlns:a16="http://schemas.microsoft.com/office/drawing/2014/main" id="{4FE270B3-F1A6-4BCA-B282-FDF212DC78F7}"/>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25</a:t>
            </a:r>
            <a:endParaRPr sz="850"/>
          </a:p>
        </p:txBody>
      </p:sp>
      <p:sp>
        <p:nvSpPr>
          <p:cNvPr id="11" name="STC-18-knee-axis-x">
            <a:extLst xmlns:a="http://schemas.openxmlformats.org/drawingml/2006/main">
              <a:ext uri="{FF2B5EF4-FFF2-40B4-BE49-F238E27FC236}">
                <a16:creationId xmlns:a16="http://schemas.microsoft.com/office/drawing/2014/main" id="{C81452CC-D40C-4DD0-AE1A-B0381E5804B5}"/>
              </a:ext>
            </a:extLst>
          </p:cNvPr>
          <p:cNvSpPr>
            <a:spLocks xmlns:a="http://schemas.openxmlformats.org/drawingml/2006/main" noGrp="1"/>
          </p:cNvSpPr>
          <p:nvPr/>
        </p:nvSpPr>
        <p:spPr>
          <a:xfrm xmlns:a="http://schemas.openxmlformats.org/drawingml/2006/main">
            <a:off x="1143000" y="5669280"/>
            <a:ext cx="644652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2" name="STC-18-knee-axis-y">
            <a:extLst xmlns:a="http://schemas.openxmlformats.org/drawingml/2006/main">
              <a:ext uri="{FF2B5EF4-FFF2-40B4-BE49-F238E27FC236}">
                <a16:creationId xmlns:a16="http://schemas.microsoft.com/office/drawing/2014/main" id="{E1F7C2CF-4433-4C4B-8A34-B94592ECA104}"/>
              </a:ext>
            </a:extLst>
          </p:cNvPr>
          <p:cNvSpPr>
            <a:spLocks xmlns:a="http://schemas.openxmlformats.org/drawingml/2006/main" noGrp="1"/>
          </p:cNvSpPr>
          <p:nvPr/>
        </p:nvSpPr>
        <p:spPr>
          <a:xfrm xmlns:a="http://schemas.openxmlformats.org/drawingml/2006/main" flipH="0" flipV="1">
            <a:off x="1143000" y="1691640"/>
            <a:ext cx="0" cy="397764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3" name="STC-18-knee-axis-xlabel">
            <a:extLst xmlns:a="http://schemas.openxmlformats.org/drawingml/2006/main">
              <a:ext uri="{FF2B5EF4-FFF2-40B4-BE49-F238E27FC236}">
                <a16:creationId xmlns:a16="http://schemas.microsoft.com/office/drawing/2014/main" id="{EDAFD2D4-0676-4B50-9F78-4EFC185B7F17}"/>
              </a:ext>
            </a:extLst>
          </p:cNvPr>
          <p:cNvSpPr>
            <a:spLocks xmlns:a="http://schemas.openxmlformats.org/drawingml/2006/main" noGrp="1"/>
          </p:cNvSpPr>
          <p:nvPr/>
        </p:nvSpPr>
        <p:spPr>
          <a:xfrm xmlns:a="http://schemas.openxmlformats.org/drawingml/2006/main">
            <a:off x="6126480" y="5815584"/>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a:solidFill>
                  <a:srgbClr val="59616A"/>
                </a:solidFill>
                <a:latin typeface="Noto Sans CJK KR"/>
                <a:ea typeface="Noto Sans CJK KR"/>
                <a:cs typeface="Noto Sans CJK KR"/>
              </a:rPr>
              <a:t>파라미터 수</a:t>
            </a:r>
            <a:endParaRPr sz="1100"/>
          </a:p>
        </p:txBody>
      </p:sp>
      <p:sp>
        <p:nvSpPr>
          <p:cNvPr id="14" name="STC-18-knee-axis-ylabel">
            <a:extLst xmlns:a="http://schemas.openxmlformats.org/drawingml/2006/main">
              <a:ext uri="{FF2B5EF4-FFF2-40B4-BE49-F238E27FC236}">
                <a16:creationId xmlns:a16="http://schemas.microsoft.com/office/drawing/2014/main" id="{9B0E0507-09BE-4BC6-95FC-188BF218F1D0}"/>
              </a:ext>
            </a:extLst>
          </p:cNvPr>
          <p:cNvSpPr>
            <a:spLocks xmlns:a="http://schemas.openxmlformats.org/drawingml/2006/main" noGrp="1"/>
          </p:cNvSpPr>
          <p:nvPr/>
        </p:nvSpPr>
        <p:spPr>
          <a:xfrm xmlns:a="http://schemas.openxmlformats.org/drawingml/2006/main" rot="16200000">
            <a:off x="731520" y="1581912"/>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9616A"/>
                </a:solidFill>
                <a:latin typeface="Noto Sans CJK KR"/>
                <a:ea typeface="Noto Sans CJK KR"/>
                <a:cs typeface="Noto Sans CJK KR"/>
              </a:rPr>
              <a:t>암기 bits</a:t>
            </a:r>
            <a:endParaRPr sz="1100"/>
          </a:p>
        </p:txBody>
      </p:sp>
      <p:sp>
        <p:nvSpPr>
          <p:cNvPr id="15" name="STC-18-knee-seg-1">
            <a:extLst xmlns:a="http://schemas.openxmlformats.org/drawingml/2006/main">
              <a:ext uri="{FF2B5EF4-FFF2-40B4-BE49-F238E27FC236}">
                <a16:creationId xmlns:a16="http://schemas.microsoft.com/office/drawing/2014/main" id="{003F0C5F-F595-422E-8FDF-066640D7D432}"/>
              </a:ext>
            </a:extLst>
          </p:cNvPr>
          <p:cNvSpPr>
            <a:spLocks xmlns:a="http://schemas.openxmlformats.org/drawingml/2006/main" noGrp="1"/>
          </p:cNvSpPr>
          <p:nvPr/>
        </p:nvSpPr>
        <p:spPr>
          <a:xfrm xmlns:a="http://schemas.openxmlformats.org/drawingml/2006/main">
            <a:off x="1298448" y="2148840"/>
            <a:ext cx="1005840" cy="27432"/>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6" name="STC-18-knee-seg-2">
            <a:extLst xmlns:a="http://schemas.openxmlformats.org/drawingml/2006/main">
              <a:ext uri="{FF2B5EF4-FFF2-40B4-BE49-F238E27FC236}">
                <a16:creationId xmlns:a16="http://schemas.microsoft.com/office/drawing/2014/main" id="{2F93FE18-0F04-40C0-9893-2A149CE61627}"/>
              </a:ext>
            </a:extLst>
          </p:cNvPr>
          <p:cNvSpPr>
            <a:spLocks xmlns:a="http://schemas.openxmlformats.org/drawingml/2006/main" noGrp="1"/>
          </p:cNvSpPr>
          <p:nvPr/>
        </p:nvSpPr>
        <p:spPr>
          <a:xfrm xmlns:a="http://schemas.openxmlformats.org/drawingml/2006/main">
            <a:off x="2304288" y="2176272"/>
            <a:ext cx="1005840" cy="109728"/>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7" name="STC-18-knee-seg-3">
            <a:extLst xmlns:a="http://schemas.openxmlformats.org/drawingml/2006/main">
              <a:ext uri="{FF2B5EF4-FFF2-40B4-BE49-F238E27FC236}">
                <a16:creationId xmlns:a16="http://schemas.microsoft.com/office/drawing/2014/main" id="{F6FEFA14-7856-41AC-9C31-FD11A3798DEF}"/>
              </a:ext>
            </a:extLst>
          </p:cNvPr>
          <p:cNvSpPr>
            <a:spLocks xmlns:a="http://schemas.openxmlformats.org/drawingml/2006/main" noGrp="1"/>
          </p:cNvSpPr>
          <p:nvPr/>
        </p:nvSpPr>
        <p:spPr>
          <a:xfrm xmlns:a="http://schemas.openxmlformats.org/drawingml/2006/main">
            <a:off x="3310128" y="2286000"/>
            <a:ext cx="1005840" cy="384048"/>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8" name="STC-18-knee-seg-4">
            <a:extLst xmlns:a="http://schemas.openxmlformats.org/drawingml/2006/main">
              <a:ext uri="{FF2B5EF4-FFF2-40B4-BE49-F238E27FC236}">
                <a16:creationId xmlns:a16="http://schemas.microsoft.com/office/drawing/2014/main" id="{6763C838-9134-475E-ACDA-446F8E1614D8}"/>
              </a:ext>
            </a:extLst>
          </p:cNvPr>
          <p:cNvSpPr>
            <a:spLocks xmlns:a="http://schemas.openxmlformats.org/drawingml/2006/main" noGrp="1"/>
          </p:cNvSpPr>
          <p:nvPr/>
        </p:nvSpPr>
        <p:spPr>
          <a:xfrm xmlns:a="http://schemas.openxmlformats.org/drawingml/2006/main">
            <a:off x="4315968" y="2670048"/>
            <a:ext cx="1005840" cy="1024128"/>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19" name="STC-18-knee-seg-5">
            <a:extLst xmlns:a="http://schemas.openxmlformats.org/drawingml/2006/main">
              <a:ext uri="{FF2B5EF4-FFF2-40B4-BE49-F238E27FC236}">
                <a16:creationId xmlns:a16="http://schemas.microsoft.com/office/drawing/2014/main" id="{0972766A-6EEF-47F5-A54A-3BD977CCF7A8}"/>
              </a:ext>
            </a:extLst>
          </p:cNvPr>
          <p:cNvSpPr>
            <a:spLocks xmlns:a="http://schemas.openxmlformats.org/drawingml/2006/main" noGrp="1"/>
          </p:cNvSpPr>
          <p:nvPr/>
        </p:nvSpPr>
        <p:spPr>
          <a:xfrm xmlns:a="http://schemas.openxmlformats.org/drawingml/2006/main">
            <a:off x="5321808" y="3694176"/>
            <a:ext cx="1005840" cy="1298448"/>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20" name="STC-18-knee-seg-6">
            <a:extLst xmlns:a="http://schemas.openxmlformats.org/drawingml/2006/main">
              <a:ext uri="{FF2B5EF4-FFF2-40B4-BE49-F238E27FC236}">
                <a16:creationId xmlns:a16="http://schemas.microsoft.com/office/drawing/2014/main" id="{4DFF07AF-0006-44B9-8763-71C943AA66F4}"/>
              </a:ext>
            </a:extLst>
          </p:cNvPr>
          <p:cNvSpPr>
            <a:spLocks xmlns:a="http://schemas.openxmlformats.org/drawingml/2006/main" noGrp="1"/>
          </p:cNvSpPr>
          <p:nvPr/>
        </p:nvSpPr>
        <p:spPr>
          <a:xfrm xmlns:a="http://schemas.openxmlformats.org/drawingml/2006/main">
            <a:off x="6327648" y="4992624"/>
            <a:ext cx="822960" cy="164592"/>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21" name="STC-18-knee-threshold">
            <a:extLst xmlns:a="http://schemas.openxmlformats.org/drawingml/2006/main">
              <a:ext uri="{FF2B5EF4-FFF2-40B4-BE49-F238E27FC236}">
                <a16:creationId xmlns:a16="http://schemas.microsoft.com/office/drawing/2014/main" id="{E0D27FC3-1406-4DDF-9A5F-FCD6BD706F18}"/>
              </a:ext>
            </a:extLst>
          </p:cNvPr>
          <p:cNvSpPr>
            <a:spLocks xmlns:a="http://schemas.openxmlformats.org/drawingml/2006/main" noGrp="1"/>
          </p:cNvSpPr>
          <p:nvPr/>
        </p:nvSpPr>
        <p:spPr>
          <a:xfrm xmlns:a="http://schemas.openxmlformats.org/drawingml/2006/main">
            <a:off x="1143000" y="2944368"/>
            <a:ext cx="6446520" cy="0"/>
          </a:xfrm>
          <a:prstGeom xmlns:a="http://schemas.openxmlformats.org/drawingml/2006/main" prst="line">
            <a:avLst/>
          </a:prstGeom>
          <a:noFill xmlns:a="http://schemas.openxmlformats.org/drawingml/2006/main"/>
          <a:ln xmlns:a="http://schemas.openxmlformats.org/drawingml/2006/main" w="12700">
            <a:solidFill>
              <a:srgbClr val="59616A"/>
            </a:solidFill>
            <a:prstDash val="solid"/>
            <a:tailEnd type="none"/>
          </a:ln>
        </p:spPr>
      </p:sp>
      <p:sp>
        <p:nvSpPr>
          <p:cNvPr id="22" name="STC-18-knee-threshold-label">
            <a:extLst xmlns:a="http://schemas.openxmlformats.org/drawingml/2006/main">
              <a:ext uri="{FF2B5EF4-FFF2-40B4-BE49-F238E27FC236}">
                <a16:creationId xmlns:a16="http://schemas.microsoft.com/office/drawing/2014/main" id="{C84DFF8C-E003-4B2D-8344-300CD8D0E8BA}"/>
              </a:ext>
            </a:extLst>
          </p:cNvPr>
          <p:cNvSpPr>
            <a:spLocks xmlns:a="http://schemas.openxmlformats.org/drawingml/2006/main" noGrp="1"/>
          </p:cNvSpPr>
          <p:nvPr/>
        </p:nvSpPr>
        <p:spPr>
          <a:xfrm xmlns:a="http://schemas.openxmlformats.org/drawingml/2006/main">
            <a:off x="1325880" y="2761488"/>
            <a:ext cx="11430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9616A"/>
                </a:solidFill>
                <a:latin typeface="Noto Sans Mono CJK KR"/>
                <a:ea typeface="Noto Sans Mono CJK KR"/>
                <a:cs typeface="Noto Sans Mono CJK KR"/>
              </a:rPr>
              <a:t>3.64 하한</a:t>
            </a:r>
            <a:endParaRPr sz="1050"/>
          </a:p>
        </p:txBody>
      </p:sp>
      <p:sp>
        <p:nvSpPr>
          <p:cNvPr id="23" name="STC-18-knee-marker">
            <a:extLst xmlns:a="http://schemas.openxmlformats.org/drawingml/2006/main">
              <a:ext uri="{FF2B5EF4-FFF2-40B4-BE49-F238E27FC236}">
                <a16:creationId xmlns:a16="http://schemas.microsoft.com/office/drawing/2014/main" id="{B7796550-C739-4C12-AB34-728E99CD5A5C}"/>
              </a:ext>
            </a:extLst>
          </p:cNvPr>
          <p:cNvSpPr>
            <a:spLocks xmlns:a="http://schemas.openxmlformats.org/drawingml/2006/main" noGrp="1"/>
          </p:cNvSpPr>
          <p:nvPr/>
        </p:nvSpPr>
        <p:spPr>
          <a:xfrm xmlns:a="http://schemas.openxmlformats.org/drawingml/2006/main">
            <a:off x="4709160" y="2889504"/>
            <a:ext cx="0" cy="2505456"/>
          </a:xfrm>
          <a:prstGeom xmlns:a="http://schemas.openxmlformats.org/drawingml/2006/main" prst="line">
            <a:avLst/>
          </a:prstGeom>
          <a:noFill xmlns:a="http://schemas.openxmlformats.org/drawingml/2006/main"/>
          <a:ln xmlns:a="http://schemas.openxmlformats.org/drawingml/2006/main" w="17780">
            <a:solidFill>
              <a:srgbClr val="9A442D"/>
            </a:solidFill>
            <a:prstDash val="solid"/>
            <a:tailEnd type="none"/>
          </a:ln>
        </p:spPr>
      </p:sp>
      <p:sp>
        <p:nvSpPr>
          <p:cNvPr id="24" name="STC-18-knee-keff">
            <a:extLst xmlns:a="http://schemas.openxmlformats.org/drawingml/2006/main">
              <a:ext uri="{FF2B5EF4-FFF2-40B4-BE49-F238E27FC236}">
                <a16:creationId xmlns:a16="http://schemas.microsoft.com/office/drawing/2014/main" id="{560C924C-F866-4087-B484-42FE73811586}"/>
              </a:ext>
            </a:extLst>
          </p:cNvPr>
          <p:cNvSpPr>
            <a:spLocks xmlns:a="http://schemas.openxmlformats.org/drawingml/2006/main" noGrp="1"/>
          </p:cNvSpPr>
          <p:nvPr/>
        </p:nvSpPr>
        <p:spPr>
          <a:xfrm xmlns:a="http://schemas.openxmlformats.org/drawingml/2006/main">
            <a:off x="4379976" y="5394960"/>
            <a:ext cx="685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erif CJK KR"/>
                <a:ea typeface="Noto Serif CJK KR"/>
                <a:cs typeface="Noto Serif CJK KR"/>
              </a:rPr>
              <a:t>3.64</a:t>
            </a:r>
            <a:endParaRPr sz="1800"/>
          </a:p>
        </p:txBody>
      </p:sp>
      <p:sp>
        <p:nvSpPr>
          <p:cNvPr id="25" name="STC-18-knee-check-title">
            <a:extLst xmlns:a="http://schemas.openxmlformats.org/drawingml/2006/main">
              <a:ext uri="{FF2B5EF4-FFF2-40B4-BE49-F238E27FC236}">
                <a16:creationId xmlns:a16="http://schemas.microsoft.com/office/drawing/2014/main" id="{240D967C-B047-4CCF-991D-75A295890503}"/>
              </a:ext>
            </a:extLst>
          </p:cNvPr>
          <p:cNvSpPr>
            <a:spLocks xmlns:a="http://schemas.openxmlformats.org/drawingml/2006/main" noGrp="1"/>
          </p:cNvSpPr>
          <p:nvPr/>
        </p:nvSpPr>
        <p:spPr>
          <a:xfrm xmlns:a="http://schemas.openxmlformats.org/drawingml/2006/main">
            <a:off x="8247888" y="1783080"/>
            <a:ext cx="25603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9A442D"/>
                </a:solidFill>
                <a:latin typeface="Noto Sans Mono CJK KR"/>
                <a:ea typeface="Noto Sans Mono CJK KR"/>
                <a:cs typeface="Noto Sans Mono CJK KR"/>
              </a:rPr>
              <a:t>bits/param 3.64</a:t>
            </a:r>
            <a:endParaRPr sz="1100"/>
          </a:p>
        </p:txBody>
      </p:sp>
      <p:sp>
        <p:nvSpPr>
          <p:cNvPr id="26" name="STC-18-knee-checks-dot-0">
            <a:extLst xmlns:a="http://schemas.openxmlformats.org/drawingml/2006/main">
              <a:ext uri="{FF2B5EF4-FFF2-40B4-BE49-F238E27FC236}">
                <a16:creationId xmlns:a16="http://schemas.microsoft.com/office/drawing/2014/main" id="{C65AB8EB-CD2A-4877-B277-753424C37722}"/>
              </a:ext>
            </a:extLst>
          </p:cNvPr>
          <p:cNvSpPr>
            <a:spLocks xmlns:a="http://schemas.openxmlformats.org/drawingml/2006/main" noGrp="1"/>
          </p:cNvSpPr>
          <p:nvPr/>
        </p:nvSpPr>
        <p:spPr>
          <a:xfrm xmlns:a="http://schemas.openxmlformats.org/drawingml/2006/main">
            <a:off x="8275320" y="2350008"/>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27" name="STC-18-knee-checks-item-0">
            <a:extLst xmlns:a="http://schemas.openxmlformats.org/drawingml/2006/main">
              <a:ext uri="{FF2B5EF4-FFF2-40B4-BE49-F238E27FC236}">
                <a16:creationId xmlns:a16="http://schemas.microsoft.com/office/drawing/2014/main" id="{FDC997E1-38D9-4520-B007-6663A6DF0934}"/>
              </a:ext>
            </a:extLst>
          </p:cNvPr>
          <p:cNvSpPr>
            <a:spLocks xmlns:a="http://schemas.openxmlformats.org/drawingml/2006/main" noGrp="1"/>
          </p:cNvSpPr>
          <p:nvPr/>
        </p:nvSpPr>
        <p:spPr>
          <a:xfrm xmlns:a="http://schemas.openxmlformats.org/drawingml/2006/main">
            <a:off x="8503920" y="2240280"/>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bits/param 3.64</a:t>
            </a:r>
            <a:endParaRPr sz="1550"/>
          </a:p>
        </p:txBody>
      </p:sp>
      <p:sp>
        <p:nvSpPr>
          <p:cNvPr id="28" name="STC-18-knee-checks-dot-1">
            <a:extLst xmlns:a="http://schemas.openxmlformats.org/drawingml/2006/main">
              <a:ext uri="{FF2B5EF4-FFF2-40B4-BE49-F238E27FC236}">
                <a16:creationId xmlns:a16="http://schemas.microsoft.com/office/drawing/2014/main" id="{00BD0BBB-062E-4E7B-BBB4-C431B7E66222}"/>
              </a:ext>
            </a:extLst>
          </p:cNvPr>
          <p:cNvSpPr>
            <a:spLocks xmlns:a="http://schemas.openxmlformats.org/drawingml/2006/main" noGrp="1"/>
          </p:cNvSpPr>
          <p:nvPr/>
        </p:nvSpPr>
        <p:spPr>
          <a:xfrm xmlns:a="http://schemas.openxmlformats.org/drawingml/2006/main">
            <a:off x="8275320" y="2907792"/>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29" name="STC-18-knee-checks-item-1">
            <a:extLst xmlns:a="http://schemas.openxmlformats.org/drawingml/2006/main">
              <a:ext uri="{FF2B5EF4-FFF2-40B4-BE49-F238E27FC236}">
                <a16:creationId xmlns:a16="http://schemas.microsoft.com/office/drawing/2014/main" id="{1F595761-551F-4541-8F4F-785370299BEA}"/>
              </a:ext>
            </a:extLst>
          </p:cNvPr>
          <p:cNvSpPr>
            <a:spLocks xmlns:a="http://schemas.openxmlformats.org/drawingml/2006/main" noGrp="1"/>
          </p:cNvSpPr>
          <p:nvPr/>
        </p:nvSpPr>
        <p:spPr>
          <a:xfrm xmlns:a="http://schemas.openxmlformats.org/drawingml/2006/main">
            <a:off x="8503920" y="2798064"/>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밴드 2.86–4.23</a:t>
            </a:r>
            <a:endParaRPr sz="1550"/>
          </a:p>
        </p:txBody>
      </p:sp>
      <p:sp>
        <p:nvSpPr>
          <p:cNvPr id="30" name="STC-18-knee-checks-dot-2">
            <a:extLst xmlns:a="http://schemas.openxmlformats.org/drawingml/2006/main">
              <a:ext uri="{FF2B5EF4-FFF2-40B4-BE49-F238E27FC236}">
                <a16:creationId xmlns:a16="http://schemas.microsoft.com/office/drawing/2014/main" id="{B00D3C67-9E7B-416B-A50C-CD6FB683D1F6}"/>
              </a:ext>
            </a:extLst>
          </p:cNvPr>
          <p:cNvSpPr>
            <a:spLocks xmlns:a="http://schemas.openxmlformats.org/drawingml/2006/main" noGrp="1"/>
          </p:cNvSpPr>
          <p:nvPr/>
        </p:nvSpPr>
        <p:spPr>
          <a:xfrm xmlns:a="http://schemas.openxmlformats.org/drawingml/2006/main">
            <a:off x="8275320" y="3465576"/>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1" name="STC-18-knee-checks-item-2">
            <a:extLst xmlns:a="http://schemas.openxmlformats.org/drawingml/2006/main">
              <a:ext uri="{FF2B5EF4-FFF2-40B4-BE49-F238E27FC236}">
                <a16:creationId xmlns:a16="http://schemas.microsoft.com/office/drawing/2014/main" id="{A8AD6B50-1222-40F0-B872-FB02938FCA2A}"/>
              </a:ext>
            </a:extLst>
          </p:cNvPr>
          <p:cNvSpPr>
            <a:spLocks xmlns:a="http://schemas.openxmlformats.org/drawingml/2006/main" noGrp="1"/>
          </p:cNvSpPr>
          <p:nvPr/>
        </p:nvSpPr>
        <p:spPr>
          <a:xfrm xmlns:a="http://schemas.openxmlformats.org/drawingml/2006/main">
            <a:off x="8503920" y="3355848"/>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bf16 3.51</a:t>
            </a:r>
            <a:endParaRPr sz="1550"/>
          </a:p>
        </p:txBody>
      </p:sp>
      <p:sp>
        <p:nvSpPr>
          <p:cNvPr id="32" name="STC-18-knee-checks-dot-3">
            <a:extLst xmlns:a="http://schemas.openxmlformats.org/drawingml/2006/main">
              <a:ext uri="{FF2B5EF4-FFF2-40B4-BE49-F238E27FC236}">
                <a16:creationId xmlns:a16="http://schemas.microsoft.com/office/drawing/2014/main" id="{193D497B-83CE-4A7D-AB94-EF7C0D144494}"/>
              </a:ext>
            </a:extLst>
          </p:cNvPr>
          <p:cNvSpPr>
            <a:spLocks xmlns:a="http://schemas.openxmlformats.org/drawingml/2006/main" noGrp="1"/>
          </p:cNvSpPr>
          <p:nvPr/>
        </p:nvSpPr>
        <p:spPr>
          <a:xfrm xmlns:a="http://schemas.openxmlformats.org/drawingml/2006/main">
            <a:off x="8275320" y="4023360"/>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3" name="STC-18-knee-checks-item-3">
            <a:extLst xmlns:a="http://schemas.openxmlformats.org/drawingml/2006/main">
              <a:ext uri="{FF2B5EF4-FFF2-40B4-BE49-F238E27FC236}">
                <a16:creationId xmlns:a16="http://schemas.microsoft.com/office/drawing/2014/main" id="{54E8D5AD-5943-4DD5-A8F6-1C16D270C65A}"/>
              </a:ext>
            </a:extLst>
          </p:cNvPr>
          <p:cNvSpPr>
            <a:spLocks xmlns:a="http://schemas.openxmlformats.org/drawingml/2006/main" noGrp="1"/>
          </p:cNvSpPr>
          <p:nvPr/>
        </p:nvSpPr>
        <p:spPr>
          <a:xfrm xmlns:a="http://schemas.openxmlformats.org/drawingml/2006/main">
            <a:off x="8503920" y="3913632"/>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fp32 3.83</a:t>
            </a:r>
            <a:endParaRPr sz="1550"/>
          </a:p>
        </p:txBody>
      </p:sp>
      <p:sp>
        <p:nvSpPr>
          <p:cNvPr id="34" name="STC-18-knee-checks-dot-4">
            <a:extLst xmlns:a="http://schemas.openxmlformats.org/drawingml/2006/main">
              <a:ext uri="{FF2B5EF4-FFF2-40B4-BE49-F238E27FC236}">
                <a16:creationId xmlns:a16="http://schemas.microsoft.com/office/drawing/2014/main" id="{5D751B45-D75A-4C29-86C3-1A10CDA2ACFD}"/>
              </a:ext>
            </a:extLst>
          </p:cNvPr>
          <p:cNvSpPr>
            <a:spLocks xmlns:a="http://schemas.openxmlformats.org/drawingml/2006/main" noGrp="1"/>
          </p:cNvSpPr>
          <p:nvPr/>
        </p:nvSpPr>
        <p:spPr>
          <a:xfrm xmlns:a="http://schemas.openxmlformats.org/drawingml/2006/main">
            <a:off x="8275320" y="4581144"/>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5" name="STC-18-knee-checks-item-4">
            <a:extLst xmlns:a="http://schemas.openxmlformats.org/drawingml/2006/main">
              <a:ext uri="{FF2B5EF4-FFF2-40B4-BE49-F238E27FC236}">
                <a16:creationId xmlns:a16="http://schemas.microsoft.com/office/drawing/2014/main" id="{3E5A4F76-5BB5-4E5A-A1D9-42BC1A8E5C0F}"/>
              </a:ext>
            </a:extLst>
          </p:cNvPr>
          <p:cNvSpPr>
            <a:spLocks xmlns:a="http://schemas.openxmlformats.org/drawingml/2006/main" noGrp="1"/>
          </p:cNvSpPr>
          <p:nvPr/>
        </p:nvSpPr>
        <p:spPr>
          <a:xfrm xmlns:a="http://schemas.openxmlformats.org/drawingml/2006/main">
            <a:off x="8503920" y="4471416"/>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명시된 하한</a:t>
            </a:r>
            <a:endParaRPr sz="1550"/>
          </a:p>
        </p:txBody>
      </p:sp>
      <p:sp>
        <p:nvSpPr>
          <p:cNvPr id="36" name="STC-18-knee-unidentified">
            <a:extLst xmlns:a="http://schemas.openxmlformats.org/drawingml/2006/main">
              <a:ext uri="{FF2B5EF4-FFF2-40B4-BE49-F238E27FC236}">
                <a16:creationId xmlns:a16="http://schemas.microsoft.com/office/drawing/2014/main" id="{180F873B-5C68-4872-B82F-6C6C0ED74CC8}"/>
              </a:ext>
            </a:extLst>
          </p:cNvPr>
          <p:cNvSpPr>
            <a:spLocks xmlns:a="http://schemas.openxmlformats.org/drawingml/2006/main" noGrp="1"/>
          </p:cNvSpPr>
          <p:nvPr/>
        </p:nvSpPr>
        <p:spPr>
          <a:xfrm xmlns:a="http://schemas.openxmlformats.org/drawingml/2006/main">
            <a:off x="8211312" y="5230368"/>
            <a:ext cx="2706624" cy="52120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37" name="STC-18-knee-unidentified-text">
            <a:extLst xmlns:a="http://schemas.openxmlformats.org/drawingml/2006/main">
              <a:ext uri="{FF2B5EF4-FFF2-40B4-BE49-F238E27FC236}">
                <a16:creationId xmlns:a16="http://schemas.microsoft.com/office/drawing/2014/main" id="{39151F30-D5D2-4D64-B766-810DF4EFE62A}"/>
              </a:ext>
            </a:extLst>
          </p:cNvPr>
          <p:cNvSpPr>
            <a:spLocks xmlns:a="http://schemas.openxmlformats.org/drawingml/2006/main" noGrp="1"/>
          </p:cNvSpPr>
          <p:nvPr/>
        </p:nvSpPr>
        <p:spPr>
          <a:xfrm xmlns:a="http://schemas.openxmlformats.org/drawingml/2006/main">
            <a:off x="8348472" y="5404104"/>
            <a:ext cx="243230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b="1">
                <a:solidFill>
                  <a:srgbClr val="FFFFFF"/>
                </a:solidFill>
                <a:latin typeface="Noto Sans Mono CJK KR"/>
                <a:ea typeface="Noto Sans Mono CJK KR"/>
                <a:cs typeface="Noto Sans Mono CJK KR"/>
              </a:rPr>
              <a:t>3.64는 하한이다. 상한으로 쓰면 뒤집힌다</a:t>
            </a:r>
            <a:endParaRPr sz="1050"/>
          </a:p>
        </p:txBody>
      </p:sp>
    </p:spTree>
    <p:extLst>
      <p:ext uri="{BB962C8B-B14F-4D97-AF65-F5344CB8AC3E}">
        <p14:creationId xmlns:p14="http://schemas.microsoft.com/office/powerpoint/2010/main" val="1452305100"/>
      </p:ext>
    </p:extLst>
  </p:cSld>
</p:sld>
</file>

<file path=ppt/slides/slide2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3-section">
            <a:extLst xmlns:a="http://schemas.openxmlformats.org/drawingml/2006/main">
              <a:ext uri="{FF2B5EF4-FFF2-40B4-BE49-F238E27FC236}">
                <a16:creationId xmlns:a16="http://schemas.microsoft.com/office/drawing/2014/main" id="{DEF75E10-FC43-4F90-A29D-73D1CBC1DCC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13-slide-id">
            <a:extLst xmlns:a="http://schemas.openxmlformats.org/drawingml/2006/main">
              <a:ext uri="{FF2B5EF4-FFF2-40B4-BE49-F238E27FC236}">
                <a16:creationId xmlns:a16="http://schemas.microsoft.com/office/drawing/2014/main" id="{207357D7-4303-4447-A61C-4C79283F663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STC-026</a:t>
            </a:r>
            <a:endParaRPr sz="950"/>
          </a:p>
        </p:txBody>
      </p:sp>
      <p:sp>
        <p:nvSpPr>
          <p:cNvPr id="4" name="STC-13-headline">
            <a:extLst xmlns:a="http://schemas.openxmlformats.org/drawingml/2006/main">
              <a:ext uri="{FF2B5EF4-FFF2-40B4-BE49-F238E27FC236}">
                <a16:creationId xmlns:a16="http://schemas.microsoft.com/office/drawing/2014/main" id="{8E260E54-4985-4C50-817D-C85BDF65F5D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training 어휘 ⑨ — 외부 기억과 검색 비용</a:t>
            </a:r>
            <a:endParaRPr sz="3000"/>
          </a:p>
        </p:txBody>
      </p:sp>
      <p:sp>
        <p:nvSpPr>
          <p:cNvPr id="5" name="STC-13-status-label">
            <a:extLst xmlns:a="http://schemas.openxmlformats.org/drawingml/2006/main">
              <a:ext uri="{FF2B5EF4-FFF2-40B4-BE49-F238E27FC236}">
                <a16:creationId xmlns:a16="http://schemas.microsoft.com/office/drawing/2014/main" id="{76CEFCAB-90F8-4FF1-91A9-495F4B23416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training 배경</a:t>
            </a:r>
            <a:endParaRPr sz="1000"/>
          </a:p>
        </p:txBody>
      </p:sp>
      <p:sp>
        <p:nvSpPr>
          <p:cNvPr id="6" name="STC-13-status-rule">
            <a:extLst xmlns:a="http://schemas.openxmlformats.org/drawingml/2006/main">
              <a:ext uri="{FF2B5EF4-FFF2-40B4-BE49-F238E27FC236}">
                <a16:creationId xmlns:a16="http://schemas.microsoft.com/office/drawing/2014/main" id="{07360112-59F1-4B26-BA92-7088E3FD40C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13-footer-rule">
            <a:extLst xmlns:a="http://schemas.openxmlformats.org/drawingml/2006/main">
              <a:ext uri="{FF2B5EF4-FFF2-40B4-BE49-F238E27FC236}">
                <a16:creationId xmlns:a16="http://schemas.microsoft.com/office/drawing/2014/main" id="{26DC731C-F3A6-48D1-B411-9B2CD636969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3-source-footer">
            <a:extLst xmlns:a="http://schemas.openxmlformats.org/drawingml/2006/main">
              <a:ext uri="{FF2B5EF4-FFF2-40B4-BE49-F238E27FC236}">
                <a16:creationId xmlns:a16="http://schemas.microsoft.com/office/drawing/2014/main" id="{F8DE0C07-9BB3-4619-B392-5FCFC17ACBE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ch10 (외부 기억과 검색 비용)</a:t>
            </a:r>
            <a:endParaRPr sz="850"/>
          </a:p>
        </p:txBody>
      </p:sp>
      <p:sp>
        <p:nvSpPr>
          <p:cNvPr id="9" name="STC-13-page-number">
            <a:extLst xmlns:a="http://schemas.openxmlformats.org/drawingml/2006/main">
              <a:ext uri="{FF2B5EF4-FFF2-40B4-BE49-F238E27FC236}">
                <a16:creationId xmlns:a16="http://schemas.microsoft.com/office/drawing/2014/main" id="{77A42865-7B64-4DDF-99E9-C4F94EB652F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26</a:t>
            </a:r>
            <a:endParaRPr sz="850"/>
          </a:p>
        </p:txBody>
      </p:sp>
      <p:sp>
        <p:nvSpPr>
          <p:cNvPr id="11" name="STC-13-data-layer-0">
            <a:extLst xmlns:a="http://schemas.openxmlformats.org/drawingml/2006/main">
              <a:ext uri="{FF2B5EF4-FFF2-40B4-BE49-F238E27FC236}">
                <a16:creationId xmlns:a16="http://schemas.microsoft.com/office/drawing/2014/main" id="{E5BBE619-AB19-42FA-8122-D61948B604E8}"/>
              </a:ext>
            </a:extLst>
          </p:cNvPr>
          <p:cNvSpPr>
            <a:spLocks xmlns:a="http://schemas.openxmlformats.org/drawingml/2006/main" noGrp="1"/>
          </p:cNvSpPr>
          <p:nvPr/>
        </p:nvSpPr>
        <p:spPr>
          <a:xfrm xmlns:a="http://schemas.openxmlformats.org/drawingml/2006/main">
            <a:off x="1618488" y="1664208"/>
            <a:ext cx="8961120" cy="56692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12" name="STC-13-data-label-0">
            <a:extLst xmlns:a="http://schemas.openxmlformats.org/drawingml/2006/main">
              <a:ext uri="{FF2B5EF4-FFF2-40B4-BE49-F238E27FC236}">
                <a16:creationId xmlns:a16="http://schemas.microsoft.com/office/drawing/2014/main" id="{FDF9C9BA-3329-45E9-ABC4-2B36508291DA}"/>
              </a:ext>
            </a:extLst>
          </p:cNvPr>
          <p:cNvSpPr>
            <a:spLocks xmlns:a="http://schemas.openxmlformats.org/drawingml/2006/main" noGrp="1"/>
          </p:cNvSpPr>
          <p:nvPr/>
        </p:nvSpPr>
        <p:spPr>
          <a:xfrm xmlns:a="http://schemas.openxmlformats.org/drawingml/2006/main">
            <a:off x="1783080" y="1828800"/>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FFFFFF"/>
                </a:solidFill>
                <a:latin typeface="Noto Sans Mono CJK KR"/>
                <a:ea typeface="Noto Sans Mono CJK KR"/>
                <a:cs typeface="Noto Sans Mono CJK KR"/>
              </a:rPr>
              <a:t>청킹·인코딩</a:t>
            </a:r>
            <a:endParaRPr sz="1050"/>
          </a:p>
        </p:txBody>
      </p:sp>
      <p:sp>
        <p:nvSpPr>
          <p:cNvPr id="13" name="STC-13-data-body-0">
            <a:extLst xmlns:a="http://schemas.openxmlformats.org/drawingml/2006/main">
              <a:ext uri="{FF2B5EF4-FFF2-40B4-BE49-F238E27FC236}">
                <a16:creationId xmlns:a16="http://schemas.microsoft.com/office/drawing/2014/main" id="{34676F1F-A035-47A9-9C53-7C294D97CEF1}"/>
              </a:ext>
            </a:extLst>
          </p:cNvPr>
          <p:cNvSpPr>
            <a:spLocks xmlns:a="http://schemas.openxmlformats.org/drawingml/2006/main" noGrp="1"/>
          </p:cNvSpPr>
          <p:nvPr/>
        </p:nvSpPr>
        <p:spPr>
          <a:xfrm xmlns:a="http://schemas.openxmlformats.org/drawingml/2006/main">
            <a:off x="3401568" y="1755648"/>
            <a:ext cx="6995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FFFFFF"/>
                </a:solidFill>
                <a:latin typeface="Noto Sans CJK KR"/>
                <a:ea typeface="Noto Sans CJK KR"/>
                <a:cs typeface="Noto Sans CJK KR"/>
              </a:rPr>
              <a:t>문서를 잘라 벡터로 만든다. 추론 없음</a:t>
            </a:r>
            <a:endParaRPr sz="1450"/>
          </a:p>
        </p:txBody>
      </p:sp>
      <p:sp>
        <p:nvSpPr>
          <p:cNvPr id="14" name="STC-13-data-layer-1">
            <a:extLst xmlns:a="http://schemas.openxmlformats.org/drawingml/2006/main">
              <a:ext uri="{FF2B5EF4-FFF2-40B4-BE49-F238E27FC236}">
                <a16:creationId xmlns:a16="http://schemas.microsoft.com/office/drawing/2014/main" id="{2C7AD258-BAEB-4994-96A5-F1AB29FB68DF}"/>
              </a:ext>
            </a:extLst>
          </p:cNvPr>
          <p:cNvSpPr>
            <a:spLocks xmlns:a="http://schemas.openxmlformats.org/drawingml/2006/main" noGrp="1"/>
          </p:cNvSpPr>
          <p:nvPr/>
        </p:nvSpPr>
        <p:spPr>
          <a:xfrm xmlns:a="http://schemas.openxmlformats.org/drawingml/2006/main">
            <a:off x="2258568" y="2450592"/>
            <a:ext cx="7680960" cy="566928"/>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3-data-label-1">
            <a:extLst xmlns:a="http://schemas.openxmlformats.org/drawingml/2006/main">
              <a:ext uri="{FF2B5EF4-FFF2-40B4-BE49-F238E27FC236}">
                <a16:creationId xmlns:a16="http://schemas.microsoft.com/office/drawing/2014/main" id="{02CDF8C0-80BF-43B8-B0F1-3E7D91CAE3C2}"/>
              </a:ext>
            </a:extLst>
          </p:cNvPr>
          <p:cNvSpPr>
            <a:spLocks xmlns:a="http://schemas.openxmlformats.org/drawingml/2006/main" noGrp="1"/>
          </p:cNvSpPr>
          <p:nvPr/>
        </p:nvSpPr>
        <p:spPr>
          <a:xfrm xmlns:a="http://schemas.openxmlformats.org/drawingml/2006/main">
            <a:off x="2423160" y="2615184"/>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인덱스</a:t>
            </a:r>
            <a:endParaRPr sz="1050"/>
          </a:p>
        </p:txBody>
      </p:sp>
      <p:sp>
        <p:nvSpPr>
          <p:cNvPr id="16" name="STC-13-data-body-1">
            <a:extLst xmlns:a="http://schemas.openxmlformats.org/drawingml/2006/main">
              <a:ext uri="{FF2B5EF4-FFF2-40B4-BE49-F238E27FC236}">
                <a16:creationId xmlns:a16="http://schemas.microsoft.com/office/drawing/2014/main" id="{BC62C31C-D212-42ED-AE30-842B56196CD1}"/>
              </a:ext>
            </a:extLst>
          </p:cNvPr>
          <p:cNvSpPr>
            <a:spLocks xmlns:a="http://schemas.openxmlformats.org/drawingml/2006/main" noGrp="1"/>
          </p:cNvSpPr>
          <p:nvPr/>
        </p:nvSpPr>
        <p:spPr>
          <a:xfrm xmlns:a="http://schemas.openxmlformats.org/drawingml/2006/main">
            <a:off x="4041648" y="2542032"/>
            <a:ext cx="5715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17191C"/>
                </a:solidFill>
                <a:latin typeface="Noto Sans CJK KR"/>
                <a:ea typeface="Noto Sans CJK KR"/>
                <a:cs typeface="Noto Sans CJK KR"/>
              </a:rPr>
              <a:t>corpus당 수십 GB. host DRAM에 산다</a:t>
            </a:r>
            <a:endParaRPr sz="1450"/>
          </a:p>
        </p:txBody>
      </p:sp>
      <p:sp>
        <p:nvSpPr>
          <p:cNvPr id="17" name="STC-13-data-layer-2">
            <a:extLst xmlns:a="http://schemas.openxmlformats.org/drawingml/2006/main">
              <a:ext uri="{FF2B5EF4-FFF2-40B4-BE49-F238E27FC236}">
                <a16:creationId xmlns:a16="http://schemas.microsoft.com/office/drawing/2014/main" id="{D6FAD0EE-091C-49BC-AC96-FF7C3FD7BF30}"/>
              </a:ext>
            </a:extLst>
          </p:cNvPr>
          <p:cNvSpPr>
            <a:spLocks xmlns:a="http://schemas.openxmlformats.org/drawingml/2006/main" noGrp="1"/>
          </p:cNvSpPr>
          <p:nvPr/>
        </p:nvSpPr>
        <p:spPr>
          <a:xfrm xmlns:a="http://schemas.openxmlformats.org/drawingml/2006/main">
            <a:off x="2898648" y="3236976"/>
            <a:ext cx="6400800" cy="566928"/>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8" name="STC-13-data-label-2">
            <a:extLst xmlns:a="http://schemas.openxmlformats.org/drawingml/2006/main">
              <a:ext uri="{FF2B5EF4-FFF2-40B4-BE49-F238E27FC236}">
                <a16:creationId xmlns:a16="http://schemas.microsoft.com/office/drawing/2014/main" id="{AA018C36-C849-429F-A2CB-A09888ED5181}"/>
              </a:ext>
            </a:extLst>
          </p:cNvPr>
          <p:cNvSpPr>
            <a:spLocks xmlns:a="http://schemas.openxmlformats.org/drawingml/2006/main" noGrp="1"/>
          </p:cNvSpPr>
          <p:nvPr/>
        </p:nvSpPr>
        <p:spPr>
          <a:xfrm xmlns:a="http://schemas.openxmlformats.org/drawingml/2006/main">
            <a:off x="3063240" y="3401568"/>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ret(E,q)</a:t>
            </a:r>
            <a:endParaRPr sz="1050"/>
          </a:p>
        </p:txBody>
      </p:sp>
      <p:sp>
        <p:nvSpPr>
          <p:cNvPr id="19" name="STC-13-data-body-2">
            <a:extLst xmlns:a="http://schemas.openxmlformats.org/drawingml/2006/main">
              <a:ext uri="{FF2B5EF4-FFF2-40B4-BE49-F238E27FC236}">
                <a16:creationId xmlns:a16="http://schemas.microsoft.com/office/drawing/2014/main" id="{41815879-EDCF-477A-A120-7092A00F5988}"/>
              </a:ext>
            </a:extLst>
          </p:cNvPr>
          <p:cNvSpPr>
            <a:spLocks xmlns:a="http://schemas.openxmlformats.org/drawingml/2006/main" noGrp="1"/>
          </p:cNvSpPr>
          <p:nvPr/>
        </p:nvSpPr>
        <p:spPr>
          <a:xfrm xmlns:a="http://schemas.openxmlformats.org/drawingml/2006/main">
            <a:off x="4681728" y="3328416"/>
            <a:ext cx="4434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질의당 1회 조회. L_w에만 잡힌다</a:t>
            </a:r>
            <a:endParaRPr sz="1350"/>
          </a:p>
        </p:txBody>
      </p:sp>
      <p:sp>
        <p:nvSpPr>
          <p:cNvPr id="20" name="STC-13-data-layer-3">
            <a:extLst xmlns:a="http://schemas.openxmlformats.org/drawingml/2006/main">
              <a:ext uri="{FF2B5EF4-FFF2-40B4-BE49-F238E27FC236}">
                <a16:creationId xmlns:a16="http://schemas.microsoft.com/office/drawing/2014/main" id="{FBD0C7D7-10DE-463B-9217-97D247B03C72}"/>
              </a:ext>
            </a:extLst>
          </p:cNvPr>
          <p:cNvSpPr>
            <a:spLocks xmlns:a="http://schemas.openxmlformats.org/drawingml/2006/main" noGrp="1"/>
          </p:cNvSpPr>
          <p:nvPr/>
        </p:nvSpPr>
        <p:spPr>
          <a:xfrm xmlns:a="http://schemas.openxmlformats.org/drawingml/2006/main">
            <a:off x="3538728" y="4023360"/>
            <a:ext cx="5120640" cy="566928"/>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13-data-label-3">
            <a:extLst xmlns:a="http://schemas.openxmlformats.org/drawingml/2006/main">
              <a:ext uri="{FF2B5EF4-FFF2-40B4-BE49-F238E27FC236}">
                <a16:creationId xmlns:a16="http://schemas.microsoft.com/office/drawing/2014/main" id="{8DA5B66F-AB6C-424C-B38E-EC87549B7458}"/>
              </a:ext>
            </a:extLst>
          </p:cNvPr>
          <p:cNvSpPr>
            <a:spLocks xmlns:a="http://schemas.openxmlformats.org/drawingml/2006/main" noGrp="1"/>
          </p:cNvSpPr>
          <p:nvPr/>
        </p:nvSpPr>
        <p:spPr>
          <a:xfrm xmlns:a="http://schemas.openxmlformats.org/drawingml/2006/main">
            <a:off x="3703320" y="4187952"/>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프롬프트 증가</a:t>
            </a:r>
            <a:endParaRPr sz="1050"/>
          </a:p>
        </p:txBody>
      </p:sp>
      <p:sp>
        <p:nvSpPr>
          <p:cNvPr id="22" name="STC-13-data-body-3">
            <a:extLst xmlns:a="http://schemas.openxmlformats.org/drawingml/2006/main">
              <a:ext uri="{FF2B5EF4-FFF2-40B4-BE49-F238E27FC236}">
                <a16:creationId xmlns:a16="http://schemas.microsoft.com/office/drawing/2014/main" id="{B07BDB02-D4B0-48AF-8A53-11814C8CDC53}"/>
              </a:ext>
            </a:extLst>
          </p:cNvPr>
          <p:cNvSpPr>
            <a:spLocks xmlns:a="http://schemas.openxmlformats.org/drawingml/2006/main" noGrp="1"/>
          </p:cNvSpPr>
          <p:nvPr/>
        </p:nvSpPr>
        <p:spPr>
          <a:xfrm xmlns:a="http://schemas.openxmlformats.org/drawingml/2006/main">
            <a:off x="5321808" y="41148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회수된 문서가 prefill을 늘린다</a:t>
            </a:r>
            <a:endParaRPr sz="1350"/>
          </a:p>
        </p:txBody>
      </p:sp>
      <p:sp>
        <p:nvSpPr>
          <p:cNvPr id="23" name="STC-13-data-layer-4">
            <a:extLst xmlns:a="http://schemas.openxmlformats.org/drawingml/2006/main">
              <a:ext uri="{FF2B5EF4-FFF2-40B4-BE49-F238E27FC236}">
                <a16:creationId xmlns:a16="http://schemas.microsoft.com/office/drawing/2014/main" id="{E60963C1-8D59-4CC2-B99B-C4EA44523D22}"/>
              </a:ext>
            </a:extLst>
          </p:cNvPr>
          <p:cNvSpPr>
            <a:spLocks xmlns:a="http://schemas.openxmlformats.org/drawingml/2006/main" noGrp="1"/>
          </p:cNvSpPr>
          <p:nvPr/>
        </p:nvSpPr>
        <p:spPr>
          <a:xfrm xmlns:a="http://schemas.openxmlformats.org/drawingml/2006/main">
            <a:off x="4178808" y="4809744"/>
            <a:ext cx="3840480" cy="566928"/>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24" name="STC-13-data-label-4">
            <a:extLst xmlns:a="http://schemas.openxmlformats.org/drawingml/2006/main">
              <a:ext uri="{FF2B5EF4-FFF2-40B4-BE49-F238E27FC236}">
                <a16:creationId xmlns:a16="http://schemas.microsoft.com/office/drawing/2014/main" id="{94E567B2-40CF-45FA-B9F9-A1B39A99C7FF}"/>
              </a:ext>
            </a:extLst>
          </p:cNvPr>
          <p:cNvSpPr>
            <a:spLocks xmlns:a="http://schemas.openxmlformats.org/drawingml/2006/main" noGrp="1"/>
          </p:cNvSpPr>
          <p:nvPr/>
        </p:nvSpPr>
        <p:spPr>
          <a:xfrm xmlns:a="http://schemas.openxmlformats.org/drawingml/2006/main">
            <a:off x="4343400" y="4974336"/>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단위 문제</a:t>
            </a:r>
            <a:endParaRPr sz="1050"/>
          </a:p>
        </p:txBody>
      </p:sp>
      <p:sp>
        <p:nvSpPr>
          <p:cNvPr id="25" name="STC-13-data-body-4">
            <a:extLst xmlns:a="http://schemas.openxmlformats.org/drawingml/2006/main">
              <a:ext uri="{FF2B5EF4-FFF2-40B4-BE49-F238E27FC236}">
                <a16:creationId xmlns:a16="http://schemas.microsoft.com/office/drawing/2014/main" id="{2C57AF49-F2CA-4C91-AE9F-A85EF45878C8}"/>
              </a:ext>
            </a:extLst>
          </p:cNvPr>
          <p:cNvSpPr>
            <a:spLocks xmlns:a="http://schemas.openxmlformats.org/drawingml/2006/main" noGrp="1"/>
          </p:cNvSpPr>
          <p:nvPr/>
        </p:nvSpPr>
        <p:spPr>
          <a:xfrm xmlns:a="http://schemas.openxmlformats.org/drawingml/2006/main">
            <a:off x="5961888" y="4901184"/>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corpus당 바이트이지 사용자당이 아니다</a:t>
            </a:r>
            <a:endParaRPr sz="1350"/>
          </a:p>
        </p:txBody>
      </p:sp>
      <p:sp>
        <p:nvSpPr>
          <p:cNvPr id="26" name="STC-13-data-warning">
            <a:extLst xmlns:a="http://schemas.openxmlformats.org/drawingml/2006/main">
              <a:ext uri="{FF2B5EF4-FFF2-40B4-BE49-F238E27FC236}">
                <a16:creationId xmlns:a16="http://schemas.microsoft.com/office/drawing/2014/main" id="{FE09EF05-9A9A-4209-946A-2FFD878EDF5A}"/>
              </a:ext>
            </a:extLst>
          </p:cNvPr>
          <p:cNvSpPr>
            <a:spLocks xmlns:a="http://schemas.openxmlformats.org/drawingml/2006/main" noGrp="1"/>
          </p:cNvSpPr>
          <p:nvPr/>
        </p:nvSpPr>
        <p:spPr>
          <a:xfrm xmlns:a="http://schemas.openxmlformats.org/drawingml/2006/main">
            <a:off x="2286000" y="5623560"/>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ans CJK KR"/>
                <a:ea typeface="Noto Sans CJK KR"/>
                <a:cs typeface="Noto Sans CJK KR"/>
              </a:rPr>
              <a:t>문서를 잘라 벡터로 만든다. 추론 없음</a:t>
            </a:r>
            <a:endParaRPr sz="1800"/>
          </a:p>
        </p:txBody>
      </p:sp>
    </p:spTree>
    <p:extLst>
      <p:ext uri="{BB962C8B-B14F-4D97-AF65-F5344CB8AC3E}">
        <p14:creationId xmlns:p14="http://schemas.microsoft.com/office/powerpoint/2010/main" val="877466157"/>
      </p:ext>
    </p:extLst>
  </p:cSld>
</p:sld>
</file>

<file path=ppt/slides/slide2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4-section">
            <a:extLst xmlns:a="http://schemas.openxmlformats.org/drawingml/2006/main">
              <a:ext uri="{FF2B5EF4-FFF2-40B4-BE49-F238E27FC236}">
                <a16:creationId xmlns:a16="http://schemas.microsoft.com/office/drawing/2014/main" id="{A0075D85-B234-44C8-902E-101F0A3CC31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04-slide-id">
            <a:extLst xmlns:a="http://schemas.openxmlformats.org/drawingml/2006/main">
              <a:ext uri="{FF2B5EF4-FFF2-40B4-BE49-F238E27FC236}">
                <a16:creationId xmlns:a16="http://schemas.microsoft.com/office/drawing/2014/main" id="{B14D52AE-8297-468B-A77A-23EAE8342583}"/>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STC-027</a:t>
            </a:r>
            <a:endParaRPr sz="950"/>
          </a:p>
        </p:txBody>
      </p:sp>
      <p:sp>
        <p:nvSpPr>
          <p:cNvPr id="4" name="STC-04-headline">
            <a:extLst xmlns:a="http://schemas.openxmlformats.org/drawingml/2006/main">
              <a:ext uri="{FF2B5EF4-FFF2-40B4-BE49-F238E27FC236}">
                <a16:creationId xmlns:a16="http://schemas.microsoft.com/office/drawing/2014/main" id="{3630F132-02F2-4CE1-9E25-749167C75A9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비용 4종 — 오늘 모든 절차를 이 네 값으로 환산한다</a:t>
            </a:r>
            <a:endParaRPr sz="3000"/>
          </a:p>
        </p:txBody>
      </p:sp>
      <p:sp>
        <p:nvSpPr>
          <p:cNvPr id="5" name="STC-04-status-label">
            <a:extLst xmlns:a="http://schemas.openxmlformats.org/drawingml/2006/main">
              <a:ext uri="{FF2B5EF4-FFF2-40B4-BE49-F238E27FC236}">
                <a16:creationId xmlns:a16="http://schemas.microsoft.com/office/drawing/2014/main" id="{A7ACBE27-EC77-4521-8202-C2F79CB3B4F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정의</a:t>
            </a:r>
            <a:endParaRPr sz="1000"/>
          </a:p>
        </p:txBody>
      </p:sp>
      <p:sp>
        <p:nvSpPr>
          <p:cNvPr id="6" name="STC-04-status-rule">
            <a:extLst xmlns:a="http://schemas.openxmlformats.org/drawingml/2006/main">
              <a:ext uri="{FF2B5EF4-FFF2-40B4-BE49-F238E27FC236}">
                <a16:creationId xmlns:a16="http://schemas.microsoft.com/office/drawing/2014/main" id="{168F3EE0-A99E-4D46-9138-97123A1B2E0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4-footer-rule">
            <a:extLst xmlns:a="http://schemas.openxmlformats.org/drawingml/2006/main">
              <a:ext uri="{FF2B5EF4-FFF2-40B4-BE49-F238E27FC236}">
                <a16:creationId xmlns:a16="http://schemas.microsoft.com/office/drawing/2014/main" id="{283A436D-9734-4A07-90CD-F35CB55E5AB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4-source-footer">
            <a:extLst xmlns:a="http://schemas.openxmlformats.org/drawingml/2006/main">
              <a:ext uri="{FF2B5EF4-FFF2-40B4-BE49-F238E27FC236}">
                <a16:creationId xmlns:a16="http://schemas.microsoft.com/office/drawing/2014/main" id="{883AB35B-5226-4881-AC75-8BEB5E56E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ch01 §01.5 표 1-3</a:t>
            </a:r>
            <a:endParaRPr sz="850"/>
          </a:p>
        </p:txBody>
      </p:sp>
      <p:sp>
        <p:nvSpPr>
          <p:cNvPr id="9" name="STC-04-page-number">
            <a:extLst xmlns:a="http://schemas.openxmlformats.org/drawingml/2006/main">
              <a:ext uri="{FF2B5EF4-FFF2-40B4-BE49-F238E27FC236}">
                <a16:creationId xmlns:a16="http://schemas.microsoft.com/office/drawing/2014/main" id="{EFF36FC2-57B0-4E0D-A22C-A663CD6EDD60}"/>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27</a:t>
            </a:r>
            <a:endParaRPr sz="850"/>
          </a:p>
        </p:txBody>
      </p:sp>
      <p:sp>
        <p:nvSpPr>
          <p:cNvPr id="11" name="STC-04-phase-tag-0">
            <a:extLst xmlns:a="http://schemas.openxmlformats.org/drawingml/2006/main">
              <a:ext uri="{FF2B5EF4-FFF2-40B4-BE49-F238E27FC236}">
                <a16:creationId xmlns:a16="http://schemas.microsoft.com/office/drawing/2014/main" id="{BA1F2F65-E6CA-4586-80AC-30666A36C48F}"/>
              </a:ext>
            </a:extLst>
          </p:cNvPr>
          <p:cNvSpPr>
            <a:spLocks xmlns:a="http://schemas.openxmlformats.org/drawingml/2006/main" noGrp="1"/>
          </p:cNvSpPr>
          <p:nvPr/>
        </p:nvSpPr>
        <p:spPr>
          <a:xfrm xmlns:a="http://schemas.openxmlformats.org/drawingml/2006/main">
            <a:off x="768096"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59616A"/>
                </a:solidFill>
                <a:latin typeface="Noto Sans Mono CJK KR"/>
                <a:ea typeface="Noto Sans Mono CJK KR"/>
                <a:cs typeface="Noto Sans Mono CJK KR"/>
              </a:rPr>
              <a:t>B_s</a:t>
            </a:r>
            <a:endParaRPr sz="1200"/>
          </a:p>
        </p:txBody>
      </p:sp>
      <p:sp>
        <p:nvSpPr>
          <p:cNvPr id="12" name="STC-04-phase-ko-0">
            <a:extLst xmlns:a="http://schemas.openxmlformats.org/drawingml/2006/main">
              <a:ext uri="{FF2B5EF4-FFF2-40B4-BE49-F238E27FC236}">
                <a16:creationId xmlns:a16="http://schemas.microsoft.com/office/drawing/2014/main" id="{71B78324-C8F8-4909-82A4-E5B94A3ECF3B}"/>
              </a:ext>
            </a:extLst>
          </p:cNvPr>
          <p:cNvSpPr>
            <a:spLocks xmlns:a="http://schemas.openxmlformats.org/drawingml/2006/main" noGrp="1"/>
          </p:cNvSpPr>
          <p:nvPr/>
        </p:nvSpPr>
        <p:spPr>
          <a:xfrm xmlns:a="http://schemas.openxmlformats.org/drawingml/2006/main">
            <a:off x="768096"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예산</a:t>
            </a:r>
            <a:endParaRPr sz="2300"/>
          </a:p>
        </p:txBody>
      </p:sp>
      <p:sp>
        <p:nvSpPr>
          <p:cNvPr id="13" name="STC-04-phase-rule-0">
            <a:extLst xmlns:a="http://schemas.openxmlformats.org/drawingml/2006/main">
              <a:ext uri="{FF2B5EF4-FFF2-40B4-BE49-F238E27FC236}">
                <a16:creationId xmlns:a16="http://schemas.microsoft.com/office/drawing/2014/main" id="{7764BB8A-B05F-4718-BC24-4AD789913DE0}"/>
              </a:ext>
            </a:extLst>
          </p:cNvPr>
          <p:cNvSpPr>
            <a:spLocks xmlns:a="http://schemas.openxmlformats.org/drawingml/2006/main" noGrp="1"/>
          </p:cNvSpPr>
          <p:nvPr/>
        </p:nvSpPr>
        <p:spPr>
          <a:xfrm xmlns:a="http://schemas.openxmlformats.org/drawingml/2006/main">
            <a:off x="768096" y="2642616"/>
            <a:ext cx="2011680" cy="0"/>
          </a:xfrm>
          <a:prstGeom xmlns:a="http://schemas.openxmlformats.org/drawingml/2006/main" prst="line">
            <a:avLst/>
          </a:prstGeom>
          <a:noFill xmlns:a="http://schemas.openxmlformats.org/drawingml/2006/main"/>
          <a:ln xmlns:a="http://schemas.openxmlformats.org/drawingml/2006/main" w="50800">
            <a:solidFill>
              <a:srgbClr val="59616A"/>
            </a:solidFill>
            <a:prstDash val="solid"/>
            <a:tailEnd type="none"/>
          </a:ln>
        </p:spPr>
      </p:sp>
      <p:sp>
        <p:nvSpPr>
          <p:cNvPr id="14" name="STC-04-phase-body-0">
            <a:extLst xmlns:a="http://schemas.openxmlformats.org/drawingml/2006/main">
              <a:ext uri="{FF2B5EF4-FFF2-40B4-BE49-F238E27FC236}">
                <a16:creationId xmlns:a16="http://schemas.microsoft.com/office/drawing/2014/main" id="{D3EDF87F-330E-402B-BED1-949CABA05E93}"/>
              </a:ext>
            </a:extLst>
          </p:cNvPr>
          <p:cNvSpPr>
            <a:spLocks xmlns:a="http://schemas.openxmlformats.org/drawingml/2006/main" noGrp="1"/>
          </p:cNvSpPr>
          <p:nvPr/>
        </p:nvSpPr>
        <p:spPr>
          <a:xfrm xmlns:a="http://schemas.openxmlformats.org/drawingml/2006/main">
            <a:off x="768096"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예산 · 유휴 시간 배치</a:t>
            </a:r>
            <a:endParaRPr sz="1800"/>
          </a:p>
          <a:p xmlns:a="http://schemas.openxmlformats.org/drawingml/2006/main">
            <a:pPr marL="0" indent="0">
              <a:buNone/>
            </a:pPr>
            <a:r>
              <a:rPr sz="1800">
                <a:solidFill>
                  <a:srgbClr val="17191C"/>
                </a:solidFill>
                <a:latin typeface="Noto Sans CJK KR"/>
                <a:ea typeface="Noto Sans CJK KR"/>
                <a:cs typeface="Noto Sans CJK KR"/>
              </a:rPr>
              <a:t>job의 비용 (FLOPs·토큰)</a:t>
            </a:r>
            <a:endParaRPr sz="1800"/>
          </a:p>
        </p:txBody>
      </p:sp>
      <p:sp>
        <p:nvSpPr>
          <p:cNvPr id="15" name="STC-04-phase-arrow-0">
            <a:extLst xmlns:a="http://schemas.openxmlformats.org/drawingml/2006/main">
              <a:ext uri="{FF2B5EF4-FFF2-40B4-BE49-F238E27FC236}">
                <a16:creationId xmlns:a16="http://schemas.microsoft.com/office/drawing/2014/main" id="{783D597A-ACCC-4F6B-94A9-392B971E7A96}"/>
              </a:ext>
            </a:extLst>
          </p:cNvPr>
          <p:cNvSpPr>
            <a:spLocks xmlns:a="http://schemas.openxmlformats.org/drawingml/2006/main" noGrp="1"/>
          </p:cNvSpPr>
          <p:nvPr/>
        </p:nvSpPr>
        <p:spPr>
          <a:xfrm xmlns:a="http://schemas.openxmlformats.org/drawingml/2006/main">
            <a:off x="2962656"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16" name="STC-04-phase-tag-1">
            <a:extLst xmlns:a="http://schemas.openxmlformats.org/drawingml/2006/main">
              <a:ext uri="{FF2B5EF4-FFF2-40B4-BE49-F238E27FC236}">
                <a16:creationId xmlns:a16="http://schemas.microsoft.com/office/drawing/2014/main" id="{DF120A6C-83FF-4F70-8A23-21607B85C1A0}"/>
              </a:ext>
            </a:extLst>
          </p:cNvPr>
          <p:cNvSpPr>
            <a:spLocks xmlns:a="http://schemas.openxmlformats.org/drawingml/2006/main" noGrp="1"/>
          </p:cNvSpPr>
          <p:nvPr/>
        </p:nvSpPr>
        <p:spPr>
          <a:xfrm xmlns:a="http://schemas.openxmlformats.org/drawingml/2006/main">
            <a:off x="3593592"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L_w</a:t>
            </a:r>
            <a:endParaRPr sz="1200"/>
          </a:p>
        </p:txBody>
      </p:sp>
      <p:sp>
        <p:nvSpPr>
          <p:cNvPr id="17" name="STC-04-phase-ko-1">
            <a:extLst xmlns:a="http://schemas.openxmlformats.org/drawingml/2006/main">
              <a:ext uri="{FF2B5EF4-FFF2-40B4-BE49-F238E27FC236}">
                <a16:creationId xmlns:a16="http://schemas.microsoft.com/office/drawing/2014/main" id="{EC71ADFB-45C0-4738-8C38-F10FAB21F33F}"/>
              </a:ext>
            </a:extLst>
          </p:cNvPr>
          <p:cNvSpPr>
            <a:spLocks xmlns:a="http://schemas.openxmlformats.org/drawingml/2006/main" noGrp="1"/>
          </p:cNvSpPr>
          <p:nvPr/>
        </p:nvSpPr>
        <p:spPr>
          <a:xfrm xmlns:a="http://schemas.openxmlformats.org/drawingml/2006/main">
            <a:off x="3593592"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지연</a:t>
            </a:r>
            <a:endParaRPr sz="2300"/>
          </a:p>
        </p:txBody>
      </p:sp>
      <p:sp>
        <p:nvSpPr>
          <p:cNvPr id="18" name="STC-04-phase-rule-1">
            <a:extLst xmlns:a="http://schemas.openxmlformats.org/drawingml/2006/main">
              <a:ext uri="{FF2B5EF4-FFF2-40B4-BE49-F238E27FC236}">
                <a16:creationId xmlns:a16="http://schemas.microsoft.com/office/drawing/2014/main" id="{CD51B805-650E-4380-9B3A-E873D1907749}"/>
              </a:ext>
            </a:extLst>
          </p:cNvPr>
          <p:cNvSpPr>
            <a:spLocks xmlns:a="http://schemas.openxmlformats.org/drawingml/2006/main" noGrp="1"/>
          </p:cNvSpPr>
          <p:nvPr/>
        </p:nvSpPr>
        <p:spPr>
          <a:xfrm xmlns:a="http://schemas.openxmlformats.org/drawingml/2006/main">
            <a:off x="3593592" y="2642616"/>
            <a:ext cx="2011680" cy="0"/>
          </a:xfrm>
          <a:prstGeom xmlns:a="http://schemas.openxmlformats.org/drawingml/2006/main" prst="line">
            <a:avLst/>
          </a:prstGeom>
          <a:noFill xmlns:a="http://schemas.openxmlformats.org/drawingml/2006/main"/>
          <a:ln xmlns:a="http://schemas.openxmlformats.org/drawingml/2006/main" w="50800">
            <a:solidFill>
              <a:srgbClr val="244E8A"/>
            </a:solidFill>
            <a:prstDash val="solid"/>
            <a:tailEnd type="none"/>
          </a:ln>
        </p:spPr>
      </p:sp>
      <p:sp>
        <p:nvSpPr>
          <p:cNvPr id="19" name="STC-04-phase-body-1">
            <a:extLst xmlns:a="http://schemas.openxmlformats.org/drawingml/2006/main">
              <a:ext uri="{FF2B5EF4-FFF2-40B4-BE49-F238E27FC236}">
                <a16:creationId xmlns:a16="http://schemas.microsoft.com/office/drawing/2014/main" id="{CA6AC282-8658-4035-A58F-484C6AC4BB0A}"/>
              </a:ext>
            </a:extLst>
          </p:cNvPr>
          <p:cNvSpPr>
            <a:spLocks xmlns:a="http://schemas.openxmlformats.org/drawingml/2006/main" noGrp="1"/>
          </p:cNvSpPr>
          <p:nvPr/>
        </p:nvSpPr>
        <p:spPr>
          <a:xfrm xmlns:a="http://schemas.openxmlformats.org/drawingml/2006/main">
            <a:off x="3593592"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지연 · SLA</a:t>
            </a:r>
            <a:endParaRPr sz="1800"/>
          </a:p>
          <a:p xmlns:a="http://schemas.openxmlformats.org/drawingml/2006/main">
            <a:pPr marL="0" indent="0">
              <a:buNone/>
            </a:pPr>
            <a:r>
              <a:rPr sz="1800">
                <a:solidFill>
                  <a:srgbClr val="17191C"/>
                </a:solidFill>
                <a:latin typeface="Noto Sans CJK KR"/>
                <a:ea typeface="Noto Sans CJK KR"/>
                <a:cs typeface="Noto Sans CJK KR"/>
              </a:rPr>
              <a:t>항목 (ms, TTFT/ITL)</a:t>
            </a:r>
            <a:endParaRPr sz="1800"/>
          </a:p>
        </p:txBody>
      </p:sp>
      <p:sp>
        <p:nvSpPr>
          <p:cNvPr id="20" name="STC-04-phase-arrow-1">
            <a:extLst xmlns:a="http://schemas.openxmlformats.org/drawingml/2006/main">
              <a:ext uri="{FF2B5EF4-FFF2-40B4-BE49-F238E27FC236}">
                <a16:creationId xmlns:a16="http://schemas.microsoft.com/office/drawing/2014/main" id="{78036B2A-3081-4A46-8C23-82C208923D54}"/>
              </a:ext>
            </a:extLst>
          </p:cNvPr>
          <p:cNvSpPr>
            <a:spLocks xmlns:a="http://schemas.openxmlformats.org/drawingml/2006/main" noGrp="1"/>
          </p:cNvSpPr>
          <p:nvPr/>
        </p:nvSpPr>
        <p:spPr>
          <a:xfrm xmlns:a="http://schemas.openxmlformats.org/drawingml/2006/main">
            <a:off x="5788152"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1" name="STC-04-phase-tag-2">
            <a:extLst xmlns:a="http://schemas.openxmlformats.org/drawingml/2006/main">
              <a:ext uri="{FF2B5EF4-FFF2-40B4-BE49-F238E27FC236}">
                <a16:creationId xmlns:a16="http://schemas.microsoft.com/office/drawing/2014/main" id="{14A86847-A229-4A53-8F2A-E51A71B0A175}"/>
              </a:ext>
            </a:extLst>
          </p:cNvPr>
          <p:cNvSpPr>
            <a:spLocks xmlns:a="http://schemas.openxmlformats.org/drawingml/2006/main" noGrp="1"/>
          </p:cNvSpPr>
          <p:nvPr/>
        </p:nvSpPr>
        <p:spPr>
          <a:xfrm xmlns:a="http://schemas.openxmlformats.org/drawingml/2006/main">
            <a:off x="6419088"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C_cap</a:t>
            </a:r>
            <a:endParaRPr sz="1200"/>
          </a:p>
        </p:txBody>
      </p:sp>
      <p:sp>
        <p:nvSpPr>
          <p:cNvPr id="22" name="STC-04-phase-ko-2">
            <a:extLst xmlns:a="http://schemas.openxmlformats.org/drawingml/2006/main">
              <a:ext uri="{FF2B5EF4-FFF2-40B4-BE49-F238E27FC236}">
                <a16:creationId xmlns:a16="http://schemas.microsoft.com/office/drawing/2014/main" id="{582DA535-C347-498A-B2F9-C40BAE20CE4F}"/>
              </a:ext>
            </a:extLst>
          </p:cNvPr>
          <p:cNvSpPr>
            <a:spLocks xmlns:a="http://schemas.openxmlformats.org/drawingml/2006/main" noGrp="1"/>
          </p:cNvSpPr>
          <p:nvPr/>
        </p:nvSpPr>
        <p:spPr>
          <a:xfrm xmlns:a="http://schemas.openxmlformats.org/drawingml/2006/main">
            <a:off x="6419088"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용량</a:t>
            </a:r>
            <a:endParaRPr sz="2300"/>
          </a:p>
        </p:txBody>
      </p:sp>
      <p:sp>
        <p:nvSpPr>
          <p:cNvPr id="23" name="STC-04-phase-rule-2">
            <a:extLst xmlns:a="http://schemas.openxmlformats.org/drawingml/2006/main">
              <a:ext uri="{FF2B5EF4-FFF2-40B4-BE49-F238E27FC236}">
                <a16:creationId xmlns:a16="http://schemas.microsoft.com/office/drawing/2014/main" id="{604E16CE-5100-4FC5-8DB9-7A23B695EE76}"/>
              </a:ext>
            </a:extLst>
          </p:cNvPr>
          <p:cNvSpPr>
            <a:spLocks xmlns:a="http://schemas.openxmlformats.org/drawingml/2006/main" noGrp="1"/>
          </p:cNvSpPr>
          <p:nvPr/>
        </p:nvSpPr>
        <p:spPr>
          <a:xfrm xmlns:a="http://schemas.openxmlformats.org/drawingml/2006/main">
            <a:off x="6419088" y="2642616"/>
            <a:ext cx="2011680" cy="0"/>
          </a:xfrm>
          <a:prstGeom xmlns:a="http://schemas.openxmlformats.org/drawingml/2006/main" prst="line">
            <a:avLst/>
          </a:prstGeom>
          <a:noFill xmlns:a="http://schemas.openxmlformats.org/drawingml/2006/main"/>
          <a:ln xmlns:a="http://schemas.openxmlformats.org/drawingml/2006/main" w="50800">
            <a:solidFill>
              <a:srgbClr val="9A442D"/>
            </a:solidFill>
            <a:prstDash val="solid"/>
            <a:tailEnd type="none"/>
          </a:ln>
        </p:spPr>
      </p:sp>
      <p:sp>
        <p:nvSpPr>
          <p:cNvPr id="24" name="STC-04-phase-body-2">
            <a:extLst xmlns:a="http://schemas.openxmlformats.org/drawingml/2006/main">
              <a:ext uri="{FF2B5EF4-FFF2-40B4-BE49-F238E27FC236}">
                <a16:creationId xmlns:a16="http://schemas.microsoft.com/office/drawing/2014/main" id="{5BF3497A-374B-4090-AF18-46EDBA191D7C}"/>
              </a:ext>
            </a:extLst>
          </p:cNvPr>
          <p:cNvSpPr>
            <a:spLocks xmlns:a="http://schemas.openxmlformats.org/drawingml/2006/main" noGrp="1"/>
          </p:cNvSpPr>
          <p:nvPr/>
        </p:nvSpPr>
        <p:spPr>
          <a:xfrm xmlns:a="http://schemas.openxmlformats.org/drawingml/2006/main">
            <a:off x="6419088"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용량 · 저장</a:t>
            </a:r>
            <a:endParaRPr sz="1800"/>
          </a:p>
          <a:p xmlns:a="http://schemas.openxmlformats.org/drawingml/2006/main">
            <a:pPr marL="0" indent="0">
              <a:buNone/>
            </a:pPr>
            <a:r>
              <a:rPr sz="1800">
                <a:solidFill>
                  <a:srgbClr val="17191C"/>
                </a:solidFill>
                <a:latin typeface="Noto Sans CJK KR"/>
                <a:ea typeface="Noto Sans CJK KR"/>
                <a:cs typeface="Noto Sans CJK KR"/>
              </a:rPr>
              <a:t>sizing (bytes/사용자)</a:t>
            </a:r>
            <a:endParaRPr sz="1800"/>
          </a:p>
        </p:txBody>
      </p:sp>
      <p:sp>
        <p:nvSpPr>
          <p:cNvPr id="25" name="STC-04-phase-arrow-2">
            <a:extLst xmlns:a="http://schemas.openxmlformats.org/drawingml/2006/main">
              <a:ext uri="{FF2B5EF4-FFF2-40B4-BE49-F238E27FC236}">
                <a16:creationId xmlns:a16="http://schemas.microsoft.com/office/drawing/2014/main" id="{4E7BA787-51DD-48C2-90C7-E4BC25DA526D}"/>
              </a:ext>
            </a:extLst>
          </p:cNvPr>
          <p:cNvSpPr>
            <a:spLocks xmlns:a="http://schemas.openxmlformats.org/drawingml/2006/main" noGrp="1"/>
          </p:cNvSpPr>
          <p:nvPr/>
        </p:nvSpPr>
        <p:spPr>
          <a:xfrm xmlns:a="http://schemas.openxmlformats.org/drawingml/2006/main">
            <a:off x="8613648"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04-phase-tag-3">
            <a:extLst xmlns:a="http://schemas.openxmlformats.org/drawingml/2006/main">
              <a:ext uri="{FF2B5EF4-FFF2-40B4-BE49-F238E27FC236}">
                <a16:creationId xmlns:a16="http://schemas.microsoft.com/office/drawing/2014/main" id="{3D317DA2-F326-4299-B8BF-54ACE3EE2AA9}"/>
              </a:ext>
            </a:extLst>
          </p:cNvPr>
          <p:cNvSpPr>
            <a:spLocks xmlns:a="http://schemas.openxmlformats.org/drawingml/2006/main" noGrp="1"/>
          </p:cNvSpPr>
          <p:nvPr/>
        </p:nvSpPr>
        <p:spPr>
          <a:xfrm xmlns:a="http://schemas.openxmlformats.org/drawingml/2006/main">
            <a:off x="9244584"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ρ</a:t>
            </a:r>
            <a:endParaRPr sz="1200"/>
          </a:p>
        </p:txBody>
      </p:sp>
      <p:sp>
        <p:nvSpPr>
          <p:cNvPr id="27" name="STC-04-phase-ko-3">
            <a:extLst xmlns:a="http://schemas.openxmlformats.org/drawingml/2006/main">
              <a:ext uri="{FF2B5EF4-FFF2-40B4-BE49-F238E27FC236}">
                <a16:creationId xmlns:a16="http://schemas.microsoft.com/office/drawing/2014/main" id="{F5446ADD-A14C-416D-B2F4-1A4E119F4329}"/>
              </a:ext>
            </a:extLst>
          </p:cNvPr>
          <p:cNvSpPr>
            <a:spLocks xmlns:a="http://schemas.openxmlformats.org/drawingml/2006/main" noGrp="1"/>
          </p:cNvSpPr>
          <p:nvPr/>
        </p:nvSpPr>
        <p:spPr>
          <a:xfrm xmlns:a="http://schemas.openxmlformats.org/drawingml/2006/main">
            <a:off x="9244584"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열화</a:t>
            </a:r>
            <a:endParaRPr sz="2300"/>
          </a:p>
        </p:txBody>
      </p:sp>
      <p:sp>
        <p:nvSpPr>
          <p:cNvPr id="28" name="STC-04-phase-rule-3">
            <a:extLst xmlns:a="http://schemas.openxmlformats.org/drawingml/2006/main">
              <a:ext uri="{FF2B5EF4-FFF2-40B4-BE49-F238E27FC236}">
                <a16:creationId xmlns:a16="http://schemas.microsoft.com/office/drawing/2014/main" id="{4455D656-930A-404D-BF54-7ED24B2942EA}"/>
              </a:ext>
            </a:extLst>
          </p:cNvPr>
          <p:cNvSpPr>
            <a:spLocks xmlns:a="http://schemas.openxmlformats.org/drawingml/2006/main" noGrp="1"/>
          </p:cNvSpPr>
          <p:nvPr/>
        </p:nvSpPr>
        <p:spPr>
          <a:xfrm xmlns:a="http://schemas.openxmlformats.org/drawingml/2006/main">
            <a:off x="9244584" y="2642616"/>
            <a:ext cx="2011680" cy="0"/>
          </a:xfrm>
          <a:prstGeom xmlns:a="http://schemas.openxmlformats.org/drawingml/2006/main" prst="line">
            <a:avLst/>
          </a:prstGeom>
          <a:noFill xmlns:a="http://schemas.openxmlformats.org/drawingml/2006/main"/>
          <a:ln xmlns:a="http://schemas.openxmlformats.org/drawingml/2006/main" w="50800">
            <a:solidFill>
              <a:srgbClr val="2F6B63"/>
            </a:solidFill>
            <a:prstDash val="solid"/>
            <a:tailEnd type="none"/>
          </a:ln>
        </p:spPr>
      </p:sp>
      <p:sp>
        <p:nvSpPr>
          <p:cNvPr id="29" name="STC-04-phase-body-3">
            <a:extLst xmlns:a="http://schemas.openxmlformats.org/drawingml/2006/main">
              <a:ext uri="{FF2B5EF4-FFF2-40B4-BE49-F238E27FC236}">
                <a16:creationId xmlns:a16="http://schemas.microsoft.com/office/drawing/2014/main" id="{FE89CD84-AEBE-4991-983F-DACD28BF3807}"/>
              </a:ext>
            </a:extLst>
          </p:cNvPr>
          <p:cNvSpPr>
            <a:spLocks xmlns:a="http://schemas.openxmlformats.org/drawingml/2006/main" noGrp="1"/>
          </p:cNvSpPr>
          <p:nvPr/>
        </p:nvSpPr>
        <p:spPr>
          <a:xfrm xmlns:a="http://schemas.openxmlformats.org/drawingml/2006/main">
            <a:off x="9244584"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열화 · 반복 실행의</a:t>
            </a:r>
            <a:endParaRPr sz="1800"/>
          </a:p>
          <a:p xmlns:a="http://schemas.openxmlformats.org/drawingml/2006/main">
            <a:pPr marL="0" indent="0">
              <a:buNone/>
            </a:pPr>
            <a:r>
              <a:rPr sz="1800">
                <a:solidFill>
                  <a:srgbClr val="17191C"/>
                </a:solidFill>
                <a:latin typeface="Noto Sans CJK KR"/>
                <a:ea typeface="Noto Sans CJK KR"/>
                <a:cs typeface="Noto Sans CJK KR"/>
              </a:rPr>
              <a:t>지속가능성 (라운드당)</a:t>
            </a:r>
            <a:endParaRPr sz="1800"/>
          </a:p>
        </p:txBody>
      </p:sp>
      <p:sp>
        <p:nvSpPr>
          <p:cNvPr id="30" name="STC-04-phase-invariant">
            <a:extLst xmlns:a="http://schemas.openxmlformats.org/drawingml/2006/main">
              <a:ext uri="{FF2B5EF4-FFF2-40B4-BE49-F238E27FC236}">
                <a16:creationId xmlns:a16="http://schemas.microsoft.com/office/drawing/2014/main" id="{03288DCF-E840-4104-9A86-10724C88811D}"/>
              </a:ext>
            </a:extLst>
          </p:cNvPr>
          <p:cNvSpPr>
            <a:spLocks xmlns:a="http://schemas.openxmlformats.org/drawingml/2006/main" noGrp="1"/>
          </p:cNvSpPr>
          <p:nvPr/>
        </p:nvSpPr>
        <p:spPr>
          <a:xfrm xmlns:a="http://schemas.openxmlformats.org/drawingml/2006/main">
            <a:off x="1188720" y="4736592"/>
            <a:ext cx="9811512" cy="6035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31" name="STC-04-phase-invariant-text">
            <a:extLst xmlns:a="http://schemas.openxmlformats.org/drawingml/2006/main">
              <a:ext uri="{FF2B5EF4-FFF2-40B4-BE49-F238E27FC236}">
                <a16:creationId xmlns:a16="http://schemas.microsoft.com/office/drawing/2014/main" id="{F965FB3E-3D1D-4CF8-8579-F6405F044BA3}"/>
              </a:ext>
            </a:extLst>
          </p:cNvPr>
          <p:cNvSpPr>
            <a:spLocks xmlns:a="http://schemas.openxmlformats.org/drawingml/2006/main" noGrp="1"/>
          </p:cNvSpPr>
          <p:nvPr/>
        </p:nvSpPr>
        <p:spPr>
          <a:xfrm xmlns:a="http://schemas.openxmlformats.org/drawingml/2006/main">
            <a:off x="1435608" y="4919472"/>
            <a:ext cx="93268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값이 논문에 없으면 '논문에 없음'이라고 쓴다. 추정치를 본문 수치로 올리지 않는다</a:t>
            </a:r>
            <a:endParaRPr sz="1700"/>
          </a:p>
        </p:txBody>
      </p:sp>
    </p:spTree>
    <p:extLst>
      <p:ext uri="{BB962C8B-B14F-4D97-AF65-F5344CB8AC3E}">
        <p14:creationId xmlns:p14="http://schemas.microsoft.com/office/powerpoint/2010/main" val="37494492"/>
      </p:ext>
    </p:extLst>
  </p:cSld>
</p:sld>
</file>

<file path=ppt/slides/slide2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6-section">
            <a:extLst xmlns:a="http://schemas.openxmlformats.org/drawingml/2006/main">
              <a:ext uri="{FF2B5EF4-FFF2-40B4-BE49-F238E27FC236}">
                <a16:creationId xmlns:a16="http://schemas.microsoft.com/office/drawing/2014/main" id="{1EAEABEC-DD0D-4D7C-AA45-BE33B2388F81}"/>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16-slide-id">
            <a:extLst xmlns:a="http://schemas.openxmlformats.org/drawingml/2006/main">
              <a:ext uri="{FF2B5EF4-FFF2-40B4-BE49-F238E27FC236}">
                <a16:creationId xmlns:a16="http://schemas.microsoft.com/office/drawing/2014/main" id="{148035CD-3605-4EDB-8925-9EAAD53CDD1E}"/>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STC-028</a:t>
            </a:r>
            <a:endParaRPr sz="950"/>
          </a:p>
        </p:txBody>
      </p:sp>
      <p:sp>
        <p:nvSpPr>
          <p:cNvPr id="4" name="STC-16-headline">
            <a:extLst xmlns:a="http://schemas.openxmlformats.org/drawingml/2006/main">
              <a:ext uri="{FF2B5EF4-FFF2-40B4-BE49-F238E27FC236}">
                <a16:creationId xmlns:a16="http://schemas.microsoft.com/office/drawing/2014/main" id="{31F39839-5A4F-4AB6-A314-6FCD6EBB293B}"/>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상각식 (A) — 오늘 가장 자주 나올 도구</a:t>
            </a:r>
            <a:endParaRPr sz="3000"/>
          </a:p>
        </p:txBody>
      </p:sp>
      <p:sp>
        <p:nvSpPr>
          <p:cNvPr id="5" name="STC-16-status-label">
            <a:extLst xmlns:a="http://schemas.openxmlformats.org/drawingml/2006/main">
              <a:ext uri="{FF2B5EF4-FFF2-40B4-BE49-F238E27FC236}">
                <a16:creationId xmlns:a16="http://schemas.microsoft.com/office/drawing/2014/main" id="{85F97C6D-2152-4166-9EF2-FB1A30075CA5}"/>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식 (A)</a:t>
            </a:r>
            <a:endParaRPr sz="1000"/>
          </a:p>
        </p:txBody>
      </p:sp>
      <p:sp>
        <p:nvSpPr>
          <p:cNvPr id="6" name="STC-16-status-rule">
            <a:extLst xmlns:a="http://schemas.openxmlformats.org/drawingml/2006/main">
              <a:ext uri="{FF2B5EF4-FFF2-40B4-BE49-F238E27FC236}">
                <a16:creationId xmlns:a16="http://schemas.microsoft.com/office/drawing/2014/main" id="{92B0A0F6-E926-46D4-AABF-CD6F912C19B5}"/>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6-footer-rule">
            <a:extLst xmlns:a="http://schemas.openxmlformats.org/drawingml/2006/main">
              <a:ext uri="{FF2B5EF4-FFF2-40B4-BE49-F238E27FC236}">
                <a16:creationId xmlns:a16="http://schemas.microsoft.com/office/drawing/2014/main" id="{78479DB6-1C83-41B6-931F-D82AA487E2AF}"/>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6-source-footer">
            <a:extLst xmlns:a="http://schemas.openxmlformats.org/drawingml/2006/main">
              <a:ext uri="{FF2B5EF4-FFF2-40B4-BE49-F238E27FC236}">
                <a16:creationId xmlns:a16="http://schemas.microsoft.com/office/drawing/2014/main" id="{CCF7D512-F8C3-424D-AAC0-0F61432BB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ch01 §01.5 식 (A)</a:t>
            </a:r>
            <a:endParaRPr sz="850"/>
          </a:p>
        </p:txBody>
      </p:sp>
      <p:sp>
        <p:nvSpPr>
          <p:cNvPr id="9" name="STC-16-page-number">
            <a:extLst xmlns:a="http://schemas.openxmlformats.org/drawingml/2006/main">
              <a:ext uri="{FF2B5EF4-FFF2-40B4-BE49-F238E27FC236}">
                <a16:creationId xmlns:a16="http://schemas.microsoft.com/office/drawing/2014/main" id="{CB3F831C-0E59-4B32-AF78-33BF4F5C4D2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28</a:t>
            </a:r>
            <a:endParaRPr sz="850"/>
          </a:p>
        </p:txBody>
      </p:sp>
      <p:sp>
        <p:nvSpPr>
          <p:cNvPr id="11" name="STC-16-nfr-stage-0">
            <a:extLst xmlns:a="http://schemas.openxmlformats.org/drawingml/2006/main">
              <a:ext uri="{FF2B5EF4-FFF2-40B4-BE49-F238E27FC236}">
                <a16:creationId xmlns:a16="http://schemas.microsoft.com/office/drawing/2014/main" id="{BD7BCBEA-7D7C-45F9-940D-B9D49D82B0A9}"/>
              </a:ext>
            </a:extLst>
          </p:cNvPr>
          <p:cNvSpPr>
            <a:spLocks xmlns:a="http://schemas.openxmlformats.org/drawingml/2006/main" noGrp="1"/>
          </p:cNvSpPr>
          <p:nvPr/>
        </p:nvSpPr>
        <p:spPr>
          <a:xfrm xmlns:a="http://schemas.openxmlformats.org/drawingml/2006/main">
            <a:off x="868680" y="2240280"/>
            <a:ext cx="1874520" cy="713232"/>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2" name="STC-16-nfr-label-0">
            <a:extLst xmlns:a="http://schemas.openxmlformats.org/drawingml/2006/main">
              <a:ext uri="{FF2B5EF4-FFF2-40B4-BE49-F238E27FC236}">
                <a16:creationId xmlns:a16="http://schemas.microsoft.com/office/drawing/2014/main" id="{C63A95E6-8E06-4CF9-97A4-DA00A0F19370}"/>
              </a:ext>
            </a:extLst>
          </p:cNvPr>
          <p:cNvSpPr>
            <a:spLocks xmlns:a="http://schemas.openxmlformats.org/drawingml/2006/main" noGrp="1"/>
          </p:cNvSpPr>
          <p:nvPr/>
        </p:nvSpPr>
        <p:spPr>
          <a:xfrm xmlns:a="http://schemas.openxmlformats.org/drawingml/2006/main">
            <a:off x="9784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44E8A"/>
                </a:solidFill>
                <a:latin typeface="Noto Sans Mono CJK KR"/>
                <a:ea typeface="Noto Sans Mono CJK KR"/>
                <a:cs typeface="Noto Sans Mono CJK KR"/>
              </a:rPr>
              <a:t>C_wake</a:t>
            </a:r>
            <a:endParaRPr sz="1200"/>
          </a:p>
        </p:txBody>
      </p:sp>
      <p:sp>
        <p:nvSpPr>
          <p:cNvPr id="13" name="STC-16-nfr-arrow-0">
            <a:extLst xmlns:a="http://schemas.openxmlformats.org/drawingml/2006/main">
              <a:ext uri="{FF2B5EF4-FFF2-40B4-BE49-F238E27FC236}">
                <a16:creationId xmlns:a16="http://schemas.microsoft.com/office/drawing/2014/main" id="{93F6E238-5933-4840-8DE8-81F14BF46719}"/>
              </a:ext>
            </a:extLst>
          </p:cNvPr>
          <p:cNvSpPr>
            <a:spLocks xmlns:a="http://schemas.openxmlformats.org/drawingml/2006/main" noGrp="1"/>
          </p:cNvSpPr>
          <p:nvPr/>
        </p:nvSpPr>
        <p:spPr>
          <a:xfrm xmlns:a="http://schemas.openxmlformats.org/drawingml/2006/main">
            <a:off x="28437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4" name="STC-16-nfr-stage-1">
            <a:extLst xmlns:a="http://schemas.openxmlformats.org/drawingml/2006/main">
              <a:ext uri="{FF2B5EF4-FFF2-40B4-BE49-F238E27FC236}">
                <a16:creationId xmlns:a16="http://schemas.microsoft.com/office/drawing/2014/main" id="{6E375C46-F347-452D-B530-0C46A84896AE}"/>
              </a:ext>
            </a:extLst>
          </p:cNvPr>
          <p:cNvSpPr>
            <a:spLocks xmlns:a="http://schemas.openxmlformats.org/drawingml/2006/main" noGrp="1"/>
          </p:cNvSpPr>
          <p:nvPr/>
        </p:nvSpPr>
        <p:spPr>
          <a:xfrm xmlns:a="http://schemas.openxmlformats.org/drawingml/2006/main">
            <a:off x="2926080" y="2240280"/>
            <a:ext cx="1874520" cy="713232"/>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6-nfr-label-1">
            <a:extLst xmlns:a="http://schemas.openxmlformats.org/drawingml/2006/main">
              <a:ext uri="{FF2B5EF4-FFF2-40B4-BE49-F238E27FC236}">
                <a16:creationId xmlns:a16="http://schemas.microsoft.com/office/drawing/2014/main" id="{EE98E794-C92B-4BCD-9AA0-C007E2C3A901}"/>
              </a:ext>
            </a:extLst>
          </p:cNvPr>
          <p:cNvSpPr>
            <a:spLocks xmlns:a="http://schemas.openxmlformats.org/drawingml/2006/main" noGrp="1"/>
          </p:cNvSpPr>
          <p:nvPr/>
        </p:nvSpPr>
        <p:spPr>
          <a:xfrm xmlns:a="http://schemas.openxmlformats.org/drawingml/2006/main">
            <a:off x="30358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F6B63"/>
                </a:solidFill>
                <a:latin typeface="Noto Sans Mono CJK KR"/>
                <a:ea typeface="Noto Sans Mono CJK KR"/>
                <a:cs typeface="Noto Sans Mono CJK KR"/>
              </a:rPr>
              <a:t>C_sleep</a:t>
            </a:r>
            <a:endParaRPr sz="1200"/>
          </a:p>
        </p:txBody>
      </p:sp>
      <p:sp>
        <p:nvSpPr>
          <p:cNvPr id="16" name="STC-16-nfr-arrow-1">
            <a:extLst xmlns:a="http://schemas.openxmlformats.org/drawingml/2006/main">
              <a:ext uri="{FF2B5EF4-FFF2-40B4-BE49-F238E27FC236}">
                <a16:creationId xmlns:a16="http://schemas.microsoft.com/office/drawing/2014/main" id="{9C699781-3533-4C0E-A37B-9441C305C79A}"/>
              </a:ext>
            </a:extLst>
          </p:cNvPr>
          <p:cNvSpPr>
            <a:spLocks xmlns:a="http://schemas.openxmlformats.org/drawingml/2006/main" noGrp="1"/>
          </p:cNvSpPr>
          <p:nvPr/>
        </p:nvSpPr>
        <p:spPr>
          <a:xfrm xmlns:a="http://schemas.openxmlformats.org/drawingml/2006/main">
            <a:off x="49011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7" name="STC-16-nfr-stage-2">
            <a:extLst xmlns:a="http://schemas.openxmlformats.org/drawingml/2006/main">
              <a:ext uri="{FF2B5EF4-FFF2-40B4-BE49-F238E27FC236}">
                <a16:creationId xmlns:a16="http://schemas.microsoft.com/office/drawing/2014/main" id="{F770F86E-4C00-4545-A7D5-B4D15AB17334}"/>
              </a:ext>
            </a:extLst>
          </p:cNvPr>
          <p:cNvSpPr>
            <a:spLocks xmlns:a="http://schemas.openxmlformats.org/drawingml/2006/main" noGrp="1"/>
          </p:cNvSpPr>
          <p:nvPr/>
        </p:nvSpPr>
        <p:spPr>
          <a:xfrm xmlns:a="http://schemas.openxmlformats.org/drawingml/2006/main">
            <a:off x="5532120" y="2240280"/>
            <a:ext cx="1874520" cy="713232"/>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8" name="STC-16-nfr-label-2">
            <a:extLst xmlns:a="http://schemas.openxmlformats.org/drawingml/2006/main">
              <a:ext uri="{FF2B5EF4-FFF2-40B4-BE49-F238E27FC236}">
                <a16:creationId xmlns:a16="http://schemas.microsoft.com/office/drawing/2014/main" id="{0CA58183-872F-423D-A5A2-DC11CA73C438}"/>
              </a:ext>
            </a:extLst>
          </p:cNvPr>
          <p:cNvSpPr>
            <a:spLocks xmlns:a="http://schemas.openxmlformats.org/drawingml/2006/main" noGrp="1"/>
          </p:cNvSpPr>
          <p:nvPr/>
        </p:nvSpPr>
        <p:spPr>
          <a:xfrm xmlns:a="http://schemas.openxmlformats.org/drawingml/2006/main">
            <a:off x="564184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9A442D"/>
                </a:solidFill>
                <a:latin typeface="Noto Sans Mono CJK KR"/>
                <a:ea typeface="Noto Sans Mono CJK KR"/>
                <a:cs typeface="Noto Sans Mono CJK KR"/>
              </a:rPr>
              <a:t>N_q 분모</a:t>
            </a:r>
            <a:endParaRPr sz="1200"/>
          </a:p>
        </p:txBody>
      </p:sp>
      <p:sp>
        <p:nvSpPr>
          <p:cNvPr id="19" name="STC-16-nfr-arrow-2">
            <a:extLst xmlns:a="http://schemas.openxmlformats.org/drawingml/2006/main">
              <a:ext uri="{FF2B5EF4-FFF2-40B4-BE49-F238E27FC236}">
                <a16:creationId xmlns:a16="http://schemas.microsoft.com/office/drawing/2014/main" id="{05297B78-DEE0-4182-9A5E-3E5A7CD7F4DA}"/>
              </a:ext>
            </a:extLst>
          </p:cNvPr>
          <p:cNvSpPr>
            <a:spLocks xmlns:a="http://schemas.openxmlformats.org/drawingml/2006/main" noGrp="1"/>
          </p:cNvSpPr>
          <p:nvPr/>
        </p:nvSpPr>
        <p:spPr>
          <a:xfrm xmlns:a="http://schemas.openxmlformats.org/drawingml/2006/main">
            <a:off x="750722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20" name="STC-16-nfr-stage-3">
            <a:extLst xmlns:a="http://schemas.openxmlformats.org/drawingml/2006/main">
              <a:ext uri="{FF2B5EF4-FFF2-40B4-BE49-F238E27FC236}">
                <a16:creationId xmlns:a16="http://schemas.microsoft.com/office/drawing/2014/main" id="{39A20466-7E4D-40E4-A7D7-42F469ECC895}"/>
              </a:ext>
            </a:extLst>
          </p:cNvPr>
          <p:cNvSpPr>
            <a:spLocks xmlns:a="http://schemas.openxmlformats.org/drawingml/2006/main" noGrp="1"/>
          </p:cNvSpPr>
          <p:nvPr/>
        </p:nvSpPr>
        <p:spPr>
          <a:xfrm xmlns:a="http://schemas.openxmlformats.org/drawingml/2006/main">
            <a:off x="8366760" y="2240280"/>
            <a:ext cx="1874520" cy="71323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16-nfr-label-3">
            <a:extLst xmlns:a="http://schemas.openxmlformats.org/drawingml/2006/main">
              <a:ext uri="{FF2B5EF4-FFF2-40B4-BE49-F238E27FC236}">
                <a16:creationId xmlns:a16="http://schemas.microsoft.com/office/drawing/2014/main" id="{C3585ECC-6437-4548-BCD2-77F576045CDC}"/>
              </a:ext>
            </a:extLst>
          </p:cNvPr>
          <p:cNvSpPr>
            <a:spLocks xmlns:a="http://schemas.openxmlformats.org/drawingml/2006/main" noGrp="1"/>
          </p:cNvSpPr>
          <p:nvPr/>
        </p:nvSpPr>
        <p:spPr>
          <a:xfrm xmlns:a="http://schemas.openxmlformats.org/drawingml/2006/main">
            <a:off x="847648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Noto Sans Mono CJK KR"/>
                <a:ea typeface="Noto Sans Mono CJK KR"/>
                <a:cs typeface="Noto Sans Mono CJK KR"/>
              </a:rPr>
              <a:t>손익분기</a:t>
            </a:r>
            <a:endParaRPr sz="1200"/>
          </a:p>
        </p:txBody>
      </p:sp>
      <p:sp>
        <p:nvSpPr>
          <p:cNvPr id="22" name="STC-16-nfr-equation">
            <a:extLst xmlns:a="http://schemas.openxmlformats.org/drawingml/2006/main">
              <a:ext uri="{FF2B5EF4-FFF2-40B4-BE49-F238E27FC236}">
                <a16:creationId xmlns:a16="http://schemas.microsoft.com/office/drawing/2014/main" id="{BE0CB8F9-6DA2-4314-B150-9934237AD497}"/>
              </a:ext>
            </a:extLst>
          </p:cNvPr>
          <p:cNvSpPr>
            <a:spLocks xmlns:a="http://schemas.openxmlformats.org/drawingml/2006/main" noGrp="1"/>
          </p:cNvSpPr>
          <p:nvPr/>
        </p:nvSpPr>
        <p:spPr>
          <a:xfrm xmlns:a="http://schemas.openxmlformats.org/drawingml/2006/main">
            <a:off x="2898648" y="3310128"/>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C=Cw+Cs/Nq</a:t>
            </a:r>
            <a:endParaRPr sz="2300"/>
          </a:p>
        </p:txBody>
      </p:sp>
      <p:sp>
        <p:nvSpPr>
          <p:cNvPr id="23" name="STC-16-nfr-result">
            <a:extLst xmlns:a="http://schemas.openxmlformats.org/drawingml/2006/main">
              <a:ext uri="{FF2B5EF4-FFF2-40B4-BE49-F238E27FC236}">
                <a16:creationId xmlns:a16="http://schemas.microsoft.com/office/drawing/2014/main" id="{C4A2FE2B-A37D-47CC-9BE0-490EB409D23D}"/>
              </a:ext>
            </a:extLst>
          </p:cNvPr>
          <p:cNvSpPr>
            <a:spLocks xmlns:a="http://schemas.openxmlformats.org/drawingml/2006/main" noGrp="1"/>
          </p:cNvSpPr>
          <p:nvPr/>
        </p:nvSpPr>
        <p:spPr>
          <a:xfrm xmlns:a="http://schemas.openxmlformats.org/drawingml/2006/main">
            <a:off x="5669280" y="3310128"/>
            <a:ext cx="22402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매 질의</a:t>
            </a:r>
            <a:endParaRPr sz="2300"/>
          </a:p>
        </p:txBody>
      </p:sp>
      <p:sp>
        <p:nvSpPr>
          <p:cNvPr id="24" name="STC-16-nfr-result-arrow">
            <a:extLst xmlns:a="http://schemas.openxmlformats.org/drawingml/2006/main">
              <a:ext uri="{FF2B5EF4-FFF2-40B4-BE49-F238E27FC236}">
                <a16:creationId xmlns:a16="http://schemas.microsoft.com/office/drawing/2014/main" id="{1E4EFA29-21C2-4F8C-B607-F96D778A8A44}"/>
              </a:ext>
            </a:extLst>
          </p:cNvPr>
          <p:cNvSpPr>
            <a:spLocks xmlns:a="http://schemas.openxmlformats.org/drawingml/2006/main" noGrp="1"/>
          </p:cNvSpPr>
          <p:nvPr/>
        </p:nvSpPr>
        <p:spPr>
          <a:xfrm xmlns:a="http://schemas.openxmlformats.org/drawingml/2006/main">
            <a:off x="4937760" y="3493008"/>
            <a:ext cx="658368" cy="0"/>
          </a:xfrm>
          <a:prstGeom xmlns:a="http://schemas.openxmlformats.org/drawingml/2006/main" prst="line">
            <a:avLst/>
          </a:prstGeom>
          <a:noFill xmlns:a="http://schemas.openxmlformats.org/drawingml/2006/main"/>
          <a:ln xmlns:a="http://schemas.openxmlformats.org/drawingml/2006/main" w="19050">
            <a:solidFill>
              <a:srgbClr val="9A442D"/>
            </a:solidFill>
            <a:prstDash val="solid"/>
            <a:tailEnd type="triangle"/>
          </a:ln>
        </p:spPr>
      </p:sp>
      <p:sp>
        <p:nvSpPr>
          <p:cNvPr id="25" name="STC-16-nfr-carriers">
            <a:extLst xmlns:a="http://schemas.openxmlformats.org/drawingml/2006/main">
              <a:ext uri="{FF2B5EF4-FFF2-40B4-BE49-F238E27FC236}">
                <a16:creationId xmlns:a16="http://schemas.microsoft.com/office/drawing/2014/main" id="{2D5BB60A-9D8E-40F6-B3BC-8D23ECC75064}"/>
              </a:ext>
            </a:extLst>
          </p:cNvPr>
          <p:cNvSpPr>
            <a:spLocks xmlns:a="http://schemas.openxmlformats.org/drawingml/2006/main" noGrp="1"/>
          </p:cNvSpPr>
          <p:nvPr/>
        </p:nvSpPr>
        <p:spPr>
          <a:xfrm xmlns:a="http://schemas.openxmlformats.org/drawingml/2006/main">
            <a:off x="1143000" y="4261104"/>
            <a:ext cx="9838944" cy="10607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26" name="STC-16-nfr-carriers-label">
            <a:extLst xmlns:a="http://schemas.openxmlformats.org/drawingml/2006/main">
              <a:ext uri="{FF2B5EF4-FFF2-40B4-BE49-F238E27FC236}">
                <a16:creationId xmlns:a16="http://schemas.microsoft.com/office/drawing/2014/main" id="{5C382C2E-7982-40CC-9D71-4AFD2B2B295F}"/>
              </a:ext>
            </a:extLst>
          </p:cNvPr>
          <p:cNvSpPr>
            <a:spLocks xmlns:a="http://schemas.openxmlformats.org/drawingml/2006/main" noGrp="1"/>
          </p:cNvSpPr>
          <p:nvPr/>
        </p:nvSpPr>
        <p:spPr>
          <a:xfrm xmlns:a="http://schemas.openxmlformats.org/drawingml/2006/main">
            <a:off x="1389888" y="4526280"/>
            <a:ext cx="1234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2F6B63"/>
                </a:solidFill>
                <a:latin typeface="Noto Sans CJK KR"/>
                <a:ea typeface="Noto Sans CJK KR"/>
                <a:cs typeface="Noto Sans CJK KR"/>
              </a:rPr>
              <a:t>C_wake</a:t>
            </a:r>
            <a:endParaRPr sz="1700"/>
          </a:p>
        </p:txBody>
      </p:sp>
      <p:sp>
        <p:nvSpPr>
          <p:cNvPr id="27" name="STC-16-nfr-carriers-text">
            <a:extLst xmlns:a="http://schemas.openxmlformats.org/drawingml/2006/main">
              <a:ext uri="{FF2B5EF4-FFF2-40B4-BE49-F238E27FC236}">
                <a16:creationId xmlns:a16="http://schemas.microsoft.com/office/drawing/2014/main" id="{5AA006B0-54B0-4040-95FB-9C38FC9F5627}"/>
              </a:ext>
            </a:extLst>
          </p:cNvPr>
          <p:cNvSpPr>
            <a:spLocks xmlns:a="http://schemas.openxmlformats.org/drawingml/2006/main" noGrp="1"/>
          </p:cNvSpPr>
          <p:nvPr/>
        </p:nvSpPr>
        <p:spPr>
          <a:xfrm xmlns:a="http://schemas.openxmlformats.org/drawingml/2006/main">
            <a:off x="2788920" y="4434840"/>
            <a:ext cx="7818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50" b="1">
                <a:solidFill>
                  <a:srgbClr val="17191C"/>
                </a:solidFill>
                <a:latin typeface="Noto Sans CJK KR"/>
                <a:ea typeface="Noto Sans CJK KR"/>
                <a:cs typeface="Noto Sans CJK KR"/>
              </a:rPr>
              <a:t>식 (A)는 N_q를 안다고 가정한다. 실서빙 N_q 분포를 보고한 논문은 corpus에 0편이다</a:t>
            </a:r>
            <a:endParaRPr sz="1750"/>
          </a:p>
        </p:txBody>
      </p:sp>
      <p:sp>
        <p:nvSpPr>
          <p:cNvPr id="28" name="STC-16-nfr-carriers-note">
            <a:extLst xmlns:a="http://schemas.openxmlformats.org/drawingml/2006/main">
              <a:ext uri="{FF2B5EF4-FFF2-40B4-BE49-F238E27FC236}">
                <a16:creationId xmlns:a16="http://schemas.microsoft.com/office/drawing/2014/main" id="{61EA9E4F-60C4-4072-BF50-77434A086591}"/>
              </a:ext>
            </a:extLst>
          </p:cNvPr>
          <p:cNvSpPr>
            <a:spLocks xmlns:a="http://schemas.openxmlformats.org/drawingml/2006/main" noGrp="1"/>
          </p:cNvSpPr>
          <p:nvPr/>
        </p:nvSpPr>
        <p:spPr>
          <a:xfrm xmlns:a="http://schemas.openxmlformats.org/drawingml/2006/main">
            <a:off x="2788920" y="4974336"/>
            <a:ext cx="781812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a:solidFill>
                  <a:srgbClr val="59616A"/>
                </a:solidFill>
                <a:latin typeface="Noto Sans CJK KR"/>
                <a:ea typeface="Noto Sans CJK KR"/>
                <a:cs typeface="Noto Sans CJK KR"/>
              </a:rPr>
              <a:t>N_q 분포를 보고한 논문이 corpus에 0편이다</a:t>
            </a:r>
            <a:endParaRPr sz="1400"/>
          </a:p>
        </p:txBody>
      </p:sp>
    </p:spTree>
    <p:extLst>
      <p:ext uri="{BB962C8B-B14F-4D97-AF65-F5344CB8AC3E}">
        <p14:creationId xmlns:p14="http://schemas.microsoft.com/office/powerpoint/2010/main" val="13243900"/>
      </p:ext>
    </p:extLst>
  </p:cSld>
</p:sld>
</file>

<file path=ppt/slides/slide2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8-section">
            <a:extLst xmlns:a="http://schemas.openxmlformats.org/drawingml/2006/main">
              <a:ext uri="{FF2B5EF4-FFF2-40B4-BE49-F238E27FC236}">
                <a16:creationId xmlns:a16="http://schemas.microsoft.com/office/drawing/2014/main" id="{7B2F2BEC-3602-48B7-8AE5-82606691E202}"/>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18-slide-id">
            <a:extLst xmlns:a="http://schemas.openxmlformats.org/drawingml/2006/main">
              <a:ext uri="{FF2B5EF4-FFF2-40B4-BE49-F238E27FC236}">
                <a16:creationId xmlns:a16="http://schemas.microsoft.com/office/drawing/2014/main" id="{9AE62136-189D-4710-BD84-EAC5632E1659}"/>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STC-029</a:t>
            </a:r>
            <a:endParaRPr sz="950"/>
          </a:p>
        </p:txBody>
      </p:sp>
      <p:sp>
        <p:nvSpPr>
          <p:cNvPr id="4" name="STC-18-headline">
            <a:extLst xmlns:a="http://schemas.openxmlformats.org/drawingml/2006/main">
              <a:ext uri="{FF2B5EF4-FFF2-40B4-BE49-F238E27FC236}">
                <a16:creationId xmlns:a16="http://schemas.microsoft.com/office/drawing/2014/main" id="{D266D2F1-778B-4F2E-AC6F-D10EF836FA1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손으로 한 번 굴려 본다 — 손익분기 3.64</a:t>
            </a:r>
            <a:endParaRPr sz="3000"/>
          </a:p>
        </p:txBody>
      </p:sp>
      <p:sp>
        <p:nvSpPr>
          <p:cNvPr id="5" name="STC-18-status-label">
            <a:extLst xmlns:a="http://schemas.openxmlformats.org/drawingml/2006/main">
              <a:ext uri="{FF2B5EF4-FFF2-40B4-BE49-F238E27FC236}">
                <a16:creationId xmlns:a16="http://schemas.microsoft.com/office/drawing/2014/main" id="{79C701E9-D174-4EFD-A18F-4DC89E642FD4}"/>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9A442D"/>
                </a:solidFill>
                <a:latin typeface="Noto Sans Mono CJK KR"/>
                <a:ea typeface="Noto Sans Mono CJK KR"/>
                <a:cs typeface="Noto Sans Mono CJK KR"/>
              </a:rPr>
              <a:t>예시(본서 산술)</a:t>
            </a:r>
            <a:endParaRPr sz="1000"/>
          </a:p>
        </p:txBody>
      </p:sp>
      <p:sp>
        <p:nvSpPr>
          <p:cNvPr id="6" name="STC-18-status-rule">
            <a:extLst xmlns:a="http://schemas.openxmlformats.org/drawingml/2006/main">
              <a:ext uri="{FF2B5EF4-FFF2-40B4-BE49-F238E27FC236}">
                <a16:creationId xmlns:a16="http://schemas.microsoft.com/office/drawing/2014/main" id="{529715C2-F602-473A-947A-5FCB9DCC7AF8}"/>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9A442D"/>
            </a:solidFill>
            <a:prstDash val="solid"/>
            <a:tailEnd type="none"/>
          </a:ln>
        </p:spPr>
      </p:sp>
      <p:sp>
        <p:nvSpPr>
          <p:cNvPr id="7" name="STC-18-footer-rule">
            <a:extLst xmlns:a="http://schemas.openxmlformats.org/drawingml/2006/main">
              <a:ext uri="{FF2B5EF4-FFF2-40B4-BE49-F238E27FC236}">
                <a16:creationId xmlns:a16="http://schemas.microsoft.com/office/drawing/2014/main" id="{403A9EAC-FF66-416C-A329-C6EC95571F21}"/>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8-source-footer">
            <a:extLst xmlns:a="http://schemas.openxmlformats.org/drawingml/2006/main">
              <a:ext uri="{FF2B5EF4-FFF2-40B4-BE49-F238E27FC236}">
                <a16:creationId xmlns:a16="http://schemas.microsoft.com/office/drawing/2014/main" id="{4E420FB2-E8CE-4EDD-9FDC-7CA418F767F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ch01 Worked micro-example [본서 산술]</a:t>
            </a:r>
            <a:endParaRPr sz="850"/>
          </a:p>
        </p:txBody>
      </p:sp>
      <p:sp>
        <p:nvSpPr>
          <p:cNvPr id="9" name="STC-18-page-number">
            <a:extLst xmlns:a="http://schemas.openxmlformats.org/drawingml/2006/main">
              <a:ext uri="{FF2B5EF4-FFF2-40B4-BE49-F238E27FC236}">
                <a16:creationId xmlns:a16="http://schemas.microsoft.com/office/drawing/2014/main" id="{4FE270B3-F1A6-4BCA-B282-FDF212DC78F7}"/>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29</a:t>
            </a:r>
            <a:endParaRPr sz="850"/>
          </a:p>
        </p:txBody>
      </p:sp>
      <p:sp>
        <p:nvSpPr>
          <p:cNvPr id="11" name="STC-18-knee-axis-x">
            <a:extLst xmlns:a="http://schemas.openxmlformats.org/drawingml/2006/main">
              <a:ext uri="{FF2B5EF4-FFF2-40B4-BE49-F238E27FC236}">
                <a16:creationId xmlns:a16="http://schemas.microsoft.com/office/drawing/2014/main" id="{C81452CC-D40C-4DD0-AE1A-B0381E5804B5}"/>
              </a:ext>
            </a:extLst>
          </p:cNvPr>
          <p:cNvSpPr>
            <a:spLocks xmlns:a="http://schemas.openxmlformats.org/drawingml/2006/main" noGrp="1"/>
          </p:cNvSpPr>
          <p:nvPr/>
        </p:nvSpPr>
        <p:spPr>
          <a:xfrm xmlns:a="http://schemas.openxmlformats.org/drawingml/2006/main">
            <a:off x="1143000" y="5669280"/>
            <a:ext cx="644652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2" name="STC-18-knee-axis-y">
            <a:extLst xmlns:a="http://schemas.openxmlformats.org/drawingml/2006/main">
              <a:ext uri="{FF2B5EF4-FFF2-40B4-BE49-F238E27FC236}">
                <a16:creationId xmlns:a16="http://schemas.microsoft.com/office/drawing/2014/main" id="{E1F7C2CF-4433-4C4B-8A34-B94592ECA104}"/>
              </a:ext>
            </a:extLst>
          </p:cNvPr>
          <p:cNvSpPr>
            <a:spLocks xmlns:a="http://schemas.openxmlformats.org/drawingml/2006/main" noGrp="1"/>
          </p:cNvSpPr>
          <p:nvPr/>
        </p:nvSpPr>
        <p:spPr>
          <a:xfrm xmlns:a="http://schemas.openxmlformats.org/drawingml/2006/main" flipH="0" flipV="1">
            <a:off x="1143000" y="1691640"/>
            <a:ext cx="0" cy="397764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3" name="STC-18-knee-axis-xlabel">
            <a:extLst xmlns:a="http://schemas.openxmlformats.org/drawingml/2006/main">
              <a:ext uri="{FF2B5EF4-FFF2-40B4-BE49-F238E27FC236}">
                <a16:creationId xmlns:a16="http://schemas.microsoft.com/office/drawing/2014/main" id="{EDAFD2D4-0676-4B50-9F78-4EFC185B7F17}"/>
              </a:ext>
            </a:extLst>
          </p:cNvPr>
          <p:cNvSpPr>
            <a:spLocks xmlns:a="http://schemas.openxmlformats.org/drawingml/2006/main" noGrp="1"/>
          </p:cNvSpPr>
          <p:nvPr/>
        </p:nvSpPr>
        <p:spPr>
          <a:xfrm xmlns:a="http://schemas.openxmlformats.org/drawingml/2006/main">
            <a:off x="6126480" y="5815584"/>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a:solidFill>
                  <a:srgbClr val="59616A"/>
                </a:solidFill>
                <a:latin typeface="Noto Sans CJK KR"/>
                <a:ea typeface="Noto Sans CJK KR"/>
                <a:cs typeface="Noto Sans CJK KR"/>
              </a:rPr>
              <a:t>N_q</a:t>
            </a:r>
            <a:endParaRPr sz="1100"/>
          </a:p>
        </p:txBody>
      </p:sp>
      <p:sp>
        <p:nvSpPr>
          <p:cNvPr id="14" name="STC-18-knee-axis-ylabel">
            <a:extLst xmlns:a="http://schemas.openxmlformats.org/drawingml/2006/main">
              <a:ext uri="{FF2B5EF4-FFF2-40B4-BE49-F238E27FC236}">
                <a16:creationId xmlns:a16="http://schemas.microsoft.com/office/drawing/2014/main" id="{9B0E0507-09BE-4BC6-95FC-188BF218F1D0}"/>
              </a:ext>
            </a:extLst>
          </p:cNvPr>
          <p:cNvSpPr>
            <a:spLocks xmlns:a="http://schemas.openxmlformats.org/drawingml/2006/main" noGrp="1"/>
          </p:cNvSpPr>
          <p:nvPr/>
        </p:nvSpPr>
        <p:spPr>
          <a:xfrm xmlns:a="http://schemas.openxmlformats.org/drawingml/2006/main" rot="16200000">
            <a:off x="731520" y="1581912"/>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9616A"/>
                </a:solidFill>
                <a:latin typeface="Noto Sans CJK KR"/>
                <a:ea typeface="Noto Sans CJK KR"/>
                <a:cs typeface="Noto Sans CJK KR"/>
              </a:rPr>
              <a:t>C_avg</a:t>
            </a:r>
            <a:endParaRPr sz="1100"/>
          </a:p>
        </p:txBody>
      </p:sp>
      <p:sp>
        <p:nvSpPr>
          <p:cNvPr id="15" name="STC-18-knee-seg-1">
            <a:extLst xmlns:a="http://schemas.openxmlformats.org/drawingml/2006/main">
              <a:ext uri="{FF2B5EF4-FFF2-40B4-BE49-F238E27FC236}">
                <a16:creationId xmlns:a16="http://schemas.microsoft.com/office/drawing/2014/main" id="{003F0C5F-F595-422E-8FDF-066640D7D432}"/>
              </a:ext>
            </a:extLst>
          </p:cNvPr>
          <p:cNvSpPr>
            <a:spLocks xmlns:a="http://schemas.openxmlformats.org/drawingml/2006/main" noGrp="1"/>
          </p:cNvSpPr>
          <p:nvPr/>
        </p:nvSpPr>
        <p:spPr>
          <a:xfrm xmlns:a="http://schemas.openxmlformats.org/drawingml/2006/main">
            <a:off x="1298448" y="2148840"/>
            <a:ext cx="1005840" cy="27432"/>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6" name="STC-18-knee-seg-2">
            <a:extLst xmlns:a="http://schemas.openxmlformats.org/drawingml/2006/main">
              <a:ext uri="{FF2B5EF4-FFF2-40B4-BE49-F238E27FC236}">
                <a16:creationId xmlns:a16="http://schemas.microsoft.com/office/drawing/2014/main" id="{2F93FE18-0F04-40C0-9893-2A149CE61627}"/>
              </a:ext>
            </a:extLst>
          </p:cNvPr>
          <p:cNvSpPr>
            <a:spLocks xmlns:a="http://schemas.openxmlformats.org/drawingml/2006/main" noGrp="1"/>
          </p:cNvSpPr>
          <p:nvPr/>
        </p:nvSpPr>
        <p:spPr>
          <a:xfrm xmlns:a="http://schemas.openxmlformats.org/drawingml/2006/main">
            <a:off x="2304288" y="2176272"/>
            <a:ext cx="1005840" cy="109728"/>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7" name="STC-18-knee-seg-3">
            <a:extLst xmlns:a="http://schemas.openxmlformats.org/drawingml/2006/main">
              <a:ext uri="{FF2B5EF4-FFF2-40B4-BE49-F238E27FC236}">
                <a16:creationId xmlns:a16="http://schemas.microsoft.com/office/drawing/2014/main" id="{F6FEFA14-7856-41AC-9C31-FD11A3798DEF}"/>
              </a:ext>
            </a:extLst>
          </p:cNvPr>
          <p:cNvSpPr>
            <a:spLocks xmlns:a="http://schemas.openxmlformats.org/drawingml/2006/main" noGrp="1"/>
          </p:cNvSpPr>
          <p:nvPr/>
        </p:nvSpPr>
        <p:spPr>
          <a:xfrm xmlns:a="http://schemas.openxmlformats.org/drawingml/2006/main">
            <a:off x="3310128" y="2286000"/>
            <a:ext cx="1005840" cy="384048"/>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8" name="STC-18-knee-seg-4">
            <a:extLst xmlns:a="http://schemas.openxmlformats.org/drawingml/2006/main">
              <a:ext uri="{FF2B5EF4-FFF2-40B4-BE49-F238E27FC236}">
                <a16:creationId xmlns:a16="http://schemas.microsoft.com/office/drawing/2014/main" id="{6763C838-9134-475E-ACDA-446F8E1614D8}"/>
              </a:ext>
            </a:extLst>
          </p:cNvPr>
          <p:cNvSpPr>
            <a:spLocks xmlns:a="http://schemas.openxmlformats.org/drawingml/2006/main" noGrp="1"/>
          </p:cNvSpPr>
          <p:nvPr/>
        </p:nvSpPr>
        <p:spPr>
          <a:xfrm xmlns:a="http://schemas.openxmlformats.org/drawingml/2006/main">
            <a:off x="4315968" y="2670048"/>
            <a:ext cx="1005840" cy="1024128"/>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19" name="STC-18-knee-seg-5">
            <a:extLst xmlns:a="http://schemas.openxmlformats.org/drawingml/2006/main">
              <a:ext uri="{FF2B5EF4-FFF2-40B4-BE49-F238E27FC236}">
                <a16:creationId xmlns:a16="http://schemas.microsoft.com/office/drawing/2014/main" id="{0972766A-6EEF-47F5-A54A-3BD977CCF7A8}"/>
              </a:ext>
            </a:extLst>
          </p:cNvPr>
          <p:cNvSpPr>
            <a:spLocks xmlns:a="http://schemas.openxmlformats.org/drawingml/2006/main" noGrp="1"/>
          </p:cNvSpPr>
          <p:nvPr/>
        </p:nvSpPr>
        <p:spPr>
          <a:xfrm xmlns:a="http://schemas.openxmlformats.org/drawingml/2006/main">
            <a:off x="5321808" y="3694176"/>
            <a:ext cx="1005840" cy="1298448"/>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20" name="STC-18-knee-seg-6">
            <a:extLst xmlns:a="http://schemas.openxmlformats.org/drawingml/2006/main">
              <a:ext uri="{FF2B5EF4-FFF2-40B4-BE49-F238E27FC236}">
                <a16:creationId xmlns:a16="http://schemas.microsoft.com/office/drawing/2014/main" id="{4DFF07AF-0006-44B9-8763-71C943AA66F4}"/>
              </a:ext>
            </a:extLst>
          </p:cNvPr>
          <p:cNvSpPr>
            <a:spLocks xmlns:a="http://schemas.openxmlformats.org/drawingml/2006/main" noGrp="1"/>
          </p:cNvSpPr>
          <p:nvPr/>
        </p:nvSpPr>
        <p:spPr>
          <a:xfrm xmlns:a="http://schemas.openxmlformats.org/drawingml/2006/main">
            <a:off x="6327648" y="4992624"/>
            <a:ext cx="822960" cy="164592"/>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21" name="STC-18-knee-threshold">
            <a:extLst xmlns:a="http://schemas.openxmlformats.org/drawingml/2006/main">
              <a:ext uri="{FF2B5EF4-FFF2-40B4-BE49-F238E27FC236}">
                <a16:creationId xmlns:a16="http://schemas.microsoft.com/office/drawing/2014/main" id="{E0D27FC3-1406-4DDF-9A5F-FCD6BD706F18}"/>
              </a:ext>
            </a:extLst>
          </p:cNvPr>
          <p:cNvSpPr>
            <a:spLocks xmlns:a="http://schemas.openxmlformats.org/drawingml/2006/main" noGrp="1"/>
          </p:cNvSpPr>
          <p:nvPr/>
        </p:nvSpPr>
        <p:spPr>
          <a:xfrm xmlns:a="http://schemas.openxmlformats.org/drawingml/2006/main">
            <a:off x="1143000" y="2944368"/>
            <a:ext cx="6446520" cy="0"/>
          </a:xfrm>
          <a:prstGeom xmlns:a="http://schemas.openxmlformats.org/drawingml/2006/main" prst="line">
            <a:avLst/>
          </a:prstGeom>
          <a:noFill xmlns:a="http://schemas.openxmlformats.org/drawingml/2006/main"/>
          <a:ln xmlns:a="http://schemas.openxmlformats.org/drawingml/2006/main" w="12700">
            <a:solidFill>
              <a:srgbClr val="59616A"/>
            </a:solidFill>
            <a:prstDash val="solid"/>
            <a:tailEnd type="none"/>
          </a:ln>
        </p:spPr>
      </p:sp>
      <p:sp>
        <p:nvSpPr>
          <p:cNvPr id="22" name="STC-18-knee-threshold-label">
            <a:extLst xmlns:a="http://schemas.openxmlformats.org/drawingml/2006/main">
              <a:ext uri="{FF2B5EF4-FFF2-40B4-BE49-F238E27FC236}">
                <a16:creationId xmlns:a16="http://schemas.microsoft.com/office/drawing/2014/main" id="{C84DFF8C-E003-4B2D-8344-300CD8D0E8BA}"/>
              </a:ext>
            </a:extLst>
          </p:cNvPr>
          <p:cNvSpPr>
            <a:spLocks xmlns:a="http://schemas.openxmlformats.org/drawingml/2006/main" noGrp="1"/>
          </p:cNvSpPr>
          <p:nvPr/>
        </p:nvSpPr>
        <p:spPr>
          <a:xfrm xmlns:a="http://schemas.openxmlformats.org/drawingml/2006/main">
            <a:off x="1325880" y="2761488"/>
            <a:ext cx="11430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9616A"/>
                </a:solidFill>
                <a:latin typeface="Noto Sans Mono CJK KR"/>
                <a:ea typeface="Noto Sans Mono CJK KR"/>
                <a:cs typeface="Noto Sans Mono CJK KR"/>
              </a:rPr>
              <a:t>손익분기</a:t>
            </a:r>
            <a:endParaRPr sz="1050"/>
          </a:p>
        </p:txBody>
      </p:sp>
      <p:sp>
        <p:nvSpPr>
          <p:cNvPr id="23" name="STC-18-knee-marker">
            <a:extLst xmlns:a="http://schemas.openxmlformats.org/drawingml/2006/main">
              <a:ext uri="{FF2B5EF4-FFF2-40B4-BE49-F238E27FC236}">
                <a16:creationId xmlns:a16="http://schemas.microsoft.com/office/drawing/2014/main" id="{B7796550-C739-4C12-AB34-728E99CD5A5C}"/>
              </a:ext>
            </a:extLst>
          </p:cNvPr>
          <p:cNvSpPr>
            <a:spLocks xmlns:a="http://schemas.openxmlformats.org/drawingml/2006/main" noGrp="1"/>
          </p:cNvSpPr>
          <p:nvPr/>
        </p:nvSpPr>
        <p:spPr>
          <a:xfrm xmlns:a="http://schemas.openxmlformats.org/drawingml/2006/main">
            <a:off x="4709160" y="2889504"/>
            <a:ext cx="0" cy="2505456"/>
          </a:xfrm>
          <a:prstGeom xmlns:a="http://schemas.openxmlformats.org/drawingml/2006/main" prst="line">
            <a:avLst/>
          </a:prstGeom>
          <a:noFill xmlns:a="http://schemas.openxmlformats.org/drawingml/2006/main"/>
          <a:ln xmlns:a="http://schemas.openxmlformats.org/drawingml/2006/main" w="17780">
            <a:solidFill>
              <a:srgbClr val="9A442D"/>
            </a:solidFill>
            <a:prstDash val="solid"/>
            <a:tailEnd type="none"/>
          </a:ln>
        </p:spPr>
      </p:sp>
      <p:sp>
        <p:nvSpPr>
          <p:cNvPr id="24" name="STC-18-knee-keff">
            <a:extLst xmlns:a="http://schemas.openxmlformats.org/drawingml/2006/main">
              <a:ext uri="{FF2B5EF4-FFF2-40B4-BE49-F238E27FC236}">
                <a16:creationId xmlns:a16="http://schemas.microsoft.com/office/drawing/2014/main" id="{560C924C-F866-4087-B484-42FE73811586}"/>
              </a:ext>
            </a:extLst>
          </p:cNvPr>
          <p:cNvSpPr>
            <a:spLocks xmlns:a="http://schemas.openxmlformats.org/drawingml/2006/main" noGrp="1"/>
          </p:cNvSpPr>
          <p:nvPr/>
        </p:nvSpPr>
        <p:spPr>
          <a:xfrm xmlns:a="http://schemas.openxmlformats.org/drawingml/2006/main">
            <a:off x="4379976" y="5394960"/>
            <a:ext cx="685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erif CJK KR"/>
                <a:ea typeface="Noto Serif CJK KR"/>
                <a:cs typeface="Noto Serif CJK KR"/>
              </a:rPr>
              <a:t>3.64</a:t>
            </a:r>
            <a:endParaRPr sz="1800"/>
          </a:p>
        </p:txBody>
      </p:sp>
      <p:sp>
        <p:nvSpPr>
          <p:cNvPr id="25" name="STC-18-knee-check-title">
            <a:extLst xmlns:a="http://schemas.openxmlformats.org/drawingml/2006/main">
              <a:ext uri="{FF2B5EF4-FFF2-40B4-BE49-F238E27FC236}">
                <a16:creationId xmlns:a16="http://schemas.microsoft.com/office/drawing/2014/main" id="{240D967C-B047-4CCF-991D-75A295890503}"/>
              </a:ext>
            </a:extLst>
          </p:cNvPr>
          <p:cNvSpPr>
            <a:spLocks xmlns:a="http://schemas.openxmlformats.org/drawingml/2006/main" noGrp="1"/>
          </p:cNvSpPr>
          <p:nvPr/>
        </p:nvSpPr>
        <p:spPr>
          <a:xfrm xmlns:a="http://schemas.openxmlformats.org/drawingml/2006/main">
            <a:off x="8247888" y="1783080"/>
            <a:ext cx="25603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9A442D"/>
                </a:solidFill>
                <a:latin typeface="Noto Sans Mono CJK KR"/>
                <a:ea typeface="Noto Sans Mono CJK KR"/>
                <a:cs typeface="Noto Sans Mono CJK KR"/>
              </a:rPr>
              <a:t>baseline: 10,000 prefill + 30…</a:t>
            </a:r>
            <a:endParaRPr sz="1100"/>
          </a:p>
        </p:txBody>
      </p:sp>
      <p:sp>
        <p:nvSpPr>
          <p:cNvPr id="26" name="STC-18-knee-checks-dot-0">
            <a:extLst xmlns:a="http://schemas.openxmlformats.org/drawingml/2006/main">
              <a:ext uri="{FF2B5EF4-FFF2-40B4-BE49-F238E27FC236}">
                <a16:creationId xmlns:a16="http://schemas.microsoft.com/office/drawing/2014/main" id="{C65AB8EB-CD2A-4877-B277-753424C37722}"/>
              </a:ext>
            </a:extLst>
          </p:cNvPr>
          <p:cNvSpPr>
            <a:spLocks xmlns:a="http://schemas.openxmlformats.org/drawingml/2006/main" noGrp="1"/>
          </p:cNvSpPr>
          <p:nvPr/>
        </p:nvSpPr>
        <p:spPr>
          <a:xfrm xmlns:a="http://schemas.openxmlformats.org/drawingml/2006/main">
            <a:off x="8275320" y="2350008"/>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27" name="STC-18-knee-checks-item-0">
            <a:extLst xmlns:a="http://schemas.openxmlformats.org/drawingml/2006/main">
              <a:ext uri="{FF2B5EF4-FFF2-40B4-BE49-F238E27FC236}">
                <a16:creationId xmlns:a16="http://schemas.microsoft.com/office/drawing/2014/main" id="{FDC997E1-38D9-4520-B007-6663A6DF0934}"/>
              </a:ext>
            </a:extLst>
          </p:cNvPr>
          <p:cNvSpPr>
            <a:spLocks xmlns:a="http://schemas.openxmlformats.org/drawingml/2006/main" noGrp="1"/>
          </p:cNvSpPr>
          <p:nvPr/>
        </p:nvSpPr>
        <p:spPr>
          <a:xfrm xmlns:a="http://schemas.openxmlformats.org/drawingml/2006/main">
            <a:off x="8503920" y="2240280"/>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baseline: 10,000 prefill + 30…</a:t>
            </a:r>
            <a:endParaRPr sz="1550"/>
          </a:p>
        </p:txBody>
      </p:sp>
      <p:sp>
        <p:nvSpPr>
          <p:cNvPr id="28" name="STC-18-knee-checks-dot-1">
            <a:extLst xmlns:a="http://schemas.openxmlformats.org/drawingml/2006/main">
              <a:ext uri="{FF2B5EF4-FFF2-40B4-BE49-F238E27FC236}">
                <a16:creationId xmlns:a16="http://schemas.microsoft.com/office/drawing/2014/main" id="{00BD0BBB-062E-4E7B-BBB4-C431B7E66222}"/>
              </a:ext>
            </a:extLst>
          </p:cNvPr>
          <p:cNvSpPr>
            <a:spLocks xmlns:a="http://schemas.openxmlformats.org/drawingml/2006/main" noGrp="1"/>
          </p:cNvSpPr>
          <p:nvPr/>
        </p:nvSpPr>
        <p:spPr>
          <a:xfrm xmlns:a="http://schemas.openxmlformats.org/drawingml/2006/main">
            <a:off x="8275320" y="2907792"/>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29" name="STC-18-knee-checks-item-1">
            <a:extLst xmlns:a="http://schemas.openxmlformats.org/drawingml/2006/main">
              <a:ext uri="{FF2B5EF4-FFF2-40B4-BE49-F238E27FC236}">
                <a16:creationId xmlns:a16="http://schemas.microsoft.com/office/drawing/2014/main" id="{1F595761-551F-4541-8F4F-785370299BEA}"/>
              </a:ext>
            </a:extLst>
          </p:cNvPr>
          <p:cNvSpPr>
            <a:spLocks xmlns:a="http://schemas.openxmlformats.org/drawingml/2006/main" noGrp="1"/>
          </p:cNvSpPr>
          <p:nvPr/>
        </p:nvSpPr>
        <p:spPr>
          <a:xfrm xmlns:a="http://schemas.openxmlformats.org/drawingml/2006/main">
            <a:off x="8503920" y="2798064"/>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sleep: 10,000 + 3,000×10 = 40…</a:t>
            </a:r>
            <a:endParaRPr sz="1550"/>
          </a:p>
        </p:txBody>
      </p:sp>
      <p:sp>
        <p:nvSpPr>
          <p:cNvPr id="30" name="STC-18-knee-checks-dot-2">
            <a:extLst xmlns:a="http://schemas.openxmlformats.org/drawingml/2006/main">
              <a:ext uri="{FF2B5EF4-FFF2-40B4-BE49-F238E27FC236}">
                <a16:creationId xmlns:a16="http://schemas.microsoft.com/office/drawing/2014/main" id="{B00D3C67-9E7B-416B-A50C-CD6FB683D1F6}"/>
              </a:ext>
            </a:extLst>
          </p:cNvPr>
          <p:cNvSpPr>
            <a:spLocks xmlns:a="http://schemas.openxmlformats.org/drawingml/2006/main" noGrp="1"/>
          </p:cNvSpPr>
          <p:nvPr/>
        </p:nvSpPr>
        <p:spPr>
          <a:xfrm xmlns:a="http://schemas.openxmlformats.org/drawingml/2006/main">
            <a:off x="8275320" y="3465576"/>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1" name="STC-18-knee-checks-item-2">
            <a:extLst xmlns:a="http://schemas.openxmlformats.org/drawingml/2006/main">
              <a:ext uri="{FF2B5EF4-FFF2-40B4-BE49-F238E27FC236}">
                <a16:creationId xmlns:a16="http://schemas.microsoft.com/office/drawing/2014/main" id="{A8AD6B50-1222-40F0-B872-FB02938FCA2A}"/>
              </a:ext>
            </a:extLst>
          </p:cNvPr>
          <p:cNvSpPr>
            <a:spLocks xmlns:a="http://schemas.openxmlformats.org/drawingml/2006/main" noGrp="1"/>
          </p:cNvSpPr>
          <p:nvPr/>
        </p:nvSpPr>
        <p:spPr>
          <a:xfrm xmlns:a="http://schemas.openxmlformats.org/drawingml/2006/main">
            <a:off x="8503920" y="3355848"/>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wake: 500 + 150×10 = 2,000</a:t>
            </a:r>
            <a:endParaRPr sz="1550"/>
          </a:p>
        </p:txBody>
      </p:sp>
      <p:sp>
        <p:nvSpPr>
          <p:cNvPr id="32" name="STC-18-knee-checks-dot-3">
            <a:extLst xmlns:a="http://schemas.openxmlformats.org/drawingml/2006/main">
              <a:ext uri="{FF2B5EF4-FFF2-40B4-BE49-F238E27FC236}">
                <a16:creationId xmlns:a16="http://schemas.microsoft.com/office/drawing/2014/main" id="{193D497B-83CE-4A7D-AB94-EF7C0D144494}"/>
              </a:ext>
            </a:extLst>
          </p:cNvPr>
          <p:cNvSpPr>
            <a:spLocks xmlns:a="http://schemas.openxmlformats.org/drawingml/2006/main" noGrp="1"/>
          </p:cNvSpPr>
          <p:nvPr/>
        </p:nvSpPr>
        <p:spPr>
          <a:xfrm xmlns:a="http://schemas.openxmlformats.org/drawingml/2006/main">
            <a:off x="8275320" y="4023360"/>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3" name="STC-18-knee-checks-item-3">
            <a:extLst xmlns:a="http://schemas.openxmlformats.org/drawingml/2006/main">
              <a:ext uri="{FF2B5EF4-FFF2-40B4-BE49-F238E27FC236}">
                <a16:creationId xmlns:a16="http://schemas.microsoft.com/office/drawing/2014/main" id="{54E8D5AD-5943-4DD5-A8F6-1C16D270C65A}"/>
              </a:ext>
            </a:extLst>
          </p:cNvPr>
          <p:cNvSpPr>
            <a:spLocks xmlns:a="http://schemas.openxmlformats.org/drawingml/2006/main" noGrp="1"/>
          </p:cNvSpPr>
          <p:nvPr/>
        </p:nvSpPr>
        <p:spPr>
          <a:xfrm xmlns:a="http://schemas.openxmlformats.org/drawingml/2006/main">
            <a:off x="8503920" y="3913632"/>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N_q* = 40,000/11,000 = 3.64</a:t>
            </a:r>
            <a:endParaRPr sz="1550"/>
          </a:p>
        </p:txBody>
      </p:sp>
      <p:sp>
        <p:nvSpPr>
          <p:cNvPr id="34" name="STC-18-knee-checks-dot-4">
            <a:extLst xmlns:a="http://schemas.openxmlformats.org/drawingml/2006/main">
              <a:ext uri="{FF2B5EF4-FFF2-40B4-BE49-F238E27FC236}">
                <a16:creationId xmlns:a16="http://schemas.microsoft.com/office/drawing/2014/main" id="{5D751B45-D75A-4C29-86C3-1A10CDA2ACFD}"/>
              </a:ext>
            </a:extLst>
          </p:cNvPr>
          <p:cNvSpPr>
            <a:spLocks xmlns:a="http://schemas.openxmlformats.org/drawingml/2006/main" noGrp="1"/>
          </p:cNvSpPr>
          <p:nvPr/>
        </p:nvSpPr>
        <p:spPr>
          <a:xfrm xmlns:a="http://schemas.openxmlformats.org/drawingml/2006/main">
            <a:off x="8275320" y="4581144"/>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5" name="STC-18-knee-checks-item-4">
            <a:extLst xmlns:a="http://schemas.openxmlformats.org/drawingml/2006/main">
              <a:ext uri="{FF2B5EF4-FFF2-40B4-BE49-F238E27FC236}">
                <a16:creationId xmlns:a16="http://schemas.microsoft.com/office/drawing/2014/main" id="{3E5A4F76-5BB5-4E5A-A1D9-42BC1A8E5C0F}"/>
              </a:ext>
            </a:extLst>
          </p:cNvPr>
          <p:cNvSpPr>
            <a:spLocks xmlns:a="http://schemas.openxmlformats.org/drawingml/2006/main" noGrp="1"/>
          </p:cNvSpPr>
          <p:nvPr/>
        </p:nvSpPr>
        <p:spPr>
          <a:xfrm xmlns:a="http://schemas.openxmlformats.org/drawingml/2006/main">
            <a:off x="8503920" y="4471416"/>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손익분기는 네 번째 질의 근처</a:t>
            </a:r>
            <a:endParaRPr sz="1550"/>
          </a:p>
        </p:txBody>
      </p:sp>
      <p:sp>
        <p:nvSpPr>
          <p:cNvPr id="36" name="STC-18-knee-unidentified">
            <a:extLst xmlns:a="http://schemas.openxmlformats.org/drawingml/2006/main">
              <a:ext uri="{FF2B5EF4-FFF2-40B4-BE49-F238E27FC236}">
                <a16:creationId xmlns:a16="http://schemas.microsoft.com/office/drawing/2014/main" id="{180F873B-5C68-4872-B82F-6C6C0ED74CC8}"/>
              </a:ext>
            </a:extLst>
          </p:cNvPr>
          <p:cNvSpPr>
            <a:spLocks xmlns:a="http://schemas.openxmlformats.org/drawingml/2006/main" noGrp="1"/>
          </p:cNvSpPr>
          <p:nvPr/>
        </p:nvSpPr>
        <p:spPr>
          <a:xfrm xmlns:a="http://schemas.openxmlformats.org/drawingml/2006/main">
            <a:off x="8211312" y="5230368"/>
            <a:ext cx="2706624" cy="52120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37" name="STC-18-knee-unidentified-text">
            <a:extLst xmlns:a="http://schemas.openxmlformats.org/drawingml/2006/main">
              <a:ext uri="{FF2B5EF4-FFF2-40B4-BE49-F238E27FC236}">
                <a16:creationId xmlns:a16="http://schemas.microsoft.com/office/drawing/2014/main" id="{39151F30-D5D2-4D64-B766-810DF4EFE62A}"/>
              </a:ext>
            </a:extLst>
          </p:cNvPr>
          <p:cNvSpPr>
            <a:spLocks xmlns:a="http://schemas.openxmlformats.org/drawingml/2006/main" noGrp="1"/>
          </p:cNvSpPr>
          <p:nvPr/>
        </p:nvSpPr>
        <p:spPr>
          <a:xfrm xmlns:a="http://schemas.openxmlformats.org/drawingml/2006/main">
            <a:off x="8348472" y="5404104"/>
            <a:ext cx="243230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b="1">
                <a:solidFill>
                  <a:srgbClr val="FFFFFF"/>
                </a:solidFill>
                <a:latin typeface="Noto Sans Mono CJK KR"/>
                <a:ea typeface="Noto Sans Mono CJK KR"/>
                <a:cs typeface="Noto Sans Mono CJK KR"/>
              </a:rPr>
              <a:t>이 산수는 발표의 예시다</a:t>
            </a:r>
            <a:endParaRPr sz="1050"/>
          </a:p>
        </p:txBody>
      </p:sp>
    </p:spTree>
    <p:extLst>
      <p:ext uri="{BB962C8B-B14F-4D97-AF65-F5344CB8AC3E}">
        <p14:creationId xmlns:p14="http://schemas.microsoft.com/office/powerpoint/2010/main" val="1452305100"/>
      </p:ext>
    </p:extLst>
  </p:cSld>
</p:sld>
</file>

<file path=ppt/slides/slide30.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7-section">
            <a:extLst xmlns:a="http://schemas.openxmlformats.org/drawingml/2006/main">
              <a:ext uri="{FF2B5EF4-FFF2-40B4-BE49-F238E27FC236}">
                <a16:creationId xmlns:a16="http://schemas.microsoft.com/office/drawing/2014/main" id="{7385C310-AB33-4F53-AA02-6351BE546D8D}"/>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BACKGROUND</a:t>
            </a:r>
            <a:endParaRPr sz="950"/>
          </a:p>
        </p:txBody>
      </p:sp>
      <p:sp>
        <p:nvSpPr>
          <p:cNvPr id="3" name="STC-27-slide-id">
            <a:extLst xmlns:a="http://schemas.openxmlformats.org/drawingml/2006/main">
              <a:ext uri="{FF2B5EF4-FFF2-40B4-BE49-F238E27FC236}">
                <a16:creationId xmlns:a16="http://schemas.microsoft.com/office/drawing/2014/main" id="{A62D30FD-D0DE-406A-AEDE-4AA35074F91C}"/>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STC-030</a:t>
            </a:r>
            <a:endParaRPr sz="950"/>
          </a:p>
        </p:txBody>
      </p:sp>
      <p:sp>
        <p:nvSpPr>
          <p:cNvPr id="4" name="STC-27-headline">
            <a:extLst xmlns:a="http://schemas.openxmlformats.org/drawingml/2006/main">
              <a:ext uri="{FF2B5EF4-FFF2-40B4-BE49-F238E27FC236}">
                <a16:creationId xmlns:a16="http://schemas.microsoft.com/office/drawing/2014/main" id="{8FCF2712-593D-425A-8EF4-E1D041C0E6D0}"/>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17191C"/>
                </a:solidFill>
                <a:latin typeface="Noto Sans CJK KR"/>
                <a:ea typeface="Noto Sans CJK KR"/>
                <a:cs typeface="Noto Sans CJK KR"/>
              </a:rPr>
              <a:t>Rosetta 사전 — 서빙 어휘로 옮기면 이렇게 된다</a:t>
            </a:r>
            <a:endParaRPr sz="2800"/>
          </a:p>
        </p:txBody>
      </p:sp>
      <p:sp>
        <p:nvSpPr>
          <p:cNvPr id="5" name="STC-27-status-label">
            <a:extLst xmlns:a="http://schemas.openxmlformats.org/drawingml/2006/main">
              <a:ext uri="{FF2B5EF4-FFF2-40B4-BE49-F238E27FC236}">
                <a16:creationId xmlns:a16="http://schemas.microsoft.com/office/drawing/2014/main" id="{13FFAE0E-5D8F-4108-9CA4-9ECCA2BD5C21}"/>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44E8A"/>
                </a:solidFill>
                <a:latin typeface="Noto Sans Mono CJK KR"/>
                <a:ea typeface="Noto Sans Mono CJK KR"/>
                <a:cs typeface="Noto Sans Mono CJK KR"/>
              </a:rPr>
              <a:t>Rosetta</a:t>
            </a:r>
            <a:endParaRPr sz="1000"/>
          </a:p>
        </p:txBody>
      </p:sp>
      <p:sp>
        <p:nvSpPr>
          <p:cNvPr id="6" name="STC-27-status-rule">
            <a:extLst xmlns:a="http://schemas.openxmlformats.org/drawingml/2006/main">
              <a:ext uri="{FF2B5EF4-FFF2-40B4-BE49-F238E27FC236}">
                <a16:creationId xmlns:a16="http://schemas.microsoft.com/office/drawing/2014/main" id="{561BD90D-848D-430E-BBAB-EE52DF2A1DD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44E8A"/>
            </a:solidFill>
            <a:prstDash val="solid"/>
            <a:tailEnd type="none"/>
          </a:ln>
        </p:spPr>
      </p:sp>
      <p:sp>
        <p:nvSpPr>
          <p:cNvPr id="7" name="STC-27-footer-rule">
            <a:extLst xmlns:a="http://schemas.openxmlformats.org/drawingml/2006/main">
              <a:ext uri="{FF2B5EF4-FFF2-40B4-BE49-F238E27FC236}">
                <a16:creationId xmlns:a16="http://schemas.microsoft.com/office/drawing/2014/main" id="{D505BA78-3471-4BBD-912B-BD6109CC9FC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7-source-footer">
            <a:extLst xmlns:a="http://schemas.openxmlformats.org/drawingml/2006/main">
              <a:ext uri="{FF2B5EF4-FFF2-40B4-BE49-F238E27FC236}">
                <a16:creationId xmlns:a16="http://schemas.microsoft.com/office/drawing/2014/main" id="{E99DBCAF-2804-412F-A1FC-D287D4C15657}"/>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ch01 §01.6 표 1-4 (NM 사전 위에 얹는 행)</a:t>
            </a:r>
            <a:endParaRPr sz="850"/>
          </a:p>
        </p:txBody>
      </p:sp>
      <p:sp>
        <p:nvSpPr>
          <p:cNvPr id="9" name="STC-27-page-number">
            <a:extLst xmlns:a="http://schemas.openxmlformats.org/drawingml/2006/main">
              <a:ext uri="{FF2B5EF4-FFF2-40B4-BE49-F238E27FC236}">
                <a16:creationId xmlns:a16="http://schemas.microsoft.com/office/drawing/2014/main" id="{AF0F969D-856E-456F-AB63-D26607331E1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30</a:t>
            </a:r>
            <a:endParaRPr sz="850"/>
          </a:p>
        </p:txBody>
      </p:sp>
      <p:sp>
        <p:nvSpPr>
          <p:cNvPr id="11" name="STC-27-refa-num-0">
            <a:extLst xmlns:a="http://schemas.openxmlformats.org/drawingml/2006/main">
              <a:ext uri="{FF2B5EF4-FFF2-40B4-BE49-F238E27FC236}">
                <a16:creationId xmlns:a16="http://schemas.microsoft.com/office/drawing/2014/main" id="{0858B0FA-3B18-427D-9025-6A23BE3B0367}"/>
              </a:ext>
            </a:extLst>
          </p:cNvPr>
          <p:cNvSpPr>
            <a:spLocks xmlns:a="http://schemas.openxmlformats.org/drawingml/2006/main" noGrp="1"/>
          </p:cNvSpPr>
          <p:nvPr/>
        </p:nvSpPr>
        <p:spPr>
          <a:xfrm xmlns:a="http://schemas.openxmlformats.org/drawingml/2006/main">
            <a:off x="841248"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01</a:t>
            </a:r>
            <a:endParaRPr sz="950"/>
          </a:p>
        </p:txBody>
      </p:sp>
      <p:sp>
        <p:nvSpPr>
          <p:cNvPr id="12" name="STC-27-refa-text-0">
            <a:extLst xmlns:a="http://schemas.openxmlformats.org/drawingml/2006/main">
              <a:ext uri="{FF2B5EF4-FFF2-40B4-BE49-F238E27FC236}">
                <a16:creationId xmlns:a16="http://schemas.microsoft.com/office/drawing/2014/main" id="{062155EC-D1E1-4A6A-BED2-F6AC33A3C656}"/>
              </a:ext>
            </a:extLst>
          </p:cNvPr>
          <p:cNvSpPr>
            <a:spLocks xmlns:a="http://schemas.openxmlformats.org/drawingml/2006/main" noGrp="1"/>
          </p:cNvSpPr>
          <p:nvPr/>
        </p:nvSpPr>
        <p:spPr>
          <a:xfrm xmlns:a="http://schemas.openxmlformats.org/drawingml/2006/main">
            <a:off x="1353312"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prefix cache · ⚠ ĉ는 같은 계산 재사용이 아니라 새 추론의 선행</a:t>
            </a:r>
            <a:endParaRPr sz="1450"/>
          </a:p>
        </p:txBody>
      </p:sp>
      <p:sp>
        <p:nvSpPr>
          <p:cNvPr id="13" name="STC-27-refa-num-1">
            <a:extLst xmlns:a="http://schemas.openxmlformats.org/drawingml/2006/main">
              <a:ext uri="{FF2B5EF4-FFF2-40B4-BE49-F238E27FC236}">
                <a16:creationId xmlns:a16="http://schemas.microsoft.com/office/drawing/2014/main" id="{51CBF520-8ECD-44AE-B98F-1387ECEB6536}"/>
              </a:ext>
            </a:extLst>
          </p:cNvPr>
          <p:cNvSpPr>
            <a:spLocks xmlns:a="http://schemas.openxmlformats.org/drawingml/2006/main" noGrp="1"/>
          </p:cNvSpPr>
          <p:nvPr/>
        </p:nvSpPr>
        <p:spPr>
          <a:xfrm xmlns:a="http://schemas.openxmlformats.org/drawingml/2006/main">
            <a:off x="841248"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02</a:t>
            </a:r>
            <a:endParaRPr sz="950"/>
          </a:p>
        </p:txBody>
      </p:sp>
      <p:sp>
        <p:nvSpPr>
          <p:cNvPr id="14" name="STC-27-refa-text-1">
            <a:extLst xmlns:a="http://schemas.openxmlformats.org/drawingml/2006/main">
              <a:ext uri="{FF2B5EF4-FFF2-40B4-BE49-F238E27FC236}">
                <a16:creationId xmlns:a16="http://schemas.microsoft.com/office/drawing/2014/main" id="{A11ED546-4FD3-4619-BBDA-F1E89500025A}"/>
              </a:ext>
            </a:extLst>
          </p:cNvPr>
          <p:cNvSpPr>
            <a:spLocks xmlns:a="http://schemas.openxmlformats.org/drawingml/2006/main" noGrp="1"/>
          </p:cNvSpPr>
          <p:nvPr/>
        </p:nvSpPr>
        <p:spPr>
          <a:xfrm xmlns:a="http://schemas.openxmlformats.org/drawingml/2006/main">
            <a:off x="1353312"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KV cache · W — append-only 무손실 대 고정 크기 손실 압축</a:t>
            </a:r>
            <a:endParaRPr sz="1450"/>
          </a:p>
        </p:txBody>
      </p:sp>
      <p:sp>
        <p:nvSpPr>
          <p:cNvPr id="15" name="STC-27-refa-num-2">
            <a:extLst xmlns:a="http://schemas.openxmlformats.org/drawingml/2006/main">
              <a:ext uri="{FF2B5EF4-FFF2-40B4-BE49-F238E27FC236}">
                <a16:creationId xmlns:a16="http://schemas.microsoft.com/office/drawing/2014/main" id="{35A20116-4261-4BEF-8F20-7E111311BA48}"/>
              </a:ext>
            </a:extLst>
          </p:cNvPr>
          <p:cNvSpPr>
            <a:spLocks xmlns:a="http://schemas.openxmlformats.org/drawingml/2006/main" noGrp="1"/>
          </p:cNvSpPr>
          <p:nvPr/>
        </p:nvSpPr>
        <p:spPr>
          <a:xfrm xmlns:a="http://schemas.openxmlformats.org/drawingml/2006/main">
            <a:off x="841248"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03</a:t>
            </a:r>
            <a:endParaRPr sz="950"/>
          </a:p>
        </p:txBody>
      </p:sp>
      <p:sp>
        <p:nvSpPr>
          <p:cNvPr id="16" name="STC-27-refa-text-2">
            <a:extLst xmlns:a="http://schemas.openxmlformats.org/drawingml/2006/main">
              <a:ext uri="{FF2B5EF4-FFF2-40B4-BE49-F238E27FC236}">
                <a16:creationId xmlns:a16="http://schemas.microsoft.com/office/drawing/2014/main" id="{6702771D-ADC3-4D74-B59D-4D478F02E873}"/>
              </a:ext>
            </a:extLst>
          </p:cNvPr>
          <p:cNvSpPr>
            <a:spLocks xmlns:a="http://schemas.openxmlformats.org/drawingml/2006/main" noGrp="1"/>
          </p:cNvSpPr>
          <p:nvPr/>
        </p:nvSpPr>
        <p:spPr>
          <a:xfrm xmlns:a="http://schemas.openxmlformats.org/drawingml/2006/main">
            <a:off x="1353312"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vector DB 조회 · ret(E,q) — 동일. 비용도 동일하게 회계</a:t>
            </a:r>
            <a:endParaRPr sz="1450"/>
          </a:p>
        </p:txBody>
      </p:sp>
      <p:sp>
        <p:nvSpPr>
          <p:cNvPr id="17" name="STC-27-refa-num-3">
            <a:extLst xmlns:a="http://schemas.openxmlformats.org/drawingml/2006/main">
              <a:ext uri="{FF2B5EF4-FFF2-40B4-BE49-F238E27FC236}">
                <a16:creationId xmlns:a16="http://schemas.microsoft.com/office/drawing/2014/main" id="{55E8554F-18B5-482A-A521-0409C4939A68}"/>
              </a:ext>
            </a:extLst>
          </p:cNvPr>
          <p:cNvSpPr>
            <a:spLocks xmlns:a="http://schemas.openxmlformats.org/drawingml/2006/main" noGrp="1"/>
          </p:cNvSpPr>
          <p:nvPr/>
        </p:nvSpPr>
        <p:spPr>
          <a:xfrm xmlns:a="http://schemas.openxmlformats.org/drawingml/2006/main">
            <a:off x="841248"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04</a:t>
            </a:r>
            <a:endParaRPr sz="950"/>
          </a:p>
        </p:txBody>
      </p:sp>
      <p:sp>
        <p:nvSpPr>
          <p:cNvPr id="18" name="STC-27-refa-text-3">
            <a:extLst xmlns:a="http://schemas.openxmlformats.org/drawingml/2006/main">
              <a:ext uri="{FF2B5EF4-FFF2-40B4-BE49-F238E27FC236}">
                <a16:creationId xmlns:a16="http://schemas.microsoft.com/office/drawing/2014/main" id="{6643F56C-6A56-4F80-BDD8-C4233A3CAC95}"/>
              </a:ext>
            </a:extLst>
          </p:cNvPr>
          <p:cNvSpPr>
            <a:spLocks xmlns:a="http://schemas.openxmlformats.org/drawingml/2006/main" noGrp="1"/>
          </p:cNvSpPr>
          <p:nvPr/>
        </p:nvSpPr>
        <p:spPr>
          <a:xfrm xmlns:a="http://schemas.openxmlformats.org/drawingml/2006/main">
            <a:off x="1353312"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모델 재배포 · (U-Θ) 1회 — 배포 아티팩트가 바뀐다</a:t>
            </a:r>
            <a:endParaRPr sz="1450"/>
          </a:p>
        </p:txBody>
      </p:sp>
      <p:sp>
        <p:nvSpPr>
          <p:cNvPr id="19" name="STC-27-refa-num-4">
            <a:extLst xmlns:a="http://schemas.openxmlformats.org/drawingml/2006/main">
              <a:ext uri="{FF2B5EF4-FFF2-40B4-BE49-F238E27FC236}">
                <a16:creationId xmlns:a16="http://schemas.microsoft.com/office/drawing/2014/main" id="{FD11CDBD-DFE9-45A7-B011-896A803064F0}"/>
              </a:ext>
            </a:extLst>
          </p:cNvPr>
          <p:cNvSpPr>
            <a:spLocks xmlns:a="http://schemas.openxmlformats.org/drawingml/2006/main" noGrp="1"/>
          </p:cNvSpPr>
          <p:nvPr/>
        </p:nvSpPr>
        <p:spPr>
          <a:xfrm xmlns:a="http://schemas.openxmlformats.org/drawingml/2006/main">
            <a:off x="841248"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05</a:t>
            </a:r>
            <a:endParaRPr sz="950"/>
          </a:p>
        </p:txBody>
      </p:sp>
      <p:sp>
        <p:nvSpPr>
          <p:cNvPr id="20" name="STC-27-refa-text-4">
            <a:extLst xmlns:a="http://schemas.openxmlformats.org/drawingml/2006/main">
              <a:ext uri="{FF2B5EF4-FFF2-40B4-BE49-F238E27FC236}">
                <a16:creationId xmlns:a16="http://schemas.microsoft.com/office/drawing/2014/main" id="{675DB14E-5738-4DE9-95BF-1BC22BFAB9F4}"/>
              </a:ext>
            </a:extLst>
          </p:cNvPr>
          <p:cNvSpPr>
            <a:spLocks xmlns:a="http://schemas.openxmlformats.org/drawingml/2006/main" noGrp="1"/>
          </p:cNvSpPr>
          <p:nvPr/>
        </p:nvSpPr>
        <p:spPr>
          <a:xfrm xmlns:a="http://schemas.openxmlformats.org/drawingml/2006/main">
            <a:off x="1353312"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shared batching · ⚠ 사용자별 delta가 생기면 성립하지 않는다</a:t>
            </a:r>
            <a:endParaRPr sz="1450"/>
          </a:p>
        </p:txBody>
      </p:sp>
      <p:sp>
        <p:nvSpPr>
          <p:cNvPr id="21" name="STC-27-refa-num-5">
            <a:extLst xmlns:a="http://schemas.openxmlformats.org/drawingml/2006/main">
              <a:ext uri="{FF2B5EF4-FFF2-40B4-BE49-F238E27FC236}">
                <a16:creationId xmlns:a16="http://schemas.microsoft.com/office/drawing/2014/main" id="{1B33F735-F839-4244-A292-08A9268BD28E}"/>
              </a:ext>
            </a:extLst>
          </p:cNvPr>
          <p:cNvSpPr>
            <a:spLocks xmlns:a="http://schemas.openxmlformats.org/drawingml/2006/main" noGrp="1"/>
          </p:cNvSpPr>
          <p:nvPr/>
        </p:nvSpPr>
        <p:spPr>
          <a:xfrm xmlns:a="http://schemas.openxmlformats.org/drawingml/2006/main">
            <a:off x="841248"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06</a:t>
            </a:r>
            <a:endParaRPr sz="950"/>
          </a:p>
        </p:txBody>
      </p:sp>
      <p:sp>
        <p:nvSpPr>
          <p:cNvPr id="22" name="STC-27-refa-text-5">
            <a:extLst xmlns:a="http://schemas.openxmlformats.org/drawingml/2006/main">
              <a:ext uri="{FF2B5EF4-FFF2-40B4-BE49-F238E27FC236}">
                <a16:creationId xmlns:a16="http://schemas.microsoft.com/office/drawing/2014/main" id="{A304B551-576C-403B-AE3F-FB6BA309B549}"/>
              </a:ext>
            </a:extLst>
          </p:cNvPr>
          <p:cNvSpPr>
            <a:spLocks xmlns:a="http://schemas.openxmlformats.org/drawingml/2006/main" noGrp="1"/>
          </p:cNvSpPr>
          <p:nvPr/>
        </p:nvSpPr>
        <p:spPr>
          <a:xfrm xmlns:a="http://schemas.openxmlformats.org/drawingml/2006/main">
            <a:off x="1353312"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warm-up·사전컴파일 · sleep 라운드 — 단 sleep은 품질을 바꾼다</a:t>
            </a:r>
            <a:endParaRPr sz="1450"/>
          </a:p>
        </p:txBody>
      </p:sp>
      <p:sp>
        <p:nvSpPr>
          <p:cNvPr id="23" name="STC-27-refa-num-6">
            <a:extLst xmlns:a="http://schemas.openxmlformats.org/drawingml/2006/main">
              <a:ext uri="{FF2B5EF4-FFF2-40B4-BE49-F238E27FC236}">
                <a16:creationId xmlns:a16="http://schemas.microsoft.com/office/drawing/2014/main" id="{C17BF4F3-BA5F-477A-AE3A-926274B15069}"/>
              </a:ext>
            </a:extLst>
          </p:cNvPr>
          <p:cNvSpPr>
            <a:spLocks xmlns:a="http://schemas.openxmlformats.org/drawingml/2006/main" noGrp="1"/>
          </p:cNvSpPr>
          <p:nvPr/>
        </p:nvSpPr>
        <p:spPr>
          <a:xfrm xmlns:a="http://schemas.openxmlformats.org/drawingml/2006/main">
            <a:off x="841248"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07</a:t>
            </a:r>
            <a:endParaRPr sz="950"/>
          </a:p>
        </p:txBody>
      </p:sp>
      <p:sp>
        <p:nvSpPr>
          <p:cNvPr id="24" name="STC-27-refa-text-6">
            <a:extLst xmlns:a="http://schemas.openxmlformats.org/drawingml/2006/main">
              <a:ext uri="{FF2B5EF4-FFF2-40B4-BE49-F238E27FC236}">
                <a16:creationId xmlns:a16="http://schemas.microsoft.com/office/drawing/2014/main" id="{289E9CA6-462B-4C66-89E4-717652A321F6}"/>
              </a:ext>
            </a:extLst>
          </p:cNvPr>
          <p:cNvSpPr>
            <a:spLocks xmlns:a="http://schemas.openxmlformats.org/drawingml/2006/main" noGrp="1"/>
          </p:cNvSpPr>
          <p:nvPr/>
        </p:nvSpPr>
        <p:spPr>
          <a:xfrm xmlns:a="http://schemas.openxmlformats.org/drawingml/2006/main">
            <a:off x="1353312"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checkpoint 크기 · C_cap — Θ 상태량은 여기서 직접 읽힌다</a:t>
            </a:r>
            <a:endParaRPr sz="1450"/>
          </a:p>
        </p:txBody>
      </p:sp>
      <p:sp>
        <p:nvSpPr>
          <p:cNvPr id="25" name="STC-27-refa-num-7">
            <a:extLst xmlns:a="http://schemas.openxmlformats.org/drawingml/2006/main">
              <a:ext uri="{FF2B5EF4-FFF2-40B4-BE49-F238E27FC236}">
                <a16:creationId xmlns:a16="http://schemas.microsoft.com/office/drawing/2014/main" id="{39B669A8-E06B-4878-A925-504530F51F2E}"/>
              </a:ext>
            </a:extLst>
          </p:cNvPr>
          <p:cNvSpPr>
            <a:spLocks xmlns:a="http://schemas.openxmlformats.org/drawingml/2006/main" noGrp="1"/>
          </p:cNvSpPr>
          <p:nvPr/>
        </p:nvSpPr>
        <p:spPr>
          <a:xfrm xmlns:a="http://schemas.openxmlformats.org/drawingml/2006/main">
            <a:off x="6172200"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08</a:t>
            </a:r>
            <a:endParaRPr sz="950"/>
          </a:p>
        </p:txBody>
      </p:sp>
      <p:sp>
        <p:nvSpPr>
          <p:cNvPr id="26" name="STC-27-refa-text-7">
            <a:extLst xmlns:a="http://schemas.openxmlformats.org/drawingml/2006/main">
              <a:ext uri="{FF2B5EF4-FFF2-40B4-BE49-F238E27FC236}">
                <a16:creationId xmlns:a16="http://schemas.microsoft.com/office/drawing/2014/main" id="{5CA2803E-8191-41D8-A69E-C8DE26EBBBD5}"/>
              </a:ext>
            </a:extLst>
          </p:cNvPr>
          <p:cNvSpPr>
            <a:spLocks xmlns:a="http://schemas.openxmlformats.org/drawingml/2006/main" noGrp="1"/>
          </p:cNvSpPr>
          <p:nvPr/>
        </p:nvSpPr>
        <p:spPr>
          <a:xfrm xmlns:a="http://schemas.openxmlformats.org/drawingml/2006/main">
            <a:off x="6684264"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reuse distance · N_q — 같은 회계, 새 이름. 상각의 분모</a:t>
            </a:r>
            <a:endParaRPr sz="1450"/>
          </a:p>
        </p:txBody>
      </p:sp>
      <p:sp>
        <p:nvSpPr>
          <p:cNvPr id="27" name="STC-27-refa-num-8">
            <a:extLst xmlns:a="http://schemas.openxmlformats.org/drawingml/2006/main">
              <a:ext uri="{FF2B5EF4-FFF2-40B4-BE49-F238E27FC236}">
                <a16:creationId xmlns:a16="http://schemas.microsoft.com/office/drawing/2014/main" id="{EB76E28F-3249-436F-BDC8-CC3B36B33971}"/>
              </a:ext>
            </a:extLst>
          </p:cNvPr>
          <p:cNvSpPr>
            <a:spLocks xmlns:a="http://schemas.openxmlformats.org/drawingml/2006/main" noGrp="1"/>
          </p:cNvSpPr>
          <p:nvPr/>
        </p:nvSpPr>
        <p:spPr>
          <a:xfrm xmlns:a="http://schemas.openxmlformats.org/drawingml/2006/main">
            <a:off x="6172200"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09</a:t>
            </a:r>
            <a:endParaRPr sz="950"/>
          </a:p>
        </p:txBody>
      </p:sp>
      <p:sp>
        <p:nvSpPr>
          <p:cNvPr id="28" name="STC-27-refa-text-8">
            <a:extLst xmlns:a="http://schemas.openxmlformats.org/drawingml/2006/main">
              <a:ext uri="{FF2B5EF4-FFF2-40B4-BE49-F238E27FC236}">
                <a16:creationId xmlns:a16="http://schemas.microsoft.com/office/drawing/2014/main" id="{42432C31-97C0-4DB4-A828-17F58B1C006C}"/>
              </a:ext>
            </a:extLst>
          </p:cNvPr>
          <p:cNvSpPr>
            <a:spLocks xmlns:a="http://schemas.openxmlformats.org/drawingml/2006/main" noGrp="1"/>
          </p:cNvSpPr>
          <p:nvPr/>
        </p:nvSpPr>
        <p:spPr>
          <a:xfrm xmlns:a="http://schemas.openxmlformats.org/drawingml/2006/main">
            <a:off x="6684264"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write amplification · B_s ÷ 늘어난 C_cap — 1바이트를 만드는 계산</a:t>
            </a:r>
            <a:endParaRPr sz="1450"/>
          </a:p>
        </p:txBody>
      </p:sp>
      <p:sp>
        <p:nvSpPr>
          <p:cNvPr id="29" name="STC-27-refa-num-9">
            <a:extLst xmlns:a="http://schemas.openxmlformats.org/drawingml/2006/main">
              <a:ext uri="{FF2B5EF4-FFF2-40B4-BE49-F238E27FC236}">
                <a16:creationId xmlns:a16="http://schemas.microsoft.com/office/drawing/2014/main" id="{7AE894C5-A4E3-431D-BBCB-B84488812967}"/>
              </a:ext>
            </a:extLst>
          </p:cNvPr>
          <p:cNvSpPr>
            <a:spLocks xmlns:a="http://schemas.openxmlformats.org/drawingml/2006/main" noGrp="1"/>
          </p:cNvSpPr>
          <p:nvPr/>
        </p:nvSpPr>
        <p:spPr>
          <a:xfrm xmlns:a="http://schemas.openxmlformats.org/drawingml/2006/main">
            <a:off x="6172200"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10</a:t>
            </a:r>
            <a:endParaRPr sz="950"/>
          </a:p>
        </p:txBody>
      </p:sp>
      <p:sp>
        <p:nvSpPr>
          <p:cNvPr id="30" name="STC-27-refa-text-9">
            <a:extLst xmlns:a="http://schemas.openxmlformats.org/drawingml/2006/main">
              <a:ext uri="{FF2B5EF4-FFF2-40B4-BE49-F238E27FC236}">
                <a16:creationId xmlns:a16="http://schemas.microsoft.com/office/drawing/2014/main" id="{5BD284A8-2458-487D-8B9E-370C7411385B}"/>
              </a:ext>
            </a:extLst>
          </p:cNvPr>
          <p:cNvSpPr>
            <a:spLocks xmlns:a="http://schemas.openxmlformats.org/drawingml/2006/main" noGrp="1"/>
          </p:cNvSpPr>
          <p:nvPr/>
        </p:nvSpPr>
        <p:spPr>
          <a:xfrm xmlns:a="http://schemas.openxmlformats.org/drawingml/2006/main">
            <a:off x="6684264"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LSM compaction·GC · E의 감쇠·병합·삭제. 유무가 설계를 가른다</a:t>
            </a:r>
            <a:endParaRPr sz="1450"/>
          </a:p>
        </p:txBody>
      </p:sp>
      <p:sp>
        <p:nvSpPr>
          <p:cNvPr id="31" name="STC-27-refa-num-10">
            <a:extLst xmlns:a="http://schemas.openxmlformats.org/drawingml/2006/main">
              <a:ext uri="{FF2B5EF4-FFF2-40B4-BE49-F238E27FC236}">
                <a16:creationId xmlns:a16="http://schemas.microsoft.com/office/drawing/2014/main" id="{D8683AB3-30A2-418E-8C2F-785C7D981B49}"/>
              </a:ext>
            </a:extLst>
          </p:cNvPr>
          <p:cNvSpPr>
            <a:spLocks xmlns:a="http://schemas.openxmlformats.org/drawingml/2006/main" noGrp="1"/>
          </p:cNvSpPr>
          <p:nvPr/>
        </p:nvSpPr>
        <p:spPr>
          <a:xfrm xmlns:a="http://schemas.openxmlformats.org/drawingml/2006/main">
            <a:off x="6172200"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11</a:t>
            </a:r>
            <a:endParaRPr sz="950"/>
          </a:p>
        </p:txBody>
      </p:sp>
      <p:sp>
        <p:nvSpPr>
          <p:cNvPr id="32" name="STC-27-refa-text-10">
            <a:extLst xmlns:a="http://schemas.openxmlformats.org/drawingml/2006/main">
              <a:ext uri="{FF2B5EF4-FFF2-40B4-BE49-F238E27FC236}">
                <a16:creationId xmlns:a16="http://schemas.microsoft.com/office/drawing/2014/main" id="{D6BD7EA0-A2A2-4970-982A-7FB8848D707D}"/>
              </a:ext>
            </a:extLst>
          </p:cNvPr>
          <p:cNvSpPr>
            <a:spLocks xmlns:a="http://schemas.openxmlformats.org/drawingml/2006/main" noGrp="1"/>
          </p:cNvSpPr>
          <p:nvPr/>
        </p:nvSpPr>
        <p:spPr>
          <a:xfrm xmlns:a="http://schemas.openxmlformats.org/drawingml/2006/main">
            <a:off x="6684264"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카나리·롤백 · ⚠ 사용자별이면 롤백 대상이 사용자 수만큼</a:t>
            </a:r>
            <a:endParaRPr sz="1450"/>
          </a:p>
        </p:txBody>
      </p:sp>
      <p:sp>
        <p:nvSpPr>
          <p:cNvPr id="33" name="STC-27-refa-num-11">
            <a:extLst xmlns:a="http://schemas.openxmlformats.org/drawingml/2006/main">
              <a:ext uri="{FF2B5EF4-FFF2-40B4-BE49-F238E27FC236}">
                <a16:creationId xmlns:a16="http://schemas.microsoft.com/office/drawing/2014/main" id="{460613C2-7751-43C8-A2FB-0D5F9B0DBECB}"/>
              </a:ext>
            </a:extLst>
          </p:cNvPr>
          <p:cNvSpPr>
            <a:spLocks xmlns:a="http://schemas.openxmlformats.org/drawingml/2006/main" noGrp="1"/>
          </p:cNvSpPr>
          <p:nvPr/>
        </p:nvSpPr>
        <p:spPr>
          <a:xfrm xmlns:a="http://schemas.openxmlformats.org/drawingml/2006/main">
            <a:off x="6172200"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12</a:t>
            </a:r>
            <a:endParaRPr sz="950"/>
          </a:p>
        </p:txBody>
      </p:sp>
      <p:sp>
        <p:nvSpPr>
          <p:cNvPr id="34" name="STC-27-refa-text-11">
            <a:extLst xmlns:a="http://schemas.openxmlformats.org/drawingml/2006/main">
              <a:ext uri="{FF2B5EF4-FFF2-40B4-BE49-F238E27FC236}">
                <a16:creationId xmlns:a16="http://schemas.microsoft.com/office/drawing/2014/main" id="{6585AB7C-DE90-41AD-82F9-96F612B0B13A}"/>
              </a:ext>
            </a:extLst>
          </p:cNvPr>
          <p:cNvSpPr>
            <a:spLocks xmlns:a="http://schemas.openxmlformats.org/drawingml/2006/main" noGrp="1"/>
          </p:cNvSpPr>
          <p:nvPr/>
        </p:nvSpPr>
        <p:spPr>
          <a:xfrm xmlns:a="http://schemas.openxmlformats.org/drawingml/2006/main">
            <a:off x="6684264"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dtype 선택 · C_cap의 정보 밀도 — 같은 도구, 새 대상</a:t>
            </a:r>
            <a:endParaRPr sz="1450"/>
          </a:p>
        </p:txBody>
      </p:sp>
      <p:sp>
        <p:nvSpPr>
          <p:cNvPr id="35" name="STC-27-refa-num-12">
            <a:extLst xmlns:a="http://schemas.openxmlformats.org/drawingml/2006/main">
              <a:ext uri="{FF2B5EF4-FFF2-40B4-BE49-F238E27FC236}">
                <a16:creationId xmlns:a16="http://schemas.microsoft.com/office/drawing/2014/main" id="{3BF3AFD4-5BFF-4F64-8958-1E971CEA8E77}"/>
              </a:ext>
            </a:extLst>
          </p:cNvPr>
          <p:cNvSpPr>
            <a:spLocks xmlns:a="http://schemas.openxmlformats.org/drawingml/2006/main" noGrp="1"/>
          </p:cNvSpPr>
          <p:nvPr/>
        </p:nvSpPr>
        <p:spPr>
          <a:xfrm xmlns:a="http://schemas.openxmlformats.org/drawingml/2006/main">
            <a:off x="6172200"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13</a:t>
            </a:r>
            <a:endParaRPr sz="950"/>
          </a:p>
        </p:txBody>
      </p:sp>
      <p:sp>
        <p:nvSpPr>
          <p:cNvPr id="36" name="STC-27-refa-text-12">
            <a:extLst xmlns:a="http://schemas.openxmlformats.org/drawingml/2006/main">
              <a:ext uri="{FF2B5EF4-FFF2-40B4-BE49-F238E27FC236}">
                <a16:creationId xmlns:a16="http://schemas.microsoft.com/office/drawing/2014/main" id="{A6CE689B-DBF7-4ACD-BBBF-ABB01DFF849C}"/>
              </a:ext>
            </a:extLst>
          </p:cNvPr>
          <p:cNvSpPr>
            <a:spLocks xmlns:a="http://schemas.openxmlformats.org/drawingml/2006/main" noGrp="1"/>
          </p:cNvSpPr>
          <p:nvPr/>
        </p:nvSpPr>
        <p:spPr>
          <a:xfrm xmlns:a="http://schemas.openxmlformats.org/drawingml/2006/main">
            <a:off x="6684264"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SLA(TTFT/ITL) · L_w — sleep은 여기에 0을 기여해야 한다</a:t>
            </a:r>
            <a:endParaRPr sz="1450"/>
          </a:p>
        </p:txBody>
      </p:sp>
      <p:sp>
        <p:nvSpPr>
          <p:cNvPr id="37" name="STC-27-refa-num-13">
            <a:extLst xmlns:a="http://schemas.openxmlformats.org/drawingml/2006/main">
              <a:ext uri="{FF2B5EF4-FFF2-40B4-BE49-F238E27FC236}">
                <a16:creationId xmlns:a16="http://schemas.microsoft.com/office/drawing/2014/main" id="{2CBC69DB-9A99-46EA-A59F-BF77F82CD6C1}"/>
              </a:ext>
            </a:extLst>
          </p:cNvPr>
          <p:cNvSpPr>
            <a:spLocks xmlns:a="http://schemas.openxmlformats.org/drawingml/2006/main" noGrp="1"/>
          </p:cNvSpPr>
          <p:nvPr/>
        </p:nvSpPr>
        <p:spPr>
          <a:xfrm xmlns:a="http://schemas.openxmlformats.org/drawingml/2006/main">
            <a:off x="6172200"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14</a:t>
            </a:r>
            <a:endParaRPr sz="950"/>
          </a:p>
        </p:txBody>
      </p:sp>
      <p:sp>
        <p:nvSpPr>
          <p:cNvPr id="38" name="STC-27-refa-text-13">
            <a:extLst xmlns:a="http://schemas.openxmlformats.org/drawingml/2006/main">
              <a:ext uri="{FF2B5EF4-FFF2-40B4-BE49-F238E27FC236}">
                <a16:creationId xmlns:a16="http://schemas.microsoft.com/office/drawing/2014/main" id="{0E347A02-8998-4EC3-8A05-EF92986A2024}"/>
              </a:ext>
            </a:extLst>
          </p:cNvPr>
          <p:cNvSpPr>
            <a:spLocks xmlns:a="http://schemas.openxmlformats.org/drawingml/2006/main" noGrp="1"/>
          </p:cNvSpPr>
          <p:nvPr/>
        </p:nvSpPr>
        <p:spPr>
          <a:xfrm xmlns:a="http://schemas.openxmlformats.org/drawingml/2006/main">
            <a:off x="6684264"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GEMM shape · delta 단위 라우팅이 실패하면 grouped-GEMM</a:t>
            </a:r>
            <a:endParaRPr sz="1450"/>
          </a:p>
        </p:txBody>
      </p:sp>
      <p:sp>
        <p:nvSpPr>
          <p:cNvPr id="39" name="STC-27-refa-note">
            <a:extLst xmlns:a="http://schemas.openxmlformats.org/drawingml/2006/main">
              <a:ext uri="{FF2B5EF4-FFF2-40B4-BE49-F238E27FC236}">
                <a16:creationId xmlns:a16="http://schemas.microsoft.com/office/drawing/2014/main" id="{CD24E568-17B2-4E37-89AF-FBA238DDA767}"/>
              </a:ext>
            </a:extLst>
          </p:cNvPr>
          <p:cNvSpPr>
            <a:spLocks xmlns:a="http://schemas.openxmlformats.org/drawingml/2006/main" noGrp="1"/>
          </p:cNvSpPr>
          <p:nvPr/>
        </p:nvSpPr>
        <p:spPr>
          <a:xfrm xmlns:a="http://schemas.openxmlformats.org/drawingml/2006/main">
            <a:off x="2212848" y="5870448"/>
            <a:ext cx="77724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50">
                <a:solidFill>
                  <a:srgbClr val="59616A"/>
                </a:solidFill>
                <a:latin typeface="Noto Sans CJK KR"/>
                <a:ea typeface="Noto Sans CJK KR"/>
                <a:cs typeface="Noto Sans CJK KR"/>
              </a:rPr>
              <a:t>⚠ ĉ는 같은 계산 재사용이 아니라 새 추론의 선행</a:t>
            </a:r>
            <a:endParaRPr sz="1350"/>
          </a:p>
        </p:txBody>
      </p:sp>
    </p:spTree>
    <p:extLst>
      <p:ext uri="{BB962C8B-B14F-4D97-AF65-F5344CB8AC3E}">
        <p14:creationId xmlns:p14="http://schemas.microsoft.com/office/powerpoint/2010/main" val="1964283889"/>
      </p:ext>
    </p:extLst>
  </p:cSld>
</p:sld>
</file>

<file path=ppt/slides/slide31.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4-section">
            <a:extLst xmlns:a="http://schemas.openxmlformats.org/drawingml/2006/main">
              <a:ext uri="{FF2B5EF4-FFF2-40B4-BE49-F238E27FC236}">
                <a16:creationId xmlns:a16="http://schemas.microsoft.com/office/drawing/2014/main" id="{A0075D85-B234-44C8-902E-101F0A3CC31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DISCRIMINANT</a:t>
            </a:r>
            <a:endParaRPr sz="950"/>
          </a:p>
        </p:txBody>
      </p:sp>
      <p:sp>
        <p:nvSpPr>
          <p:cNvPr id="3" name="STC-04-slide-id">
            <a:extLst xmlns:a="http://schemas.openxmlformats.org/drawingml/2006/main">
              <a:ext uri="{FF2B5EF4-FFF2-40B4-BE49-F238E27FC236}">
                <a16:creationId xmlns:a16="http://schemas.microsoft.com/office/drawing/2014/main" id="{B14D52AE-8297-468B-A77A-23EAE8342583}"/>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STC-031</a:t>
            </a:r>
            <a:endParaRPr sz="950"/>
          </a:p>
        </p:txBody>
      </p:sp>
      <p:sp>
        <p:nvSpPr>
          <p:cNvPr id="4" name="STC-04-headline">
            <a:extLst xmlns:a="http://schemas.openxmlformats.org/drawingml/2006/main">
              <a:ext uri="{FF2B5EF4-FFF2-40B4-BE49-F238E27FC236}">
                <a16:creationId xmlns:a16="http://schemas.microsoft.com/office/drawing/2014/main" id="{3630F132-02F2-4CE1-9E25-749167C75A9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판별식 — 네 조건을 모두 만족해야 한다</a:t>
            </a:r>
            <a:endParaRPr sz="3000"/>
          </a:p>
        </p:txBody>
      </p:sp>
      <p:sp>
        <p:nvSpPr>
          <p:cNvPr id="5" name="STC-04-status-label">
            <a:extLst xmlns:a="http://schemas.openxmlformats.org/drawingml/2006/main">
              <a:ext uri="{FF2B5EF4-FFF2-40B4-BE49-F238E27FC236}">
                <a16:creationId xmlns:a16="http://schemas.microsoft.com/office/drawing/2014/main" id="{A7ACBE27-EC77-4521-8202-C2F79CB3B4F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판정 도구</a:t>
            </a:r>
            <a:endParaRPr sz="1000"/>
          </a:p>
        </p:txBody>
      </p:sp>
      <p:sp>
        <p:nvSpPr>
          <p:cNvPr id="6" name="STC-04-status-rule">
            <a:extLst xmlns:a="http://schemas.openxmlformats.org/drawingml/2006/main">
              <a:ext uri="{FF2B5EF4-FFF2-40B4-BE49-F238E27FC236}">
                <a16:creationId xmlns:a16="http://schemas.microsoft.com/office/drawing/2014/main" id="{168F3EE0-A99E-4D46-9138-97123A1B2E0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4-footer-rule">
            <a:extLst xmlns:a="http://schemas.openxmlformats.org/drawingml/2006/main">
              <a:ext uri="{FF2B5EF4-FFF2-40B4-BE49-F238E27FC236}">
                <a16:creationId xmlns:a16="http://schemas.microsoft.com/office/drawing/2014/main" id="{283A436D-9734-4A07-90CD-F35CB55E5AB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4-source-footer">
            <a:extLst xmlns:a="http://schemas.openxmlformats.org/drawingml/2006/main">
              <a:ext uri="{FF2B5EF4-FFF2-40B4-BE49-F238E27FC236}">
                <a16:creationId xmlns:a16="http://schemas.microsoft.com/office/drawing/2014/main" id="{883AB35B-5226-4881-AC75-8BEB5E56E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§11.2.1 · ch01 §01.4</a:t>
            </a:r>
            <a:endParaRPr sz="850"/>
          </a:p>
        </p:txBody>
      </p:sp>
      <p:sp>
        <p:nvSpPr>
          <p:cNvPr id="9" name="STC-04-page-number">
            <a:extLst xmlns:a="http://schemas.openxmlformats.org/drawingml/2006/main">
              <a:ext uri="{FF2B5EF4-FFF2-40B4-BE49-F238E27FC236}">
                <a16:creationId xmlns:a16="http://schemas.microsoft.com/office/drawing/2014/main" id="{EFF36FC2-57B0-4E0D-A22C-A663CD6EDD60}"/>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31</a:t>
            </a:r>
            <a:endParaRPr sz="850"/>
          </a:p>
        </p:txBody>
      </p:sp>
      <p:sp>
        <p:nvSpPr>
          <p:cNvPr id="11" name="STC-04-phase-tag-0">
            <a:extLst xmlns:a="http://schemas.openxmlformats.org/drawingml/2006/main">
              <a:ext uri="{FF2B5EF4-FFF2-40B4-BE49-F238E27FC236}">
                <a16:creationId xmlns:a16="http://schemas.microsoft.com/office/drawing/2014/main" id="{BA1F2F65-E6CA-4586-80AC-30666A36C48F}"/>
              </a:ext>
            </a:extLst>
          </p:cNvPr>
          <p:cNvSpPr>
            <a:spLocks xmlns:a="http://schemas.openxmlformats.org/drawingml/2006/main" noGrp="1"/>
          </p:cNvSpPr>
          <p:nvPr/>
        </p:nvSpPr>
        <p:spPr>
          <a:xfrm xmlns:a="http://schemas.openxmlformats.org/drawingml/2006/main">
            <a:off x="768096"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59616A"/>
                </a:solidFill>
                <a:latin typeface="Noto Sans Mono CJK KR"/>
                <a:ea typeface="Noto Sans Mono CJK KR"/>
                <a:cs typeface="Noto Sans Mono CJK KR"/>
              </a:rPr>
              <a:t>(1) 시계</a:t>
            </a:r>
            <a:endParaRPr sz="1200"/>
          </a:p>
        </p:txBody>
      </p:sp>
      <p:sp>
        <p:nvSpPr>
          <p:cNvPr id="12" name="STC-04-phase-ko-0">
            <a:extLst xmlns:a="http://schemas.openxmlformats.org/drawingml/2006/main">
              <a:ext uri="{FF2B5EF4-FFF2-40B4-BE49-F238E27FC236}">
                <a16:creationId xmlns:a16="http://schemas.microsoft.com/office/drawing/2014/main" id="{71B78324-C8F8-4909-82A4-E5B94A3ECF3B}"/>
              </a:ext>
            </a:extLst>
          </p:cNvPr>
          <p:cNvSpPr>
            <a:spLocks xmlns:a="http://schemas.openxmlformats.org/drawingml/2006/main" noGrp="1"/>
          </p:cNvSpPr>
          <p:nvPr/>
        </p:nvSpPr>
        <p:spPr>
          <a:xfrm xmlns:a="http://schemas.openxmlformats.org/drawingml/2006/main">
            <a:off x="768096"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질의 전</a:t>
            </a:r>
            <a:endParaRPr sz="2300"/>
          </a:p>
        </p:txBody>
      </p:sp>
      <p:sp>
        <p:nvSpPr>
          <p:cNvPr id="13" name="STC-04-phase-rule-0">
            <a:extLst xmlns:a="http://schemas.openxmlformats.org/drawingml/2006/main">
              <a:ext uri="{FF2B5EF4-FFF2-40B4-BE49-F238E27FC236}">
                <a16:creationId xmlns:a16="http://schemas.microsoft.com/office/drawing/2014/main" id="{7764BB8A-B05F-4718-BC24-4AD789913DE0}"/>
              </a:ext>
            </a:extLst>
          </p:cNvPr>
          <p:cNvSpPr>
            <a:spLocks xmlns:a="http://schemas.openxmlformats.org/drawingml/2006/main" noGrp="1"/>
          </p:cNvSpPr>
          <p:nvPr/>
        </p:nvSpPr>
        <p:spPr>
          <a:xfrm xmlns:a="http://schemas.openxmlformats.org/drawingml/2006/main">
            <a:off x="768096" y="2642616"/>
            <a:ext cx="2011680" cy="0"/>
          </a:xfrm>
          <a:prstGeom xmlns:a="http://schemas.openxmlformats.org/drawingml/2006/main" prst="line">
            <a:avLst/>
          </a:prstGeom>
          <a:noFill xmlns:a="http://schemas.openxmlformats.org/drawingml/2006/main"/>
          <a:ln xmlns:a="http://schemas.openxmlformats.org/drawingml/2006/main" w="50800">
            <a:solidFill>
              <a:srgbClr val="59616A"/>
            </a:solidFill>
            <a:prstDash val="solid"/>
            <a:tailEnd type="none"/>
          </a:ln>
        </p:spPr>
      </p:sp>
      <p:sp>
        <p:nvSpPr>
          <p:cNvPr id="14" name="STC-04-phase-body-0">
            <a:extLst xmlns:a="http://schemas.openxmlformats.org/drawingml/2006/main">
              <a:ext uri="{FF2B5EF4-FFF2-40B4-BE49-F238E27FC236}">
                <a16:creationId xmlns:a16="http://schemas.microsoft.com/office/drawing/2014/main" id="{D3EDF87F-330E-402B-BED1-949CABA05E93}"/>
              </a:ext>
            </a:extLst>
          </p:cNvPr>
          <p:cNvSpPr>
            <a:spLocks xmlns:a="http://schemas.openxmlformats.org/drawingml/2006/main" noGrp="1"/>
          </p:cNvSpPr>
          <p:nvPr/>
        </p:nvSpPr>
        <p:spPr>
          <a:xfrm xmlns:a="http://schemas.openxmlformats.org/drawingml/2006/main">
            <a:off x="768096"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질의 전 · 상태 변경이</a:t>
            </a:r>
            <a:endParaRPr sz="1800"/>
          </a:p>
          <a:p xmlns:a="http://schemas.openxmlformats.org/drawingml/2006/main">
            <a:pPr marL="0" indent="0">
              <a:buNone/>
            </a:pPr>
            <a:r>
              <a:rPr sz="1800">
                <a:solidFill>
                  <a:srgbClr val="17191C"/>
                </a:solidFill>
                <a:latin typeface="Noto Sans CJK KR"/>
                <a:ea typeface="Noto Sans CJK KR"/>
                <a:cs typeface="Noto Sans CJK KR"/>
              </a:rPr>
              <a:t>q 도착 전에 실행되는가</a:t>
            </a:r>
            <a:endParaRPr sz="1800"/>
          </a:p>
        </p:txBody>
      </p:sp>
      <p:sp>
        <p:nvSpPr>
          <p:cNvPr id="15" name="STC-04-phase-arrow-0">
            <a:extLst xmlns:a="http://schemas.openxmlformats.org/drawingml/2006/main">
              <a:ext uri="{FF2B5EF4-FFF2-40B4-BE49-F238E27FC236}">
                <a16:creationId xmlns:a16="http://schemas.microsoft.com/office/drawing/2014/main" id="{783D597A-ACCC-4F6B-94A9-392B971E7A96}"/>
              </a:ext>
            </a:extLst>
          </p:cNvPr>
          <p:cNvSpPr>
            <a:spLocks xmlns:a="http://schemas.openxmlformats.org/drawingml/2006/main" noGrp="1"/>
          </p:cNvSpPr>
          <p:nvPr/>
        </p:nvSpPr>
        <p:spPr>
          <a:xfrm xmlns:a="http://schemas.openxmlformats.org/drawingml/2006/main">
            <a:off x="2962656"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16" name="STC-04-phase-tag-1">
            <a:extLst xmlns:a="http://schemas.openxmlformats.org/drawingml/2006/main">
              <a:ext uri="{FF2B5EF4-FFF2-40B4-BE49-F238E27FC236}">
                <a16:creationId xmlns:a16="http://schemas.microsoft.com/office/drawing/2014/main" id="{DF120A6C-83FF-4F70-8A23-21607B85C1A0}"/>
              </a:ext>
            </a:extLst>
          </p:cNvPr>
          <p:cNvSpPr>
            <a:spLocks xmlns:a="http://schemas.openxmlformats.org/drawingml/2006/main" noGrp="1"/>
          </p:cNvSpPr>
          <p:nvPr/>
        </p:nvSpPr>
        <p:spPr>
          <a:xfrm xmlns:a="http://schemas.openxmlformats.org/drawingml/2006/main">
            <a:off x="3593592"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(2) 예산</a:t>
            </a:r>
            <a:endParaRPr sz="1200"/>
          </a:p>
        </p:txBody>
      </p:sp>
      <p:sp>
        <p:nvSpPr>
          <p:cNvPr id="17" name="STC-04-phase-ko-1">
            <a:extLst xmlns:a="http://schemas.openxmlformats.org/drawingml/2006/main">
              <a:ext uri="{FF2B5EF4-FFF2-40B4-BE49-F238E27FC236}">
                <a16:creationId xmlns:a16="http://schemas.microsoft.com/office/drawing/2014/main" id="{EC71ADFB-45C0-4738-8C38-F10FAB21F33F}"/>
              </a:ext>
            </a:extLst>
          </p:cNvPr>
          <p:cNvSpPr>
            <a:spLocks xmlns:a="http://schemas.openxmlformats.org/drawingml/2006/main" noGrp="1"/>
          </p:cNvSpPr>
          <p:nvPr/>
        </p:nvSpPr>
        <p:spPr>
          <a:xfrm xmlns:a="http://schemas.openxmlformats.org/drawingml/2006/main">
            <a:off x="3593592"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B_s&gt;0</a:t>
            </a:r>
            <a:endParaRPr sz="2300"/>
          </a:p>
        </p:txBody>
      </p:sp>
      <p:sp>
        <p:nvSpPr>
          <p:cNvPr id="18" name="STC-04-phase-rule-1">
            <a:extLst xmlns:a="http://schemas.openxmlformats.org/drawingml/2006/main">
              <a:ext uri="{FF2B5EF4-FFF2-40B4-BE49-F238E27FC236}">
                <a16:creationId xmlns:a16="http://schemas.microsoft.com/office/drawing/2014/main" id="{CD51B805-650E-4380-9B3A-E873D1907749}"/>
              </a:ext>
            </a:extLst>
          </p:cNvPr>
          <p:cNvSpPr>
            <a:spLocks xmlns:a="http://schemas.openxmlformats.org/drawingml/2006/main" noGrp="1"/>
          </p:cNvSpPr>
          <p:nvPr/>
        </p:nvSpPr>
        <p:spPr>
          <a:xfrm xmlns:a="http://schemas.openxmlformats.org/drawingml/2006/main">
            <a:off x="3593592" y="2642616"/>
            <a:ext cx="2011680" cy="0"/>
          </a:xfrm>
          <a:prstGeom xmlns:a="http://schemas.openxmlformats.org/drawingml/2006/main" prst="line">
            <a:avLst/>
          </a:prstGeom>
          <a:noFill xmlns:a="http://schemas.openxmlformats.org/drawingml/2006/main"/>
          <a:ln xmlns:a="http://schemas.openxmlformats.org/drawingml/2006/main" w="50800">
            <a:solidFill>
              <a:srgbClr val="244E8A"/>
            </a:solidFill>
            <a:prstDash val="solid"/>
            <a:tailEnd type="none"/>
          </a:ln>
        </p:spPr>
      </p:sp>
      <p:sp>
        <p:nvSpPr>
          <p:cNvPr id="19" name="STC-04-phase-body-1">
            <a:extLst xmlns:a="http://schemas.openxmlformats.org/drawingml/2006/main">
              <a:ext uri="{FF2B5EF4-FFF2-40B4-BE49-F238E27FC236}">
                <a16:creationId xmlns:a16="http://schemas.microsoft.com/office/drawing/2014/main" id="{CA6AC282-8658-4035-A58F-484C6AC4BB0A}"/>
              </a:ext>
            </a:extLst>
          </p:cNvPr>
          <p:cNvSpPr>
            <a:spLocks xmlns:a="http://schemas.openxmlformats.org/drawingml/2006/main" noGrp="1"/>
          </p:cNvSpPr>
          <p:nvPr/>
        </p:nvSpPr>
        <p:spPr>
          <a:xfrm xmlns:a="http://schemas.openxmlformats.org/drawingml/2006/main">
            <a:off x="3593592"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B_s&gt;0 · 추가</a:t>
            </a:r>
            <a:endParaRPr sz="1800"/>
          </a:p>
          <a:p xmlns:a="http://schemas.openxmlformats.org/drawingml/2006/main">
            <a:pPr marL="0" indent="0">
              <a:buNone/>
            </a:pPr>
            <a:r>
              <a:rPr sz="1800">
                <a:solidFill>
                  <a:srgbClr val="17191C"/>
                </a:solidFill>
                <a:latin typeface="Noto Sans CJK KR"/>
                <a:ea typeface="Noto Sans CJK KR"/>
                <a:cs typeface="Noto Sans CJK KR"/>
              </a:rPr>
              <a:t>계산을 실제로 소비하는가</a:t>
            </a:r>
            <a:endParaRPr sz="1800"/>
          </a:p>
        </p:txBody>
      </p:sp>
      <p:sp>
        <p:nvSpPr>
          <p:cNvPr id="20" name="STC-04-phase-arrow-1">
            <a:extLst xmlns:a="http://schemas.openxmlformats.org/drawingml/2006/main">
              <a:ext uri="{FF2B5EF4-FFF2-40B4-BE49-F238E27FC236}">
                <a16:creationId xmlns:a16="http://schemas.microsoft.com/office/drawing/2014/main" id="{78036B2A-3081-4A46-8C23-82C208923D54}"/>
              </a:ext>
            </a:extLst>
          </p:cNvPr>
          <p:cNvSpPr>
            <a:spLocks xmlns:a="http://schemas.openxmlformats.org/drawingml/2006/main" noGrp="1"/>
          </p:cNvSpPr>
          <p:nvPr/>
        </p:nvSpPr>
        <p:spPr>
          <a:xfrm xmlns:a="http://schemas.openxmlformats.org/drawingml/2006/main">
            <a:off x="5788152"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1" name="STC-04-phase-tag-2">
            <a:extLst xmlns:a="http://schemas.openxmlformats.org/drawingml/2006/main">
              <a:ext uri="{FF2B5EF4-FFF2-40B4-BE49-F238E27FC236}">
                <a16:creationId xmlns:a16="http://schemas.microsoft.com/office/drawing/2014/main" id="{14A86847-A229-4A53-8F2A-E51A71B0A175}"/>
              </a:ext>
            </a:extLst>
          </p:cNvPr>
          <p:cNvSpPr>
            <a:spLocks xmlns:a="http://schemas.openxmlformats.org/drawingml/2006/main" noGrp="1"/>
          </p:cNvSpPr>
          <p:nvPr/>
        </p:nvSpPr>
        <p:spPr>
          <a:xfrm xmlns:a="http://schemas.openxmlformats.org/drawingml/2006/main">
            <a:off x="6419088"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(3) 대상</a:t>
            </a:r>
            <a:endParaRPr sz="1200"/>
          </a:p>
        </p:txBody>
      </p:sp>
      <p:sp>
        <p:nvSpPr>
          <p:cNvPr id="22" name="STC-04-phase-ko-2">
            <a:extLst xmlns:a="http://schemas.openxmlformats.org/drawingml/2006/main">
              <a:ext uri="{FF2B5EF4-FFF2-40B4-BE49-F238E27FC236}">
                <a16:creationId xmlns:a16="http://schemas.microsoft.com/office/drawing/2014/main" id="{582DA535-C347-498A-B2F9-C40BAE20CE4F}"/>
              </a:ext>
            </a:extLst>
          </p:cNvPr>
          <p:cNvSpPr>
            <a:spLocks xmlns:a="http://schemas.openxmlformats.org/drawingml/2006/main" noGrp="1"/>
          </p:cNvSpPr>
          <p:nvPr/>
        </p:nvSpPr>
        <p:spPr>
          <a:xfrm xmlns:a="http://schemas.openxmlformats.org/drawingml/2006/main">
            <a:off x="6419088"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층</a:t>
            </a:r>
            <a:endParaRPr sz="2300"/>
          </a:p>
        </p:txBody>
      </p:sp>
      <p:sp>
        <p:nvSpPr>
          <p:cNvPr id="23" name="STC-04-phase-rule-2">
            <a:extLst xmlns:a="http://schemas.openxmlformats.org/drawingml/2006/main">
              <a:ext uri="{FF2B5EF4-FFF2-40B4-BE49-F238E27FC236}">
                <a16:creationId xmlns:a16="http://schemas.microsoft.com/office/drawing/2014/main" id="{604E16CE-5100-4FC5-8DB9-7A23B695EE76}"/>
              </a:ext>
            </a:extLst>
          </p:cNvPr>
          <p:cNvSpPr>
            <a:spLocks xmlns:a="http://schemas.openxmlformats.org/drawingml/2006/main" noGrp="1"/>
          </p:cNvSpPr>
          <p:nvPr/>
        </p:nvSpPr>
        <p:spPr>
          <a:xfrm xmlns:a="http://schemas.openxmlformats.org/drawingml/2006/main">
            <a:off x="6419088" y="2642616"/>
            <a:ext cx="2011680" cy="0"/>
          </a:xfrm>
          <a:prstGeom xmlns:a="http://schemas.openxmlformats.org/drawingml/2006/main" prst="line">
            <a:avLst/>
          </a:prstGeom>
          <a:noFill xmlns:a="http://schemas.openxmlformats.org/drawingml/2006/main"/>
          <a:ln xmlns:a="http://schemas.openxmlformats.org/drawingml/2006/main" w="50800">
            <a:solidFill>
              <a:srgbClr val="9A442D"/>
            </a:solidFill>
            <a:prstDash val="solid"/>
            <a:tailEnd type="none"/>
          </a:ln>
        </p:spPr>
      </p:sp>
      <p:sp>
        <p:nvSpPr>
          <p:cNvPr id="24" name="STC-04-phase-body-2">
            <a:extLst xmlns:a="http://schemas.openxmlformats.org/drawingml/2006/main">
              <a:ext uri="{FF2B5EF4-FFF2-40B4-BE49-F238E27FC236}">
                <a16:creationId xmlns:a16="http://schemas.microsoft.com/office/drawing/2014/main" id="{5BF3497A-374B-4090-AF18-46EDBA191D7C}"/>
              </a:ext>
            </a:extLst>
          </p:cNvPr>
          <p:cNvSpPr>
            <a:spLocks xmlns:a="http://schemas.openxmlformats.org/drawingml/2006/main" noGrp="1"/>
          </p:cNvSpPr>
          <p:nvPr/>
        </p:nvSpPr>
        <p:spPr>
          <a:xfrm xmlns:a="http://schemas.openxmlformats.org/drawingml/2006/main">
            <a:off x="6419088"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층 · Θ·W·E 중 하나의</a:t>
            </a:r>
            <a:endParaRPr sz="1800"/>
          </a:p>
          <a:p xmlns:a="http://schemas.openxmlformats.org/drawingml/2006/main">
            <a:pPr marL="0" indent="0">
              <a:buNone/>
            </a:pPr>
            <a:r>
              <a:rPr sz="1800">
                <a:solidFill>
                  <a:srgbClr val="17191C"/>
                </a:solidFill>
                <a:latin typeface="Noto Sans CJK KR"/>
                <a:ea typeface="Noto Sans CJK KR"/>
                <a:cs typeface="Noto Sans CJK KR"/>
              </a:rPr>
              <a:t>상태를 실제로 바꾸는가</a:t>
            </a:r>
            <a:endParaRPr sz="1800"/>
          </a:p>
        </p:txBody>
      </p:sp>
      <p:sp>
        <p:nvSpPr>
          <p:cNvPr id="25" name="STC-04-phase-arrow-2">
            <a:extLst xmlns:a="http://schemas.openxmlformats.org/drawingml/2006/main">
              <a:ext uri="{FF2B5EF4-FFF2-40B4-BE49-F238E27FC236}">
                <a16:creationId xmlns:a16="http://schemas.microsoft.com/office/drawing/2014/main" id="{4E7BA787-51DD-48C2-90C7-E4BC25DA526D}"/>
              </a:ext>
            </a:extLst>
          </p:cNvPr>
          <p:cNvSpPr>
            <a:spLocks xmlns:a="http://schemas.openxmlformats.org/drawingml/2006/main" noGrp="1"/>
          </p:cNvSpPr>
          <p:nvPr/>
        </p:nvSpPr>
        <p:spPr>
          <a:xfrm xmlns:a="http://schemas.openxmlformats.org/drawingml/2006/main">
            <a:off x="8613648"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04-phase-tag-3">
            <a:extLst xmlns:a="http://schemas.openxmlformats.org/drawingml/2006/main">
              <a:ext uri="{FF2B5EF4-FFF2-40B4-BE49-F238E27FC236}">
                <a16:creationId xmlns:a16="http://schemas.microsoft.com/office/drawing/2014/main" id="{3D317DA2-F326-4299-B8BF-54ACE3EE2AA9}"/>
              </a:ext>
            </a:extLst>
          </p:cNvPr>
          <p:cNvSpPr>
            <a:spLocks xmlns:a="http://schemas.openxmlformats.org/drawingml/2006/main" noGrp="1"/>
          </p:cNvSpPr>
          <p:nvPr/>
        </p:nvSpPr>
        <p:spPr>
          <a:xfrm xmlns:a="http://schemas.openxmlformats.org/drawingml/2006/main">
            <a:off x="9244584"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(4) 소비자</a:t>
            </a:r>
            <a:endParaRPr sz="1200"/>
          </a:p>
        </p:txBody>
      </p:sp>
      <p:sp>
        <p:nvSpPr>
          <p:cNvPr id="27" name="STC-04-phase-ko-3">
            <a:extLst xmlns:a="http://schemas.openxmlformats.org/drawingml/2006/main">
              <a:ext uri="{FF2B5EF4-FFF2-40B4-BE49-F238E27FC236}">
                <a16:creationId xmlns:a16="http://schemas.microsoft.com/office/drawing/2014/main" id="{F5446ADD-A14C-416D-B2F4-1A4E119F4329}"/>
              </a:ext>
            </a:extLst>
          </p:cNvPr>
          <p:cNvSpPr>
            <a:spLocks xmlns:a="http://schemas.openxmlformats.org/drawingml/2006/main" noGrp="1"/>
          </p:cNvSpPr>
          <p:nvPr/>
        </p:nvSpPr>
        <p:spPr>
          <a:xfrm xmlns:a="http://schemas.openxmlformats.org/drawingml/2006/main">
            <a:off x="9244584"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이후 질의</a:t>
            </a:r>
            <a:endParaRPr sz="2300"/>
          </a:p>
        </p:txBody>
      </p:sp>
      <p:sp>
        <p:nvSpPr>
          <p:cNvPr id="28" name="STC-04-phase-rule-3">
            <a:extLst xmlns:a="http://schemas.openxmlformats.org/drawingml/2006/main">
              <a:ext uri="{FF2B5EF4-FFF2-40B4-BE49-F238E27FC236}">
                <a16:creationId xmlns:a16="http://schemas.microsoft.com/office/drawing/2014/main" id="{4455D656-930A-404D-BF54-7ED24B2942EA}"/>
              </a:ext>
            </a:extLst>
          </p:cNvPr>
          <p:cNvSpPr>
            <a:spLocks xmlns:a="http://schemas.openxmlformats.org/drawingml/2006/main" noGrp="1"/>
          </p:cNvSpPr>
          <p:nvPr/>
        </p:nvSpPr>
        <p:spPr>
          <a:xfrm xmlns:a="http://schemas.openxmlformats.org/drawingml/2006/main">
            <a:off x="9244584" y="2642616"/>
            <a:ext cx="2011680" cy="0"/>
          </a:xfrm>
          <a:prstGeom xmlns:a="http://schemas.openxmlformats.org/drawingml/2006/main" prst="line">
            <a:avLst/>
          </a:prstGeom>
          <a:noFill xmlns:a="http://schemas.openxmlformats.org/drawingml/2006/main"/>
          <a:ln xmlns:a="http://schemas.openxmlformats.org/drawingml/2006/main" w="50800">
            <a:solidFill>
              <a:srgbClr val="2F6B63"/>
            </a:solidFill>
            <a:prstDash val="solid"/>
            <a:tailEnd type="none"/>
          </a:ln>
        </p:spPr>
      </p:sp>
      <p:sp>
        <p:nvSpPr>
          <p:cNvPr id="29" name="STC-04-phase-body-3">
            <a:extLst xmlns:a="http://schemas.openxmlformats.org/drawingml/2006/main">
              <a:ext uri="{FF2B5EF4-FFF2-40B4-BE49-F238E27FC236}">
                <a16:creationId xmlns:a16="http://schemas.microsoft.com/office/drawing/2014/main" id="{FE89CD84-AEBE-4991-983F-DACD28BF3807}"/>
              </a:ext>
            </a:extLst>
          </p:cNvPr>
          <p:cNvSpPr>
            <a:spLocks xmlns:a="http://schemas.openxmlformats.org/drawingml/2006/main" noGrp="1"/>
          </p:cNvSpPr>
          <p:nvPr/>
        </p:nvSpPr>
        <p:spPr>
          <a:xfrm xmlns:a="http://schemas.openxmlformats.org/drawingml/2006/main">
            <a:off x="9244584"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이후 질의 · 그</a:t>
            </a:r>
            <a:endParaRPr sz="1800"/>
          </a:p>
          <a:p xmlns:a="http://schemas.openxmlformats.org/drawingml/2006/main">
            <a:pPr marL="0" indent="0">
              <a:buNone/>
            </a:pPr>
            <a:r>
              <a:rPr sz="1800">
                <a:solidFill>
                  <a:srgbClr val="17191C"/>
                </a:solidFill>
                <a:latin typeface="Noto Sans CJK KR"/>
                <a:ea typeface="Noto Sans CJK KR"/>
                <a:cs typeface="Noto Sans CJK KR"/>
              </a:rPr>
              <a:t>변화를 다른 질의가 쓰는가</a:t>
            </a:r>
            <a:endParaRPr sz="1800"/>
          </a:p>
        </p:txBody>
      </p:sp>
      <p:sp>
        <p:nvSpPr>
          <p:cNvPr id="30" name="STC-04-phase-invariant">
            <a:extLst xmlns:a="http://schemas.openxmlformats.org/drawingml/2006/main">
              <a:ext uri="{FF2B5EF4-FFF2-40B4-BE49-F238E27FC236}">
                <a16:creationId xmlns:a16="http://schemas.microsoft.com/office/drawing/2014/main" id="{03288DCF-E840-4104-9A86-10724C88811D}"/>
              </a:ext>
            </a:extLst>
          </p:cNvPr>
          <p:cNvSpPr>
            <a:spLocks xmlns:a="http://schemas.openxmlformats.org/drawingml/2006/main" noGrp="1"/>
          </p:cNvSpPr>
          <p:nvPr/>
        </p:nvSpPr>
        <p:spPr>
          <a:xfrm xmlns:a="http://schemas.openxmlformats.org/drawingml/2006/main">
            <a:off x="1188720" y="4736592"/>
            <a:ext cx="9811512" cy="6035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31" name="STC-04-phase-invariant-text">
            <a:extLst xmlns:a="http://schemas.openxmlformats.org/drawingml/2006/main">
              <a:ext uri="{FF2B5EF4-FFF2-40B4-BE49-F238E27FC236}">
                <a16:creationId xmlns:a16="http://schemas.microsoft.com/office/drawing/2014/main" id="{F965FB3E-3D1D-4CF8-8579-F6405F044BA3}"/>
              </a:ext>
            </a:extLst>
          </p:cNvPr>
          <p:cNvSpPr>
            <a:spLocks xmlns:a="http://schemas.openxmlformats.org/drawingml/2006/main" noGrp="1"/>
          </p:cNvSpPr>
          <p:nvPr/>
        </p:nvSpPr>
        <p:spPr>
          <a:xfrm xmlns:a="http://schemas.openxmlformats.org/drawingml/2006/main">
            <a:off x="1435608" y="4919472"/>
            <a:ext cx="93268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판별식은 논문의 자기 규정도 성능도 묻지 않는다. 보는 것은 갱신식과 시계의 쌍뿐이다</a:t>
            </a:r>
            <a:endParaRPr sz="1700"/>
          </a:p>
        </p:txBody>
      </p:sp>
    </p:spTree>
    <p:extLst>
      <p:ext uri="{BB962C8B-B14F-4D97-AF65-F5344CB8AC3E}">
        <p14:creationId xmlns:p14="http://schemas.microsoft.com/office/powerpoint/2010/main" val="37494492"/>
      </p:ext>
    </p:extLst>
  </p:cSld>
</p:sld>
</file>

<file path=ppt/slides/slide3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2-section">
            <a:extLst xmlns:a="http://schemas.openxmlformats.org/drawingml/2006/main">
              <a:ext uri="{FF2B5EF4-FFF2-40B4-BE49-F238E27FC236}">
                <a16:creationId xmlns:a16="http://schemas.microsoft.com/office/drawing/2014/main" id="{B3AE04B8-8245-44A2-8AD4-9A767BB156F4}"/>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DISCRIMINANT</a:t>
            </a:r>
            <a:endParaRPr sz="950"/>
          </a:p>
        </p:txBody>
      </p:sp>
      <p:sp>
        <p:nvSpPr>
          <p:cNvPr id="3" name="STC-02-slide-id">
            <a:extLst xmlns:a="http://schemas.openxmlformats.org/drawingml/2006/main">
              <a:ext uri="{FF2B5EF4-FFF2-40B4-BE49-F238E27FC236}">
                <a16:creationId xmlns:a16="http://schemas.microsoft.com/office/drawing/2014/main" id="{BE855689-E691-4D5A-A176-FA0CC6C672AC}"/>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STC-032</a:t>
            </a:r>
            <a:endParaRPr sz="950"/>
          </a:p>
        </p:txBody>
      </p:sp>
      <p:sp>
        <p:nvSpPr>
          <p:cNvPr id="4" name="STC-02-headline">
            <a:extLst xmlns:a="http://schemas.openxmlformats.org/drawingml/2006/main">
              <a:ext uri="{FF2B5EF4-FFF2-40B4-BE49-F238E27FC236}">
                <a16:creationId xmlns:a16="http://schemas.microsoft.com/office/drawing/2014/main" id="{9F4BA35A-C084-4820-A869-3F58338107FA}"/>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판별식이 묻지 않는 것 둘</a:t>
            </a:r>
            <a:endParaRPr sz="3000"/>
          </a:p>
        </p:txBody>
      </p:sp>
      <p:sp>
        <p:nvSpPr>
          <p:cNvPr id="5" name="STC-02-status-label">
            <a:extLst xmlns:a="http://schemas.openxmlformats.org/drawingml/2006/main">
              <a:ext uri="{FF2B5EF4-FFF2-40B4-BE49-F238E27FC236}">
                <a16:creationId xmlns:a16="http://schemas.microsoft.com/office/drawing/2014/main" id="{1B872D46-D4B1-425B-A362-8822456881AC}"/>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규칙</a:t>
            </a:r>
            <a:endParaRPr sz="1000"/>
          </a:p>
        </p:txBody>
      </p:sp>
      <p:sp>
        <p:nvSpPr>
          <p:cNvPr id="6" name="STC-02-status-rule">
            <a:extLst xmlns:a="http://schemas.openxmlformats.org/drawingml/2006/main">
              <a:ext uri="{FF2B5EF4-FFF2-40B4-BE49-F238E27FC236}">
                <a16:creationId xmlns:a16="http://schemas.microsoft.com/office/drawing/2014/main" id="{AAA2BDB5-9AB1-43CC-81F2-726033A947FE}"/>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2-footer-rule">
            <a:extLst xmlns:a="http://schemas.openxmlformats.org/drawingml/2006/main">
              <a:ext uri="{FF2B5EF4-FFF2-40B4-BE49-F238E27FC236}">
                <a16:creationId xmlns:a16="http://schemas.microsoft.com/office/drawing/2014/main" id="{90EAC1C3-0B28-440F-82C3-430CFCB7A87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2-source-footer">
            <a:extLst xmlns:a="http://schemas.openxmlformats.org/drawingml/2006/main">
              <a:ext uri="{FF2B5EF4-FFF2-40B4-BE49-F238E27FC236}">
                <a16:creationId xmlns:a16="http://schemas.microsoft.com/office/drawing/2014/main" id="{793D87D7-D04F-48E5-B4E6-8B70035D63C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§11.2.1</a:t>
            </a:r>
            <a:endParaRPr sz="850"/>
          </a:p>
        </p:txBody>
      </p:sp>
      <p:sp>
        <p:nvSpPr>
          <p:cNvPr id="9" name="STC-02-page-number">
            <a:extLst xmlns:a="http://schemas.openxmlformats.org/drawingml/2006/main">
              <a:ext uri="{FF2B5EF4-FFF2-40B4-BE49-F238E27FC236}">
                <a16:creationId xmlns:a16="http://schemas.microsoft.com/office/drawing/2014/main" id="{9B82730B-5BA4-40C1-BB36-231F3E2F81B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32</a:t>
            </a:r>
            <a:endParaRPr sz="850"/>
          </a:p>
        </p:txBody>
      </p:sp>
      <p:sp>
        <p:nvSpPr>
          <p:cNvPr id="11" name="STC-02-when">
            <a:extLst xmlns:a="http://schemas.openxmlformats.org/drawingml/2006/main">
              <a:ext uri="{FF2B5EF4-FFF2-40B4-BE49-F238E27FC236}">
                <a16:creationId xmlns:a16="http://schemas.microsoft.com/office/drawing/2014/main" id="{16BCA9BF-B6CB-412C-9306-FDAB2AE1F9FD}"/>
              </a:ext>
            </a:extLst>
          </p:cNvPr>
          <p:cNvSpPr>
            <a:spLocks xmlns:a="http://schemas.openxmlformats.org/drawingml/2006/main" noGrp="1"/>
          </p:cNvSpPr>
          <p:nvPr/>
        </p:nvSpPr>
        <p:spPr>
          <a:xfrm xmlns:a="http://schemas.openxmlformats.org/drawingml/2006/main">
            <a:off x="731520" y="1673352"/>
            <a:ext cx="9601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44E8A"/>
                </a:solidFill>
                <a:latin typeface="Noto Serif CJK KR"/>
                <a:ea typeface="Noto Serif CJK KR"/>
                <a:cs typeface="Noto Serif CJK KR"/>
              </a:rPr>
              <a:t>자기 규정</a:t>
            </a:r>
            <a:endParaRPr sz="2800"/>
          </a:p>
        </p:txBody>
      </p:sp>
      <p:sp>
        <p:nvSpPr>
          <p:cNvPr id="12" name="STC-02-what">
            <a:extLst xmlns:a="http://schemas.openxmlformats.org/drawingml/2006/main">
              <a:ext uri="{FF2B5EF4-FFF2-40B4-BE49-F238E27FC236}">
                <a16:creationId xmlns:a16="http://schemas.microsoft.com/office/drawing/2014/main" id="{4D549EF3-5805-4997-88E2-74654ACC4A4F}"/>
              </a:ext>
            </a:extLst>
          </p:cNvPr>
          <p:cNvSpPr>
            <a:spLocks xmlns:a="http://schemas.openxmlformats.org/drawingml/2006/main" noGrp="1"/>
          </p:cNvSpPr>
          <p:nvPr/>
        </p:nvSpPr>
        <p:spPr>
          <a:xfrm xmlns:a="http://schemas.openxmlformats.org/drawingml/2006/main">
            <a:off x="731520" y="2761488"/>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9A442D"/>
                </a:solidFill>
                <a:latin typeface="Noto Serif CJK KR"/>
                <a:ea typeface="Noto Serif CJK KR"/>
                <a:cs typeface="Noto Serif CJK KR"/>
              </a:rPr>
              <a:t>성능</a:t>
            </a:r>
            <a:endParaRPr sz="2800"/>
          </a:p>
        </p:txBody>
      </p:sp>
      <p:sp>
        <p:nvSpPr>
          <p:cNvPr id="13" name="STC-02-where">
            <a:extLst xmlns:a="http://schemas.openxmlformats.org/drawingml/2006/main">
              <a:ext uri="{FF2B5EF4-FFF2-40B4-BE49-F238E27FC236}">
                <a16:creationId xmlns:a16="http://schemas.microsoft.com/office/drawing/2014/main" id="{F2ABEEFC-09C0-4ED9-A436-4F6FF445EF5A}"/>
              </a:ext>
            </a:extLst>
          </p:cNvPr>
          <p:cNvSpPr>
            <a:spLocks xmlns:a="http://schemas.openxmlformats.org/drawingml/2006/main" noGrp="1"/>
          </p:cNvSpPr>
          <p:nvPr/>
        </p:nvSpPr>
        <p:spPr>
          <a:xfrm xmlns:a="http://schemas.openxmlformats.org/drawingml/2006/main">
            <a:off x="731520" y="3849624"/>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F6B63"/>
                </a:solidFill>
                <a:latin typeface="Noto Serif CJK KR"/>
                <a:ea typeface="Noto Serif CJK KR"/>
                <a:cs typeface="Noto Serif CJK KR"/>
              </a:rPr>
              <a:t>재량</a:t>
            </a:r>
            <a:endParaRPr sz="2800"/>
          </a:p>
        </p:txBody>
      </p:sp>
      <p:sp>
        <p:nvSpPr>
          <p:cNvPr id="14" name="STC-02-when-line">
            <a:extLst xmlns:a="http://schemas.openxmlformats.org/drawingml/2006/main">
              <a:ext uri="{FF2B5EF4-FFF2-40B4-BE49-F238E27FC236}">
                <a16:creationId xmlns:a16="http://schemas.microsoft.com/office/drawing/2014/main" id="{A0043737-4272-4C17-86C1-34866CB1C145}"/>
              </a:ext>
            </a:extLst>
          </p:cNvPr>
          <p:cNvSpPr>
            <a:spLocks xmlns:a="http://schemas.openxmlformats.org/drawingml/2006/main" noGrp="1"/>
          </p:cNvSpPr>
          <p:nvPr/>
        </p:nvSpPr>
        <p:spPr>
          <a:xfrm xmlns:a="http://schemas.openxmlformats.org/drawingml/2006/main">
            <a:off x="2148840" y="1865376"/>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5" name="STC-02-what-line">
            <a:extLst xmlns:a="http://schemas.openxmlformats.org/drawingml/2006/main">
              <a:ext uri="{FF2B5EF4-FFF2-40B4-BE49-F238E27FC236}">
                <a16:creationId xmlns:a16="http://schemas.microsoft.com/office/drawing/2014/main" id="{19984047-E359-40E7-B1A0-D045178C217D}"/>
              </a:ext>
            </a:extLst>
          </p:cNvPr>
          <p:cNvSpPr>
            <a:spLocks xmlns:a="http://schemas.openxmlformats.org/drawingml/2006/main" noGrp="1"/>
          </p:cNvSpPr>
          <p:nvPr/>
        </p:nvSpPr>
        <p:spPr>
          <a:xfrm xmlns:a="http://schemas.openxmlformats.org/drawingml/2006/main">
            <a:off x="2148840" y="2953512"/>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6" name="STC-02-where-line">
            <a:extLst xmlns:a="http://schemas.openxmlformats.org/drawingml/2006/main">
              <a:ext uri="{FF2B5EF4-FFF2-40B4-BE49-F238E27FC236}">
                <a16:creationId xmlns:a16="http://schemas.microsoft.com/office/drawing/2014/main" id="{AC3FBBFF-8861-47FA-A523-B7B08374B29E}"/>
              </a:ext>
            </a:extLst>
          </p:cNvPr>
          <p:cNvSpPr>
            <a:spLocks xmlns:a="http://schemas.openxmlformats.org/drawingml/2006/main" noGrp="1"/>
          </p:cNvSpPr>
          <p:nvPr/>
        </p:nvSpPr>
        <p:spPr>
          <a:xfrm xmlns:a="http://schemas.openxmlformats.org/drawingml/2006/main">
            <a:off x="2148840" y="4041648"/>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7" name="STC-02-when-answer">
            <a:extLst xmlns:a="http://schemas.openxmlformats.org/drawingml/2006/main">
              <a:ext uri="{FF2B5EF4-FFF2-40B4-BE49-F238E27FC236}">
                <a16:creationId xmlns:a16="http://schemas.microsoft.com/office/drawing/2014/main" id="{DE30F009-38B4-4744-A843-3338330F9296}"/>
              </a:ext>
            </a:extLst>
          </p:cNvPr>
          <p:cNvSpPr>
            <a:spLocks xmlns:a="http://schemas.openxmlformats.org/drawingml/2006/main" noGrp="1"/>
          </p:cNvSpPr>
          <p:nvPr/>
        </p:nvSpPr>
        <p:spPr>
          <a:xfrm xmlns:a="http://schemas.openxmlformats.org/drawingml/2006/main">
            <a:off x="2377440" y="1618488"/>
            <a:ext cx="7269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제목·초록·저자의 명명은 입력이 아니다</a:t>
            </a:r>
            <a:endParaRPr sz="2100"/>
          </a:p>
        </p:txBody>
      </p:sp>
      <p:sp>
        <p:nvSpPr>
          <p:cNvPr id="18" name="STC-02-what-answer">
            <a:extLst xmlns:a="http://schemas.openxmlformats.org/drawingml/2006/main">
              <a:ext uri="{FF2B5EF4-FFF2-40B4-BE49-F238E27FC236}">
                <a16:creationId xmlns:a16="http://schemas.microsoft.com/office/drawing/2014/main" id="{31F10D90-9E59-4017-AAB6-C5184B790324}"/>
              </a:ext>
            </a:extLst>
          </p:cNvPr>
          <p:cNvSpPr>
            <a:spLocks xmlns:a="http://schemas.openxmlformats.org/drawingml/2006/main" noGrp="1"/>
          </p:cNvSpPr>
          <p:nvPr/>
        </p:nvSpPr>
        <p:spPr>
          <a:xfrm xmlns:a="http://schemas.openxmlformats.org/drawingml/2006/main">
            <a:off x="2377440" y="2706624"/>
            <a:ext cx="78638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이득의 유무와 크기는 소속과 무관하다</a:t>
            </a:r>
            <a:endParaRPr sz="2100"/>
          </a:p>
        </p:txBody>
      </p:sp>
      <p:sp>
        <p:nvSpPr>
          <p:cNvPr id="19" name="STC-02-where-answer">
            <a:extLst xmlns:a="http://schemas.openxmlformats.org/drawingml/2006/main">
              <a:ext uri="{FF2B5EF4-FFF2-40B4-BE49-F238E27FC236}">
                <a16:creationId xmlns:a16="http://schemas.microsoft.com/office/drawing/2014/main" id="{7B9DAECE-395E-4C23-8BFF-9AE8A0ABEE81}"/>
              </a:ext>
            </a:extLst>
          </p:cNvPr>
          <p:cNvSpPr>
            <a:spLocks xmlns:a="http://schemas.openxmlformats.org/drawingml/2006/main" noGrp="1"/>
          </p:cNvSpPr>
          <p:nvPr/>
        </p:nvSpPr>
        <p:spPr>
          <a:xfrm xmlns:a="http://schemas.openxmlformats.org/drawingml/2006/main">
            <a:off x="2377440" y="3794760"/>
            <a:ext cx="8458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다섯 단계를 같은 순서로 돌아 제거한다</a:t>
            </a:r>
            <a:endParaRPr sz="2100"/>
          </a:p>
        </p:txBody>
      </p:sp>
      <p:sp>
        <p:nvSpPr>
          <p:cNvPr id="20" name="STC-02-thesis-bar">
            <a:extLst xmlns:a="http://schemas.openxmlformats.org/drawingml/2006/main">
              <a:ext uri="{FF2B5EF4-FFF2-40B4-BE49-F238E27FC236}">
                <a16:creationId xmlns:a16="http://schemas.microsoft.com/office/drawing/2014/main" id="{307CCCCF-FC4F-496A-AFFE-4544A0437B9F}"/>
              </a:ext>
            </a:extLst>
          </p:cNvPr>
          <p:cNvSpPr>
            <a:spLocks xmlns:a="http://schemas.openxmlformats.org/drawingml/2006/main" noGrp="1"/>
          </p:cNvSpPr>
          <p:nvPr/>
        </p:nvSpPr>
        <p:spPr>
          <a:xfrm xmlns:a="http://schemas.openxmlformats.org/drawingml/2006/main">
            <a:off x="2359152" y="4791456"/>
            <a:ext cx="8174736" cy="731520"/>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02-thesis-bar-text">
            <a:extLst xmlns:a="http://schemas.openxmlformats.org/drawingml/2006/main">
              <a:ext uri="{FF2B5EF4-FFF2-40B4-BE49-F238E27FC236}">
                <a16:creationId xmlns:a16="http://schemas.microsoft.com/office/drawing/2014/main" id="{A739DA4E-B679-406F-8823-36B5720A9DC8}"/>
              </a:ext>
            </a:extLst>
          </p:cNvPr>
          <p:cNvSpPr>
            <a:spLocks xmlns:a="http://schemas.openxmlformats.org/drawingml/2006/main" noGrp="1"/>
          </p:cNvSpPr>
          <p:nvPr/>
        </p:nvSpPr>
        <p:spPr>
          <a:xfrm xmlns:a="http://schemas.openxmlformats.org/drawingml/2006/main">
            <a:off x="2606040" y="5001768"/>
            <a:ext cx="7680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900" b="1">
                <a:solidFill>
                  <a:srgbClr val="FFFFFF"/>
                </a:solidFill>
                <a:latin typeface="Noto Sans CJK KR"/>
                <a:ea typeface="Noto Sans CJK KR"/>
                <a:cs typeface="Noto Sans CJK KR"/>
              </a:rPr>
              <a:t>이득이 있는지는 이 범주에 속하는지와 무관하다 — 이득의 크기는 판정 절이 다룬다</a:t>
            </a:r>
            <a:endParaRPr sz="1900"/>
          </a:p>
        </p:txBody>
      </p:sp>
    </p:spTree>
    <p:extLst>
      <p:ext uri="{BB962C8B-B14F-4D97-AF65-F5344CB8AC3E}">
        <p14:creationId xmlns:p14="http://schemas.microsoft.com/office/powerpoint/2010/main" val="1716489855"/>
      </p:ext>
    </p:extLst>
  </p:cSld>
</p:sld>
</file>

<file path=ppt/slides/slide3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DISCRIMINANT</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STC-033</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적용 절차 — 다섯 단계를 같은 순서로 돈다</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절차</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§11.2.2</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33</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연산자</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좌변이 상태인 식</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층 배정</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Θ · W · E</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시계</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t · k · τ</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예산</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추론인가 저장인가</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소비자</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이후 질의인가</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재현성</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재량 없음</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1–2단계는 논문의 수식만 보고, 3–5단계는</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실험 설정만 본다. 저자의 서술은 입력이 아니다</a:t>
            </a:r>
            <a:endParaRPr sz="1500"/>
          </a:p>
        </p:txBody>
      </p:sp>
    </p:spTree>
    <p:extLst>
      <p:ext uri="{BB962C8B-B14F-4D97-AF65-F5344CB8AC3E}">
        <p14:creationId xmlns:p14="http://schemas.microsoft.com/office/powerpoint/2010/main" val="931853972"/>
      </p:ext>
    </p:extLst>
  </p:cSld>
</p:sld>
</file>

<file path=ppt/slides/slide3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0-section">
            <a:extLst xmlns:a="http://schemas.openxmlformats.org/drawingml/2006/main">
              <a:ext uri="{FF2B5EF4-FFF2-40B4-BE49-F238E27FC236}">
                <a16:creationId xmlns:a16="http://schemas.microsoft.com/office/drawing/2014/main" id="{EF3FC378-6B44-4B49-B1BB-4667473BF88D}"/>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DISCRIMINANT</a:t>
            </a:r>
            <a:endParaRPr sz="950"/>
          </a:p>
        </p:txBody>
      </p:sp>
      <p:sp>
        <p:nvSpPr>
          <p:cNvPr id="3" name="STC-20-slide-id">
            <a:extLst xmlns:a="http://schemas.openxmlformats.org/drawingml/2006/main">
              <a:ext uri="{FF2B5EF4-FFF2-40B4-BE49-F238E27FC236}">
                <a16:creationId xmlns:a16="http://schemas.microsoft.com/office/drawing/2014/main" id="{CC20B574-D2C0-4046-9A1A-25ADE22F8D1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STC-034</a:t>
            </a:r>
            <a:endParaRPr sz="950"/>
          </a:p>
        </p:txBody>
      </p:sp>
      <p:sp>
        <p:nvSpPr>
          <p:cNvPr id="4" name="STC-20-headline">
            <a:extLst xmlns:a="http://schemas.openxmlformats.org/drawingml/2006/main">
              <a:ext uri="{FF2B5EF4-FFF2-40B4-BE49-F238E27FC236}">
                <a16:creationId xmlns:a16="http://schemas.microsoft.com/office/drawing/2014/main" id="{81422673-09A9-4801-94A9-13C70E66A3C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조건 (1)을 빼면 — 모든 쓰기가 sleep이 된다</a:t>
            </a:r>
            <a:endParaRPr sz="3000"/>
          </a:p>
        </p:txBody>
      </p:sp>
      <p:sp>
        <p:nvSpPr>
          <p:cNvPr id="5" name="STC-20-status-label">
            <a:extLst xmlns:a="http://schemas.openxmlformats.org/drawingml/2006/main">
              <a:ext uri="{FF2B5EF4-FFF2-40B4-BE49-F238E27FC236}">
                <a16:creationId xmlns:a16="http://schemas.microsoft.com/office/drawing/2014/main" id="{14A8D44A-E47B-4BF7-8A5A-F78858804A15}"/>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확립</a:t>
            </a:r>
            <a:endParaRPr sz="1000"/>
          </a:p>
        </p:txBody>
      </p:sp>
      <p:sp>
        <p:nvSpPr>
          <p:cNvPr id="6" name="STC-20-status-rule">
            <a:extLst xmlns:a="http://schemas.openxmlformats.org/drawingml/2006/main">
              <a:ext uri="{FF2B5EF4-FFF2-40B4-BE49-F238E27FC236}">
                <a16:creationId xmlns:a16="http://schemas.microsoft.com/office/drawing/2014/main" id="{9111AC13-7AC9-486F-A35E-14918CB2FAEA}"/>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20-footer-rule">
            <a:extLst xmlns:a="http://schemas.openxmlformats.org/drawingml/2006/main">
              <a:ext uri="{FF2B5EF4-FFF2-40B4-BE49-F238E27FC236}">
                <a16:creationId xmlns:a16="http://schemas.microsoft.com/office/drawing/2014/main" id="{99AB930A-93F8-4C3C-B1B2-60A6CD2FD70F}"/>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0-source-footer">
            <a:extLst xmlns:a="http://schemas.openxmlformats.org/drawingml/2006/main">
              <a:ext uri="{FF2B5EF4-FFF2-40B4-BE49-F238E27FC236}">
                <a16:creationId xmlns:a16="http://schemas.microsoft.com/office/drawing/2014/main" id="{ACA61175-AD4B-4248-BD6E-1C9E5F3D48A1}"/>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§11.2.3 · [MemGPT §2.3] · [SCM §3.2]</a:t>
            </a:r>
            <a:endParaRPr sz="850"/>
          </a:p>
        </p:txBody>
      </p:sp>
      <p:sp>
        <p:nvSpPr>
          <p:cNvPr id="9" name="STC-20-page-number">
            <a:extLst xmlns:a="http://schemas.openxmlformats.org/drawingml/2006/main">
              <a:ext uri="{FF2B5EF4-FFF2-40B4-BE49-F238E27FC236}">
                <a16:creationId xmlns:a16="http://schemas.microsoft.com/office/drawing/2014/main" id="{BFF20DF2-5531-4220-9167-36B66397782A}"/>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34</a:t>
            </a:r>
            <a:endParaRPr sz="850"/>
          </a:p>
        </p:txBody>
      </p:sp>
      <p:sp>
        <p:nvSpPr>
          <p:cNvPr id="11" name="STC-20-infra-plane-0">
            <a:extLst xmlns:a="http://schemas.openxmlformats.org/drawingml/2006/main">
              <a:ext uri="{FF2B5EF4-FFF2-40B4-BE49-F238E27FC236}">
                <a16:creationId xmlns:a16="http://schemas.microsoft.com/office/drawing/2014/main" id="{C8220505-B492-4023-B70A-A2232E14F70E}"/>
              </a:ext>
            </a:extLst>
          </p:cNvPr>
          <p:cNvSpPr>
            <a:spLocks xmlns:a="http://schemas.openxmlformats.org/drawingml/2006/main" noGrp="1"/>
          </p:cNvSpPr>
          <p:nvPr/>
        </p:nvSpPr>
        <p:spPr>
          <a:xfrm xmlns:a="http://schemas.openxmlformats.org/drawingml/2006/main">
            <a:off x="749808" y="2633472"/>
            <a:ext cx="2514600" cy="2057400"/>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2" name="STC-20-infra-label-0">
            <a:extLst xmlns:a="http://schemas.openxmlformats.org/drawingml/2006/main">
              <a:ext uri="{FF2B5EF4-FFF2-40B4-BE49-F238E27FC236}">
                <a16:creationId xmlns:a16="http://schemas.microsoft.com/office/drawing/2014/main" id="{874AE9C7-25F3-4D96-A818-0C8E56EBC16F}"/>
              </a:ext>
            </a:extLst>
          </p:cNvPr>
          <p:cNvSpPr>
            <a:spLocks xmlns:a="http://schemas.openxmlformats.org/drawingml/2006/main" noGrp="1"/>
          </p:cNvSpPr>
          <p:nvPr/>
        </p:nvSpPr>
        <p:spPr>
          <a:xfrm xmlns:a="http://schemas.openxmlformats.org/drawingml/2006/main">
            <a:off x="932688"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244E8A"/>
                </a:solidFill>
                <a:latin typeface="Noto Sans Mono CJK KR"/>
                <a:ea typeface="Noto Sans Mono CJK KR"/>
                <a:cs typeface="Noto Sans Mono CJK KR"/>
              </a:rPr>
              <a:t>MemGPT</a:t>
            </a:r>
            <a:endParaRPr sz="1150"/>
          </a:p>
        </p:txBody>
      </p:sp>
      <p:sp>
        <p:nvSpPr>
          <p:cNvPr id="13" name="STC-20-infra-body-0">
            <a:extLst xmlns:a="http://schemas.openxmlformats.org/drawingml/2006/main">
              <a:ext uri="{FF2B5EF4-FFF2-40B4-BE49-F238E27FC236}">
                <a16:creationId xmlns:a16="http://schemas.microsoft.com/office/drawing/2014/main" id="{EAA62413-4D3B-461E-A878-B0FEC894A515}"/>
              </a:ext>
            </a:extLst>
          </p:cNvPr>
          <p:cNvSpPr>
            <a:spLocks xmlns:a="http://schemas.openxmlformats.org/drawingml/2006/main" noGrp="1"/>
          </p:cNvSpPr>
          <p:nvPr/>
        </p:nvSpPr>
        <p:spPr>
          <a:xfrm xmlns:a="http://schemas.openxmlformats.org/drawingml/2006/main">
            <a:off x="978408"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쓰기를 사용자</a:t>
            </a:r>
            <a:endParaRPr sz="1800"/>
          </a:p>
          <a:p xmlns:a="http://schemas.openxmlformats.org/drawingml/2006/main">
            <a:pPr marL="0" indent="0" algn="ctr">
              <a:buNone/>
            </a:pPr>
            <a:r>
              <a:rPr sz="1800" b="1">
                <a:solidFill>
                  <a:srgbClr val="17191C"/>
                </a:solidFill>
                <a:latin typeface="Noto Sans CJK KR"/>
                <a:ea typeface="Noto Sans CJK KR"/>
                <a:cs typeface="Noto Sans CJK KR"/>
              </a:rPr>
              <a:t>턴 안에서 수행한다</a:t>
            </a:r>
            <a:endParaRPr sz="1800"/>
          </a:p>
        </p:txBody>
      </p:sp>
      <p:sp>
        <p:nvSpPr>
          <p:cNvPr id="14" name="STC-20-infra-arrow-0">
            <a:extLst xmlns:a="http://schemas.openxmlformats.org/drawingml/2006/main">
              <a:ext uri="{FF2B5EF4-FFF2-40B4-BE49-F238E27FC236}">
                <a16:creationId xmlns:a16="http://schemas.microsoft.com/office/drawing/2014/main" id="{B8F31725-8432-4D1D-9A1E-34BAF08A8290}"/>
              </a:ext>
            </a:extLst>
          </p:cNvPr>
          <p:cNvSpPr>
            <a:spLocks xmlns:a="http://schemas.openxmlformats.org/drawingml/2006/main" noGrp="1"/>
          </p:cNvSpPr>
          <p:nvPr/>
        </p:nvSpPr>
        <p:spPr>
          <a:xfrm xmlns:a="http://schemas.openxmlformats.org/drawingml/2006/main">
            <a:off x="3346704" y="3657600"/>
            <a:ext cx="530352"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5" name="STC-20-infra-plane-1">
            <a:extLst xmlns:a="http://schemas.openxmlformats.org/drawingml/2006/main">
              <a:ext uri="{FF2B5EF4-FFF2-40B4-BE49-F238E27FC236}">
                <a16:creationId xmlns:a16="http://schemas.microsoft.com/office/drawing/2014/main" id="{383116CD-3E34-4394-B8A0-C315F75F29F2}"/>
              </a:ext>
            </a:extLst>
          </p:cNvPr>
          <p:cNvSpPr>
            <a:spLocks xmlns:a="http://schemas.openxmlformats.org/drawingml/2006/main" noGrp="1"/>
          </p:cNvSpPr>
          <p:nvPr/>
        </p:nvSpPr>
        <p:spPr>
          <a:xfrm xmlns:a="http://schemas.openxmlformats.org/drawingml/2006/main">
            <a:off x="3977640" y="2633472"/>
            <a:ext cx="2514600" cy="2057400"/>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6" name="STC-20-infra-label-1">
            <a:extLst xmlns:a="http://schemas.openxmlformats.org/drawingml/2006/main">
              <a:ext uri="{FF2B5EF4-FFF2-40B4-BE49-F238E27FC236}">
                <a16:creationId xmlns:a16="http://schemas.microsoft.com/office/drawing/2014/main" id="{AB17AEA0-6CEA-4C76-B857-1E4165564301}"/>
              </a:ext>
            </a:extLst>
          </p:cNvPr>
          <p:cNvSpPr>
            <a:spLocks xmlns:a="http://schemas.openxmlformats.org/drawingml/2006/main" noGrp="1"/>
          </p:cNvSpPr>
          <p:nvPr/>
        </p:nvSpPr>
        <p:spPr>
          <a:xfrm xmlns:a="http://schemas.openxmlformats.org/drawingml/2006/main">
            <a:off x="4160520"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9A442D"/>
                </a:solidFill>
                <a:latin typeface="Noto Sans Mono CJK KR"/>
                <a:ea typeface="Noto Sans Mono CJK KR"/>
                <a:cs typeface="Noto Sans Mono CJK KR"/>
              </a:rPr>
              <a:t>SCM 요약</a:t>
            </a:r>
            <a:endParaRPr sz="1150"/>
          </a:p>
        </p:txBody>
      </p:sp>
      <p:sp>
        <p:nvSpPr>
          <p:cNvPr id="17" name="STC-20-infra-body-1">
            <a:extLst xmlns:a="http://schemas.openxmlformats.org/drawingml/2006/main">
              <a:ext uri="{FF2B5EF4-FFF2-40B4-BE49-F238E27FC236}">
                <a16:creationId xmlns:a16="http://schemas.microsoft.com/office/drawing/2014/main" id="{8BC9875E-56D1-4FE2-AFA5-6CD36FDD67BD}"/>
              </a:ext>
            </a:extLst>
          </p:cNvPr>
          <p:cNvSpPr>
            <a:spLocks xmlns:a="http://schemas.openxmlformats.org/drawingml/2006/main" noGrp="1"/>
          </p:cNvSpPr>
          <p:nvPr/>
        </p:nvSpPr>
        <p:spPr>
          <a:xfrm xmlns:a="http://schemas.openxmlformats.org/drawingml/2006/main">
            <a:off x="4206240"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인코더 호출이</a:t>
            </a:r>
            <a:endParaRPr sz="1800"/>
          </a:p>
          <a:p xmlns:a="http://schemas.openxmlformats.org/drawingml/2006/main">
            <a:pPr marL="0" indent="0" algn="ctr">
              <a:buNone/>
            </a:pPr>
            <a:r>
              <a:rPr sz="1800" b="1">
                <a:solidFill>
                  <a:srgbClr val="17191C"/>
                </a:solidFill>
                <a:latin typeface="Noto Sans CJK KR"/>
                <a:ea typeface="Noto Sans CJK KR"/>
                <a:cs typeface="Noto Sans CJK KR"/>
              </a:rPr>
              <a:t>매 턴 일어난다</a:t>
            </a:r>
            <a:endParaRPr sz="1800"/>
          </a:p>
        </p:txBody>
      </p:sp>
      <p:sp>
        <p:nvSpPr>
          <p:cNvPr id="18" name="STC-20-infra-arrow-1">
            <a:extLst xmlns:a="http://schemas.openxmlformats.org/drawingml/2006/main">
              <a:ext uri="{FF2B5EF4-FFF2-40B4-BE49-F238E27FC236}">
                <a16:creationId xmlns:a16="http://schemas.microsoft.com/office/drawing/2014/main" id="{48A1470C-A87D-49C1-AD06-0A2A05BC7D9B}"/>
              </a:ext>
            </a:extLst>
          </p:cNvPr>
          <p:cNvSpPr>
            <a:spLocks xmlns:a="http://schemas.openxmlformats.org/drawingml/2006/main" noGrp="1"/>
          </p:cNvSpPr>
          <p:nvPr/>
        </p:nvSpPr>
        <p:spPr>
          <a:xfrm xmlns:a="http://schemas.openxmlformats.org/drawingml/2006/main">
            <a:off x="6574536" y="3657600"/>
            <a:ext cx="530352"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9" name="STC-20-infra-plane-2">
            <a:extLst xmlns:a="http://schemas.openxmlformats.org/drawingml/2006/main">
              <a:ext uri="{FF2B5EF4-FFF2-40B4-BE49-F238E27FC236}">
                <a16:creationId xmlns:a16="http://schemas.microsoft.com/office/drawing/2014/main" id="{56548C3C-0562-4527-B7A6-9AAEEE6E1179}"/>
              </a:ext>
            </a:extLst>
          </p:cNvPr>
          <p:cNvSpPr>
            <a:spLocks xmlns:a="http://schemas.openxmlformats.org/drawingml/2006/main" noGrp="1"/>
          </p:cNvSpPr>
          <p:nvPr/>
        </p:nvSpPr>
        <p:spPr>
          <a:xfrm xmlns:a="http://schemas.openxmlformats.org/drawingml/2006/main">
            <a:off x="7205472" y="2633472"/>
            <a:ext cx="2514600" cy="2057400"/>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20" name="STC-20-infra-label-2">
            <a:extLst xmlns:a="http://schemas.openxmlformats.org/drawingml/2006/main">
              <a:ext uri="{FF2B5EF4-FFF2-40B4-BE49-F238E27FC236}">
                <a16:creationId xmlns:a16="http://schemas.microsoft.com/office/drawing/2014/main" id="{7D68313E-B396-49BB-9026-C73B3F9CE439}"/>
              </a:ext>
            </a:extLst>
          </p:cNvPr>
          <p:cNvSpPr>
            <a:spLocks xmlns:a="http://schemas.openxmlformats.org/drawingml/2006/main" noGrp="1"/>
          </p:cNvSpPr>
          <p:nvPr/>
        </p:nvSpPr>
        <p:spPr>
          <a:xfrm xmlns:a="http://schemas.openxmlformats.org/drawingml/2006/main">
            <a:off x="7388352"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2F6B63"/>
                </a:solidFill>
                <a:latin typeface="Noto Sans Mono CJK KR"/>
                <a:ea typeface="Noto Sans Mono CJK KR"/>
                <a:cs typeface="Noto Sans Mono CJK KR"/>
              </a:rPr>
              <a:t>시금석</a:t>
            </a:r>
            <a:endParaRPr sz="1150"/>
          </a:p>
        </p:txBody>
      </p:sp>
      <p:sp>
        <p:nvSpPr>
          <p:cNvPr id="21" name="STC-20-infra-body-2">
            <a:extLst xmlns:a="http://schemas.openxmlformats.org/drawingml/2006/main">
              <a:ext uri="{FF2B5EF4-FFF2-40B4-BE49-F238E27FC236}">
                <a16:creationId xmlns:a16="http://schemas.microsoft.com/office/drawing/2014/main" id="{FA77EDB7-C1A2-4EE1-AB98-FF52014EEADC}"/>
              </a:ext>
            </a:extLst>
          </p:cNvPr>
          <p:cNvSpPr>
            <a:spLocks xmlns:a="http://schemas.openxmlformats.org/drawingml/2006/main" noGrp="1"/>
          </p:cNvSpPr>
          <p:nvPr/>
        </p:nvSpPr>
        <p:spPr>
          <a:xfrm xmlns:a="http://schemas.openxmlformats.org/drawingml/2006/main">
            <a:off x="7434072"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sleep은 정의상</a:t>
            </a:r>
            <a:endParaRPr sz="1800"/>
          </a:p>
          <a:p xmlns:a="http://schemas.openxmlformats.org/drawingml/2006/main">
            <a:pPr marL="0" indent="0" algn="ctr">
              <a:buNone/>
            </a:pPr>
            <a:r>
              <a:rPr sz="1800" b="1">
                <a:solidFill>
                  <a:srgbClr val="17191C"/>
                </a:solidFill>
                <a:latin typeface="Noto Sans CJK KR"/>
                <a:ea typeface="Noto Sans CJK KR"/>
                <a:cs typeface="Noto Sans CJK KR"/>
              </a:rPr>
              <a:t>L_w에 0을 기여한다</a:t>
            </a:r>
            <a:endParaRPr sz="1800"/>
          </a:p>
        </p:txBody>
      </p:sp>
      <p:sp>
        <p:nvSpPr>
          <p:cNvPr id="22" name="STC-20-infra-control">
            <a:extLst xmlns:a="http://schemas.openxmlformats.org/drawingml/2006/main">
              <a:ext uri="{FF2B5EF4-FFF2-40B4-BE49-F238E27FC236}">
                <a16:creationId xmlns:a16="http://schemas.microsoft.com/office/drawing/2014/main" id="{29BE5495-BD82-4477-88F7-D6AF498D154C}"/>
              </a:ext>
            </a:extLst>
          </p:cNvPr>
          <p:cNvSpPr>
            <a:spLocks xmlns:a="http://schemas.openxmlformats.org/drawingml/2006/main" noGrp="1"/>
          </p:cNvSpPr>
          <p:nvPr/>
        </p:nvSpPr>
        <p:spPr>
          <a:xfrm xmlns:a="http://schemas.openxmlformats.org/drawingml/2006/main">
            <a:off x="1481328" y="1435608"/>
            <a:ext cx="8183880" cy="65836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3" name="STC-20-infra-control-text">
            <a:extLst xmlns:a="http://schemas.openxmlformats.org/drawingml/2006/main">
              <a:ext uri="{FF2B5EF4-FFF2-40B4-BE49-F238E27FC236}">
                <a16:creationId xmlns:a16="http://schemas.microsoft.com/office/drawing/2014/main" id="{DD79965F-265D-40C2-AEAD-EB1FC8BA1267}"/>
              </a:ext>
            </a:extLst>
          </p:cNvPr>
          <p:cNvSpPr>
            <a:spLocks xmlns:a="http://schemas.openxmlformats.org/drawingml/2006/main" noGrp="1"/>
          </p:cNvSpPr>
          <p:nvPr/>
        </p:nvSpPr>
        <p:spPr>
          <a:xfrm xmlns:a="http://schemas.openxmlformats.org/drawingml/2006/main">
            <a:off x="1773936" y="1655064"/>
            <a:ext cx="76078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b="1">
                <a:solidFill>
                  <a:srgbClr val="FFFFFF"/>
                </a:solidFill>
                <a:latin typeface="Noto Sans Mono CJK KR"/>
                <a:ea typeface="Noto Sans Mono CJK KR"/>
                <a:cs typeface="Noto Sans Mono CJK KR"/>
              </a:rPr>
              <a:t>조건 (1)이 없으면 'sleep-time compute'은 그냥 '쓰기'의 다른 이름이 된다</a:t>
            </a:r>
            <a:endParaRPr sz="1250"/>
          </a:p>
        </p:txBody>
      </p:sp>
      <p:sp>
        <p:nvSpPr>
          <p:cNvPr id="24" name="STC-20-infra-control-wake">
            <a:extLst xmlns:a="http://schemas.openxmlformats.org/drawingml/2006/main">
              <a:ext uri="{FF2B5EF4-FFF2-40B4-BE49-F238E27FC236}">
                <a16:creationId xmlns:a16="http://schemas.microsoft.com/office/drawing/2014/main" id="{43E7917B-51C1-450C-A277-0741EFA35A12}"/>
              </a:ext>
            </a:extLst>
          </p:cNvPr>
          <p:cNvSpPr>
            <a:spLocks xmlns:a="http://schemas.openxmlformats.org/drawingml/2006/main" noGrp="1"/>
          </p:cNvSpPr>
          <p:nvPr/>
        </p:nvSpPr>
        <p:spPr>
          <a:xfrm xmlns:a="http://schemas.openxmlformats.org/drawingml/2006/main">
            <a:off x="2816352"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5" name="STC-20-infra-control-sleep">
            <a:extLst xmlns:a="http://schemas.openxmlformats.org/drawingml/2006/main">
              <a:ext uri="{FF2B5EF4-FFF2-40B4-BE49-F238E27FC236}">
                <a16:creationId xmlns:a16="http://schemas.microsoft.com/office/drawing/2014/main" id="{3A660823-14F6-4B6B-B118-257913111373}"/>
              </a:ext>
            </a:extLst>
          </p:cNvPr>
          <p:cNvSpPr>
            <a:spLocks xmlns:a="http://schemas.openxmlformats.org/drawingml/2006/main" noGrp="1"/>
          </p:cNvSpPr>
          <p:nvPr/>
        </p:nvSpPr>
        <p:spPr>
          <a:xfrm xmlns:a="http://schemas.openxmlformats.org/drawingml/2006/main">
            <a:off x="6044184"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20-infra-control-memory">
            <a:extLst xmlns:a="http://schemas.openxmlformats.org/drawingml/2006/main">
              <a:ext uri="{FF2B5EF4-FFF2-40B4-BE49-F238E27FC236}">
                <a16:creationId xmlns:a16="http://schemas.microsoft.com/office/drawing/2014/main" id="{C059216D-6C86-4256-B827-B6F048815B09}"/>
              </a:ext>
            </a:extLst>
          </p:cNvPr>
          <p:cNvSpPr>
            <a:spLocks xmlns:a="http://schemas.openxmlformats.org/drawingml/2006/main" noGrp="1"/>
          </p:cNvSpPr>
          <p:nvPr/>
        </p:nvSpPr>
        <p:spPr>
          <a:xfrm xmlns:a="http://schemas.openxmlformats.org/drawingml/2006/main">
            <a:off x="9272016"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7" name="STC-20-infra-ledger">
            <a:extLst xmlns:a="http://schemas.openxmlformats.org/drawingml/2006/main">
              <a:ext uri="{FF2B5EF4-FFF2-40B4-BE49-F238E27FC236}">
                <a16:creationId xmlns:a16="http://schemas.microsoft.com/office/drawing/2014/main" id="{FD304FC3-39EC-4FAD-A3A7-9CFE6AD014A3}"/>
              </a:ext>
            </a:extLst>
          </p:cNvPr>
          <p:cNvSpPr>
            <a:spLocks xmlns:a="http://schemas.openxmlformats.org/drawingml/2006/main" noGrp="1"/>
          </p:cNvSpPr>
          <p:nvPr/>
        </p:nvSpPr>
        <p:spPr>
          <a:xfrm xmlns:a="http://schemas.openxmlformats.org/drawingml/2006/main">
            <a:off x="10268712" y="1435608"/>
            <a:ext cx="941832" cy="325526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28" name="STC-20-infra-ledger-text">
            <a:extLst xmlns:a="http://schemas.openxmlformats.org/drawingml/2006/main">
              <a:ext uri="{FF2B5EF4-FFF2-40B4-BE49-F238E27FC236}">
                <a16:creationId xmlns:a16="http://schemas.microsoft.com/office/drawing/2014/main" id="{1F693BD4-3AF9-4EE0-8CB6-7A83368EE3F9}"/>
              </a:ext>
            </a:extLst>
          </p:cNvPr>
          <p:cNvSpPr>
            <a:spLocks xmlns:a="http://schemas.openxmlformats.org/drawingml/2006/main" noGrp="1"/>
          </p:cNvSpPr>
          <p:nvPr/>
        </p:nvSpPr>
        <p:spPr>
          <a:xfrm xmlns:a="http://schemas.openxmlformats.org/drawingml/2006/main" rot="16200000">
            <a:off x="10405872" y="2487168"/>
            <a:ext cx="66751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59616A"/>
                </a:solidFill>
                <a:latin typeface="Noto Sans Mono CJK KR"/>
                <a:ea typeface="Noto Sans Mono CJK KR"/>
                <a:cs typeface="Noto Sans Mono CJK KR"/>
              </a:rPr>
              <a:t>MemGPT</a:t>
            </a:r>
            <a:endParaRPr sz="1100"/>
          </a:p>
          <a:p xmlns:a="http://schemas.openxmlformats.org/drawingml/2006/main">
            <a:pPr marL="0" indent="0" algn="ctr">
              <a:buNone/>
            </a:pPr>
            <a:r>
              <a:rPr sz="1100" b="1">
                <a:solidFill>
                  <a:srgbClr val="59616A"/>
                </a:solidFill>
                <a:latin typeface="Noto Sans Mono CJK KR"/>
                <a:ea typeface="Noto Sans Mono CJK KR"/>
                <a:cs typeface="Noto Sans Mono CJK KR"/>
              </a:rPr>
              <a:t>LEDGER</a:t>
            </a:r>
            <a:endParaRPr sz="1100"/>
          </a:p>
        </p:txBody>
      </p:sp>
      <p:sp>
        <p:nvSpPr>
          <p:cNvPr id="29" name="STC-20-infra-latency">
            <a:extLst xmlns:a="http://schemas.openxmlformats.org/drawingml/2006/main">
              <a:ext uri="{FF2B5EF4-FFF2-40B4-BE49-F238E27FC236}">
                <a16:creationId xmlns:a16="http://schemas.microsoft.com/office/drawing/2014/main" id="{3D41E0D1-4347-465C-AE68-23FB7C1267CF}"/>
              </a:ext>
            </a:extLst>
          </p:cNvPr>
          <p:cNvSpPr>
            <a:spLocks xmlns:a="http://schemas.openxmlformats.org/drawingml/2006/main" noGrp="1"/>
          </p:cNvSpPr>
          <p:nvPr/>
        </p:nvSpPr>
        <p:spPr>
          <a:xfrm xmlns:a="http://schemas.openxmlformats.org/drawingml/2006/main">
            <a:off x="868680"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244E8A"/>
                </a:solidFill>
                <a:latin typeface="Noto Sans CJK KR"/>
                <a:ea typeface="Noto Sans CJK KR"/>
                <a:cs typeface="Noto Sans CJK KR"/>
              </a:rPr>
              <a:t>같은 예산</a:t>
            </a:r>
            <a:endParaRPr sz="1300"/>
          </a:p>
        </p:txBody>
      </p:sp>
      <p:sp>
        <p:nvSpPr>
          <p:cNvPr id="30" name="STC-20-infra-throughput">
            <a:extLst xmlns:a="http://schemas.openxmlformats.org/drawingml/2006/main">
              <a:ext uri="{FF2B5EF4-FFF2-40B4-BE49-F238E27FC236}">
                <a16:creationId xmlns:a16="http://schemas.microsoft.com/office/drawing/2014/main" id="{C8A7806F-FA6A-439E-9271-2F787EB29C92}"/>
              </a:ext>
            </a:extLst>
          </p:cNvPr>
          <p:cNvSpPr>
            <a:spLocks xmlns:a="http://schemas.openxmlformats.org/drawingml/2006/main" noGrp="1"/>
          </p:cNvSpPr>
          <p:nvPr/>
        </p:nvSpPr>
        <p:spPr>
          <a:xfrm xmlns:a="http://schemas.openxmlformats.org/drawingml/2006/main">
            <a:off x="4133088"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9A442D"/>
                </a:solidFill>
                <a:latin typeface="Noto Sans CJK KR"/>
                <a:ea typeface="Noto Sans CJK KR"/>
                <a:cs typeface="Noto Sans CJK KR"/>
              </a:rPr>
              <a:t>SCM 요약</a:t>
            </a:r>
            <a:endParaRPr sz="1300"/>
          </a:p>
        </p:txBody>
      </p:sp>
      <p:sp>
        <p:nvSpPr>
          <p:cNvPr id="31" name="STC-20-infra-tiered">
            <a:extLst xmlns:a="http://schemas.openxmlformats.org/drawingml/2006/main">
              <a:ext uri="{FF2B5EF4-FFF2-40B4-BE49-F238E27FC236}">
                <a16:creationId xmlns:a16="http://schemas.microsoft.com/office/drawing/2014/main" id="{EFFD8688-A736-46D2-AA52-97BFFC250E90}"/>
              </a:ext>
            </a:extLst>
          </p:cNvPr>
          <p:cNvSpPr>
            <a:spLocks xmlns:a="http://schemas.openxmlformats.org/drawingml/2006/main" noGrp="1"/>
          </p:cNvSpPr>
          <p:nvPr/>
        </p:nvSpPr>
        <p:spPr>
          <a:xfrm xmlns:a="http://schemas.openxmlformats.org/drawingml/2006/main">
            <a:off x="7333488"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2F6B63"/>
                </a:solidFill>
                <a:latin typeface="Noto Sans CJK KR"/>
                <a:ea typeface="Noto Sans CJK KR"/>
                <a:cs typeface="Noto Sans CJK KR"/>
              </a:rPr>
              <a:t>시금석</a:t>
            </a:r>
            <a:endParaRPr sz="1300"/>
          </a:p>
        </p:txBody>
      </p:sp>
    </p:spTree>
    <p:extLst>
      <p:ext uri="{BB962C8B-B14F-4D97-AF65-F5344CB8AC3E}">
        <p14:creationId xmlns:p14="http://schemas.microsoft.com/office/powerpoint/2010/main" val="1555086896"/>
      </p:ext>
    </p:extLst>
  </p:cSld>
</p:sld>
</file>

<file path=ppt/slides/slide3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0-section">
            <a:extLst xmlns:a="http://schemas.openxmlformats.org/drawingml/2006/main">
              <a:ext uri="{FF2B5EF4-FFF2-40B4-BE49-F238E27FC236}">
                <a16:creationId xmlns:a16="http://schemas.microsoft.com/office/drawing/2014/main" id="{EF3FC378-6B44-4B49-B1BB-4667473BF88D}"/>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DISCRIMINANT</a:t>
            </a:r>
            <a:endParaRPr sz="950"/>
          </a:p>
        </p:txBody>
      </p:sp>
      <p:sp>
        <p:nvSpPr>
          <p:cNvPr id="3" name="STC-20-slide-id">
            <a:extLst xmlns:a="http://schemas.openxmlformats.org/drawingml/2006/main">
              <a:ext uri="{FF2B5EF4-FFF2-40B4-BE49-F238E27FC236}">
                <a16:creationId xmlns:a16="http://schemas.microsoft.com/office/drawing/2014/main" id="{CC20B574-D2C0-4046-9A1A-25ADE22F8D1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STC-035</a:t>
            </a:r>
            <a:endParaRPr sz="950"/>
          </a:p>
        </p:txBody>
      </p:sp>
      <p:sp>
        <p:nvSpPr>
          <p:cNvPr id="4" name="STC-20-headline">
            <a:extLst xmlns:a="http://schemas.openxmlformats.org/drawingml/2006/main">
              <a:ext uri="{FF2B5EF4-FFF2-40B4-BE49-F238E27FC236}">
                <a16:creationId xmlns:a16="http://schemas.microsoft.com/office/drawing/2014/main" id="{81422673-09A9-4801-94A9-13C70E66A3C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조건 (2)를 빼면 — 저장이 추론으로 승격된다</a:t>
            </a:r>
            <a:endParaRPr sz="3000"/>
          </a:p>
        </p:txBody>
      </p:sp>
      <p:sp>
        <p:nvSpPr>
          <p:cNvPr id="5" name="STC-20-status-label">
            <a:extLst xmlns:a="http://schemas.openxmlformats.org/drawingml/2006/main">
              <a:ext uri="{FF2B5EF4-FFF2-40B4-BE49-F238E27FC236}">
                <a16:creationId xmlns:a16="http://schemas.microsoft.com/office/drawing/2014/main" id="{14A8D44A-E47B-4BF7-8A5A-F78858804A15}"/>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확립</a:t>
            </a:r>
            <a:endParaRPr sz="1000"/>
          </a:p>
        </p:txBody>
      </p:sp>
      <p:sp>
        <p:nvSpPr>
          <p:cNvPr id="6" name="STC-20-status-rule">
            <a:extLst xmlns:a="http://schemas.openxmlformats.org/drawingml/2006/main">
              <a:ext uri="{FF2B5EF4-FFF2-40B4-BE49-F238E27FC236}">
                <a16:creationId xmlns:a16="http://schemas.microsoft.com/office/drawing/2014/main" id="{9111AC13-7AC9-486F-A35E-14918CB2FAEA}"/>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20-footer-rule">
            <a:extLst xmlns:a="http://schemas.openxmlformats.org/drawingml/2006/main">
              <a:ext uri="{FF2B5EF4-FFF2-40B4-BE49-F238E27FC236}">
                <a16:creationId xmlns:a16="http://schemas.microsoft.com/office/drawing/2014/main" id="{99AB930A-93F8-4C3C-B1B2-60A6CD2FD70F}"/>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0-source-footer">
            <a:extLst xmlns:a="http://schemas.openxmlformats.org/drawingml/2006/main">
              <a:ext uri="{FF2B5EF4-FFF2-40B4-BE49-F238E27FC236}">
                <a16:creationId xmlns:a16="http://schemas.microsoft.com/office/drawing/2014/main" id="{ACA61175-AD4B-4248-BD6E-1C9E5F3D48A1}"/>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§11.2.3 · [Memorizing Transformers §1]</a:t>
            </a:r>
            <a:endParaRPr sz="850"/>
          </a:p>
        </p:txBody>
      </p:sp>
      <p:sp>
        <p:nvSpPr>
          <p:cNvPr id="9" name="STC-20-page-number">
            <a:extLst xmlns:a="http://schemas.openxmlformats.org/drawingml/2006/main">
              <a:ext uri="{FF2B5EF4-FFF2-40B4-BE49-F238E27FC236}">
                <a16:creationId xmlns:a16="http://schemas.microsoft.com/office/drawing/2014/main" id="{BFF20DF2-5531-4220-9167-36B66397782A}"/>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35</a:t>
            </a:r>
            <a:endParaRPr sz="850"/>
          </a:p>
        </p:txBody>
      </p:sp>
      <p:sp>
        <p:nvSpPr>
          <p:cNvPr id="11" name="STC-20-infra-plane-0">
            <a:extLst xmlns:a="http://schemas.openxmlformats.org/drawingml/2006/main">
              <a:ext uri="{FF2B5EF4-FFF2-40B4-BE49-F238E27FC236}">
                <a16:creationId xmlns:a16="http://schemas.microsoft.com/office/drawing/2014/main" id="{C8220505-B492-4023-B70A-A2232E14F70E}"/>
              </a:ext>
            </a:extLst>
          </p:cNvPr>
          <p:cNvSpPr>
            <a:spLocks xmlns:a="http://schemas.openxmlformats.org/drawingml/2006/main" noGrp="1"/>
          </p:cNvSpPr>
          <p:nvPr/>
        </p:nvSpPr>
        <p:spPr>
          <a:xfrm xmlns:a="http://schemas.openxmlformats.org/drawingml/2006/main">
            <a:off x="749808" y="2633472"/>
            <a:ext cx="2514600" cy="2057400"/>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2" name="STC-20-infra-label-0">
            <a:extLst xmlns:a="http://schemas.openxmlformats.org/drawingml/2006/main">
              <a:ext uri="{FF2B5EF4-FFF2-40B4-BE49-F238E27FC236}">
                <a16:creationId xmlns:a16="http://schemas.microsoft.com/office/drawing/2014/main" id="{874AE9C7-25F3-4D96-A818-0C8E56EBC16F}"/>
              </a:ext>
            </a:extLst>
          </p:cNvPr>
          <p:cNvSpPr>
            <a:spLocks xmlns:a="http://schemas.openxmlformats.org/drawingml/2006/main" noGrp="1"/>
          </p:cNvSpPr>
          <p:nvPr/>
        </p:nvSpPr>
        <p:spPr>
          <a:xfrm xmlns:a="http://schemas.openxmlformats.org/drawingml/2006/main">
            <a:off x="932688"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244E8A"/>
                </a:solidFill>
                <a:latin typeface="Noto Sans Mono CJK KR"/>
                <a:ea typeface="Noto Sans Mono CJK KR"/>
                <a:cs typeface="Noto Sans Mono CJK KR"/>
              </a:rPr>
              <a:t>RAG</a:t>
            </a:r>
            <a:endParaRPr sz="1150"/>
          </a:p>
        </p:txBody>
      </p:sp>
      <p:sp>
        <p:nvSpPr>
          <p:cNvPr id="13" name="STC-20-infra-body-0">
            <a:extLst xmlns:a="http://schemas.openxmlformats.org/drawingml/2006/main">
              <a:ext uri="{FF2B5EF4-FFF2-40B4-BE49-F238E27FC236}">
                <a16:creationId xmlns:a16="http://schemas.microsoft.com/office/drawing/2014/main" id="{EAA62413-4D3B-461E-A878-B0FEC894A515}"/>
              </a:ext>
            </a:extLst>
          </p:cNvPr>
          <p:cNvSpPr>
            <a:spLocks xmlns:a="http://schemas.openxmlformats.org/drawingml/2006/main" noGrp="1"/>
          </p:cNvSpPr>
          <p:nvPr/>
        </p:nvSpPr>
        <p:spPr>
          <a:xfrm xmlns:a="http://schemas.openxmlformats.org/drawingml/2006/main">
            <a:off x="978408"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잘라 인코딩할 뿐</a:t>
            </a:r>
            <a:endParaRPr sz="1800"/>
          </a:p>
          <a:p xmlns:a="http://schemas.openxmlformats.org/drawingml/2006/main">
            <a:pPr marL="0" indent="0" algn="ctr">
              <a:buNone/>
            </a:pPr>
            <a:r>
              <a:rPr sz="1800" b="1">
                <a:solidFill>
                  <a:srgbClr val="17191C"/>
                </a:solidFill>
                <a:latin typeface="Noto Sans CJK KR"/>
                <a:ea typeface="Noto Sans CJK KR"/>
                <a:cs typeface="Noto Sans CJK KR"/>
              </a:rPr>
              <a:t>저장 전 추론이 없다</a:t>
            </a:r>
            <a:endParaRPr sz="1800"/>
          </a:p>
        </p:txBody>
      </p:sp>
      <p:sp>
        <p:nvSpPr>
          <p:cNvPr id="14" name="STC-20-infra-arrow-0">
            <a:extLst xmlns:a="http://schemas.openxmlformats.org/drawingml/2006/main">
              <a:ext uri="{FF2B5EF4-FFF2-40B4-BE49-F238E27FC236}">
                <a16:creationId xmlns:a16="http://schemas.microsoft.com/office/drawing/2014/main" id="{B8F31725-8432-4D1D-9A1E-34BAF08A8290}"/>
              </a:ext>
            </a:extLst>
          </p:cNvPr>
          <p:cNvSpPr>
            <a:spLocks xmlns:a="http://schemas.openxmlformats.org/drawingml/2006/main" noGrp="1"/>
          </p:cNvSpPr>
          <p:nvPr/>
        </p:nvSpPr>
        <p:spPr>
          <a:xfrm xmlns:a="http://schemas.openxmlformats.org/drawingml/2006/main">
            <a:off x="3346704" y="3657600"/>
            <a:ext cx="530352"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5" name="STC-20-infra-plane-1">
            <a:extLst xmlns:a="http://schemas.openxmlformats.org/drawingml/2006/main">
              <a:ext uri="{FF2B5EF4-FFF2-40B4-BE49-F238E27FC236}">
                <a16:creationId xmlns:a16="http://schemas.microsoft.com/office/drawing/2014/main" id="{383116CD-3E34-4394-B8A0-C315F75F29F2}"/>
              </a:ext>
            </a:extLst>
          </p:cNvPr>
          <p:cNvSpPr>
            <a:spLocks xmlns:a="http://schemas.openxmlformats.org/drawingml/2006/main" noGrp="1"/>
          </p:cNvSpPr>
          <p:nvPr/>
        </p:nvSpPr>
        <p:spPr>
          <a:xfrm xmlns:a="http://schemas.openxmlformats.org/drawingml/2006/main">
            <a:off x="3977640" y="2633472"/>
            <a:ext cx="2514600" cy="2057400"/>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6" name="STC-20-infra-label-1">
            <a:extLst xmlns:a="http://schemas.openxmlformats.org/drawingml/2006/main">
              <a:ext uri="{FF2B5EF4-FFF2-40B4-BE49-F238E27FC236}">
                <a16:creationId xmlns:a16="http://schemas.microsoft.com/office/drawing/2014/main" id="{AB17AEA0-6CEA-4C76-B857-1E4165564301}"/>
              </a:ext>
            </a:extLst>
          </p:cNvPr>
          <p:cNvSpPr>
            <a:spLocks xmlns:a="http://schemas.openxmlformats.org/drawingml/2006/main" noGrp="1"/>
          </p:cNvSpPr>
          <p:nvPr/>
        </p:nvSpPr>
        <p:spPr>
          <a:xfrm xmlns:a="http://schemas.openxmlformats.org/drawingml/2006/main">
            <a:off x="4160520"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9A442D"/>
                </a:solidFill>
                <a:latin typeface="Noto Sans Mono CJK KR"/>
                <a:ea typeface="Noto Sans Mono CJK KR"/>
                <a:cs typeface="Noto Sans Mono CJK KR"/>
              </a:rPr>
              <a:t>MemTrans</a:t>
            </a:r>
            <a:endParaRPr sz="1150"/>
          </a:p>
        </p:txBody>
      </p:sp>
      <p:sp>
        <p:nvSpPr>
          <p:cNvPr id="17" name="STC-20-infra-body-1">
            <a:extLst xmlns:a="http://schemas.openxmlformats.org/drawingml/2006/main">
              <a:ext uri="{FF2B5EF4-FFF2-40B4-BE49-F238E27FC236}">
                <a16:creationId xmlns:a16="http://schemas.microsoft.com/office/drawing/2014/main" id="{8BC9875E-56D1-4FE2-AFA5-6CD36FDD67BD}"/>
              </a:ext>
            </a:extLst>
          </p:cNvPr>
          <p:cNvSpPr>
            <a:spLocks xmlns:a="http://schemas.openxmlformats.org/drawingml/2006/main" noGrp="1"/>
          </p:cNvSpPr>
          <p:nvPr/>
        </p:nvSpPr>
        <p:spPr>
          <a:xfrm xmlns:a="http://schemas.openxmlformats.org/drawingml/2006/main">
            <a:off x="4206240"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저장되는 것이</a:t>
            </a:r>
            <a:endParaRPr sz="1800"/>
          </a:p>
          <a:p xmlns:a="http://schemas.openxmlformats.org/drawingml/2006/main">
            <a:pPr marL="0" indent="0" algn="ctr">
              <a:buNone/>
            </a:pPr>
            <a:r>
              <a:rPr sz="1800" b="1">
                <a:solidFill>
                  <a:srgbClr val="17191C"/>
                </a:solidFill>
                <a:latin typeface="Noto Sans CJK KR"/>
                <a:ea typeface="Noto Sans CJK KR"/>
                <a:cs typeface="Noto Sans CJK KR"/>
              </a:rPr>
              <a:t>forward가 만든 (k,v) 그대로</a:t>
            </a:r>
            <a:endParaRPr sz="1800"/>
          </a:p>
        </p:txBody>
      </p:sp>
      <p:sp>
        <p:nvSpPr>
          <p:cNvPr id="18" name="STC-20-infra-arrow-1">
            <a:extLst xmlns:a="http://schemas.openxmlformats.org/drawingml/2006/main">
              <a:ext uri="{FF2B5EF4-FFF2-40B4-BE49-F238E27FC236}">
                <a16:creationId xmlns:a16="http://schemas.microsoft.com/office/drawing/2014/main" id="{48A1470C-A87D-49C1-AD06-0A2A05BC7D9B}"/>
              </a:ext>
            </a:extLst>
          </p:cNvPr>
          <p:cNvSpPr>
            <a:spLocks xmlns:a="http://schemas.openxmlformats.org/drawingml/2006/main" noGrp="1"/>
          </p:cNvSpPr>
          <p:nvPr/>
        </p:nvSpPr>
        <p:spPr>
          <a:xfrm xmlns:a="http://schemas.openxmlformats.org/drawingml/2006/main">
            <a:off x="6574536" y="3657600"/>
            <a:ext cx="530352"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9" name="STC-20-infra-plane-2">
            <a:extLst xmlns:a="http://schemas.openxmlformats.org/drawingml/2006/main">
              <a:ext uri="{FF2B5EF4-FFF2-40B4-BE49-F238E27FC236}">
                <a16:creationId xmlns:a16="http://schemas.microsoft.com/office/drawing/2014/main" id="{56548C3C-0562-4527-B7A6-9AAEEE6E1179}"/>
              </a:ext>
            </a:extLst>
          </p:cNvPr>
          <p:cNvSpPr>
            <a:spLocks xmlns:a="http://schemas.openxmlformats.org/drawingml/2006/main" noGrp="1"/>
          </p:cNvSpPr>
          <p:nvPr/>
        </p:nvSpPr>
        <p:spPr>
          <a:xfrm xmlns:a="http://schemas.openxmlformats.org/drawingml/2006/main">
            <a:off x="7205472" y="2633472"/>
            <a:ext cx="2514600" cy="2057400"/>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20" name="STC-20-infra-label-2">
            <a:extLst xmlns:a="http://schemas.openxmlformats.org/drawingml/2006/main">
              <a:ext uri="{FF2B5EF4-FFF2-40B4-BE49-F238E27FC236}">
                <a16:creationId xmlns:a16="http://schemas.microsoft.com/office/drawing/2014/main" id="{7D68313E-B396-49BB-9026-C73B3F9CE439}"/>
              </a:ext>
            </a:extLst>
          </p:cNvPr>
          <p:cNvSpPr>
            <a:spLocks xmlns:a="http://schemas.openxmlformats.org/drawingml/2006/main" noGrp="1"/>
          </p:cNvSpPr>
          <p:nvPr/>
        </p:nvSpPr>
        <p:spPr>
          <a:xfrm xmlns:a="http://schemas.openxmlformats.org/drawingml/2006/main">
            <a:off x="7388352"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2F6B63"/>
                </a:solidFill>
                <a:latin typeface="Noto Sans Mono CJK KR"/>
                <a:ea typeface="Noto Sans Mono CJK KR"/>
                <a:cs typeface="Noto Sans Mono CJK KR"/>
              </a:rPr>
              <a:t>원문</a:t>
            </a:r>
            <a:endParaRPr sz="1150"/>
          </a:p>
        </p:txBody>
      </p:sp>
      <p:sp>
        <p:nvSpPr>
          <p:cNvPr id="21" name="STC-20-infra-body-2">
            <a:extLst xmlns:a="http://schemas.openxmlformats.org/drawingml/2006/main">
              <a:ext uri="{FF2B5EF4-FFF2-40B4-BE49-F238E27FC236}">
                <a16:creationId xmlns:a16="http://schemas.microsoft.com/office/drawing/2014/main" id="{FA77EDB7-C1A2-4EE1-AB98-FF52014EEADC}"/>
              </a:ext>
            </a:extLst>
          </p:cNvPr>
          <p:cNvSpPr>
            <a:spLocks xmlns:a="http://schemas.openxmlformats.org/drawingml/2006/main" noGrp="1"/>
          </p:cNvSpPr>
          <p:nvPr/>
        </p:nvSpPr>
        <p:spPr>
          <a:xfrm xmlns:a="http://schemas.openxmlformats.org/drawingml/2006/main">
            <a:off x="7434072"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'평균하거나 요약하지</a:t>
            </a:r>
            <a:endParaRPr sz="1800"/>
          </a:p>
          <a:p xmlns:a="http://schemas.openxmlformats.org/drawingml/2006/main">
            <a:pPr marL="0" indent="0" algn="ctr">
              <a:buNone/>
            </a:pPr>
            <a:r>
              <a:rPr sz="1800" b="1">
                <a:solidFill>
                  <a:srgbClr val="17191C"/>
                </a:solidFill>
                <a:latin typeface="Noto Sans CJK KR"/>
                <a:ea typeface="Noto Sans CJK KR"/>
                <a:cs typeface="Noto Sans CJK KR"/>
              </a:rPr>
              <a:t>않고 정확한 값을 회수'</a:t>
            </a:r>
            <a:endParaRPr sz="1800"/>
          </a:p>
        </p:txBody>
      </p:sp>
      <p:sp>
        <p:nvSpPr>
          <p:cNvPr id="22" name="STC-20-infra-control">
            <a:extLst xmlns:a="http://schemas.openxmlformats.org/drawingml/2006/main">
              <a:ext uri="{FF2B5EF4-FFF2-40B4-BE49-F238E27FC236}">
                <a16:creationId xmlns:a16="http://schemas.microsoft.com/office/drawing/2014/main" id="{29BE5495-BD82-4477-88F7-D6AF498D154C}"/>
              </a:ext>
            </a:extLst>
          </p:cNvPr>
          <p:cNvSpPr>
            <a:spLocks xmlns:a="http://schemas.openxmlformats.org/drawingml/2006/main" noGrp="1"/>
          </p:cNvSpPr>
          <p:nvPr/>
        </p:nvSpPr>
        <p:spPr>
          <a:xfrm xmlns:a="http://schemas.openxmlformats.org/drawingml/2006/main">
            <a:off x="1481328" y="1435608"/>
            <a:ext cx="8183880" cy="65836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3" name="STC-20-infra-control-text">
            <a:extLst xmlns:a="http://schemas.openxmlformats.org/drawingml/2006/main">
              <a:ext uri="{FF2B5EF4-FFF2-40B4-BE49-F238E27FC236}">
                <a16:creationId xmlns:a16="http://schemas.microsoft.com/office/drawing/2014/main" id="{DD79965F-265D-40C2-AEAD-EB1FC8BA1267}"/>
              </a:ext>
            </a:extLst>
          </p:cNvPr>
          <p:cNvSpPr>
            <a:spLocks xmlns:a="http://schemas.openxmlformats.org/drawingml/2006/main" noGrp="1"/>
          </p:cNvSpPr>
          <p:nvPr/>
        </p:nvSpPr>
        <p:spPr>
          <a:xfrm xmlns:a="http://schemas.openxmlformats.org/drawingml/2006/main">
            <a:off x="1773936" y="1655064"/>
            <a:ext cx="76078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b="1">
                <a:solidFill>
                  <a:srgbClr val="FFFFFF"/>
                </a:solidFill>
                <a:latin typeface="Noto Sans Mono CJK KR"/>
                <a:ea typeface="Noto Sans Mono CJK KR"/>
                <a:cs typeface="Noto Sans Mono CJK KR"/>
              </a:rPr>
              <a:t>조건 (2)가 없으면 색인 구축이 전부 sleep-time compute이 되고 상각식의 분자가 정의를 잃는다</a:t>
            </a:r>
            <a:endParaRPr sz="1250"/>
          </a:p>
        </p:txBody>
      </p:sp>
      <p:sp>
        <p:nvSpPr>
          <p:cNvPr id="24" name="STC-20-infra-control-wake">
            <a:extLst xmlns:a="http://schemas.openxmlformats.org/drawingml/2006/main">
              <a:ext uri="{FF2B5EF4-FFF2-40B4-BE49-F238E27FC236}">
                <a16:creationId xmlns:a16="http://schemas.microsoft.com/office/drawing/2014/main" id="{43E7917B-51C1-450C-A277-0741EFA35A12}"/>
              </a:ext>
            </a:extLst>
          </p:cNvPr>
          <p:cNvSpPr>
            <a:spLocks xmlns:a="http://schemas.openxmlformats.org/drawingml/2006/main" noGrp="1"/>
          </p:cNvSpPr>
          <p:nvPr/>
        </p:nvSpPr>
        <p:spPr>
          <a:xfrm xmlns:a="http://schemas.openxmlformats.org/drawingml/2006/main">
            <a:off x="2816352"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5" name="STC-20-infra-control-sleep">
            <a:extLst xmlns:a="http://schemas.openxmlformats.org/drawingml/2006/main">
              <a:ext uri="{FF2B5EF4-FFF2-40B4-BE49-F238E27FC236}">
                <a16:creationId xmlns:a16="http://schemas.microsoft.com/office/drawing/2014/main" id="{3A660823-14F6-4B6B-B118-257913111373}"/>
              </a:ext>
            </a:extLst>
          </p:cNvPr>
          <p:cNvSpPr>
            <a:spLocks xmlns:a="http://schemas.openxmlformats.org/drawingml/2006/main" noGrp="1"/>
          </p:cNvSpPr>
          <p:nvPr/>
        </p:nvSpPr>
        <p:spPr>
          <a:xfrm xmlns:a="http://schemas.openxmlformats.org/drawingml/2006/main">
            <a:off x="6044184"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20-infra-control-memory">
            <a:extLst xmlns:a="http://schemas.openxmlformats.org/drawingml/2006/main">
              <a:ext uri="{FF2B5EF4-FFF2-40B4-BE49-F238E27FC236}">
                <a16:creationId xmlns:a16="http://schemas.microsoft.com/office/drawing/2014/main" id="{C059216D-6C86-4256-B827-B6F048815B09}"/>
              </a:ext>
            </a:extLst>
          </p:cNvPr>
          <p:cNvSpPr>
            <a:spLocks xmlns:a="http://schemas.openxmlformats.org/drawingml/2006/main" noGrp="1"/>
          </p:cNvSpPr>
          <p:nvPr/>
        </p:nvSpPr>
        <p:spPr>
          <a:xfrm xmlns:a="http://schemas.openxmlformats.org/drawingml/2006/main">
            <a:off x="9272016"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7" name="STC-20-infra-ledger">
            <a:extLst xmlns:a="http://schemas.openxmlformats.org/drawingml/2006/main">
              <a:ext uri="{FF2B5EF4-FFF2-40B4-BE49-F238E27FC236}">
                <a16:creationId xmlns:a16="http://schemas.microsoft.com/office/drawing/2014/main" id="{FD304FC3-39EC-4FAD-A3A7-9CFE6AD014A3}"/>
              </a:ext>
            </a:extLst>
          </p:cNvPr>
          <p:cNvSpPr>
            <a:spLocks xmlns:a="http://schemas.openxmlformats.org/drawingml/2006/main" noGrp="1"/>
          </p:cNvSpPr>
          <p:nvPr/>
        </p:nvSpPr>
        <p:spPr>
          <a:xfrm xmlns:a="http://schemas.openxmlformats.org/drawingml/2006/main">
            <a:off x="10268712" y="1435608"/>
            <a:ext cx="941832" cy="325526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28" name="STC-20-infra-ledger-text">
            <a:extLst xmlns:a="http://schemas.openxmlformats.org/drawingml/2006/main">
              <a:ext uri="{FF2B5EF4-FFF2-40B4-BE49-F238E27FC236}">
                <a16:creationId xmlns:a16="http://schemas.microsoft.com/office/drawing/2014/main" id="{1F693BD4-3AF9-4EE0-8CB6-7A83368EE3F9}"/>
              </a:ext>
            </a:extLst>
          </p:cNvPr>
          <p:cNvSpPr>
            <a:spLocks xmlns:a="http://schemas.openxmlformats.org/drawingml/2006/main" noGrp="1"/>
          </p:cNvSpPr>
          <p:nvPr/>
        </p:nvSpPr>
        <p:spPr>
          <a:xfrm xmlns:a="http://schemas.openxmlformats.org/drawingml/2006/main" rot="16200000">
            <a:off x="10405872" y="2487168"/>
            <a:ext cx="66751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59616A"/>
                </a:solidFill>
                <a:latin typeface="Noto Sans Mono CJK KR"/>
                <a:ea typeface="Noto Sans Mono CJK KR"/>
                <a:cs typeface="Noto Sans Mono CJK KR"/>
              </a:rPr>
              <a:t>RAG</a:t>
            </a:r>
            <a:endParaRPr sz="1100"/>
          </a:p>
          <a:p xmlns:a="http://schemas.openxmlformats.org/drawingml/2006/main">
            <a:pPr marL="0" indent="0" algn="ctr">
              <a:buNone/>
            </a:pPr>
            <a:r>
              <a:rPr sz="1100" b="1">
                <a:solidFill>
                  <a:srgbClr val="59616A"/>
                </a:solidFill>
                <a:latin typeface="Noto Sans Mono CJK KR"/>
                <a:ea typeface="Noto Sans Mono CJK KR"/>
                <a:cs typeface="Noto Sans Mono CJK KR"/>
              </a:rPr>
              <a:t>LEDGER</a:t>
            </a:r>
            <a:endParaRPr sz="1100"/>
          </a:p>
        </p:txBody>
      </p:sp>
      <p:sp>
        <p:nvSpPr>
          <p:cNvPr id="29" name="STC-20-infra-latency">
            <a:extLst xmlns:a="http://schemas.openxmlformats.org/drawingml/2006/main">
              <a:ext uri="{FF2B5EF4-FFF2-40B4-BE49-F238E27FC236}">
                <a16:creationId xmlns:a16="http://schemas.microsoft.com/office/drawing/2014/main" id="{3D41E0D1-4347-465C-AE68-23FB7C1267CF}"/>
              </a:ext>
            </a:extLst>
          </p:cNvPr>
          <p:cNvSpPr>
            <a:spLocks xmlns:a="http://schemas.openxmlformats.org/drawingml/2006/main" noGrp="1"/>
          </p:cNvSpPr>
          <p:nvPr/>
        </p:nvSpPr>
        <p:spPr>
          <a:xfrm xmlns:a="http://schemas.openxmlformats.org/drawingml/2006/main">
            <a:off x="868680"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244E8A"/>
                </a:solidFill>
                <a:latin typeface="Noto Sans CJK KR"/>
                <a:ea typeface="Noto Sans CJK KR"/>
                <a:cs typeface="Noto Sans CJK KR"/>
              </a:rPr>
              <a:t>B_s = 0</a:t>
            </a:r>
            <a:endParaRPr sz="1300"/>
          </a:p>
        </p:txBody>
      </p:sp>
      <p:sp>
        <p:nvSpPr>
          <p:cNvPr id="30" name="STC-20-infra-throughput">
            <a:extLst xmlns:a="http://schemas.openxmlformats.org/drawingml/2006/main">
              <a:ext uri="{FF2B5EF4-FFF2-40B4-BE49-F238E27FC236}">
                <a16:creationId xmlns:a16="http://schemas.microsoft.com/office/drawing/2014/main" id="{C8A7806F-FA6A-439E-9271-2F787EB29C92}"/>
              </a:ext>
            </a:extLst>
          </p:cNvPr>
          <p:cNvSpPr>
            <a:spLocks xmlns:a="http://schemas.openxmlformats.org/drawingml/2006/main" noGrp="1"/>
          </p:cNvSpPr>
          <p:nvPr/>
        </p:nvSpPr>
        <p:spPr>
          <a:xfrm xmlns:a="http://schemas.openxmlformats.org/drawingml/2006/main">
            <a:off x="4133088"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9A442D"/>
                </a:solidFill>
                <a:latin typeface="Noto Sans CJK KR"/>
                <a:ea typeface="Noto Sans CJK KR"/>
                <a:cs typeface="Noto Sans CJK KR"/>
              </a:rPr>
              <a:t>MemTrans</a:t>
            </a:r>
            <a:endParaRPr sz="1300"/>
          </a:p>
        </p:txBody>
      </p:sp>
      <p:sp>
        <p:nvSpPr>
          <p:cNvPr id="31" name="STC-20-infra-tiered">
            <a:extLst xmlns:a="http://schemas.openxmlformats.org/drawingml/2006/main">
              <a:ext uri="{FF2B5EF4-FFF2-40B4-BE49-F238E27FC236}">
                <a16:creationId xmlns:a16="http://schemas.microsoft.com/office/drawing/2014/main" id="{EFFD8688-A736-46D2-AA52-97BFFC250E90}"/>
              </a:ext>
            </a:extLst>
          </p:cNvPr>
          <p:cNvSpPr>
            <a:spLocks xmlns:a="http://schemas.openxmlformats.org/drawingml/2006/main" noGrp="1"/>
          </p:cNvSpPr>
          <p:nvPr/>
        </p:nvSpPr>
        <p:spPr>
          <a:xfrm xmlns:a="http://schemas.openxmlformats.org/drawingml/2006/main">
            <a:off x="7333488"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2F6B63"/>
                </a:solidFill>
                <a:latin typeface="Noto Sans CJK KR"/>
                <a:ea typeface="Noto Sans CJK KR"/>
                <a:cs typeface="Noto Sans CJK KR"/>
              </a:rPr>
              <a:t>원문</a:t>
            </a:r>
            <a:endParaRPr sz="1300"/>
          </a:p>
        </p:txBody>
      </p:sp>
    </p:spTree>
    <p:extLst>
      <p:ext uri="{BB962C8B-B14F-4D97-AF65-F5344CB8AC3E}">
        <p14:creationId xmlns:p14="http://schemas.microsoft.com/office/powerpoint/2010/main" val="1555086896"/>
      </p:ext>
    </p:extLst>
  </p:cSld>
</p:sld>
</file>

<file path=ppt/slides/slide3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0-section">
            <a:extLst xmlns:a="http://schemas.openxmlformats.org/drawingml/2006/main">
              <a:ext uri="{FF2B5EF4-FFF2-40B4-BE49-F238E27FC236}">
                <a16:creationId xmlns:a16="http://schemas.microsoft.com/office/drawing/2014/main" id="{EF3FC378-6B44-4B49-B1BB-4667473BF88D}"/>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DISCRIMINANT</a:t>
            </a:r>
            <a:endParaRPr sz="950"/>
          </a:p>
        </p:txBody>
      </p:sp>
      <p:sp>
        <p:nvSpPr>
          <p:cNvPr id="3" name="STC-20-slide-id">
            <a:extLst xmlns:a="http://schemas.openxmlformats.org/drawingml/2006/main">
              <a:ext uri="{FF2B5EF4-FFF2-40B4-BE49-F238E27FC236}">
                <a16:creationId xmlns:a16="http://schemas.microsoft.com/office/drawing/2014/main" id="{CC20B574-D2C0-4046-9A1A-25ADE22F8D1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STC-036</a:t>
            </a:r>
            <a:endParaRPr sz="950"/>
          </a:p>
        </p:txBody>
      </p:sp>
      <p:sp>
        <p:nvSpPr>
          <p:cNvPr id="4" name="STC-20-headline">
            <a:extLst xmlns:a="http://schemas.openxmlformats.org/drawingml/2006/main">
              <a:ext uri="{FF2B5EF4-FFF2-40B4-BE49-F238E27FC236}">
                <a16:creationId xmlns:a16="http://schemas.microsoft.com/office/drawing/2014/main" id="{81422673-09A9-4801-94A9-13C70E66A3C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조건 (3)을 빼면 — 읽기를 바꾼 논문이 쓰기 논문으로 둔갑한다</a:t>
            </a:r>
            <a:endParaRPr sz="3000"/>
          </a:p>
        </p:txBody>
      </p:sp>
      <p:sp>
        <p:nvSpPr>
          <p:cNvPr id="5" name="STC-20-status-label">
            <a:extLst xmlns:a="http://schemas.openxmlformats.org/drawingml/2006/main">
              <a:ext uri="{FF2B5EF4-FFF2-40B4-BE49-F238E27FC236}">
                <a16:creationId xmlns:a16="http://schemas.microsoft.com/office/drawing/2014/main" id="{14A8D44A-E47B-4BF7-8A5A-F78858804A15}"/>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확립</a:t>
            </a:r>
            <a:endParaRPr sz="1000"/>
          </a:p>
        </p:txBody>
      </p:sp>
      <p:sp>
        <p:nvSpPr>
          <p:cNvPr id="6" name="STC-20-status-rule">
            <a:extLst xmlns:a="http://schemas.openxmlformats.org/drawingml/2006/main">
              <a:ext uri="{FF2B5EF4-FFF2-40B4-BE49-F238E27FC236}">
                <a16:creationId xmlns:a16="http://schemas.microsoft.com/office/drawing/2014/main" id="{9111AC13-7AC9-486F-A35E-14918CB2FAEA}"/>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20-footer-rule">
            <a:extLst xmlns:a="http://schemas.openxmlformats.org/drawingml/2006/main">
              <a:ext uri="{FF2B5EF4-FFF2-40B4-BE49-F238E27FC236}">
                <a16:creationId xmlns:a16="http://schemas.microsoft.com/office/drawing/2014/main" id="{99AB930A-93F8-4C3C-B1B2-60A6CD2FD70F}"/>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0-source-footer">
            <a:extLst xmlns:a="http://schemas.openxmlformats.org/drawingml/2006/main">
              <a:ext uri="{FF2B5EF4-FFF2-40B4-BE49-F238E27FC236}">
                <a16:creationId xmlns:a16="http://schemas.microsoft.com/office/drawing/2014/main" id="{ACA61175-AD4B-4248-BD6E-1C9E5F3D48A1}"/>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§11.2.3 · [Memory Caching Eq. 4, 6, 7, 8, 14]</a:t>
            </a:r>
            <a:endParaRPr sz="850"/>
          </a:p>
        </p:txBody>
      </p:sp>
      <p:sp>
        <p:nvSpPr>
          <p:cNvPr id="9" name="STC-20-page-number">
            <a:extLst xmlns:a="http://schemas.openxmlformats.org/drawingml/2006/main">
              <a:ext uri="{FF2B5EF4-FFF2-40B4-BE49-F238E27FC236}">
                <a16:creationId xmlns:a16="http://schemas.microsoft.com/office/drawing/2014/main" id="{BFF20DF2-5531-4220-9167-36B66397782A}"/>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36</a:t>
            </a:r>
            <a:endParaRPr sz="850"/>
          </a:p>
        </p:txBody>
      </p:sp>
      <p:sp>
        <p:nvSpPr>
          <p:cNvPr id="11" name="STC-20-infra-plane-0">
            <a:extLst xmlns:a="http://schemas.openxmlformats.org/drawingml/2006/main">
              <a:ext uri="{FF2B5EF4-FFF2-40B4-BE49-F238E27FC236}">
                <a16:creationId xmlns:a16="http://schemas.microsoft.com/office/drawing/2014/main" id="{C8220505-B492-4023-B70A-A2232E14F70E}"/>
              </a:ext>
            </a:extLst>
          </p:cNvPr>
          <p:cNvSpPr>
            <a:spLocks xmlns:a="http://schemas.openxmlformats.org/drawingml/2006/main" noGrp="1"/>
          </p:cNvSpPr>
          <p:nvPr/>
        </p:nvSpPr>
        <p:spPr>
          <a:xfrm xmlns:a="http://schemas.openxmlformats.org/drawingml/2006/main">
            <a:off x="749808" y="2633472"/>
            <a:ext cx="2514600" cy="2057400"/>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2" name="STC-20-infra-label-0">
            <a:extLst xmlns:a="http://schemas.openxmlformats.org/drawingml/2006/main">
              <a:ext uri="{FF2B5EF4-FFF2-40B4-BE49-F238E27FC236}">
                <a16:creationId xmlns:a16="http://schemas.microsoft.com/office/drawing/2014/main" id="{874AE9C7-25F3-4D96-A818-0C8E56EBC16F}"/>
              </a:ext>
            </a:extLst>
          </p:cNvPr>
          <p:cNvSpPr>
            <a:spLocks xmlns:a="http://schemas.openxmlformats.org/drawingml/2006/main" noGrp="1"/>
          </p:cNvSpPr>
          <p:nvPr/>
        </p:nvSpPr>
        <p:spPr>
          <a:xfrm xmlns:a="http://schemas.openxmlformats.org/drawingml/2006/main">
            <a:off x="932688"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244E8A"/>
                </a:solidFill>
                <a:latin typeface="Noto Sans Mono CJK KR"/>
                <a:ea typeface="Noto Sans Mono CJK KR"/>
                <a:cs typeface="Noto Sans Mono CJK KR"/>
              </a:rPr>
              <a:t>갱신 규칙</a:t>
            </a:r>
            <a:endParaRPr sz="1150"/>
          </a:p>
        </p:txBody>
      </p:sp>
      <p:sp>
        <p:nvSpPr>
          <p:cNvPr id="13" name="STC-20-infra-body-0">
            <a:extLst xmlns:a="http://schemas.openxmlformats.org/drawingml/2006/main">
              <a:ext uri="{FF2B5EF4-FFF2-40B4-BE49-F238E27FC236}">
                <a16:creationId xmlns:a16="http://schemas.microsoft.com/office/drawing/2014/main" id="{EAA62413-4D3B-461E-A878-B0FEC894A515}"/>
              </a:ext>
            </a:extLst>
          </p:cNvPr>
          <p:cNvSpPr>
            <a:spLocks xmlns:a="http://schemas.openxmlformats.org/drawingml/2006/main" noGrp="1"/>
          </p:cNvSpPr>
          <p:nvPr/>
        </p:nvSpPr>
        <p:spPr>
          <a:xfrm xmlns:a="http://schemas.openxmlformats.org/drawingml/2006/main">
            <a:off x="978408"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baseline과</a:t>
            </a:r>
            <a:endParaRPr sz="1800"/>
          </a:p>
          <a:p xmlns:a="http://schemas.openxmlformats.org/drawingml/2006/main">
            <a:pPr marL="0" indent="0" algn="ctr">
              <a:buNone/>
            </a:pPr>
            <a:r>
              <a:rPr sz="1800" b="1">
                <a:solidFill>
                  <a:srgbClr val="17191C"/>
                </a:solidFill>
                <a:latin typeface="Noto Sans CJK KR"/>
                <a:ea typeface="Noto Sans CJK KR"/>
                <a:cs typeface="Noto Sans CJK KR"/>
              </a:rPr>
              <a:t>글자 그대로 같다</a:t>
            </a:r>
            <a:endParaRPr sz="1800"/>
          </a:p>
        </p:txBody>
      </p:sp>
      <p:sp>
        <p:nvSpPr>
          <p:cNvPr id="14" name="STC-20-infra-arrow-0">
            <a:extLst xmlns:a="http://schemas.openxmlformats.org/drawingml/2006/main">
              <a:ext uri="{FF2B5EF4-FFF2-40B4-BE49-F238E27FC236}">
                <a16:creationId xmlns:a16="http://schemas.microsoft.com/office/drawing/2014/main" id="{B8F31725-8432-4D1D-9A1E-34BAF08A8290}"/>
              </a:ext>
            </a:extLst>
          </p:cNvPr>
          <p:cNvSpPr>
            <a:spLocks xmlns:a="http://schemas.openxmlformats.org/drawingml/2006/main" noGrp="1"/>
          </p:cNvSpPr>
          <p:nvPr/>
        </p:nvSpPr>
        <p:spPr>
          <a:xfrm xmlns:a="http://schemas.openxmlformats.org/drawingml/2006/main">
            <a:off x="3346704" y="3657600"/>
            <a:ext cx="530352"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5" name="STC-20-infra-plane-1">
            <a:extLst xmlns:a="http://schemas.openxmlformats.org/drawingml/2006/main">
              <a:ext uri="{FF2B5EF4-FFF2-40B4-BE49-F238E27FC236}">
                <a16:creationId xmlns:a16="http://schemas.microsoft.com/office/drawing/2014/main" id="{383116CD-3E34-4394-B8A0-C315F75F29F2}"/>
              </a:ext>
            </a:extLst>
          </p:cNvPr>
          <p:cNvSpPr>
            <a:spLocks xmlns:a="http://schemas.openxmlformats.org/drawingml/2006/main" noGrp="1"/>
          </p:cNvSpPr>
          <p:nvPr/>
        </p:nvSpPr>
        <p:spPr>
          <a:xfrm xmlns:a="http://schemas.openxmlformats.org/drawingml/2006/main">
            <a:off x="3977640" y="2633472"/>
            <a:ext cx="2514600" cy="2057400"/>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6" name="STC-20-infra-label-1">
            <a:extLst xmlns:a="http://schemas.openxmlformats.org/drawingml/2006/main">
              <a:ext uri="{FF2B5EF4-FFF2-40B4-BE49-F238E27FC236}">
                <a16:creationId xmlns:a16="http://schemas.microsoft.com/office/drawing/2014/main" id="{AB17AEA0-6CEA-4C76-B857-1E4165564301}"/>
              </a:ext>
            </a:extLst>
          </p:cNvPr>
          <p:cNvSpPr>
            <a:spLocks xmlns:a="http://schemas.openxmlformats.org/drawingml/2006/main" noGrp="1"/>
          </p:cNvSpPr>
          <p:nvPr/>
        </p:nvSpPr>
        <p:spPr>
          <a:xfrm xmlns:a="http://schemas.openxmlformats.org/drawingml/2006/main">
            <a:off x="4160520"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9A442D"/>
                </a:solidFill>
                <a:latin typeface="Noto Sans Mono CJK KR"/>
                <a:ea typeface="Noto Sans Mono CJK KR"/>
                <a:cs typeface="Noto Sans Mono CJK KR"/>
              </a:rPr>
              <a:t>바뀐 것</a:t>
            </a:r>
            <a:endParaRPr sz="1150"/>
          </a:p>
        </p:txBody>
      </p:sp>
      <p:sp>
        <p:nvSpPr>
          <p:cNvPr id="17" name="STC-20-infra-body-1">
            <a:extLst xmlns:a="http://schemas.openxmlformats.org/drawingml/2006/main">
              <a:ext uri="{FF2B5EF4-FFF2-40B4-BE49-F238E27FC236}">
                <a16:creationId xmlns:a16="http://schemas.microsoft.com/office/drawing/2014/main" id="{8BC9875E-56D1-4FE2-AFA5-6CD36FDD67BD}"/>
              </a:ext>
            </a:extLst>
          </p:cNvPr>
          <p:cNvSpPr>
            <a:spLocks xmlns:a="http://schemas.openxmlformats.org/drawingml/2006/main" noGrp="1"/>
          </p:cNvSpPr>
          <p:nvPr/>
        </p:nvSpPr>
        <p:spPr>
          <a:xfrm xmlns:a="http://schemas.openxmlformats.org/drawingml/2006/main">
            <a:off x="4206240"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캐시 집합 위의</a:t>
            </a:r>
            <a:endParaRPr sz="1800"/>
          </a:p>
          <a:p xmlns:a="http://schemas.openxmlformats.org/drawingml/2006/main">
            <a:pPr marL="0" indent="0" algn="ctr">
              <a:buNone/>
            </a:pPr>
            <a:r>
              <a:rPr sz="1800" b="1">
                <a:solidFill>
                  <a:srgbClr val="17191C"/>
                </a:solidFill>
                <a:latin typeface="Noto Sans CJK KR"/>
                <a:ea typeface="Noto Sans CJK KR"/>
                <a:cs typeface="Noto Sans CJK KR"/>
              </a:rPr>
              <a:t>게이트된 혼합을 읽는다</a:t>
            </a:r>
            <a:endParaRPr sz="1800"/>
          </a:p>
        </p:txBody>
      </p:sp>
      <p:sp>
        <p:nvSpPr>
          <p:cNvPr id="18" name="STC-20-infra-arrow-1">
            <a:extLst xmlns:a="http://schemas.openxmlformats.org/drawingml/2006/main">
              <a:ext uri="{FF2B5EF4-FFF2-40B4-BE49-F238E27FC236}">
                <a16:creationId xmlns:a16="http://schemas.microsoft.com/office/drawing/2014/main" id="{48A1470C-A87D-49C1-AD06-0A2A05BC7D9B}"/>
              </a:ext>
            </a:extLst>
          </p:cNvPr>
          <p:cNvSpPr>
            <a:spLocks xmlns:a="http://schemas.openxmlformats.org/drawingml/2006/main" noGrp="1"/>
          </p:cNvSpPr>
          <p:nvPr/>
        </p:nvSpPr>
        <p:spPr>
          <a:xfrm xmlns:a="http://schemas.openxmlformats.org/drawingml/2006/main">
            <a:off x="6574536" y="3657600"/>
            <a:ext cx="530352"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9" name="STC-20-infra-plane-2">
            <a:extLst xmlns:a="http://schemas.openxmlformats.org/drawingml/2006/main">
              <a:ext uri="{FF2B5EF4-FFF2-40B4-BE49-F238E27FC236}">
                <a16:creationId xmlns:a16="http://schemas.microsoft.com/office/drawing/2014/main" id="{56548C3C-0562-4527-B7A6-9AAEEE6E1179}"/>
              </a:ext>
            </a:extLst>
          </p:cNvPr>
          <p:cNvSpPr>
            <a:spLocks xmlns:a="http://schemas.openxmlformats.org/drawingml/2006/main" noGrp="1"/>
          </p:cNvSpPr>
          <p:nvPr/>
        </p:nvSpPr>
        <p:spPr>
          <a:xfrm xmlns:a="http://schemas.openxmlformats.org/drawingml/2006/main">
            <a:off x="7205472" y="2633472"/>
            <a:ext cx="2514600" cy="2057400"/>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20" name="STC-20-infra-label-2">
            <a:extLst xmlns:a="http://schemas.openxmlformats.org/drawingml/2006/main">
              <a:ext uri="{FF2B5EF4-FFF2-40B4-BE49-F238E27FC236}">
                <a16:creationId xmlns:a16="http://schemas.microsoft.com/office/drawing/2014/main" id="{7D68313E-B396-49BB-9026-C73B3F9CE439}"/>
              </a:ext>
            </a:extLst>
          </p:cNvPr>
          <p:cNvSpPr>
            <a:spLocks xmlns:a="http://schemas.openxmlformats.org/drawingml/2006/main" noGrp="1"/>
          </p:cNvSpPr>
          <p:nvPr/>
        </p:nvSpPr>
        <p:spPr>
          <a:xfrm xmlns:a="http://schemas.openxmlformats.org/drawingml/2006/main">
            <a:off x="7388352"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2F6B63"/>
                </a:solidFill>
                <a:latin typeface="Noto Sans Mono CJK KR"/>
                <a:ea typeface="Noto Sans Mono CJK KR"/>
                <a:cs typeface="Noto Sans Mono CJK KR"/>
              </a:rPr>
              <a:t>경계에서</a:t>
            </a:r>
            <a:endParaRPr sz="1150"/>
          </a:p>
        </p:txBody>
      </p:sp>
      <p:sp>
        <p:nvSpPr>
          <p:cNvPr id="21" name="STC-20-infra-body-2">
            <a:extLst xmlns:a="http://schemas.openxmlformats.org/drawingml/2006/main">
              <a:ext uri="{FF2B5EF4-FFF2-40B4-BE49-F238E27FC236}">
                <a16:creationId xmlns:a16="http://schemas.microsoft.com/office/drawing/2014/main" id="{FA77EDB7-C1A2-4EE1-AB98-FF52014EEADC}"/>
              </a:ext>
            </a:extLst>
          </p:cNvPr>
          <p:cNvSpPr>
            <a:spLocks xmlns:a="http://schemas.openxmlformats.org/drawingml/2006/main" noGrp="1"/>
          </p:cNvSpPr>
          <p:nvPr/>
        </p:nvSpPr>
        <p:spPr>
          <a:xfrm xmlns:a="http://schemas.openxmlformats.org/drawingml/2006/main">
            <a:off x="7434072"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갱신이 아니라 과거</a:t>
            </a:r>
            <a:endParaRPr sz="1800"/>
          </a:p>
          <a:p xmlns:a="http://schemas.openxmlformats.org/drawingml/2006/main">
            <a:pPr marL="0" indent="0" algn="ctr">
              <a:buNone/>
            </a:pPr>
            <a:r>
              <a:rPr sz="1800" b="1">
                <a:solidFill>
                  <a:srgbClr val="17191C"/>
                </a:solidFill>
                <a:latin typeface="Noto Sans CJK KR"/>
                <a:ea typeface="Noto Sans CJK KR"/>
                <a:cs typeface="Noto Sans CJK KR"/>
              </a:rPr>
              <a:t>iterate의 보존이다</a:t>
            </a:r>
            <a:endParaRPr sz="1800"/>
          </a:p>
        </p:txBody>
      </p:sp>
      <p:sp>
        <p:nvSpPr>
          <p:cNvPr id="22" name="STC-20-infra-control">
            <a:extLst xmlns:a="http://schemas.openxmlformats.org/drawingml/2006/main">
              <a:ext uri="{FF2B5EF4-FFF2-40B4-BE49-F238E27FC236}">
                <a16:creationId xmlns:a16="http://schemas.microsoft.com/office/drawing/2014/main" id="{29BE5495-BD82-4477-88F7-D6AF498D154C}"/>
              </a:ext>
            </a:extLst>
          </p:cNvPr>
          <p:cNvSpPr>
            <a:spLocks xmlns:a="http://schemas.openxmlformats.org/drawingml/2006/main" noGrp="1"/>
          </p:cNvSpPr>
          <p:nvPr/>
        </p:nvSpPr>
        <p:spPr>
          <a:xfrm xmlns:a="http://schemas.openxmlformats.org/drawingml/2006/main">
            <a:off x="1481328" y="1435608"/>
            <a:ext cx="8183880" cy="65836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3" name="STC-20-infra-control-text">
            <a:extLst xmlns:a="http://schemas.openxmlformats.org/drawingml/2006/main">
              <a:ext uri="{FF2B5EF4-FFF2-40B4-BE49-F238E27FC236}">
                <a16:creationId xmlns:a16="http://schemas.microsoft.com/office/drawing/2014/main" id="{DD79965F-265D-40C2-AEAD-EB1FC8BA1267}"/>
              </a:ext>
            </a:extLst>
          </p:cNvPr>
          <p:cNvSpPr>
            <a:spLocks xmlns:a="http://schemas.openxmlformats.org/drawingml/2006/main" noGrp="1"/>
          </p:cNvSpPr>
          <p:nvPr/>
        </p:nvSpPr>
        <p:spPr>
          <a:xfrm xmlns:a="http://schemas.openxmlformats.org/drawingml/2006/main">
            <a:off x="1773936" y="1655064"/>
            <a:ext cx="76078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b="1">
                <a:solidFill>
                  <a:srgbClr val="FFFFFF"/>
                </a:solidFill>
                <a:latin typeface="Noto Sans Mono CJK KR"/>
                <a:ea typeface="Noto Sans Mono CJK KR"/>
                <a:cs typeface="Noto Sans Mono CJK KR"/>
              </a:rPr>
              <a:t>조건 (3)이 없으면 식 (R)을 고친 논문과 (U-*)를 고친 논문이 섞이고 경로 구분이 무너진다</a:t>
            </a:r>
            <a:endParaRPr sz="1250"/>
          </a:p>
        </p:txBody>
      </p:sp>
      <p:sp>
        <p:nvSpPr>
          <p:cNvPr id="24" name="STC-20-infra-control-wake">
            <a:extLst xmlns:a="http://schemas.openxmlformats.org/drawingml/2006/main">
              <a:ext uri="{FF2B5EF4-FFF2-40B4-BE49-F238E27FC236}">
                <a16:creationId xmlns:a16="http://schemas.microsoft.com/office/drawing/2014/main" id="{43E7917B-51C1-450C-A277-0741EFA35A12}"/>
              </a:ext>
            </a:extLst>
          </p:cNvPr>
          <p:cNvSpPr>
            <a:spLocks xmlns:a="http://schemas.openxmlformats.org/drawingml/2006/main" noGrp="1"/>
          </p:cNvSpPr>
          <p:nvPr/>
        </p:nvSpPr>
        <p:spPr>
          <a:xfrm xmlns:a="http://schemas.openxmlformats.org/drawingml/2006/main">
            <a:off x="2816352"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5" name="STC-20-infra-control-sleep">
            <a:extLst xmlns:a="http://schemas.openxmlformats.org/drawingml/2006/main">
              <a:ext uri="{FF2B5EF4-FFF2-40B4-BE49-F238E27FC236}">
                <a16:creationId xmlns:a16="http://schemas.microsoft.com/office/drawing/2014/main" id="{3A660823-14F6-4B6B-B118-257913111373}"/>
              </a:ext>
            </a:extLst>
          </p:cNvPr>
          <p:cNvSpPr>
            <a:spLocks xmlns:a="http://schemas.openxmlformats.org/drawingml/2006/main" noGrp="1"/>
          </p:cNvSpPr>
          <p:nvPr/>
        </p:nvSpPr>
        <p:spPr>
          <a:xfrm xmlns:a="http://schemas.openxmlformats.org/drawingml/2006/main">
            <a:off x="6044184"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20-infra-control-memory">
            <a:extLst xmlns:a="http://schemas.openxmlformats.org/drawingml/2006/main">
              <a:ext uri="{FF2B5EF4-FFF2-40B4-BE49-F238E27FC236}">
                <a16:creationId xmlns:a16="http://schemas.microsoft.com/office/drawing/2014/main" id="{C059216D-6C86-4256-B827-B6F048815B09}"/>
              </a:ext>
            </a:extLst>
          </p:cNvPr>
          <p:cNvSpPr>
            <a:spLocks xmlns:a="http://schemas.openxmlformats.org/drawingml/2006/main" noGrp="1"/>
          </p:cNvSpPr>
          <p:nvPr/>
        </p:nvSpPr>
        <p:spPr>
          <a:xfrm xmlns:a="http://schemas.openxmlformats.org/drawingml/2006/main">
            <a:off x="9272016"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7" name="STC-20-infra-ledger">
            <a:extLst xmlns:a="http://schemas.openxmlformats.org/drawingml/2006/main">
              <a:ext uri="{FF2B5EF4-FFF2-40B4-BE49-F238E27FC236}">
                <a16:creationId xmlns:a16="http://schemas.microsoft.com/office/drawing/2014/main" id="{FD304FC3-39EC-4FAD-A3A7-9CFE6AD014A3}"/>
              </a:ext>
            </a:extLst>
          </p:cNvPr>
          <p:cNvSpPr>
            <a:spLocks xmlns:a="http://schemas.openxmlformats.org/drawingml/2006/main" noGrp="1"/>
          </p:cNvSpPr>
          <p:nvPr/>
        </p:nvSpPr>
        <p:spPr>
          <a:xfrm xmlns:a="http://schemas.openxmlformats.org/drawingml/2006/main">
            <a:off x="10268712" y="1435608"/>
            <a:ext cx="941832" cy="325526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28" name="STC-20-infra-ledger-text">
            <a:extLst xmlns:a="http://schemas.openxmlformats.org/drawingml/2006/main">
              <a:ext uri="{FF2B5EF4-FFF2-40B4-BE49-F238E27FC236}">
                <a16:creationId xmlns:a16="http://schemas.microsoft.com/office/drawing/2014/main" id="{1F693BD4-3AF9-4EE0-8CB6-7A83368EE3F9}"/>
              </a:ext>
            </a:extLst>
          </p:cNvPr>
          <p:cNvSpPr>
            <a:spLocks xmlns:a="http://schemas.openxmlformats.org/drawingml/2006/main" noGrp="1"/>
          </p:cNvSpPr>
          <p:nvPr/>
        </p:nvSpPr>
        <p:spPr>
          <a:xfrm xmlns:a="http://schemas.openxmlformats.org/drawingml/2006/main" rot="16200000">
            <a:off x="10405872" y="2487168"/>
            <a:ext cx="66751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59616A"/>
                </a:solidFill>
                <a:latin typeface="Noto Sans Mono CJK KR"/>
                <a:ea typeface="Noto Sans Mono CJK KR"/>
                <a:cs typeface="Noto Sans Mono CJK KR"/>
              </a:rPr>
              <a:t>갱신</a:t>
            </a:r>
            <a:endParaRPr sz="1100"/>
          </a:p>
          <a:p xmlns:a="http://schemas.openxmlformats.org/drawingml/2006/main">
            <a:pPr marL="0" indent="0" algn="ctr">
              <a:buNone/>
            </a:pPr>
            <a:r>
              <a:rPr sz="1100" b="1">
                <a:solidFill>
                  <a:srgbClr val="59616A"/>
                </a:solidFill>
                <a:latin typeface="Noto Sans Mono CJK KR"/>
                <a:ea typeface="Noto Sans Mono CJK KR"/>
                <a:cs typeface="Noto Sans Mono CJK KR"/>
              </a:rPr>
              <a:t>규칙</a:t>
            </a:r>
            <a:endParaRPr sz="1100"/>
          </a:p>
        </p:txBody>
      </p:sp>
      <p:sp>
        <p:nvSpPr>
          <p:cNvPr id="29" name="STC-20-infra-latency">
            <a:extLst xmlns:a="http://schemas.openxmlformats.org/drawingml/2006/main">
              <a:ext uri="{FF2B5EF4-FFF2-40B4-BE49-F238E27FC236}">
                <a16:creationId xmlns:a16="http://schemas.microsoft.com/office/drawing/2014/main" id="{3D41E0D1-4347-465C-AE68-23FB7C1267CF}"/>
              </a:ext>
            </a:extLst>
          </p:cNvPr>
          <p:cNvSpPr>
            <a:spLocks xmlns:a="http://schemas.openxmlformats.org/drawingml/2006/main" noGrp="1"/>
          </p:cNvSpPr>
          <p:nvPr/>
        </p:nvSpPr>
        <p:spPr>
          <a:xfrm xmlns:a="http://schemas.openxmlformats.org/drawingml/2006/main">
            <a:off x="868680"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244E8A"/>
                </a:solidFill>
                <a:latin typeface="Noto Sans CJK KR"/>
                <a:ea typeface="Noto Sans CJK KR"/>
                <a:cs typeface="Noto Sans CJK KR"/>
              </a:rPr>
              <a:t>읽기식</a:t>
            </a:r>
            <a:endParaRPr sz="1300"/>
          </a:p>
        </p:txBody>
      </p:sp>
      <p:sp>
        <p:nvSpPr>
          <p:cNvPr id="30" name="STC-20-infra-throughput">
            <a:extLst xmlns:a="http://schemas.openxmlformats.org/drawingml/2006/main">
              <a:ext uri="{FF2B5EF4-FFF2-40B4-BE49-F238E27FC236}">
                <a16:creationId xmlns:a16="http://schemas.microsoft.com/office/drawing/2014/main" id="{C8A7806F-FA6A-439E-9271-2F787EB29C92}"/>
              </a:ext>
            </a:extLst>
          </p:cNvPr>
          <p:cNvSpPr>
            <a:spLocks xmlns:a="http://schemas.openxmlformats.org/drawingml/2006/main" noGrp="1"/>
          </p:cNvSpPr>
          <p:nvPr/>
        </p:nvSpPr>
        <p:spPr>
          <a:xfrm xmlns:a="http://schemas.openxmlformats.org/drawingml/2006/main">
            <a:off x="4133088"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9A442D"/>
                </a:solidFill>
                <a:latin typeface="Noto Sans CJK KR"/>
                <a:ea typeface="Noto Sans CJK KR"/>
                <a:cs typeface="Noto Sans CJK KR"/>
              </a:rPr>
              <a:t>바뀐 것</a:t>
            </a:r>
            <a:endParaRPr sz="1300"/>
          </a:p>
        </p:txBody>
      </p:sp>
      <p:sp>
        <p:nvSpPr>
          <p:cNvPr id="31" name="STC-20-infra-tiered">
            <a:extLst xmlns:a="http://schemas.openxmlformats.org/drawingml/2006/main">
              <a:ext uri="{FF2B5EF4-FFF2-40B4-BE49-F238E27FC236}">
                <a16:creationId xmlns:a16="http://schemas.microsoft.com/office/drawing/2014/main" id="{EFFD8688-A736-46D2-AA52-97BFFC250E90}"/>
              </a:ext>
            </a:extLst>
          </p:cNvPr>
          <p:cNvSpPr>
            <a:spLocks xmlns:a="http://schemas.openxmlformats.org/drawingml/2006/main" noGrp="1"/>
          </p:cNvSpPr>
          <p:nvPr/>
        </p:nvSpPr>
        <p:spPr>
          <a:xfrm xmlns:a="http://schemas.openxmlformats.org/drawingml/2006/main">
            <a:off x="7333488"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2F6B63"/>
                </a:solidFill>
                <a:latin typeface="Noto Sans CJK KR"/>
                <a:ea typeface="Noto Sans CJK KR"/>
                <a:cs typeface="Noto Sans CJK KR"/>
              </a:rPr>
              <a:t>경계에서</a:t>
            </a:r>
            <a:endParaRPr sz="1300"/>
          </a:p>
        </p:txBody>
      </p:sp>
    </p:spTree>
    <p:extLst>
      <p:ext uri="{BB962C8B-B14F-4D97-AF65-F5344CB8AC3E}">
        <p14:creationId xmlns:p14="http://schemas.microsoft.com/office/powerpoint/2010/main" val="1555086896"/>
      </p:ext>
    </p:extLst>
  </p:cSld>
</p:sld>
</file>

<file path=ppt/slides/slide3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0-section">
            <a:extLst xmlns:a="http://schemas.openxmlformats.org/drawingml/2006/main">
              <a:ext uri="{FF2B5EF4-FFF2-40B4-BE49-F238E27FC236}">
                <a16:creationId xmlns:a16="http://schemas.microsoft.com/office/drawing/2014/main" id="{EF3FC378-6B44-4B49-B1BB-4667473BF88D}"/>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DISCRIMINANT</a:t>
            </a:r>
            <a:endParaRPr sz="950"/>
          </a:p>
        </p:txBody>
      </p:sp>
      <p:sp>
        <p:nvSpPr>
          <p:cNvPr id="3" name="STC-20-slide-id">
            <a:extLst xmlns:a="http://schemas.openxmlformats.org/drawingml/2006/main">
              <a:ext uri="{FF2B5EF4-FFF2-40B4-BE49-F238E27FC236}">
                <a16:creationId xmlns:a16="http://schemas.microsoft.com/office/drawing/2014/main" id="{CC20B574-D2C0-4046-9A1A-25ADE22F8D1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STC-037</a:t>
            </a:r>
            <a:endParaRPr sz="950"/>
          </a:p>
        </p:txBody>
      </p:sp>
      <p:sp>
        <p:nvSpPr>
          <p:cNvPr id="4" name="STC-20-headline">
            <a:extLst xmlns:a="http://schemas.openxmlformats.org/drawingml/2006/main">
              <a:ext uri="{FF2B5EF4-FFF2-40B4-BE49-F238E27FC236}">
                <a16:creationId xmlns:a16="http://schemas.microsoft.com/office/drawing/2014/main" id="{81422673-09A9-4801-94A9-13C70E66A3C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조건 (4)를 빼면 — test-time compute 전체가 들어온다</a:t>
            </a:r>
            <a:endParaRPr sz="3000"/>
          </a:p>
        </p:txBody>
      </p:sp>
      <p:sp>
        <p:nvSpPr>
          <p:cNvPr id="5" name="STC-20-status-label">
            <a:extLst xmlns:a="http://schemas.openxmlformats.org/drawingml/2006/main">
              <a:ext uri="{FF2B5EF4-FFF2-40B4-BE49-F238E27FC236}">
                <a16:creationId xmlns:a16="http://schemas.microsoft.com/office/drawing/2014/main" id="{14A8D44A-E47B-4BF7-8A5A-F78858804A15}"/>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확립</a:t>
            </a:r>
            <a:endParaRPr sz="1000"/>
          </a:p>
        </p:txBody>
      </p:sp>
      <p:sp>
        <p:nvSpPr>
          <p:cNvPr id="6" name="STC-20-status-rule">
            <a:extLst xmlns:a="http://schemas.openxmlformats.org/drawingml/2006/main">
              <a:ext uri="{FF2B5EF4-FFF2-40B4-BE49-F238E27FC236}">
                <a16:creationId xmlns:a16="http://schemas.microsoft.com/office/drawing/2014/main" id="{9111AC13-7AC9-486F-A35E-14918CB2FAEA}"/>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20-footer-rule">
            <a:extLst xmlns:a="http://schemas.openxmlformats.org/drawingml/2006/main">
              <a:ext uri="{FF2B5EF4-FFF2-40B4-BE49-F238E27FC236}">
                <a16:creationId xmlns:a16="http://schemas.microsoft.com/office/drawing/2014/main" id="{99AB930A-93F8-4C3C-B1B2-60A6CD2FD70F}"/>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0-source-footer">
            <a:extLst xmlns:a="http://schemas.openxmlformats.org/drawingml/2006/main">
              <a:ext uri="{FF2B5EF4-FFF2-40B4-BE49-F238E27FC236}">
                <a16:creationId xmlns:a16="http://schemas.microsoft.com/office/drawing/2014/main" id="{ACA61175-AD4B-4248-BD6E-1C9E5F3D48A1}"/>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§11.2.3 · [NL §6, §7.1]</a:t>
            </a:r>
            <a:endParaRPr sz="850"/>
          </a:p>
        </p:txBody>
      </p:sp>
      <p:sp>
        <p:nvSpPr>
          <p:cNvPr id="9" name="STC-20-page-number">
            <a:extLst xmlns:a="http://schemas.openxmlformats.org/drawingml/2006/main">
              <a:ext uri="{FF2B5EF4-FFF2-40B4-BE49-F238E27FC236}">
                <a16:creationId xmlns:a16="http://schemas.microsoft.com/office/drawing/2014/main" id="{BFF20DF2-5531-4220-9167-36B66397782A}"/>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37</a:t>
            </a:r>
            <a:endParaRPr sz="850"/>
          </a:p>
        </p:txBody>
      </p:sp>
      <p:sp>
        <p:nvSpPr>
          <p:cNvPr id="11" name="STC-20-infra-plane-0">
            <a:extLst xmlns:a="http://schemas.openxmlformats.org/drawingml/2006/main">
              <a:ext uri="{FF2B5EF4-FFF2-40B4-BE49-F238E27FC236}">
                <a16:creationId xmlns:a16="http://schemas.microsoft.com/office/drawing/2014/main" id="{C8220505-B492-4023-B70A-A2232E14F70E}"/>
              </a:ext>
            </a:extLst>
          </p:cNvPr>
          <p:cNvSpPr>
            <a:spLocks xmlns:a="http://schemas.openxmlformats.org/drawingml/2006/main" noGrp="1"/>
          </p:cNvSpPr>
          <p:nvPr/>
        </p:nvSpPr>
        <p:spPr>
          <a:xfrm xmlns:a="http://schemas.openxmlformats.org/drawingml/2006/main">
            <a:off x="749808" y="2633472"/>
            <a:ext cx="2514600" cy="2057400"/>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2" name="STC-20-infra-label-0">
            <a:extLst xmlns:a="http://schemas.openxmlformats.org/drawingml/2006/main">
              <a:ext uri="{FF2B5EF4-FFF2-40B4-BE49-F238E27FC236}">
                <a16:creationId xmlns:a16="http://schemas.microsoft.com/office/drawing/2014/main" id="{874AE9C7-25F3-4D96-A818-0C8E56EBC16F}"/>
              </a:ext>
            </a:extLst>
          </p:cNvPr>
          <p:cNvSpPr>
            <a:spLocks xmlns:a="http://schemas.openxmlformats.org/drawingml/2006/main" noGrp="1"/>
          </p:cNvSpPr>
          <p:nvPr/>
        </p:nvSpPr>
        <p:spPr>
          <a:xfrm xmlns:a="http://schemas.openxmlformats.org/drawingml/2006/main">
            <a:off x="932688"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244E8A"/>
                </a:solidFill>
                <a:latin typeface="Noto Sans Mono CJK KR"/>
                <a:ea typeface="Noto Sans Mono CJK KR"/>
                <a:cs typeface="Noto Sans Mono CJK KR"/>
              </a:rPr>
              <a:t>CoT·scratchpad</a:t>
            </a:r>
            <a:endParaRPr sz="1150"/>
          </a:p>
        </p:txBody>
      </p:sp>
      <p:sp>
        <p:nvSpPr>
          <p:cNvPr id="13" name="STC-20-infra-body-0">
            <a:extLst xmlns:a="http://schemas.openxmlformats.org/drawingml/2006/main">
              <a:ext uri="{FF2B5EF4-FFF2-40B4-BE49-F238E27FC236}">
                <a16:creationId xmlns:a16="http://schemas.microsoft.com/office/drawing/2014/main" id="{EAA62413-4D3B-461E-A878-B0FEC894A515}"/>
              </a:ext>
            </a:extLst>
          </p:cNvPr>
          <p:cNvSpPr>
            <a:spLocks xmlns:a="http://schemas.openxmlformats.org/drawingml/2006/main" noGrp="1"/>
          </p:cNvSpPr>
          <p:nvPr/>
        </p:nvSpPr>
        <p:spPr>
          <a:xfrm xmlns:a="http://schemas.openxmlformats.org/drawingml/2006/main">
            <a:off x="978408"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상태를 만들고</a:t>
            </a:r>
            <a:endParaRPr sz="1800"/>
          </a:p>
          <a:p xmlns:a="http://schemas.openxmlformats.org/drawingml/2006/main">
            <a:pPr marL="0" indent="0" algn="ctr">
              <a:buNone/>
            </a:pPr>
            <a:r>
              <a:rPr sz="1800" b="1">
                <a:solidFill>
                  <a:srgbClr val="17191C"/>
                </a:solidFill>
                <a:latin typeface="Noto Sans CJK KR"/>
                <a:ea typeface="Noto Sans CJK KR"/>
                <a:cs typeface="Noto Sans CJK KR"/>
              </a:rPr>
              <a:t>읽지만 질의와 함께 사라진다</a:t>
            </a:r>
            <a:endParaRPr sz="1800"/>
          </a:p>
        </p:txBody>
      </p:sp>
      <p:sp>
        <p:nvSpPr>
          <p:cNvPr id="14" name="STC-20-infra-arrow-0">
            <a:extLst xmlns:a="http://schemas.openxmlformats.org/drawingml/2006/main">
              <a:ext uri="{FF2B5EF4-FFF2-40B4-BE49-F238E27FC236}">
                <a16:creationId xmlns:a16="http://schemas.microsoft.com/office/drawing/2014/main" id="{B8F31725-8432-4D1D-9A1E-34BAF08A8290}"/>
              </a:ext>
            </a:extLst>
          </p:cNvPr>
          <p:cNvSpPr>
            <a:spLocks xmlns:a="http://schemas.openxmlformats.org/drawingml/2006/main" noGrp="1"/>
          </p:cNvSpPr>
          <p:nvPr/>
        </p:nvSpPr>
        <p:spPr>
          <a:xfrm xmlns:a="http://schemas.openxmlformats.org/drawingml/2006/main">
            <a:off x="3346704" y="3657600"/>
            <a:ext cx="530352"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5" name="STC-20-infra-plane-1">
            <a:extLst xmlns:a="http://schemas.openxmlformats.org/drawingml/2006/main">
              <a:ext uri="{FF2B5EF4-FFF2-40B4-BE49-F238E27FC236}">
                <a16:creationId xmlns:a16="http://schemas.microsoft.com/office/drawing/2014/main" id="{383116CD-3E34-4394-B8A0-C315F75F29F2}"/>
              </a:ext>
            </a:extLst>
          </p:cNvPr>
          <p:cNvSpPr>
            <a:spLocks xmlns:a="http://schemas.openxmlformats.org/drawingml/2006/main" noGrp="1"/>
          </p:cNvSpPr>
          <p:nvPr/>
        </p:nvSpPr>
        <p:spPr>
          <a:xfrm xmlns:a="http://schemas.openxmlformats.org/drawingml/2006/main">
            <a:off x="3977640" y="2633472"/>
            <a:ext cx="2514600" cy="2057400"/>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6" name="STC-20-infra-label-1">
            <a:extLst xmlns:a="http://schemas.openxmlformats.org/drawingml/2006/main">
              <a:ext uri="{FF2B5EF4-FFF2-40B4-BE49-F238E27FC236}">
                <a16:creationId xmlns:a16="http://schemas.microsoft.com/office/drawing/2014/main" id="{AB17AEA0-6CEA-4C76-B857-1E4165564301}"/>
              </a:ext>
            </a:extLst>
          </p:cNvPr>
          <p:cNvSpPr>
            <a:spLocks xmlns:a="http://schemas.openxmlformats.org/drawingml/2006/main" noGrp="1"/>
          </p:cNvSpPr>
          <p:nvPr/>
        </p:nvSpPr>
        <p:spPr>
          <a:xfrm xmlns:a="http://schemas.openxmlformats.org/drawingml/2006/main">
            <a:off x="4160520"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9A442D"/>
                </a:solidFill>
                <a:latin typeface="Noto Sans Mono CJK KR"/>
                <a:ea typeface="Noto Sans Mono CJK KR"/>
                <a:cs typeface="Noto Sans Mono CJK KR"/>
              </a:rPr>
              <a:t>Nested Learning</a:t>
            </a:r>
            <a:endParaRPr sz="1150"/>
          </a:p>
        </p:txBody>
      </p:sp>
      <p:sp>
        <p:nvSpPr>
          <p:cNvPr id="17" name="STC-20-infra-body-1">
            <a:extLst xmlns:a="http://schemas.openxmlformats.org/drawingml/2006/main">
              <a:ext uri="{FF2B5EF4-FFF2-40B4-BE49-F238E27FC236}">
                <a16:creationId xmlns:a16="http://schemas.microsoft.com/office/drawing/2014/main" id="{8BC9875E-56D1-4FE2-AFA5-6CD36FDD67BD}"/>
              </a:ext>
            </a:extLst>
          </p:cNvPr>
          <p:cNvSpPr>
            <a:spLocks xmlns:a="http://schemas.openxmlformats.org/drawingml/2006/main" noGrp="1"/>
          </p:cNvSpPr>
          <p:nvPr/>
        </p:nvSpPr>
        <p:spPr>
          <a:xfrm xmlns:a="http://schemas.openxmlformats.org/drawingml/2006/main">
            <a:off x="4206240"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'문맥이 제거되면</a:t>
            </a:r>
            <a:endParaRPr sz="1800"/>
          </a:p>
          <a:p xmlns:a="http://schemas.openxmlformats.org/drawingml/2006/main">
            <a:pPr marL="0" indent="0" algn="ctr">
              <a:buNone/>
            </a:pPr>
            <a:r>
              <a:rPr sz="1800" b="1">
                <a:solidFill>
                  <a:srgbClr val="17191C"/>
                </a:solidFill>
                <a:latin typeface="Noto Sans CJK KR"/>
                <a:ea typeface="Noto Sans CJK KR"/>
                <a:cs typeface="Noto Sans CJK KR"/>
              </a:rPr>
              <a:t>in-context 지식은 존속 안 함'</a:t>
            </a:r>
            <a:endParaRPr sz="1800"/>
          </a:p>
        </p:txBody>
      </p:sp>
      <p:sp>
        <p:nvSpPr>
          <p:cNvPr id="18" name="STC-20-infra-arrow-1">
            <a:extLst xmlns:a="http://schemas.openxmlformats.org/drawingml/2006/main">
              <a:ext uri="{FF2B5EF4-FFF2-40B4-BE49-F238E27FC236}">
                <a16:creationId xmlns:a16="http://schemas.microsoft.com/office/drawing/2014/main" id="{48A1470C-A87D-49C1-AD06-0A2A05BC7D9B}"/>
              </a:ext>
            </a:extLst>
          </p:cNvPr>
          <p:cNvSpPr>
            <a:spLocks xmlns:a="http://schemas.openxmlformats.org/drawingml/2006/main" noGrp="1"/>
          </p:cNvSpPr>
          <p:nvPr/>
        </p:nvSpPr>
        <p:spPr>
          <a:xfrm xmlns:a="http://schemas.openxmlformats.org/drawingml/2006/main">
            <a:off x="6574536" y="3657600"/>
            <a:ext cx="530352"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9" name="STC-20-infra-plane-2">
            <a:extLst xmlns:a="http://schemas.openxmlformats.org/drawingml/2006/main">
              <a:ext uri="{FF2B5EF4-FFF2-40B4-BE49-F238E27FC236}">
                <a16:creationId xmlns:a16="http://schemas.microsoft.com/office/drawing/2014/main" id="{56548C3C-0562-4527-B7A6-9AAEEE6E1179}"/>
              </a:ext>
            </a:extLst>
          </p:cNvPr>
          <p:cNvSpPr>
            <a:spLocks xmlns:a="http://schemas.openxmlformats.org/drawingml/2006/main" noGrp="1"/>
          </p:cNvSpPr>
          <p:nvPr/>
        </p:nvSpPr>
        <p:spPr>
          <a:xfrm xmlns:a="http://schemas.openxmlformats.org/drawingml/2006/main">
            <a:off x="7205472" y="2633472"/>
            <a:ext cx="2514600" cy="2057400"/>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20" name="STC-20-infra-label-2">
            <a:extLst xmlns:a="http://schemas.openxmlformats.org/drawingml/2006/main">
              <a:ext uri="{FF2B5EF4-FFF2-40B4-BE49-F238E27FC236}">
                <a16:creationId xmlns:a16="http://schemas.microsoft.com/office/drawing/2014/main" id="{7D68313E-B396-49BB-9026-C73B3F9CE439}"/>
              </a:ext>
            </a:extLst>
          </p:cNvPr>
          <p:cNvSpPr>
            <a:spLocks xmlns:a="http://schemas.openxmlformats.org/drawingml/2006/main" noGrp="1"/>
          </p:cNvSpPr>
          <p:nvPr/>
        </p:nvSpPr>
        <p:spPr>
          <a:xfrm xmlns:a="http://schemas.openxmlformats.org/drawingml/2006/main">
            <a:off x="7388352"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2F6B63"/>
                </a:solidFill>
                <a:latin typeface="Noto Sans Mono CJK KR"/>
                <a:ea typeface="Noto Sans Mono CJK KR"/>
                <a:cs typeface="Noto Sans Mono CJK KR"/>
              </a:rPr>
              <a:t>CMS 블록</a:t>
            </a:r>
            <a:endParaRPr sz="1150"/>
          </a:p>
        </p:txBody>
      </p:sp>
      <p:sp>
        <p:nvSpPr>
          <p:cNvPr id="21" name="STC-20-infra-body-2">
            <a:extLst xmlns:a="http://schemas.openxmlformats.org/drawingml/2006/main">
              <a:ext uri="{FF2B5EF4-FFF2-40B4-BE49-F238E27FC236}">
                <a16:creationId xmlns:a16="http://schemas.microsoft.com/office/drawing/2014/main" id="{FA77EDB7-C1A2-4EE1-AB98-FF52014EEADC}"/>
              </a:ext>
            </a:extLst>
          </p:cNvPr>
          <p:cNvSpPr>
            <a:spLocks xmlns:a="http://schemas.openxmlformats.org/drawingml/2006/main" noGrp="1"/>
          </p:cNvSpPr>
          <p:nvPr/>
        </p:nvSpPr>
        <p:spPr>
          <a:xfrm xmlns:a="http://schemas.openxmlformats.org/drawingml/2006/main">
            <a:off x="7434072"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일정 step 뒤</a:t>
            </a:r>
            <a:endParaRPr sz="1800"/>
          </a:p>
          <a:p xmlns:a="http://schemas.openxmlformats.org/drawingml/2006/main">
            <a:pPr marL="0" indent="0" algn="ctr">
              <a:buNone/>
            </a:pPr>
            <a:r>
              <a:rPr sz="1800" b="1">
                <a:solidFill>
                  <a:srgbClr val="17191C"/>
                </a:solidFill>
                <a:latin typeface="Noto Sans CJK KR"/>
                <a:ea typeface="Noto Sans CJK KR"/>
                <a:cs typeface="Noto Sans CJK KR"/>
              </a:rPr>
              <a:t>초기값으로 되돌아간다</a:t>
            </a:r>
            <a:endParaRPr sz="1800"/>
          </a:p>
        </p:txBody>
      </p:sp>
      <p:sp>
        <p:nvSpPr>
          <p:cNvPr id="22" name="STC-20-infra-control">
            <a:extLst xmlns:a="http://schemas.openxmlformats.org/drawingml/2006/main">
              <a:ext uri="{FF2B5EF4-FFF2-40B4-BE49-F238E27FC236}">
                <a16:creationId xmlns:a16="http://schemas.microsoft.com/office/drawing/2014/main" id="{29BE5495-BD82-4477-88F7-D6AF498D154C}"/>
              </a:ext>
            </a:extLst>
          </p:cNvPr>
          <p:cNvSpPr>
            <a:spLocks xmlns:a="http://schemas.openxmlformats.org/drawingml/2006/main" noGrp="1"/>
          </p:cNvSpPr>
          <p:nvPr/>
        </p:nvSpPr>
        <p:spPr>
          <a:xfrm xmlns:a="http://schemas.openxmlformats.org/drawingml/2006/main">
            <a:off x="1481328" y="1435608"/>
            <a:ext cx="8183880" cy="65836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3" name="STC-20-infra-control-text">
            <a:extLst xmlns:a="http://schemas.openxmlformats.org/drawingml/2006/main">
              <a:ext uri="{FF2B5EF4-FFF2-40B4-BE49-F238E27FC236}">
                <a16:creationId xmlns:a16="http://schemas.microsoft.com/office/drawing/2014/main" id="{DD79965F-265D-40C2-AEAD-EB1FC8BA1267}"/>
              </a:ext>
            </a:extLst>
          </p:cNvPr>
          <p:cNvSpPr>
            <a:spLocks xmlns:a="http://schemas.openxmlformats.org/drawingml/2006/main" noGrp="1"/>
          </p:cNvSpPr>
          <p:nvPr/>
        </p:nvSpPr>
        <p:spPr>
          <a:xfrm xmlns:a="http://schemas.openxmlformats.org/drawingml/2006/main">
            <a:off x="1773936" y="1655064"/>
            <a:ext cx="76078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b="1">
                <a:solidFill>
                  <a:srgbClr val="FFFFFF"/>
                </a:solidFill>
                <a:latin typeface="Noto Sans Mono CJK KR"/>
                <a:ea typeface="Noto Sans Mono CJK KR"/>
                <a:cs typeface="Noto Sans Mono CJK KR"/>
              </a:rPr>
              <a:t>이 라인을 만든 논문이 test-time 예산의 대안으로 자신을 제시했다는 점에서 이 조건은 양보할 수 없다</a:t>
            </a:r>
            <a:endParaRPr sz="1250"/>
          </a:p>
        </p:txBody>
      </p:sp>
      <p:sp>
        <p:nvSpPr>
          <p:cNvPr id="24" name="STC-20-infra-control-wake">
            <a:extLst xmlns:a="http://schemas.openxmlformats.org/drawingml/2006/main">
              <a:ext uri="{FF2B5EF4-FFF2-40B4-BE49-F238E27FC236}">
                <a16:creationId xmlns:a16="http://schemas.microsoft.com/office/drawing/2014/main" id="{43E7917B-51C1-450C-A277-0741EFA35A12}"/>
              </a:ext>
            </a:extLst>
          </p:cNvPr>
          <p:cNvSpPr>
            <a:spLocks xmlns:a="http://schemas.openxmlformats.org/drawingml/2006/main" noGrp="1"/>
          </p:cNvSpPr>
          <p:nvPr/>
        </p:nvSpPr>
        <p:spPr>
          <a:xfrm xmlns:a="http://schemas.openxmlformats.org/drawingml/2006/main">
            <a:off x="2816352"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5" name="STC-20-infra-control-sleep">
            <a:extLst xmlns:a="http://schemas.openxmlformats.org/drawingml/2006/main">
              <a:ext uri="{FF2B5EF4-FFF2-40B4-BE49-F238E27FC236}">
                <a16:creationId xmlns:a16="http://schemas.microsoft.com/office/drawing/2014/main" id="{3A660823-14F6-4B6B-B118-257913111373}"/>
              </a:ext>
            </a:extLst>
          </p:cNvPr>
          <p:cNvSpPr>
            <a:spLocks xmlns:a="http://schemas.openxmlformats.org/drawingml/2006/main" noGrp="1"/>
          </p:cNvSpPr>
          <p:nvPr/>
        </p:nvSpPr>
        <p:spPr>
          <a:xfrm xmlns:a="http://schemas.openxmlformats.org/drawingml/2006/main">
            <a:off x="6044184"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20-infra-control-memory">
            <a:extLst xmlns:a="http://schemas.openxmlformats.org/drawingml/2006/main">
              <a:ext uri="{FF2B5EF4-FFF2-40B4-BE49-F238E27FC236}">
                <a16:creationId xmlns:a16="http://schemas.microsoft.com/office/drawing/2014/main" id="{C059216D-6C86-4256-B827-B6F048815B09}"/>
              </a:ext>
            </a:extLst>
          </p:cNvPr>
          <p:cNvSpPr>
            <a:spLocks xmlns:a="http://schemas.openxmlformats.org/drawingml/2006/main" noGrp="1"/>
          </p:cNvSpPr>
          <p:nvPr/>
        </p:nvSpPr>
        <p:spPr>
          <a:xfrm xmlns:a="http://schemas.openxmlformats.org/drawingml/2006/main">
            <a:off x="9272016"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7" name="STC-20-infra-ledger">
            <a:extLst xmlns:a="http://schemas.openxmlformats.org/drawingml/2006/main">
              <a:ext uri="{FF2B5EF4-FFF2-40B4-BE49-F238E27FC236}">
                <a16:creationId xmlns:a16="http://schemas.microsoft.com/office/drawing/2014/main" id="{FD304FC3-39EC-4FAD-A3A7-9CFE6AD014A3}"/>
              </a:ext>
            </a:extLst>
          </p:cNvPr>
          <p:cNvSpPr>
            <a:spLocks xmlns:a="http://schemas.openxmlformats.org/drawingml/2006/main" noGrp="1"/>
          </p:cNvSpPr>
          <p:nvPr/>
        </p:nvSpPr>
        <p:spPr>
          <a:xfrm xmlns:a="http://schemas.openxmlformats.org/drawingml/2006/main">
            <a:off x="10268712" y="1435608"/>
            <a:ext cx="941832" cy="325526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28" name="STC-20-infra-ledger-text">
            <a:extLst xmlns:a="http://schemas.openxmlformats.org/drawingml/2006/main">
              <a:ext uri="{FF2B5EF4-FFF2-40B4-BE49-F238E27FC236}">
                <a16:creationId xmlns:a16="http://schemas.microsoft.com/office/drawing/2014/main" id="{1F693BD4-3AF9-4EE0-8CB6-7A83368EE3F9}"/>
              </a:ext>
            </a:extLst>
          </p:cNvPr>
          <p:cNvSpPr>
            <a:spLocks xmlns:a="http://schemas.openxmlformats.org/drawingml/2006/main" noGrp="1"/>
          </p:cNvSpPr>
          <p:nvPr/>
        </p:nvSpPr>
        <p:spPr>
          <a:xfrm xmlns:a="http://schemas.openxmlformats.org/drawingml/2006/main" rot="16200000">
            <a:off x="10405872" y="2487168"/>
            <a:ext cx="66751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59616A"/>
                </a:solidFill>
                <a:latin typeface="Noto Sans Mono CJK KR"/>
                <a:ea typeface="Noto Sans Mono CJK KR"/>
                <a:cs typeface="Noto Sans Mono CJK KR"/>
              </a:rPr>
              <a:t>CoT·scratchpad</a:t>
            </a:r>
            <a:endParaRPr sz="1100"/>
          </a:p>
          <a:p xmlns:a="http://schemas.openxmlformats.org/drawingml/2006/main">
            <a:pPr marL="0" indent="0" algn="ctr">
              <a:buNone/>
            </a:pPr>
            <a:r>
              <a:rPr sz="1100" b="1">
                <a:solidFill>
                  <a:srgbClr val="59616A"/>
                </a:solidFill>
                <a:latin typeface="Noto Sans Mono CJK KR"/>
                <a:ea typeface="Noto Sans Mono CJK KR"/>
                <a:cs typeface="Noto Sans Mono CJK KR"/>
              </a:rPr>
              <a:t>LEDGER</a:t>
            </a:r>
            <a:endParaRPr sz="1100"/>
          </a:p>
        </p:txBody>
      </p:sp>
      <p:sp>
        <p:nvSpPr>
          <p:cNvPr id="29" name="STC-20-infra-latency">
            <a:extLst xmlns:a="http://schemas.openxmlformats.org/drawingml/2006/main">
              <a:ext uri="{FF2B5EF4-FFF2-40B4-BE49-F238E27FC236}">
                <a16:creationId xmlns:a16="http://schemas.microsoft.com/office/drawing/2014/main" id="{3D41E0D1-4347-465C-AE68-23FB7C1267CF}"/>
              </a:ext>
            </a:extLst>
          </p:cNvPr>
          <p:cNvSpPr>
            <a:spLocks xmlns:a="http://schemas.openxmlformats.org/drawingml/2006/main" noGrp="1"/>
          </p:cNvSpPr>
          <p:nvPr/>
        </p:nvSpPr>
        <p:spPr>
          <a:xfrm xmlns:a="http://schemas.openxmlformats.org/drawingml/2006/main">
            <a:off x="868680"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244E8A"/>
                </a:solidFill>
                <a:latin typeface="Noto Sans CJK KR"/>
                <a:ea typeface="Noto Sans CJK KR"/>
                <a:cs typeface="Noto Sans CJK KR"/>
              </a:rPr>
              <a:t>같은 질의</a:t>
            </a:r>
            <a:endParaRPr sz="1300"/>
          </a:p>
        </p:txBody>
      </p:sp>
      <p:sp>
        <p:nvSpPr>
          <p:cNvPr id="30" name="STC-20-infra-throughput">
            <a:extLst xmlns:a="http://schemas.openxmlformats.org/drawingml/2006/main">
              <a:ext uri="{FF2B5EF4-FFF2-40B4-BE49-F238E27FC236}">
                <a16:creationId xmlns:a16="http://schemas.microsoft.com/office/drawing/2014/main" id="{C8A7806F-FA6A-439E-9271-2F787EB29C92}"/>
              </a:ext>
            </a:extLst>
          </p:cNvPr>
          <p:cNvSpPr>
            <a:spLocks xmlns:a="http://schemas.openxmlformats.org/drawingml/2006/main" noGrp="1"/>
          </p:cNvSpPr>
          <p:nvPr/>
        </p:nvSpPr>
        <p:spPr>
          <a:xfrm xmlns:a="http://schemas.openxmlformats.org/drawingml/2006/main">
            <a:off x="4133088"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9A442D"/>
                </a:solidFill>
                <a:latin typeface="Noto Sans CJK KR"/>
                <a:ea typeface="Noto Sans CJK KR"/>
                <a:cs typeface="Noto Sans CJK KR"/>
              </a:rPr>
              <a:t>Nested Learning</a:t>
            </a:r>
            <a:endParaRPr sz="1300"/>
          </a:p>
        </p:txBody>
      </p:sp>
      <p:sp>
        <p:nvSpPr>
          <p:cNvPr id="31" name="STC-20-infra-tiered">
            <a:extLst xmlns:a="http://schemas.openxmlformats.org/drawingml/2006/main">
              <a:ext uri="{FF2B5EF4-FFF2-40B4-BE49-F238E27FC236}">
                <a16:creationId xmlns:a16="http://schemas.microsoft.com/office/drawing/2014/main" id="{EFFD8688-A736-46D2-AA52-97BFFC250E90}"/>
              </a:ext>
            </a:extLst>
          </p:cNvPr>
          <p:cNvSpPr>
            <a:spLocks xmlns:a="http://schemas.openxmlformats.org/drawingml/2006/main" noGrp="1"/>
          </p:cNvSpPr>
          <p:nvPr/>
        </p:nvSpPr>
        <p:spPr>
          <a:xfrm xmlns:a="http://schemas.openxmlformats.org/drawingml/2006/main">
            <a:off x="7333488"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2F6B63"/>
                </a:solidFill>
                <a:latin typeface="Noto Sans CJK KR"/>
                <a:ea typeface="Noto Sans CJK KR"/>
                <a:cs typeface="Noto Sans CJK KR"/>
              </a:rPr>
              <a:t>CMS 블록</a:t>
            </a:r>
            <a:endParaRPr sz="1300"/>
          </a:p>
        </p:txBody>
      </p:sp>
    </p:spTree>
    <p:extLst>
      <p:ext uri="{BB962C8B-B14F-4D97-AF65-F5344CB8AC3E}">
        <p14:creationId xmlns:p14="http://schemas.microsoft.com/office/powerpoint/2010/main" val="1555086896"/>
      </p:ext>
    </p:extLst>
  </p:cSld>
</p:sld>
</file>

<file path=ppt/slides/slide3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8-section">
            <a:extLst xmlns:a="http://schemas.openxmlformats.org/drawingml/2006/main">
              <a:ext uri="{FF2B5EF4-FFF2-40B4-BE49-F238E27FC236}">
                <a16:creationId xmlns:a16="http://schemas.microsoft.com/office/drawing/2014/main" id="{7B2F2BEC-3602-48B7-8AE5-82606691E202}"/>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DISCRIMINANT</a:t>
            </a:r>
            <a:endParaRPr sz="950"/>
          </a:p>
        </p:txBody>
      </p:sp>
      <p:sp>
        <p:nvSpPr>
          <p:cNvPr id="3" name="STC-18-slide-id">
            <a:extLst xmlns:a="http://schemas.openxmlformats.org/drawingml/2006/main">
              <a:ext uri="{FF2B5EF4-FFF2-40B4-BE49-F238E27FC236}">
                <a16:creationId xmlns:a16="http://schemas.microsoft.com/office/drawing/2014/main" id="{9AE62136-189D-4710-BD84-EAC5632E1659}"/>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STC-038</a:t>
            </a:r>
            <a:endParaRPr sz="950"/>
          </a:p>
        </p:txBody>
      </p:sp>
      <p:sp>
        <p:nvSpPr>
          <p:cNvPr id="4" name="STC-18-headline">
            <a:extLst xmlns:a="http://schemas.openxmlformats.org/drawingml/2006/main">
              <a:ext uri="{FF2B5EF4-FFF2-40B4-BE49-F238E27FC236}">
                <a16:creationId xmlns:a16="http://schemas.microsoft.com/office/drawing/2014/main" id="{D266D2F1-778B-4F2E-AC6F-D10EF836FA1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전수 분류 결과 — 29편이 9 + 1 + 19로 갈린다</a:t>
            </a:r>
            <a:endParaRPr sz="3000"/>
          </a:p>
        </p:txBody>
      </p:sp>
      <p:sp>
        <p:nvSpPr>
          <p:cNvPr id="5" name="STC-18-status-label">
            <a:extLst xmlns:a="http://schemas.openxmlformats.org/drawingml/2006/main">
              <a:ext uri="{FF2B5EF4-FFF2-40B4-BE49-F238E27FC236}">
                <a16:creationId xmlns:a16="http://schemas.microsoft.com/office/drawing/2014/main" id="{79C701E9-D174-4EFD-A18F-4DC89E642FD4}"/>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9A442D"/>
                </a:solidFill>
                <a:latin typeface="Noto Sans Mono CJK KR"/>
                <a:ea typeface="Noto Sans Mono CJK KR"/>
                <a:cs typeface="Noto Sans Mono CJK KR"/>
              </a:rPr>
              <a:t>전수 확인</a:t>
            </a:r>
            <a:endParaRPr sz="1000"/>
          </a:p>
        </p:txBody>
      </p:sp>
      <p:sp>
        <p:nvSpPr>
          <p:cNvPr id="6" name="STC-18-status-rule">
            <a:extLst xmlns:a="http://schemas.openxmlformats.org/drawingml/2006/main">
              <a:ext uri="{FF2B5EF4-FFF2-40B4-BE49-F238E27FC236}">
                <a16:creationId xmlns:a16="http://schemas.microsoft.com/office/drawing/2014/main" id="{529715C2-F602-473A-947A-5FCB9DCC7AF8}"/>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9A442D"/>
            </a:solidFill>
            <a:prstDash val="solid"/>
            <a:tailEnd type="none"/>
          </a:ln>
        </p:spPr>
      </p:sp>
      <p:sp>
        <p:nvSpPr>
          <p:cNvPr id="7" name="STC-18-footer-rule">
            <a:extLst xmlns:a="http://schemas.openxmlformats.org/drawingml/2006/main">
              <a:ext uri="{FF2B5EF4-FFF2-40B4-BE49-F238E27FC236}">
                <a16:creationId xmlns:a16="http://schemas.microsoft.com/office/drawing/2014/main" id="{403A9EAC-FF66-416C-A329-C6EC95571F21}"/>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8-source-footer">
            <a:extLst xmlns:a="http://schemas.openxmlformats.org/drawingml/2006/main">
              <a:ext uri="{FF2B5EF4-FFF2-40B4-BE49-F238E27FC236}">
                <a16:creationId xmlns:a16="http://schemas.microsoft.com/office/drawing/2014/main" id="{4E420FB2-E8CE-4EDD-9FDC-7CA418F767F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§11.3 표 11-1·11-2·11-3</a:t>
            </a:r>
            <a:endParaRPr sz="850"/>
          </a:p>
        </p:txBody>
      </p:sp>
      <p:sp>
        <p:nvSpPr>
          <p:cNvPr id="9" name="STC-18-page-number">
            <a:extLst xmlns:a="http://schemas.openxmlformats.org/drawingml/2006/main">
              <a:ext uri="{FF2B5EF4-FFF2-40B4-BE49-F238E27FC236}">
                <a16:creationId xmlns:a16="http://schemas.microsoft.com/office/drawing/2014/main" id="{4FE270B3-F1A6-4BCA-B282-FDF212DC78F7}"/>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38</a:t>
            </a:r>
            <a:endParaRPr sz="850"/>
          </a:p>
        </p:txBody>
      </p:sp>
      <p:sp>
        <p:nvSpPr>
          <p:cNvPr id="11" name="STC-18-knee-axis-x">
            <a:extLst xmlns:a="http://schemas.openxmlformats.org/drawingml/2006/main">
              <a:ext uri="{FF2B5EF4-FFF2-40B4-BE49-F238E27FC236}">
                <a16:creationId xmlns:a16="http://schemas.microsoft.com/office/drawing/2014/main" id="{C81452CC-D40C-4DD0-AE1A-B0381E5804B5}"/>
              </a:ext>
            </a:extLst>
          </p:cNvPr>
          <p:cNvSpPr>
            <a:spLocks xmlns:a="http://schemas.openxmlformats.org/drawingml/2006/main" noGrp="1"/>
          </p:cNvSpPr>
          <p:nvPr/>
        </p:nvSpPr>
        <p:spPr>
          <a:xfrm xmlns:a="http://schemas.openxmlformats.org/drawingml/2006/main">
            <a:off x="1143000" y="5669280"/>
            <a:ext cx="644652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2" name="STC-18-knee-axis-y">
            <a:extLst xmlns:a="http://schemas.openxmlformats.org/drawingml/2006/main">
              <a:ext uri="{FF2B5EF4-FFF2-40B4-BE49-F238E27FC236}">
                <a16:creationId xmlns:a16="http://schemas.microsoft.com/office/drawing/2014/main" id="{E1F7C2CF-4433-4C4B-8A34-B94592ECA104}"/>
              </a:ext>
            </a:extLst>
          </p:cNvPr>
          <p:cNvSpPr>
            <a:spLocks xmlns:a="http://schemas.openxmlformats.org/drawingml/2006/main" noGrp="1"/>
          </p:cNvSpPr>
          <p:nvPr/>
        </p:nvSpPr>
        <p:spPr>
          <a:xfrm xmlns:a="http://schemas.openxmlformats.org/drawingml/2006/main" flipH="0" flipV="1">
            <a:off x="1143000" y="1691640"/>
            <a:ext cx="0" cy="397764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3" name="STC-18-knee-axis-xlabel">
            <a:extLst xmlns:a="http://schemas.openxmlformats.org/drawingml/2006/main">
              <a:ext uri="{FF2B5EF4-FFF2-40B4-BE49-F238E27FC236}">
                <a16:creationId xmlns:a16="http://schemas.microsoft.com/office/drawing/2014/main" id="{EDAFD2D4-0676-4B50-9F78-4EFC185B7F17}"/>
              </a:ext>
            </a:extLst>
          </p:cNvPr>
          <p:cNvSpPr>
            <a:spLocks xmlns:a="http://schemas.openxmlformats.org/drawingml/2006/main" noGrp="1"/>
          </p:cNvSpPr>
          <p:nvPr/>
        </p:nvSpPr>
        <p:spPr>
          <a:xfrm xmlns:a="http://schemas.openxmlformats.org/drawingml/2006/main">
            <a:off x="6126480" y="5815584"/>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a:solidFill>
                  <a:srgbClr val="59616A"/>
                </a:solidFill>
                <a:latin typeface="Noto Sans CJK KR"/>
                <a:ea typeface="Noto Sans CJK KR"/>
                <a:cs typeface="Noto Sans CJK KR"/>
              </a:rPr>
              <a:t>corpus 29편</a:t>
            </a:r>
            <a:endParaRPr sz="1100"/>
          </a:p>
        </p:txBody>
      </p:sp>
      <p:sp>
        <p:nvSpPr>
          <p:cNvPr id="14" name="STC-18-knee-axis-ylabel">
            <a:extLst xmlns:a="http://schemas.openxmlformats.org/drawingml/2006/main">
              <a:ext uri="{FF2B5EF4-FFF2-40B4-BE49-F238E27FC236}">
                <a16:creationId xmlns:a16="http://schemas.microsoft.com/office/drawing/2014/main" id="{9B0E0507-09BE-4BC6-95FC-188BF218F1D0}"/>
              </a:ext>
            </a:extLst>
          </p:cNvPr>
          <p:cNvSpPr>
            <a:spLocks xmlns:a="http://schemas.openxmlformats.org/drawingml/2006/main" noGrp="1"/>
          </p:cNvSpPr>
          <p:nvPr/>
        </p:nvSpPr>
        <p:spPr>
          <a:xfrm xmlns:a="http://schemas.openxmlformats.org/drawingml/2006/main" rot="16200000">
            <a:off x="731520" y="1581912"/>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9616A"/>
                </a:solidFill>
                <a:latin typeface="Noto Sans CJK KR"/>
                <a:ea typeface="Noto Sans CJK KR"/>
                <a:cs typeface="Noto Sans CJK KR"/>
              </a:rPr>
              <a:t>판정</a:t>
            </a:r>
            <a:endParaRPr sz="1100"/>
          </a:p>
        </p:txBody>
      </p:sp>
      <p:sp>
        <p:nvSpPr>
          <p:cNvPr id="15" name="STC-18-knee-seg-1">
            <a:extLst xmlns:a="http://schemas.openxmlformats.org/drawingml/2006/main">
              <a:ext uri="{FF2B5EF4-FFF2-40B4-BE49-F238E27FC236}">
                <a16:creationId xmlns:a16="http://schemas.microsoft.com/office/drawing/2014/main" id="{003F0C5F-F595-422E-8FDF-066640D7D432}"/>
              </a:ext>
            </a:extLst>
          </p:cNvPr>
          <p:cNvSpPr>
            <a:spLocks xmlns:a="http://schemas.openxmlformats.org/drawingml/2006/main" noGrp="1"/>
          </p:cNvSpPr>
          <p:nvPr/>
        </p:nvSpPr>
        <p:spPr>
          <a:xfrm xmlns:a="http://schemas.openxmlformats.org/drawingml/2006/main">
            <a:off x="1298448" y="2148840"/>
            <a:ext cx="1005840" cy="27432"/>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6" name="STC-18-knee-seg-2">
            <a:extLst xmlns:a="http://schemas.openxmlformats.org/drawingml/2006/main">
              <a:ext uri="{FF2B5EF4-FFF2-40B4-BE49-F238E27FC236}">
                <a16:creationId xmlns:a16="http://schemas.microsoft.com/office/drawing/2014/main" id="{2F93FE18-0F04-40C0-9893-2A149CE61627}"/>
              </a:ext>
            </a:extLst>
          </p:cNvPr>
          <p:cNvSpPr>
            <a:spLocks xmlns:a="http://schemas.openxmlformats.org/drawingml/2006/main" noGrp="1"/>
          </p:cNvSpPr>
          <p:nvPr/>
        </p:nvSpPr>
        <p:spPr>
          <a:xfrm xmlns:a="http://schemas.openxmlformats.org/drawingml/2006/main">
            <a:off x="2304288" y="2176272"/>
            <a:ext cx="1005840" cy="109728"/>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7" name="STC-18-knee-seg-3">
            <a:extLst xmlns:a="http://schemas.openxmlformats.org/drawingml/2006/main">
              <a:ext uri="{FF2B5EF4-FFF2-40B4-BE49-F238E27FC236}">
                <a16:creationId xmlns:a16="http://schemas.microsoft.com/office/drawing/2014/main" id="{F6FEFA14-7856-41AC-9C31-FD11A3798DEF}"/>
              </a:ext>
            </a:extLst>
          </p:cNvPr>
          <p:cNvSpPr>
            <a:spLocks xmlns:a="http://schemas.openxmlformats.org/drawingml/2006/main" noGrp="1"/>
          </p:cNvSpPr>
          <p:nvPr/>
        </p:nvSpPr>
        <p:spPr>
          <a:xfrm xmlns:a="http://schemas.openxmlformats.org/drawingml/2006/main">
            <a:off x="3310128" y="2286000"/>
            <a:ext cx="1005840" cy="384048"/>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8" name="STC-18-knee-seg-4">
            <a:extLst xmlns:a="http://schemas.openxmlformats.org/drawingml/2006/main">
              <a:ext uri="{FF2B5EF4-FFF2-40B4-BE49-F238E27FC236}">
                <a16:creationId xmlns:a16="http://schemas.microsoft.com/office/drawing/2014/main" id="{6763C838-9134-475E-ACDA-446F8E1614D8}"/>
              </a:ext>
            </a:extLst>
          </p:cNvPr>
          <p:cNvSpPr>
            <a:spLocks xmlns:a="http://schemas.openxmlformats.org/drawingml/2006/main" noGrp="1"/>
          </p:cNvSpPr>
          <p:nvPr/>
        </p:nvSpPr>
        <p:spPr>
          <a:xfrm xmlns:a="http://schemas.openxmlformats.org/drawingml/2006/main">
            <a:off x="4315968" y="2670048"/>
            <a:ext cx="1005840" cy="1024128"/>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19" name="STC-18-knee-seg-5">
            <a:extLst xmlns:a="http://schemas.openxmlformats.org/drawingml/2006/main">
              <a:ext uri="{FF2B5EF4-FFF2-40B4-BE49-F238E27FC236}">
                <a16:creationId xmlns:a16="http://schemas.microsoft.com/office/drawing/2014/main" id="{0972766A-6EEF-47F5-A54A-3BD977CCF7A8}"/>
              </a:ext>
            </a:extLst>
          </p:cNvPr>
          <p:cNvSpPr>
            <a:spLocks xmlns:a="http://schemas.openxmlformats.org/drawingml/2006/main" noGrp="1"/>
          </p:cNvSpPr>
          <p:nvPr/>
        </p:nvSpPr>
        <p:spPr>
          <a:xfrm xmlns:a="http://schemas.openxmlformats.org/drawingml/2006/main">
            <a:off x="5321808" y="3694176"/>
            <a:ext cx="1005840" cy="1298448"/>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20" name="STC-18-knee-seg-6">
            <a:extLst xmlns:a="http://schemas.openxmlformats.org/drawingml/2006/main">
              <a:ext uri="{FF2B5EF4-FFF2-40B4-BE49-F238E27FC236}">
                <a16:creationId xmlns:a16="http://schemas.microsoft.com/office/drawing/2014/main" id="{4DFF07AF-0006-44B9-8763-71C943AA66F4}"/>
              </a:ext>
            </a:extLst>
          </p:cNvPr>
          <p:cNvSpPr>
            <a:spLocks xmlns:a="http://schemas.openxmlformats.org/drawingml/2006/main" noGrp="1"/>
          </p:cNvSpPr>
          <p:nvPr/>
        </p:nvSpPr>
        <p:spPr>
          <a:xfrm xmlns:a="http://schemas.openxmlformats.org/drawingml/2006/main">
            <a:off x="6327648" y="4992624"/>
            <a:ext cx="822960" cy="164592"/>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21" name="STC-18-knee-threshold">
            <a:extLst xmlns:a="http://schemas.openxmlformats.org/drawingml/2006/main">
              <a:ext uri="{FF2B5EF4-FFF2-40B4-BE49-F238E27FC236}">
                <a16:creationId xmlns:a16="http://schemas.microsoft.com/office/drawing/2014/main" id="{E0D27FC3-1406-4DDF-9A5F-FCD6BD706F18}"/>
              </a:ext>
            </a:extLst>
          </p:cNvPr>
          <p:cNvSpPr>
            <a:spLocks xmlns:a="http://schemas.openxmlformats.org/drawingml/2006/main" noGrp="1"/>
          </p:cNvSpPr>
          <p:nvPr/>
        </p:nvSpPr>
        <p:spPr>
          <a:xfrm xmlns:a="http://schemas.openxmlformats.org/drawingml/2006/main">
            <a:off x="1143000" y="2944368"/>
            <a:ext cx="6446520" cy="0"/>
          </a:xfrm>
          <a:prstGeom xmlns:a="http://schemas.openxmlformats.org/drawingml/2006/main" prst="line">
            <a:avLst/>
          </a:prstGeom>
          <a:noFill xmlns:a="http://schemas.openxmlformats.org/drawingml/2006/main"/>
          <a:ln xmlns:a="http://schemas.openxmlformats.org/drawingml/2006/main" w="12700">
            <a:solidFill>
              <a:srgbClr val="59616A"/>
            </a:solidFill>
            <a:prstDash val="solid"/>
            <a:tailEnd type="none"/>
          </a:ln>
        </p:spPr>
      </p:sp>
      <p:sp>
        <p:nvSpPr>
          <p:cNvPr id="22" name="STC-18-knee-threshold-label">
            <a:extLst xmlns:a="http://schemas.openxmlformats.org/drawingml/2006/main">
              <a:ext uri="{FF2B5EF4-FFF2-40B4-BE49-F238E27FC236}">
                <a16:creationId xmlns:a16="http://schemas.microsoft.com/office/drawing/2014/main" id="{C84DFF8C-E003-4B2D-8344-300CD8D0E8BA}"/>
              </a:ext>
            </a:extLst>
          </p:cNvPr>
          <p:cNvSpPr>
            <a:spLocks xmlns:a="http://schemas.openxmlformats.org/drawingml/2006/main" noGrp="1"/>
          </p:cNvSpPr>
          <p:nvPr/>
        </p:nvSpPr>
        <p:spPr>
          <a:xfrm xmlns:a="http://schemas.openxmlformats.org/drawingml/2006/main">
            <a:off x="1325880" y="2761488"/>
            <a:ext cx="11430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9616A"/>
                </a:solidFill>
                <a:latin typeface="Noto Sans Mono CJK KR"/>
                <a:ea typeface="Noto Sans Mono CJK KR"/>
                <a:cs typeface="Noto Sans Mono CJK KR"/>
              </a:rPr>
              <a:t>네 조건</a:t>
            </a:r>
            <a:endParaRPr sz="1050"/>
          </a:p>
        </p:txBody>
      </p:sp>
      <p:sp>
        <p:nvSpPr>
          <p:cNvPr id="23" name="STC-18-knee-marker">
            <a:extLst xmlns:a="http://schemas.openxmlformats.org/drawingml/2006/main">
              <a:ext uri="{FF2B5EF4-FFF2-40B4-BE49-F238E27FC236}">
                <a16:creationId xmlns:a16="http://schemas.microsoft.com/office/drawing/2014/main" id="{B7796550-C739-4C12-AB34-728E99CD5A5C}"/>
              </a:ext>
            </a:extLst>
          </p:cNvPr>
          <p:cNvSpPr>
            <a:spLocks xmlns:a="http://schemas.openxmlformats.org/drawingml/2006/main" noGrp="1"/>
          </p:cNvSpPr>
          <p:nvPr/>
        </p:nvSpPr>
        <p:spPr>
          <a:xfrm xmlns:a="http://schemas.openxmlformats.org/drawingml/2006/main">
            <a:off x="4709160" y="2889504"/>
            <a:ext cx="0" cy="2505456"/>
          </a:xfrm>
          <a:prstGeom xmlns:a="http://schemas.openxmlformats.org/drawingml/2006/main" prst="line">
            <a:avLst/>
          </a:prstGeom>
          <a:noFill xmlns:a="http://schemas.openxmlformats.org/drawingml/2006/main"/>
          <a:ln xmlns:a="http://schemas.openxmlformats.org/drawingml/2006/main" w="17780">
            <a:solidFill>
              <a:srgbClr val="9A442D"/>
            </a:solidFill>
            <a:prstDash val="solid"/>
            <a:tailEnd type="none"/>
          </a:ln>
        </p:spPr>
      </p:sp>
      <p:sp>
        <p:nvSpPr>
          <p:cNvPr id="24" name="STC-18-knee-keff">
            <a:extLst xmlns:a="http://schemas.openxmlformats.org/drawingml/2006/main">
              <a:ext uri="{FF2B5EF4-FFF2-40B4-BE49-F238E27FC236}">
                <a16:creationId xmlns:a16="http://schemas.microsoft.com/office/drawing/2014/main" id="{560C924C-F866-4087-B484-42FE73811586}"/>
              </a:ext>
            </a:extLst>
          </p:cNvPr>
          <p:cNvSpPr>
            <a:spLocks xmlns:a="http://schemas.openxmlformats.org/drawingml/2006/main" noGrp="1"/>
          </p:cNvSpPr>
          <p:nvPr/>
        </p:nvSpPr>
        <p:spPr>
          <a:xfrm xmlns:a="http://schemas.openxmlformats.org/drawingml/2006/main">
            <a:off x="4379976" y="5394960"/>
            <a:ext cx="685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erif CJK KR"/>
                <a:ea typeface="Noto Serif CJK KR"/>
                <a:cs typeface="Noto Serif CJK KR"/>
              </a:rPr>
              <a:t>9</a:t>
            </a:r>
            <a:endParaRPr sz="1800"/>
          </a:p>
        </p:txBody>
      </p:sp>
      <p:sp>
        <p:nvSpPr>
          <p:cNvPr id="25" name="STC-18-knee-check-title">
            <a:extLst xmlns:a="http://schemas.openxmlformats.org/drawingml/2006/main">
              <a:ext uri="{FF2B5EF4-FFF2-40B4-BE49-F238E27FC236}">
                <a16:creationId xmlns:a16="http://schemas.microsoft.com/office/drawing/2014/main" id="{240D967C-B047-4CCF-991D-75A295890503}"/>
              </a:ext>
            </a:extLst>
          </p:cNvPr>
          <p:cNvSpPr>
            <a:spLocks xmlns:a="http://schemas.openxmlformats.org/drawingml/2006/main" noGrp="1"/>
          </p:cNvSpPr>
          <p:nvPr/>
        </p:nvSpPr>
        <p:spPr>
          <a:xfrm xmlns:a="http://schemas.openxmlformats.org/drawingml/2006/main">
            <a:off x="8247888" y="1783080"/>
            <a:ext cx="25603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9A442D"/>
                </a:solidFill>
                <a:latin typeface="Noto Sans Mono CJK KR"/>
                <a:ea typeface="Noto Sans Mono CJK KR"/>
                <a:cs typeface="Noto Sans Mono CJK KR"/>
              </a:rPr>
              <a:t>A군 통과 9편</a:t>
            </a:r>
            <a:endParaRPr sz="1100"/>
          </a:p>
        </p:txBody>
      </p:sp>
      <p:sp>
        <p:nvSpPr>
          <p:cNvPr id="26" name="STC-18-knee-checks-dot-0">
            <a:extLst xmlns:a="http://schemas.openxmlformats.org/drawingml/2006/main">
              <a:ext uri="{FF2B5EF4-FFF2-40B4-BE49-F238E27FC236}">
                <a16:creationId xmlns:a16="http://schemas.microsoft.com/office/drawing/2014/main" id="{C65AB8EB-CD2A-4877-B277-753424C37722}"/>
              </a:ext>
            </a:extLst>
          </p:cNvPr>
          <p:cNvSpPr>
            <a:spLocks xmlns:a="http://schemas.openxmlformats.org/drawingml/2006/main" noGrp="1"/>
          </p:cNvSpPr>
          <p:nvPr/>
        </p:nvSpPr>
        <p:spPr>
          <a:xfrm xmlns:a="http://schemas.openxmlformats.org/drawingml/2006/main">
            <a:off x="8275320" y="2350008"/>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27" name="STC-18-knee-checks-item-0">
            <a:extLst xmlns:a="http://schemas.openxmlformats.org/drawingml/2006/main">
              <a:ext uri="{FF2B5EF4-FFF2-40B4-BE49-F238E27FC236}">
                <a16:creationId xmlns:a16="http://schemas.microsoft.com/office/drawing/2014/main" id="{FDC997E1-38D9-4520-B007-6663A6DF0934}"/>
              </a:ext>
            </a:extLst>
          </p:cNvPr>
          <p:cNvSpPr>
            <a:spLocks xmlns:a="http://schemas.openxmlformats.org/drawingml/2006/main" noGrp="1"/>
          </p:cNvSpPr>
          <p:nvPr/>
        </p:nvSpPr>
        <p:spPr>
          <a:xfrm xmlns:a="http://schemas.openxmlformats.org/drawingml/2006/main">
            <a:off x="8503920" y="2240280"/>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A군 통과 9편</a:t>
            </a:r>
            <a:endParaRPr sz="1550"/>
          </a:p>
        </p:txBody>
      </p:sp>
      <p:sp>
        <p:nvSpPr>
          <p:cNvPr id="28" name="STC-18-knee-checks-dot-1">
            <a:extLst xmlns:a="http://schemas.openxmlformats.org/drawingml/2006/main">
              <a:ext uri="{FF2B5EF4-FFF2-40B4-BE49-F238E27FC236}">
                <a16:creationId xmlns:a16="http://schemas.microsoft.com/office/drawing/2014/main" id="{00BD0BBB-062E-4E7B-BBB4-C431B7E66222}"/>
              </a:ext>
            </a:extLst>
          </p:cNvPr>
          <p:cNvSpPr>
            <a:spLocks xmlns:a="http://schemas.openxmlformats.org/drawingml/2006/main" noGrp="1"/>
          </p:cNvSpPr>
          <p:nvPr/>
        </p:nvSpPr>
        <p:spPr>
          <a:xfrm xmlns:a="http://schemas.openxmlformats.org/drawingml/2006/main">
            <a:off x="8275320" y="2907792"/>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29" name="STC-18-knee-checks-item-1">
            <a:extLst xmlns:a="http://schemas.openxmlformats.org/drawingml/2006/main">
              <a:ext uri="{FF2B5EF4-FFF2-40B4-BE49-F238E27FC236}">
                <a16:creationId xmlns:a16="http://schemas.microsoft.com/office/drawing/2014/main" id="{1F595761-551F-4541-8F4F-785370299BEA}"/>
              </a:ext>
            </a:extLst>
          </p:cNvPr>
          <p:cNvSpPr>
            <a:spLocks xmlns:a="http://schemas.openxmlformats.org/drawingml/2006/main" noGrp="1"/>
          </p:cNvSpPr>
          <p:nvPr/>
        </p:nvSpPr>
        <p:spPr>
          <a:xfrm xmlns:a="http://schemas.openxmlformats.org/drawingml/2006/main">
            <a:off x="8503920" y="2798064"/>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경계 1편</a:t>
            </a:r>
            <a:endParaRPr sz="1550"/>
          </a:p>
        </p:txBody>
      </p:sp>
      <p:sp>
        <p:nvSpPr>
          <p:cNvPr id="30" name="STC-18-knee-checks-dot-2">
            <a:extLst xmlns:a="http://schemas.openxmlformats.org/drawingml/2006/main">
              <a:ext uri="{FF2B5EF4-FFF2-40B4-BE49-F238E27FC236}">
                <a16:creationId xmlns:a16="http://schemas.microsoft.com/office/drawing/2014/main" id="{B00D3C67-9E7B-416B-A50C-CD6FB683D1F6}"/>
              </a:ext>
            </a:extLst>
          </p:cNvPr>
          <p:cNvSpPr>
            <a:spLocks xmlns:a="http://schemas.openxmlformats.org/drawingml/2006/main" noGrp="1"/>
          </p:cNvSpPr>
          <p:nvPr/>
        </p:nvSpPr>
        <p:spPr>
          <a:xfrm xmlns:a="http://schemas.openxmlformats.org/drawingml/2006/main">
            <a:off x="8275320" y="3465576"/>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1" name="STC-18-knee-checks-item-2">
            <a:extLst xmlns:a="http://schemas.openxmlformats.org/drawingml/2006/main">
              <a:ext uri="{FF2B5EF4-FFF2-40B4-BE49-F238E27FC236}">
                <a16:creationId xmlns:a16="http://schemas.microsoft.com/office/drawing/2014/main" id="{A8AD6B50-1222-40F0-B872-FB02938FCA2A}"/>
              </a:ext>
            </a:extLst>
          </p:cNvPr>
          <p:cNvSpPr>
            <a:spLocks xmlns:a="http://schemas.openxmlformats.org/drawingml/2006/main" noGrp="1"/>
          </p:cNvSpPr>
          <p:nvPr/>
        </p:nvSpPr>
        <p:spPr>
          <a:xfrm xmlns:a="http://schemas.openxmlformats.org/drawingml/2006/main">
            <a:off x="8503920" y="3355848"/>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B군 불충족 9편</a:t>
            </a:r>
            <a:endParaRPr sz="1550"/>
          </a:p>
        </p:txBody>
      </p:sp>
      <p:sp>
        <p:nvSpPr>
          <p:cNvPr id="32" name="STC-18-knee-checks-dot-3">
            <a:extLst xmlns:a="http://schemas.openxmlformats.org/drawingml/2006/main">
              <a:ext uri="{FF2B5EF4-FFF2-40B4-BE49-F238E27FC236}">
                <a16:creationId xmlns:a16="http://schemas.microsoft.com/office/drawing/2014/main" id="{193D497B-83CE-4A7D-AB94-EF7C0D144494}"/>
              </a:ext>
            </a:extLst>
          </p:cNvPr>
          <p:cNvSpPr>
            <a:spLocks xmlns:a="http://schemas.openxmlformats.org/drawingml/2006/main" noGrp="1"/>
          </p:cNvSpPr>
          <p:nvPr/>
        </p:nvSpPr>
        <p:spPr>
          <a:xfrm xmlns:a="http://schemas.openxmlformats.org/drawingml/2006/main">
            <a:off x="8275320" y="4023360"/>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3" name="STC-18-knee-checks-item-3">
            <a:extLst xmlns:a="http://schemas.openxmlformats.org/drawingml/2006/main">
              <a:ext uri="{FF2B5EF4-FFF2-40B4-BE49-F238E27FC236}">
                <a16:creationId xmlns:a16="http://schemas.microsoft.com/office/drawing/2014/main" id="{54E8D5AD-5943-4DD5-A8F6-1C16D270C65A}"/>
              </a:ext>
            </a:extLst>
          </p:cNvPr>
          <p:cNvSpPr>
            <a:spLocks xmlns:a="http://schemas.openxmlformats.org/drawingml/2006/main" noGrp="1"/>
          </p:cNvSpPr>
          <p:nvPr/>
        </p:nvSpPr>
        <p:spPr>
          <a:xfrm xmlns:a="http://schemas.openxmlformats.org/drawingml/2006/main">
            <a:off x="8503920" y="3913632"/>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C군 배경 10편</a:t>
            </a:r>
            <a:endParaRPr sz="1550"/>
          </a:p>
        </p:txBody>
      </p:sp>
      <p:sp>
        <p:nvSpPr>
          <p:cNvPr id="34" name="STC-18-knee-checks-dot-4">
            <a:extLst xmlns:a="http://schemas.openxmlformats.org/drawingml/2006/main">
              <a:ext uri="{FF2B5EF4-FFF2-40B4-BE49-F238E27FC236}">
                <a16:creationId xmlns:a16="http://schemas.microsoft.com/office/drawing/2014/main" id="{5D751B45-D75A-4C29-86C3-1A10CDA2ACFD}"/>
              </a:ext>
            </a:extLst>
          </p:cNvPr>
          <p:cNvSpPr>
            <a:spLocks xmlns:a="http://schemas.openxmlformats.org/drawingml/2006/main" noGrp="1"/>
          </p:cNvSpPr>
          <p:nvPr/>
        </p:nvSpPr>
        <p:spPr>
          <a:xfrm xmlns:a="http://schemas.openxmlformats.org/drawingml/2006/main">
            <a:off x="8275320" y="4581144"/>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5" name="STC-18-knee-checks-item-4">
            <a:extLst xmlns:a="http://schemas.openxmlformats.org/drawingml/2006/main">
              <a:ext uri="{FF2B5EF4-FFF2-40B4-BE49-F238E27FC236}">
                <a16:creationId xmlns:a16="http://schemas.microsoft.com/office/drawing/2014/main" id="{3E5A4F76-5BB5-4E5A-A1D9-42BC1A8E5C0F}"/>
              </a:ext>
            </a:extLst>
          </p:cNvPr>
          <p:cNvSpPr>
            <a:spLocks xmlns:a="http://schemas.openxmlformats.org/drawingml/2006/main" noGrp="1"/>
          </p:cNvSpPr>
          <p:nvPr/>
        </p:nvSpPr>
        <p:spPr>
          <a:xfrm xmlns:a="http://schemas.openxmlformats.org/drawingml/2006/main">
            <a:off x="8503920" y="4471416"/>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E 6 / Θ 2 / W 1</a:t>
            </a:r>
            <a:endParaRPr sz="1550"/>
          </a:p>
        </p:txBody>
      </p:sp>
      <p:sp>
        <p:nvSpPr>
          <p:cNvPr id="36" name="STC-18-knee-unidentified">
            <a:extLst xmlns:a="http://schemas.openxmlformats.org/drawingml/2006/main">
              <a:ext uri="{FF2B5EF4-FFF2-40B4-BE49-F238E27FC236}">
                <a16:creationId xmlns:a16="http://schemas.microsoft.com/office/drawing/2014/main" id="{180F873B-5C68-4872-B82F-6C6C0ED74CC8}"/>
              </a:ext>
            </a:extLst>
          </p:cNvPr>
          <p:cNvSpPr>
            <a:spLocks xmlns:a="http://schemas.openxmlformats.org/drawingml/2006/main" noGrp="1"/>
          </p:cNvSpPr>
          <p:nvPr/>
        </p:nvSpPr>
        <p:spPr>
          <a:xfrm xmlns:a="http://schemas.openxmlformats.org/drawingml/2006/main">
            <a:off x="8211312" y="5230368"/>
            <a:ext cx="2706624" cy="52120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37" name="STC-18-knee-unidentified-text">
            <a:extLst xmlns:a="http://schemas.openxmlformats.org/drawingml/2006/main">
              <a:ext uri="{FF2B5EF4-FFF2-40B4-BE49-F238E27FC236}">
                <a16:creationId xmlns:a16="http://schemas.microsoft.com/office/drawing/2014/main" id="{39151F30-D5D2-4D64-B766-810DF4EFE62A}"/>
              </a:ext>
            </a:extLst>
          </p:cNvPr>
          <p:cNvSpPr>
            <a:spLocks xmlns:a="http://schemas.openxmlformats.org/drawingml/2006/main" noGrp="1"/>
          </p:cNvSpPr>
          <p:nvPr/>
        </p:nvSpPr>
        <p:spPr>
          <a:xfrm xmlns:a="http://schemas.openxmlformats.org/drawingml/2006/main">
            <a:off x="8348472" y="5404104"/>
            <a:ext cx="243230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b="1">
                <a:solidFill>
                  <a:srgbClr val="FFFFFF"/>
                </a:solidFill>
                <a:latin typeface="Noto Sans Mono CJK KR"/>
                <a:ea typeface="Noto Sans Mono CJK KR"/>
                <a:cs typeface="Noto Sans Mono CJK KR"/>
              </a:rPr>
              <a:t>경계 사례는 통과군에 세지 않는다</a:t>
            </a:r>
            <a:endParaRPr sz="1050"/>
          </a:p>
        </p:txBody>
      </p:sp>
    </p:spTree>
    <p:extLst>
      <p:ext uri="{BB962C8B-B14F-4D97-AF65-F5344CB8AC3E}">
        <p14:creationId xmlns:p14="http://schemas.microsoft.com/office/powerpoint/2010/main" val="1452305100"/>
      </p:ext>
    </p:extLst>
  </p:cSld>
</p:sld>
</file>

<file path=ppt/slides/slide3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7-section">
            <a:extLst xmlns:a="http://schemas.openxmlformats.org/drawingml/2006/main">
              <a:ext uri="{FF2B5EF4-FFF2-40B4-BE49-F238E27FC236}">
                <a16:creationId xmlns:a16="http://schemas.microsoft.com/office/drawing/2014/main" id="{7385C310-AB33-4F53-AA02-6351BE546D8D}"/>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DISCRIMINANT</a:t>
            </a:r>
            <a:endParaRPr sz="950"/>
          </a:p>
        </p:txBody>
      </p:sp>
      <p:sp>
        <p:nvSpPr>
          <p:cNvPr id="3" name="STC-27-slide-id">
            <a:extLst xmlns:a="http://schemas.openxmlformats.org/drawingml/2006/main">
              <a:ext uri="{FF2B5EF4-FFF2-40B4-BE49-F238E27FC236}">
                <a16:creationId xmlns:a16="http://schemas.microsoft.com/office/drawing/2014/main" id="{A62D30FD-D0DE-406A-AEDE-4AA35074F91C}"/>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STC-039</a:t>
            </a:r>
            <a:endParaRPr sz="950"/>
          </a:p>
        </p:txBody>
      </p:sp>
      <p:sp>
        <p:nvSpPr>
          <p:cNvPr id="4" name="STC-27-headline">
            <a:extLst xmlns:a="http://schemas.openxmlformats.org/drawingml/2006/main">
              <a:ext uri="{FF2B5EF4-FFF2-40B4-BE49-F238E27FC236}">
                <a16:creationId xmlns:a16="http://schemas.microsoft.com/office/drawing/2014/main" id="{8FCF2712-593D-425A-8EF4-E1D041C0E6D0}"/>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17191C"/>
                </a:solidFill>
                <a:latin typeface="Noto Sans CJK KR"/>
                <a:ea typeface="Noto Sans CJK KR"/>
                <a:cs typeface="Noto Sans CJK KR"/>
              </a:rPr>
              <a:t>A군 — 판별식을 통과한 아홉 편과 경계 사례 하나</a:t>
            </a:r>
            <a:endParaRPr sz="2800"/>
          </a:p>
        </p:txBody>
      </p:sp>
      <p:sp>
        <p:nvSpPr>
          <p:cNvPr id="5" name="STC-27-status-label">
            <a:extLst xmlns:a="http://schemas.openxmlformats.org/drawingml/2006/main">
              <a:ext uri="{FF2B5EF4-FFF2-40B4-BE49-F238E27FC236}">
                <a16:creationId xmlns:a16="http://schemas.microsoft.com/office/drawing/2014/main" id="{13FFAE0E-5D8F-4108-9CA4-9ECCA2BD5C21}"/>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44E8A"/>
                </a:solidFill>
                <a:latin typeface="Noto Sans Mono CJK KR"/>
                <a:ea typeface="Noto Sans Mono CJK KR"/>
                <a:cs typeface="Noto Sans Mono CJK KR"/>
              </a:rPr>
              <a:t>전수 확인</a:t>
            </a:r>
            <a:endParaRPr sz="1000"/>
          </a:p>
        </p:txBody>
      </p:sp>
      <p:sp>
        <p:nvSpPr>
          <p:cNvPr id="6" name="STC-27-status-rule">
            <a:extLst xmlns:a="http://schemas.openxmlformats.org/drawingml/2006/main">
              <a:ext uri="{FF2B5EF4-FFF2-40B4-BE49-F238E27FC236}">
                <a16:creationId xmlns:a16="http://schemas.microsoft.com/office/drawing/2014/main" id="{561BD90D-848D-430E-BBAB-EE52DF2A1DD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44E8A"/>
            </a:solidFill>
            <a:prstDash val="solid"/>
            <a:tailEnd type="none"/>
          </a:ln>
        </p:spPr>
      </p:sp>
      <p:sp>
        <p:nvSpPr>
          <p:cNvPr id="7" name="STC-27-footer-rule">
            <a:extLst xmlns:a="http://schemas.openxmlformats.org/drawingml/2006/main">
              <a:ext uri="{FF2B5EF4-FFF2-40B4-BE49-F238E27FC236}">
                <a16:creationId xmlns:a16="http://schemas.microsoft.com/office/drawing/2014/main" id="{D505BA78-3471-4BBD-912B-BD6109CC9FC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7-source-footer">
            <a:extLst xmlns:a="http://schemas.openxmlformats.org/drawingml/2006/main">
              <a:ext uri="{FF2B5EF4-FFF2-40B4-BE49-F238E27FC236}">
                <a16:creationId xmlns:a16="http://schemas.microsoft.com/office/drawing/2014/main" id="{E99DBCAF-2804-412F-A1FC-D287D4C15657}"/>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표 11-1</a:t>
            </a:r>
            <a:endParaRPr sz="850"/>
          </a:p>
        </p:txBody>
      </p:sp>
      <p:sp>
        <p:nvSpPr>
          <p:cNvPr id="9" name="STC-27-page-number">
            <a:extLst xmlns:a="http://schemas.openxmlformats.org/drawingml/2006/main">
              <a:ext uri="{FF2B5EF4-FFF2-40B4-BE49-F238E27FC236}">
                <a16:creationId xmlns:a16="http://schemas.microsoft.com/office/drawing/2014/main" id="{AF0F969D-856E-456F-AB63-D26607331E1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39</a:t>
            </a:r>
            <a:endParaRPr sz="850"/>
          </a:p>
        </p:txBody>
      </p:sp>
      <p:sp>
        <p:nvSpPr>
          <p:cNvPr id="11" name="STC-27-refa-num-0">
            <a:extLst xmlns:a="http://schemas.openxmlformats.org/drawingml/2006/main">
              <a:ext uri="{FF2B5EF4-FFF2-40B4-BE49-F238E27FC236}">
                <a16:creationId xmlns:a16="http://schemas.microsoft.com/office/drawing/2014/main" id="{0858B0FA-3B18-427D-9025-6A23BE3B0367}"/>
              </a:ext>
            </a:extLst>
          </p:cNvPr>
          <p:cNvSpPr>
            <a:spLocks xmlns:a="http://schemas.openxmlformats.org/drawingml/2006/main" noGrp="1"/>
          </p:cNvSpPr>
          <p:nvPr/>
        </p:nvSpPr>
        <p:spPr>
          <a:xfrm xmlns:a="http://schemas.openxmlformats.org/drawingml/2006/main">
            <a:off x="841248"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01</a:t>
            </a:r>
            <a:endParaRPr sz="950"/>
          </a:p>
        </p:txBody>
      </p:sp>
      <p:sp>
        <p:nvSpPr>
          <p:cNvPr id="12" name="STC-27-refa-text-0">
            <a:extLst xmlns:a="http://schemas.openxmlformats.org/drawingml/2006/main">
              <a:ext uri="{FF2B5EF4-FFF2-40B4-BE49-F238E27FC236}">
                <a16:creationId xmlns:a16="http://schemas.microsoft.com/office/drawing/2014/main" id="{062155EC-D1E1-4A6A-BED2-F6AC33A3C656}"/>
              </a:ext>
            </a:extLst>
          </p:cNvPr>
          <p:cNvSpPr>
            <a:spLocks xmlns:a="http://schemas.openxmlformats.org/drawingml/2006/main" noGrp="1"/>
          </p:cNvSpPr>
          <p:nvPr/>
        </p:nvSpPr>
        <p:spPr>
          <a:xfrm xmlns:a="http://schemas.openxmlformats.org/drawingml/2006/main">
            <a:off x="1353312"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Letta STC 2504.13171 · E · 질의 전 1회. 이 라인의 이름을 만든 논문</a:t>
            </a:r>
            <a:endParaRPr sz="1450"/>
          </a:p>
        </p:txBody>
      </p:sp>
      <p:sp>
        <p:nvSpPr>
          <p:cNvPr id="13" name="STC-27-refa-num-1">
            <a:extLst xmlns:a="http://schemas.openxmlformats.org/drawingml/2006/main">
              <a:ext uri="{FF2B5EF4-FFF2-40B4-BE49-F238E27FC236}">
                <a16:creationId xmlns:a16="http://schemas.microsoft.com/office/drawing/2014/main" id="{51CBF520-8ECD-44AE-B98F-1387ECEB6536}"/>
              </a:ext>
            </a:extLst>
          </p:cNvPr>
          <p:cNvSpPr>
            <a:spLocks xmlns:a="http://schemas.openxmlformats.org/drawingml/2006/main" noGrp="1"/>
          </p:cNvSpPr>
          <p:nvPr/>
        </p:nvSpPr>
        <p:spPr>
          <a:xfrm xmlns:a="http://schemas.openxmlformats.org/drawingml/2006/main">
            <a:off x="841248"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02</a:t>
            </a:r>
            <a:endParaRPr sz="950"/>
          </a:p>
        </p:txBody>
      </p:sp>
      <p:sp>
        <p:nvSpPr>
          <p:cNvPr id="14" name="STC-27-refa-text-1">
            <a:extLst xmlns:a="http://schemas.openxmlformats.org/drawingml/2006/main">
              <a:ext uri="{FF2B5EF4-FFF2-40B4-BE49-F238E27FC236}">
                <a16:creationId xmlns:a16="http://schemas.microsoft.com/office/drawing/2014/main" id="{A11ED546-4FD3-4619-BBDA-F1E89500025A}"/>
              </a:ext>
            </a:extLst>
          </p:cNvPr>
          <p:cNvSpPr>
            <a:spLocks xmlns:a="http://schemas.openxmlformats.org/drawingml/2006/main" noGrp="1"/>
          </p:cNvSpPr>
          <p:nvPr/>
        </p:nvSpPr>
        <p:spPr>
          <a:xfrm xmlns:a="http://schemas.openxmlformats.org/drawingml/2006/main">
            <a:off x="1353312"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MemGPT 2310.08560 · E · 대화 중 — 경계 사례, (1) 불충족</a:t>
            </a:r>
            <a:endParaRPr sz="1450"/>
          </a:p>
        </p:txBody>
      </p:sp>
      <p:sp>
        <p:nvSpPr>
          <p:cNvPr id="15" name="STC-27-refa-num-2">
            <a:extLst xmlns:a="http://schemas.openxmlformats.org/drawingml/2006/main">
              <a:ext uri="{FF2B5EF4-FFF2-40B4-BE49-F238E27FC236}">
                <a16:creationId xmlns:a16="http://schemas.microsoft.com/office/drawing/2014/main" id="{35A20116-4261-4BEF-8F20-7E111311BA48}"/>
              </a:ext>
            </a:extLst>
          </p:cNvPr>
          <p:cNvSpPr>
            <a:spLocks xmlns:a="http://schemas.openxmlformats.org/drawingml/2006/main" noGrp="1"/>
          </p:cNvSpPr>
          <p:nvPr/>
        </p:nvSpPr>
        <p:spPr>
          <a:xfrm xmlns:a="http://schemas.openxmlformats.org/drawingml/2006/main">
            <a:off x="841248"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03</a:t>
            </a:r>
            <a:endParaRPr sz="950"/>
          </a:p>
        </p:txBody>
      </p:sp>
      <p:sp>
        <p:nvSpPr>
          <p:cNvPr id="16" name="STC-27-refa-text-2">
            <a:extLst xmlns:a="http://schemas.openxmlformats.org/drawingml/2006/main">
              <a:ext uri="{FF2B5EF4-FFF2-40B4-BE49-F238E27FC236}">
                <a16:creationId xmlns:a16="http://schemas.microsoft.com/office/drawing/2014/main" id="{6702771D-ADC3-4D74-B59D-4D478F02E873}"/>
              </a:ext>
            </a:extLst>
          </p:cNvPr>
          <p:cNvSpPr>
            <a:spLocks xmlns:a="http://schemas.openxmlformats.org/drawingml/2006/main" noGrp="1"/>
          </p:cNvSpPr>
          <p:nvPr/>
        </p:nvSpPr>
        <p:spPr>
          <a:xfrm xmlns:a="http://schemas.openxmlformats.org/drawingml/2006/main">
            <a:off x="1353312"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Mem0 2504.19413 · E · 메시지쌍마다 ADD/UPDATE/DELETE 판단</a:t>
            </a:r>
            <a:endParaRPr sz="1450"/>
          </a:p>
        </p:txBody>
      </p:sp>
      <p:sp>
        <p:nvSpPr>
          <p:cNvPr id="17" name="STC-27-refa-num-3">
            <a:extLst xmlns:a="http://schemas.openxmlformats.org/drawingml/2006/main">
              <a:ext uri="{FF2B5EF4-FFF2-40B4-BE49-F238E27FC236}">
                <a16:creationId xmlns:a16="http://schemas.microsoft.com/office/drawing/2014/main" id="{55E8554F-18B5-482A-A521-0409C4939A68}"/>
              </a:ext>
            </a:extLst>
          </p:cNvPr>
          <p:cNvSpPr>
            <a:spLocks xmlns:a="http://schemas.openxmlformats.org/drawingml/2006/main" noGrp="1"/>
          </p:cNvSpPr>
          <p:nvPr/>
        </p:nvSpPr>
        <p:spPr>
          <a:xfrm xmlns:a="http://schemas.openxmlformats.org/drawingml/2006/main">
            <a:off x="841248"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04</a:t>
            </a:r>
            <a:endParaRPr sz="950"/>
          </a:p>
        </p:txBody>
      </p:sp>
      <p:sp>
        <p:nvSpPr>
          <p:cNvPr id="18" name="STC-27-refa-text-3">
            <a:extLst xmlns:a="http://schemas.openxmlformats.org/drawingml/2006/main">
              <a:ext uri="{FF2B5EF4-FFF2-40B4-BE49-F238E27FC236}">
                <a16:creationId xmlns:a16="http://schemas.microsoft.com/office/drawing/2014/main" id="{6643F56C-6A56-4F80-BDD8-C4233A3CAC95}"/>
              </a:ext>
            </a:extLst>
          </p:cNvPr>
          <p:cNvSpPr>
            <a:spLocks xmlns:a="http://schemas.openxmlformats.org/drawingml/2006/main" noGrp="1"/>
          </p:cNvSpPr>
          <p:nvPr/>
        </p:nvSpPr>
        <p:spPr>
          <a:xfrm xmlns:a="http://schemas.openxmlformats.org/drawingml/2006/main">
            <a:off x="1353312"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Zep 2501.13956 · E · 에피소드마다 + 주기적 community refresh</a:t>
            </a:r>
            <a:endParaRPr sz="1450"/>
          </a:p>
        </p:txBody>
      </p:sp>
      <p:sp>
        <p:nvSpPr>
          <p:cNvPr id="19" name="STC-27-refa-num-4">
            <a:extLst xmlns:a="http://schemas.openxmlformats.org/drawingml/2006/main">
              <a:ext uri="{FF2B5EF4-FFF2-40B4-BE49-F238E27FC236}">
                <a16:creationId xmlns:a16="http://schemas.microsoft.com/office/drawing/2014/main" id="{FD11CDBD-DFE9-45A7-B011-896A803064F0}"/>
              </a:ext>
            </a:extLst>
          </p:cNvPr>
          <p:cNvSpPr>
            <a:spLocks xmlns:a="http://schemas.openxmlformats.org/drawingml/2006/main" noGrp="1"/>
          </p:cNvSpPr>
          <p:nvPr/>
        </p:nvSpPr>
        <p:spPr>
          <a:xfrm xmlns:a="http://schemas.openxmlformats.org/drawingml/2006/main">
            <a:off x="841248"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05</a:t>
            </a:r>
            <a:endParaRPr sz="950"/>
          </a:p>
        </p:txBody>
      </p:sp>
      <p:sp>
        <p:nvSpPr>
          <p:cNvPr id="20" name="STC-27-refa-text-4">
            <a:extLst xmlns:a="http://schemas.openxmlformats.org/drawingml/2006/main">
              <a:ext uri="{FF2B5EF4-FFF2-40B4-BE49-F238E27FC236}">
                <a16:creationId xmlns:a16="http://schemas.microsoft.com/office/drawing/2014/main" id="{675DB14E-5738-4DE9-95BF-1BC22BFAB9F4}"/>
              </a:ext>
            </a:extLst>
          </p:cNvPr>
          <p:cNvSpPr>
            <a:spLocks xmlns:a="http://schemas.openxmlformats.org/drawingml/2006/main" noGrp="1"/>
          </p:cNvSpPr>
          <p:nvPr/>
        </p:nvSpPr>
        <p:spPr>
          <a:xfrm xmlns:a="http://schemas.openxmlformats.org/drawingml/2006/main">
            <a:off x="1353312"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ReasoningBank 2509.25140 · E · 과제 종료 후. wr이 순수 합집합</a:t>
            </a:r>
            <a:endParaRPr sz="1450"/>
          </a:p>
        </p:txBody>
      </p:sp>
      <p:sp>
        <p:nvSpPr>
          <p:cNvPr id="21" name="STC-27-refa-num-5">
            <a:extLst xmlns:a="http://schemas.openxmlformats.org/drawingml/2006/main">
              <a:ext uri="{FF2B5EF4-FFF2-40B4-BE49-F238E27FC236}">
                <a16:creationId xmlns:a16="http://schemas.microsoft.com/office/drawing/2014/main" id="{1B33F735-F839-4244-A292-08A9268BD28E}"/>
              </a:ext>
            </a:extLst>
          </p:cNvPr>
          <p:cNvSpPr>
            <a:spLocks xmlns:a="http://schemas.openxmlformats.org/drawingml/2006/main" noGrp="1"/>
          </p:cNvSpPr>
          <p:nvPr/>
        </p:nvSpPr>
        <p:spPr>
          <a:xfrm xmlns:a="http://schemas.openxmlformats.org/drawingml/2006/main">
            <a:off x="841248"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06</a:t>
            </a:r>
            <a:endParaRPr sz="950"/>
          </a:p>
        </p:txBody>
      </p:sp>
      <p:sp>
        <p:nvSpPr>
          <p:cNvPr id="22" name="STC-27-refa-text-5">
            <a:extLst xmlns:a="http://schemas.openxmlformats.org/drawingml/2006/main">
              <a:ext uri="{FF2B5EF4-FFF2-40B4-BE49-F238E27FC236}">
                <a16:creationId xmlns:a16="http://schemas.microsoft.com/office/drawing/2014/main" id="{A304B551-576C-403B-AE3F-FB6BA309B549}"/>
              </a:ext>
            </a:extLst>
          </p:cNvPr>
          <p:cNvSpPr>
            <a:spLocks xmlns:a="http://schemas.openxmlformats.org/drawingml/2006/main" noGrp="1"/>
          </p:cNvSpPr>
          <p:nvPr/>
        </p:nvSpPr>
        <p:spPr>
          <a:xfrm xmlns:a="http://schemas.openxmlformats.org/drawingml/2006/main">
            <a:off x="1353312"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SCM 2604.20943 · E · 대화 후. 제목은 consolidation, 가중치 불변</a:t>
            </a:r>
            <a:endParaRPr sz="1450"/>
          </a:p>
        </p:txBody>
      </p:sp>
      <p:sp>
        <p:nvSpPr>
          <p:cNvPr id="23" name="STC-27-refa-num-6">
            <a:extLst xmlns:a="http://schemas.openxmlformats.org/drawingml/2006/main">
              <a:ext uri="{FF2B5EF4-FFF2-40B4-BE49-F238E27FC236}">
                <a16:creationId xmlns:a16="http://schemas.microsoft.com/office/drawing/2014/main" id="{C17BF4F3-BA5F-477A-AE3A-926274B15069}"/>
              </a:ext>
            </a:extLst>
          </p:cNvPr>
          <p:cNvSpPr>
            <a:spLocks xmlns:a="http://schemas.openxmlformats.org/drawingml/2006/main" noGrp="1"/>
          </p:cNvSpPr>
          <p:nvPr/>
        </p:nvSpPr>
        <p:spPr>
          <a:xfrm xmlns:a="http://schemas.openxmlformats.org/drawingml/2006/main">
            <a:off x="841248"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07</a:t>
            </a:r>
            <a:endParaRPr sz="950"/>
          </a:p>
        </p:txBody>
      </p:sp>
      <p:sp>
        <p:nvSpPr>
          <p:cNvPr id="24" name="STC-27-refa-text-6">
            <a:extLst xmlns:a="http://schemas.openxmlformats.org/drawingml/2006/main">
              <a:ext uri="{FF2B5EF4-FFF2-40B4-BE49-F238E27FC236}">
                <a16:creationId xmlns:a16="http://schemas.microsoft.com/office/drawing/2014/main" id="{289E9CA6-462B-4C66-89E4-717652A321F6}"/>
              </a:ext>
            </a:extLst>
          </p:cNvPr>
          <p:cNvSpPr>
            <a:spLocks xmlns:a="http://schemas.openxmlformats.org/drawingml/2006/main" noGrp="1"/>
          </p:cNvSpPr>
          <p:nvPr/>
        </p:nvSpPr>
        <p:spPr>
          <a:xfrm xmlns:a="http://schemas.openxmlformats.org/drawingml/2006/main">
            <a:off x="1353312"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Multi-Timescale 2605.05097 · E · 이벤트마다. 유일 실험에서 LLM 미사용</a:t>
            </a:r>
            <a:endParaRPr sz="1450"/>
          </a:p>
        </p:txBody>
      </p:sp>
      <p:sp>
        <p:nvSpPr>
          <p:cNvPr id="25" name="STC-27-refa-num-7">
            <a:extLst xmlns:a="http://schemas.openxmlformats.org/drawingml/2006/main">
              <a:ext uri="{FF2B5EF4-FFF2-40B4-BE49-F238E27FC236}">
                <a16:creationId xmlns:a16="http://schemas.microsoft.com/office/drawing/2014/main" id="{39B669A8-E06B-4878-A925-504530F51F2E}"/>
              </a:ext>
            </a:extLst>
          </p:cNvPr>
          <p:cNvSpPr>
            <a:spLocks xmlns:a="http://schemas.openxmlformats.org/drawingml/2006/main" noGrp="1"/>
          </p:cNvSpPr>
          <p:nvPr/>
        </p:nvSpPr>
        <p:spPr>
          <a:xfrm xmlns:a="http://schemas.openxmlformats.org/drawingml/2006/main">
            <a:off x="6172200"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08</a:t>
            </a:r>
            <a:endParaRPr sz="950"/>
          </a:p>
        </p:txBody>
      </p:sp>
      <p:sp>
        <p:nvSpPr>
          <p:cNvPr id="26" name="STC-27-refa-text-7">
            <a:extLst xmlns:a="http://schemas.openxmlformats.org/drawingml/2006/main">
              <a:ext uri="{FF2B5EF4-FFF2-40B4-BE49-F238E27FC236}">
                <a16:creationId xmlns:a16="http://schemas.microsoft.com/office/drawing/2014/main" id="{5CA2803E-8191-41D8-A69E-C8DE26EBBBD5}"/>
              </a:ext>
            </a:extLst>
          </p:cNvPr>
          <p:cNvSpPr>
            <a:spLocks xmlns:a="http://schemas.openxmlformats.org/drawingml/2006/main" noGrp="1"/>
          </p:cNvSpPr>
          <p:nvPr/>
        </p:nvSpPr>
        <p:spPr>
          <a:xfrm xmlns:a="http://schemas.openxmlformats.org/drawingml/2006/main">
            <a:off x="6684264"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Do LMs Need Sleep? 2605.26099 · W · KV 비우기 전 N회 재귀. 유일한 정면 사례</a:t>
            </a:r>
            <a:endParaRPr sz="1450"/>
          </a:p>
        </p:txBody>
      </p:sp>
      <p:sp>
        <p:nvSpPr>
          <p:cNvPr id="27" name="STC-27-refa-num-8">
            <a:extLst xmlns:a="http://schemas.openxmlformats.org/drawingml/2006/main">
              <a:ext uri="{FF2B5EF4-FFF2-40B4-BE49-F238E27FC236}">
                <a16:creationId xmlns:a16="http://schemas.microsoft.com/office/drawing/2014/main" id="{EB76E28F-3249-436F-BDC8-CC3B36B33971}"/>
              </a:ext>
            </a:extLst>
          </p:cNvPr>
          <p:cNvSpPr>
            <a:spLocks xmlns:a="http://schemas.openxmlformats.org/drawingml/2006/main" noGrp="1"/>
          </p:cNvSpPr>
          <p:nvPr/>
        </p:nvSpPr>
        <p:spPr>
          <a:xfrm xmlns:a="http://schemas.openxmlformats.org/drawingml/2006/main">
            <a:off x="6172200"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09</a:t>
            </a:r>
            <a:endParaRPr sz="950"/>
          </a:p>
        </p:txBody>
      </p:sp>
      <p:sp>
        <p:nvSpPr>
          <p:cNvPr id="28" name="STC-27-refa-text-8">
            <a:extLst xmlns:a="http://schemas.openxmlformats.org/drawingml/2006/main">
              <a:ext uri="{FF2B5EF4-FFF2-40B4-BE49-F238E27FC236}">
                <a16:creationId xmlns:a16="http://schemas.microsoft.com/office/drawing/2014/main" id="{42432C31-97C0-4DB4-A828-17F58B1C006C}"/>
              </a:ext>
            </a:extLst>
          </p:cNvPr>
          <p:cNvSpPr>
            <a:spLocks xmlns:a="http://schemas.openxmlformats.org/drawingml/2006/main" noGrp="1"/>
          </p:cNvSpPr>
          <p:nvPr/>
        </p:nvSpPr>
        <p:spPr>
          <a:xfrm xmlns:a="http://schemas.openxmlformats.org/drawingml/2006/main">
            <a:off x="6684264"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SEAL 2506.10943 · Θ · 두 시간척도. 자기 생성 self-edit</a:t>
            </a:r>
            <a:endParaRPr sz="1450"/>
          </a:p>
        </p:txBody>
      </p:sp>
      <p:sp>
        <p:nvSpPr>
          <p:cNvPr id="29" name="STC-27-refa-num-9">
            <a:extLst xmlns:a="http://schemas.openxmlformats.org/drawingml/2006/main">
              <a:ext uri="{FF2B5EF4-FFF2-40B4-BE49-F238E27FC236}">
                <a16:creationId xmlns:a16="http://schemas.microsoft.com/office/drawing/2014/main" id="{7AE894C5-A4E3-431D-BBCB-B84488812967}"/>
              </a:ext>
            </a:extLst>
          </p:cNvPr>
          <p:cNvSpPr>
            <a:spLocks xmlns:a="http://schemas.openxmlformats.org/drawingml/2006/main" noGrp="1"/>
          </p:cNvSpPr>
          <p:nvPr/>
        </p:nvSpPr>
        <p:spPr>
          <a:xfrm xmlns:a="http://schemas.openxmlformats.org/drawingml/2006/main">
            <a:off x="6172200"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10</a:t>
            </a:r>
            <a:endParaRPr sz="950"/>
          </a:p>
        </p:txBody>
      </p:sp>
      <p:sp>
        <p:nvSpPr>
          <p:cNvPr id="30" name="STC-27-refa-text-9">
            <a:extLst xmlns:a="http://schemas.openxmlformats.org/drawingml/2006/main">
              <a:ext uri="{FF2B5EF4-FFF2-40B4-BE49-F238E27FC236}">
                <a16:creationId xmlns:a16="http://schemas.microsoft.com/office/drawing/2014/main" id="{5BD284A8-2458-487D-8B9E-370C7411385B}"/>
              </a:ext>
            </a:extLst>
          </p:cNvPr>
          <p:cNvSpPr>
            <a:spLocks xmlns:a="http://schemas.openxmlformats.org/drawingml/2006/main" noGrp="1"/>
          </p:cNvSpPr>
          <p:nvPr/>
        </p:nvSpPr>
        <p:spPr>
          <a:xfrm xmlns:a="http://schemas.openxmlformats.org/drawingml/2006/main">
            <a:off x="6684264"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LM Need Sleep 2606.03979 · Θ ← W · sleep 라운드 k마다 이송</a:t>
            </a:r>
            <a:endParaRPr sz="1450"/>
          </a:p>
        </p:txBody>
      </p:sp>
      <p:sp>
        <p:nvSpPr>
          <p:cNvPr id="31" name="STC-27-refa-num-10">
            <a:extLst xmlns:a="http://schemas.openxmlformats.org/drawingml/2006/main">
              <a:ext uri="{FF2B5EF4-FFF2-40B4-BE49-F238E27FC236}">
                <a16:creationId xmlns:a16="http://schemas.microsoft.com/office/drawing/2014/main" id="{D8683AB3-30A2-418E-8C2F-785C7D981B49}"/>
              </a:ext>
            </a:extLst>
          </p:cNvPr>
          <p:cNvSpPr>
            <a:spLocks xmlns:a="http://schemas.openxmlformats.org/drawingml/2006/main" noGrp="1"/>
          </p:cNvSpPr>
          <p:nvPr/>
        </p:nvSpPr>
        <p:spPr>
          <a:xfrm xmlns:a="http://schemas.openxmlformats.org/drawingml/2006/main">
            <a:off x="6172200"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11</a:t>
            </a:r>
            <a:endParaRPr sz="950"/>
          </a:p>
        </p:txBody>
      </p:sp>
      <p:sp>
        <p:nvSpPr>
          <p:cNvPr id="32" name="STC-27-refa-text-10">
            <a:extLst xmlns:a="http://schemas.openxmlformats.org/drawingml/2006/main">
              <a:ext uri="{FF2B5EF4-FFF2-40B4-BE49-F238E27FC236}">
                <a16:creationId xmlns:a16="http://schemas.microsoft.com/office/drawing/2014/main" id="{D6BD7EA0-A2A2-4970-982A-7FB8848D707D}"/>
              </a:ext>
            </a:extLst>
          </p:cNvPr>
          <p:cNvSpPr>
            <a:spLocks xmlns:a="http://schemas.openxmlformats.org/drawingml/2006/main" noGrp="1"/>
          </p:cNvSpPr>
          <p:nvPr/>
        </p:nvSpPr>
        <p:spPr>
          <a:xfrm xmlns:a="http://schemas.openxmlformats.org/drawingml/2006/main">
            <a:off x="6684264"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층 분포 · E 6편 · Θ 2편 · W 1편. 경계 사례를 더하면 E가 7</a:t>
            </a:r>
            <a:endParaRPr sz="1450"/>
          </a:p>
        </p:txBody>
      </p:sp>
      <p:sp>
        <p:nvSpPr>
          <p:cNvPr id="33" name="STC-27-refa-num-11">
            <a:extLst xmlns:a="http://schemas.openxmlformats.org/drawingml/2006/main">
              <a:ext uri="{FF2B5EF4-FFF2-40B4-BE49-F238E27FC236}">
                <a16:creationId xmlns:a16="http://schemas.microsoft.com/office/drawing/2014/main" id="{460613C2-7751-43C8-A2FB-0D5F9B0DBECB}"/>
              </a:ext>
            </a:extLst>
          </p:cNvPr>
          <p:cNvSpPr>
            <a:spLocks xmlns:a="http://schemas.openxmlformats.org/drawingml/2006/main" noGrp="1"/>
          </p:cNvSpPr>
          <p:nvPr/>
        </p:nvSpPr>
        <p:spPr>
          <a:xfrm xmlns:a="http://schemas.openxmlformats.org/drawingml/2006/main">
            <a:off x="6172200"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12</a:t>
            </a:r>
            <a:endParaRPr sz="950"/>
          </a:p>
        </p:txBody>
      </p:sp>
      <p:sp>
        <p:nvSpPr>
          <p:cNvPr id="34" name="STC-27-refa-text-11">
            <a:extLst xmlns:a="http://schemas.openxmlformats.org/drawingml/2006/main">
              <a:ext uri="{FF2B5EF4-FFF2-40B4-BE49-F238E27FC236}">
                <a16:creationId xmlns:a16="http://schemas.microsoft.com/office/drawing/2014/main" id="{6585AB7C-DE90-41AD-82F9-96F612B0B13A}"/>
              </a:ext>
            </a:extLst>
          </p:cNvPr>
          <p:cNvSpPr>
            <a:spLocks xmlns:a="http://schemas.openxmlformats.org/drawingml/2006/main" noGrp="1"/>
          </p:cNvSpPr>
          <p:nvPr/>
        </p:nvSpPr>
        <p:spPr>
          <a:xfrm xmlns:a="http://schemas.openxmlformats.org/drawingml/2006/main">
            <a:off x="6684264"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시계 분포 · 질의 전 1회부터 메시지쌍마다까지 주기가 다르다</a:t>
            </a:r>
            <a:endParaRPr sz="1450"/>
          </a:p>
        </p:txBody>
      </p:sp>
      <p:sp>
        <p:nvSpPr>
          <p:cNvPr id="35" name="STC-27-refa-num-12">
            <a:extLst xmlns:a="http://schemas.openxmlformats.org/drawingml/2006/main">
              <a:ext uri="{FF2B5EF4-FFF2-40B4-BE49-F238E27FC236}">
                <a16:creationId xmlns:a16="http://schemas.microsoft.com/office/drawing/2014/main" id="{3BF3AFD4-5BFF-4F64-8958-1E971CEA8E77}"/>
              </a:ext>
            </a:extLst>
          </p:cNvPr>
          <p:cNvSpPr>
            <a:spLocks xmlns:a="http://schemas.openxmlformats.org/drawingml/2006/main" noGrp="1"/>
          </p:cNvSpPr>
          <p:nvPr/>
        </p:nvSpPr>
        <p:spPr>
          <a:xfrm xmlns:a="http://schemas.openxmlformats.org/drawingml/2006/main">
            <a:off x="6172200"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13</a:t>
            </a:r>
            <a:endParaRPr sz="950"/>
          </a:p>
        </p:txBody>
      </p:sp>
      <p:sp>
        <p:nvSpPr>
          <p:cNvPr id="36" name="STC-27-refa-text-12">
            <a:extLst xmlns:a="http://schemas.openxmlformats.org/drawingml/2006/main">
              <a:ext uri="{FF2B5EF4-FFF2-40B4-BE49-F238E27FC236}">
                <a16:creationId xmlns:a16="http://schemas.microsoft.com/office/drawing/2014/main" id="{A6CE689B-DBF7-4ACD-BBBF-ABB01DFF849C}"/>
              </a:ext>
            </a:extLst>
          </p:cNvPr>
          <p:cNvSpPr>
            <a:spLocks xmlns:a="http://schemas.openxmlformats.org/drawingml/2006/main" noGrp="1"/>
          </p:cNvSpPr>
          <p:nvPr/>
        </p:nvSpPr>
        <p:spPr>
          <a:xfrm xmlns:a="http://schemas.openxmlformats.org/drawingml/2006/main">
            <a:off x="6684264"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상각의 분모 · N_q가 세는 대상이 논문마다 달라진다</a:t>
            </a:r>
            <a:endParaRPr sz="1450"/>
          </a:p>
        </p:txBody>
      </p:sp>
      <p:sp>
        <p:nvSpPr>
          <p:cNvPr id="37" name="STC-27-refa-num-13">
            <a:extLst xmlns:a="http://schemas.openxmlformats.org/drawingml/2006/main">
              <a:ext uri="{FF2B5EF4-FFF2-40B4-BE49-F238E27FC236}">
                <a16:creationId xmlns:a16="http://schemas.microsoft.com/office/drawing/2014/main" id="{2CBC69DB-9A99-46EA-A59F-BF77F82CD6C1}"/>
              </a:ext>
            </a:extLst>
          </p:cNvPr>
          <p:cNvSpPr>
            <a:spLocks xmlns:a="http://schemas.openxmlformats.org/drawingml/2006/main" noGrp="1"/>
          </p:cNvSpPr>
          <p:nvPr/>
        </p:nvSpPr>
        <p:spPr>
          <a:xfrm xmlns:a="http://schemas.openxmlformats.org/drawingml/2006/main">
            <a:off x="6172200"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14</a:t>
            </a:r>
            <a:endParaRPr sz="950"/>
          </a:p>
        </p:txBody>
      </p:sp>
      <p:sp>
        <p:nvSpPr>
          <p:cNvPr id="38" name="STC-27-refa-text-13">
            <a:extLst xmlns:a="http://schemas.openxmlformats.org/drawingml/2006/main">
              <a:ext uri="{FF2B5EF4-FFF2-40B4-BE49-F238E27FC236}">
                <a16:creationId xmlns:a16="http://schemas.microsoft.com/office/drawing/2014/main" id="{0E347A02-8998-4EC3-8A05-EF92986A2024}"/>
              </a:ext>
            </a:extLst>
          </p:cNvPr>
          <p:cNvSpPr>
            <a:spLocks xmlns:a="http://schemas.openxmlformats.org/drawingml/2006/main" noGrp="1"/>
          </p:cNvSpPr>
          <p:nvPr/>
        </p:nvSpPr>
        <p:spPr>
          <a:xfrm xmlns:a="http://schemas.openxmlformats.org/drawingml/2006/main">
            <a:off x="6684264"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W-경로 표본 · 1. 그 하나마저 자기 주류 계보와 접점이 없다</a:t>
            </a:r>
            <a:endParaRPr sz="1450"/>
          </a:p>
        </p:txBody>
      </p:sp>
      <p:sp>
        <p:nvSpPr>
          <p:cNvPr id="39" name="STC-27-refa-note">
            <a:extLst xmlns:a="http://schemas.openxmlformats.org/drawingml/2006/main">
              <a:ext uri="{FF2B5EF4-FFF2-40B4-BE49-F238E27FC236}">
                <a16:creationId xmlns:a16="http://schemas.microsoft.com/office/drawing/2014/main" id="{CD24E568-17B2-4E37-89AF-FBA238DDA767}"/>
              </a:ext>
            </a:extLst>
          </p:cNvPr>
          <p:cNvSpPr>
            <a:spLocks xmlns:a="http://schemas.openxmlformats.org/drawingml/2006/main" noGrp="1"/>
          </p:cNvSpPr>
          <p:nvPr/>
        </p:nvSpPr>
        <p:spPr>
          <a:xfrm xmlns:a="http://schemas.openxmlformats.org/drawingml/2006/main">
            <a:off x="2212848" y="5870448"/>
            <a:ext cx="77724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50">
                <a:solidFill>
                  <a:srgbClr val="59616A"/>
                </a:solidFill>
                <a:latin typeface="Noto Sans CJK KR"/>
                <a:ea typeface="Noto Sans CJK KR"/>
                <a:cs typeface="Noto Sans CJK KR"/>
              </a:rPr>
              <a:t>E · 질의 전 1회. 이 라인의 이름을 만든 논문</a:t>
            </a:r>
            <a:endParaRPr sz="1350"/>
          </a:p>
        </p:txBody>
      </p:sp>
    </p:spTree>
    <p:extLst>
      <p:ext uri="{BB962C8B-B14F-4D97-AF65-F5344CB8AC3E}">
        <p14:creationId xmlns:p14="http://schemas.microsoft.com/office/powerpoint/2010/main" val="1964283889"/>
      </p:ext>
    </p:extLst>
  </p:cSld>
</p:sld>
</file>

<file path=ppt/slides/slide40.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8-section">
            <a:extLst xmlns:a="http://schemas.openxmlformats.org/drawingml/2006/main">
              <a:ext uri="{FF2B5EF4-FFF2-40B4-BE49-F238E27FC236}">
                <a16:creationId xmlns:a16="http://schemas.microsoft.com/office/drawing/2014/main" id="{38FCD26C-6C12-44CF-8CD7-4267D96F198F}"/>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DISCRIMINANT</a:t>
            </a:r>
            <a:endParaRPr sz="950"/>
          </a:p>
        </p:txBody>
      </p:sp>
      <p:sp>
        <p:nvSpPr>
          <p:cNvPr id="3" name="STC-28-slide-id">
            <a:extLst xmlns:a="http://schemas.openxmlformats.org/drawingml/2006/main">
              <a:ext uri="{FF2B5EF4-FFF2-40B4-BE49-F238E27FC236}">
                <a16:creationId xmlns:a16="http://schemas.microsoft.com/office/drawing/2014/main" id="{6A71C3FC-3B13-4A28-97D6-67C2759E91C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STC-040</a:t>
            </a:r>
            <a:endParaRPr sz="950"/>
          </a:p>
        </p:txBody>
      </p:sp>
      <p:sp>
        <p:nvSpPr>
          <p:cNvPr id="4" name="STC-28-headline">
            <a:extLst xmlns:a="http://schemas.openxmlformats.org/drawingml/2006/main">
              <a:ext uri="{FF2B5EF4-FFF2-40B4-BE49-F238E27FC236}">
                <a16:creationId xmlns:a16="http://schemas.microsoft.com/office/drawing/2014/main" id="{5A71EE62-05C8-4CE0-91E4-63D515E2CB75}"/>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17191C"/>
                </a:solidFill>
                <a:latin typeface="Noto Sans CJK KR"/>
                <a:ea typeface="Noto Sans CJK KR"/>
                <a:cs typeface="Noto Sans CJK KR"/>
              </a:rPr>
              <a:t>B군 — 불충족 아홉 편과 걸린 조건</a:t>
            </a:r>
            <a:endParaRPr sz="2800"/>
          </a:p>
        </p:txBody>
      </p:sp>
      <p:sp>
        <p:nvSpPr>
          <p:cNvPr id="5" name="STC-28-status-label">
            <a:extLst xmlns:a="http://schemas.openxmlformats.org/drawingml/2006/main">
              <a:ext uri="{FF2B5EF4-FFF2-40B4-BE49-F238E27FC236}">
                <a16:creationId xmlns:a16="http://schemas.microsoft.com/office/drawing/2014/main" id="{6E72FC80-4CD3-46F0-9E39-2D524CABE32C}"/>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44E8A"/>
                </a:solidFill>
                <a:latin typeface="Noto Sans Mono CJK KR"/>
                <a:ea typeface="Noto Sans Mono CJK KR"/>
                <a:cs typeface="Noto Sans Mono CJK KR"/>
              </a:rPr>
              <a:t>전수 확인</a:t>
            </a:r>
            <a:endParaRPr sz="1000"/>
          </a:p>
        </p:txBody>
      </p:sp>
      <p:sp>
        <p:nvSpPr>
          <p:cNvPr id="6" name="STC-28-status-rule">
            <a:extLst xmlns:a="http://schemas.openxmlformats.org/drawingml/2006/main">
              <a:ext uri="{FF2B5EF4-FFF2-40B4-BE49-F238E27FC236}">
                <a16:creationId xmlns:a16="http://schemas.microsoft.com/office/drawing/2014/main" id="{381AABF8-3E35-422A-9B66-BD2E60850212}"/>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44E8A"/>
            </a:solidFill>
            <a:prstDash val="solid"/>
            <a:tailEnd type="none"/>
          </a:ln>
        </p:spPr>
      </p:sp>
      <p:sp>
        <p:nvSpPr>
          <p:cNvPr id="7" name="STC-28-footer-rule">
            <a:extLst xmlns:a="http://schemas.openxmlformats.org/drawingml/2006/main">
              <a:ext uri="{FF2B5EF4-FFF2-40B4-BE49-F238E27FC236}">
                <a16:creationId xmlns:a16="http://schemas.microsoft.com/office/drawing/2014/main" id="{15C701C2-A052-4584-B4CD-2B50899B0C87}"/>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8-source-footer">
            <a:extLst xmlns:a="http://schemas.openxmlformats.org/drawingml/2006/main">
              <a:ext uri="{FF2B5EF4-FFF2-40B4-BE49-F238E27FC236}">
                <a16:creationId xmlns:a16="http://schemas.microsoft.com/office/drawing/2014/main" id="{DFB90BE2-907D-4C66-A463-DE17189AD77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표 11-2</a:t>
            </a:r>
            <a:endParaRPr sz="850"/>
          </a:p>
        </p:txBody>
      </p:sp>
      <p:sp>
        <p:nvSpPr>
          <p:cNvPr id="9" name="STC-28-page-number">
            <a:extLst xmlns:a="http://schemas.openxmlformats.org/drawingml/2006/main">
              <a:ext uri="{FF2B5EF4-FFF2-40B4-BE49-F238E27FC236}">
                <a16:creationId xmlns:a16="http://schemas.microsoft.com/office/drawing/2014/main" id="{83FCB4BE-56BD-44FC-B01A-FE557431420A}"/>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40</a:t>
            </a:r>
            <a:endParaRPr sz="850"/>
          </a:p>
        </p:txBody>
      </p:sp>
      <p:sp>
        <p:nvSpPr>
          <p:cNvPr id="11" name="STC-28-refb-num-0">
            <a:extLst xmlns:a="http://schemas.openxmlformats.org/drawingml/2006/main">
              <a:ext uri="{FF2B5EF4-FFF2-40B4-BE49-F238E27FC236}">
                <a16:creationId xmlns:a16="http://schemas.microsoft.com/office/drawing/2014/main" id="{A9E3672A-22B8-4FD1-AF0A-CD6431C1CDF5}"/>
              </a:ext>
            </a:extLst>
          </p:cNvPr>
          <p:cNvSpPr>
            <a:spLocks xmlns:a="http://schemas.openxmlformats.org/drawingml/2006/main" noGrp="1"/>
          </p:cNvSpPr>
          <p:nvPr/>
        </p:nvSpPr>
        <p:spPr>
          <a:xfrm xmlns:a="http://schemas.openxmlformats.org/drawingml/2006/main">
            <a:off x="841248"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01</a:t>
            </a:r>
            <a:endParaRPr sz="950"/>
          </a:p>
        </p:txBody>
      </p:sp>
      <p:sp>
        <p:nvSpPr>
          <p:cNvPr id="12" name="STC-28-refb-text-0">
            <a:extLst xmlns:a="http://schemas.openxmlformats.org/drawingml/2006/main">
              <a:ext uri="{FF2B5EF4-FFF2-40B4-BE49-F238E27FC236}">
                <a16:creationId xmlns:a16="http://schemas.microsoft.com/office/drawing/2014/main" id="{73D96B02-EBDC-4045-B33F-7D0B788D5032}"/>
              </a:ext>
            </a:extLst>
          </p:cNvPr>
          <p:cNvSpPr>
            <a:spLocks xmlns:a="http://schemas.openxmlformats.org/drawingml/2006/main" noGrp="1"/>
          </p:cNvSpPr>
          <p:nvPr/>
        </p:nvSpPr>
        <p:spPr>
          <a:xfrm xmlns:a="http://schemas.openxmlformats.org/drawingml/2006/main">
            <a:off x="1353312"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Nested Learning · (1)(4) · 시계가 토큰, 문맥 끝나면 소멸</a:t>
            </a:r>
            <a:endParaRPr sz="1450"/>
          </a:p>
        </p:txBody>
      </p:sp>
      <p:sp>
        <p:nvSpPr>
          <p:cNvPr id="13" name="STC-28-refb-num-1">
            <a:extLst xmlns:a="http://schemas.openxmlformats.org/drawingml/2006/main">
              <a:ext uri="{FF2B5EF4-FFF2-40B4-BE49-F238E27FC236}">
                <a16:creationId xmlns:a16="http://schemas.microsoft.com/office/drawing/2014/main" id="{592C164C-E030-4739-A0A1-E046FC00C259}"/>
              </a:ext>
            </a:extLst>
          </p:cNvPr>
          <p:cNvSpPr>
            <a:spLocks xmlns:a="http://schemas.openxmlformats.org/drawingml/2006/main" noGrp="1"/>
          </p:cNvSpPr>
          <p:nvPr/>
        </p:nvSpPr>
        <p:spPr>
          <a:xfrm xmlns:a="http://schemas.openxmlformats.org/drawingml/2006/main">
            <a:off x="841248"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02</a:t>
            </a:r>
            <a:endParaRPr sz="950"/>
          </a:p>
        </p:txBody>
      </p:sp>
      <p:sp>
        <p:nvSpPr>
          <p:cNvPr id="14" name="STC-28-refb-text-1">
            <a:extLst xmlns:a="http://schemas.openxmlformats.org/drawingml/2006/main">
              <a:ext uri="{FF2B5EF4-FFF2-40B4-BE49-F238E27FC236}">
                <a16:creationId xmlns:a16="http://schemas.microsoft.com/office/drawing/2014/main" id="{6827CF69-172C-4418-BA31-264E74CB0A71}"/>
              </a:ext>
            </a:extLst>
          </p:cNvPr>
          <p:cNvSpPr>
            <a:spLocks xmlns:a="http://schemas.openxmlformats.org/drawingml/2006/main" noGrp="1"/>
          </p:cNvSpPr>
          <p:nvPr/>
        </p:nvSpPr>
        <p:spPr>
          <a:xfrm xmlns:a="http://schemas.openxmlformats.org/drawingml/2006/main">
            <a:off x="1353312"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Memory Caching · (2)(3) · B_s=0, 읽기식을 바꿨다</a:t>
            </a:r>
            <a:endParaRPr sz="1450"/>
          </a:p>
        </p:txBody>
      </p:sp>
      <p:sp>
        <p:nvSpPr>
          <p:cNvPr id="15" name="STC-28-refb-num-2">
            <a:extLst xmlns:a="http://schemas.openxmlformats.org/drawingml/2006/main">
              <a:ext uri="{FF2B5EF4-FFF2-40B4-BE49-F238E27FC236}">
                <a16:creationId xmlns:a16="http://schemas.microsoft.com/office/drawing/2014/main" id="{46BAE1D1-9D98-472E-9618-BD4F36CBAB2C}"/>
              </a:ext>
            </a:extLst>
          </p:cNvPr>
          <p:cNvSpPr>
            <a:spLocks xmlns:a="http://schemas.openxmlformats.org/drawingml/2006/main" noGrp="1"/>
          </p:cNvSpPr>
          <p:nvPr/>
        </p:nvSpPr>
        <p:spPr>
          <a:xfrm xmlns:a="http://schemas.openxmlformats.org/drawingml/2006/main">
            <a:off x="841248"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03</a:t>
            </a:r>
            <a:endParaRPr sz="950"/>
          </a:p>
        </p:txBody>
      </p:sp>
      <p:sp>
        <p:nvSpPr>
          <p:cNvPr id="16" name="STC-28-refb-text-2">
            <a:extLst xmlns:a="http://schemas.openxmlformats.org/drawingml/2006/main">
              <a:ext uri="{FF2B5EF4-FFF2-40B4-BE49-F238E27FC236}">
                <a16:creationId xmlns:a16="http://schemas.microsoft.com/office/drawing/2014/main" id="{8AB23C3E-B51C-4DDD-AD70-656E2327298D}"/>
              </a:ext>
            </a:extLst>
          </p:cNvPr>
          <p:cNvSpPr>
            <a:spLocks xmlns:a="http://schemas.openxmlformats.org/drawingml/2006/main" noGrp="1"/>
          </p:cNvSpPr>
          <p:nvPr/>
        </p:nvSpPr>
        <p:spPr>
          <a:xfrm xmlns:a="http://schemas.openxmlformats.org/drawingml/2006/main">
            <a:off x="1353312"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Memory Layers · (1)(3) · pre-training 1회, 배포 후 정지</a:t>
            </a:r>
            <a:endParaRPr sz="1450"/>
          </a:p>
        </p:txBody>
      </p:sp>
      <p:sp>
        <p:nvSpPr>
          <p:cNvPr id="17" name="STC-28-refb-num-3">
            <a:extLst xmlns:a="http://schemas.openxmlformats.org/drawingml/2006/main">
              <a:ext uri="{FF2B5EF4-FFF2-40B4-BE49-F238E27FC236}">
                <a16:creationId xmlns:a16="http://schemas.microsoft.com/office/drawing/2014/main" id="{AD2C23C3-19B5-4931-8A2D-09E68901DA23}"/>
              </a:ext>
            </a:extLst>
          </p:cNvPr>
          <p:cNvSpPr>
            <a:spLocks xmlns:a="http://schemas.openxmlformats.org/drawingml/2006/main" noGrp="1"/>
          </p:cNvSpPr>
          <p:nvPr/>
        </p:nvSpPr>
        <p:spPr>
          <a:xfrm xmlns:a="http://schemas.openxmlformats.org/drawingml/2006/main">
            <a:off x="841248"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04</a:t>
            </a:r>
            <a:endParaRPr sz="950"/>
          </a:p>
        </p:txBody>
      </p:sp>
      <p:sp>
        <p:nvSpPr>
          <p:cNvPr id="18" name="STC-28-refb-text-3">
            <a:extLst xmlns:a="http://schemas.openxmlformats.org/drawingml/2006/main">
              <a:ext uri="{FF2B5EF4-FFF2-40B4-BE49-F238E27FC236}">
                <a16:creationId xmlns:a16="http://schemas.microsoft.com/office/drawing/2014/main" id="{9333E338-EF4B-4EEB-BCE8-8D680BD16B5D}"/>
              </a:ext>
            </a:extLst>
          </p:cNvPr>
          <p:cNvSpPr>
            <a:spLocks xmlns:a="http://schemas.openxmlformats.org/drawingml/2006/main" noGrp="1"/>
          </p:cNvSpPr>
          <p:nvPr/>
        </p:nvSpPr>
        <p:spPr>
          <a:xfrm xmlns:a="http://schemas.openxmlformats.org/drawingml/2006/main">
            <a:off x="1353312"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Generative Adapter · (1) · 갱신은 (U-W), 시계는 wake</a:t>
            </a:r>
            <a:endParaRPr sz="1450"/>
          </a:p>
        </p:txBody>
      </p:sp>
      <p:sp>
        <p:nvSpPr>
          <p:cNvPr id="19" name="STC-28-refb-num-4">
            <a:extLst xmlns:a="http://schemas.openxmlformats.org/drawingml/2006/main">
              <a:ext uri="{FF2B5EF4-FFF2-40B4-BE49-F238E27FC236}">
                <a16:creationId xmlns:a16="http://schemas.microsoft.com/office/drawing/2014/main" id="{1E15AAF6-4750-45EE-A03F-1DC59364D3E5}"/>
              </a:ext>
            </a:extLst>
          </p:cNvPr>
          <p:cNvSpPr>
            <a:spLocks xmlns:a="http://schemas.openxmlformats.org/drawingml/2006/main" noGrp="1"/>
          </p:cNvSpPr>
          <p:nvPr/>
        </p:nvSpPr>
        <p:spPr>
          <a:xfrm xmlns:a="http://schemas.openxmlformats.org/drawingml/2006/main">
            <a:off x="841248"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05</a:t>
            </a:r>
            <a:endParaRPr sz="950"/>
          </a:p>
        </p:txBody>
      </p:sp>
      <p:sp>
        <p:nvSpPr>
          <p:cNvPr id="20" name="STC-28-refb-text-4">
            <a:extLst xmlns:a="http://schemas.openxmlformats.org/drawingml/2006/main">
              <a:ext uri="{FF2B5EF4-FFF2-40B4-BE49-F238E27FC236}">
                <a16:creationId xmlns:a16="http://schemas.microsoft.com/office/drawing/2014/main" id="{BE166349-AC22-429E-9D14-CDAFE2AD676B}"/>
              </a:ext>
            </a:extLst>
          </p:cNvPr>
          <p:cNvSpPr>
            <a:spLocks xmlns:a="http://schemas.openxmlformats.org/drawingml/2006/main" noGrp="1"/>
          </p:cNvSpPr>
          <p:nvPr/>
        </p:nvSpPr>
        <p:spPr>
          <a:xfrm xmlns:a="http://schemas.openxmlformats.org/drawingml/2006/main">
            <a:off x="1353312"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LoRA · (1) 시계 부재 · 쓰기 primitive이지 절차 아님</a:t>
            </a:r>
            <a:endParaRPr sz="1450"/>
          </a:p>
        </p:txBody>
      </p:sp>
      <p:sp>
        <p:nvSpPr>
          <p:cNvPr id="21" name="STC-28-refb-num-5">
            <a:extLst xmlns:a="http://schemas.openxmlformats.org/drawingml/2006/main">
              <a:ext uri="{FF2B5EF4-FFF2-40B4-BE49-F238E27FC236}">
                <a16:creationId xmlns:a16="http://schemas.microsoft.com/office/drawing/2014/main" id="{14A1CF6F-F410-4DC0-A538-64E6E15DD425}"/>
              </a:ext>
            </a:extLst>
          </p:cNvPr>
          <p:cNvSpPr>
            <a:spLocks xmlns:a="http://schemas.openxmlformats.org/drawingml/2006/main" noGrp="1"/>
          </p:cNvSpPr>
          <p:nvPr/>
        </p:nvSpPr>
        <p:spPr>
          <a:xfrm xmlns:a="http://schemas.openxmlformats.org/drawingml/2006/main">
            <a:off x="841248"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06</a:t>
            </a:r>
            <a:endParaRPr sz="950"/>
          </a:p>
        </p:txBody>
      </p:sp>
      <p:sp>
        <p:nvSpPr>
          <p:cNvPr id="22" name="STC-28-refb-text-5">
            <a:extLst xmlns:a="http://schemas.openxmlformats.org/drawingml/2006/main">
              <a:ext uri="{FF2B5EF4-FFF2-40B4-BE49-F238E27FC236}">
                <a16:creationId xmlns:a16="http://schemas.microsoft.com/office/drawing/2014/main" id="{316DBB8F-0966-4178-AA42-3DCCAA57F4E8}"/>
              </a:ext>
            </a:extLst>
          </p:cNvPr>
          <p:cNvSpPr>
            <a:spLocks xmlns:a="http://schemas.openxmlformats.org/drawingml/2006/main" noGrp="1"/>
          </p:cNvSpPr>
          <p:nvPr/>
        </p:nvSpPr>
        <p:spPr>
          <a:xfrm xmlns:a="http://schemas.openxmlformats.org/drawingml/2006/main">
            <a:off x="1353312"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ROME · (1) 시계 부재 · 저자가 실용 목적 아니라 명시</a:t>
            </a:r>
            <a:endParaRPr sz="1450"/>
          </a:p>
        </p:txBody>
      </p:sp>
      <p:sp>
        <p:nvSpPr>
          <p:cNvPr id="23" name="STC-28-refb-num-6">
            <a:extLst xmlns:a="http://schemas.openxmlformats.org/drawingml/2006/main">
              <a:ext uri="{FF2B5EF4-FFF2-40B4-BE49-F238E27FC236}">
                <a16:creationId xmlns:a16="http://schemas.microsoft.com/office/drawing/2014/main" id="{127FECDE-8F42-43EB-9FE0-E111504E3910}"/>
              </a:ext>
            </a:extLst>
          </p:cNvPr>
          <p:cNvSpPr>
            <a:spLocks xmlns:a="http://schemas.openxmlformats.org/drawingml/2006/main" noGrp="1"/>
          </p:cNvSpPr>
          <p:nvPr/>
        </p:nvSpPr>
        <p:spPr>
          <a:xfrm xmlns:a="http://schemas.openxmlformats.org/drawingml/2006/main">
            <a:off x="841248"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07</a:t>
            </a:r>
            <a:endParaRPr sz="950"/>
          </a:p>
        </p:txBody>
      </p:sp>
      <p:sp>
        <p:nvSpPr>
          <p:cNvPr id="24" name="STC-28-refb-text-6">
            <a:extLst xmlns:a="http://schemas.openxmlformats.org/drawingml/2006/main">
              <a:ext uri="{FF2B5EF4-FFF2-40B4-BE49-F238E27FC236}">
                <a16:creationId xmlns:a16="http://schemas.microsoft.com/office/drawing/2014/main" id="{D1BB960C-E6DD-41C9-8486-7CE1BA7BF842}"/>
              </a:ext>
            </a:extLst>
          </p:cNvPr>
          <p:cNvSpPr>
            <a:spLocks xmlns:a="http://schemas.openxmlformats.org/drawingml/2006/main" noGrp="1"/>
          </p:cNvSpPr>
          <p:nvPr/>
        </p:nvSpPr>
        <p:spPr>
          <a:xfrm xmlns:a="http://schemas.openxmlformats.org/drawingml/2006/main">
            <a:off x="1353312"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MEMIT · (1) 시계 부재 · 같은 편집의 대량 확장판</a:t>
            </a:r>
            <a:endParaRPr sz="1450"/>
          </a:p>
        </p:txBody>
      </p:sp>
      <p:sp>
        <p:nvSpPr>
          <p:cNvPr id="25" name="STC-28-refb-num-7">
            <a:extLst xmlns:a="http://schemas.openxmlformats.org/drawingml/2006/main">
              <a:ext uri="{FF2B5EF4-FFF2-40B4-BE49-F238E27FC236}">
                <a16:creationId xmlns:a16="http://schemas.microsoft.com/office/drawing/2014/main" id="{0C727DF6-D270-448C-962D-3F80CD90C1C1}"/>
              </a:ext>
            </a:extLst>
          </p:cNvPr>
          <p:cNvSpPr>
            <a:spLocks xmlns:a="http://schemas.openxmlformats.org/drawingml/2006/main" noGrp="1"/>
          </p:cNvSpPr>
          <p:nvPr/>
        </p:nvSpPr>
        <p:spPr>
          <a:xfrm xmlns:a="http://schemas.openxmlformats.org/drawingml/2006/main">
            <a:off x="6172200"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08</a:t>
            </a:r>
            <a:endParaRPr sz="950"/>
          </a:p>
        </p:txBody>
      </p:sp>
      <p:sp>
        <p:nvSpPr>
          <p:cNvPr id="26" name="STC-28-refb-text-7">
            <a:extLst xmlns:a="http://schemas.openxmlformats.org/drawingml/2006/main">
              <a:ext uri="{FF2B5EF4-FFF2-40B4-BE49-F238E27FC236}">
                <a16:creationId xmlns:a16="http://schemas.microsoft.com/office/drawing/2014/main" id="{6ABBC0D7-76E2-4001-AF28-E7845303A12C}"/>
              </a:ext>
            </a:extLst>
          </p:cNvPr>
          <p:cNvSpPr>
            <a:spLocks xmlns:a="http://schemas.openxmlformats.org/drawingml/2006/main" noGrp="1"/>
          </p:cNvSpPr>
          <p:nvPr/>
        </p:nvSpPr>
        <p:spPr>
          <a:xfrm xmlns:a="http://schemas.openxmlformats.org/drawingml/2006/main">
            <a:off x="6684264"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RAG · (2) · ĉ가 항등사상. 저장 전 추론 없음</a:t>
            </a:r>
            <a:endParaRPr sz="1450"/>
          </a:p>
        </p:txBody>
      </p:sp>
      <p:sp>
        <p:nvSpPr>
          <p:cNvPr id="27" name="STC-28-refb-num-8">
            <a:extLst xmlns:a="http://schemas.openxmlformats.org/drawingml/2006/main">
              <a:ext uri="{FF2B5EF4-FFF2-40B4-BE49-F238E27FC236}">
                <a16:creationId xmlns:a16="http://schemas.microsoft.com/office/drawing/2014/main" id="{46D8B90C-45DB-42B5-9A1F-613BD1E09381}"/>
              </a:ext>
            </a:extLst>
          </p:cNvPr>
          <p:cNvSpPr>
            <a:spLocks xmlns:a="http://schemas.openxmlformats.org/drawingml/2006/main" noGrp="1"/>
          </p:cNvSpPr>
          <p:nvPr/>
        </p:nvSpPr>
        <p:spPr>
          <a:xfrm xmlns:a="http://schemas.openxmlformats.org/drawingml/2006/main">
            <a:off x="6172200"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09</a:t>
            </a:r>
            <a:endParaRPr sz="950"/>
          </a:p>
        </p:txBody>
      </p:sp>
      <p:sp>
        <p:nvSpPr>
          <p:cNvPr id="28" name="STC-28-refb-text-8">
            <a:extLst xmlns:a="http://schemas.openxmlformats.org/drawingml/2006/main">
              <a:ext uri="{FF2B5EF4-FFF2-40B4-BE49-F238E27FC236}">
                <a16:creationId xmlns:a16="http://schemas.microsoft.com/office/drawing/2014/main" id="{003CD728-1E52-42E5-9F36-C29B9239D4CC}"/>
              </a:ext>
            </a:extLst>
          </p:cNvPr>
          <p:cNvSpPr>
            <a:spLocks xmlns:a="http://schemas.openxmlformats.org/drawingml/2006/main" noGrp="1"/>
          </p:cNvSpPr>
          <p:nvPr/>
        </p:nvSpPr>
        <p:spPr>
          <a:xfrm xmlns:a="http://schemas.openxmlformats.org/drawingml/2006/main">
            <a:off x="6684264"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Memorizing Transformers · (1)(2) · forward 중 (k,v) 캐시 적재</a:t>
            </a:r>
            <a:endParaRPr sz="1450"/>
          </a:p>
        </p:txBody>
      </p:sp>
      <p:sp>
        <p:nvSpPr>
          <p:cNvPr id="29" name="STC-28-refb-num-9">
            <a:extLst xmlns:a="http://schemas.openxmlformats.org/drawingml/2006/main">
              <a:ext uri="{FF2B5EF4-FFF2-40B4-BE49-F238E27FC236}">
                <a16:creationId xmlns:a16="http://schemas.microsoft.com/office/drawing/2014/main" id="{E50879DA-7E54-4351-AAFB-A472A2D62D47}"/>
              </a:ext>
            </a:extLst>
          </p:cNvPr>
          <p:cNvSpPr>
            <a:spLocks xmlns:a="http://schemas.openxmlformats.org/drawingml/2006/main" noGrp="1"/>
          </p:cNvSpPr>
          <p:nvPr/>
        </p:nvSpPr>
        <p:spPr>
          <a:xfrm xmlns:a="http://schemas.openxmlformats.org/drawingml/2006/main">
            <a:off x="6172200"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10</a:t>
            </a:r>
            <a:endParaRPr sz="950"/>
          </a:p>
        </p:txBody>
      </p:sp>
      <p:sp>
        <p:nvSpPr>
          <p:cNvPr id="30" name="STC-28-refb-text-9">
            <a:extLst xmlns:a="http://schemas.openxmlformats.org/drawingml/2006/main">
              <a:ext uri="{FF2B5EF4-FFF2-40B4-BE49-F238E27FC236}">
                <a16:creationId xmlns:a16="http://schemas.microsoft.com/office/drawing/2014/main" id="{DD60628D-B747-4D5D-8801-DA792659E4A9}"/>
              </a:ext>
            </a:extLst>
          </p:cNvPr>
          <p:cNvSpPr>
            <a:spLocks xmlns:a="http://schemas.openxmlformats.org/drawingml/2006/main" noGrp="1"/>
          </p:cNvSpPr>
          <p:nvPr/>
        </p:nvSpPr>
        <p:spPr>
          <a:xfrm xmlns:a="http://schemas.openxmlformats.org/drawingml/2006/main">
            <a:off x="6684264"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시계 부재 셋 · LoRA·ROME·MEMIT — 쓰기 primitive의 지위를 준다</a:t>
            </a:r>
            <a:endParaRPr sz="1450"/>
          </a:p>
        </p:txBody>
      </p:sp>
      <p:sp>
        <p:nvSpPr>
          <p:cNvPr id="31" name="STC-28-refb-num-10">
            <a:extLst xmlns:a="http://schemas.openxmlformats.org/drawingml/2006/main">
              <a:ext uri="{FF2B5EF4-FFF2-40B4-BE49-F238E27FC236}">
                <a16:creationId xmlns:a16="http://schemas.microsoft.com/office/drawing/2014/main" id="{621784A3-6CCA-4390-AAAE-DAE20BA4FC10}"/>
              </a:ext>
            </a:extLst>
          </p:cNvPr>
          <p:cNvSpPr>
            <a:spLocks xmlns:a="http://schemas.openxmlformats.org/drawingml/2006/main" noGrp="1"/>
          </p:cNvSpPr>
          <p:nvPr/>
        </p:nvSpPr>
        <p:spPr>
          <a:xfrm xmlns:a="http://schemas.openxmlformats.org/drawingml/2006/main">
            <a:off x="6172200"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11</a:t>
            </a:r>
            <a:endParaRPr sz="950"/>
          </a:p>
        </p:txBody>
      </p:sp>
      <p:sp>
        <p:nvSpPr>
          <p:cNvPr id="32" name="STC-28-refb-text-10">
            <a:extLst xmlns:a="http://schemas.openxmlformats.org/drawingml/2006/main">
              <a:ext uri="{FF2B5EF4-FFF2-40B4-BE49-F238E27FC236}">
                <a16:creationId xmlns:a16="http://schemas.microsoft.com/office/drawing/2014/main" id="{FABF21B0-6A68-4112-9368-A2454370B25E}"/>
              </a:ext>
            </a:extLst>
          </p:cNvPr>
          <p:cNvSpPr>
            <a:spLocks xmlns:a="http://schemas.openxmlformats.org/drawingml/2006/main" noGrp="1"/>
          </p:cNvSpPr>
          <p:nvPr/>
        </p:nvSpPr>
        <p:spPr>
          <a:xfrm xmlns:a="http://schemas.openxmlformats.org/drawingml/2006/main">
            <a:off x="6684264"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탈락 (1) 최다 · 질의 전이 아니라는 이유가 가장 많다</a:t>
            </a:r>
            <a:endParaRPr sz="1450"/>
          </a:p>
        </p:txBody>
      </p:sp>
      <p:sp>
        <p:nvSpPr>
          <p:cNvPr id="33" name="STC-28-refb-num-11">
            <a:extLst xmlns:a="http://schemas.openxmlformats.org/drawingml/2006/main">
              <a:ext uri="{FF2B5EF4-FFF2-40B4-BE49-F238E27FC236}">
                <a16:creationId xmlns:a16="http://schemas.microsoft.com/office/drawing/2014/main" id="{423ABCE3-5695-4AB3-81A5-58F7E28EC50F}"/>
              </a:ext>
            </a:extLst>
          </p:cNvPr>
          <p:cNvSpPr>
            <a:spLocks xmlns:a="http://schemas.openxmlformats.org/drawingml/2006/main" noGrp="1"/>
          </p:cNvSpPr>
          <p:nvPr/>
        </p:nvSpPr>
        <p:spPr>
          <a:xfrm xmlns:a="http://schemas.openxmlformats.org/drawingml/2006/main">
            <a:off x="6172200"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12</a:t>
            </a:r>
            <a:endParaRPr sz="950"/>
          </a:p>
        </p:txBody>
      </p:sp>
      <p:sp>
        <p:nvSpPr>
          <p:cNvPr id="34" name="STC-28-refb-text-11">
            <a:extLst xmlns:a="http://schemas.openxmlformats.org/drawingml/2006/main">
              <a:ext uri="{FF2B5EF4-FFF2-40B4-BE49-F238E27FC236}">
                <a16:creationId xmlns:a16="http://schemas.microsoft.com/office/drawing/2014/main" id="{FA387B96-278D-49D2-8FD0-388CA7D54831}"/>
              </a:ext>
            </a:extLst>
          </p:cNvPr>
          <p:cNvSpPr>
            <a:spLocks xmlns:a="http://schemas.openxmlformats.org/drawingml/2006/main" noGrp="1"/>
          </p:cNvSpPr>
          <p:nvPr/>
        </p:nvSpPr>
        <p:spPr>
          <a:xfrm xmlns:a="http://schemas.openxmlformats.org/drawingml/2006/main">
            <a:off x="6684264"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탈락 (2) · 저장 전에 추론이 없는 두 편</a:t>
            </a:r>
            <a:endParaRPr sz="1450"/>
          </a:p>
        </p:txBody>
      </p:sp>
      <p:sp>
        <p:nvSpPr>
          <p:cNvPr id="35" name="STC-28-refb-num-12">
            <a:extLst xmlns:a="http://schemas.openxmlformats.org/drawingml/2006/main">
              <a:ext uri="{FF2B5EF4-FFF2-40B4-BE49-F238E27FC236}">
                <a16:creationId xmlns:a16="http://schemas.microsoft.com/office/drawing/2014/main" id="{7C5C649A-B264-49EE-9C56-322B681FB7B0}"/>
              </a:ext>
            </a:extLst>
          </p:cNvPr>
          <p:cNvSpPr>
            <a:spLocks xmlns:a="http://schemas.openxmlformats.org/drawingml/2006/main" noGrp="1"/>
          </p:cNvSpPr>
          <p:nvPr/>
        </p:nvSpPr>
        <p:spPr>
          <a:xfrm xmlns:a="http://schemas.openxmlformats.org/drawingml/2006/main">
            <a:off x="6172200"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13</a:t>
            </a:r>
            <a:endParaRPr sz="950"/>
          </a:p>
        </p:txBody>
      </p:sp>
      <p:sp>
        <p:nvSpPr>
          <p:cNvPr id="36" name="STC-28-refb-text-12">
            <a:extLst xmlns:a="http://schemas.openxmlformats.org/drawingml/2006/main">
              <a:ext uri="{FF2B5EF4-FFF2-40B4-BE49-F238E27FC236}">
                <a16:creationId xmlns:a16="http://schemas.microsoft.com/office/drawing/2014/main" id="{075599F4-BF6A-4D49-BD32-E54FFCC6CDF5}"/>
              </a:ext>
            </a:extLst>
          </p:cNvPr>
          <p:cNvSpPr>
            <a:spLocks xmlns:a="http://schemas.openxmlformats.org/drawingml/2006/main" noGrp="1"/>
          </p:cNvSpPr>
          <p:nvPr/>
        </p:nvSpPr>
        <p:spPr>
          <a:xfrm xmlns:a="http://schemas.openxmlformats.org/drawingml/2006/main">
            <a:off x="6684264"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탈락 (3) · 상태가 아니라 읽기를 바꾼 두 편</a:t>
            </a:r>
            <a:endParaRPr sz="1450"/>
          </a:p>
        </p:txBody>
      </p:sp>
      <p:sp>
        <p:nvSpPr>
          <p:cNvPr id="37" name="STC-28-refb-num-13">
            <a:extLst xmlns:a="http://schemas.openxmlformats.org/drawingml/2006/main">
              <a:ext uri="{FF2B5EF4-FFF2-40B4-BE49-F238E27FC236}">
                <a16:creationId xmlns:a16="http://schemas.microsoft.com/office/drawing/2014/main" id="{22F839F5-4574-40A5-8CD5-258A84D7F4AE}"/>
              </a:ext>
            </a:extLst>
          </p:cNvPr>
          <p:cNvSpPr>
            <a:spLocks xmlns:a="http://schemas.openxmlformats.org/drawingml/2006/main" noGrp="1"/>
          </p:cNvSpPr>
          <p:nvPr/>
        </p:nvSpPr>
        <p:spPr>
          <a:xfrm xmlns:a="http://schemas.openxmlformats.org/drawingml/2006/main">
            <a:off x="6172200"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14</a:t>
            </a:r>
            <a:endParaRPr sz="950"/>
          </a:p>
        </p:txBody>
      </p:sp>
      <p:sp>
        <p:nvSpPr>
          <p:cNvPr id="38" name="STC-28-refb-text-13">
            <a:extLst xmlns:a="http://schemas.openxmlformats.org/drawingml/2006/main">
              <a:ext uri="{FF2B5EF4-FFF2-40B4-BE49-F238E27FC236}">
                <a16:creationId xmlns:a16="http://schemas.microsoft.com/office/drawing/2014/main" id="{79E1BA22-9F12-45B8-AD2D-27DBAC767625}"/>
              </a:ext>
            </a:extLst>
          </p:cNvPr>
          <p:cNvSpPr>
            <a:spLocks xmlns:a="http://schemas.openxmlformats.org/drawingml/2006/main" noGrp="1"/>
          </p:cNvSpPr>
          <p:nvPr/>
        </p:nvSpPr>
        <p:spPr>
          <a:xfrm xmlns:a="http://schemas.openxmlformats.org/drawingml/2006/main">
            <a:off x="6684264"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쓸모 · 용량 실측·천장 차수·반증 축을 공급한다</a:t>
            </a:r>
            <a:endParaRPr sz="1450"/>
          </a:p>
        </p:txBody>
      </p:sp>
      <p:sp>
        <p:nvSpPr>
          <p:cNvPr id="39" name="STC-28-refb-boundary">
            <a:extLst xmlns:a="http://schemas.openxmlformats.org/drawingml/2006/main">
              <a:ext uri="{FF2B5EF4-FFF2-40B4-BE49-F238E27FC236}">
                <a16:creationId xmlns:a16="http://schemas.microsoft.com/office/drawing/2014/main" id="{6137E2DB-ECF3-4B65-A1BB-AF6F9CF09DA4}"/>
              </a:ext>
            </a:extLst>
          </p:cNvPr>
          <p:cNvSpPr>
            <a:spLocks xmlns:a="http://schemas.openxmlformats.org/drawingml/2006/main" noGrp="1"/>
          </p:cNvSpPr>
          <p:nvPr/>
        </p:nvSpPr>
        <p:spPr>
          <a:xfrm xmlns:a="http://schemas.openxmlformats.org/drawingml/2006/main">
            <a:off x="1664208" y="5650992"/>
            <a:ext cx="8869680" cy="39319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40" name="STC-28-refb-boundary-text">
            <a:extLst xmlns:a="http://schemas.openxmlformats.org/drawingml/2006/main">
              <a:ext uri="{FF2B5EF4-FFF2-40B4-BE49-F238E27FC236}">
                <a16:creationId xmlns:a16="http://schemas.microsoft.com/office/drawing/2014/main" id="{372D850E-B084-4BDF-B840-981137D83682}"/>
              </a:ext>
            </a:extLst>
          </p:cNvPr>
          <p:cNvSpPr>
            <a:spLocks xmlns:a="http://schemas.openxmlformats.org/drawingml/2006/main" noGrp="1"/>
          </p:cNvSpPr>
          <p:nvPr/>
        </p:nvSpPr>
        <p:spPr>
          <a:xfrm xmlns:a="http://schemas.openxmlformats.org/drawingml/2006/main">
            <a:off x="1901952" y="5769864"/>
            <a:ext cx="839419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b="1">
                <a:solidFill>
                  <a:srgbClr val="FFFFFF"/>
                </a:solidFill>
                <a:latin typeface="Noto Sans Mono CJK KR"/>
                <a:ea typeface="Noto Sans Mono CJK KR"/>
                <a:cs typeface="Noto Sans Mono CJK KR"/>
              </a:rPr>
              <a:t>(1)(4) · 시계가 토큰, 문맥 끝나면 소멸</a:t>
            </a:r>
            <a:endParaRPr sz="1050"/>
          </a:p>
        </p:txBody>
      </p:sp>
    </p:spTree>
    <p:extLst>
      <p:ext uri="{BB962C8B-B14F-4D97-AF65-F5344CB8AC3E}">
        <p14:creationId xmlns:p14="http://schemas.microsoft.com/office/powerpoint/2010/main" val="2092040528"/>
      </p:ext>
    </p:extLst>
  </p:cSld>
</p:sld>
</file>

<file path=ppt/slides/slide41.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8-section">
            <a:extLst xmlns:a="http://schemas.openxmlformats.org/drawingml/2006/main">
              <a:ext uri="{FF2B5EF4-FFF2-40B4-BE49-F238E27FC236}">
                <a16:creationId xmlns:a16="http://schemas.microsoft.com/office/drawing/2014/main" id="{38FCD26C-6C12-44CF-8CD7-4267D96F198F}"/>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DISCRIMINANT</a:t>
            </a:r>
            <a:endParaRPr sz="950"/>
          </a:p>
        </p:txBody>
      </p:sp>
      <p:sp>
        <p:nvSpPr>
          <p:cNvPr id="3" name="STC-28-slide-id">
            <a:extLst xmlns:a="http://schemas.openxmlformats.org/drawingml/2006/main">
              <a:ext uri="{FF2B5EF4-FFF2-40B4-BE49-F238E27FC236}">
                <a16:creationId xmlns:a16="http://schemas.microsoft.com/office/drawing/2014/main" id="{6A71C3FC-3B13-4A28-97D6-67C2759E91C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STC-041</a:t>
            </a:r>
            <a:endParaRPr sz="950"/>
          </a:p>
        </p:txBody>
      </p:sp>
      <p:sp>
        <p:nvSpPr>
          <p:cNvPr id="4" name="STC-28-headline">
            <a:extLst xmlns:a="http://schemas.openxmlformats.org/drawingml/2006/main">
              <a:ext uri="{FF2B5EF4-FFF2-40B4-BE49-F238E27FC236}">
                <a16:creationId xmlns:a16="http://schemas.microsoft.com/office/drawing/2014/main" id="{5A71EE62-05C8-4CE0-91E4-63D515E2CB75}"/>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17191C"/>
                </a:solidFill>
                <a:latin typeface="Noto Sans CJK KR"/>
                <a:ea typeface="Noto Sans CJK KR"/>
                <a:cs typeface="Noto Sans CJK KR"/>
              </a:rPr>
              <a:t>C군 — 판정 대상이 아니지만 증거가 되는 열 편</a:t>
            </a:r>
            <a:endParaRPr sz="2800"/>
          </a:p>
        </p:txBody>
      </p:sp>
      <p:sp>
        <p:nvSpPr>
          <p:cNvPr id="5" name="STC-28-status-label">
            <a:extLst xmlns:a="http://schemas.openxmlformats.org/drawingml/2006/main">
              <a:ext uri="{FF2B5EF4-FFF2-40B4-BE49-F238E27FC236}">
                <a16:creationId xmlns:a16="http://schemas.microsoft.com/office/drawing/2014/main" id="{6E72FC80-4CD3-46F0-9E39-2D524CABE32C}"/>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44E8A"/>
                </a:solidFill>
                <a:latin typeface="Noto Sans Mono CJK KR"/>
                <a:ea typeface="Noto Sans Mono CJK KR"/>
                <a:cs typeface="Noto Sans Mono CJK KR"/>
              </a:rPr>
              <a:t>배경 문헌</a:t>
            </a:r>
            <a:endParaRPr sz="1000"/>
          </a:p>
        </p:txBody>
      </p:sp>
      <p:sp>
        <p:nvSpPr>
          <p:cNvPr id="6" name="STC-28-status-rule">
            <a:extLst xmlns:a="http://schemas.openxmlformats.org/drawingml/2006/main">
              <a:ext uri="{FF2B5EF4-FFF2-40B4-BE49-F238E27FC236}">
                <a16:creationId xmlns:a16="http://schemas.microsoft.com/office/drawing/2014/main" id="{381AABF8-3E35-422A-9B66-BD2E60850212}"/>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44E8A"/>
            </a:solidFill>
            <a:prstDash val="solid"/>
            <a:tailEnd type="none"/>
          </a:ln>
        </p:spPr>
      </p:sp>
      <p:sp>
        <p:nvSpPr>
          <p:cNvPr id="7" name="STC-28-footer-rule">
            <a:extLst xmlns:a="http://schemas.openxmlformats.org/drawingml/2006/main">
              <a:ext uri="{FF2B5EF4-FFF2-40B4-BE49-F238E27FC236}">
                <a16:creationId xmlns:a16="http://schemas.microsoft.com/office/drawing/2014/main" id="{15C701C2-A052-4584-B4CD-2B50899B0C87}"/>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8-source-footer">
            <a:extLst xmlns:a="http://schemas.openxmlformats.org/drawingml/2006/main">
              <a:ext uri="{FF2B5EF4-FFF2-40B4-BE49-F238E27FC236}">
                <a16:creationId xmlns:a16="http://schemas.microsoft.com/office/drawing/2014/main" id="{DFB90BE2-907D-4C66-A463-DE17189AD77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표 11-3</a:t>
            </a:r>
            <a:endParaRPr sz="850"/>
          </a:p>
        </p:txBody>
      </p:sp>
      <p:sp>
        <p:nvSpPr>
          <p:cNvPr id="9" name="STC-28-page-number">
            <a:extLst xmlns:a="http://schemas.openxmlformats.org/drawingml/2006/main">
              <a:ext uri="{FF2B5EF4-FFF2-40B4-BE49-F238E27FC236}">
                <a16:creationId xmlns:a16="http://schemas.microsoft.com/office/drawing/2014/main" id="{83FCB4BE-56BD-44FC-B01A-FE557431420A}"/>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41</a:t>
            </a:r>
            <a:endParaRPr sz="850"/>
          </a:p>
        </p:txBody>
      </p:sp>
      <p:sp>
        <p:nvSpPr>
          <p:cNvPr id="11" name="STC-28-refb-num-0">
            <a:extLst xmlns:a="http://schemas.openxmlformats.org/drawingml/2006/main">
              <a:ext uri="{FF2B5EF4-FFF2-40B4-BE49-F238E27FC236}">
                <a16:creationId xmlns:a16="http://schemas.microsoft.com/office/drawing/2014/main" id="{A9E3672A-22B8-4FD1-AF0A-CD6431C1CDF5}"/>
              </a:ext>
            </a:extLst>
          </p:cNvPr>
          <p:cNvSpPr>
            <a:spLocks xmlns:a="http://schemas.openxmlformats.org/drawingml/2006/main" noGrp="1"/>
          </p:cNvSpPr>
          <p:nvPr/>
        </p:nvSpPr>
        <p:spPr>
          <a:xfrm xmlns:a="http://schemas.openxmlformats.org/drawingml/2006/main">
            <a:off x="841248"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01</a:t>
            </a:r>
            <a:endParaRPr sz="950"/>
          </a:p>
        </p:txBody>
      </p:sp>
      <p:sp>
        <p:nvSpPr>
          <p:cNvPr id="12" name="STC-28-refb-text-0">
            <a:extLst xmlns:a="http://schemas.openxmlformats.org/drawingml/2006/main">
              <a:ext uri="{FF2B5EF4-FFF2-40B4-BE49-F238E27FC236}">
                <a16:creationId xmlns:a16="http://schemas.microsoft.com/office/drawing/2014/main" id="{73D96B02-EBDC-4045-B33F-7D0B788D5032}"/>
              </a:ext>
            </a:extLst>
          </p:cNvPr>
          <p:cNvSpPr>
            <a:spLocks xmlns:a="http://schemas.openxmlformats.org/drawingml/2006/main" noGrp="1"/>
          </p:cNvSpPr>
          <p:nvPr/>
        </p:nvSpPr>
        <p:spPr>
          <a:xfrm xmlns:a="http://schemas.openxmlformats.org/drawingml/2006/main">
            <a:off x="1353312"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EWC · 지속학습 일반 · 망각 대응의 원형</a:t>
            </a:r>
            <a:endParaRPr sz="1450"/>
          </a:p>
        </p:txBody>
      </p:sp>
      <p:sp>
        <p:nvSpPr>
          <p:cNvPr id="13" name="STC-28-refb-num-1">
            <a:extLst xmlns:a="http://schemas.openxmlformats.org/drawingml/2006/main">
              <a:ext uri="{FF2B5EF4-FFF2-40B4-BE49-F238E27FC236}">
                <a16:creationId xmlns:a16="http://schemas.microsoft.com/office/drawing/2014/main" id="{592C164C-E030-4739-A0A1-E046FC00C259}"/>
              </a:ext>
            </a:extLst>
          </p:cNvPr>
          <p:cNvSpPr>
            <a:spLocks xmlns:a="http://schemas.openxmlformats.org/drawingml/2006/main" noGrp="1"/>
          </p:cNvSpPr>
          <p:nvPr/>
        </p:nvSpPr>
        <p:spPr>
          <a:xfrm xmlns:a="http://schemas.openxmlformats.org/drawingml/2006/main">
            <a:off x="841248"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02</a:t>
            </a:r>
            <a:endParaRPr sz="950"/>
          </a:p>
        </p:txBody>
      </p:sp>
      <p:sp>
        <p:nvSpPr>
          <p:cNvPr id="14" name="STC-28-refb-text-1">
            <a:extLst xmlns:a="http://schemas.openxmlformats.org/drawingml/2006/main">
              <a:ext uri="{FF2B5EF4-FFF2-40B4-BE49-F238E27FC236}">
                <a16:creationId xmlns:a16="http://schemas.microsoft.com/office/drawing/2014/main" id="{6827CF69-172C-4418-BA31-264E74CB0A71}"/>
              </a:ext>
            </a:extLst>
          </p:cNvPr>
          <p:cNvSpPr>
            <a:spLocks xmlns:a="http://schemas.openxmlformats.org/drawingml/2006/main" noGrp="1"/>
          </p:cNvSpPr>
          <p:nvPr/>
        </p:nvSpPr>
        <p:spPr>
          <a:xfrm xmlns:a="http://schemas.openxmlformats.org/drawingml/2006/main">
            <a:off x="1353312"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Deep Generative Replay · replay의 원형</a:t>
            </a:r>
            <a:endParaRPr sz="1450"/>
          </a:p>
        </p:txBody>
      </p:sp>
      <p:sp>
        <p:nvSpPr>
          <p:cNvPr id="15" name="STC-28-refb-num-2">
            <a:extLst xmlns:a="http://schemas.openxmlformats.org/drawingml/2006/main">
              <a:ext uri="{FF2B5EF4-FFF2-40B4-BE49-F238E27FC236}">
                <a16:creationId xmlns:a16="http://schemas.microsoft.com/office/drawing/2014/main" id="{46BAE1D1-9D98-472E-9618-BD4F36CBAB2C}"/>
              </a:ext>
            </a:extLst>
          </p:cNvPr>
          <p:cNvSpPr>
            <a:spLocks xmlns:a="http://schemas.openxmlformats.org/drawingml/2006/main" noGrp="1"/>
          </p:cNvSpPr>
          <p:nvPr/>
        </p:nvSpPr>
        <p:spPr>
          <a:xfrm xmlns:a="http://schemas.openxmlformats.org/drawingml/2006/main">
            <a:off x="841248"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03</a:t>
            </a:r>
            <a:endParaRPr sz="950"/>
          </a:p>
        </p:txBody>
      </p:sp>
      <p:sp>
        <p:nvSpPr>
          <p:cNvPr id="16" name="STC-28-refb-text-2">
            <a:extLst xmlns:a="http://schemas.openxmlformats.org/drawingml/2006/main">
              <a:ext uri="{FF2B5EF4-FFF2-40B4-BE49-F238E27FC236}">
                <a16:creationId xmlns:a16="http://schemas.microsoft.com/office/drawing/2014/main" id="{8AB23C3E-B51C-4DDD-AD70-656E2327298D}"/>
              </a:ext>
            </a:extLst>
          </p:cNvPr>
          <p:cNvSpPr>
            <a:spLocks xmlns:a="http://schemas.openxmlformats.org/drawingml/2006/main" noGrp="1"/>
          </p:cNvSpPr>
          <p:nvPr/>
        </p:nvSpPr>
        <p:spPr>
          <a:xfrm xmlns:a="http://schemas.openxmlformats.org/drawingml/2006/main">
            <a:off x="1353312"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GEM · 성능행렬 Π의 출처</a:t>
            </a:r>
            <a:endParaRPr sz="1450"/>
          </a:p>
        </p:txBody>
      </p:sp>
      <p:sp>
        <p:nvSpPr>
          <p:cNvPr id="17" name="STC-28-refb-num-3">
            <a:extLst xmlns:a="http://schemas.openxmlformats.org/drawingml/2006/main">
              <a:ext uri="{FF2B5EF4-FFF2-40B4-BE49-F238E27FC236}">
                <a16:creationId xmlns:a16="http://schemas.microsoft.com/office/drawing/2014/main" id="{AD2C23C3-19B5-4931-8A2D-09E68901DA23}"/>
              </a:ext>
            </a:extLst>
          </p:cNvPr>
          <p:cNvSpPr>
            <a:spLocks xmlns:a="http://schemas.openxmlformats.org/drawingml/2006/main" noGrp="1"/>
          </p:cNvSpPr>
          <p:nvPr/>
        </p:nvSpPr>
        <p:spPr>
          <a:xfrm xmlns:a="http://schemas.openxmlformats.org/drawingml/2006/main">
            <a:off x="841248"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04</a:t>
            </a:r>
            <a:endParaRPr sz="950"/>
          </a:p>
        </p:txBody>
      </p:sp>
      <p:sp>
        <p:nvSpPr>
          <p:cNvPr id="18" name="STC-28-refb-text-3">
            <a:extLst xmlns:a="http://schemas.openxmlformats.org/drawingml/2006/main">
              <a:ext uri="{FF2B5EF4-FFF2-40B4-BE49-F238E27FC236}">
                <a16:creationId xmlns:a16="http://schemas.microsoft.com/office/drawing/2014/main" id="{9333E338-EF4B-4EEB-BCE8-8D680BD16B5D}"/>
              </a:ext>
            </a:extLst>
          </p:cNvPr>
          <p:cNvSpPr>
            <a:spLocks xmlns:a="http://schemas.openxmlformats.org/drawingml/2006/main" noGrp="1"/>
          </p:cNvSpPr>
          <p:nvPr/>
        </p:nvSpPr>
        <p:spPr>
          <a:xfrm xmlns:a="http://schemas.openxmlformats.org/drawingml/2006/main">
            <a:off x="1353312"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model collapse · 자기생성 데이터일 때 걸리는 제약</a:t>
            </a:r>
            <a:endParaRPr sz="1450"/>
          </a:p>
        </p:txBody>
      </p:sp>
      <p:sp>
        <p:nvSpPr>
          <p:cNvPr id="19" name="STC-28-refb-num-4">
            <a:extLst xmlns:a="http://schemas.openxmlformats.org/drawingml/2006/main">
              <a:ext uri="{FF2B5EF4-FFF2-40B4-BE49-F238E27FC236}">
                <a16:creationId xmlns:a16="http://schemas.microsoft.com/office/drawing/2014/main" id="{1E15AAF6-4750-45EE-A03F-1DC59364D3E5}"/>
              </a:ext>
            </a:extLst>
          </p:cNvPr>
          <p:cNvSpPr>
            <a:spLocks xmlns:a="http://schemas.openxmlformats.org/drawingml/2006/main" noGrp="1"/>
          </p:cNvSpPr>
          <p:nvPr/>
        </p:nvSpPr>
        <p:spPr>
          <a:xfrm xmlns:a="http://schemas.openxmlformats.org/drawingml/2006/main">
            <a:off x="841248"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05</a:t>
            </a:r>
            <a:endParaRPr sz="950"/>
          </a:p>
        </p:txBody>
      </p:sp>
      <p:sp>
        <p:nvSpPr>
          <p:cNvPr id="20" name="STC-28-refb-text-4">
            <a:extLst xmlns:a="http://schemas.openxmlformats.org/drawingml/2006/main">
              <a:ext uri="{FF2B5EF4-FFF2-40B4-BE49-F238E27FC236}">
                <a16:creationId xmlns:a16="http://schemas.microsoft.com/office/drawing/2014/main" id="{BE166349-AC22-429E-9D14-CDAFE2AD676B}"/>
              </a:ext>
            </a:extLst>
          </p:cNvPr>
          <p:cNvSpPr>
            <a:spLocks xmlns:a="http://schemas.openxmlformats.org/drawingml/2006/main" noGrp="1"/>
          </p:cNvSpPr>
          <p:nvPr/>
        </p:nvSpPr>
        <p:spPr>
          <a:xfrm xmlns:a="http://schemas.openxmlformats.org/drawingml/2006/main">
            <a:off x="1353312"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How much do LMs memorize · 용량 상한 이론. 3.64 bits/param</a:t>
            </a:r>
            <a:endParaRPr sz="1450"/>
          </a:p>
        </p:txBody>
      </p:sp>
      <p:sp>
        <p:nvSpPr>
          <p:cNvPr id="21" name="STC-28-refb-num-5">
            <a:extLst xmlns:a="http://schemas.openxmlformats.org/drawingml/2006/main">
              <a:ext uri="{FF2B5EF4-FFF2-40B4-BE49-F238E27FC236}">
                <a16:creationId xmlns:a16="http://schemas.microsoft.com/office/drawing/2014/main" id="{14A1CF6F-F410-4DC0-A538-64E6E15DD425}"/>
              </a:ext>
            </a:extLst>
          </p:cNvPr>
          <p:cNvSpPr>
            <a:spLocks xmlns:a="http://schemas.openxmlformats.org/drawingml/2006/main" noGrp="1"/>
          </p:cNvSpPr>
          <p:nvPr/>
        </p:nvSpPr>
        <p:spPr>
          <a:xfrm xmlns:a="http://schemas.openxmlformats.org/drawingml/2006/main">
            <a:off x="841248"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06</a:t>
            </a:r>
            <a:endParaRPr sz="950"/>
          </a:p>
        </p:txBody>
      </p:sp>
      <p:sp>
        <p:nvSpPr>
          <p:cNvPr id="22" name="STC-28-refb-text-5">
            <a:extLst xmlns:a="http://schemas.openxmlformats.org/drawingml/2006/main">
              <a:ext uri="{FF2B5EF4-FFF2-40B4-BE49-F238E27FC236}">
                <a16:creationId xmlns:a16="http://schemas.microsoft.com/office/drawing/2014/main" id="{316DBB8F-0966-4178-AA42-3DCCAA57F4E8}"/>
              </a:ext>
            </a:extLst>
          </p:cNvPr>
          <p:cNvSpPr>
            <a:spLocks xmlns:a="http://schemas.openxmlformats.org/drawingml/2006/main" noGrp="1"/>
          </p:cNvSpPr>
          <p:nvPr/>
        </p:nvSpPr>
        <p:spPr>
          <a:xfrm xmlns:a="http://schemas.openxmlformats.org/drawingml/2006/main">
            <a:off x="1353312"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LoRA as Knowledge Memory · 저랭크 쓰기의 용량 실측</a:t>
            </a:r>
            <a:endParaRPr sz="1450"/>
          </a:p>
        </p:txBody>
      </p:sp>
      <p:sp>
        <p:nvSpPr>
          <p:cNvPr id="23" name="STC-28-refb-num-6">
            <a:extLst xmlns:a="http://schemas.openxmlformats.org/drawingml/2006/main">
              <a:ext uri="{FF2B5EF4-FFF2-40B4-BE49-F238E27FC236}">
                <a16:creationId xmlns:a16="http://schemas.microsoft.com/office/drawing/2014/main" id="{127FECDE-8F42-43EB-9FE0-E111504E3910}"/>
              </a:ext>
            </a:extLst>
          </p:cNvPr>
          <p:cNvSpPr>
            <a:spLocks xmlns:a="http://schemas.openxmlformats.org/drawingml/2006/main" noGrp="1"/>
          </p:cNvSpPr>
          <p:nvPr/>
        </p:nvSpPr>
        <p:spPr>
          <a:xfrm xmlns:a="http://schemas.openxmlformats.org/drawingml/2006/main">
            <a:off x="841248"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07</a:t>
            </a:r>
            <a:endParaRPr sz="950"/>
          </a:p>
        </p:txBody>
      </p:sp>
      <p:sp>
        <p:nvSpPr>
          <p:cNvPr id="24" name="STC-28-refb-text-6">
            <a:extLst xmlns:a="http://schemas.openxmlformats.org/drawingml/2006/main">
              <a:ext uri="{FF2B5EF4-FFF2-40B4-BE49-F238E27FC236}">
                <a16:creationId xmlns:a16="http://schemas.microsoft.com/office/drawing/2014/main" id="{D1BB960C-E6DD-41C9-8486-7CE1BA7BF842}"/>
              </a:ext>
            </a:extLst>
          </p:cNvPr>
          <p:cNvSpPr>
            <a:spLocks xmlns:a="http://schemas.openxmlformats.org/drawingml/2006/main" noGrp="1"/>
          </p:cNvSpPr>
          <p:nvPr/>
        </p:nvSpPr>
        <p:spPr>
          <a:xfrm xmlns:a="http://schemas.openxmlformats.org/drawingml/2006/main">
            <a:off x="1353312"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Rate–Distortion Compaction · 무엇을 버릴 것인가의 이론</a:t>
            </a:r>
            <a:endParaRPr sz="1450"/>
          </a:p>
        </p:txBody>
      </p:sp>
      <p:sp>
        <p:nvSpPr>
          <p:cNvPr id="25" name="STC-28-refb-num-7">
            <a:extLst xmlns:a="http://schemas.openxmlformats.org/drawingml/2006/main">
              <a:ext uri="{FF2B5EF4-FFF2-40B4-BE49-F238E27FC236}">
                <a16:creationId xmlns:a16="http://schemas.microsoft.com/office/drawing/2014/main" id="{0C727DF6-D270-448C-962D-3F80CD90C1C1}"/>
              </a:ext>
            </a:extLst>
          </p:cNvPr>
          <p:cNvSpPr>
            <a:spLocks xmlns:a="http://schemas.openxmlformats.org/drawingml/2006/main" noGrp="1"/>
          </p:cNvSpPr>
          <p:nvPr/>
        </p:nvSpPr>
        <p:spPr>
          <a:xfrm xmlns:a="http://schemas.openxmlformats.org/drawingml/2006/main">
            <a:off x="6172200"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08</a:t>
            </a:r>
            <a:endParaRPr sz="950"/>
          </a:p>
        </p:txBody>
      </p:sp>
      <p:sp>
        <p:nvSpPr>
          <p:cNvPr id="26" name="STC-28-refb-text-7">
            <a:extLst xmlns:a="http://schemas.openxmlformats.org/drawingml/2006/main">
              <a:ext uri="{FF2B5EF4-FFF2-40B4-BE49-F238E27FC236}">
                <a16:creationId xmlns:a16="http://schemas.microsoft.com/office/drawing/2014/main" id="{6ABBC0D7-76E2-4001-AF28-E7845303A12C}"/>
              </a:ext>
            </a:extLst>
          </p:cNvPr>
          <p:cNvSpPr>
            <a:spLocks xmlns:a="http://schemas.openxmlformats.org/drawingml/2006/main" noGrp="1"/>
          </p:cNvSpPr>
          <p:nvPr/>
        </p:nvSpPr>
        <p:spPr>
          <a:xfrm xmlns:a="http://schemas.openxmlformats.org/drawingml/2006/main">
            <a:off x="6684264"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Can a LM Learn Facts Continually · Θ-경로의 반증 후보</a:t>
            </a:r>
            <a:endParaRPr sz="1450"/>
          </a:p>
        </p:txBody>
      </p:sp>
      <p:sp>
        <p:nvSpPr>
          <p:cNvPr id="27" name="STC-28-refb-num-8">
            <a:extLst xmlns:a="http://schemas.openxmlformats.org/drawingml/2006/main">
              <a:ext uri="{FF2B5EF4-FFF2-40B4-BE49-F238E27FC236}">
                <a16:creationId xmlns:a16="http://schemas.microsoft.com/office/drawing/2014/main" id="{46D8B90C-45DB-42B5-9A1F-613BD1E09381}"/>
              </a:ext>
            </a:extLst>
          </p:cNvPr>
          <p:cNvSpPr>
            <a:spLocks xmlns:a="http://schemas.openxmlformats.org/drawingml/2006/main" noGrp="1"/>
          </p:cNvSpPr>
          <p:nvPr/>
        </p:nvSpPr>
        <p:spPr>
          <a:xfrm xmlns:a="http://schemas.openxmlformats.org/drawingml/2006/main">
            <a:off x="6172200"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09</a:t>
            </a:r>
            <a:endParaRPr sz="950"/>
          </a:p>
        </p:txBody>
      </p:sp>
      <p:sp>
        <p:nvSpPr>
          <p:cNvPr id="28" name="STC-28-refb-text-8">
            <a:extLst xmlns:a="http://schemas.openxmlformats.org/drawingml/2006/main">
              <a:ext uri="{FF2B5EF4-FFF2-40B4-BE49-F238E27FC236}">
                <a16:creationId xmlns:a16="http://schemas.microsoft.com/office/drawing/2014/main" id="{003CD728-1E52-42E5-9F36-C29B9239D4CC}"/>
              </a:ext>
            </a:extLst>
          </p:cNvPr>
          <p:cNvSpPr>
            <a:spLocks xmlns:a="http://schemas.openxmlformats.org/drawingml/2006/main" noGrp="1"/>
          </p:cNvSpPr>
          <p:nvPr/>
        </p:nvSpPr>
        <p:spPr>
          <a:xfrm xmlns:a="http://schemas.openxmlformats.org/drawingml/2006/main">
            <a:off x="6684264"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Sleep prevents forgetting (PLOS) · 생물 실증</a:t>
            </a:r>
            <a:endParaRPr sz="1450"/>
          </a:p>
        </p:txBody>
      </p:sp>
      <p:sp>
        <p:nvSpPr>
          <p:cNvPr id="29" name="STC-28-refb-num-9">
            <a:extLst xmlns:a="http://schemas.openxmlformats.org/drawingml/2006/main">
              <a:ext uri="{FF2B5EF4-FFF2-40B4-BE49-F238E27FC236}">
                <a16:creationId xmlns:a16="http://schemas.microsoft.com/office/drawing/2014/main" id="{E50879DA-7E54-4351-AAFB-A472A2D62D47}"/>
              </a:ext>
            </a:extLst>
          </p:cNvPr>
          <p:cNvSpPr>
            <a:spLocks xmlns:a="http://schemas.openxmlformats.org/drawingml/2006/main" noGrp="1"/>
          </p:cNvSpPr>
          <p:nvPr/>
        </p:nvSpPr>
        <p:spPr>
          <a:xfrm xmlns:a="http://schemas.openxmlformats.org/drawingml/2006/main">
            <a:off x="6172200"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10</a:t>
            </a:r>
            <a:endParaRPr sz="950"/>
          </a:p>
        </p:txBody>
      </p:sp>
      <p:sp>
        <p:nvSpPr>
          <p:cNvPr id="30" name="STC-28-refb-text-9">
            <a:extLst xmlns:a="http://schemas.openxmlformats.org/drawingml/2006/main">
              <a:ext uri="{FF2B5EF4-FFF2-40B4-BE49-F238E27FC236}">
                <a16:creationId xmlns:a16="http://schemas.microsoft.com/office/drawing/2014/main" id="{DD60628D-B747-4D5D-8801-DA792659E4A9}"/>
              </a:ext>
            </a:extLst>
          </p:cNvPr>
          <p:cNvSpPr>
            <a:spLocks xmlns:a="http://schemas.openxmlformats.org/drawingml/2006/main" noGrp="1"/>
          </p:cNvSpPr>
          <p:nvPr/>
        </p:nvSpPr>
        <p:spPr>
          <a:xfrm xmlns:a="http://schemas.openxmlformats.org/drawingml/2006/main">
            <a:off x="6684264"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PAD (eLife) · 생물 실증 · dreaming</a:t>
            </a:r>
            <a:endParaRPr sz="1450"/>
          </a:p>
        </p:txBody>
      </p:sp>
      <p:sp>
        <p:nvSpPr>
          <p:cNvPr id="31" name="STC-28-refb-num-10">
            <a:extLst xmlns:a="http://schemas.openxmlformats.org/drawingml/2006/main">
              <a:ext uri="{FF2B5EF4-FFF2-40B4-BE49-F238E27FC236}">
                <a16:creationId xmlns:a16="http://schemas.microsoft.com/office/drawing/2014/main" id="{621784A3-6CCA-4390-AAAE-DAE20BA4FC10}"/>
              </a:ext>
            </a:extLst>
          </p:cNvPr>
          <p:cNvSpPr>
            <a:spLocks xmlns:a="http://schemas.openxmlformats.org/drawingml/2006/main" noGrp="1"/>
          </p:cNvSpPr>
          <p:nvPr/>
        </p:nvSpPr>
        <p:spPr>
          <a:xfrm xmlns:a="http://schemas.openxmlformats.org/drawingml/2006/main">
            <a:off x="6172200"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11</a:t>
            </a:r>
            <a:endParaRPr sz="950"/>
          </a:p>
        </p:txBody>
      </p:sp>
      <p:sp>
        <p:nvSpPr>
          <p:cNvPr id="32" name="STC-28-refb-text-10">
            <a:extLst xmlns:a="http://schemas.openxmlformats.org/drawingml/2006/main">
              <a:ext uri="{FF2B5EF4-FFF2-40B4-BE49-F238E27FC236}">
                <a16:creationId xmlns:a16="http://schemas.microsoft.com/office/drawing/2014/main" id="{FABF21B0-6A68-4112-9368-A2454370B25E}"/>
              </a:ext>
            </a:extLst>
          </p:cNvPr>
          <p:cNvSpPr>
            <a:spLocks xmlns:a="http://schemas.openxmlformats.org/drawingml/2006/main" noGrp="1"/>
          </p:cNvSpPr>
          <p:nvPr/>
        </p:nvSpPr>
        <p:spPr>
          <a:xfrm xmlns:a="http://schemas.openxmlformats.org/drawingml/2006/main">
            <a:off x="6684264"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어디에 쓰이나 ① · 3.64 bits/param → Θ 용량 회계의 분자</a:t>
            </a:r>
            <a:endParaRPr sz="1450"/>
          </a:p>
        </p:txBody>
      </p:sp>
      <p:sp>
        <p:nvSpPr>
          <p:cNvPr id="33" name="STC-28-refb-num-11">
            <a:extLst xmlns:a="http://schemas.openxmlformats.org/drawingml/2006/main">
              <a:ext uri="{FF2B5EF4-FFF2-40B4-BE49-F238E27FC236}">
                <a16:creationId xmlns:a16="http://schemas.microsoft.com/office/drawing/2014/main" id="{423ABCE3-5695-4AB3-81A5-58F7E28EC50F}"/>
              </a:ext>
            </a:extLst>
          </p:cNvPr>
          <p:cNvSpPr>
            <a:spLocks xmlns:a="http://schemas.openxmlformats.org/drawingml/2006/main" noGrp="1"/>
          </p:cNvSpPr>
          <p:nvPr/>
        </p:nvSpPr>
        <p:spPr>
          <a:xfrm xmlns:a="http://schemas.openxmlformats.org/drawingml/2006/main">
            <a:off x="6172200"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12</a:t>
            </a:r>
            <a:endParaRPr sz="950"/>
          </a:p>
        </p:txBody>
      </p:sp>
      <p:sp>
        <p:nvSpPr>
          <p:cNvPr id="34" name="STC-28-refb-text-11">
            <a:extLst xmlns:a="http://schemas.openxmlformats.org/drawingml/2006/main">
              <a:ext uri="{FF2B5EF4-FFF2-40B4-BE49-F238E27FC236}">
                <a16:creationId xmlns:a16="http://schemas.microsoft.com/office/drawing/2014/main" id="{FA387B96-278D-49D2-8FD0-388CA7D54831}"/>
              </a:ext>
            </a:extLst>
          </p:cNvPr>
          <p:cNvSpPr>
            <a:spLocks xmlns:a="http://schemas.openxmlformats.org/drawingml/2006/main" noGrp="1"/>
          </p:cNvSpPr>
          <p:nvPr/>
        </p:nvSpPr>
        <p:spPr>
          <a:xfrm xmlns:a="http://schemas.openxmlformats.org/drawingml/2006/main">
            <a:off x="6684264"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어디에 쓰이나 ② · model collapse → 반복 열화의 함수형</a:t>
            </a:r>
            <a:endParaRPr sz="1450"/>
          </a:p>
        </p:txBody>
      </p:sp>
      <p:sp>
        <p:nvSpPr>
          <p:cNvPr id="35" name="STC-28-refb-num-12">
            <a:extLst xmlns:a="http://schemas.openxmlformats.org/drawingml/2006/main">
              <a:ext uri="{FF2B5EF4-FFF2-40B4-BE49-F238E27FC236}">
                <a16:creationId xmlns:a16="http://schemas.microsoft.com/office/drawing/2014/main" id="{7C5C649A-B264-49EE-9C56-322B681FB7B0}"/>
              </a:ext>
            </a:extLst>
          </p:cNvPr>
          <p:cNvSpPr>
            <a:spLocks xmlns:a="http://schemas.openxmlformats.org/drawingml/2006/main" noGrp="1"/>
          </p:cNvSpPr>
          <p:nvPr/>
        </p:nvSpPr>
        <p:spPr>
          <a:xfrm xmlns:a="http://schemas.openxmlformats.org/drawingml/2006/main">
            <a:off x="6172200"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13</a:t>
            </a:r>
            <a:endParaRPr sz="950"/>
          </a:p>
        </p:txBody>
      </p:sp>
      <p:sp>
        <p:nvSpPr>
          <p:cNvPr id="36" name="STC-28-refb-text-12">
            <a:extLst xmlns:a="http://schemas.openxmlformats.org/drawingml/2006/main">
              <a:ext uri="{FF2B5EF4-FFF2-40B4-BE49-F238E27FC236}">
                <a16:creationId xmlns:a16="http://schemas.microsoft.com/office/drawing/2014/main" id="{075599F4-BF6A-4D49-BD32-E54FFCC6CDF5}"/>
              </a:ext>
            </a:extLst>
          </p:cNvPr>
          <p:cNvSpPr>
            <a:spLocks xmlns:a="http://schemas.openxmlformats.org/drawingml/2006/main" noGrp="1"/>
          </p:cNvSpPr>
          <p:nvPr/>
        </p:nvSpPr>
        <p:spPr>
          <a:xfrm xmlns:a="http://schemas.openxmlformats.org/drawingml/2006/main">
            <a:off x="6684264"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어디에 쓰이나 ③ · Continual Facts → 유일한 다라운드 증거</a:t>
            </a:r>
            <a:endParaRPr sz="1450"/>
          </a:p>
        </p:txBody>
      </p:sp>
      <p:sp>
        <p:nvSpPr>
          <p:cNvPr id="37" name="STC-28-refb-num-13">
            <a:extLst xmlns:a="http://schemas.openxmlformats.org/drawingml/2006/main">
              <a:ext uri="{FF2B5EF4-FFF2-40B4-BE49-F238E27FC236}">
                <a16:creationId xmlns:a16="http://schemas.microsoft.com/office/drawing/2014/main" id="{22F839F5-4574-40A5-8CD5-258A84D7F4AE}"/>
              </a:ext>
            </a:extLst>
          </p:cNvPr>
          <p:cNvSpPr>
            <a:spLocks xmlns:a="http://schemas.openxmlformats.org/drawingml/2006/main" noGrp="1"/>
          </p:cNvSpPr>
          <p:nvPr/>
        </p:nvSpPr>
        <p:spPr>
          <a:xfrm xmlns:a="http://schemas.openxmlformats.org/drawingml/2006/main">
            <a:off x="6172200"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14</a:t>
            </a:r>
            <a:endParaRPr sz="950"/>
          </a:p>
        </p:txBody>
      </p:sp>
      <p:sp>
        <p:nvSpPr>
          <p:cNvPr id="38" name="STC-28-refb-text-13">
            <a:extLst xmlns:a="http://schemas.openxmlformats.org/drawingml/2006/main">
              <a:ext uri="{FF2B5EF4-FFF2-40B4-BE49-F238E27FC236}">
                <a16:creationId xmlns:a16="http://schemas.microsoft.com/office/drawing/2014/main" id="{79E1BA22-9F12-45B8-AD2D-27DBAC767625}"/>
              </a:ext>
            </a:extLst>
          </p:cNvPr>
          <p:cNvSpPr>
            <a:spLocks xmlns:a="http://schemas.openxmlformats.org/drawingml/2006/main" noGrp="1"/>
          </p:cNvSpPr>
          <p:nvPr/>
        </p:nvSpPr>
        <p:spPr>
          <a:xfrm xmlns:a="http://schemas.openxmlformats.org/drawingml/2006/main">
            <a:off x="6684264"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어디에 쓰이나 ④ · 생물 두 편 → 은유의 담보 확인</a:t>
            </a:r>
            <a:endParaRPr sz="1450"/>
          </a:p>
        </p:txBody>
      </p:sp>
      <p:sp>
        <p:nvSpPr>
          <p:cNvPr id="39" name="STC-28-refb-boundary">
            <a:extLst xmlns:a="http://schemas.openxmlformats.org/drawingml/2006/main">
              <a:ext uri="{FF2B5EF4-FFF2-40B4-BE49-F238E27FC236}">
                <a16:creationId xmlns:a16="http://schemas.microsoft.com/office/drawing/2014/main" id="{6137E2DB-ECF3-4B65-A1BB-AF6F9CF09DA4}"/>
              </a:ext>
            </a:extLst>
          </p:cNvPr>
          <p:cNvSpPr>
            <a:spLocks xmlns:a="http://schemas.openxmlformats.org/drawingml/2006/main" noGrp="1"/>
          </p:cNvSpPr>
          <p:nvPr/>
        </p:nvSpPr>
        <p:spPr>
          <a:xfrm xmlns:a="http://schemas.openxmlformats.org/drawingml/2006/main">
            <a:off x="1664208" y="5650992"/>
            <a:ext cx="8869680" cy="39319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40" name="STC-28-refb-boundary-text">
            <a:extLst xmlns:a="http://schemas.openxmlformats.org/drawingml/2006/main">
              <a:ext uri="{FF2B5EF4-FFF2-40B4-BE49-F238E27FC236}">
                <a16:creationId xmlns:a16="http://schemas.microsoft.com/office/drawing/2014/main" id="{372D850E-B084-4BDF-B840-981137D83682}"/>
              </a:ext>
            </a:extLst>
          </p:cNvPr>
          <p:cNvSpPr>
            <a:spLocks xmlns:a="http://schemas.openxmlformats.org/drawingml/2006/main" noGrp="1"/>
          </p:cNvSpPr>
          <p:nvPr/>
        </p:nvSpPr>
        <p:spPr>
          <a:xfrm xmlns:a="http://schemas.openxmlformats.org/drawingml/2006/main">
            <a:off x="1901952" y="5769864"/>
            <a:ext cx="839419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b="1">
                <a:solidFill>
                  <a:srgbClr val="FFFFFF"/>
                </a:solidFill>
                <a:latin typeface="Noto Sans Mono CJK KR"/>
                <a:ea typeface="Noto Sans Mono CJK KR"/>
                <a:cs typeface="Noto Sans Mono CJK KR"/>
              </a:rPr>
              <a:t>지속학습 일반 · 망각 대응의 원형</a:t>
            </a:r>
            <a:endParaRPr sz="1050"/>
          </a:p>
        </p:txBody>
      </p:sp>
    </p:spTree>
    <p:extLst>
      <p:ext uri="{BB962C8B-B14F-4D97-AF65-F5344CB8AC3E}">
        <p14:creationId xmlns:p14="http://schemas.microsoft.com/office/powerpoint/2010/main" val="2092040528"/>
      </p:ext>
    </p:extLst>
  </p:cSld>
</p:sld>
</file>

<file path=ppt/slides/slide4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4-section">
            <a:extLst xmlns:a="http://schemas.openxmlformats.org/drawingml/2006/main">
              <a:ext uri="{FF2B5EF4-FFF2-40B4-BE49-F238E27FC236}">
                <a16:creationId xmlns:a16="http://schemas.microsoft.com/office/drawing/2014/main" id="{7616A92F-78D4-4389-9E54-208FF8DEBDB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DISCRIMINANT</a:t>
            </a:r>
            <a:endParaRPr sz="950"/>
          </a:p>
        </p:txBody>
      </p:sp>
      <p:sp>
        <p:nvSpPr>
          <p:cNvPr id="3" name="STC-24-slide-id">
            <a:extLst xmlns:a="http://schemas.openxmlformats.org/drawingml/2006/main">
              <a:ext uri="{FF2B5EF4-FFF2-40B4-BE49-F238E27FC236}">
                <a16:creationId xmlns:a16="http://schemas.microsoft.com/office/drawing/2014/main" id="{28DDB8DD-ED59-4F7A-ABD4-0014B78D57D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STC-042</a:t>
            </a:r>
            <a:endParaRPr sz="950"/>
          </a:p>
        </p:txBody>
      </p:sp>
      <p:sp>
        <p:nvSpPr>
          <p:cNvPr id="4" name="STC-24-headline">
            <a:extLst xmlns:a="http://schemas.openxmlformats.org/drawingml/2006/main">
              <a:ext uri="{FF2B5EF4-FFF2-40B4-BE49-F238E27FC236}">
                <a16:creationId xmlns:a16="http://schemas.microsoft.com/office/drawing/2014/main" id="{E96ED2A6-D5EC-48B5-A06B-512DF4A0B043}"/>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이름과 실제가 갈리는 다섯 사례</a:t>
            </a:r>
            <a:endParaRPr sz="3000"/>
          </a:p>
        </p:txBody>
      </p:sp>
      <p:sp>
        <p:nvSpPr>
          <p:cNvPr id="5" name="STC-24-status-label">
            <a:extLst xmlns:a="http://schemas.openxmlformats.org/drawingml/2006/main">
              <a:ext uri="{FF2B5EF4-FFF2-40B4-BE49-F238E27FC236}">
                <a16:creationId xmlns:a16="http://schemas.microsoft.com/office/drawing/2014/main" id="{DCDB577D-97D2-4F2A-B310-ED51E3EE9C5E}"/>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본서 판정</a:t>
            </a:r>
            <a:endParaRPr sz="1000"/>
          </a:p>
        </p:txBody>
      </p:sp>
      <p:sp>
        <p:nvSpPr>
          <p:cNvPr id="6" name="STC-24-status-rule">
            <a:extLst xmlns:a="http://schemas.openxmlformats.org/drawingml/2006/main">
              <a:ext uri="{FF2B5EF4-FFF2-40B4-BE49-F238E27FC236}">
                <a16:creationId xmlns:a16="http://schemas.microsoft.com/office/drawing/2014/main" id="{3683B797-60B5-480C-A301-49F30A60F273}"/>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24-footer-rule">
            <a:extLst xmlns:a="http://schemas.openxmlformats.org/drawingml/2006/main">
              <a:ext uri="{FF2B5EF4-FFF2-40B4-BE49-F238E27FC236}">
                <a16:creationId xmlns:a16="http://schemas.microsoft.com/office/drawing/2014/main" id="{6FA1EBBA-FD67-4ED0-A852-5338FC5CEF6C}"/>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4-source-footer">
            <a:extLst xmlns:a="http://schemas.openxmlformats.org/drawingml/2006/main">
              <a:ext uri="{FF2B5EF4-FFF2-40B4-BE49-F238E27FC236}">
                <a16:creationId xmlns:a16="http://schemas.microsoft.com/office/drawing/2014/main" id="{F4A5A94F-69E7-42F7-82C3-28BCCACC0D45}"/>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§11.4</a:t>
            </a:r>
            <a:endParaRPr sz="850"/>
          </a:p>
        </p:txBody>
      </p:sp>
      <p:sp>
        <p:nvSpPr>
          <p:cNvPr id="9" name="STC-24-page-number">
            <a:extLst xmlns:a="http://schemas.openxmlformats.org/drawingml/2006/main">
              <a:ext uri="{FF2B5EF4-FFF2-40B4-BE49-F238E27FC236}">
                <a16:creationId xmlns:a16="http://schemas.microsoft.com/office/drawing/2014/main" id="{0C67EAB4-410A-4712-B528-F9C4ACC0942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42</a:t>
            </a:r>
            <a:endParaRPr sz="850"/>
          </a:p>
        </p:txBody>
      </p:sp>
      <p:sp>
        <p:nvSpPr>
          <p:cNvPr id="11" name="STC-24-redteam-field">
            <a:extLst xmlns:a="http://schemas.openxmlformats.org/drawingml/2006/main">
              <a:ext uri="{FF2B5EF4-FFF2-40B4-BE49-F238E27FC236}">
                <a16:creationId xmlns:a16="http://schemas.microsoft.com/office/drawing/2014/main" id="{FE89799F-71D7-489E-B1FE-5C8044029419}"/>
              </a:ext>
            </a:extLst>
          </p:cNvPr>
          <p:cNvSpPr>
            <a:spLocks xmlns:a="http://schemas.openxmlformats.org/drawingml/2006/main" noGrp="1"/>
          </p:cNvSpPr>
          <p:nvPr/>
        </p:nvSpPr>
        <p:spPr>
          <a:xfrm xmlns:a="http://schemas.openxmlformats.org/drawingml/2006/main">
            <a:off x="777240" y="1581912"/>
            <a:ext cx="2852928" cy="4315968"/>
          </a:xfrm>
          <a:prstGeom xmlns:a="http://schemas.openxmlformats.org/drawingml/2006/main" prst="rect">
            <a:avLst/>
          </a:prstGeom>
          <a:solidFill xmlns:a="http://schemas.openxmlformats.org/drawingml/2006/main">
            <a:srgbClr val="9A442D"/>
          </a:solidFill>
          <a:ln xmlns:a="http://schemas.openxmlformats.org/drawingml/2006/main" w="12700">
            <a:solidFill>
              <a:srgbClr val="9A442D"/>
            </a:solidFill>
            <a:prstDash val="solid"/>
          </a:ln>
        </p:spPr>
      </p:sp>
      <p:sp>
        <p:nvSpPr>
          <p:cNvPr id="12" name="STC-24-redteam-31">
            <a:extLst xmlns:a="http://schemas.openxmlformats.org/drawingml/2006/main">
              <a:ext uri="{FF2B5EF4-FFF2-40B4-BE49-F238E27FC236}">
                <a16:creationId xmlns:a16="http://schemas.microsoft.com/office/drawing/2014/main" id="{76C36925-BB6F-431A-99F4-812FC8CEE5F1}"/>
              </a:ext>
            </a:extLst>
          </p:cNvPr>
          <p:cNvSpPr>
            <a:spLocks xmlns:a="http://schemas.openxmlformats.org/drawingml/2006/main" noGrp="1"/>
          </p:cNvSpPr>
          <p:nvPr/>
        </p:nvSpPr>
        <p:spPr>
          <a:xfrm xmlns:a="http://schemas.openxmlformats.org/drawingml/2006/main">
            <a:off x="1097280" y="1901952"/>
            <a:ext cx="2212848"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5200" b="1">
                <a:solidFill>
                  <a:srgbClr val="FFFFFF"/>
                </a:solidFill>
                <a:latin typeface="Noto Serif CJK KR"/>
                <a:ea typeface="Noto Serif CJK KR"/>
                <a:cs typeface="Noto Serif CJK KR"/>
              </a:rPr>
              <a:t>05</a:t>
            </a:r>
            <a:endParaRPr sz="5200"/>
          </a:p>
        </p:txBody>
      </p:sp>
      <p:sp>
        <p:nvSpPr>
          <p:cNvPr id="13" name="STC-24-redteam-findings">
            <a:extLst xmlns:a="http://schemas.openxmlformats.org/drawingml/2006/main">
              <a:ext uri="{FF2B5EF4-FFF2-40B4-BE49-F238E27FC236}">
                <a16:creationId xmlns:a16="http://schemas.microsoft.com/office/drawing/2014/main" id="{D5F13EAE-2C00-4FDE-BBDA-A4F17E21B35E}"/>
              </a:ext>
            </a:extLst>
          </p:cNvPr>
          <p:cNvSpPr>
            <a:spLocks xmlns:a="http://schemas.openxmlformats.org/drawingml/2006/main" noGrp="1"/>
          </p:cNvSpPr>
          <p:nvPr/>
        </p:nvSpPr>
        <p:spPr>
          <a:xfrm xmlns:a="http://schemas.openxmlformats.org/drawingml/2006/main">
            <a:off x="1097280" y="2816352"/>
            <a:ext cx="2212848"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000" b="1">
                <a:solidFill>
                  <a:srgbClr val="FFFFFF"/>
                </a:solidFill>
                <a:latin typeface="Noto Sans CJK KR"/>
                <a:ea typeface="Noto Sans CJK KR"/>
                <a:cs typeface="Noto Sans CJK KR"/>
              </a:rPr>
              <a:t>본서</a:t>
            </a:r>
            <a:endParaRPr sz="2000"/>
          </a:p>
          <a:p xmlns:a="http://schemas.openxmlformats.org/drawingml/2006/main">
            <a:pPr marL="0" indent="0" algn="ctr">
              <a:buNone/>
            </a:pPr>
            <a:r>
              <a:rPr sz="2000" b="1">
                <a:solidFill>
                  <a:srgbClr val="FFFFFF"/>
                </a:solidFill>
                <a:latin typeface="Noto Sans CJK KR"/>
                <a:ea typeface="Noto Sans CJK KR"/>
                <a:cs typeface="Noto Sans CJK KR"/>
              </a:rPr>
              <a:t>판정 FINDINGS</a:t>
            </a:r>
            <a:endParaRPr sz="2000"/>
          </a:p>
        </p:txBody>
      </p:sp>
      <p:sp>
        <p:nvSpPr>
          <p:cNvPr id="14" name="STC-24-redteam-rule">
            <a:extLst xmlns:a="http://schemas.openxmlformats.org/drawingml/2006/main">
              <a:ext uri="{FF2B5EF4-FFF2-40B4-BE49-F238E27FC236}">
                <a16:creationId xmlns:a16="http://schemas.microsoft.com/office/drawing/2014/main" id="{193B6418-9D2D-496E-BF27-2DF8AE1D1CED}"/>
              </a:ext>
            </a:extLst>
          </p:cNvPr>
          <p:cNvSpPr>
            <a:spLocks xmlns:a="http://schemas.openxmlformats.org/drawingml/2006/main" noGrp="1"/>
          </p:cNvSpPr>
          <p:nvPr/>
        </p:nvSpPr>
        <p:spPr>
          <a:xfrm xmlns:a="http://schemas.openxmlformats.org/drawingml/2006/main">
            <a:off x="1188720" y="3730752"/>
            <a:ext cx="2029968" cy="0"/>
          </a:xfrm>
          <a:prstGeom xmlns:a="http://schemas.openxmlformats.org/drawingml/2006/main" prst="line">
            <a:avLst/>
          </a:prstGeom>
          <a:noFill xmlns:a="http://schemas.openxmlformats.org/drawingml/2006/main"/>
          <a:ln xmlns:a="http://schemas.openxmlformats.org/drawingml/2006/main" w="12700">
            <a:solidFill>
              <a:srgbClr val="FFFFFF"/>
            </a:solidFill>
            <a:prstDash val="solid"/>
            <a:tailEnd type="none"/>
          </a:ln>
        </p:spPr>
      </p:sp>
      <p:sp>
        <p:nvSpPr>
          <p:cNvPr id="15" name="STC-24-redteam-domains">
            <a:extLst xmlns:a="http://schemas.openxmlformats.org/drawingml/2006/main">
              <a:ext uri="{FF2B5EF4-FFF2-40B4-BE49-F238E27FC236}">
                <a16:creationId xmlns:a16="http://schemas.microsoft.com/office/drawing/2014/main" id="{94EAAA44-BDF2-4DC5-83AA-ED7CFE049D6C}"/>
              </a:ext>
            </a:extLst>
          </p:cNvPr>
          <p:cNvSpPr>
            <a:spLocks xmlns:a="http://schemas.openxmlformats.org/drawingml/2006/main" noGrp="1"/>
          </p:cNvSpPr>
          <p:nvPr/>
        </p:nvSpPr>
        <p:spPr>
          <a:xfrm xmlns:a="http://schemas.openxmlformats.org/drawingml/2006/main">
            <a:off x="1188720" y="4005072"/>
            <a:ext cx="2029968"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a:solidFill>
                  <a:srgbClr val="FFFFFF"/>
                </a:solidFill>
                <a:latin typeface="Noto Sans Mono CJK KR"/>
                <a:ea typeface="Noto Sans Mono CJK KR"/>
                <a:cs typeface="Noto Sans Mono CJK KR"/>
              </a:rPr>
              <a:t>SCM</a:t>
            </a:r>
            <a:endParaRPr sz="1250"/>
          </a:p>
          <a:p xmlns:a="http://schemas.openxmlformats.org/drawingml/2006/main">
            <a:pPr marL="0" indent="0" algn="ctr">
              <a:buNone/>
            </a:pPr>
            <a:r>
              <a:rPr sz="1250">
                <a:solidFill>
                  <a:srgbClr val="FFFFFF"/>
                </a:solidFill>
                <a:latin typeface="Noto Sans Mono CJK KR"/>
                <a:ea typeface="Noto Sans Mono CJK KR"/>
                <a:cs typeface="Noto Sans Mono CJK KR"/>
              </a:rPr>
              <a:t>MemCaching</a:t>
            </a:r>
            <a:endParaRPr sz="1250"/>
          </a:p>
          <a:p xmlns:a="http://schemas.openxmlformats.org/drawingml/2006/main">
            <a:pPr marL="0" indent="0" algn="ctr">
              <a:buNone/>
            </a:pPr>
            <a:r>
              <a:rPr sz="1250">
                <a:solidFill>
                  <a:srgbClr val="FFFFFF"/>
                </a:solidFill>
                <a:latin typeface="Noto Sans Mono CJK KR"/>
                <a:ea typeface="Noto Sans Mono CJK KR"/>
                <a:cs typeface="Noto Sans Mono CJK KR"/>
              </a:rPr>
              <a:t>NestedLearn</a:t>
            </a:r>
            <a:endParaRPr sz="1250"/>
          </a:p>
          <a:p xmlns:a="http://schemas.openxmlformats.org/drawingml/2006/main">
            <a:pPr marL="0" indent="0" algn="ctr">
              <a:buNone/>
            </a:pPr>
            <a:r>
              <a:rPr sz="1250">
                <a:solidFill>
                  <a:srgbClr val="FFFFFF"/>
                </a:solidFill>
                <a:latin typeface="Noto Sans Mono CJK KR"/>
                <a:ea typeface="Noto Sans Mono CJK KR"/>
                <a:cs typeface="Noto Sans Mono CJK KR"/>
              </a:rPr>
              <a:t>MemLayers</a:t>
            </a:r>
            <a:endParaRPr sz="1250"/>
          </a:p>
        </p:txBody>
      </p:sp>
      <p:sp>
        <p:nvSpPr>
          <p:cNvPr id="16" name="STC-24-redteam-condition-0">
            <a:extLst xmlns:a="http://schemas.openxmlformats.org/drawingml/2006/main">
              <a:ext uri="{FF2B5EF4-FFF2-40B4-BE49-F238E27FC236}">
                <a16:creationId xmlns:a16="http://schemas.microsoft.com/office/drawing/2014/main" id="{49FB02AA-6A7B-4109-B1CE-AAFDD4B95126}"/>
              </a:ext>
            </a:extLst>
          </p:cNvPr>
          <p:cNvSpPr>
            <a:spLocks xmlns:a="http://schemas.openxmlformats.org/drawingml/2006/main" noGrp="1"/>
          </p:cNvSpPr>
          <p:nvPr/>
        </p:nvSpPr>
        <p:spPr>
          <a:xfrm xmlns:a="http://schemas.openxmlformats.org/drawingml/2006/main">
            <a:off x="4096512" y="1636776"/>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SCM</a:t>
            </a:r>
            <a:endParaRPr sz="1050"/>
          </a:p>
        </p:txBody>
      </p:sp>
      <p:sp>
        <p:nvSpPr>
          <p:cNvPr id="17" name="STC-24-redteam-arrow-0">
            <a:extLst xmlns:a="http://schemas.openxmlformats.org/drawingml/2006/main">
              <a:ext uri="{FF2B5EF4-FFF2-40B4-BE49-F238E27FC236}">
                <a16:creationId xmlns:a16="http://schemas.microsoft.com/office/drawing/2014/main" id="{ECFD658B-F414-4945-8A22-4E8FA91012AB}"/>
              </a:ext>
            </a:extLst>
          </p:cNvPr>
          <p:cNvSpPr>
            <a:spLocks xmlns:a="http://schemas.openxmlformats.org/drawingml/2006/main" noGrp="1"/>
          </p:cNvSpPr>
          <p:nvPr/>
        </p:nvSpPr>
        <p:spPr>
          <a:xfrm xmlns:a="http://schemas.openxmlformats.org/drawingml/2006/main">
            <a:off x="6547104" y="1746504"/>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18" name="STC-24-redteam-action-0">
            <a:extLst xmlns:a="http://schemas.openxmlformats.org/drawingml/2006/main">
              <a:ext uri="{FF2B5EF4-FFF2-40B4-BE49-F238E27FC236}">
                <a16:creationId xmlns:a16="http://schemas.microsoft.com/office/drawing/2014/main" id="{25845292-03ED-4596-A305-80A67767FF5E}"/>
              </a:ext>
            </a:extLst>
          </p:cNvPr>
          <p:cNvSpPr>
            <a:spLocks xmlns:a="http://schemas.openxmlformats.org/drawingml/2006/main" noGrp="1"/>
          </p:cNvSpPr>
          <p:nvPr/>
        </p:nvSpPr>
        <p:spPr>
          <a:xfrm xmlns:a="http://schemas.openxmlformats.org/drawingml/2006/main">
            <a:off x="7315200" y="1600200"/>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제목은 consolidation, 좌변은 전부 그래프다</a:t>
            </a:r>
            <a:endParaRPr sz="1700"/>
          </a:p>
        </p:txBody>
      </p:sp>
      <p:sp>
        <p:nvSpPr>
          <p:cNvPr id="19" name="STC-24-redteam-condition-1">
            <a:extLst xmlns:a="http://schemas.openxmlformats.org/drawingml/2006/main">
              <a:ext uri="{FF2B5EF4-FFF2-40B4-BE49-F238E27FC236}">
                <a16:creationId xmlns:a16="http://schemas.microsoft.com/office/drawing/2014/main" id="{C8B7593A-7FC2-429B-B521-B510492237D9}"/>
              </a:ext>
            </a:extLst>
          </p:cNvPr>
          <p:cNvSpPr>
            <a:spLocks xmlns:a="http://schemas.openxmlformats.org/drawingml/2006/main" noGrp="1"/>
          </p:cNvSpPr>
          <p:nvPr/>
        </p:nvSpPr>
        <p:spPr>
          <a:xfrm xmlns:a="http://schemas.openxmlformats.org/drawingml/2006/main">
            <a:off x="4096512" y="2468880"/>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MEMCACHING</a:t>
            </a:r>
            <a:endParaRPr sz="1050"/>
          </a:p>
        </p:txBody>
      </p:sp>
      <p:sp>
        <p:nvSpPr>
          <p:cNvPr id="20" name="STC-24-redteam-arrow-1">
            <a:extLst xmlns:a="http://schemas.openxmlformats.org/drawingml/2006/main">
              <a:ext uri="{FF2B5EF4-FFF2-40B4-BE49-F238E27FC236}">
                <a16:creationId xmlns:a16="http://schemas.microsoft.com/office/drawing/2014/main" id="{F092DC91-30E1-437A-B05C-4E92179650B8}"/>
              </a:ext>
            </a:extLst>
          </p:cNvPr>
          <p:cNvSpPr>
            <a:spLocks xmlns:a="http://schemas.openxmlformats.org/drawingml/2006/main" noGrp="1"/>
          </p:cNvSpPr>
          <p:nvPr/>
        </p:nvSpPr>
        <p:spPr>
          <a:xfrm xmlns:a="http://schemas.openxmlformats.org/drawingml/2006/main">
            <a:off x="6547104" y="2578608"/>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21" name="STC-24-redteam-action-1">
            <a:extLst xmlns:a="http://schemas.openxmlformats.org/drawingml/2006/main">
              <a:ext uri="{FF2B5EF4-FFF2-40B4-BE49-F238E27FC236}">
                <a16:creationId xmlns:a16="http://schemas.microsoft.com/office/drawing/2014/main" id="{AAB4C558-8F92-4BB0-B8E0-D28983C0BA46}"/>
              </a:ext>
            </a:extLst>
          </p:cNvPr>
          <p:cNvSpPr>
            <a:spLocks xmlns:a="http://schemas.openxmlformats.org/drawingml/2006/main" noGrp="1"/>
          </p:cNvSpPr>
          <p:nvPr/>
        </p:nvSpPr>
        <p:spPr>
          <a:xfrm xmlns:a="http://schemas.openxmlformats.org/drawingml/2006/main">
            <a:off x="7315200" y="2432304"/>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갱신식이 아니라 읽기식을 바꿨다. B_s=0</a:t>
            </a:r>
            <a:endParaRPr sz="1700"/>
          </a:p>
        </p:txBody>
      </p:sp>
      <p:sp>
        <p:nvSpPr>
          <p:cNvPr id="22" name="STC-24-redteam-condition-2">
            <a:extLst xmlns:a="http://schemas.openxmlformats.org/drawingml/2006/main">
              <a:ext uri="{FF2B5EF4-FFF2-40B4-BE49-F238E27FC236}">
                <a16:creationId xmlns:a16="http://schemas.microsoft.com/office/drawing/2014/main" id="{49D0C450-50F7-478F-8F31-2E93A9AA5685}"/>
              </a:ext>
            </a:extLst>
          </p:cNvPr>
          <p:cNvSpPr>
            <a:spLocks xmlns:a="http://schemas.openxmlformats.org/drawingml/2006/main" noGrp="1"/>
          </p:cNvSpPr>
          <p:nvPr/>
        </p:nvSpPr>
        <p:spPr>
          <a:xfrm xmlns:a="http://schemas.openxmlformats.org/drawingml/2006/main">
            <a:off x="4096512" y="3300984"/>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NESTEDLEARN</a:t>
            </a:r>
            <a:endParaRPr sz="1050"/>
          </a:p>
        </p:txBody>
      </p:sp>
      <p:sp>
        <p:nvSpPr>
          <p:cNvPr id="23" name="STC-24-redteam-arrow-2">
            <a:extLst xmlns:a="http://schemas.openxmlformats.org/drawingml/2006/main">
              <a:ext uri="{FF2B5EF4-FFF2-40B4-BE49-F238E27FC236}">
                <a16:creationId xmlns:a16="http://schemas.microsoft.com/office/drawing/2014/main" id="{F1BFD9F8-5311-48DD-82AC-FC91409C398F}"/>
              </a:ext>
            </a:extLst>
          </p:cNvPr>
          <p:cNvSpPr>
            <a:spLocks xmlns:a="http://schemas.openxmlformats.org/drawingml/2006/main" noGrp="1"/>
          </p:cNvSpPr>
          <p:nvPr/>
        </p:nvSpPr>
        <p:spPr>
          <a:xfrm xmlns:a="http://schemas.openxmlformats.org/drawingml/2006/main">
            <a:off x="6547104" y="3410712"/>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24" name="STC-24-redteam-action-2">
            <a:extLst xmlns:a="http://schemas.openxmlformats.org/drawingml/2006/main">
              <a:ext uri="{FF2B5EF4-FFF2-40B4-BE49-F238E27FC236}">
                <a16:creationId xmlns:a16="http://schemas.microsoft.com/office/drawing/2014/main" id="{53B6400F-21E7-48B9-B878-73AC3E062630}"/>
              </a:ext>
            </a:extLst>
          </p:cNvPr>
          <p:cNvSpPr>
            <a:spLocks xmlns:a="http://schemas.openxmlformats.org/drawingml/2006/main" noGrp="1"/>
          </p:cNvSpPr>
          <p:nvPr/>
        </p:nvSpPr>
        <p:spPr>
          <a:xfrm xmlns:a="http://schemas.openxmlformats.org/drawingml/2006/main">
            <a:off x="7315200" y="3264408"/>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연속체는 표기의 다리이지 기제의 다리가 아니다</a:t>
            </a:r>
            <a:endParaRPr sz="1700"/>
          </a:p>
        </p:txBody>
      </p:sp>
      <p:sp>
        <p:nvSpPr>
          <p:cNvPr id="25" name="STC-24-redteam-condition-3">
            <a:extLst xmlns:a="http://schemas.openxmlformats.org/drawingml/2006/main">
              <a:ext uri="{FF2B5EF4-FFF2-40B4-BE49-F238E27FC236}">
                <a16:creationId xmlns:a16="http://schemas.microsoft.com/office/drawing/2014/main" id="{54B2E66F-F1FD-43FB-BE43-6557E3F79FBF}"/>
              </a:ext>
            </a:extLst>
          </p:cNvPr>
          <p:cNvSpPr>
            <a:spLocks xmlns:a="http://schemas.openxmlformats.org/drawingml/2006/main" noGrp="1"/>
          </p:cNvSpPr>
          <p:nvPr/>
        </p:nvSpPr>
        <p:spPr>
          <a:xfrm xmlns:a="http://schemas.openxmlformats.org/drawingml/2006/main">
            <a:off x="4096512" y="4133088"/>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MEMLAYERS</a:t>
            </a:r>
            <a:endParaRPr sz="1050"/>
          </a:p>
        </p:txBody>
      </p:sp>
      <p:sp>
        <p:nvSpPr>
          <p:cNvPr id="26" name="STC-24-redteam-arrow-3">
            <a:extLst xmlns:a="http://schemas.openxmlformats.org/drawingml/2006/main">
              <a:ext uri="{FF2B5EF4-FFF2-40B4-BE49-F238E27FC236}">
                <a16:creationId xmlns:a16="http://schemas.microsoft.com/office/drawing/2014/main" id="{142A7955-B5F4-4C94-BF7C-59CB9CABC9A9}"/>
              </a:ext>
            </a:extLst>
          </p:cNvPr>
          <p:cNvSpPr>
            <a:spLocks xmlns:a="http://schemas.openxmlformats.org/drawingml/2006/main" noGrp="1"/>
          </p:cNvSpPr>
          <p:nvPr/>
        </p:nvSpPr>
        <p:spPr>
          <a:xfrm xmlns:a="http://schemas.openxmlformats.org/drawingml/2006/main">
            <a:off x="6547104" y="4242816"/>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27" name="STC-24-redteam-action-3">
            <a:extLst xmlns:a="http://schemas.openxmlformats.org/drawingml/2006/main">
              <a:ext uri="{FF2B5EF4-FFF2-40B4-BE49-F238E27FC236}">
                <a16:creationId xmlns:a16="http://schemas.microsoft.com/office/drawing/2014/main" id="{509CB230-3F0C-4279-A9DF-0AED1E3597D6}"/>
              </a:ext>
            </a:extLst>
          </p:cNvPr>
          <p:cNvSpPr>
            <a:spLocks xmlns:a="http://schemas.openxmlformats.org/drawingml/2006/main" noGrp="1"/>
          </p:cNvSpPr>
          <p:nvPr/>
        </p:nvSpPr>
        <p:spPr>
          <a:xfrm xmlns:a="http://schemas.openxmlformats.org/drawingml/2006/main">
            <a:off x="7315200" y="4096512"/>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배포 후 정지. 볼 시계가 없다</a:t>
            </a:r>
            <a:endParaRPr sz="1700"/>
          </a:p>
        </p:txBody>
      </p:sp>
      <p:sp>
        <p:nvSpPr>
          <p:cNvPr id="28" name="STC-24-redteam-condition-4">
            <a:extLst xmlns:a="http://schemas.openxmlformats.org/drawingml/2006/main">
              <a:ext uri="{FF2B5EF4-FFF2-40B4-BE49-F238E27FC236}">
                <a16:creationId xmlns:a16="http://schemas.microsoft.com/office/drawing/2014/main" id="{446D537E-ADDE-43CB-9B24-A4F46A7882F5}"/>
              </a:ext>
            </a:extLst>
          </p:cNvPr>
          <p:cNvSpPr>
            <a:spLocks xmlns:a="http://schemas.openxmlformats.org/drawingml/2006/main" noGrp="1"/>
          </p:cNvSpPr>
          <p:nvPr/>
        </p:nvSpPr>
        <p:spPr>
          <a:xfrm xmlns:a="http://schemas.openxmlformats.org/drawingml/2006/main">
            <a:off x="4096512" y="4965192"/>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GENADAPTER</a:t>
            </a:r>
            <a:endParaRPr sz="1050"/>
          </a:p>
        </p:txBody>
      </p:sp>
      <p:sp>
        <p:nvSpPr>
          <p:cNvPr id="29" name="STC-24-redteam-arrow-4">
            <a:extLst xmlns:a="http://schemas.openxmlformats.org/drawingml/2006/main">
              <a:ext uri="{FF2B5EF4-FFF2-40B4-BE49-F238E27FC236}">
                <a16:creationId xmlns:a16="http://schemas.microsoft.com/office/drawing/2014/main" id="{2F284B3B-3811-4BF7-8991-CD6D21C10D0E}"/>
              </a:ext>
            </a:extLst>
          </p:cNvPr>
          <p:cNvSpPr>
            <a:spLocks xmlns:a="http://schemas.openxmlformats.org/drawingml/2006/main" noGrp="1"/>
          </p:cNvSpPr>
          <p:nvPr/>
        </p:nvSpPr>
        <p:spPr>
          <a:xfrm xmlns:a="http://schemas.openxmlformats.org/drawingml/2006/main">
            <a:off x="6547104" y="5074920"/>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30" name="STC-24-redteam-action-4">
            <a:extLst xmlns:a="http://schemas.openxmlformats.org/drawingml/2006/main">
              <a:ext uri="{FF2B5EF4-FFF2-40B4-BE49-F238E27FC236}">
                <a16:creationId xmlns:a16="http://schemas.microsoft.com/office/drawing/2014/main" id="{0C0BE6BA-1227-4317-8CCB-047039F8A580}"/>
              </a:ext>
            </a:extLst>
          </p:cNvPr>
          <p:cNvSpPr>
            <a:spLocks xmlns:a="http://schemas.openxmlformats.org/drawingml/2006/main" noGrp="1"/>
          </p:cNvSpPr>
          <p:nvPr/>
        </p:nvSpPr>
        <p:spPr>
          <a:xfrm xmlns:a="http://schemas.openxmlformats.org/drawingml/2006/main">
            <a:off x="7315200" y="4928616"/>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산출물은 LoRA 모양, 시계는 wake다</a:t>
            </a:r>
            <a:endParaRPr sz="1700"/>
          </a:p>
        </p:txBody>
      </p:sp>
      <p:sp>
        <p:nvSpPr>
          <p:cNvPr id="31" name="STC-24-redteam-bottom">
            <a:extLst xmlns:a="http://schemas.openxmlformats.org/drawingml/2006/main">
              <a:ext uri="{FF2B5EF4-FFF2-40B4-BE49-F238E27FC236}">
                <a16:creationId xmlns:a16="http://schemas.microsoft.com/office/drawing/2014/main" id="{3BD5330B-ECE0-40DD-92FE-09B0B3E352BD}"/>
              </a:ext>
            </a:extLst>
          </p:cNvPr>
          <p:cNvSpPr>
            <a:spLocks xmlns:a="http://schemas.openxmlformats.org/drawingml/2006/main" noGrp="1"/>
          </p:cNvSpPr>
          <p:nvPr/>
        </p:nvSpPr>
        <p:spPr>
          <a:xfrm xmlns:a="http://schemas.openxmlformats.org/drawingml/2006/main">
            <a:off x="5074920" y="5596128"/>
            <a:ext cx="532180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b="1">
                <a:solidFill>
                  <a:srgbClr val="2F6B63"/>
                </a:solidFill>
                <a:latin typeface="Noto Sans Mono CJK KR"/>
                <a:ea typeface="Noto Sans Mono CJK KR"/>
                <a:cs typeface="Noto Sans Mono CJK KR"/>
              </a:rPr>
              <a:t>분류는 산출물의 모양이 아니라 (갱신식, 시계)의 쌍으로 한다</a:t>
            </a:r>
            <a:endParaRPr sz="1100"/>
          </a:p>
        </p:txBody>
      </p:sp>
    </p:spTree>
    <p:extLst>
      <p:ext uri="{BB962C8B-B14F-4D97-AF65-F5344CB8AC3E}">
        <p14:creationId xmlns:p14="http://schemas.microsoft.com/office/powerpoint/2010/main" val="777900829"/>
      </p:ext>
    </p:extLst>
  </p:cSld>
</p:sld>
</file>

<file path=ppt/slides/slide4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7-section">
            <a:extLst xmlns:a="http://schemas.openxmlformats.org/drawingml/2006/main">
              <a:ext uri="{FF2B5EF4-FFF2-40B4-BE49-F238E27FC236}">
                <a16:creationId xmlns:a16="http://schemas.microsoft.com/office/drawing/2014/main" id="{92E4F8C4-5B7E-4BA3-B695-B6837EACCBA5}"/>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DISCRIMINANT</a:t>
            </a:r>
            <a:endParaRPr sz="950"/>
          </a:p>
        </p:txBody>
      </p:sp>
      <p:sp>
        <p:nvSpPr>
          <p:cNvPr id="3" name="STC-17-slide-id">
            <a:extLst xmlns:a="http://schemas.openxmlformats.org/drawingml/2006/main">
              <a:ext uri="{FF2B5EF4-FFF2-40B4-BE49-F238E27FC236}">
                <a16:creationId xmlns:a16="http://schemas.microsoft.com/office/drawing/2014/main" id="{90F0654A-6500-4A13-AE0F-92E29E9E7142}"/>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STC-043</a:t>
            </a:r>
            <a:endParaRPr sz="950"/>
          </a:p>
        </p:txBody>
      </p:sp>
      <p:sp>
        <p:nvSpPr>
          <p:cNvPr id="4" name="STC-17-headline">
            <a:extLst xmlns:a="http://schemas.openxmlformats.org/drawingml/2006/main">
              <a:ext uri="{FF2B5EF4-FFF2-40B4-BE49-F238E27FC236}">
                <a16:creationId xmlns:a16="http://schemas.microsoft.com/office/drawing/2014/main" id="{36BE495C-0276-48C5-8763-B49A07942DC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SCM 한 편을 다섯 단계로 실제로 밟아 본다</a:t>
            </a:r>
            <a:endParaRPr sz="3000"/>
          </a:p>
        </p:txBody>
      </p:sp>
      <p:sp>
        <p:nvSpPr>
          <p:cNvPr id="5" name="STC-17-status-label">
            <a:extLst xmlns:a="http://schemas.openxmlformats.org/drawingml/2006/main">
              <a:ext uri="{FF2B5EF4-FFF2-40B4-BE49-F238E27FC236}">
                <a16:creationId xmlns:a16="http://schemas.microsoft.com/office/drawing/2014/main" id="{3085FB04-162B-4BDC-9971-7067E8D465E9}"/>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9A442D"/>
                </a:solidFill>
                <a:latin typeface="Noto Sans Mono CJK KR"/>
                <a:ea typeface="Noto Sans Mono CJK KR"/>
                <a:cs typeface="Noto Sans Mono CJK KR"/>
              </a:rPr>
              <a:t>본서 판정</a:t>
            </a:r>
            <a:endParaRPr sz="1000"/>
          </a:p>
        </p:txBody>
      </p:sp>
      <p:sp>
        <p:nvSpPr>
          <p:cNvPr id="6" name="STC-17-status-rule">
            <a:extLst xmlns:a="http://schemas.openxmlformats.org/drawingml/2006/main">
              <a:ext uri="{FF2B5EF4-FFF2-40B4-BE49-F238E27FC236}">
                <a16:creationId xmlns:a16="http://schemas.microsoft.com/office/drawing/2014/main" id="{578ADC5E-51EB-404F-BC45-37C9D6CD7CD7}"/>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9A442D"/>
            </a:solidFill>
            <a:prstDash val="solid"/>
            <a:tailEnd type="none"/>
          </a:ln>
        </p:spPr>
      </p:sp>
      <p:sp>
        <p:nvSpPr>
          <p:cNvPr id="7" name="STC-17-footer-rule">
            <a:extLst xmlns:a="http://schemas.openxmlformats.org/drawingml/2006/main">
              <a:ext uri="{FF2B5EF4-FFF2-40B4-BE49-F238E27FC236}">
                <a16:creationId xmlns:a16="http://schemas.microsoft.com/office/drawing/2014/main" id="{E08768A2-4454-4B40-89F4-7D7CB0E43EDC}"/>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7-source-footer">
            <a:extLst xmlns:a="http://schemas.openxmlformats.org/drawingml/2006/main">
              <a:ext uri="{FF2B5EF4-FFF2-40B4-BE49-F238E27FC236}">
                <a16:creationId xmlns:a16="http://schemas.microsoft.com/office/drawing/2014/main" id="{AD1D9E5D-8963-4E36-885F-E265EF98368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§11.4.1 · [SCM Algorithm 1, §3.5, §3.6, §3.8]</a:t>
            </a:r>
            <a:endParaRPr sz="850"/>
          </a:p>
        </p:txBody>
      </p:sp>
      <p:sp>
        <p:nvSpPr>
          <p:cNvPr id="9" name="STC-17-page-number">
            <a:extLst xmlns:a="http://schemas.openxmlformats.org/drawingml/2006/main">
              <a:ext uri="{FF2B5EF4-FFF2-40B4-BE49-F238E27FC236}">
                <a16:creationId xmlns:a16="http://schemas.microsoft.com/office/drawing/2014/main" id="{D9D3A1E4-D8BE-40ED-87D8-2EA53AA60732}"/>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43</a:t>
            </a:r>
            <a:endParaRPr sz="850"/>
          </a:p>
        </p:txBody>
      </p:sp>
      <p:sp>
        <p:nvSpPr>
          <p:cNvPr id="11" name="STC-17-scale-left-x">
            <a:extLst xmlns:a="http://schemas.openxmlformats.org/drawingml/2006/main">
              <a:ext uri="{FF2B5EF4-FFF2-40B4-BE49-F238E27FC236}">
                <a16:creationId xmlns:a16="http://schemas.microsoft.com/office/drawing/2014/main" id="{F38B9EA2-0669-4C35-A757-D44B42B288FA}"/>
              </a:ext>
            </a:extLst>
          </p:cNvPr>
          <p:cNvSpPr>
            <a:spLocks xmlns:a="http://schemas.openxmlformats.org/drawingml/2006/main" noGrp="1"/>
          </p:cNvSpPr>
          <p:nvPr/>
        </p:nvSpPr>
        <p:spPr>
          <a:xfrm xmlns:a="http://schemas.openxmlformats.org/drawingml/2006/main">
            <a:off x="1005840" y="5120640"/>
            <a:ext cx="425196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2" name="STC-17-scale-left-y">
            <a:extLst xmlns:a="http://schemas.openxmlformats.org/drawingml/2006/main">
              <a:ext uri="{FF2B5EF4-FFF2-40B4-BE49-F238E27FC236}">
                <a16:creationId xmlns:a16="http://schemas.microsoft.com/office/drawing/2014/main" id="{127EAC0F-7538-48D2-9845-E50816FBC5B6}"/>
              </a:ext>
            </a:extLst>
          </p:cNvPr>
          <p:cNvSpPr>
            <a:spLocks xmlns:a="http://schemas.openxmlformats.org/drawingml/2006/main" noGrp="1"/>
          </p:cNvSpPr>
          <p:nvPr/>
        </p:nvSpPr>
        <p:spPr>
          <a:xfrm xmlns:a="http://schemas.openxmlformats.org/drawingml/2006/main" flipH="0" flipV="1">
            <a:off x="1005840" y="1874520"/>
            <a:ext cx="0" cy="324612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3" name="STC-17-scale-left-xlabel">
            <a:extLst xmlns:a="http://schemas.openxmlformats.org/drawingml/2006/main">
              <a:ext uri="{FF2B5EF4-FFF2-40B4-BE49-F238E27FC236}">
                <a16:creationId xmlns:a16="http://schemas.microsoft.com/office/drawing/2014/main" id="{CC1A6B04-2FA6-4A11-9502-96D6C06C0406}"/>
              </a:ext>
            </a:extLst>
          </p:cNvPr>
          <p:cNvSpPr>
            <a:spLocks xmlns:a="http://schemas.openxmlformats.org/drawingml/2006/main" noGrp="1"/>
          </p:cNvSpPr>
          <p:nvPr/>
        </p:nvSpPr>
        <p:spPr>
          <a:xfrm xmlns:a="http://schemas.openxmlformats.org/drawingml/2006/main">
            <a:off x="3794760" y="5266944"/>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a:solidFill>
                  <a:srgbClr val="59616A"/>
                </a:solidFill>
                <a:latin typeface="Noto Sans CJK KR"/>
                <a:ea typeface="Noto Sans CJK KR"/>
                <a:cs typeface="Noto Sans CJK KR"/>
              </a:rPr>
              <a:t>단계</a:t>
            </a:r>
            <a:endParaRPr sz="1100"/>
          </a:p>
        </p:txBody>
      </p:sp>
      <p:sp>
        <p:nvSpPr>
          <p:cNvPr id="14" name="STC-17-scale-left-ylabel">
            <a:extLst xmlns:a="http://schemas.openxmlformats.org/drawingml/2006/main">
              <a:ext uri="{FF2B5EF4-FFF2-40B4-BE49-F238E27FC236}">
                <a16:creationId xmlns:a16="http://schemas.microsoft.com/office/drawing/2014/main" id="{3FECF62E-F154-4266-9F86-FA8AD5DD6D5B}"/>
              </a:ext>
            </a:extLst>
          </p:cNvPr>
          <p:cNvSpPr>
            <a:spLocks xmlns:a="http://schemas.openxmlformats.org/drawingml/2006/main" noGrp="1"/>
          </p:cNvSpPr>
          <p:nvPr/>
        </p:nvSpPr>
        <p:spPr>
          <a:xfrm xmlns:a="http://schemas.openxmlformats.org/drawingml/2006/main" rot="16200000">
            <a:off x="594360" y="1764792"/>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9616A"/>
                </a:solidFill>
                <a:latin typeface="Noto Sans CJK KR"/>
                <a:ea typeface="Noto Sans CJK KR"/>
                <a:cs typeface="Noto Sans CJK KR"/>
              </a:rPr>
              <a:t>판정</a:t>
            </a:r>
            <a:endParaRPr sz="1100"/>
          </a:p>
        </p:txBody>
      </p:sp>
      <p:sp>
        <p:nvSpPr>
          <p:cNvPr id="15" name="STC-17-scale-external">
            <a:extLst xmlns:a="http://schemas.openxmlformats.org/drawingml/2006/main">
              <a:ext uri="{FF2B5EF4-FFF2-40B4-BE49-F238E27FC236}">
                <a16:creationId xmlns:a16="http://schemas.microsoft.com/office/drawing/2014/main" id="{2D86127B-2D39-4C68-9E49-E6517B6F9AD8}"/>
              </a:ext>
            </a:extLst>
          </p:cNvPr>
          <p:cNvSpPr>
            <a:spLocks xmlns:a="http://schemas.openxmlformats.org/drawingml/2006/main" noGrp="1"/>
          </p:cNvSpPr>
          <p:nvPr/>
        </p:nvSpPr>
        <p:spPr>
          <a:xfrm xmlns:a="http://schemas.openxmlformats.org/drawingml/2006/main" flipH="0" flipV="1">
            <a:off x="1188720" y="2606040"/>
            <a:ext cx="3520440" cy="1874520"/>
          </a:xfrm>
          <a:prstGeom xmlns:a="http://schemas.openxmlformats.org/drawingml/2006/main" prst="line">
            <a:avLst/>
          </a:prstGeom>
          <a:noFill xmlns:a="http://schemas.openxmlformats.org/drawingml/2006/main"/>
          <a:ln xmlns:a="http://schemas.openxmlformats.org/drawingml/2006/main" w="27940">
            <a:solidFill>
              <a:srgbClr val="244E8A"/>
            </a:solidFill>
            <a:prstDash val="solid"/>
            <a:tailEnd type="none"/>
          </a:ln>
        </p:spPr>
      </p:sp>
      <p:sp>
        <p:nvSpPr>
          <p:cNvPr id="16" name="STC-17-scale-parametric">
            <a:extLst xmlns:a="http://schemas.openxmlformats.org/drawingml/2006/main">
              <a:ext uri="{FF2B5EF4-FFF2-40B4-BE49-F238E27FC236}">
                <a16:creationId xmlns:a16="http://schemas.microsoft.com/office/drawing/2014/main" id="{DFC59353-7D50-4688-AA06-2224C35349DE}"/>
              </a:ext>
            </a:extLst>
          </p:cNvPr>
          <p:cNvSpPr>
            <a:spLocks xmlns:a="http://schemas.openxmlformats.org/drawingml/2006/main" noGrp="1"/>
          </p:cNvSpPr>
          <p:nvPr/>
        </p:nvSpPr>
        <p:spPr>
          <a:xfrm xmlns:a="http://schemas.openxmlformats.org/drawingml/2006/main">
            <a:off x="1188720" y="2514600"/>
            <a:ext cx="3520440" cy="1965960"/>
          </a:xfrm>
          <a:prstGeom xmlns:a="http://schemas.openxmlformats.org/drawingml/2006/main" prst="line">
            <a:avLst/>
          </a:prstGeom>
          <a:noFill xmlns:a="http://schemas.openxmlformats.org/drawingml/2006/main"/>
          <a:ln xmlns:a="http://schemas.openxmlformats.org/drawingml/2006/main" w="27940">
            <a:solidFill>
              <a:srgbClr val="9A442D"/>
            </a:solidFill>
            <a:prstDash val="solid"/>
            <a:tailEnd type="none"/>
          </a:ln>
        </p:spPr>
      </p:sp>
      <p:sp>
        <p:nvSpPr>
          <p:cNvPr id="17" name="STC-17-scale-cross">
            <a:extLst xmlns:a="http://schemas.openxmlformats.org/drawingml/2006/main">
              <a:ext uri="{FF2B5EF4-FFF2-40B4-BE49-F238E27FC236}">
                <a16:creationId xmlns:a16="http://schemas.microsoft.com/office/drawing/2014/main" id="{38C2475A-C01B-48D1-B5C2-52F03E134CC7}"/>
              </a:ext>
            </a:extLst>
          </p:cNvPr>
          <p:cNvSpPr>
            <a:spLocks xmlns:a="http://schemas.openxmlformats.org/drawingml/2006/main" noGrp="1"/>
          </p:cNvSpPr>
          <p:nvPr/>
        </p:nvSpPr>
        <p:spPr>
          <a:xfrm xmlns:a="http://schemas.openxmlformats.org/drawingml/2006/main">
            <a:off x="2971800" y="3438144"/>
            <a:ext cx="219456" cy="219456"/>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18" name="STC-17-scale-cross-label">
            <a:extLst xmlns:a="http://schemas.openxmlformats.org/drawingml/2006/main">
              <a:ext uri="{FF2B5EF4-FFF2-40B4-BE49-F238E27FC236}">
                <a16:creationId xmlns:a16="http://schemas.microsoft.com/office/drawing/2014/main" id="{5361373B-8A27-4C3F-BCAB-13880DD0432B}"/>
              </a:ext>
            </a:extLst>
          </p:cNvPr>
          <p:cNvSpPr>
            <a:spLocks xmlns:a="http://schemas.openxmlformats.org/drawingml/2006/main" noGrp="1"/>
          </p:cNvSpPr>
          <p:nvPr/>
        </p:nvSpPr>
        <p:spPr>
          <a:xfrm xmlns:a="http://schemas.openxmlformats.org/drawingml/2006/main">
            <a:off x="3200400" y="3209544"/>
            <a:ext cx="1600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7191C"/>
                </a:solidFill>
                <a:latin typeface="Noto Sans CJK KR"/>
                <a:ea typeface="Noto Sans CJK KR"/>
                <a:cs typeface="Noto Sans CJK KR"/>
              </a:rPr>
              <a:t>층 = E</a:t>
            </a:r>
            <a:endParaRPr sz="1300"/>
          </a:p>
        </p:txBody>
      </p:sp>
      <p:sp>
        <p:nvSpPr>
          <p:cNvPr id="19" name="STC-17-scale-external-label">
            <a:extLst xmlns:a="http://schemas.openxmlformats.org/drawingml/2006/main">
              <a:ext uri="{FF2B5EF4-FFF2-40B4-BE49-F238E27FC236}">
                <a16:creationId xmlns:a16="http://schemas.microsoft.com/office/drawing/2014/main" id="{5A0E898B-D650-4683-929F-FC5564799CA5}"/>
              </a:ext>
            </a:extLst>
          </p:cNvPr>
          <p:cNvSpPr>
            <a:spLocks xmlns:a="http://schemas.openxmlformats.org/drawingml/2006/main" noGrp="1"/>
          </p:cNvSpPr>
          <p:nvPr/>
        </p:nvSpPr>
        <p:spPr>
          <a:xfrm xmlns:a="http://schemas.openxmlformats.org/drawingml/2006/main">
            <a:off x="1554480" y="4096512"/>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244E8A"/>
                </a:solidFill>
                <a:latin typeface="Noto Sans CJK KR"/>
                <a:ea typeface="Noto Sans CJK KR"/>
                <a:cs typeface="Noto Sans CJK KR"/>
              </a:rPr>
              <a:t>1 연산자</a:t>
            </a:r>
            <a:endParaRPr sz="1200"/>
          </a:p>
        </p:txBody>
      </p:sp>
      <p:sp>
        <p:nvSpPr>
          <p:cNvPr id="20" name="STC-17-scale-parametric-label">
            <a:extLst xmlns:a="http://schemas.openxmlformats.org/drawingml/2006/main">
              <a:ext uri="{FF2B5EF4-FFF2-40B4-BE49-F238E27FC236}">
                <a16:creationId xmlns:a16="http://schemas.microsoft.com/office/drawing/2014/main" id="{9314D827-DE51-4522-BD7E-BDF397FFDFC8}"/>
              </a:ext>
            </a:extLst>
          </p:cNvPr>
          <p:cNvSpPr>
            <a:spLocks xmlns:a="http://schemas.openxmlformats.org/drawingml/2006/main" noGrp="1"/>
          </p:cNvSpPr>
          <p:nvPr/>
        </p:nvSpPr>
        <p:spPr>
          <a:xfrm xmlns:a="http://schemas.openxmlformats.org/drawingml/2006/main">
            <a:off x="3986784" y="4114800"/>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9A442D"/>
                </a:solidFill>
                <a:latin typeface="Noto Sans CJK KR"/>
                <a:ea typeface="Noto Sans CJK KR"/>
                <a:cs typeface="Noto Sans CJK KR"/>
              </a:rPr>
              <a:t>E</a:t>
            </a:r>
            <a:endParaRPr sz="1200"/>
          </a:p>
        </p:txBody>
      </p:sp>
      <p:sp>
        <p:nvSpPr>
          <p:cNvPr id="21" name="STC-17-scale-divider">
            <a:extLst xmlns:a="http://schemas.openxmlformats.org/drawingml/2006/main">
              <a:ext uri="{FF2B5EF4-FFF2-40B4-BE49-F238E27FC236}">
                <a16:creationId xmlns:a16="http://schemas.microsoft.com/office/drawing/2014/main" id="{EED8261B-448F-4417-9C3F-674EDAAAD962}"/>
              </a:ext>
            </a:extLst>
          </p:cNvPr>
          <p:cNvSpPr>
            <a:spLocks xmlns:a="http://schemas.openxmlformats.org/drawingml/2006/main" noGrp="1"/>
          </p:cNvSpPr>
          <p:nvPr/>
        </p:nvSpPr>
        <p:spPr>
          <a:xfrm xmlns:a="http://schemas.openxmlformats.org/drawingml/2006/main">
            <a:off x="5989320" y="1755648"/>
            <a:ext cx="0" cy="3886200"/>
          </a:xfrm>
          <a:prstGeom xmlns:a="http://schemas.openxmlformats.org/drawingml/2006/main" prst="line">
            <a:avLst/>
          </a:prstGeom>
          <a:noFill xmlns:a="http://schemas.openxmlformats.org/drawingml/2006/main"/>
          <a:ln xmlns:a="http://schemas.openxmlformats.org/drawingml/2006/main" w="15240">
            <a:solidFill>
              <a:srgbClr val="C9C4B8"/>
            </a:solidFill>
            <a:prstDash val="solid"/>
            <a:tailEnd type="none"/>
          </a:ln>
        </p:spPr>
      </p:sp>
      <p:sp>
        <p:nvSpPr>
          <p:cNvPr id="22" name="STC-17-atlas-label-0">
            <a:extLst xmlns:a="http://schemas.openxmlformats.org/drawingml/2006/main">
              <a:ext uri="{FF2B5EF4-FFF2-40B4-BE49-F238E27FC236}">
                <a16:creationId xmlns:a16="http://schemas.microsoft.com/office/drawing/2014/main" id="{38500024-C3E5-449E-9177-C70AC65318D7}"/>
              </a:ext>
            </a:extLst>
          </p:cNvPr>
          <p:cNvSpPr>
            <a:spLocks xmlns:a="http://schemas.openxmlformats.org/drawingml/2006/main" noGrp="1"/>
          </p:cNvSpPr>
          <p:nvPr/>
        </p:nvSpPr>
        <p:spPr>
          <a:xfrm xmlns:a="http://schemas.openxmlformats.org/drawingml/2006/main">
            <a:off x="6473952" y="1709928"/>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1 연산자</a:t>
            </a:r>
            <a:endParaRPr sz="1050"/>
          </a:p>
        </p:txBody>
      </p:sp>
      <p:sp>
        <p:nvSpPr>
          <p:cNvPr id="23" name="STC-17-atlas-rule-0">
            <a:extLst xmlns:a="http://schemas.openxmlformats.org/drawingml/2006/main">
              <a:ext uri="{FF2B5EF4-FFF2-40B4-BE49-F238E27FC236}">
                <a16:creationId xmlns:a16="http://schemas.microsoft.com/office/drawing/2014/main" id="{740662E4-4426-481A-AD86-7B8414E58A82}"/>
              </a:ext>
            </a:extLst>
          </p:cNvPr>
          <p:cNvSpPr>
            <a:spLocks xmlns:a="http://schemas.openxmlformats.org/drawingml/2006/main" noGrp="1"/>
          </p:cNvSpPr>
          <p:nvPr/>
        </p:nvSpPr>
        <p:spPr>
          <a:xfrm xmlns:a="http://schemas.openxmlformats.org/drawingml/2006/main">
            <a:off x="8284464" y="1819656"/>
            <a:ext cx="502920" cy="0"/>
          </a:xfrm>
          <a:prstGeom xmlns:a="http://schemas.openxmlformats.org/drawingml/2006/main" prst="line">
            <a:avLst/>
          </a:prstGeom>
          <a:noFill xmlns:a="http://schemas.openxmlformats.org/drawingml/2006/main"/>
          <a:ln xmlns:a="http://schemas.openxmlformats.org/drawingml/2006/main" w="38100">
            <a:solidFill>
              <a:srgbClr val="9A442D"/>
            </a:solidFill>
            <a:prstDash val="solid"/>
            <a:tailEnd type="none"/>
          </a:ln>
        </p:spPr>
      </p:sp>
      <p:sp>
        <p:nvSpPr>
          <p:cNvPr id="24" name="STC-17-atlas-body-0">
            <a:extLst xmlns:a="http://schemas.openxmlformats.org/drawingml/2006/main">
              <a:ext uri="{FF2B5EF4-FFF2-40B4-BE49-F238E27FC236}">
                <a16:creationId xmlns:a16="http://schemas.microsoft.com/office/drawing/2014/main" id="{1B446C46-BC66-41F9-B60B-A7B63A5C03DC}"/>
              </a:ext>
            </a:extLst>
          </p:cNvPr>
          <p:cNvSpPr>
            <a:spLocks xmlns:a="http://schemas.openxmlformats.org/drawingml/2006/main" noGrp="1"/>
          </p:cNvSpPr>
          <p:nvPr/>
        </p:nvSpPr>
        <p:spPr>
          <a:xfrm xmlns:a="http://schemas.openxmlformats.org/drawingml/2006/main">
            <a:off x="8979408" y="1682496"/>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hebb·downscale·transfer·dream·prune</a:t>
            </a:r>
            <a:endParaRPr sz="1550"/>
          </a:p>
        </p:txBody>
      </p:sp>
      <p:sp>
        <p:nvSpPr>
          <p:cNvPr id="25" name="STC-17-atlas-label-1">
            <a:extLst xmlns:a="http://schemas.openxmlformats.org/drawingml/2006/main">
              <a:ext uri="{FF2B5EF4-FFF2-40B4-BE49-F238E27FC236}">
                <a16:creationId xmlns:a16="http://schemas.microsoft.com/office/drawing/2014/main" id="{A1AD9682-CB19-4CC3-B24A-465331B8B9E9}"/>
              </a:ext>
            </a:extLst>
          </p:cNvPr>
          <p:cNvSpPr>
            <a:spLocks xmlns:a="http://schemas.openxmlformats.org/drawingml/2006/main" noGrp="1"/>
          </p:cNvSpPr>
          <p:nvPr/>
        </p:nvSpPr>
        <p:spPr>
          <a:xfrm xmlns:a="http://schemas.openxmlformats.org/drawingml/2006/main">
            <a:off x="6473952" y="2496312"/>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2 좌변</a:t>
            </a:r>
            <a:endParaRPr sz="1050"/>
          </a:p>
        </p:txBody>
      </p:sp>
      <p:sp>
        <p:nvSpPr>
          <p:cNvPr id="26" name="STC-17-atlas-rule-1">
            <a:extLst xmlns:a="http://schemas.openxmlformats.org/drawingml/2006/main">
              <a:ext uri="{FF2B5EF4-FFF2-40B4-BE49-F238E27FC236}">
                <a16:creationId xmlns:a16="http://schemas.microsoft.com/office/drawing/2014/main" id="{9C753F1A-0E9B-4F34-8439-061056C7176A}"/>
              </a:ext>
            </a:extLst>
          </p:cNvPr>
          <p:cNvSpPr>
            <a:spLocks xmlns:a="http://schemas.openxmlformats.org/drawingml/2006/main" noGrp="1"/>
          </p:cNvSpPr>
          <p:nvPr/>
        </p:nvSpPr>
        <p:spPr>
          <a:xfrm xmlns:a="http://schemas.openxmlformats.org/drawingml/2006/main">
            <a:off x="8284464" y="2606040"/>
            <a:ext cx="502920" cy="0"/>
          </a:xfrm>
          <a:prstGeom xmlns:a="http://schemas.openxmlformats.org/drawingml/2006/main" prst="line">
            <a:avLst/>
          </a:prstGeom>
          <a:noFill xmlns:a="http://schemas.openxmlformats.org/drawingml/2006/main"/>
          <a:ln xmlns:a="http://schemas.openxmlformats.org/drawingml/2006/main" w="38100">
            <a:solidFill>
              <a:srgbClr val="244E8A"/>
            </a:solidFill>
            <a:prstDash val="solid"/>
            <a:tailEnd type="none"/>
          </a:ln>
        </p:spPr>
      </p:sp>
      <p:sp>
        <p:nvSpPr>
          <p:cNvPr id="27" name="STC-17-atlas-body-1">
            <a:extLst xmlns:a="http://schemas.openxmlformats.org/drawingml/2006/main">
              <a:ext uri="{FF2B5EF4-FFF2-40B4-BE49-F238E27FC236}">
                <a16:creationId xmlns:a16="http://schemas.microsoft.com/office/drawing/2014/main" id="{1A33A49B-1D5D-4C8F-8664-0C37F5C18102}"/>
              </a:ext>
            </a:extLst>
          </p:cNvPr>
          <p:cNvSpPr>
            <a:spLocks xmlns:a="http://schemas.openxmlformats.org/drawingml/2006/main" noGrp="1"/>
          </p:cNvSpPr>
          <p:nvPr/>
        </p:nvSpPr>
        <p:spPr>
          <a:xfrm xmlns:a="http://schemas.openxmlformats.org/drawingml/2006/main">
            <a:off x="8979408" y="2468880"/>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전부 그래프와 텍스트 버퍼 — 모델 밖</a:t>
            </a:r>
            <a:endParaRPr sz="1550"/>
          </a:p>
        </p:txBody>
      </p:sp>
      <p:sp>
        <p:nvSpPr>
          <p:cNvPr id="28" name="STC-17-atlas-label-2">
            <a:extLst xmlns:a="http://schemas.openxmlformats.org/drawingml/2006/main">
              <a:ext uri="{FF2B5EF4-FFF2-40B4-BE49-F238E27FC236}">
                <a16:creationId xmlns:a16="http://schemas.microsoft.com/office/drawing/2014/main" id="{4B5B8C07-BC12-46CD-813B-3AF219E12202}"/>
              </a:ext>
            </a:extLst>
          </p:cNvPr>
          <p:cNvSpPr>
            <a:spLocks xmlns:a="http://schemas.openxmlformats.org/drawingml/2006/main" noGrp="1"/>
          </p:cNvSpPr>
          <p:nvPr/>
        </p:nvSpPr>
        <p:spPr>
          <a:xfrm xmlns:a="http://schemas.openxmlformats.org/drawingml/2006/main">
            <a:off x="6473952" y="3282696"/>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3 시계</a:t>
            </a:r>
            <a:endParaRPr sz="1050"/>
          </a:p>
        </p:txBody>
      </p:sp>
      <p:sp>
        <p:nvSpPr>
          <p:cNvPr id="29" name="STC-17-atlas-rule-2">
            <a:extLst xmlns:a="http://schemas.openxmlformats.org/drawingml/2006/main">
              <a:ext uri="{FF2B5EF4-FFF2-40B4-BE49-F238E27FC236}">
                <a16:creationId xmlns:a16="http://schemas.microsoft.com/office/drawing/2014/main" id="{5B2A6C3E-8059-4CE9-9C3B-70976103A271}"/>
              </a:ext>
            </a:extLst>
          </p:cNvPr>
          <p:cNvSpPr>
            <a:spLocks xmlns:a="http://schemas.openxmlformats.org/drawingml/2006/main" noGrp="1"/>
          </p:cNvSpPr>
          <p:nvPr/>
        </p:nvSpPr>
        <p:spPr>
          <a:xfrm xmlns:a="http://schemas.openxmlformats.org/drawingml/2006/main">
            <a:off x="8284464" y="3392424"/>
            <a:ext cx="502920" cy="0"/>
          </a:xfrm>
          <a:prstGeom xmlns:a="http://schemas.openxmlformats.org/drawingml/2006/main" prst="line">
            <a:avLst/>
          </a:prstGeom>
          <a:noFill xmlns:a="http://schemas.openxmlformats.org/drawingml/2006/main"/>
          <a:ln xmlns:a="http://schemas.openxmlformats.org/drawingml/2006/main" w="38100">
            <a:solidFill>
              <a:srgbClr val="2F6B63"/>
            </a:solidFill>
            <a:prstDash val="solid"/>
            <a:tailEnd type="none"/>
          </a:ln>
        </p:spPr>
      </p:sp>
      <p:sp>
        <p:nvSpPr>
          <p:cNvPr id="30" name="STC-17-atlas-body-2">
            <a:extLst xmlns:a="http://schemas.openxmlformats.org/drawingml/2006/main">
              <a:ext uri="{FF2B5EF4-FFF2-40B4-BE49-F238E27FC236}">
                <a16:creationId xmlns:a16="http://schemas.microsoft.com/office/drawing/2014/main" id="{ED8666E7-DF2A-4D85-9EB9-7BFAEFE25FBB}"/>
              </a:ext>
            </a:extLst>
          </p:cNvPr>
          <p:cNvSpPr>
            <a:spLocks xmlns:a="http://schemas.openxmlformats.org/drawingml/2006/main" noGrp="1"/>
          </p:cNvSpPr>
          <p:nvPr/>
        </p:nvSpPr>
        <p:spPr>
          <a:xfrm xmlns:a="http://schemas.openxmlformats.org/drawingml/2006/main">
            <a:off x="8979408" y="3255264"/>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대화 후. 트리거가 상태 의존이다</a:t>
            </a:r>
            <a:endParaRPr sz="1550"/>
          </a:p>
        </p:txBody>
      </p:sp>
      <p:sp>
        <p:nvSpPr>
          <p:cNvPr id="31" name="STC-17-atlas-label-3">
            <a:extLst xmlns:a="http://schemas.openxmlformats.org/drawingml/2006/main">
              <a:ext uri="{FF2B5EF4-FFF2-40B4-BE49-F238E27FC236}">
                <a16:creationId xmlns:a16="http://schemas.microsoft.com/office/drawing/2014/main" id="{C22D209C-8F5F-4D75-9BCF-C8C2E6E5DB33}"/>
              </a:ext>
            </a:extLst>
          </p:cNvPr>
          <p:cNvSpPr>
            <a:spLocks xmlns:a="http://schemas.openxmlformats.org/drawingml/2006/main" noGrp="1"/>
          </p:cNvSpPr>
          <p:nvPr/>
        </p:nvSpPr>
        <p:spPr>
          <a:xfrm xmlns:a="http://schemas.openxmlformats.org/drawingml/2006/main">
            <a:off x="6473952" y="4069080"/>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4 예산</a:t>
            </a:r>
            <a:endParaRPr sz="1050"/>
          </a:p>
        </p:txBody>
      </p:sp>
      <p:sp>
        <p:nvSpPr>
          <p:cNvPr id="32" name="STC-17-atlas-rule-3">
            <a:extLst xmlns:a="http://schemas.openxmlformats.org/drawingml/2006/main">
              <a:ext uri="{FF2B5EF4-FFF2-40B4-BE49-F238E27FC236}">
                <a16:creationId xmlns:a16="http://schemas.microsoft.com/office/drawing/2014/main" id="{6413883D-F716-4E60-A3EA-294B9FF31579}"/>
              </a:ext>
            </a:extLst>
          </p:cNvPr>
          <p:cNvSpPr>
            <a:spLocks xmlns:a="http://schemas.openxmlformats.org/drawingml/2006/main" noGrp="1"/>
          </p:cNvSpPr>
          <p:nvPr/>
        </p:nvSpPr>
        <p:spPr>
          <a:xfrm xmlns:a="http://schemas.openxmlformats.org/drawingml/2006/main">
            <a:off x="8284464" y="4178808"/>
            <a:ext cx="502920" cy="0"/>
          </a:xfrm>
          <a:prstGeom xmlns:a="http://schemas.openxmlformats.org/drawingml/2006/main" prst="line">
            <a:avLst/>
          </a:prstGeom>
          <a:noFill xmlns:a="http://schemas.openxmlformats.org/drawingml/2006/main"/>
          <a:ln xmlns:a="http://schemas.openxmlformats.org/drawingml/2006/main" w="38100">
            <a:solidFill>
              <a:srgbClr val="9A442D"/>
            </a:solidFill>
            <a:prstDash val="solid"/>
            <a:tailEnd type="none"/>
          </a:ln>
        </p:spPr>
      </p:sp>
      <p:sp>
        <p:nvSpPr>
          <p:cNvPr id="33" name="STC-17-atlas-body-3">
            <a:extLst xmlns:a="http://schemas.openxmlformats.org/drawingml/2006/main">
              <a:ext uri="{FF2B5EF4-FFF2-40B4-BE49-F238E27FC236}">
                <a16:creationId xmlns:a16="http://schemas.microsoft.com/office/drawing/2014/main" id="{3690E37F-97C1-44E1-9B22-261955C76526}"/>
              </a:ext>
            </a:extLst>
          </p:cNvPr>
          <p:cNvSpPr>
            <a:spLocks xmlns:a="http://schemas.openxmlformats.org/drawingml/2006/main" noGrp="1"/>
          </p:cNvSpPr>
          <p:nvPr/>
        </p:nvSpPr>
        <p:spPr>
          <a:xfrm xmlns:a="http://schemas.openxmlformats.org/drawingml/2006/main">
            <a:off x="8979408" y="4041648"/>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0보다 크되 LLM 호출이 하나도 없다</a:t>
            </a:r>
            <a:endParaRPr sz="1550"/>
          </a:p>
        </p:txBody>
      </p:sp>
      <p:sp>
        <p:nvSpPr>
          <p:cNvPr id="34" name="STC-17-atlas-label-4">
            <a:extLst xmlns:a="http://schemas.openxmlformats.org/drawingml/2006/main">
              <a:ext uri="{FF2B5EF4-FFF2-40B4-BE49-F238E27FC236}">
                <a16:creationId xmlns:a16="http://schemas.microsoft.com/office/drawing/2014/main" id="{4E09BD89-2B39-4380-8908-5D98AB0C13FF}"/>
              </a:ext>
            </a:extLst>
          </p:cNvPr>
          <p:cNvSpPr>
            <a:spLocks xmlns:a="http://schemas.openxmlformats.org/drawingml/2006/main" noGrp="1"/>
          </p:cNvSpPr>
          <p:nvPr/>
        </p:nvSpPr>
        <p:spPr>
          <a:xfrm xmlns:a="http://schemas.openxmlformats.org/drawingml/2006/main">
            <a:off x="6473952" y="4855464"/>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5 소비자</a:t>
            </a:r>
            <a:endParaRPr sz="1050"/>
          </a:p>
        </p:txBody>
      </p:sp>
      <p:sp>
        <p:nvSpPr>
          <p:cNvPr id="35" name="STC-17-atlas-rule-4">
            <a:extLst xmlns:a="http://schemas.openxmlformats.org/drawingml/2006/main">
              <a:ext uri="{FF2B5EF4-FFF2-40B4-BE49-F238E27FC236}">
                <a16:creationId xmlns:a16="http://schemas.microsoft.com/office/drawing/2014/main" id="{6F85C4F8-DEE9-43E4-B953-A1AA93F5F878}"/>
              </a:ext>
            </a:extLst>
          </p:cNvPr>
          <p:cNvSpPr>
            <a:spLocks xmlns:a="http://schemas.openxmlformats.org/drawingml/2006/main" noGrp="1"/>
          </p:cNvSpPr>
          <p:nvPr/>
        </p:nvSpPr>
        <p:spPr>
          <a:xfrm xmlns:a="http://schemas.openxmlformats.org/drawingml/2006/main">
            <a:off x="8284464" y="4965192"/>
            <a:ext cx="502920" cy="0"/>
          </a:xfrm>
          <a:prstGeom xmlns:a="http://schemas.openxmlformats.org/drawingml/2006/main" prst="line">
            <a:avLst/>
          </a:prstGeom>
          <a:noFill xmlns:a="http://schemas.openxmlformats.org/drawingml/2006/main"/>
          <a:ln xmlns:a="http://schemas.openxmlformats.org/drawingml/2006/main" w="38100">
            <a:solidFill>
              <a:srgbClr val="59616A"/>
            </a:solidFill>
            <a:prstDash val="solid"/>
            <a:tailEnd type="none"/>
          </a:ln>
        </p:spPr>
      </p:sp>
      <p:sp>
        <p:nvSpPr>
          <p:cNvPr id="36" name="STC-17-atlas-body-4">
            <a:extLst xmlns:a="http://schemas.openxmlformats.org/drawingml/2006/main">
              <a:ext uri="{FF2B5EF4-FFF2-40B4-BE49-F238E27FC236}">
                <a16:creationId xmlns:a16="http://schemas.microsoft.com/office/drawing/2014/main" id="{E742DFC6-454B-4514-81D0-A19D043EF25B}"/>
              </a:ext>
            </a:extLst>
          </p:cNvPr>
          <p:cNvSpPr>
            <a:spLocks xmlns:a="http://schemas.openxmlformats.org/drawingml/2006/main" noGrp="1"/>
          </p:cNvSpPr>
          <p:nvPr/>
        </p:nvSpPr>
        <p:spPr>
          <a:xfrm xmlns:a="http://schemas.openxmlformats.org/drawingml/2006/main">
            <a:off x="8979408" y="4828032"/>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이후 턴의 검색이 읽는다 — 통과</a:t>
            </a:r>
            <a:endParaRPr sz="1550"/>
          </a:p>
        </p:txBody>
      </p:sp>
      <p:sp>
        <p:nvSpPr>
          <p:cNvPr id="37" name="STC-17-scale-nonresult">
            <a:extLst xmlns:a="http://schemas.openxmlformats.org/drawingml/2006/main">
              <a:ext uri="{FF2B5EF4-FFF2-40B4-BE49-F238E27FC236}">
                <a16:creationId xmlns:a16="http://schemas.microsoft.com/office/drawing/2014/main" id="{0DBC12A9-4F5B-4978-9410-2294970708B3}"/>
              </a:ext>
            </a:extLst>
          </p:cNvPr>
          <p:cNvSpPr>
            <a:spLocks xmlns:a="http://schemas.openxmlformats.org/drawingml/2006/main" noGrp="1"/>
          </p:cNvSpPr>
          <p:nvPr/>
        </p:nvSpPr>
        <p:spPr>
          <a:xfrm xmlns:a="http://schemas.openxmlformats.org/drawingml/2006/main">
            <a:off x="8183880" y="5715000"/>
            <a:ext cx="2971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b="1">
                <a:solidFill>
                  <a:srgbClr val="9A442D"/>
                </a:solidFill>
                <a:latin typeface="Noto Sans Mono CJK KR"/>
                <a:ea typeface="Noto Sans Mono CJK KR"/>
                <a:cs typeface="Noto Sans Mono CJK KR"/>
              </a:rPr>
              <a:t>연산자가 같아도 좌변이 다르면 다른 층이고, 비용·용량·롤백 단위가 전부 달라진다</a:t>
            </a:r>
            <a:endParaRPr sz="1000"/>
          </a:p>
        </p:txBody>
      </p:sp>
    </p:spTree>
    <p:extLst>
      <p:ext uri="{BB962C8B-B14F-4D97-AF65-F5344CB8AC3E}">
        <p14:creationId xmlns:p14="http://schemas.microsoft.com/office/powerpoint/2010/main" val="814754748"/>
      </p:ext>
    </p:extLst>
  </p:cSld>
</p:sld>
</file>

<file path=ppt/slides/slide4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2-section">
            <a:extLst xmlns:a="http://schemas.openxmlformats.org/drawingml/2006/main">
              <a:ext uri="{FF2B5EF4-FFF2-40B4-BE49-F238E27FC236}">
                <a16:creationId xmlns:a16="http://schemas.microsoft.com/office/drawing/2014/main" id="{B3AE04B8-8245-44A2-8AD4-9A767BB156F4}"/>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DISCRIMINANT</a:t>
            </a:r>
            <a:endParaRPr sz="950"/>
          </a:p>
        </p:txBody>
      </p:sp>
      <p:sp>
        <p:nvSpPr>
          <p:cNvPr id="3" name="STC-02-slide-id">
            <a:extLst xmlns:a="http://schemas.openxmlformats.org/drawingml/2006/main">
              <a:ext uri="{FF2B5EF4-FFF2-40B4-BE49-F238E27FC236}">
                <a16:creationId xmlns:a16="http://schemas.microsoft.com/office/drawing/2014/main" id="{BE855689-E691-4D5A-A176-FA0CC6C672AC}"/>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STC-044</a:t>
            </a:r>
            <a:endParaRPr sz="950"/>
          </a:p>
        </p:txBody>
      </p:sp>
      <p:sp>
        <p:nvSpPr>
          <p:cNvPr id="4" name="STC-02-headline">
            <a:extLst xmlns:a="http://schemas.openxmlformats.org/drawingml/2006/main">
              <a:ext uri="{FF2B5EF4-FFF2-40B4-BE49-F238E27FC236}">
                <a16:creationId xmlns:a16="http://schemas.microsoft.com/office/drawing/2014/main" id="{9F4BA35A-C084-4820-A869-3F58338107FA}"/>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경계 사례 규칙 — MemGPT는 되고 RAG는 안 되는 이유</a:t>
            </a:r>
            <a:endParaRPr sz="3000"/>
          </a:p>
        </p:txBody>
      </p:sp>
      <p:sp>
        <p:nvSpPr>
          <p:cNvPr id="5" name="STC-02-status-label">
            <a:extLst xmlns:a="http://schemas.openxmlformats.org/drawingml/2006/main">
              <a:ext uri="{FF2B5EF4-FFF2-40B4-BE49-F238E27FC236}">
                <a16:creationId xmlns:a16="http://schemas.microsoft.com/office/drawing/2014/main" id="{1B872D46-D4B1-425B-A362-8822456881AC}"/>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규칙</a:t>
            </a:r>
            <a:endParaRPr sz="1000"/>
          </a:p>
        </p:txBody>
      </p:sp>
      <p:sp>
        <p:nvSpPr>
          <p:cNvPr id="6" name="STC-02-status-rule">
            <a:extLst xmlns:a="http://schemas.openxmlformats.org/drawingml/2006/main">
              <a:ext uri="{FF2B5EF4-FFF2-40B4-BE49-F238E27FC236}">
                <a16:creationId xmlns:a16="http://schemas.microsoft.com/office/drawing/2014/main" id="{AAA2BDB5-9AB1-43CC-81F2-726033A947FE}"/>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2-footer-rule">
            <a:extLst xmlns:a="http://schemas.openxmlformats.org/drawingml/2006/main">
              <a:ext uri="{FF2B5EF4-FFF2-40B4-BE49-F238E27FC236}">
                <a16:creationId xmlns:a16="http://schemas.microsoft.com/office/drawing/2014/main" id="{90EAC1C3-0B28-440F-82C3-430CFCB7A87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2-source-footer">
            <a:extLst xmlns:a="http://schemas.openxmlformats.org/drawingml/2006/main">
              <a:ext uri="{FF2B5EF4-FFF2-40B4-BE49-F238E27FC236}">
                <a16:creationId xmlns:a16="http://schemas.microsoft.com/office/drawing/2014/main" id="{793D87D7-D04F-48E5-B4E6-8B70035D63C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§11.5 · [Letta STC §2 'Pre-computation']</a:t>
            </a:r>
            <a:endParaRPr sz="850"/>
          </a:p>
        </p:txBody>
      </p:sp>
      <p:sp>
        <p:nvSpPr>
          <p:cNvPr id="9" name="STC-02-page-number">
            <a:extLst xmlns:a="http://schemas.openxmlformats.org/drawingml/2006/main">
              <a:ext uri="{FF2B5EF4-FFF2-40B4-BE49-F238E27FC236}">
                <a16:creationId xmlns:a16="http://schemas.microsoft.com/office/drawing/2014/main" id="{9B82730B-5BA4-40C1-BB36-231F3E2F81B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44</a:t>
            </a:r>
            <a:endParaRPr sz="850"/>
          </a:p>
        </p:txBody>
      </p:sp>
      <p:sp>
        <p:nvSpPr>
          <p:cNvPr id="11" name="STC-02-when">
            <a:extLst xmlns:a="http://schemas.openxmlformats.org/drawingml/2006/main">
              <a:ext uri="{FF2B5EF4-FFF2-40B4-BE49-F238E27FC236}">
                <a16:creationId xmlns:a16="http://schemas.microsoft.com/office/drawing/2014/main" id="{16BCA9BF-B6CB-412C-9306-FDAB2AE1F9FD}"/>
              </a:ext>
            </a:extLst>
          </p:cNvPr>
          <p:cNvSpPr>
            <a:spLocks xmlns:a="http://schemas.openxmlformats.org/drawingml/2006/main" noGrp="1"/>
          </p:cNvSpPr>
          <p:nvPr/>
        </p:nvSpPr>
        <p:spPr>
          <a:xfrm xmlns:a="http://schemas.openxmlformats.org/drawingml/2006/main">
            <a:off x="731520" y="1673352"/>
            <a:ext cx="9601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44E8A"/>
                </a:solidFill>
                <a:latin typeface="Noto Serif CJK KR"/>
                <a:ea typeface="Noto Serif CJK KR"/>
                <a:cs typeface="Noto Serif CJK KR"/>
              </a:rPr>
              <a:t>조건</a:t>
            </a:r>
            <a:endParaRPr sz="2800"/>
          </a:p>
        </p:txBody>
      </p:sp>
      <p:sp>
        <p:nvSpPr>
          <p:cNvPr id="12" name="STC-02-what">
            <a:extLst xmlns:a="http://schemas.openxmlformats.org/drawingml/2006/main">
              <a:ext uri="{FF2B5EF4-FFF2-40B4-BE49-F238E27FC236}">
                <a16:creationId xmlns:a16="http://schemas.microsoft.com/office/drawing/2014/main" id="{4D549EF3-5805-4997-88E2-74654ACC4A4F}"/>
              </a:ext>
            </a:extLst>
          </p:cNvPr>
          <p:cNvSpPr>
            <a:spLocks xmlns:a="http://schemas.openxmlformats.org/drawingml/2006/main" noGrp="1"/>
          </p:cNvSpPr>
          <p:nvPr/>
        </p:nvSpPr>
        <p:spPr>
          <a:xfrm xmlns:a="http://schemas.openxmlformats.org/drawingml/2006/main">
            <a:off x="731520" y="2761488"/>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9A442D"/>
                </a:solidFill>
                <a:latin typeface="Noto Serif CJK KR"/>
                <a:ea typeface="Noto Serif CJK KR"/>
                <a:cs typeface="Noto Serif CJK KR"/>
              </a:rPr>
              <a:t>의무</a:t>
            </a:r>
            <a:endParaRPr sz="2800"/>
          </a:p>
        </p:txBody>
      </p:sp>
      <p:sp>
        <p:nvSpPr>
          <p:cNvPr id="13" name="STC-02-where">
            <a:extLst xmlns:a="http://schemas.openxmlformats.org/drawingml/2006/main">
              <a:ext uri="{FF2B5EF4-FFF2-40B4-BE49-F238E27FC236}">
                <a16:creationId xmlns:a16="http://schemas.microsoft.com/office/drawing/2014/main" id="{F2ABEEFC-09C0-4ED9-A436-4F6FF445EF5A}"/>
              </a:ext>
            </a:extLst>
          </p:cNvPr>
          <p:cNvSpPr>
            <a:spLocks xmlns:a="http://schemas.openxmlformats.org/drawingml/2006/main" noGrp="1"/>
          </p:cNvSpPr>
          <p:nvPr/>
        </p:nvSpPr>
        <p:spPr>
          <a:xfrm xmlns:a="http://schemas.openxmlformats.org/drawingml/2006/main">
            <a:off x="731520" y="3849624"/>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F6B63"/>
                </a:solidFill>
                <a:latin typeface="Noto Serif CJK KR"/>
                <a:ea typeface="Noto Serif CJK KR"/>
                <a:cs typeface="Noto Serif CJK KR"/>
              </a:rPr>
              <a:t>RAG</a:t>
            </a:r>
            <a:endParaRPr sz="2800"/>
          </a:p>
        </p:txBody>
      </p:sp>
      <p:sp>
        <p:nvSpPr>
          <p:cNvPr id="14" name="STC-02-when-line">
            <a:extLst xmlns:a="http://schemas.openxmlformats.org/drawingml/2006/main">
              <a:ext uri="{FF2B5EF4-FFF2-40B4-BE49-F238E27FC236}">
                <a16:creationId xmlns:a16="http://schemas.microsoft.com/office/drawing/2014/main" id="{A0043737-4272-4C17-86C1-34866CB1C145}"/>
              </a:ext>
            </a:extLst>
          </p:cNvPr>
          <p:cNvSpPr>
            <a:spLocks xmlns:a="http://schemas.openxmlformats.org/drawingml/2006/main" noGrp="1"/>
          </p:cNvSpPr>
          <p:nvPr/>
        </p:nvSpPr>
        <p:spPr>
          <a:xfrm xmlns:a="http://schemas.openxmlformats.org/drawingml/2006/main">
            <a:off x="2148840" y="1865376"/>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5" name="STC-02-what-line">
            <a:extLst xmlns:a="http://schemas.openxmlformats.org/drawingml/2006/main">
              <a:ext uri="{FF2B5EF4-FFF2-40B4-BE49-F238E27FC236}">
                <a16:creationId xmlns:a16="http://schemas.microsoft.com/office/drawing/2014/main" id="{19984047-E359-40E7-B1A0-D045178C217D}"/>
              </a:ext>
            </a:extLst>
          </p:cNvPr>
          <p:cNvSpPr>
            <a:spLocks xmlns:a="http://schemas.openxmlformats.org/drawingml/2006/main" noGrp="1"/>
          </p:cNvSpPr>
          <p:nvPr/>
        </p:nvSpPr>
        <p:spPr>
          <a:xfrm xmlns:a="http://schemas.openxmlformats.org/drawingml/2006/main">
            <a:off x="2148840" y="2953512"/>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6" name="STC-02-where-line">
            <a:extLst xmlns:a="http://schemas.openxmlformats.org/drawingml/2006/main">
              <a:ext uri="{FF2B5EF4-FFF2-40B4-BE49-F238E27FC236}">
                <a16:creationId xmlns:a16="http://schemas.microsoft.com/office/drawing/2014/main" id="{AC3FBBFF-8861-47FA-A523-B7B08374B29E}"/>
              </a:ext>
            </a:extLst>
          </p:cNvPr>
          <p:cNvSpPr>
            <a:spLocks xmlns:a="http://schemas.openxmlformats.org/drawingml/2006/main" noGrp="1"/>
          </p:cNvSpPr>
          <p:nvPr/>
        </p:nvSpPr>
        <p:spPr>
          <a:xfrm xmlns:a="http://schemas.openxmlformats.org/drawingml/2006/main">
            <a:off x="2148840" y="4041648"/>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7" name="STC-02-when-answer">
            <a:extLst xmlns:a="http://schemas.openxmlformats.org/drawingml/2006/main">
              <a:ext uri="{FF2B5EF4-FFF2-40B4-BE49-F238E27FC236}">
                <a16:creationId xmlns:a16="http://schemas.microsoft.com/office/drawing/2014/main" id="{DE30F009-38B4-4744-A843-3338330F9296}"/>
              </a:ext>
            </a:extLst>
          </p:cNvPr>
          <p:cNvSpPr>
            <a:spLocks xmlns:a="http://schemas.openxmlformats.org/drawingml/2006/main" noGrp="1"/>
          </p:cNvSpPr>
          <p:nvPr/>
        </p:nvSpPr>
        <p:spPr>
          <a:xfrm xmlns:a="http://schemas.openxmlformats.org/drawingml/2006/main">
            <a:off x="2377440" y="1618488"/>
            <a:ext cx="7269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네 조건 중 셋을 만족하고, 통과군이 조상으로 지목</a:t>
            </a:r>
            <a:endParaRPr sz="2100"/>
          </a:p>
        </p:txBody>
      </p:sp>
      <p:sp>
        <p:nvSpPr>
          <p:cNvPr id="18" name="STC-02-what-answer">
            <a:extLst xmlns:a="http://schemas.openxmlformats.org/drawingml/2006/main">
              <a:ext uri="{FF2B5EF4-FFF2-40B4-BE49-F238E27FC236}">
                <a16:creationId xmlns:a16="http://schemas.microsoft.com/office/drawing/2014/main" id="{31F10D90-9E59-4017-AAB6-C5184B790324}"/>
              </a:ext>
            </a:extLst>
          </p:cNvPr>
          <p:cNvSpPr>
            <a:spLocks xmlns:a="http://schemas.openxmlformats.org/drawingml/2006/main" noGrp="1"/>
          </p:cNvSpPr>
          <p:nvPr/>
        </p:nvSpPr>
        <p:spPr>
          <a:xfrm xmlns:a="http://schemas.openxmlformats.org/drawingml/2006/main">
            <a:off x="2377440" y="2706624"/>
            <a:ext cx="78638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탈락 조건 명시 + 통과군으로 세지 않기</a:t>
            </a:r>
            <a:endParaRPr sz="2100"/>
          </a:p>
        </p:txBody>
      </p:sp>
      <p:sp>
        <p:nvSpPr>
          <p:cNvPr id="19" name="STC-02-where-answer">
            <a:extLst xmlns:a="http://schemas.openxmlformats.org/drawingml/2006/main">
              <a:ext uri="{FF2B5EF4-FFF2-40B4-BE49-F238E27FC236}">
                <a16:creationId xmlns:a16="http://schemas.microsoft.com/office/drawing/2014/main" id="{7B9DAECE-395E-4C23-8BFF-9AE8A0ABEE81}"/>
              </a:ext>
            </a:extLst>
          </p:cNvPr>
          <p:cNvSpPr>
            <a:spLocks xmlns:a="http://schemas.openxmlformats.org/drawingml/2006/main" noGrp="1"/>
          </p:cNvSpPr>
          <p:nvPr/>
        </p:nvSpPr>
        <p:spPr>
          <a:xfrm xmlns:a="http://schemas.openxmlformats.org/drawingml/2006/main">
            <a:off x="2377440" y="3794760"/>
            <a:ext cx="8458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탈락 조건 하나지만 조상 지목이 없다 — 배경</a:t>
            </a:r>
            <a:endParaRPr sz="2100"/>
          </a:p>
        </p:txBody>
      </p:sp>
      <p:sp>
        <p:nvSpPr>
          <p:cNvPr id="20" name="STC-02-thesis-bar">
            <a:extLst xmlns:a="http://schemas.openxmlformats.org/drawingml/2006/main">
              <a:ext uri="{FF2B5EF4-FFF2-40B4-BE49-F238E27FC236}">
                <a16:creationId xmlns:a16="http://schemas.microsoft.com/office/drawing/2014/main" id="{307CCCCF-FC4F-496A-AFFE-4544A0437B9F}"/>
              </a:ext>
            </a:extLst>
          </p:cNvPr>
          <p:cNvSpPr>
            <a:spLocks xmlns:a="http://schemas.openxmlformats.org/drawingml/2006/main" noGrp="1"/>
          </p:cNvSpPr>
          <p:nvPr/>
        </p:nvSpPr>
        <p:spPr>
          <a:xfrm xmlns:a="http://schemas.openxmlformats.org/drawingml/2006/main">
            <a:off x="2359152" y="4791456"/>
            <a:ext cx="8174736" cy="731520"/>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02-thesis-bar-text">
            <a:extLst xmlns:a="http://schemas.openxmlformats.org/drawingml/2006/main">
              <a:ext uri="{FF2B5EF4-FFF2-40B4-BE49-F238E27FC236}">
                <a16:creationId xmlns:a16="http://schemas.microsoft.com/office/drawing/2014/main" id="{A739DA4E-B679-406F-8823-36B5720A9DC8}"/>
              </a:ext>
            </a:extLst>
          </p:cNvPr>
          <p:cNvSpPr>
            <a:spLocks xmlns:a="http://schemas.openxmlformats.org/drawingml/2006/main" noGrp="1"/>
          </p:cNvSpPr>
          <p:nvPr/>
        </p:nvSpPr>
        <p:spPr>
          <a:xfrm xmlns:a="http://schemas.openxmlformats.org/drawingml/2006/main">
            <a:off x="2606040" y="5001768"/>
            <a:ext cx="7680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900" b="1">
                <a:solidFill>
                  <a:srgbClr val="FFFFFF"/>
                </a:solidFill>
                <a:latin typeface="Noto Sans CJK KR"/>
                <a:ea typeface="Noto Sans CJK KR"/>
                <a:cs typeface="Noto Sans CJK KR"/>
              </a:rPr>
              <a:t>경계 사례 자격은 탈락 조건의 개수만으로 주어지지 않는다</a:t>
            </a:r>
            <a:endParaRPr sz="1900"/>
          </a:p>
        </p:txBody>
      </p:sp>
    </p:spTree>
    <p:extLst>
      <p:ext uri="{BB962C8B-B14F-4D97-AF65-F5344CB8AC3E}">
        <p14:creationId xmlns:p14="http://schemas.microsoft.com/office/powerpoint/2010/main" val="1716489855"/>
      </p:ext>
    </p:extLst>
  </p:cSld>
</p:sld>
</file>

<file path=ppt/slides/slide4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3-section">
            <a:extLst xmlns:a="http://schemas.openxmlformats.org/drawingml/2006/main">
              <a:ext uri="{FF2B5EF4-FFF2-40B4-BE49-F238E27FC236}">
                <a16:creationId xmlns:a16="http://schemas.microsoft.com/office/drawing/2014/main" id="{DEF75E10-FC43-4F90-A29D-73D1CBC1DCC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DISCRIMINANT</a:t>
            </a:r>
            <a:endParaRPr sz="950"/>
          </a:p>
        </p:txBody>
      </p:sp>
      <p:sp>
        <p:nvSpPr>
          <p:cNvPr id="3" name="STC-13-slide-id">
            <a:extLst xmlns:a="http://schemas.openxmlformats.org/drawingml/2006/main">
              <a:ext uri="{FF2B5EF4-FFF2-40B4-BE49-F238E27FC236}">
                <a16:creationId xmlns:a16="http://schemas.microsoft.com/office/drawing/2014/main" id="{207357D7-4303-4447-A61C-4C79283F663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STC-045</a:t>
            </a:r>
            <a:endParaRPr sz="950"/>
          </a:p>
        </p:txBody>
      </p:sp>
      <p:sp>
        <p:nvSpPr>
          <p:cNvPr id="4" name="STC-13-headline">
            <a:extLst xmlns:a="http://schemas.openxmlformats.org/drawingml/2006/main">
              <a:ext uri="{FF2B5EF4-FFF2-40B4-BE49-F238E27FC236}">
                <a16:creationId xmlns:a16="http://schemas.microsoft.com/office/drawing/2014/main" id="{8E260E54-4985-4C50-817D-C85BDF65F5D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침묵 지도 — 연대가 강제한 침묵과 선택된 침묵</a:t>
            </a:r>
            <a:endParaRPr sz="3000"/>
          </a:p>
        </p:txBody>
      </p:sp>
      <p:sp>
        <p:nvSpPr>
          <p:cNvPr id="5" name="STC-13-status-label">
            <a:extLst xmlns:a="http://schemas.openxmlformats.org/drawingml/2006/main">
              <a:ext uri="{FF2B5EF4-FFF2-40B4-BE49-F238E27FC236}">
                <a16:creationId xmlns:a16="http://schemas.microsoft.com/office/drawing/2014/main" id="{76CEFCAB-90F8-4FF1-91A9-495F4B23416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전수 확인</a:t>
            </a:r>
            <a:endParaRPr sz="1000"/>
          </a:p>
        </p:txBody>
      </p:sp>
      <p:sp>
        <p:nvSpPr>
          <p:cNvPr id="6" name="STC-13-status-rule">
            <a:extLst xmlns:a="http://schemas.openxmlformats.org/drawingml/2006/main">
              <a:ext uri="{FF2B5EF4-FFF2-40B4-BE49-F238E27FC236}">
                <a16:creationId xmlns:a16="http://schemas.microsoft.com/office/drawing/2014/main" id="{07360112-59F1-4B26-BA92-7088E3FD40C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13-footer-rule">
            <a:extLst xmlns:a="http://schemas.openxmlformats.org/drawingml/2006/main">
              <a:ext uri="{FF2B5EF4-FFF2-40B4-BE49-F238E27FC236}">
                <a16:creationId xmlns:a16="http://schemas.microsoft.com/office/drawing/2014/main" id="{26DC731C-F3A6-48D1-B411-9B2CD636969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3-source-footer">
            <a:extLst xmlns:a="http://schemas.openxmlformats.org/drawingml/2006/main">
              <a:ext uri="{FF2B5EF4-FFF2-40B4-BE49-F238E27FC236}">
                <a16:creationId xmlns:a16="http://schemas.microsoft.com/office/drawing/2014/main" id="{F8DE0C07-9BB3-4619-B392-5FCFC17ACBE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§11.6, §11.6.1 표 11-4</a:t>
            </a:r>
            <a:endParaRPr sz="850"/>
          </a:p>
        </p:txBody>
      </p:sp>
      <p:sp>
        <p:nvSpPr>
          <p:cNvPr id="9" name="STC-13-page-number">
            <a:extLst xmlns:a="http://schemas.openxmlformats.org/drawingml/2006/main">
              <a:ext uri="{FF2B5EF4-FFF2-40B4-BE49-F238E27FC236}">
                <a16:creationId xmlns:a16="http://schemas.microsoft.com/office/drawing/2014/main" id="{77A42865-7B64-4DDF-99E9-C4F94EB652F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45</a:t>
            </a:r>
            <a:endParaRPr sz="850"/>
          </a:p>
        </p:txBody>
      </p:sp>
      <p:sp>
        <p:nvSpPr>
          <p:cNvPr id="11" name="STC-13-data-layer-0">
            <a:extLst xmlns:a="http://schemas.openxmlformats.org/drawingml/2006/main">
              <a:ext uri="{FF2B5EF4-FFF2-40B4-BE49-F238E27FC236}">
                <a16:creationId xmlns:a16="http://schemas.microsoft.com/office/drawing/2014/main" id="{E5BBE619-AB19-42FA-8122-D61948B604E8}"/>
              </a:ext>
            </a:extLst>
          </p:cNvPr>
          <p:cNvSpPr>
            <a:spLocks xmlns:a="http://schemas.openxmlformats.org/drawingml/2006/main" noGrp="1"/>
          </p:cNvSpPr>
          <p:nvPr/>
        </p:nvSpPr>
        <p:spPr>
          <a:xfrm xmlns:a="http://schemas.openxmlformats.org/drawingml/2006/main">
            <a:off x="1618488" y="1664208"/>
            <a:ext cx="8961120" cy="56692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12" name="STC-13-data-label-0">
            <a:extLst xmlns:a="http://schemas.openxmlformats.org/drawingml/2006/main">
              <a:ext uri="{FF2B5EF4-FFF2-40B4-BE49-F238E27FC236}">
                <a16:creationId xmlns:a16="http://schemas.microsoft.com/office/drawing/2014/main" id="{FDF9C9BA-3329-45E9-ABC4-2B36508291DA}"/>
              </a:ext>
            </a:extLst>
          </p:cNvPr>
          <p:cNvSpPr>
            <a:spLocks xmlns:a="http://schemas.openxmlformats.org/drawingml/2006/main" noGrp="1"/>
          </p:cNvSpPr>
          <p:nvPr/>
        </p:nvSpPr>
        <p:spPr>
          <a:xfrm xmlns:a="http://schemas.openxmlformats.org/drawingml/2006/main">
            <a:off x="1783080" y="1828800"/>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FFFFFF"/>
                </a:solidFill>
                <a:latin typeface="Noto Sans Mono CJK KR"/>
                <a:ea typeface="Noto Sans Mono CJK KR"/>
                <a:cs typeface="Noto Sans Mono CJK KR"/>
              </a:rPr>
              <a:t>정의</a:t>
            </a:r>
            <a:endParaRPr sz="1050"/>
          </a:p>
        </p:txBody>
      </p:sp>
      <p:sp>
        <p:nvSpPr>
          <p:cNvPr id="13" name="STC-13-data-body-0">
            <a:extLst xmlns:a="http://schemas.openxmlformats.org/drawingml/2006/main">
              <a:ext uri="{FF2B5EF4-FFF2-40B4-BE49-F238E27FC236}">
                <a16:creationId xmlns:a16="http://schemas.microsoft.com/office/drawing/2014/main" id="{34676F1F-A035-47A9-9C53-7C294D97CEF1}"/>
              </a:ext>
            </a:extLst>
          </p:cNvPr>
          <p:cNvSpPr>
            <a:spLocks xmlns:a="http://schemas.openxmlformats.org/drawingml/2006/main" noGrp="1"/>
          </p:cNvSpPr>
          <p:nvPr/>
        </p:nvSpPr>
        <p:spPr>
          <a:xfrm xmlns:a="http://schemas.openxmlformats.org/drawingml/2006/main">
            <a:off x="3401568" y="1755648"/>
            <a:ext cx="6995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FFFFFF"/>
                </a:solidFill>
                <a:latin typeface="Noto Sans CJK KR"/>
                <a:ea typeface="Noto Sans CJK KR"/>
                <a:cs typeface="Noto Sans CJK KR"/>
              </a:rPr>
              <a:t>뒤에 온 논문이 앞선 논문을 인용했는가만 묻는다</a:t>
            </a:r>
            <a:endParaRPr sz="1450"/>
          </a:p>
        </p:txBody>
      </p:sp>
      <p:sp>
        <p:nvSpPr>
          <p:cNvPr id="14" name="STC-13-data-layer-1">
            <a:extLst xmlns:a="http://schemas.openxmlformats.org/drawingml/2006/main">
              <a:ext uri="{FF2B5EF4-FFF2-40B4-BE49-F238E27FC236}">
                <a16:creationId xmlns:a16="http://schemas.microsoft.com/office/drawing/2014/main" id="{2C7AD258-BAEB-4994-96A5-F1AB29FB68DF}"/>
              </a:ext>
            </a:extLst>
          </p:cNvPr>
          <p:cNvSpPr>
            <a:spLocks xmlns:a="http://schemas.openxmlformats.org/drawingml/2006/main" noGrp="1"/>
          </p:cNvSpPr>
          <p:nvPr/>
        </p:nvSpPr>
        <p:spPr>
          <a:xfrm xmlns:a="http://schemas.openxmlformats.org/drawingml/2006/main">
            <a:off x="2258568" y="2450592"/>
            <a:ext cx="7680960" cy="566928"/>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3-data-label-1">
            <a:extLst xmlns:a="http://schemas.openxmlformats.org/drawingml/2006/main">
              <a:ext uri="{FF2B5EF4-FFF2-40B4-BE49-F238E27FC236}">
                <a16:creationId xmlns:a16="http://schemas.microsoft.com/office/drawing/2014/main" id="{02CDF8C0-80BF-43B8-B0F1-3E7D91CAE3C2}"/>
              </a:ext>
            </a:extLst>
          </p:cNvPr>
          <p:cNvSpPr>
            <a:spLocks xmlns:a="http://schemas.openxmlformats.org/drawingml/2006/main" noGrp="1"/>
          </p:cNvSpPr>
          <p:nvPr/>
        </p:nvSpPr>
        <p:spPr>
          <a:xfrm xmlns:a="http://schemas.openxmlformats.org/drawingml/2006/main">
            <a:off x="2423160" y="2615184"/>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Memory Layers</a:t>
            </a:r>
            <a:endParaRPr sz="1050"/>
          </a:p>
        </p:txBody>
      </p:sp>
      <p:sp>
        <p:nvSpPr>
          <p:cNvPr id="16" name="STC-13-data-body-1">
            <a:extLst xmlns:a="http://schemas.openxmlformats.org/drawingml/2006/main">
              <a:ext uri="{FF2B5EF4-FFF2-40B4-BE49-F238E27FC236}">
                <a16:creationId xmlns:a16="http://schemas.microsoft.com/office/drawing/2014/main" id="{BC62C31C-D212-42ED-AE30-842B56196CD1}"/>
              </a:ext>
            </a:extLst>
          </p:cNvPr>
          <p:cNvSpPr>
            <a:spLocks xmlns:a="http://schemas.openxmlformats.org/drawingml/2006/main" noGrp="1"/>
          </p:cNvSpPr>
          <p:nvPr/>
        </p:nvSpPr>
        <p:spPr>
          <a:xfrm xmlns:a="http://schemas.openxmlformats.org/drawingml/2006/main">
            <a:off x="4041648" y="2542032"/>
            <a:ext cx="5715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17191C"/>
                </a:solidFill>
                <a:latin typeface="Noto Sans CJK KR"/>
                <a:ea typeface="Noto Sans CJK KR"/>
                <a:cs typeface="Noto Sans CJK KR"/>
              </a:rPr>
              <a:t>MemGPT·LoRA·ROME·EWC 넷 다 미인용</a:t>
            </a:r>
            <a:endParaRPr sz="1450"/>
          </a:p>
        </p:txBody>
      </p:sp>
      <p:sp>
        <p:nvSpPr>
          <p:cNvPr id="17" name="STC-13-data-layer-2">
            <a:extLst xmlns:a="http://schemas.openxmlformats.org/drawingml/2006/main">
              <a:ext uri="{FF2B5EF4-FFF2-40B4-BE49-F238E27FC236}">
                <a16:creationId xmlns:a16="http://schemas.microsoft.com/office/drawing/2014/main" id="{D6FAD0EE-091C-49BC-AC96-FF7C3FD7BF30}"/>
              </a:ext>
            </a:extLst>
          </p:cNvPr>
          <p:cNvSpPr>
            <a:spLocks xmlns:a="http://schemas.openxmlformats.org/drawingml/2006/main" noGrp="1"/>
          </p:cNvSpPr>
          <p:nvPr/>
        </p:nvSpPr>
        <p:spPr>
          <a:xfrm xmlns:a="http://schemas.openxmlformats.org/drawingml/2006/main">
            <a:off x="2898648" y="3236976"/>
            <a:ext cx="6400800" cy="566928"/>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8" name="STC-13-data-label-2">
            <a:extLst xmlns:a="http://schemas.openxmlformats.org/drawingml/2006/main">
              <a:ext uri="{FF2B5EF4-FFF2-40B4-BE49-F238E27FC236}">
                <a16:creationId xmlns:a16="http://schemas.microsoft.com/office/drawing/2014/main" id="{AA018C36-C849-429F-A2CB-A09888ED5181}"/>
              </a:ext>
            </a:extLst>
          </p:cNvPr>
          <p:cNvSpPr>
            <a:spLocks xmlns:a="http://schemas.openxmlformats.org/drawingml/2006/main" noGrp="1"/>
          </p:cNvSpPr>
          <p:nvPr/>
        </p:nvSpPr>
        <p:spPr>
          <a:xfrm xmlns:a="http://schemas.openxmlformats.org/drawingml/2006/main">
            <a:off x="3063240" y="3401568"/>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Nested Learning</a:t>
            </a:r>
            <a:endParaRPr sz="1050"/>
          </a:p>
        </p:txBody>
      </p:sp>
      <p:sp>
        <p:nvSpPr>
          <p:cNvPr id="19" name="STC-13-data-body-2">
            <a:extLst xmlns:a="http://schemas.openxmlformats.org/drawingml/2006/main">
              <a:ext uri="{FF2B5EF4-FFF2-40B4-BE49-F238E27FC236}">
                <a16:creationId xmlns:a16="http://schemas.microsoft.com/office/drawing/2014/main" id="{41815879-EDCF-477A-A120-7092A00F5988}"/>
              </a:ext>
            </a:extLst>
          </p:cNvPr>
          <p:cNvSpPr>
            <a:spLocks xmlns:a="http://schemas.openxmlformats.org/drawingml/2006/main" noGrp="1"/>
          </p:cNvSpPr>
          <p:nvPr/>
        </p:nvSpPr>
        <p:spPr>
          <a:xfrm xmlns:a="http://schemas.openxmlformats.org/drawingml/2006/main">
            <a:off x="4681728" y="3328416"/>
            <a:ext cx="4434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8개월 선행한 Letta STC를 인용하지 않는다</a:t>
            </a:r>
            <a:endParaRPr sz="1350"/>
          </a:p>
        </p:txBody>
      </p:sp>
      <p:sp>
        <p:nvSpPr>
          <p:cNvPr id="20" name="STC-13-data-layer-3">
            <a:extLst xmlns:a="http://schemas.openxmlformats.org/drawingml/2006/main">
              <a:ext uri="{FF2B5EF4-FFF2-40B4-BE49-F238E27FC236}">
                <a16:creationId xmlns:a16="http://schemas.microsoft.com/office/drawing/2014/main" id="{FBD0C7D7-10DE-463B-9217-97D247B03C72}"/>
              </a:ext>
            </a:extLst>
          </p:cNvPr>
          <p:cNvSpPr>
            <a:spLocks xmlns:a="http://schemas.openxmlformats.org/drawingml/2006/main" noGrp="1"/>
          </p:cNvSpPr>
          <p:nvPr/>
        </p:nvSpPr>
        <p:spPr>
          <a:xfrm xmlns:a="http://schemas.openxmlformats.org/drawingml/2006/main">
            <a:off x="3538728" y="4023360"/>
            <a:ext cx="5120640" cy="566928"/>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13-data-label-3">
            <a:extLst xmlns:a="http://schemas.openxmlformats.org/drawingml/2006/main">
              <a:ext uri="{FF2B5EF4-FFF2-40B4-BE49-F238E27FC236}">
                <a16:creationId xmlns:a16="http://schemas.microsoft.com/office/drawing/2014/main" id="{8DA5B66F-AB6C-424C-B38E-EC87549B7458}"/>
              </a:ext>
            </a:extLst>
          </p:cNvPr>
          <p:cNvSpPr>
            <a:spLocks xmlns:a="http://schemas.openxmlformats.org/drawingml/2006/main" noGrp="1"/>
          </p:cNvSpPr>
          <p:nvPr/>
        </p:nvSpPr>
        <p:spPr>
          <a:xfrm xmlns:a="http://schemas.openxmlformats.org/drawingml/2006/main">
            <a:off x="3703320" y="4187952"/>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Letta STC</a:t>
            </a:r>
            <a:endParaRPr sz="1050"/>
          </a:p>
        </p:txBody>
      </p:sp>
      <p:sp>
        <p:nvSpPr>
          <p:cNvPr id="22" name="STC-13-data-body-3">
            <a:extLst xmlns:a="http://schemas.openxmlformats.org/drawingml/2006/main">
              <a:ext uri="{FF2B5EF4-FFF2-40B4-BE49-F238E27FC236}">
                <a16:creationId xmlns:a16="http://schemas.microsoft.com/office/drawing/2014/main" id="{B07BDB02-D4B0-48AF-8A53-11814C8CDC53}"/>
              </a:ext>
            </a:extLst>
          </p:cNvPr>
          <p:cNvSpPr>
            <a:spLocks xmlns:a="http://schemas.openxmlformats.org/drawingml/2006/main" noGrp="1"/>
          </p:cNvSpPr>
          <p:nvPr/>
        </p:nvSpPr>
        <p:spPr>
          <a:xfrm xmlns:a="http://schemas.openxmlformats.org/drawingml/2006/main">
            <a:off x="5321808" y="41148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W·Θ·생물 세 방향 모두에 침묵한다</a:t>
            </a:r>
            <a:endParaRPr sz="1350"/>
          </a:p>
        </p:txBody>
      </p:sp>
      <p:sp>
        <p:nvSpPr>
          <p:cNvPr id="23" name="STC-13-data-layer-4">
            <a:extLst xmlns:a="http://schemas.openxmlformats.org/drawingml/2006/main">
              <a:ext uri="{FF2B5EF4-FFF2-40B4-BE49-F238E27FC236}">
                <a16:creationId xmlns:a16="http://schemas.microsoft.com/office/drawing/2014/main" id="{E60963C1-8D59-4CC2-B99B-C4EA44523D22}"/>
              </a:ext>
            </a:extLst>
          </p:cNvPr>
          <p:cNvSpPr>
            <a:spLocks xmlns:a="http://schemas.openxmlformats.org/drawingml/2006/main" noGrp="1"/>
          </p:cNvSpPr>
          <p:nvPr/>
        </p:nvSpPr>
        <p:spPr>
          <a:xfrm xmlns:a="http://schemas.openxmlformats.org/drawingml/2006/main">
            <a:off x="4178808" y="4809744"/>
            <a:ext cx="3840480" cy="566928"/>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24" name="STC-13-data-label-4">
            <a:extLst xmlns:a="http://schemas.openxmlformats.org/drawingml/2006/main">
              <a:ext uri="{FF2B5EF4-FFF2-40B4-BE49-F238E27FC236}">
                <a16:creationId xmlns:a16="http://schemas.microsoft.com/office/drawing/2014/main" id="{94E567B2-40CF-45FA-B9F9-A1B39A99C7FF}"/>
              </a:ext>
            </a:extLst>
          </p:cNvPr>
          <p:cNvSpPr>
            <a:spLocks xmlns:a="http://schemas.openxmlformats.org/drawingml/2006/main" noGrp="1"/>
          </p:cNvSpPr>
          <p:nvPr/>
        </p:nvSpPr>
        <p:spPr>
          <a:xfrm xmlns:a="http://schemas.openxmlformats.org/drawingml/2006/main">
            <a:off x="4343400" y="4974336"/>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ReasoningBank</a:t>
            </a:r>
            <a:endParaRPr sz="1050"/>
          </a:p>
        </p:txBody>
      </p:sp>
      <p:sp>
        <p:nvSpPr>
          <p:cNvPr id="25" name="STC-13-data-body-4">
            <a:extLst xmlns:a="http://schemas.openxmlformats.org/drawingml/2006/main">
              <a:ext uri="{FF2B5EF4-FFF2-40B4-BE49-F238E27FC236}">
                <a16:creationId xmlns:a16="http://schemas.microsoft.com/office/drawing/2014/main" id="{2C57AF49-F2CA-4C91-AE9F-A85EF45878C8}"/>
              </a:ext>
            </a:extLst>
          </p:cNvPr>
          <p:cNvSpPr>
            <a:spLocks xmlns:a="http://schemas.openxmlformats.org/drawingml/2006/main" noGrp="1"/>
          </p:cNvSpPr>
          <p:nvPr/>
        </p:nvSpPr>
        <p:spPr>
          <a:xfrm xmlns:a="http://schemas.openxmlformats.org/drawingml/2006/main">
            <a:off x="5961888" y="4901184"/>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'sleep'이 논문 전체에 한 번도 안 나온다</a:t>
            </a:r>
            <a:endParaRPr sz="1350"/>
          </a:p>
        </p:txBody>
      </p:sp>
      <p:sp>
        <p:nvSpPr>
          <p:cNvPr id="26" name="STC-13-data-warning">
            <a:extLst xmlns:a="http://schemas.openxmlformats.org/drawingml/2006/main">
              <a:ext uri="{FF2B5EF4-FFF2-40B4-BE49-F238E27FC236}">
                <a16:creationId xmlns:a16="http://schemas.microsoft.com/office/drawing/2014/main" id="{FE09EF05-9A9A-4209-946A-2FFD878EDF5A}"/>
              </a:ext>
            </a:extLst>
          </p:cNvPr>
          <p:cNvSpPr>
            <a:spLocks xmlns:a="http://schemas.openxmlformats.org/drawingml/2006/main" noGrp="1"/>
          </p:cNvSpPr>
          <p:nvPr/>
        </p:nvSpPr>
        <p:spPr>
          <a:xfrm xmlns:a="http://schemas.openxmlformats.org/drawingml/2006/main">
            <a:off x="2286000" y="5623560"/>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ans CJK KR"/>
                <a:ea typeface="Noto Sans CJK KR"/>
                <a:cs typeface="Noto Sans CJK KR"/>
              </a:rPr>
              <a:t>뒤에 온 논문이 앞선 논문을 인용했는가만 묻는다</a:t>
            </a:r>
            <a:endParaRPr sz="1800"/>
          </a:p>
        </p:txBody>
      </p:sp>
    </p:spTree>
    <p:extLst>
      <p:ext uri="{BB962C8B-B14F-4D97-AF65-F5344CB8AC3E}">
        <p14:creationId xmlns:p14="http://schemas.microsoft.com/office/powerpoint/2010/main" val="877466157"/>
      </p:ext>
    </p:extLst>
  </p:cSld>
</p:sld>
</file>

<file path=ppt/slides/slide4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6-section">
            <a:extLst xmlns:a="http://schemas.openxmlformats.org/drawingml/2006/main">
              <a:ext uri="{FF2B5EF4-FFF2-40B4-BE49-F238E27FC236}">
                <a16:creationId xmlns:a16="http://schemas.microsoft.com/office/drawing/2014/main" id="{C6CFE6F9-30C3-4ACE-B77D-C99D68BA58F5}"/>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DISCRIMINANT</a:t>
            </a:r>
            <a:endParaRPr sz="950"/>
          </a:p>
        </p:txBody>
      </p:sp>
      <p:sp>
        <p:nvSpPr>
          <p:cNvPr id="3" name="STC-26-slide-id">
            <a:extLst xmlns:a="http://schemas.openxmlformats.org/drawingml/2006/main">
              <a:ext uri="{FF2B5EF4-FFF2-40B4-BE49-F238E27FC236}">
                <a16:creationId xmlns:a16="http://schemas.microsoft.com/office/drawing/2014/main" id="{FBF29D78-508E-4E7A-988A-2935AC88B6A1}"/>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STC-046</a:t>
            </a:r>
            <a:endParaRPr sz="950"/>
          </a:p>
        </p:txBody>
      </p:sp>
      <p:sp>
        <p:nvSpPr>
          <p:cNvPr id="4" name="STC-26-headline">
            <a:extLst xmlns:a="http://schemas.openxmlformats.org/drawingml/2006/main">
              <a:ext uri="{FF2B5EF4-FFF2-40B4-BE49-F238E27FC236}">
                <a16:creationId xmlns:a16="http://schemas.microsoft.com/office/drawing/2014/main" id="{732EBE89-199D-4FA8-A127-19E537ABF3B3}"/>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같은 경로 안에서도 창시 논문이 인용되지 않는다</a:t>
            </a:r>
            <a:endParaRPr sz="3000"/>
          </a:p>
        </p:txBody>
      </p:sp>
      <p:sp>
        <p:nvSpPr>
          <p:cNvPr id="5" name="STC-26-status-label">
            <a:extLst xmlns:a="http://schemas.openxmlformats.org/drawingml/2006/main">
              <a:ext uri="{FF2B5EF4-FFF2-40B4-BE49-F238E27FC236}">
                <a16:creationId xmlns:a16="http://schemas.microsoft.com/office/drawing/2014/main" id="{DFBC3A45-EA4A-4C81-847B-98DDEA347603}"/>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본서 판정</a:t>
            </a:r>
            <a:endParaRPr sz="1000"/>
          </a:p>
        </p:txBody>
      </p:sp>
      <p:sp>
        <p:nvSpPr>
          <p:cNvPr id="6" name="STC-26-status-rule">
            <a:extLst xmlns:a="http://schemas.openxmlformats.org/drawingml/2006/main">
              <a:ext uri="{FF2B5EF4-FFF2-40B4-BE49-F238E27FC236}">
                <a16:creationId xmlns:a16="http://schemas.microsoft.com/office/drawing/2014/main" id="{D4374441-A440-47AE-BAFC-C99186B9EF6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26-footer-rule">
            <a:extLst xmlns:a="http://schemas.openxmlformats.org/drawingml/2006/main">
              <a:ext uri="{FF2B5EF4-FFF2-40B4-BE49-F238E27FC236}">
                <a16:creationId xmlns:a16="http://schemas.microsoft.com/office/drawing/2014/main" id="{D17054CE-E03B-4746-9386-8812E6B0F9F5}"/>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6-source-footer">
            <a:extLst xmlns:a="http://schemas.openxmlformats.org/drawingml/2006/main">
              <a:ext uri="{FF2B5EF4-FFF2-40B4-BE49-F238E27FC236}">
                <a16:creationId xmlns:a16="http://schemas.microsoft.com/office/drawing/2014/main" id="{27C2276F-F54F-4D86-9622-75C6D85DAA50}"/>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§11.7</a:t>
            </a:r>
            <a:endParaRPr sz="850"/>
          </a:p>
        </p:txBody>
      </p:sp>
      <p:sp>
        <p:nvSpPr>
          <p:cNvPr id="9" name="STC-26-page-number">
            <a:extLst xmlns:a="http://schemas.openxmlformats.org/drawingml/2006/main">
              <a:ext uri="{FF2B5EF4-FFF2-40B4-BE49-F238E27FC236}">
                <a16:creationId xmlns:a16="http://schemas.microsoft.com/office/drawing/2014/main" id="{514099CF-2FF1-439D-8114-7438C7271AB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46</a:t>
            </a:r>
            <a:endParaRPr sz="850"/>
          </a:p>
        </p:txBody>
      </p:sp>
      <p:sp>
        <p:nvSpPr>
          <p:cNvPr id="11" name="STC-26-con-capture">
            <a:extLst xmlns:a="http://schemas.openxmlformats.org/drawingml/2006/main">
              <a:ext uri="{FF2B5EF4-FFF2-40B4-BE49-F238E27FC236}">
                <a16:creationId xmlns:a16="http://schemas.microsoft.com/office/drawing/2014/main" id="{DD5D5F7C-59BF-4487-95AC-7D7853786246}"/>
              </a:ext>
            </a:extLst>
          </p:cNvPr>
          <p:cNvSpPr>
            <a:spLocks xmlns:a="http://schemas.openxmlformats.org/drawingml/2006/main" noGrp="1"/>
          </p:cNvSpPr>
          <p:nvPr/>
        </p:nvSpPr>
        <p:spPr>
          <a:xfrm xmlns:a="http://schemas.openxmlformats.org/drawingml/2006/main">
            <a:off x="822960" y="1828800"/>
            <a:ext cx="13258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E-경로</a:t>
            </a:r>
            <a:endParaRPr sz="1200"/>
          </a:p>
        </p:txBody>
      </p:sp>
      <p:sp>
        <p:nvSpPr>
          <p:cNvPr id="12" name="STC-26-con-transform">
            <a:extLst xmlns:a="http://schemas.openxmlformats.org/drawingml/2006/main">
              <a:ext uri="{FF2B5EF4-FFF2-40B4-BE49-F238E27FC236}">
                <a16:creationId xmlns:a16="http://schemas.microsoft.com/office/drawing/2014/main" id="{AD254F05-8266-4B86-A230-70C8E0018E50}"/>
              </a:ext>
            </a:extLst>
          </p:cNvPr>
          <p:cNvSpPr>
            <a:spLocks xmlns:a="http://schemas.openxmlformats.org/drawingml/2006/main" noGrp="1"/>
          </p:cNvSpPr>
          <p:nvPr/>
        </p:nvSpPr>
        <p:spPr>
          <a:xfrm xmlns:a="http://schemas.openxmlformats.org/drawingml/2006/main">
            <a:off x="3273552" y="1828800"/>
            <a:ext cx="15544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W-경로</a:t>
            </a:r>
            <a:endParaRPr sz="1200"/>
          </a:p>
        </p:txBody>
      </p:sp>
      <p:sp>
        <p:nvSpPr>
          <p:cNvPr id="13" name="STC-26-con-verify">
            <a:extLst xmlns:a="http://schemas.openxmlformats.org/drawingml/2006/main">
              <a:ext uri="{FF2B5EF4-FFF2-40B4-BE49-F238E27FC236}">
                <a16:creationId xmlns:a16="http://schemas.microsoft.com/office/drawing/2014/main" id="{8E44B935-058D-4160-A101-3846F7FE6B11}"/>
              </a:ext>
            </a:extLst>
          </p:cNvPr>
          <p:cNvSpPr>
            <a:spLocks xmlns:a="http://schemas.openxmlformats.org/drawingml/2006/main" noGrp="1"/>
          </p:cNvSpPr>
          <p:nvPr/>
        </p:nvSpPr>
        <p:spPr>
          <a:xfrm xmlns:a="http://schemas.openxmlformats.org/drawingml/2006/main">
            <a:off x="6016752" y="1828800"/>
            <a:ext cx="11887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상속</a:t>
            </a:r>
            <a:endParaRPr sz="1200"/>
          </a:p>
        </p:txBody>
      </p:sp>
      <p:sp>
        <p:nvSpPr>
          <p:cNvPr id="14" name="STC-26-con-reuse">
            <a:extLst xmlns:a="http://schemas.openxmlformats.org/drawingml/2006/main">
              <a:ext uri="{FF2B5EF4-FFF2-40B4-BE49-F238E27FC236}">
                <a16:creationId xmlns:a16="http://schemas.microsoft.com/office/drawing/2014/main" id="{FE44A74D-7473-4EAE-B64F-7D1B198738BB}"/>
              </a:ext>
            </a:extLst>
          </p:cNvPr>
          <p:cNvSpPr>
            <a:spLocks xmlns:a="http://schemas.openxmlformats.org/drawingml/2006/main" noGrp="1"/>
          </p:cNvSpPr>
          <p:nvPr/>
        </p:nvSpPr>
        <p:spPr>
          <a:xfrm xmlns:a="http://schemas.openxmlformats.org/drawingml/2006/main">
            <a:off x="8503920" y="1828800"/>
            <a:ext cx="1965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7191C"/>
                </a:solidFill>
                <a:latin typeface="Noto Sans Mono CJK KR"/>
                <a:ea typeface="Noto Sans Mono CJK KR"/>
                <a:cs typeface="Noto Sans Mono CJK KR"/>
              </a:rPr>
              <a:t>예외</a:t>
            </a:r>
            <a:endParaRPr sz="1200"/>
          </a:p>
        </p:txBody>
      </p:sp>
      <p:sp>
        <p:nvSpPr>
          <p:cNvPr id="15" name="STC-26-con-line">
            <a:extLst xmlns:a="http://schemas.openxmlformats.org/drawingml/2006/main">
              <a:ext uri="{FF2B5EF4-FFF2-40B4-BE49-F238E27FC236}">
                <a16:creationId xmlns:a16="http://schemas.microsoft.com/office/drawing/2014/main" id="{6B9F33DC-455B-43F8-B927-A5FEE8FB6298}"/>
              </a:ext>
            </a:extLst>
          </p:cNvPr>
          <p:cNvSpPr>
            <a:spLocks xmlns:a="http://schemas.openxmlformats.org/drawingml/2006/main" noGrp="1"/>
          </p:cNvSpPr>
          <p:nvPr/>
        </p:nvSpPr>
        <p:spPr>
          <a:xfrm xmlns:a="http://schemas.openxmlformats.org/drawingml/2006/main">
            <a:off x="1051560" y="2487168"/>
            <a:ext cx="9281160" cy="0"/>
          </a:xfrm>
          <a:prstGeom xmlns:a="http://schemas.openxmlformats.org/drawingml/2006/main" prst="line">
            <a:avLst/>
          </a:prstGeom>
          <a:noFill xmlns:a="http://schemas.openxmlformats.org/drawingml/2006/main"/>
          <a:ln xmlns:a="http://schemas.openxmlformats.org/drawingml/2006/main" w="25400">
            <a:solidFill>
              <a:srgbClr val="17191C"/>
            </a:solidFill>
            <a:prstDash val="solid"/>
            <a:tailEnd type="triangle"/>
          </a:ln>
        </p:spPr>
      </p:sp>
      <p:sp>
        <p:nvSpPr>
          <p:cNvPr id="16" name="STC-26-con-dot-0">
            <a:extLst xmlns:a="http://schemas.openxmlformats.org/drawingml/2006/main">
              <a:ext uri="{FF2B5EF4-FFF2-40B4-BE49-F238E27FC236}">
                <a16:creationId xmlns:a16="http://schemas.microsoft.com/office/drawing/2014/main" id="{18E9E8A9-F67A-4463-9047-709E74A28F43}"/>
              </a:ext>
            </a:extLst>
          </p:cNvPr>
          <p:cNvSpPr>
            <a:spLocks xmlns:a="http://schemas.openxmlformats.org/drawingml/2006/main" noGrp="1"/>
          </p:cNvSpPr>
          <p:nvPr/>
        </p:nvSpPr>
        <p:spPr>
          <a:xfrm xmlns:a="http://schemas.openxmlformats.org/drawingml/2006/main">
            <a:off x="1143000" y="2267712"/>
            <a:ext cx="438912" cy="438912"/>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7" name="STC-26-con-dot-1">
            <a:extLst xmlns:a="http://schemas.openxmlformats.org/drawingml/2006/main">
              <a:ext uri="{FF2B5EF4-FFF2-40B4-BE49-F238E27FC236}">
                <a16:creationId xmlns:a16="http://schemas.microsoft.com/office/drawing/2014/main" id="{47DAFBCE-CC13-44DF-BE97-33289CD5FCA2}"/>
              </a:ext>
            </a:extLst>
          </p:cNvPr>
          <p:cNvSpPr>
            <a:spLocks xmlns:a="http://schemas.openxmlformats.org/drawingml/2006/main" noGrp="1"/>
          </p:cNvSpPr>
          <p:nvPr/>
        </p:nvSpPr>
        <p:spPr>
          <a:xfrm xmlns:a="http://schemas.openxmlformats.org/drawingml/2006/main">
            <a:off x="3749040" y="2267712"/>
            <a:ext cx="438912" cy="438912"/>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8" name="STC-26-con-dot-2">
            <a:extLst xmlns:a="http://schemas.openxmlformats.org/drawingml/2006/main">
              <a:ext uri="{FF2B5EF4-FFF2-40B4-BE49-F238E27FC236}">
                <a16:creationId xmlns:a16="http://schemas.microsoft.com/office/drawing/2014/main" id="{DA396941-490E-4E1D-8092-36FE24F9034E}"/>
              </a:ext>
            </a:extLst>
          </p:cNvPr>
          <p:cNvSpPr>
            <a:spLocks xmlns:a="http://schemas.openxmlformats.org/drawingml/2006/main" noGrp="1"/>
          </p:cNvSpPr>
          <p:nvPr/>
        </p:nvSpPr>
        <p:spPr>
          <a:xfrm xmlns:a="http://schemas.openxmlformats.org/drawingml/2006/main">
            <a:off x="6400800" y="2267712"/>
            <a:ext cx="438912" cy="438912"/>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19" name="STC-26-con-dot-3">
            <a:extLst xmlns:a="http://schemas.openxmlformats.org/drawingml/2006/main">
              <a:ext uri="{FF2B5EF4-FFF2-40B4-BE49-F238E27FC236}">
                <a16:creationId xmlns:a16="http://schemas.microsoft.com/office/drawing/2014/main" id="{29D6F485-EAC6-4AD2-9692-7D423798FC2C}"/>
              </a:ext>
            </a:extLst>
          </p:cNvPr>
          <p:cNvSpPr>
            <a:spLocks xmlns:a="http://schemas.openxmlformats.org/drawingml/2006/main" noGrp="1"/>
          </p:cNvSpPr>
          <p:nvPr/>
        </p:nvSpPr>
        <p:spPr>
          <a:xfrm xmlns:a="http://schemas.openxmlformats.org/drawingml/2006/main">
            <a:off x="9144000" y="2267712"/>
            <a:ext cx="438912" cy="438912"/>
          </a:xfrm>
          <a:prstGeom xmlns:a="http://schemas.openxmlformats.org/drawingml/2006/main" prst="ellipse">
            <a:avLst/>
          </a:prstGeom>
          <a:solidFill xmlns:a="http://schemas.openxmlformats.org/drawingml/2006/main">
            <a:srgbClr val="17191C"/>
          </a:solidFill>
          <a:ln xmlns:a="http://schemas.openxmlformats.org/drawingml/2006/main" w="12700">
            <a:solidFill>
              <a:srgbClr val="F6F3EC"/>
            </a:solidFill>
            <a:prstDash val="solid"/>
          </a:ln>
        </p:spPr>
      </p:sp>
      <p:sp>
        <p:nvSpPr>
          <p:cNvPr id="20" name="STC-26-con-statement">
            <a:extLst xmlns:a="http://schemas.openxmlformats.org/drawingml/2006/main">
              <a:ext uri="{FF2B5EF4-FFF2-40B4-BE49-F238E27FC236}">
                <a16:creationId xmlns:a16="http://schemas.microsoft.com/office/drawing/2014/main" id="{9A706B15-F426-428F-BAE5-6F17F9D955EC}"/>
              </a:ext>
            </a:extLst>
          </p:cNvPr>
          <p:cNvSpPr>
            <a:spLocks xmlns:a="http://schemas.openxmlformats.org/drawingml/2006/main" noGrp="1"/>
          </p:cNvSpPr>
          <p:nvPr/>
        </p:nvSpPr>
        <p:spPr>
          <a:xfrm xmlns:a="http://schemas.openxmlformats.org/drawingml/2006/main">
            <a:off x="1024128" y="3163824"/>
            <a:ext cx="9829800" cy="1508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17191C"/>
                </a:solidFill>
                <a:latin typeface="Noto Serif CJK KR"/>
                <a:ea typeface="Noto Serif CJK KR"/>
                <a:cs typeface="Noto Serif CJK KR"/>
              </a:rPr>
              <a:t>같은</a:t>
            </a:r>
            <a:endParaRPr sz="2500"/>
          </a:p>
          <a:p xmlns:a="http://schemas.openxmlformats.org/drawingml/2006/main">
            <a:pPr marL="0" indent="0" algn="ctr">
              <a:buNone/>
            </a:pPr>
            <a:r>
              <a:rPr sz="2500" b="1">
                <a:solidFill>
                  <a:srgbClr val="17191C"/>
                </a:solidFill>
                <a:latin typeface="Noto Serif CJK KR"/>
                <a:ea typeface="Noto Serif CJK KR"/>
                <a:cs typeface="Noto Serif CJK KR"/>
              </a:rPr>
              <a:t>연산을</a:t>
            </a:r>
            <a:endParaRPr sz="2500"/>
          </a:p>
          <a:p xmlns:a="http://schemas.openxmlformats.org/drawingml/2006/main">
            <a:pPr marL="0" indent="0" algn="ctr">
              <a:buNone/>
            </a:pPr>
            <a:r>
              <a:rPr sz="2500" b="1">
                <a:solidFill>
                  <a:srgbClr val="17191C"/>
                </a:solidFill>
                <a:latin typeface="Noto Serif CJK KR"/>
                <a:ea typeface="Noto Serif CJK KR"/>
                <a:cs typeface="Noto Serif CJK KR"/>
              </a:rPr>
              <a:t>하는</a:t>
            </a:r>
            <a:endParaRPr sz="2500"/>
          </a:p>
          <a:p xmlns:a="http://schemas.openxmlformats.org/drawingml/2006/main">
            <a:pPr marL="0" indent="0" algn="ctr">
              <a:buNone/>
            </a:pPr>
            <a:r>
              <a:rPr sz="2500" b="1">
                <a:solidFill>
                  <a:srgbClr val="17191C"/>
                </a:solidFill>
                <a:latin typeface="Noto Serif CJK KR"/>
                <a:ea typeface="Noto Serif CJK KR"/>
                <a:cs typeface="Noto Serif CJK KR"/>
              </a:rPr>
              <a:t>논문이 그 연산에 이…</a:t>
            </a:r>
            <a:endParaRPr sz="2500"/>
          </a:p>
        </p:txBody>
      </p:sp>
      <p:sp>
        <p:nvSpPr>
          <p:cNvPr id="21" name="STC-26-con-final">
            <a:extLst xmlns:a="http://schemas.openxmlformats.org/drawingml/2006/main">
              <a:ext uri="{FF2B5EF4-FFF2-40B4-BE49-F238E27FC236}">
                <a16:creationId xmlns:a16="http://schemas.microsoft.com/office/drawing/2014/main" id="{4ABA2515-68B2-48DF-B47D-A037DB747EDD}"/>
              </a:ext>
            </a:extLst>
          </p:cNvPr>
          <p:cNvSpPr>
            <a:spLocks xmlns:a="http://schemas.openxmlformats.org/drawingml/2006/main" noGrp="1"/>
          </p:cNvSpPr>
          <p:nvPr/>
        </p:nvSpPr>
        <p:spPr>
          <a:xfrm xmlns:a="http://schemas.openxmlformats.org/drawingml/2006/main">
            <a:off x="1965960" y="5175504"/>
            <a:ext cx="8229600" cy="502920"/>
          </a:xfrm>
          <a:prstGeom xmlns:a="http://schemas.openxmlformats.org/drawingml/2006/main" prst="rect">
            <a:avLst/>
          </a:prstGeom>
          <a:solidFill xmlns:a="http://schemas.openxmlformats.org/drawingml/2006/main">
            <a:srgbClr val="2F6B63"/>
          </a:solidFill>
          <a:ln xmlns:a="http://schemas.openxmlformats.org/drawingml/2006/main" w="12700">
            <a:solidFill>
              <a:srgbClr val="2F6B63"/>
            </a:solidFill>
            <a:prstDash val="solid"/>
          </a:ln>
        </p:spPr>
      </p:sp>
      <p:sp>
        <p:nvSpPr>
          <p:cNvPr id="22" name="STC-26-con-final-text">
            <a:extLst xmlns:a="http://schemas.openxmlformats.org/drawingml/2006/main">
              <a:ext uri="{FF2B5EF4-FFF2-40B4-BE49-F238E27FC236}">
                <a16:creationId xmlns:a16="http://schemas.microsoft.com/office/drawing/2014/main" id="{F8188F55-E068-4676-A7D0-1CF459C08858}"/>
              </a:ext>
            </a:extLst>
          </p:cNvPr>
          <p:cNvSpPr>
            <a:spLocks xmlns:a="http://schemas.openxmlformats.org/drawingml/2006/main" noGrp="1"/>
          </p:cNvSpPr>
          <p:nvPr/>
        </p:nvSpPr>
        <p:spPr>
          <a:xfrm xmlns:a="http://schemas.openxmlformats.org/drawingml/2006/main">
            <a:off x="2194560" y="5340096"/>
            <a:ext cx="77724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FFFFFF"/>
                </a:solidFill>
                <a:latin typeface="Noto Sans CJK KR"/>
                <a:ea typeface="Noto Sans CJK KR"/>
                <a:cs typeface="Noto Sans CJK KR"/>
              </a:rPr>
              <a:t>ReasoningBank는 5개월 뒤에 나왔다</a:t>
            </a:r>
            <a:endParaRPr sz="1700"/>
          </a:p>
        </p:txBody>
      </p:sp>
    </p:spTree>
    <p:extLst>
      <p:ext uri="{BB962C8B-B14F-4D97-AF65-F5344CB8AC3E}">
        <p14:creationId xmlns:p14="http://schemas.microsoft.com/office/powerpoint/2010/main" val="557935940"/>
      </p:ext>
    </p:extLst>
  </p:cSld>
</p:sld>
</file>

<file path=ppt/slides/slide4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4-section">
            <a:extLst xmlns:a="http://schemas.openxmlformats.org/drawingml/2006/main">
              <a:ext uri="{FF2B5EF4-FFF2-40B4-BE49-F238E27FC236}">
                <a16:creationId xmlns:a16="http://schemas.microsoft.com/office/drawing/2014/main" id="{A0075D85-B234-44C8-902E-101F0A3CC31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E-PATH</a:t>
            </a:r>
            <a:endParaRPr sz="950"/>
          </a:p>
        </p:txBody>
      </p:sp>
      <p:sp>
        <p:nvSpPr>
          <p:cNvPr id="3" name="STC-04-slide-id">
            <a:extLst xmlns:a="http://schemas.openxmlformats.org/drawingml/2006/main">
              <a:ext uri="{FF2B5EF4-FFF2-40B4-BE49-F238E27FC236}">
                <a16:creationId xmlns:a16="http://schemas.microsoft.com/office/drawing/2014/main" id="{B14D52AE-8297-468B-A77A-23EAE8342583}"/>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STC-047</a:t>
            </a:r>
            <a:endParaRPr sz="950"/>
          </a:p>
        </p:txBody>
      </p:sp>
      <p:sp>
        <p:nvSpPr>
          <p:cNvPr id="4" name="STC-04-headline">
            <a:extLst xmlns:a="http://schemas.openxmlformats.org/drawingml/2006/main">
              <a:ext uri="{FF2B5EF4-FFF2-40B4-BE49-F238E27FC236}">
                <a16:creationId xmlns:a16="http://schemas.microsoft.com/office/drawing/2014/main" id="{3630F132-02F2-4CE1-9E25-749167C75A9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E-경로 — 모델 밖에 쓰고 프롬프트로 읽는다</a:t>
            </a:r>
            <a:endParaRPr sz="3000"/>
          </a:p>
        </p:txBody>
      </p:sp>
      <p:sp>
        <p:nvSpPr>
          <p:cNvPr id="5" name="STC-04-status-label">
            <a:extLst xmlns:a="http://schemas.openxmlformats.org/drawingml/2006/main">
              <a:ext uri="{FF2B5EF4-FFF2-40B4-BE49-F238E27FC236}">
                <a16:creationId xmlns:a16="http://schemas.microsoft.com/office/drawing/2014/main" id="{A7ACBE27-EC77-4521-8202-C2F79CB3B4F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경로 개요</a:t>
            </a:r>
            <a:endParaRPr sz="1000"/>
          </a:p>
        </p:txBody>
      </p:sp>
      <p:sp>
        <p:nvSpPr>
          <p:cNvPr id="6" name="STC-04-status-rule">
            <a:extLst xmlns:a="http://schemas.openxmlformats.org/drawingml/2006/main">
              <a:ext uri="{FF2B5EF4-FFF2-40B4-BE49-F238E27FC236}">
                <a16:creationId xmlns:a16="http://schemas.microsoft.com/office/drawing/2014/main" id="{168F3EE0-A99E-4D46-9138-97123A1B2E0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4-footer-rule">
            <a:extLst xmlns:a="http://schemas.openxmlformats.org/drawingml/2006/main">
              <a:ext uri="{FF2B5EF4-FFF2-40B4-BE49-F238E27FC236}">
                <a16:creationId xmlns:a16="http://schemas.microsoft.com/office/drawing/2014/main" id="{283A436D-9734-4A07-90CD-F35CB55E5AB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4-source-footer">
            <a:extLst xmlns:a="http://schemas.openxmlformats.org/drawingml/2006/main">
              <a:ext uri="{FF2B5EF4-FFF2-40B4-BE49-F238E27FC236}">
                <a16:creationId xmlns:a16="http://schemas.microsoft.com/office/drawing/2014/main" id="{883AB35B-5226-4881-AC75-8BEB5E56E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§11.8 · ch12–ch15</a:t>
            </a:r>
            <a:endParaRPr sz="850"/>
          </a:p>
        </p:txBody>
      </p:sp>
      <p:sp>
        <p:nvSpPr>
          <p:cNvPr id="9" name="STC-04-page-number">
            <a:extLst xmlns:a="http://schemas.openxmlformats.org/drawingml/2006/main">
              <a:ext uri="{FF2B5EF4-FFF2-40B4-BE49-F238E27FC236}">
                <a16:creationId xmlns:a16="http://schemas.microsoft.com/office/drawing/2014/main" id="{EFF36FC2-57B0-4E0D-A22C-A663CD6EDD60}"/>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47</a:t>
            </a:r>
            <a:endParaRPr sz="850"/>
          </a:p>
        </p:txBody>
      </p:sp>
      <p:sp>
        <p:nvSpPr>
          <p:cNvPr id="11" name="STC-04-phase-tag-0">
            <a:extLst xmlns:a="http://schemas.openxmlformats.org/drawingml/2006/main">
              <a:ext uri="{FF2B5EF4-FFF2-40B4-BE49-F238E27FC236}">
                <a16:creationId xmlns:a16="http://schemas.microsoft.com/office/drawing/2014/main" id="{BA1F2F65-E6CA-4586-80AC-30666A36C48F}"/>
              </a:ext>
            </a:extLst>
          </p:cNvPr>
          <p:cNvSpPr>
            <a:spLocks xmlns:a="http://schemas.openxmlformats.org/drawingml/2006/main" noGrp="1"/>
          </p:cNvSpPr>
          <p:nvPr/>
        </p:nvSpPr>
        <p:spPr>
          <a:xfrm xmlns:a="http://schemas.openxmlformats.org/drawingml/2006/main">
            <a:off x="768096"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59616A"/>
                </a:solidFill>
                <a:latin typeface="Noto Sans Mono CJK KR"/>
                <a:ea typeface="Noto Sans Mono CJK KR"/>
                <a:cs typeface="Noto Sans Mono CJK KR"/>
              </a:rPr>
              <a:t>좌변</a:t>
            </a:r>
            <a:endParaRPr sz="1200"/>
          </a:p>
        </p:txBody>
      </p:sp>
      <p:sp>
        <p:nvSpPr>
          <p:cNvPr id="12" name="STC-04-phase-ko-0">
            <a:extLst xmlns:a="http://schemas.openxmlformats.org/drawingml/2006/main">
              <a:ext uri="{FF2B5EF4-FFF2-40B4-BE49-F238E27FC236}">
                <a16:creationId xmlns:a16="http://schemas.microsoft.com/office/drawing/2014/main" id="{71B78324-C8F8-4909-82A4-E5B94A3ECF3B}"/>
              </a:ext>
            </a:extLst>
          </p:cNvPr>
          <p:cNvSpPr>
            <a:spLocks xmlns:a="http://schemas.openxmlformats.org/drawingml/2006/main" noGrp="1"/>
          </p:cNvSpPr>
          <p:nvPr/>
        </p:nvSpPr>
        <p:spPr>
          <a:xfrm xmlns:a="http://schemas.openxmlformats.org/drawingml/2006/main">
            <a:off x="768096"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레코드</a:t>
            </a:r>
            <a:endParaRPr sz="2300"/>
          </a:p>
        </p:txBody>
      </p:sp>
      <p:sp>
        <p:nvSpPr>
          <p:cNvPr id="13" name="STC-04-phase-rule-0">
            <a:extLst xmlns:a="http://schemas.openxmlformats.org/drawingml/2006/main">
              <a:ext uri="{FF2B5EF4-FFF2-40B4-BE49-F238E27FC236}">
                <a16:creationId xmlns:a16="http://schemas.microsoft.com/office/drawing/2014/main" id="{7764BB8A-B05F-4718-BC24-4AD789913DE0}"/>
              </a:ext>
            </a:extLst>
          </p:cNvPr>
          <p:cNvSpPr>
            <a:spLocks xmlns:a="http://schemas.openxmlformats.org/drawingml/2006/main" noGrp="1"/>
          </p:cNvSpPr>
          <p:nvPr/>
        </p:nvSpPr>
        <p:spPr>
          <a:xfrm xmlns:a="http://schemas.openxmlformats.org/drawingml/2006/main">
            <a:off x="768096" y="2642616"/>
            <a:ext cx="2011680" cy="0"/>
          </a:xfrm>
          <a:prstGeom xmlns:a="http://schemas.openxmlformats.org/drawingml/2006/main" prst="line">
            <a:avLst/>
          </a:prstGeom>
          <a:noFill xmlns:a="http://schemas.openxmlformats.org/drawingml/2006/main"/>
          <a:ln xmlns:a="http://schemas.openxmlformats.org/drawingml/2006/main" w="50800">
            <a:solidFill>
              <a:srgbClr val="59616A"/>
            </a:solidFill>
            <a:prstDash val="solid"/>
            <a:tailEnd type="none"/>
          </a:ln>
        </p:spPr>
      </p:sp>
      <p:sp>
        <p:nvSpPr>
          <p:cNvPr id="14" name="STC-04-phase-body-0">
            <a:extLst xmlns:a="http://schemas.openxmlformats.org/drawingml/2006/main">
              <a:ext uri="{FF2B5EF4-FFF2-40B4-BE49-F238E27FC236}">
                <a16:creationId xmlns:a16="http://schemas.microsoft.com/office/drawing/2014/main" id="{D3EDF87F-330E-402B-BED1-949CABA05E93}"/>
              </a:ext>
            </a:extLst>
          </p:cNvPr>
          <p:cNvSpPr>
            <a:spLocks xmlns:a="http://schemas.openxmlformats.org/drawingml/2006/main" noGrp="1"/>
          </p:cNvSpPr>
          <p:nvPr/>
        </p:nvSpPr>
        <p:spPr>
          <a:xfrm xmlns:a="http://schemas.openxmlformats.org/drawingml/2006/main">
            <a:off x="768096"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레코드 ·</a:t>
            </a:r>
            <a:endParaRPr sz="1800"/>
          </a:p>
          <a:p xmlns:a="http://schemas.openxmlformats.org/drawingml/2006/main">
            <a:pPr marL="0" indent="0">
              <a:buNone/>
            </a:pPr>
            <a:r>
              <a:rPr sz="1800">
                <a:solidFill>
                  <a:srgbClr val="17191C"/>
                </a:solidFill>
                <a:latin typeface="Noto Sans CJK KR"/>
                <a:ea typeface="Noto Sans CJK KR"/>
                <a:cs typeface="Noto Sans CJK KR"/>
              </a:rPr>
              <a:t>텍스트·벡터·그래프. Θ와 W는 불변</a:t>
            </a:r>
            <a:endParaRPr sz="1800"/>
          </a:p>
        </p:txBody>
      </p:sp>
      <p:sp>
        <p:nvSpPr>
          <p:cNvPr id="15" name="STC-04-phase-arrow-0">
            <a:extLst xmlns:a="http://schemas.openxmlformats.org/drawingml/2006/main">
              <a:ext uri="{FF2B5EF4-FFF2-40B4-BE49-F238E27FC236}">
                <a16:creationId xmlns:a16="http://schemas.microsoft.com/office/drawing/2014/main" id="{783D597A-ACCC-4F6B-94A9-392B971E7A96}"/>
              </a:ext>
            </a:extLst>
          </p:cNvPr>
          <p:cNvSpPr>
            <a:spLocks xmlns:a="http://schemas.openxmlformats.org/drawingml/2006/main" noGrp="1"/>
          </p:cNvSpPr>
          <p:nvPr/>
        </p:nvSpPr>
        <p:spPr>
          <a:xfrm xmlns:a="http://schemas.openxmlformats.org/drawingml/2006/main">
            <a:off x="2962656"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16" name="STC-04-phase-tag-1">
            <a:extLst xmlns:a="http://schemas.openxmlformats.org/drawingml/2006/main">
              <a:ext uri="{FF2B5EF4-FFF2-40B4-BE49-F238E27FC236}">
                <a16:creationId xmlns:a16="http://schemas.microsoft.com/office/drawing/2014/main" id="{DF120A6C-83FF-4F70-8A23-21607B85C1A0}"/>
              </a:ext>
            </a:extLst>
          </p:cNvPr>
          <p:cNvSpPr>
            <a:spLocks xmlns:a="http://schemas.openxmlformats.org/drawingml/2006/main" noGrp="1"/>
          </p:cNvSpPr>
          <p:nvPr/>
        </p:nvSpPr>
        <p:spPr>
          <a:xfrm xmlns:a="http://schemas.openxmlformats.org/drawingml/2006/main">
            <a:off x="3593592"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시계</a:t>
            </a:r>
            <a:endParaRPr sz="1200"/>
          </a:p>
        </p:txBody>
      </p:sp>
      <p:sp>
        <p:nvSpPr>
          <p:cNvPr id="17" name="STC-04-phase-ko-1">
            <a:extLst xmlns:a="http://schemas.openxmlformats.org/drawingml/2006/main">
              <a:ext uri="{FF2B5EF4-FFF2-40B4-BE49-F238E27FC236}">
                <a16:creationId xmlns:a16="http://schemas.microsoft.com/office/drawing/2014/main" id="{EC71ADFB-45C0-4738-8C38-F10FAB21F33F}"/>
              </a:ext>
            </a:extLst>
          </p:cNvPr>
          <p:cNvSpPr>
            <a:spLocks xmlns:a="http://schemas.openxmlformats.org/drawingml/2006/main" noGrp="1"/>
          </p:cNvSpPr>
          <p:nvPr/>
        </p:nvSpPr>
        <p:spPr>
          <a:xfrm xmlns:a="http://schemas.openxmlformats.org/drawingml/2006/main">
            <a:off x="3593592"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세션</a:t>
            </a:r>
            <a:endParaRPr sz="2300"/>
          </a:p>
        </p:txBody>
      </p:sp>
      <p:sp>
        <p:nvSpPr>
          <p:cNvPr id="18" name="STC-04-phase-rule-1">
            <a:extLst xmlns:a="http://schemas.openxmlformats.org/drawingml/2006/main">
              <a:ext uri="{FF2B5EF4-FFF2-40B4-BE49-F238E27FC236}">
                <a16:creationId xmlns:a16="http://schemas.microsoft.com/office/drawing/2014/main" id="{CD51B805-650E-4380-9B3A-E873D1907749}"/>
              </a:ext>
            </a:extLst>
          </p:cNvPr>
          <p:cNvSpPr>
            <a:spLocks xmlns:a="http://schemas.openxmlformats.org/drawingml/2006/main" noGrp="1"/>
          </p:cNvSpPr>
          <p:nvPr/>
        </p:nvSpPr>
        <p:spPr>
          <a:xfrm xmlns:a="http://schemas.openxmlformats.org/drawingml/2006/main">
            <a:off x="3593592" y="2642616"/>
            <a:ext cx="2011680" cy="0"/>
          </a:xfrm>
          <a:prstGeom xmlns:a="http://schemas.openxmlformats.org/drawingml/2006/main" prst="line">
            <a:avLst/>
          </a:prstGeom>
          <a:noFill xmlns:a="http://schemas.openxmlformats.org/drawingml/2006/main"/>
          <a:ln xmlns:a="http://schemas.openxmlformats.org/drawingml/2006/main" w="50800">
            <a:solidFill>
              <a:srgbClr val="244E8A"/>
            </a:solidFill>
            <a:prstDash val="solid"/>
            <a:tailEnd type="none"/>
          </a:ln>
        </p:spPr>
      </p:sp>
      <p:sp>
        <p:nvSpPr>
          <p:cNvPr id="19" name="STC-04-phase-body-1">
            <a:extLst xmlns:a="http://schemas.openxmlformats.org/drawingml/2006/main">
              <a:ext uri="{FF2B5EF4-FFF2-40B4-BE49-F238E27FC236}">
                <a16:creationId xmlns:a16="http://schemas.microsoft.com/office/drawing/2014/main" id="{CA6AC282-8658-4035-A58F-484C6AC4BB0A}"/>
              </a:ext>
            </a:extLst>
          </p:cNvPr>
          <p:cNvSpPr>
            <a:spLocks xmlns:a="http://schemas.openxmlformats.org/drawingml/2006/main" noGrp="1"/>
          </p:cNvSpPr>
          <p:nvPr/>
        </p:nvSpPr>
        <p:spPr>
          <a:xfrm xmlns:a="http://schemas.openxmlformats.org/drawingml/2006/main">
            <a:off x="3593592"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세션 · 대화 후,</a:t>
            </a:r>
            <a:endParaRPr sz="1800"/>
          </a:p>
          <a:p xmlns:a="http://schemas.openxmlformats.org/drawingml/2006/main">
            <a:pPr marL="0" indent="0">
              <a:buNone/>
            </a:pPr>
            <a:r>
              <a:rPr sz="1800">
                <a:solidFill>
                  <a:srgbClr val="17191C"/>
                </a:solidFill>
                <a:latin typeface="Noto Sans CJK KR"/>
                <a:ea typeface="Noto Sans CJK KR"/>
                <a:cs typeface="Noto Sans CJK KR"/>
              </a:rPr>
              <a:t>과제 후, 에피소드마다</a:t>
            </a:r>
            <a:endParaRPr sz="1800"/>
          </a:p>
        </p:txBody>
      </p:sp>
      <p:sp>
        <p:nvSpPr>
          <p:cNvPr id="20" name="STC-04-phase-arrow-1">
            <a:extLst xmlns:a="http://schemas.openxmlformats.org/drawingml/2006/main">
              <a:ext uri="{FF2B5EF4-FFF2-40B4-BE49-F238E27FC236}">
                <a16:creationId xmlns:a16="http://schemas.microsoft.com/office/drawing/2014/main" id="{78036B2A-3081-4A46-8C23-82C208923D54}"/>
              </a:ext>
            </a:extLst>
          </p:cNvPr>
          <p:cNvSpPr>
            <a:spLocks xmlns:a="http://schemas.openxmlformats.org/drawingml/2006/main" noGrp="1"/>
          </p:cNvSpPr>
          <p:nvPr/>
        </p:nvSpPr>
        <p:spPr>
          <a:xfrm xmlns:a="http://schemas.openxmlformats.org/drawingml/2006/main">
            <a:off x="5788152"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1" name="STC-04-phase-tag-2">
            <a:extLst xmlns:a="http://schemas.openxmlformats.org/drawingml/2006/main">
              <a:ext uri="{FF2B5EF4-FFF2-40B4-BE49-F238E27FC236}">
                <a16:creationId xmlns:a16="http://schemas.microsoft.com/office/drawing/2014/main" id="{14A86847-A229-4A53-8F2A-E51A71B0A175}"/>
              </a:ext>
            </a:extLst>
          </p:cNvPr>
          <p:cNvSpPr>
            <a:spLocks xmlns:a="http://schemas.openxmlformats.org/drawingml/2006/main" noGrp="1"/>
          </p:cNvSpPr>
          <p:nvPr/>
        </p:nvSpPr>
        <p:spPr>
          <a:xfrm xmlns:a="http://schemas.openxmlformats.org/drawingml/2006/main">
            <a:off x="6419088"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읽기</a:t>
            </a:r>
            <a:endParaRPr sz="1200"/>
          </a:p>
        </p:txBody>
      </p:sp>
      <p:sp>
        <p:nvSpPr>
          <p:cNvPr id="22" name="STC-04-phase-ko-2">
            <a:extLst xmlns:a="http://schemas.openxmlformats.org/drawingml/2006/main">
              <a:ext uri="{FF2B5EF4-FFF2-40B4-BE49-F238E27FC236}">
                <a16:creationId xmlns:a16="http://schemas.microsoft.com/office/drawing/2014/main" id="{582DA535-C347-498A-B2F9-C40BAE20CE4F}"/>
              </a:ext>
            </a:extLst>
          </p:cNvPr>
          <p:cNvSpPr>
            <a:spLocks xmlns:a="http://schemas.openxmlformats.org/drawingml/2006/main" noGrp="1"/>
          </p:cNvSpPr>
          <p:nvPr/>
        </p:nvSpPr>
        <p:spPr>
          <a:xfrm xmlns:a="http://schemas.openxmlformats.org/drawingml/2006/main">
            <a:off x="6419088"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검색</a:t>
            </a:r>
            <a:endParaRPr sz="2300"/>
          </a:p>
        </p:txBody>
      </p:sp>
      <p:sp>
        <p:nvSpPr>
          <p:cNvPr id="23" name="STC-04-phase-rule-2">
            <a:extLst xmlns:a="http://schemas.openxmlformats.org/drawingml/2006/main">
              <a:ext uri="{FF2B5EF4-FFF2-40B4-BE49-F238E27FC236}">
                <a16:creationId xmlns:a16="http://schemas.microsoft.com/office/drawing/2014/main" id="{604E16CE-5100-4FC5-8DB9-7A23B695EE76}"/>
              </a:ext>
            </a:extLst>
          </p:cNvPr>
          <p:cNvSpPr>
            <a:spLocks xmlns:a="http://schemas.openxmlformats.org/drawingml/2006/main" noGrp="1"/>
          </p:cNvSpPr>
          <p:nvPr/>
        </p:nvSpPr>
        <p:spPr>
          <a:xfrm xmlns:a="http://schemas.openxmlformats.org/drawingml/2006/main">
            <a:off x="6419088" y="2642616"/>
            <a:ext cx="2011680" cy="0"/>
          </a:xfrm>
          <a:prstGeom xmlns:a="http://schemas.openxmlformats.org/drawingml/2006/main" prst="line">
            <a:avLst/>
          </a:prstGeom>
          <a:noFill xmlns:a="http://schemas.openxmlformats.org/drawingml/2006/main"/>
          <a:ln xmlns:a="http://schemas.openxmlformats.org/drawingml/2006/main" w="50800">
            <a:solidFill>
              <a:srgbClr val="9A442D"/>
            </a:solidFill>
            <a:prstDash val="solid"/>
            <a:tailEnd type="none"/>
          </a:ln>
        </p:spPr>
      </p:sp>
      <p:sp>
        <p:nvSpPr>
          <p:cNvPr id="24" name="STC-04-phase-body-2">
            <a:extLst xmlns:a="http://schemas.openxmlformats.org/drawingml/2006/main">
              <a:ext uri="{FF2B5EF4-FFF2-40B4-BE49-F238E27FC236}">
                <a16:creationId xmlns:a16="http://schemas.microsoft.com/office/drawing/2014/main" id="{5BF3497A-374B-4090-AF18-46EDBA191D7C}"/>
              </a:ext>
            </a:extLst>
          </p:cNvPr>
          <p:cNvSpPr>
            <a:spLocks xmlns:a="http://schemas.openxmlformats.org/drawingml/2006/main" noGrp="1"/>
          </p:cNvSpPr>
          <p:nvPr/>
        </p:nvSpPr>
        <p:spPr>
          <a:xfrm xmlns:a="http://schemas.openxmlformats.org/drawingml/2006/main">
            <a:off x="6419088"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검색 · ret(E,q)</a:t>
            </a:r>
            <a:endParaRPr sz="1800"/>
          </a:p>
          <a:p xmlns:a="http://schemas.openxmlformats.org/drawingml/2006/main">
            <a:pPr marL="0" indent="0">
              <a:buNone/>
            </a:pPr>
            <a:r>
              <a:rPr sz="1800">
                <a:solidFill>
                  <a:srgbClr val="17191C"/>
                </a:solidFill>
                <a:latin typeface="Noto Sans CJK KR"/>
                <a:ea typeface="Noto Sans CJK KR"/>
                <a:cs typeface="Noto Sans CJK KR"/>
              </a:rPr>
              <a:t>한 번 + 프롬프트 증가</a:t>
            </a:r>
            <a:endParaRPr sz="1800"/>
          </a:p>
        </p:txBody>
      </p:sp>
      <p:sp>
        <p:nvSpPr>
          <p:cNvPr id="25" name="STC-04-phase-arrow-2">
            <a:extLst xmlns:a="http://schemas.openxmlformats.org/drawingml/2006/main">
              <a:ext uri="{FF2B5EF4-FFF2-40B4-BE49-F238E27FC236}">
                <a16:creationId xmlns:a16="http://schemas.microsoft.com/office/drawing/2014/main" id="{4E7BA787-51DD-48C2-90C7-E4BC25DA526D}"/>
              </a:ext>
            </a:extLst>
          </p:cNvPr>
          <p:cNvSpPr>
            <a:spLocks xmlns:a="http://schemas.openxmlformats.org/drawingml/2006/main" noGrp="1"/>
          </p:cNvSpPr>
          <p:nvPr/>
        </p:nvSpPr>
        <p:spPr>
          <a:xfrm xmlns:a="http://schemas.openxmlformats.org/drawingml/2006/main">
            <a:off x="8613648"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04-phase-tag-3">
            <a:extLst xmlns:a="http://schemas.openxmlformats.org/drawingml/2006/main">
              <a:ext uri="{FF2B5EF4-FFF2-40B4-BE49-F238E27FC236}">
                <a16:creationId xmlns:a16="http://schemas.microsoft.com/office/drawing/2014/main" id="{3D317DA2-F326-4299-B8BF-54ACE3EE2AA9}"/>
              </a:ext>
            </a:extLst>
          </p:cNvPr>
          <p:cNvSpPr>
            <a:spLocks xmlns:a="http://schemas.openxmlformats.org/drawingml/2006/main" noGrp="1"/>
          </p:cNvSpPr>
          <p:nvPr/>
        </p:nvSpPr>
        <p:spPr>
          <a:xfrm xmlns:a="http://schemas.openxmlformats.org/drawingml/2006/main">
            <a:off x="9244584"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이점</a:t>
            </a:r>
            <a:endParaRPr sz="1200"/>
          </a:p>
        </p:txBody>
      </p:sp>
      <p:sp>
        <p:nvSpPr>
          <p:cNvPr id="27" name="STC-04-phase-ko-3">
            <a:extLst xmlns:a="http://schemas.openxmlformats.org/drawingml/2006/main">
              <a:ext uri="{FF2B5EF4-FFF2-40B4-BE49-F238E27FC236}">
                <a16:creationId xmlns:a16="http://schemas.microsoft.com/office/drawing/2014/main" id="{F5446ADD-A14C-416D-B2F4-1A4E119F4329}"/>
              </a:ext>
            </a:extLst>
          </p:cNvPr>
          <p:cNvSpPr>
            <a:spLocks xmlns:a="http://schemas.openxmlformats.org/drawingml/2006/main" noGrp="1"/>
          </p:cNvSpPr>
          <p:nvPr/>
        </p:nvSpPr>
        <p:spPr>
          <a:xfrm xmlns:a="http://schemas.openxmlformats.org/drawingml/2006/main">
            <a:off x="9244584"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배칭</a:t>
            </a:r>
            <a:endParaRPr sz="2300"/>
          </a:p>
        </p:txBody>
      </p:sp>
      <p:sp>
        <p:nvSpPr>
          <p:cNvPr id="28" name="STC-04-phase-rule-3">
            <a:extLst xmlns:a="http://schemas.openxmlformats.org/drawingml/2006/main">
              <a:ext uri="{FF2B5EF4-FFF2-40B4-BE49-F238E27FC236}">
                <a16:creationId xmlns:a16="http://schemas.microsoft.com/office/drawing/2014/main" id="{4455D656-930A-404D-BF54-7ED24B2942EA}"/>
              </a:ext>
            </a:extLst>
          </p:cNvPr>
          <p:cNvSpPr>
            <a:spLocks xmlns:a="http://schemas.openxmlformats.org/drawingml/2006/main" noGrp="1"/>
          </p:cNvSpPr>
          <p:nvPr/>
        </p:nvSpPr>
        <p:spPr>
          <a:xfrm xmlns:a="http://schemas.openxmlformats.org/drawingml/2006/main">
            <a:off x="9244584" y="2642616"/>
            <a:ext cx="2011680" cy="0"/>
          </a:xfrm>
          <a:prstGeom xmlns:a="http://schemas.openxmlformats.org/drawingml/2006/main" prst="line">
            <a:avLst/>
          </a:prstGeom>
          <a:noFill xmlns:a="http://schemas.openxmlformats.org/drawingml/2006/main"/>
          <a:ln xmlns:a="http://schemas.openxmlformats.org/drawingml/2006/main" w="50800">
            <a:solidFill>
              <a:srgbClr val="2F6B63"/>
            </a:solidFill>
            <a:prstDash val="solid"/>
            <a:tailEnd type="none"/>
          </a:ln>
        </p:spPr>
      </p:sp>
      <p:sp>
        <p:nvSpPr>
          <p:cNvPr id="29" name="STC-04-phase-body-3">
            <a:extLst xmlns:a="http://schemas.openxmlformats.org/drawingml/2006/main">
              <a:ext uri="{FF2B5EF4-FFF2-40B4-BE49-F238E27FC236}">
                <a16:creationId xmlns:a16="http://schemas.microsoft.com/office/drawing/2014/main" id="{FE89CD84-AEBE-4991-983F-DACD28BF3807}"/>
              </a:ext>
            </a:extLst>
          </p:cNvPr>
          <p:cNvSpPr>
            <a:spLocks xmlns:a="http://schemas.openxmlformats.org/drawingml/2006/main" noGrp="1"/>
          </p:cNvSpPr>
          <p:nvPr/>
        </p:nvSpPr>
        <p:spPr>
          <a:xfrm xmlns:a="http://schemas.openxmlformats.org/drawingml/2006/main">
            <a:off x="9244584"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배칭 ·</a:t>
            </a:r>
            <a:endParaRPr sz="1800"/>
          </a:p>
          <a:p xmlns:a="http://schemas.openxmlformats.org/drawingml/2006/main">
            <a:pPr marL="0" indent="0">
              <a:buNone/>
            </a:pPr>
            <a:r>
              <a:rPr sz="1800">
                <a:solidFill>
                  <a:srgbClr val="17191C"/>
                </a:solidFill>
                <a:latin typeface="Noto Sans CJK KR"/>
                <a:ea typeface="Noto Sans CJK KR"/>
                <a:cs typeface="Noto Sans CJK KR"/>
              </a:rPr>
              <a:t>shared-weight batching이 온전하다</a:t>
            </a:r>
            <a:endParaRPr sz="1800"/>
          </a:p>
        </p:txBody>
      </p:sp>
      <p:sp>
        <p:nvSpPr>
          <p:cNvPr id="30" name="STC-04-phase-invariant">
            <a:extLst xmlns:a="http://schemas.openxmlformats.org/drawingml/2006/main">
              <a:ext uri="{FF2B5EF4-FFF2-40B4-BE49-F238E27FC236}">
                <a16:creationId xmlns:a16="http://schemas.microsoft.com/office/drawing/2014/main" id="{03288DCF-E840-4104-9A86-10724C88811D}"/>
              </a:ext>
            </a:extLst>
          </p:cNvPr>
          <p:cNvSpPr>
            <a:spLocks xmlns:a="http://schemas.openxmlformats.org/drawingml/2006/main" noGrp="1"/>
          </p:cNvSpPr>
          <p:nvPr/>
        </p:nvSpPr>
        <p:spPr>
          <a:xfrm xmlns:a="http://schemas.openxmlformats.org/drawingml/2006/main">
            <a:off x="1188720" y="4736592"/>
            <a:ext cx="9811512" cy="6035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31" name="STC-04-phase-invariant-text">
            <a:extLst xmlns:a="http://schemas.openxmlformats.org/drawingml/2006/main">
              <a:ext uri="{FF2B5EF4-FFF2-40B4-BE49-F238E27FC236}">
                <a16:creationId xmlns:a16="http://schemas.microsoft.com/office/drawing/2014/main" id="{F965FB3E-3D1D-4CF8-8579-F6405F044BA3}"/>
              </a:ext>
            </a:extLst>
          </p:cNvPr>
          <p:cNvSpPr>
            <a:spLocks xmlns:a="http://schemas.openxmlformats.org/drawingml/2006/main" noGrp="1"/>
          </p:cNvSpPr>
          <p:nvPr/>
        </p:nvSpPr>
        <p:spPr>
          <a:xfrm xmlns:a="http://schemas.openxmlformats.org/drawingml/2006/main">
            <a:off x="1435608" y="4919472"/>
            <a:ext cx="93268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통과 9편 중 6편이 여기 있고, 이 라인의 이름도 여기서 나왔다</a:t>
            </a:r>
            <a:endParaRPr sz="1700"/>
          </a:p>
        </p:txBody>
      </p:sp>
    </p:spTree>
    <p:extLst>
      <p:ext uri="{BB962C8B-B14F-4D97-AF65-F5344CB8AC3E}">
        <p14:creationId xmlns:p14="http://schemas.microsoft.com/office/powerpoint/2010/main" val="37494492"/>
      </p:ext>
    </p:extLst>
  </p:cSld>
</p:sld>
</file>

<file path=ppt/slides/slide4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3-section">
            <a:extLst xmlns:a="http://schemas.openxmlformats.org/drawingml/2006/main">
              <a:ext uri="{FF2B5EF4-FFF2-40B4-BE49-F238E27FC236}">
                <a16:creationId xmlns:a16="http://schemas.microsoft.com/office/drawing/2014/main" id="{DEF75E10-FC43-4F90-A29D-73D1CBC1DCC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E-PATH</a:t>
            </a:r>
            <a:endParaRPr sz="950"/>
          </a:p>
        </p:txBody>
      </p:sp>
      <p:sp>
        <p:nvSpPr>
          <p:cNvPr id="3" name="STC-13-slide-id">
            <a:extLst xmlns:a="http://schemas.openxmlformats.org/drawingml/2006/main">
              <a:ext uri="{FF2B5EF4-FFF2-40B4-BE49-F238E27FC236}">
                <a16:creationId xmlns:a16="http://schemas.microsoft.com/office/drawing/2014/main" id="{207357D7-4303-4447-A61C-4C79283F663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STC-048</a:t>
            </a:r>
            <a:endParaRPr sz="950"/>
          </a:p>
        </p:txBody>
      </p:sp>
      <p:sp>
        <p:nvSpPr>
          <p:cNvPr id="4" name="STC-13-headline">
            <a:extLst xmlns:a="http://schemas.openxmlformats.org/drawingml/2006/main">
              <a:ext uri="{FF2B5EF4-FFF2-40B4-BE49-F238E27FC236}">
                <a16:creationId xmlns:a16="http://schemas.microsoft.com/office/drawing/2014/main" id="{8E260E54-4985-4C50-817D-C85BDF65F5D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가장 이른 조상 — Memorizing Transformers는 왜 이 범주가 아닌가</a:t>
            </a:r>
            <a:endParaRPr sz="3000"/>
          </a:p>
        </p:txBody>
      </p:sp>
      <p:sp>
        <p:nvSpPr>
          <p:cNvPr id="5" name="STC-13-status-label">
            <a:extLst xmlns:a="http://schemas.openxmlformats.org/drawingml/2006/main">
              <a:ext uri="{FF2B5EF4-FFF2-40B4-BE49-F238E27FC236}">
                <a16:creationId xmlns:a16="http://schemas.microsoft.com/office/drawing/2014/main" id="{76CEFCAB-90F8-4FF1-91A9-495F4B23416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확립</a:t>
            </a:r>
            <a:endParaRPr sz="1000"/>
          </a:p>
        </p:txBody>
      </p:sp>
      <p:sp>
        <p:nvSpPr>
          <p:cNvPr id="6" name="STC-13-status-rule">
            <a:extLst xmlns:a="http://schemas.openxmlformats.org/drawingml/2006/main">
              <a:ext uri="{FF2B5EF4-FFF2-40B4-BE49-F238E27FC236}">
                <a16:creationId xmlns:a16="http://schemas.microsoft.com/office/drawing/2014/main" id="{07360112-59F1-4B26-BA92-7088E3FD40C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13-footer-rule">
            <a:extLst xmlns:a="http://schemas.openxmlformats.org/drawingml/2006/main">
              <a:ext uri="{FF2B5EF4-FFF2-40B4-BE49-F238E27FC236}">
                <a16:creationId xmlns:a16="http://schemas.microsoft.com/office/drawing/2014/main" id="{26DC731C-F3A6-48D1-B411-9B2CD636969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3-source-footer">
            <a:extLst xmlns:a="http://schemas.openxmlformats.org/drawingml/2006/main">
              <a:ext uri="{FF2B5EF4-FFF2-40B4-BE49-F238E27FC236}">
                <a16:creationId xmlns:a16="http://schemas.microsoft.com/office/drawing/2014/main" id="{F8DE0C07-9BB3-4619-B392-5FCFC17ACBE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ch12 · [Memorizing Transformers §1, arXiv:2203.08913]</a:t>
            </a:r>
            <a:endParaRPr sz="850"/>
          </a:p>
        </p:txBody>
      </p:sp>
      <p:sp>
        <p:nvSpPr>
          <p:cNvPr id="9" name="STC-13-page-number">
            <a:extLst xmlns:a="http://schemas.openxmlformats.org/drawingml/2006/main">
              <a:ext uri="{FF2B5EF4-FFF2-40B4-BE49-F238E27FC236}">
                <a16:creationId xmlns:a16="http://schemas.microsoft.com/office/drawing/2014/main" id="{77A42865-7B64-4DDF-99E9-C4F94EB652F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48</a:t>
            </a:r>
            <a:endParaRPr sz="850"/>
          </a:p>
        </p:txBody>
      </p:sp>
      <p:sp>
        <p:nvSpPr>
          <p:cNvPr id="11" name="STC-13-data-layer-0">
            <a:extLst xmlns:a="http://schemas.openxmlformats.org/drawingml/2006/main">
              <a:ext uri="{FF2B5EF4-FFF2-40B4-BE49-F238E27FC236}">
                <a16:creationId xmlns:a16="http://schemas.microsoft.com/office/drawing/2014/main" id="{E5BBE619-AB19-42FA-8122-D61948B604E8}"/>
              </a:ext>
            </a:extLst>
          </p:cNvPr>
          <p:cNvSpPr>
            <a:spLocks xmlns:a="http://schemas.openxmlformats.org/drawingml/2006/main" noGrp="1"/>
          </p:cNvSpPr>
          <p:nvPr/>
        </p:nvSpPr>
        <p:spPr>
          <a:xfrm xmlns:a="http://schemas.openxmlformats.org/drawingml/2006/main">
            <a:off x="1618488" y="1664208"/>
            <a:ext cx="8961120" cy="56692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12" name="STC-13-data-label-0">
            <a:extLst xmlns:a="http://schemas.openxmlformats.org/drawingml/2006/main">
              <a:ext uri="{FF2B5EF4-FFF2-40B4-BE49-F238E27FC236}">
                <a16:creationId xmlns:a16="http://schemas.microsoft.com/office/drawing/2014/main" id="{FDF9C9BA-3329-45E9-ABC4-2B36508291DA}"/>
              </a:ext>
            </a:extLst>
          </p:cNvPr>
          <p:cNvSpPr>
            <a:spLocks xmlns:a="http://schemas.openxmlformats.org/drawingml/2006/main" noGrp="1"/>
          </p:cNvSpPr>
          <p:nvPr/>
        </p:nvSpPr>
        <p:spPr>
          <a:xfrm xmlns:a="http://schemas.openxmlformats.org/drawingml/2006/main">
            <a:off x="1783080" y="1828800"/>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FFFFFF"/>
                </a:solidFill>
                <a:latin typeface="Noto Sans Mono CJK KR"/>
                <a:ea typeface="Noto Sans Mono CJK KR"/>
                <a:cs typeface="Noto Sans Mono CJK KR"/>
              </a:rPr>
              <a:t>명제</a:t>
            </a:r>
            <a:endParaRPr sz="1050"/>
          </a:p>
        </p:txBody>
      </p:sp>
      <p:sp>
        <p:nvSpPr>
          <p:cNvPr id="13" name="STC-13-data-body-0">
            <a:extLst xmlns:a="http://schemas.openxmlformats.org/drawingml/2006/main">
              <a:ext uri="{FF2B5EF4-FFF2-40B4-BE49-F238E27FC236}">
                <a16:creationId xmlns:a16="http://schemas.microsoft.com/office/drawing/2014/main" id="{34676F1F-A035-47A9-9C53-7C294D97CEF1}"/>
              </a:ext>
            </a:extLst>
          </p:cNvPr>
          <p:cNvSpPr>
            <a:spLocks xmlns:a="http://schemas.openxmlformats.org/drawingml/2006/main" noGrp="1"/>
          </p:cNvSpPr>
          <p:nvPr/>
        </p:nvSpPr>
        <p:spPr>
          <a:xfrm xmlns:a="http://schemas.openxmlformats.org/drawingml/2006/main">
            <a:off x="3401568" y="1755648"/>
            <a:ext cx="6995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FFFFFF"/>
                </a:solidFill>
                <a:latin typeface="Noto Sans CJK KR"/>
                <a:ea typeface="Noto Sans CJK KR"/>
                <a:cs typeface="Noto Sans CJK KR"/>
              </a:rPr>
              <a:t>미분 불가 저장소를 attention으로 읽는 것이 낫다</a:t>
            </a:r>
            <a:endParaRPr sz="1450"/>
          </a:p>
        </p:txBody>
      </p:sp>
      <p:sp>
        <p:nvSpPr>
          <p:cNvPr id="14" name="STC-13-data-layer-1">
            <a:extLst xmlns:a="http://schemas.openxmlformats.org/drawingml/2006/main">
              <a:ext uri="{FF2B5EF4-FFF2-40B4-BE49-F238E27FC236}">
                <a16:creationId xmlns:a16="http://schemas.microsoft.com/office/drawing/2014/main" id="{2C7AD258-BAEB-4994-96A5-F1AB29FB68DF}"/>
              </a:ext>
            </a:extLst>
          </p:cNvPr>
          <p:cNvSpPr>
            <a:spLocks xmlns:a="http://schemas.openxmlformats.org/drawingml/2006/main" noGrp="1"/>
          </p:cNvSpPr>
          <p:nvPr/>
        </p:nvSpPr>
        <p:spPr>
          <a:xfrm xmlns:a="http://schemas.openxmlformats.org/drawingml/2006/main">
            <a:off x="2258568" y="2450592"/>
            <a:ext cx="7680960" cy="566928"/>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3-data-label-1">
            <a:extLst xmlns:a="http://schemas.openxmlformats.org/drawingml/2006/main">
              <a:ext uri="{FF2B5EF4-FFF2-40B4-BE49-F238E27FC236}">
                <a16:creationId xmlns:a16="http://schemas.microsoft.com/office/drawing/2014/main" id="{02CDF8C0-80BF-43B8-B0F1-3E7D91CAE3C2}"/>
              </a:ext>
            </a:extLst>
          </p:cNvPr>
          <p:cNvSpPr>
            <a:spLocks xmlns:a="http://schemas.openxmlformats.org/drawingml/2006/main" noGrp="1"/>
          </p:cNvSpPr>
          <p:nvPr/>
        </p:nvSpPr>
        <p:spPr>
          <a:xfrm xmlns:a="http://schemas.openxmlformats.org/drawingml/2006/main">
            <a:off x="2423160" y="2615184"/>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쓰기</a:t>
            </a:r>
            <a:endParaRPr sz="1050"/>
          </a:p>
        </p:txBody>
      </p:sp>
      <p:sp>
        <p:nvSpPr>
          <p:cNvPr id="16" name="STC-13-data-body-1">
            <a:extLst xmlns:a="http://schemas.openxmlformats.org/drawingml/2006/main">
              <a:ext uri="{FF2B5EF4-FFF2-40B4-BE49-F238E27FC236}">
                <a16:creationId xmlns:a16="http://schemas.microsoft.com/office/drawing/2014/main" id="{BC62C31C-D212-42ED-AE30-842B56196CD1}"/>
              </a:ext>
            </a:extLst>
          </p:cNvPr>
          <p:cNvSpPr>
            <a:spLocks xmlns:a="http://schemas.openxmlformats.org/drawingml/2006/main" noGrp="1"/>
          </p:cNvSpPr>
          <p:nvPr/>
        </p:nvSpPr>
        <p:spPr>
          <a:xfrm xmlns:a="http://schemas.openxmlformats.org/drawingml/2006/main">
            <a:off x="4041648" y="2542032"/>
            <a:ext cx="5715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17191C"/>
                </a:solidFill>
                <a:latin typeface="Noto Sans CJK KR"/>
                <a:ea typeface="Noto Sans CJK KR"/>
                <a:cs typeface="Noto Sans CJK KR"/>
              </a:rPr>
              <a:t>forward가 만든 (k,v) 그대로. S가 항등사상</a:t>
            </a:r>
            <a:endParaRPr sz="1450"/>
          </a:p>
        </p:txBody>
      </p:sp>
      <p:sp>
        <p:nvSpPr>
          <p:cNvPr id="17" name="STC-13-data-layer-2">
            <a:extLst xmlns:a="http://schemas.openxmlformats.org/drawingml/2006/main">
              <a:ext uri="{FF2B5EF4-FFF2-40B4-BE49-F238E27FC236}">
                <a16:creationId xmlns:a16="http://schemas.microsoft.com/office/drawing/2014/main" id="{D6FAD0EE-091C-49BC-AC96-FF7C3FD7BF30}"/>
              </a:ext>
            </a:extLst>
          </p:cNvPr>
          <p:cNvSpPr>
            <a:spLocks xmlns:a="http://schemas.openxmlformats.org/drawingml/2006/main" noGrp="1"/>
          </p:cNvSpPr>
          <p:nvPr/>
        </p:nvSpPr>
        <p:spPr>
          <a:xfrm xmlns:a="http://schemas.openxmlformats.org/drawingml/2006/main">
            <a:off x="2898648" y="3236976"/>
            <a:ext cx="6400800" cy="566928"/>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8" name="STC-13-data-label-2">
            <a:extLst xmlns:a="http://schemas.openxmlformats.org/drawingml/2006/main">
              <a:ext uri="{FF2B5EF4-FFF2-40B4-BE49-F238E27FC236}">
                <a16:creationId xmlns:a16="http://schemas.microsoft.com/office/drawing/2014/main" id="{AA018C36-C849-429F-A2CB-A09888ED5181}"/>
              </a:ext>
            </a:extLst>
          </p:cNvPr>
          <p:cNvSpPr>
            <a:spLocks xmlns:a="http://schemas.openxmlformats.org/drawingml/2006/main" noGrp="1"/>
          </p:cNvSpPr>
          <p:nvPr/>
        </p:nvSpPr>
        <p:spPr>
          <a:xfrm xmlns:a="http://schemas.openxmlformats.org/drawingml/2006/main">
            <a:off x="3063240" y="3401568"/>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읽기</a:t>
            </a:r>
            <a:endParaRPr sz="1050"/>
          </a:p>
        </p:txBody>
      </p:sp>
      <p:sp>
        <p:nvSpPr>
          <p:cNvPr id="19" name="STC-13-data-body-2">
            <a:extLst xmlns:a="http://schemas.openxmlformats.org/drawingml/2006/main">
              <a:ext uri="{FF2B5EF4-FFF2-40B4-BE49-F238E27FC236}">
                <a16:creationId xmlns:a16="http://schemas.microsoft.com/office/drawing/2014/main" id="{41815879-EDCF-477A-A120-7092A00F5988}"/>
              </a:ext>
            </a:extLst>
          </p:cNvPr>
          <p:cNvSpPr>
            <a:spLocks xmlns:a="http://schemas.openxmlformats.org/drawingml/2006/main" noGrp="1"/>
          </p:cNvSpPr>
          <p:nvPr/>
        </p:nvSpPr>
        <p:spPr>
          <a:xfrm xmlns:a="http://schemas.openxmlformats.org/drawingml/2006/main">
            <a:off x="4681728" y="3328416"/>
            <a:ext cx="4434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12층 중 layer 9에서 top-32 회수 후 attention</a:t>
            </a:r>
            <a:endParaRPr sz="1350"/>
          </a:p>
        </p:txBody>
      </p:sp>
      <p:sp>
        <p:nvSpPr>
          <p:cNvPr id="20" name="STC-13-data-layer-3">
            <a:extLst xmlns:a="http://schemas.openxmlformats.org/drawingml/2006/main">
              <a:ext uri="{FF2B5EF4-FFF2-40B4-BE49-F238E27FC236}">
                <a16:creationId xmlns:a16="http://schemas.microsoft.com/office/drawing/2014/main" id="{FBD0C7D7-10DE-463B-9217-97D247B03C72}"/>
              </a:ext>
            </a:extLst>
          </p:cNvPr>
          <p:cNvSpPr>
            <a:spLocks xmlns:a="http://schemas.openxmlformats.org/drawingml/2006/main" noGrp="1"/>
          </p:cNvSpPr>
          <p:nvPr/>
        </p:nvSpPr>
        <p:spPr>
          <a:xfrm xmlns:a="http://schemas.openxmlformats.org/drawingml/2006/main">
            <a:off x="3538728" y="4023360"/>
            <a:ext cx="5120640" cy="566928"/>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13-data-label-3">
            <a:extLst xmlns:a="http://schemas.openxmlformats.org/drawingml/2006/main">
              <a:ext uri="{FF2B5EF4-FFF2-40B4-BE49-F238E27FC236}">
                <a16:creationId xmlns:a16="http://schemas.microsoft.com/office/drawing/2014/main" id="{8DA5B66F-AB6C-424C-B38E-EC87549B7458}"/>
              </a:ext>
            </a:extLst>
          </p:cNvPr>
          <p:cNvSpPr>
            <a:spLocks xmlns:a="http://schemas.openxmlformats.org/drawingml/2006/main" noGrp="1"/>
          </p:cNvSpPr>
          <p:nvPr/>
        </p:nvSpPr>
        <p:spPr>
          <a:xfrm xmlns:a="http://schemas.openxmlformats.org/drawingml/2006/main">
            <a:off x="3703320" y="4187952"/>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탈락</a:t>
            </a:r>
            <a:endParaRPr sz="1050"/>
          </a:p>
        </p:txBody>
      </p:sp>
      <p:sp>
        <p:nvSpPr>
          <p:cNvPr id="22" name="STC-13-data-body-3">
            <a:extLst xmlns:a="http://schemas.openxmlformats.org/drawingml/2006/main">
              <a:ext uri="{FF2B5EF4-FFF2-40B4-BE49-F238E27FC236}">
                <a16:creationId xmlns:a16="http://schemas.microsoft.com/office/drawing/2014/main" id="{B07BDB02-D4B0-48AF-8A53-11814C8CDC53}"/>
              </a:ext>
            </a:extLst>
          </p:cNvPr>
          <p:cNvSpPr>
            <a:spLocks xmlns:a="http://schemas.openxmlformats.org/drawingml/2006/main" noGrp="1"/>
          </p:cNvSpPr>
          <p:nvPr/>
        </p:nvSpPr>
        <p:spPr>
          <a:xfrm xmlns:a="http://schemas.openxmlformats.org/drawingml/2006/main">
            <a:off x="5321808" y="41148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조건 (1)(2). 쓰기가 wake pass 안에 있다</a:t>
            </a:r>
            <a:endParaRPr sz="1350"/>
          </a:p>
        </p:txBody>
      </p:sp>
      <p:sp>
        <p:nvSpPr>
          <p:cNvPr id="23" name="STC-13-data-layer-4">
            <a:extLst xmlns:a="http://schemas.openxmlformats.org/drawingml/2006/main">
              <a:ext uri="{FF2B5EF4-FFF2-40B4-BE49-F238E27FC236}">
                <a16:creationId xmlns:a16="http://schemas.microsoft.com/office/drawing/2014/main" id="{E60963C1-8D59-4CC2-B99B-C4EA44523D22}"/>
              </a:ext>
            </a:extLst>
          </p:cNvPr>
          <p:cNvSpPr>
            <a:spLocks xmlns:a="http://schemas.openxmlformats.org/drawingml/2006/main" noGrp="1"/>
          </p:cNvSpPr>
          <p:nvPr/>
        </p:nvSpPr>
        <p:spPr>
          <a:xfrm xmlns:a="http://schemas.openxmlformats.org/drawingml/2006/main">
            <a:off x="4178808" y="4809744"/>
            <a:ext cx="3840480" cy="566928"/>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24" name="STC-13-data-label-4">
            <a:extLst xmlns:a="http://schemas.openxmlformats.org/drawingml/2006/main">
              <a:ext uri="{FF2B5EF4-FFF2-40B4-BE49-F238E27FC236}">
                <a16:creationId xmlns:a16="http://schemas.microsoft.com/office/drawing/2014/main" id="{94E567B2-40CF-45FA-B9F9-A1B39A99C7FF}"/>
              </a:ext>
            </a:extLst>
          </p:cNvPr>
          <p:cNvSpPr>
            <a:spLocks xmlns:a="http://schemas.openxmlformats.org/drawingml/2006/main" noGrp="1"/>
          </p:cNvSpPr>
          <p:nvPr/>
        </p:nvSpPr>
        <p:spPr>
          <a:xfrm xmlns:a="http://schemas.openxmlformats.org/drawingml/2006/main">
            <a:off x="4343400" y="4974336"/>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비용 4종</a:t>
            </a:r>
            <a:endParaRPr sz="1050"/>
          </a:p>
        </p:txBody>
      </p:sp>
      <p:sp>
        <p:nvSpPr>
          <p:cNvPr id="25" name="STC-13-data-body-4">
            <a:extLst xmlns:a="http://schemas.openxmlformats.org/drawingml/2006/main">
              <a:ext uri="{FF2B5EF4-FFF2-40B4-BE49-F238E27FC236}">
                <a16:creationId xmlns:a16="http://schemas.microsoft.com/office/drawing/2014/main" id="{2C57AF49-F2CA-4C91-AE9F-A85EF45878C8}"/>
              </a:ext>
            </a:extLst>
          </p:cNvPr>
          <p:cNvSpPr>
            <a:spLocks xmlns:a="http://schemas.openxmlformats.org/drawingml/2006/main" noGrp="1"/>
          </p:cNvSpPr>
          <p:nvPr/>
        </p:nvSpPr>
        <p:spPr>
          <a:xfrm xmlns:a="http://schemas.openxmlformats.org/drawingml/2006/main">
            <a:off x="5961888" y="4901184"/>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값이 든 칸이 없다. C_cap은 개수로만</a:t>
            </a:r>
            <a:endParaRPr sz="1350"/>
          </a:p>
        </p:txBody>
      </p:sp>
      <p:sp>
        <p:nvSpPr>
          <p:cNvPr id="26" name="STC-13-data-warning">
            <a:extLst xmlns:a="http://schemas.openxmlformats.org/drawingml/2006/main">
              <a:ext uri="{FF2B5EF4-FFF2-40B4-BE49-F238E27FC236}">
                <a16:creationId xmlns:a16="http://schemas.microsoft.com/office/drawing/2014/main" id="{FE09EF05-9A9A-4209-946A-2FFD878EDF5A}"/>
              </a:ext>
            </a:extLst>
          </p:cNvPr>
          <p:cNvSpPr>
            <a:spLocks xmlns:a="http://schemas.openxmlformats.org/drawingml/2006/main" noGrp="1"/>
          </p:cNvSpPr>
          <p:nvPr/>
        </p:nvSpPr>
        <p:spPr>
          <a:xfrm xmlns:a="http://schemas.openxmlformats.org/drawingml/2006/main">
            <a:off x="2286000" y="5623560"/>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ans CJK KR"/>
                <a:ea typeface="Noto Sans CJK KR"/>
                <a:cs typeface="Noto Sans CJK KR"/>
              </a:rPr>
              <a:t>미분 불가 저장소를 attention으로 읽는 것이 낫다</a:t>
            </a:r>
            <a:endParaRPr sz="1800"/>
          </a:p>
        </p:txBody>
      </p:sp>
    </p:spTree>
    <p:extLst>
      <p:ext uri="{BB962C8B-B14F-4D97-AF65-F5344CB8AC3E}">
        <p14:creationId xmlns:p14="http://schemas.microsoft.com/office/powerpoint/2010/main" val="877466157"/>
      </p:ext>
    </p:extLst>
  </p:cSld>
</p:sld>
</file>

<file path=ppt/slides/slide4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E-PATH</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STC-049</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RAG에서 MemGPT로 — 단위가 corpus당에서 사용자당으로 바뀐다</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확립</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ch13 · [MemGPT §1, §2.2, §2.3, §3]</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49</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상속</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Lost in Middle</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관점</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질의 아닌 용량 초과</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학습</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gradient 없음</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탈락</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조건 (1) — 턴 안</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비용</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네 칸 전부 없음</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귀결</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답당 비용 증가</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쓰기가 대화 중 임계 경로 위에서 일어나므로</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구조적 조상이되 sleep-time compute은 아니다</a:t>
            </a:r>
            <a:endParaRPr sz="1500"/>
          </a:p>
        </p:txBody>
      </p:sp>
    </p:spTree>
    <p:extLst>
      <p:ext uri="{BB962C8B-B14F-4D97-AF65-F5344CB8AC3E}">
        <p14:creationId xmlns:p14="http://schemas.microsoft.com/office/powerpoint/2010/main" val="931853972"/>
      </p:ext>
    </p:extLst>
  </p:cSld>
</p:sld>
</file>

<file path=ppt/slides/slide50.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7-section">
            <a:extLst xmlns:a="http://schemas.openxmlformats.org/drawingml/2006/main">
              <a:ext uri="{FF2B5EF4-FFF2-40B4-BE49-F238E27FC236}">
                <a16:creationId xmlns:a16="http://schemas.microsoft.com/office/drawing/2014/main" id="{92E4F8C4-5B7E-4BA3-B695-B6837EACCBA5}"/>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E-PATH</a:t>
            </a:r>
            <a:endParaRPr sz="950"/>
          </a:p>
        </p:txBody>
      </p:sp>
      <p:sp>
        <p:nvSpPr>
          <p:cNvPr id="3" name="STC-17-slide-id">
            <a:extLst xmlns:a="http://schemas.openxmlformats.org/drawingml/2006/main">
              <a:ext uri="{FF2B5EF4-FFF2-40B4-BE49-F238E27FC236}">
                <a16:creationId xmlns:a16="http://schemas.microsoft.com/office/drawing/2014/main" id="{90F0654A-6500-4A13-AE0F-92E29E9E7142}"/>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STC-050</a:t>
            </a:r>
            <a:endParaRPr sz="950"/>
          </a:p>
        </p:txBody>
      </p:sp>
      <p:sp>
        <p:nvSpPr>
          <p:cNvPr id="4" name="STC-17-headline">
            <a:extLst xmlns:a="http://schemas.openxmlformats.org/drawingml/2006/main">
              <a:ext uri="{FF2B5EF4-FFF2-40B4-BE49-F238E27FC236}">
                <a16:creationId xmlns:a16="http://schemas.microsoft.com/office/drawing/2014/main" id="{36BE495C-0276-48C5-8763-B49A07942DC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Letta `Sleep-time Compute` — 이름을 만든 논문</a:t>
            </a:r>
            <a:endParaRPr sz="3000"/>
          </a:p>
        </p:txBody>
      </p:sp>
      <p:sp>
        <p:nvSpPr>
          <p:cNvPr id="5" name="STC-17-status-label">
            <a:extLst xmlns:a="http://schemas.openxmlformats.org/drawingml/2006/main">
              <a:ext uri="{FF2B5EF4-FFF2-40B4-BE49-F238E27FC236}">
                <a16:creationId xmlns:a16="http://schemas.microsoft.com/office/drawing/2014/main" id="{3085FB04-162B-4BDC-9971-7067E8D465E9}"/>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9A442D"/>
                </a:solidFill>
                <a:latin typeface="Noto Sans Mono CJK KR"/>
                <a:ea typeface="Noto Sans Mono CJK KR"/>
                <a:cs typeface="Noto Sans Mono CJK KR"/>
              </a:rPr>
              <a:t>확립</a:t>
            </a:r>
            <a:endParaRPr sz="1000"/>
          </a:p>
        </p:txBody>
      </p:sp>
      <p:sp>
        <p:nvSpPr>
          <p:cNvPr id="6" name="STC-17-status-rule">
            <a:extLst xmlns:a="http://schemas.openxmlformats.org/drawingml/2006/main">
              <a:ext uri="{FF2B5EF4-FFF2-40B4-BE49-F238E27FC236}">
                <a16:creationId xmlns:a16="http://schemas.microsoft.com/office/drawing/2014/main" id="{578ADC5E-51EB-404F-BC45-37C9D6CD7CD7}"/>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9A442D"/>
            </a:solidFill>
            <a:prstDash val="solid"/>
            <a:tailEnd type="none"/>
          </a:ln>
        </p:spPr>
      </p:sp>
      <p:sp>
        <p:nvSpPr>
          <p:cNvPr id="7" name="STC-17-footer-rule">
            <a:extLst xmlns:a="http://schemas.openxmlformats.org/drawingml/2006/main">
              <a:ext uri="{FF2B5EF4-FFF2-40B4-BE49-F238E27FC236}">
                <a16:creationId xmlns:a16="http://schemas.microsoft.com/office/drawing/2014/main" id="{E08768A2-4454-4B40-89F4-7D7CB0E43EDC}"/>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7-source-footer">
            <a:extLst xmlns:a="http://schemas.openxmlformats.org/drawingml/2006/main">
              <a:ext uri="{FF2B5EF4-FFF2-40B4-BE49-F238E27FC236}">
                <a16:creationId xmlns:a16="http://schemas.microsoft.com/office/drawing/2014/main" id="{AD1D9E5D-8963-4E36-885F-E265EF98368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ch14 · [Letta STC arXiv:2504.13171] §1, §2, §7</a:t>
            </a:r>
            <a:endParaRPr sz="850"/>
          </a:p>
        </p:txBody>
      </p:sp>
      <p:sp>
        <p:nvSpPr>
          <p:cNvPr id="9" name="STC-17-page-number">
            <a:extLst xmlns:a="http://schemas.openxmlformats.org/drawingml/2006/main">
              <a:ext uri="{FF2B5EF4-FFF2-40B4-BE49-F238E27FC236}">
                <a16:creationId xmlns:a16="http://schemas.microsoft.com/office/drawing/2014/main" id="{D9D3A1E4-D8BE-40ED-87D8-2EA53AA60732}"/>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50</a:t>
            </a:r>
            <a:endParaRPr sz="850"/>
          </a:p>
        </p:txBody>
      </p:sp>
      <p:sp>
        <p:nvSpPr>
          <p:cNvPr id="11" name="STC-17-scale-left-x">
            <a:extLst xmlns:a="http://schemas.openxmlformats.org/drawingml/2006/main">
              <a:ext uri="{FF2B5EF4-FFF2-40B4-BE49-F238E27FC236}">
                <a16:creationId xmlns:a16="http://schemas.microsoft.com/office/drawing/2014/main" id="{F38B9EA2-0669-4C35-A757-D44B42B288FA}"/>
              </a:ext>
            </a:extLst>
          </p:cNvPr>
          <p:cNvSpPr>
            <a:spLocks xmlns:a="http://schemas.openxmlformats.org/drawingml/2006/main" noGrp="1"/>
          </p:cNvSpPr>
          <p:nvPr/>
        </p:nvSpPr>
        <p:spPr>
          <a:xfrm xmlns:a="http://schemas.openxmlformats.org/drawingml/2006/main">
            <a:off x="1005840" y="5120640"/>
            <a:ext cx="425196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2" name="STC-17-scale-left-y">
            <a:extLst xmlns:a="http://schemas.openxmlformats.org/drawingml/2006/main">
              <a:ext uri="{FF2B5EF4-FFF2-40B4-BE49-F238E27FC236}">
                <a16:creationId xmlns:a16="http://schemas.microsoft.com/office/drawing/2014/main" id="{127EAC0F-7538-48D2-9845-E50816FBC5B6}"/>
              </a:ext>
            </a:extLst>
          </p:cNvPr>
          <p:cNvSpPr>
            <a:spLocks xmlns:a="http://schemas.openxmlformats.org/drawingml/2006/main" noGrp="1"/>
          </p:cNvSpPr>
          <p:nvPr/>
        </p:nvSpPr>
        <p:spPr>
          <a:xfrm xmlns:a="http://schemas.openxmlformats.org/drawingml/2006/main" flipH="0" flipV="1">
            <a:off x="1005840" y="1874520"/>
            <a:ext cx="0" cy="324612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3" name="STC-17-scale-left-xlabel">
            <a:extLst xmlns:a="http://schemas.openxmlformats.org/drawingml/2006/main">
              <a:ext uri="{FF2B5EF4-FFF2-40B4-BE49-F238E27FC236}">
                <a16:creationId xmlns:a16="http://schemas.microsoft.com/office/drawing/2014/main" id="{CC1A6B04-2FA6-4A11-9502-96D6C06C0406}"/>
              </a:ext>
            </a:extLst>
          </p:cNvPr>
          <p:cNvSpPr>
            <a:spLocks xmlns:a="http://schemas.openxmlformats.org/drawingml/2006/main" noGrp="1"/>
          </p:cNvSpPr>
          <p:nvPr/>
        </p:nvSpPr>
        <p:spPr>
          <a:xfrm xmlns:a="http://schemas.openxmlformats.org/drawingml/2006/main">
            <a:off x="3794760" y="5266944"/>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a:solidFill>
                  <a:srgbClr val="59616A"/>
                </a:solidFill>
                <a:latin typeface="Noto Sans CJK KR"/>
                <a:ea typeface="Noto Sans CJK KR"/>
                <a:cs typeface="Noto Sans CJK KR"/>
              </a:rPr>
              <a:t>test-time 예산</a:t>
            </a:r>
            <a:endParaRPr sz="1100"/>
          </a:p>
        </p:txBody>
      </p:sp>
      <p:sp>
        <p:nvSpPr>
          <p:cNvPr id="14" name="STC-17-scale-left-ylabel">
            <a:extLst xmlns:a="http://schemas.openxmlformats.org/drawingml/2006/main">
              <a:ext uri="{FF2B5EF4-FFF2-40B4-BE49-F238E27FC236}">
                <a16:creationId xmlns:a16="http://schemas.microsoft.com/office/drawing/2014/main" id="{3FECF62E-F154-4266-9F86-FA8AD5DD6D5B}"/>
              </a:ext>
            </a:extLst>
          </p:cNvPr>
          <p:cNvSpPr>
            <a:spLocks xmlns:a="http://schemas.openxmlformats.org/drawingml/2006/main" noGrp="1"/>
          </p:cNvSpPr>
          <p:nvPr/>
        </p:nvSpPr>
        <p:spPr>
          <a:xfrm xmlns:a="http://schemas.openxmlformats.org/drawingml/2006/main" rot="16200000">
            <a:off x="594360" y="1764792"/>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9616A"/>
                </a:solidFill>
                <a:latin typeface="Noto Sans CJK KR"/>
                <a:ea typeface="Noto Sans CJK KR"/>
                <a:cs typeface="Noto Sans CJK KR"/>
              </a:rPr>
              <a:t>정확도</a:t>
            </a:r>
            <a:endParaRPr sz="1100"/>
          </a:p>
        </p:txBody>
      </p:sp>
      <p:sp>
        <p:nvSpPr>
          <p:cNvPr id="15" name="STC-17-scale-external">
            <a:extLst xmlns:a="http://schemas.openxmlformats.org/drawingml/2006/main">
              <a:ext uri="{FF2B5EF4-FFF2-40B4-BE49-F238E27FC236}">
                <a16:creationId xmlns:a16="http://schemas.microsoft.com/office/drawing/2014/main" id="{2D86127B-2D39-4C68-9E49-E6517B6F9AD8}"/>
              </a:ext>
            </a:extLst>
          </p:cNvPr>
          <p:cNvSpPr>
            <a:spLocks xmlns:a="http://schemas.openxmlformats.org/drawingml/2006/main" noGrp="1"/>
          </p:cNvSpPr>
          <p:nvPr/>
        </p:nvSpPr>
        <p:spPr>
          <a:xfrm xmlns:a="http://schemas.openxmlformats.org/drawingml/2006/main" flipH="0" flipV="1">
            <a:off x="1188720" y="2606040"/>
            <a:ext cx="3520440" cy="1874520"/>
          </a:xfrm>
          <a:prstGeom xmlns:a="http://schemas.openxmlformats.org/drawingml/2006/main" prst="line">
            <a:avLst/>
          </a:prstGeom>
          <a:noFill xmlns:a="http://schemas.openxmlformats.org/drawingml/2006/main"/>
          <a:ln xmlns:a="http://schemas.openxmlformats.org/drawingml/2006/main" w="27940">
            <a:solidFill>
              <a:srgbClr val="244E8A"/>
            </a:solidFill>
            <a:prstDash val="solid"/>
            <a:tailEnd type="none"/>
          </a:ln>
        </p:spPr>
      </p:sp>
      <p:sp>
        <p:nvSpPr>
          <p:cNvPr id="16" name="STC-17-scale-parametric">
            <a:extLst xmlns:a="http://schemas.openxmlformats.org/drawingml/2006/main">
              <a:ext uri="{FF2B5EF4-FFF2-40B4-BE49-F238E27FC236}">
                <a16:creationId xmlns:a16="http://schemas.microsoft.com/office/drawing/2014/main" id="{DFC59353-7D50-4688-AA06-2224C35349DE}"/>
              </a:ext>
            </a:extLst>
          </p:cNvPr>
          <p:cNvSpPr>
            <a:spLocks xmlns:a="http://schemas.openxmlformats.org/drawingml/2006/main" noGrp="1"/>
          </p:cNvSpPr>
          <p:nvPr/>
        </p:nvSpPr>
        <p:spPr>
          <a:xfrm xmlns:a="http://schemas.openxmlformats.org/drawingml/2006/main">
            <a:off x="1188720" y="2514600"/>
            <a:ext cx="3520440" cy="1965960"/>
          </a:xfrm>
          <a:prstGeom xmlns:a="http://schemas.openxmlformats.org/drawingml/2006/main" prst="line">
            <a:avLst/>
          </a:prstGeom>
          <a:noFill xmlns:a="http://schemas.openxmlformats.org/drawingml/2006/main"/>
          <a:ln xmlns:a="http://schemas.openxmlformats.org/drawingml/2006/main" w="27940">
            <a:solidFill>
              <a:srgbClr val="9A442D"/>
            </a:solidFill>
            <a:prstDash val="solid"/>
            <a:tailEnd type="none"/>
          </a:ln>
        </p:spPr>
      </p:sp>
      <p:sp>
        <p:nvSpPr>
          <p:cNvPr id="17" name="STC-17-scale-cross">
            <a:extLst xmlns:a="http://schemas.openxmlformats.org/drawingml/2006/main">
              <a:ext uri="{FF2B5EF4-FFF2-40B4-BE49-F238E27FC236}">
                <a16:creationId xmlns:a16="http://schemas.microsoft.com/office/drawing/2014/main" id="{38C2475A-C01B-48D1-B5C2-52F03E134CC7}"/>
              </a:ext>
            </a:extLst>
          </p:cNvPr>
          <p:cNvSpPr>
            <a:spLocks xmlns:a="http://schemas.openxmlformats.org/drawingml/2006/main" noGrp="1"/>
          </p:cNvSpPr>
          <p:nvPr/>
        </p:nvSpPr>
        <p:spPr>
          <a:xfrm xmlns:a="http://schemas.openxmlformats.org/drawingml/2006/main">
            <a:off x="2971800" y="3438144"/>
            <a:ext cx="219456" cy="219456"/>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18" name="STC-17-scale-cross-label">
            <a:extLst xmlns:a="http://schemas.openxmlformats.org/drawingml/2006/main">
              <a:ext uri="{FF2B5EF4-FFF2-40B4-BE49-F238E27FC236}">
                <a16:creationId xmlns:a16="http://schemas.microsoft.com/office/drawing/2014/main" id="{5361373B-8A27-4C3F-BCAB-13880DD0432B}"/>
              </a:ext>
            </a:extLst>
          </p:cNvPr>
          <p:cNvSpPr>
            <a:spLocks xmlns:a="http://schemas.openxmlformats.org/drawingml/2006/main" noGrp="1"/>
          </p:cNvSpPr>
          <p:nvPr/>
        </p:nvSpPr>
        <p:spPr>
          <a:xfrm xmlns:a="http://schemas.openxmlformats.org/drawingml/2006/main">
            <a:off x="3200400" y="3209544"/>
            <a:ext cx="1600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7191C"/>
                </a:solidFill>
                <a:latin typeface="Noto Sans CJK KR"/>
                <a:ea typeface="Noto Sans CJK KR"/>
                <a:cs typeface="Noto Sans CJK KR"/>
              </a:rPr>
              <a:t>상속 없는 시작</a:t>
            </a:r>
            <a:endParaRPr sz="1300"/>
          </a:p>
        </p:txBody>
      </p:sp>
      <p:sp>
        <p:nvSpPr>
          <p:cNvPr id="19" name="STC-17-scale-external-label">
            <a:extLst xmlns:a="http://schemas.openxmlformats.org/drawingml/2006/main">
              <a:ext uri="{FF2B5EF4-FFF2-40B4-BE49-F238E27FC236}">
                <a16:creationId xmlns:a16="http://schemas.microsoft.com/office/drawing/2014/main" id="{5A0E898B-D650-4683-929F-FC5564799CA5}"/>
              </a:ext>
            </a:extLst>
          </p:cNvPr>
          <p:cNvSpPr>
            <a:spLocks xmlns:a="http://schemas.openxmlformats.org/drawingml/2006/main" noGrp="1"/>
          </p:cNvSpPr>
          <p:nvPr/>
        </p:nvSpPr>
        <p:spPr>
          <a:xfrm xmlns:a="http://schemas.openxmlformats.org/drawingml/2006/main">
            <a:off x="1554480" y="4096512"/>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244E8A"/>
                </a:solidFill>
                <a:latin typeface="Noto Sans CJK KR"/>
                <a:ea typeface="Noto Sans CJK KR"/>
                <a:cs typeface="Noto Sans CJK KR"/>
              </a:rPr>
              <a:t>공백 제조</a:t>
            </a:r>
            <a:endParaRPr sz="1200"/>
          </a:p>
        </p:txBody>
      </p:sp>
      <p:sp>
        <p:nvSpPr>
          <p:cNvPr id="20" name="STC-17-scale-parametric-label">
            <a:extLst xmlns:a="http://schemas.openxmlformats.org/drawingml/2006/main">
              <a:ext uri="{FF2B5EF4-FFF2-40B4-BE49-F238E27FC236}">
                <a16:creationId xmlns:a16="http://schemas.microsoft.com/office/drawing/2014/main" id="{9314D827-DE51-4522-BD7E-BDF397FFDFC8}"/>
              </a:ext>
            </a:extLst>
          </p:cNvPr>
          <p:cNvSpPr>
            <a:spLocks xmlns:a="http://schemas.openxmlformats.org/drawingml/2006/main" noGrp="1"/>
          </p:cNvSpPr>
          <p:nvPr/>
        </p:nvSpPr>
        <p:spPr>
          <a:xfrm xmlns:a="http://schemas.openxmlformats.org/drawingml/2006/main">
            <a:off x="3986784" y="4114800"/>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9A442D"/>
                </a:solidFill>
                <a:latin typeface="Noto Sans CJK KR"/>
                <a:ea typeface="Noto Sans CJK KR"/>
                <a:cs typeface="Noto Sans CJK KR"/>
              </a:rPr>
              <a:t>22</a:t>
            </a:r>
            <a:endParaRPr sz="1200"/>
          </a:p>
        </p:txBody>
      </p:sp>
      <p:sp>
        <p:nvSpPr>
          <p:cNvPr id="21" name="STC-17-scale-divider">
            <a:extLst xmlns:a="http://schemas.openxmlformats.org/drawingml/2006/main">
              <a:ext uri="{FF2B5EF4-FFF2-40B4-BE49-F238E27FC236}">
                <a16:creationId xmlns:a16="http://schemas.microsoft.com/office/drawing/2014/main" id="{EED8261B-448F-4417-9C3F-674EDAAAD962}"/>
              </a:ext>
            </a:extLst>
          </p:cNvPr>
          <p:cNvSpPr>
            <a:spLocks xmlns:a="http://schemas.openxmlformats.org/drawingml/2006/main" noGrp="1"/>
          </p:cNvSpPr>
          <p:nvPr/>
        </p:nvSpPr>
        <p:spPr>
          <a:xfrm xmlns:a="http://schemas.openxmlformats.org/drawingml/2006/main">
            <a:off x="5989320" y="1755648"/>
            <a:ext cx="0" cy="3886200"/>
          </a:xfrm>
          <a:prstGeom xmlns:a="http://schemas.openxmlformats.org/drawingml/2006/main" prst="line">
            <a:avLst/>
          </a:prstGeom>
          <a:noFill xmlns:a="http://schemas.openxmlformats.org/drawingml/2006/main"/>
          <a:ln xmlns:a="http://schemas.openxmlformats.org/drawingml/2006/main" w="15240">
            <a:solidFill>
              <a:srgbClr val="C9C4B8"/>
            </a:solidFill>
            <a:prstDash val="solid"/>
            <a:tailEnd type="none"/>
          </a:ln>
        </p:spPr>
      </p:sp>
      <p:sp>
        <p:nvSpPr>
          <p:cNvPr id="22" name="STC-17-atlas-label-0">
            <a:extLst xmlns:a="http://schemas.openxmlformats.org/drawingml/2006/main">
              <a:ext uri="{FF2B5EF4-FFF2-40B4-BE49-F238E27FC236}">
                <a16:creationId xmlns:a16="http://schemas.microsoft.com/office/drawing/2014/main" id="{38500024-C3E5-449E-9177-C70AC65318D7}"/>
              </a:ext>
            </a:extLst>
          </p:cNvPr>
          <p:cNvSpPr>
            <a:spLocks xmlns:a="http://schemas.openxmlformats.org/drawingml/2006/main" noGrp="1"/>
          </p:cNvSpPr>
          <p:nvPr/>
        </p:nvSpPr>
        <p:spPr>
          <a:xfrm xmlns:a="http://schemas.openxmlformats.org/drawingml/2006/main">
            <a:off x="6473952" y="1709928"/>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공백 제조</a:t>
            </a:r>
            <a:endParaRPr sz="1050"/>
          </a:p>
        </p:txBody>
      </p:sp>
      <p:sp>
        <p:nvSpPr>
          <p:cNvPr id="23" name="STC-17-atlas-rule-0">
            <a:extLst xmlns:a="http://schemas.openxmlformats.org/drawingml/2006/main">
              <a:ext uri="{FF2B5EF4-FFF2-40B4-BE49-F238E27FC236}">
                <a16:creationId xmlns:a16="http://schemas.microsoft.com/office/drawing/2014/main" id="{740662E4-4426-481A-AD86-7B8414E58A82}"/>
              </a:ext>
            </a:extLst>
          </p:cNvPr>
          <p:cNvSpPr>
            <a:spLocks xmlns:a="http://schemas.openxmlformats.org/drawingml/2006/main" noGrp="1"/>
          </p:cNvSpPr>
          <p:nvPr/>
        </p:nvSpPr>
        <p:spPr>
          <a:xfrm xmlns:a="http://schemas.openxmlformats.org/drawingml/2006/main">
            <a:off x="8284464" y="1819656"/>
            <a:ext cx="502920" cy="0"/>
          </a:xfrm>
          <a:prstGeom xmlns:a="http://schemas.openxmlformats.org/drawingml/2006/main" prst="line">
            <a:avLst/>
          </a:prstGeom>
          <a:noFill xmlns:a="http://schemas.openxmlformats.org/drawingml/2006/main"/>
          <a:ln xmlns:a="http://schemas.openxmlformats.org/drawingml/2006/main" w="38100">
            <a:solidFill>
              <a:srgbClr val="9A442D"/>
            </a:solidFill>
            <a:prstDash val="solid"/>
            <a:tailEnd type="none"/>
          </a:ln>
        </p:spPr>
      </p:sp>
      <p:sp>
        <p:nvSpPr>
          <p:cNvPr id="24" name="STC-17-atlas-body-0">
            <a:extLst xmlns:a="http://schemas.openxmlformats.org/drawingml/2006/main">
              <a:ext uri="{FF2B5EF4-FFF2-40B4-BE49-F238E27FC236}">
                <a16:creationId xmlns:a16="http://schemas.microsoft.com/office/drawing/2014/main" id="{1B446C46-BC66-41F9-B60B-A7B63A5C03DC}"/>
              </a:ext>
            </a:extLst>
          </p:cNvPr>
          <p:cNvSpPr>
            <a:spLocks xmlns:a="http://schemas.openxmlformats.org/drawingml/2006/main" noGrp="1"/>
          </p:cNvSpPr>
          <p:nvPr/>
        </p:nvSpPr>
        <p:spPr>
          <a:xfrm xmlns:a="http://schemas.openxmlformats.org/drawingml/2006/main">
            <a:off x="8979408" y="1682496"/>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test-time scaling에 stateless 가정을 부여</a:t>
            </a:r>
            <a:endParaRPr sz="1550"/>
          </a:p>
        </p:txBody>
      </p:sp>
      <p:sp>
        <p:nvSpPr>
          <p:cNvPr id="25" name="STC-17-atlas-label-1">
            <a:extLst xmlns:a="http://schemas.openxmlformats.org/drawingml/2006/main">
              <a:ext uri="{FF2B5EF4-FFF2-40B4-BE49-F238E27FC236}">
                <a16:creationId xmlns:a16="http://schemas.microsoft.com/office/drawing/2014/main" id="{A1AD9682-CB19-4CC3-B24A-465331B8B9E9}"/>
              </a:ext>
            </a:extLst>
          </p:cNvPr>
          <p:cNvSpPr>
            <a:spLocks xmlns:a="http://schemas.openxmlformats.org/drawingml/2006/main" noGrp="1"/>
          </p:cNvSpPr>
          <p:nvPr/>
        </p:nvSpPr>
        <p:spPr>
          <a:xfrm xmlns:a="http://schemas.openxmlformats.org/drawingml/2006/main">
            <a:off x="6473952" y="2496312"/>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계보</a:t>
            </a:r>
            <a:endParaRPr sz="1050"/>
          </a:p>
        </p:txBody>
      </p:sp>
      <p:sp>
        <p:nvSpPr>
          <p:cNvPr id="26" name="STC-17-atlas-rule-1">
            <a:extLst xmlns:a="http://schemas.openxmlformats.org/drawingml/2006/main">
              <a:ext uri="{FF2B5EF4-FFF2-40B4-BE49-F238E27FC236}">
                <a16:creationId xmlns:a16="http://schemas.microsoft.com/office/drawing/2014/main" id="{9C753F1A-0E9B-4F34-8439-061056C7176A}"/>
              </a:ext>
            </a:extLst>
          </p:cNvPr>
          <p:cNvSpPr>
            <a:spLocks xmlns:a="http://schemas.openxmlformats.org/drawingml/2006/main" noGrp="1"/>
          </p:cNvSpPr>
          <p:nvPr/>
        </p:nvSpPr>
        <p:spPr>
          <a:xfrm xmlns:a="http://schemas.openxmlformats.org/drawingml/2006/main">
            <a:off x="8284464" y="2606040"/>
            <a:ext cx="502920" cy="0"/>
          </a:xfrm>
          <a:prstGeom xmlns:a="http://schemas.openxmlformats.org/drawingml/2006/main" prst="line">
            <a:avLst/>
          </a:prstGeom>
          <a:noFill xmlns:a="http://schemas.openxmlformats.org/drawingml/2006/main"/>
          <a:ln xmlns:a="http://schemas.openxmlformats.org/drawingml/2006/main" w="38100">
            <a:solidFill>
              <a:srgbClr val="244E8A"/>
            </a:solidFill>
            <a:prstDash val="solid"/>
            <a:tailEnd type="none"/>
          </a:ln>
        </p:spPr>
      </p:sp>
      <p:sp>
        <p:nvSpPr>
          <p:cNvPr id="27" name="STC-17-atlas-body-1">
            <a:extLst xmlns:a="http://schemas.openxmlformats.org/drawingml/2006/main">
              <a:ext uri="{FF2B5EF4-FFF2-40B4-BE49-F238E27FC236}">
                <a16:creationId xmlns:a16="http://schemas.microsoft.com/office/drawing/2014/main" id="{1A33A49B-1D5D-4C8F-8664-0C37F5C18102}"/>
              </a:ext>
            </a:extLst>
          </p:cNvPr>
          <p:cNvSpPr>
            <a:spLocks xmlns:a="http://schemas.openxmlformats.org/drawingml/2006/main" noGrp="1"/>
          </p:cNvSpPr>
          <p:nvPr/>
        </p:nvSpPr>
        <p:spPr>
          <a:xfrm xmlns:a="http://schemas.openxmlformats.org/drawingml/2006/main">
            <a:off x="8979408" y="2468880"/>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OS prefetching 유비 하나. 문제 상속 아님</a:t>
            </a:r>
            <a:endParaRPr sz="1550"/>
          </a:p>
        </p:txBody>
      </p:sp>
      <p:sp>
        <p:nvSpPr>
          <p:cNvPr id="28" name="STC-17-atlas-label-2">
            <a:extLst xmlns:a="http://schemas.openxmlformats.org/drawingml/2006/main">
              <a:ext uri="{FF2B5EF4-FFF2-40B4-BE49-F238E27FC236}">
                <a16:creationId xmlns:a16="http://schemas.microsoft.com/office/drawing/2014/main" id="{4B5B8C07-BC12-46CD-813B-3AF219E12202}"/>
              </a:ext>
            </a:extLst>
          </p:cNvPr>
          <p:cNvSpPr>
            <a:spLocks xmlns:a="http://schemas.openxmlformats.org/drawingml/2006/main" noGrp="1"/>
          </p:cNvSpPr>
          <p:nvPr/>
        </p:nvSpPr>
        <p:spPr>
          <a:xfrm xmlns:a="http://schemas.openxmlformats.org/drawingml/2006/main">
            <a:off x="6473952" y="3282696"/>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번호 수식</a:t>
            </a:r>
            <a:endParaRPr sz="1050"/>
          </a:p>
        </p:txBody>
      </p:sp>
      <p:sp>
        <p:nvSpPr>
          <p:cNvPr id="29" name="STC-17-atlas-rule-2">
            <a:extLst xmlns:a="http://schemas.openxmlformats.org/drawingml/2006/main">
              <a:ext uri="{FF2B5EF4-FFF2-40B4-BE49-F238E27FC236}">
                <a16:creationId xmlns:a16="http://schemas.microsoft.com/office/drawing/2014/main" id="{5B2A6C3E-8059-4CE9-9C3B-70976103A271}"/>
              </a:ext>
            </a:extLst>
          </p:cNvPr>
          <p:cNvSpPr>
            <a:spLocks xmlns:a="http://schemas.openxmlformats.org/drawingml/2006/main" noGrp="1"/>
          </p:cNvSpPr>
          <p:nvPr/>
        </p:nvSpPr>
        <p:spPr>
          <a:xfrm xmlns:a="http://schemas.openxmlformats.org/drawingml/2006/main">
            <a:off x="8284464" y="3392424"/>
            <a:ext cx="502920" cy="0"/>
          </a:xfrm>
          <a:prstGeom xmlns:a="http://schemas.openxmlformats.org/drawingml/2006/main" prst="line">
            <a:avLst/>
          </a:prstGeom>
          <a:noFill xmlns:a="http://schemas.openxmlformats.org/drawingml/2006/main"/>
          <a:ln xmlns:a="http://schemas.openxmlformats.org/drawingml/2006/main" w="38100">
            <a:solidFill>
              <a:srgbClr val="2F6B63"/>
            </a:solidFill>
            <a:prstDash val="solid"/>
            <a:tailEnd type="none"/>
          </a:ln>
        </p:spPr>
      </p:sp>
      <p:sp>
        <p:nvSpPr>
          <p:cNvPr id="30" name="STC-17-atlas-body-2">
            <a:extLst xmlns:a="http://schemas.openxmlformats.org/drawingml/2006/main">
              <a:ext uri="{FF2B5EF4-FFF2-40B4-BE49-F238E27FC236}">
                <a16:creationId xmlns:a16="http://schemas.microsoft.com/office/drawing/2014/main" id="{ED8666E7-DF2A-4D85-9EB9-7BFAEFE25FBB}"/>
              </a:ext>
            </a:extLst>
          </p:cNvPr>
          <p:cNvSpPr>
            <a:spLocks xmlns:a="http://schemas.openxmlformats.org/drawingml/2006/main" noGrp="1"/>
          </p:cNvSpPr>
          <p:nvPr/>
        </p:nvSpPr>
        <p:spPr>
          <a:xfrm xmlns:a="http://schemas.openxmlformats.org/drawingml/2006/main">
            <a:off x="8979408" y="3255264"/>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논문에 번호 붙은 수식이 하나도 없다</a:t>
            </a:r>
            <a:endParaRPr sz="1550"/>
          </a:p>
        </p:txBody>
      </p:sp>
      <p:sp>
        <p:nvSpPr>
          <p:cNvPr id="31" name="STC-17-atlas-label-3">
            <a:extLst xmlns:a="http://schemas.openxmlformats.org/drawingml/2006/main">
              <a:ext uri="{FF2B5EF4-FFF2-40B4-BE49-F238E27FC236}">
                <a16:creationId xmlns:a16="http://schemas.microsoft.com/office/drawing/2014/main" id="{C22D209C-8F5F-4D75-9BCF-C8C2E6E5DB33}"/>
              </a:ext>
            </a:extLst>
          </p:cNvPr>
          <p:cNvSpPr>
            <a:spLocks xmlns:a="http://schemas.openxmlformats.org/drawingml/2006/main" noGrp="1"/>
          </p:cNvSpPr>
          <p:nvPr/>
        </p:nvSpPr>
        <p:spPr>
          <a:xfrm xmlns:a="http://schemas.openxmlformats.org/drawingml/2006/main">
            <a:off x="6473952" y="4069080"/>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sleep의 뜻</a:t>
            </a:r>
            <a:endParaRPr sz="1050"/>
          </a:p>
        </p:txBody>
      </p:sp>
      <p:sp>
        <p:nvSpPr>
          <p:cNvPr id="32" name="STC-17-atlas-rule-3">
            <a:extLst xmlns:a="http://schemas.openxmlformats.org/drawingml/2006/main">
              <a:ext uri="{FF2B5EF4-FFF2-40B4-BE49-F238E27FC236}">
                <a16:creationId xmlns:a16="http://schemas.microsoft.com/office/drawing/2014/main" id="{6413883D-F716-4E60-A3EA-294B9FF31579}"/>
              </a:ext>
            </a:extLst>
          </p:cNvPr>
          <p:cNvSpPr>
            <a:spLocks xmlns:a="http://schemas.openxmlformats.org/drawingml/2006/main" noGrp="1"/>
          </p:cNvSpPr>
          <p:nvPr/>
        </p:nvSpPr>
        <p:spPr>
          <a:xfrm xmlns:a="http://schemas.openxmlformats.org/drawingml/2006/main">
            <a:off x="8284464" y="4178808"/>
            <a:ext cx="502920" cy="0"/>
          </a:xfrm>
          <a:prstGeom xmlns:a="http://schemas.openxmlformats.org/drawingml/2006/main" prst="line">
            <a:avLst/>
          </a:prstGeom>
          <a:noFill xmlns:a="http://schemas.openxmlformats.org/drawingml/2006/main"/>
          <a:ln xmlns:a="http://schemas.openxmlformats.org/drawingml/2006/main" w="38100">
            <a:solidFill>
              <a:srgbClr val="9A442D"/>
            </a:solidFill>
            <a:prstDash val="solid"/>
            <a:tailEnd type="none"/>
          </a:ln>
        </p:spPr>
      </p:sp>
      <p:sp>
        <p:nvSpPr>
          <p:cNvPr id="33" name="STC-17-atlas-body-3">
            <a:extLst xmlns:a="http://schemas.openxmlformats.org/drawingml/2006/main">
              <a:ext uri="{FF2B5EF4-FFF2-40B4-BE49-F238E27FC236}">
                <a16:creationId xmlns:a16="http://schemas.microsoft.com/office/drawing/2014/main" id="{3690E37F-97C1-44E1-9B22-261955C76526}"/>
              </a:ext>
            </a:extLst>
          </p:cNvPr>
          <p:cNvSpPr>
            <a:spLocks xmlns:a="http://schemas.openxmlformats.org/drawingml/2006/main" noGrp="1"/>
          </p:cNvSpPr>
          <p:nvPr/>
        </p:nvSpPr>
        <p:spPr>
          <a:xfrm xmlns:a="http://schemas.openxmlformats.org/drawingml/2006/main">
            <a:off x="8979408" y="4041648"/>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consolidation이 아니라 유휴 시간</a:t>
            </a:r>
            <a:endParaRPr sz="1550"/>
          </a:p>
        </p:txBody>
      </p:sp>
      <p:sp>
        <p:nvSpPr>
          <p:cNvPr id="34" name="STC-17-atlas-label-4">
            <a:extLst xmlns:a="http://schemas.openxmlformats.org/drawingml/2006/main">
              <a:ext uri="{FF2B5EF4-FFF2-40B4-BE49-F238E27FC236}">
                <a16:creationId xmlns:a16="http://schemas.microsoft.com/office/drawing/2014/main" id="{4E09BD89-2B39-4380-8908-5D98AB0C13FF}"/>
              </a:ext>
            </a:extLst>
          </p:cNvPr>
          <p:cNvSpPr>
            <a:spLocks xmlns:a="http://schemas.openxmlformats.org/drawingml/2006/main" noGrp="1"/>
          </p:cNvSpPr>
          <p:nvPr/>
        </p:nvSpPr>
        <p:spPr>
          <a:xfrm xmlns:a="http://schemas.openxmlformats.org/drawingml/2006/main">
            <a:off x="6473952" y="4855464"/>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생물 인용</a:t>
            </a:r>
            <a:endParaRPr sz="1050"/>
          </a:p>
        </p:txBody>
      </p:sp>
      <p:sp>
        <p:nvSpPr>
          <p:cNvPr id="35" name="STC-17-atlas-rule-4">
            <a:extLst xmlns:a="http://schemas.openxmlformats.org/drawingml/2006/main">
              <a:ext uri="{FF2B5EF4-FFF2-40B4-BE49-F238E27FC236}">
                <a16:creationId xmlns:a16="http://schemas.microsoft.com/office/drawing/2014/main" id="{6F85C4F8-DEE9-43E4-B953-A1AA93F5F878}"/>
              </a:ext>
            </a:extLst>
          </p:cNvPr>
          <p:cNvSpPr>
            <a:spLocks xmlns:a="http://schemas.openxmlformats.org/drawingml/2006/main" noGrp="1"/>
          </p:cNvSpPr>
          <p:nvPr/>
        </p:nvSpPr>
        <p:spPr>
          <a:xfrm xmlns:a="http://schemas.openxmlformats.org/drawingml/2006/main">
            <a:off x="8284464" y="4965192"/>
            <a:ext cx="502920" cy="0"/>
          </a:xfrm>
          <a:prstGeom xmlns:a="http://schemas.openxmlformats.org/drawingml/2006/main" prst="line">
            <a:avLst/>
          </a:prstGeom>
          <a:noFill xmlns:a="http://schemas.openxmlformats.org/drawingml/2006/main"/>
          <a:ln xmlns:a="http://schemas.openxmlformats.org/drawingml/2006/main" w="38100">
            <a:solidFill>
              <a:srgbClr val="59616A"/>
            </a:solidFill>
            <a:prstDash val="solid"/>
            <a:tailEnd type="none"/>
          </a:ln>
        </p:spPr>
      </p:sp>
      <p:sp>
        <p:nvSpPr>
          <p:cNvPr id="36" name="STC-17-atlas-body-4">
            <a:extLst xmlns:a="http://schemas.openxmlformats.org/drawingml/2006/main">
              <a:ext uri="{FF2B5EF4-FFF2-40B4-BE49-F238E27FC236}">
                <a16:creationId xmlns:a16="http://schemas.microsoft.com/office/drawing/2014/main" id="{E742DFC6-454B-4514-81D0-A19D043EF25B}"/>
              </a:ext>
            </a:extLst>
          </p:cNvPr>
          <p:cNvSpPr>
            <a:spLocks xmlns:a="http://schemas.openxmlformats.org/drawingml/2006/main" noGrp="1"/>
          </p:cNvSpPr>
          <p:nvPr/>
        </p:nvSpPr>
        <p:spPr>
          <a:xfrm xmlns:a="http://schemas.openxmlformats.org/drawingml/2006/main">
            <a:off x="8979408" y="4828032"/>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CLS도 replay도 0편</a:t>
            </a:r>
            <a:endParaRPr sz="1550"/>
          </a:p>
        </p:txBody>
      </p:sp>
      <p:sp>
        <p:nvSpPr>
          <p:cNvPr id="37" name="STC-17-scale-nonresult">
            <a:extLst xmlns:a="http://schemas.openxmlformats.org/drawingml/2006/main">
              <a:ext uri="{FF2B5EF4-FFF2-40B4-BE49-F238E27FC236}">
                <a16:creationId xmlns:a16="http://schemas.microsoft.com/office/drawing/2014/main" id="{0DBC12A9-4F5B-4978-9410-2294970708B3}"/>
              </a:ext>
            </a:extLst>
          </p:cNvPr>
          <p:cNvSpPr>
            <a:spLocks xmlns:a="http://schemas.openxmlformats.org/drawingml/2006/main" noGrp="1"/>
          </p:cNvSpPr>
          <p:nvPr/>
        </p:nvSpPr>
        <p:spPr>
          <a:xfrm xmlns:a="http://schemas.openxmlformats.org/drawingml/2006/main">
            <a:off x="8183880" y="5715000"/>
            <a:ext cx="2971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b="1">
                <a:solidFill>
                  <a:srgbClr val="9A442D"/>
                </a:solidFill>
                <a:latin typeface="Noto Sans Mono CJK KR"/>
                <a:ea typeface="Noto Sans Mono CJK KR"/>
                <a:cs typeface="Noto Sans Mono CJK KR"/>
              </a:rPr>
              <a:t>상속받은 open question이 없다. 참고문헌 22개에 계보 진술은 유비 하나뿐이다</a:t>
            </a:r>
            <a:endParaRPr sz="1000"/>
          </a:p>
        </p:txBody>
      </p:sp>
    </p:spTree>
    <p:extLst>
      <p:ext uri="{BB962C8B-B14F-4D97-AF65-F5344CB8AC3E}">
        <p14:creationId xmlns:p14="http://schemas.microsoft.com/office/powerpoint/2010/main" val="814754748"/>
      </p:ext>
    </p:extLst>
  </p:cSld>
</p:sld>
</file>

<file path=ppt/slides/slide51.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E-PATH</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STC-051</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Letta STC의 기제 — (U-E) 하나가 네 겹으로 특수화된다</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확립</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ch14 §14.3 · [Letta STC App. K, p.27]</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51</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wr</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파괴적 덮어쓰기</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S(·;B_s)</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J≤10 자기 재작성</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ret</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항등 · 프롬프트 접합</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E 범위</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문맥 단위 · 휘발성</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Θ</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동결</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W</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없음</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네 특수화가 이 방법의</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비용 구조를 전부 정한다</a:t>
            </a:r>
            <a:endParaRPr sz="1500"/>
          </a:p>
        </p:txBody>
      </p:sp>
    </p:spTree>
    <p:extLst>
      <p:ext uri="{BB962C8B-B14F-4D97-AF65-F5344CB8AC3E}">
        <p14:creationId xmlns:p14="http://schemas.microsoft.com/office/powerpoint/2010/main" val="931853972"/>
      </p:ext>
    </p:extLst>
  </p:cSld>
</p:sld>
</file>

<file path=ppt/slides/slide5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6-section">
            <a:extLst xmlns:a="http://schemas.openxmlformats.org/drawingml/2006/main">
              <a:ext uri="{FF2B5EF4-FFF2-40B4-BE49-F238E27FC236}">
                <a16:creationId xmlns:a16="http://schemas.microsoft.com/office/drawing/2014/main" id="{C6CFE6F9-30C3-4ACE-B77D-C99D68BA58F5}"/>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E-PATH</a:t>
            </a:r>
            <a:endParaRPr sz="950"/>
          </a:p>
        </p:txBody>
      </p:sp>
      <p:sp>
        <p:nvSpPr>
          <p:cNvPr id="3" name="STC-26-slide-id">
            <a:extLst xmlns:a="http://schemas.openxmlformats.org/drawingml/2006/main">
              <a:ext uri="{FF2B5EF4-FFF2-40B4-BE49-F238E27FC236}">
                <a16:creationId xmlns:a16="http://schemas.microsoft.com/office/drawing/2014/main" id="{FBF29D78-508E-4E7A-988A-2935AC88B6A1}"/>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STC-052</a:t>
            </a:r>
            <a:endParaRPr sz="950"/>
          </a:p>
        </p:txBody>
      </p:sp>
      <p:sp>
        <p:nvSpPr>
          <p:cNvPr id="4" name="STC-26-headline">
            <a:extLst xmlns:a="http://schemas.openxmlformats.org/drawingml/2006/main">
              <a:ext uri="{FF2B5EF4-FFF2-40B4-BE49-F238E27FC236}">
                <a16:creationId xmlns:a16="http://schemas.microsoft.com/office/drawing/2014/main" id="{732EBE89-199D-4FA8-A127-19E537ABF3B3}"/>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'learned'는 gradient를 뜻하지 않는다 — 논문 자신이 그렇게 쓴다</a:t>
            </a:r>
            <a:endParaRPr sz="3000"/>
          </a:p>
        </p:txBody>
      </p:sp>
      <p:sp>
        <p:nvSpPr>
          <p:cNvPr id="5" name="STC-26-status-label">
            <a:extLst xmlns:a="http://schemas.openxmlformats.org/drawingml/2006/main">
              <a:ext uri="{FF2B5EF4-FFF2-40B4-BE49-F238E27FC236}">
                <a16:creationId xmlns:a16="http://schemas.microsoft.com/office/drawing/2014/main" id="{DFBC3A45-EA4A-4C81-847B-98DDEA347603}"/>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논문 원문</a:t>
            </a:r>
            <a:endParaRPr sz="1000"/>
          </a:p>
        </p:txBody>
      </p:sp>
      <p:sp>
        <p:nvSpPr>
          <p:cNvPr id="6" name="STC-26-status-rule">
            <a:extLst xmlns:a="http://schemas.openxmlformats.org/drawingml/2006/main">
              <a:ext uri="{FF2B5EF4-FFF2-40B4-BE49-F238E27FC236}">
                <a16:creationId xmlns:a16="http://schemas.microsoft.com/office/drawing/2014/main" id="{D4374441-A440-47AE-BAFC-C99186B9EF6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26-footer-rule">
            <a:extLst xmlns:a="http://schemas.openxmlformats.org/drawingml/2006/main">
              <a:ext uri="{FF2B5EF4-FFF2-40B4-BE49-F238E27FC236}">
                <a16:creationId xmlns:a16="http://schemas.microsoft.com/office/drawing/2014/main" id="{D17054CE-E03B-4746-9386-8812E6B0F9F5}"/>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6-source-footer">
            <a:extLst xmlns:a="http://schemas.openxmlformats.org/drawingml/2006/main">
              <a:ext uri="{FF2B5EF4-FFF2-40B4-BE49-F238E27FC236}">
                <a16:creationId xmlns:a16="http://schemas.microsoft.com/office/drawing/2014/main" id="{27C2276F-F54F-4D86-9622-75C6D85DAA50}"/>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ch14 §14.3 · [Letta STC §7, p.13]</a:t>
            </a:r>
            <a:endParaRPr sz="850"/>
          </a:p>
        </p:txBody>
      </p:sp>
      <p:sp>
        <p:nvSpPr>
          <p:cNvPr id="9" name="STC-26-page-number">
            <a:extLst xmlns:a="http://schemas.openxmlformats.org/drawingml/2006/main">
              <a:ext uri="{FF2B5EF4-FFF2-40B4-BE49-F238E27FC236}">
                <a16:creationId xmlns:a16="http://schemas.microsoft.com/office/drawing/2014/main" id="{514099CF-2FF1-439D-8114-7438C7271AB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52</a:t>
            </a:r>
            <a:endParaRPr sz="850"/>
          </a:p>
        </p:txBody>
      </p:sp>
      <p:sp>
        <p:nvSpPr>
          <p:cNvPr id="11" name="STC-26-con-capture">
            <a:extLst xmlns:a="http://schemas.openxmlformats.org/drawingml/2006/main">
              <a:ext uri="{FF2B5EF4-FFF2-40B4-BE49-F238E27FC236}">
                <a16:creationId xmlns:a16="http://schemas.microsoft.com/office/drawing/2014/main" id="{DD5D5F7C-59BF-4487-95AC-7D7853786246}"/>
              </a:ext>
            </a:extLst>
          </p:cNvPr>
          <p:cNvSpPr>
            <a:spLocks xmlns:a="http://schemas.openxmlformats.org/drawingml/2006/main" noGrp="1"/>
          </p:cNvSpPr>
          <p:nvPr/>
        </p:nvSpPr>
        <p:spPr>
          <a:xfrm xmlns:a="http://schemas.openxmlformats.org/drawingml/2006/main">
            <a:off x="822960" y="1828800"/>
            <a:ext cx="13258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learned</a:t>
            </a:r>
            <a:endParaRPr sz="1200"/>
          </a:p>
        </p:txBody>
      </p:sp>
      <p:sp>
        <p:nvSpPr>
          <p:cNvPr id="12" name="STC-26-con-transform">
            <a:extLst xmlns:a="http://schemas.openxmlformats.org/drawingml/2006/main">
              <a:ext uri="{FF2B5EF4-FFF2-40B4-BE49-F238E27FC236}">
                <a16:creationId xmlns:a16="http://schemas.microsoft.com/office/drawing/2014/main" id="{AD254F05-8266-4B86-A230-70C8E0018E50}"/>
              </a:ext>
            </a:extLst>
          </p:cNvPr>
          <p:cNvSpPr>
            <a:spLocks xmlns:a="http://schemas.openxmlformats.org/drawingml/2006/main" noGrp="1"/>
          </p:cNvSpPr>
          <p:nvPr/>
        </p:nvSpPr>
        <p:spPr>
          <a:xfrm xmlns:a="http://schemas.openxmlformats.org/drawingml/2006/main">
            <a:off x="3273552" y="1828800"/>
            <a:ext cx="15544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공간</a:t>
            </a:r>
            <a:endParaRPr sz="1200"/>
          </a:p>
        </p:txBody>
      </p:sp>
      <p:sp>
        <p:nvSpPr>
          <p:cNvPr id="13" name="STC-26-con-verify">
            <a:extLst xmlns:a="http://schemas.openxmlformats.org/drawingml/2006/main">
              <a:ext uri="{FF2B5EF4-FFF2-40B4-BE49-F238E27FC236}">
                <a16:creationId xmlns:a16="http://schemas.microsoft.com/office/drawing/2014/main" id="{8E44B935-058D-4160-A101-3846F7FE6B11}"/>
              </a:ext>
            </a:extLst>
          </p:cNvPr>
          <p:cNvSpPr>
            <a:spLocks xmlns:a="http://schemas.openxmlformats.org/drawingml/2006/main" noGrp="1"/>
          </p:cNvSpPr>
          <p:nvPr/>
        </p:nvSpPr>
        <p:spPr>
          <a:xfrm xmlns:a="http://schemas.openxmlformats.org/drawingml/2006/main">
            <a:off x="6016752" y="1828800"/>
            <a:ext cx="11887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귀결</a:t>
            </a:r>
            <a:endParaRPr sz="1200"/>
          </a:p>
        </p:txBody>
      </p:sp>
      <p:sp>
        <p:nvSpPr>
          <p:cNvPr id="14" name="STC-26-con-reuse">
            <a:extLst xmlns:a="http://schemas.openxmlformats.org/drawingml/2006/main">
              <a:ext uri="{FF2B5EF4-FFF2-40B4-BE49-F238E27FC236}">
                <a16:creationId xmlns:a16="http://schemas.microsoft.com/office/drawing/2014/main" id="{FE44A74D-7473-4EAE-B64F-7D1B198738BB}"/>
              </a:ext>
            </a:extLst>
          </p:cNvPr>
          <p:cNvSpPr>
            <a:spLocks xmlns:a="http://schemas.openxmlformats.org/drawingml/2006/main" noGrp="1"/>
          </p:cNvSpPr>
          <p:nvPr/>
        </p:nvSpPr>
        <p:spPr>
          <a:xfrm xmlns:a="http://schemas.openxmlformats.org/drawingml/2006/main">
            <a:off x="8503920" y="1828800"/>
            <a:ext cx="1965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7191C"/>
                </a:solidFill>
                <a:latin typeface="Noto Sans Mono CJK KR"/>
                <a:ea typeface="Noto Sans Mono CJK KR"/>
                <a:cs typeface="Noto Sans Mono CJK KR"/>
              </a:rPr>
              <a:t>근거</a:t>
            </a:r>
            <a:endParaRPr sz="1200"/>
          </a:p>
        </p:txBody>
      </p:sp>
      <p:sp>
        <p:nvSpPr>
          <p:cNvPr id="15" name="STC-26-con-line">
            <a:extLst xmlns:a="http://schemas.openxmlformats.org/drawingml/2006/main">
              <a:ext uri="{FF2B5EF4-FFF2-40B4-BE49-F238E27FC236}">
                <a16:creationId xmlns:a16="http://schemas.microsoft.com/office/drawing/2014/main" id="{6B9F33DC-455B-43F8-B927-A5FEE8FB6298}"/>
              </a:ext>
            </a:extLst>
          </p:cNvPr>
          <p:cNvSpPr>
            <a:spLocks xmlns:a="http://schemas.openxmlformats.org/drawingml/2006/main" noGrp="1"/>
          </p:cNvSpPr>
          <p:nvPr/>
        </p:nvSpPr>
        <p:spPr>
          <a:xfrm xmlns:a="http://schemas.openxmlformats.org/drawingml/2006/main">
            <a:off x="1051560" y="2487168"/>
            <a:ext cx="9281160" cy="0"/>
          </a:xfrm>
          <a:prstGeom xmlns:a="http://schemas.openxmlformats.org/drawingml/2006/main" prst="line">
            <a:avLst/>
          </a:prstGeom>
          <a:noFill xmlns:a="http://schemas.openxmlformats.org/drawingml/2006/main"/>
          <a:ln xmlns:a="http://schemas.openxmlformats.org/drawingml/2006/main" w="25400">
            <a:solidFill>
              <a:srgbClr val="17191C"/>
            </a:solidFill>
            <a:prstDash val="solid"/>
            <a:tailEnd type="triangle"/>
          </a:ln>
        </p:spPr>
      </p:sp>
      <p:sp>
        <p:nvSpPr>
          <p:cNvPr id="16" name="STC-26-con-dot-0">
            <a:extLst xmlns:a="http://schemas.openxmlformats.org/drawingml/2006/main">
              <a:ext uri="{FF2B5EF4-FFF2-40B4-BE49-F238E27FC236}">
                <a16:creationId xmlns:a16="http://schemas.microsoft.com/office/drawing/2014/main" id="{18E9E8A9-F67A-4463-9047-709E74A28F43}"/>
              </a:ext>
            </a:extLst>
          </p:cNvPr>
          <p:cNvSpPr>
            <a:spLocks xmlns:a="http://schemas.openxmlformats.org/drawingml/2006/main" noGrp="1"/>
          </p:cNvSpPr>
          <p:nvPr/>
        </p:nvSpPr>
        <p:spPr>
          <a:xfrm xmlns:a="http://schemas.openxmlformats.org/drawingml/2006/main">
            <a:off x="1143000" y="2267712"/>
            <a:ext cx="438912" cy="438912"/>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7" name="STC-26-con-dot-1">
            <a:extLst xmlns:a="http://schemas.openxmlformats.org/drawingml/2006/main">
              <a:ext uri="{FF2B5EF4-FFF2-40B4-BE49-F238E27FC236}">
                <a16:creationId xmlns:a16="http://schemas.microsoft.com/office/drawing/2014/main" id="{47DAFBCE-CC13-44DF-BE97-33289CD5FCA2}"/>
              </a:ext>
            </a:extLst>
          </p:cNvPr>
          <p:cNvSpPr>
            <a:spLocks xmlns:a="http://schemas.openxmlformats.org/drawingml/2006/main" noGrp="1"/>
          </p:cNvSpPr>
          <p:nvPr/>
        </p:nvSpPr>
        <p:spPr>
          <a:xfrm xmlns:a="http://schemas.openxmlformats.org/drawingml/2006/main">
            <a:off x="3749040" y="2267712"/>
            <a:ext cx="438912" cy="438912"/>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8" name="STC-26-con-dot-2">
            <a:extLst xmlns:a="http://schemas.openxmlformats.org/drawingml/2006/main">
              <a:ext uri="{FF2B5EF4-FFF2-40B4-BE49-F238E27FC236}">
                <a16:creationId xmlns:a16="http://schemas.microsoft.com/office/drawing/2014/main" id="{DA396941-490E-4E1D-8092-36FE24F9034E}"/>
              </a:ext>
            </a:extLst>
          </p:cNvPr>
          <p:cNvSpPr>
            <a:spLocks xmlns:a="http://schemas.openxmlformats.org/drawingml/2006/main" noGrp="1"/>
          </p:cNvSpPr>
          <p:nvPr/>
        </p:nvSpPr>
        <p:spPr>
          <a:xfrm xmlns:a="http://schemas.openxmlformats.org/drawingml/2006/main">
            <a:off x="6400800" y="2267712"/>
            <a:ext cx="438912" cy="438912"/>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19" name="STC-26-con-dot-3">
            <a:extLst xmlns:a="http://schemas.openxmlformats.org/drawingml/2006/main">
              <a:ext uri="{FF2B5EF4-FFF2-40B4-BE49-F238E27FC236}">
                <a16:creationId xmlns:a16="http://schemas.microsoft.com/office/drawing/2014/main" id="{29D6F485-EAC6-4AD2-9692-7D423798FC2C}"/>
              </a:ext>
            </a:extLst>
          </p:cNvPr>
          <p:cNvSpPr>
            <a:spLocks xmlns:a="http://schemas.openxmlformats.org/drawingml/2006/main" noGrp="1"/>
          </p:cNvSpPr>
          <p:nvPr/>
        </p:nvSpPr>
        <p:spPr>
          <a:xfrm xmlns:a="http://schemas.openxmlformats.org/drawingml/2006/main">
            <a:off x="9144000" y="2267712"/>
            <a:ext cx="438912" cy="438912"/>
          </a:xfrm>
          <a:prstGeom xmlns:a="http://schemas.openxmlformats.org/drawingml/2006/main" prst="ellipse">
            <a:avLst/>
          </a:prstGeom>
          <a:solidFill xmlns:a="http://schemas.openxmlformats.org/drawingml/2006/main">
            <a:srgbClr val="17191C"/>
          </a:solidFill>
          <a:ln xmlns:a="http://schemas.openxmlformats.org/drawingml/2006/main" w="12700">
            <a:solidFill>
              <a:srgbClr val="F6F3EC"/>
            </a:solidFill>
            <a:prstDash val="solid"/>
          </a:ln>
        </p:spPr>
      </p:sp>
      <p:sp>
        <p:nvSpPr>
          <p:cNvPr id="20" name="STC-26-con-statement">
            <a:extLst xmlns:a="http://schemas.openxmlformats.org/drawingml/2006/main">
              <a:ext uri="{FF2B5EF4-FFF2-40B4-BE49-F238E27FC236}">
                <a16:creationId xmlns:a16="http://schemas.microsoft.com/office/drawing/2014/main" id="{9A706B15-F426-428F-BAE5-6F17F9D955EC}"/>
              </a:ext>
            </a:extLst>
          </p:cNvPr>
          <p:cNvSpPr>
            <a:spLocks xmlns:a="http://schemas.openxmlformats.org/drawingml/2006/main" noGrp="1"/>
          </p:cNvSpPr>
          <p:nvPr/>
        </p:nvSpPr>
        <p:spPr>
          <a:xfrm xmlns:a="http://schemas.openxmlformats.org/drawingml/2006/main">
            <a:off x="1024128" y="3163824"/>
            <a:ext cx="9829800" cy="1508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17191C"/>
                </a:solidFill>
                <a:latin typeface="Noto Serif CJK KR"/>
                <a:ea typeface="Noto Serif CJK KR"/>
                <a:cs typeface="Noto Serif CJK KR"/>
              </a:rPr>
              <a:t>표현이</a:t>
            </a:r>
            <a:endParaRPr sz="2500"/>
          </a:p>
          <a:p xmlns:a="http://schemas.openxmlformats.org/drawingml/2006/main">
            <a:pPr marL="0" indent="0" algn="ctr">
              <a:buNone/>
            </a:pPr>
            <a:r>
              <a:rPr sz="2500" b="1">
                <a:solidFill>
                  <a:srgbClr val="17191C"/>
                </a:solidFill>
                <a:latin typeface="Noto Serif CJK KR"/>
                <a:ea typeface="Noto Serif CJK KR"/>
                <a:cs typeface="Noto Serif CJK KR"/>
              </a:rPr>
              <a:t>형성되는</a:t>
            </a:r>
            <a:endParaRPr sz="2500"/>
          </a:p>
          <a:p xmlns:a="http://schemas.openxmlformats.org/drawingml/2006/main">
            <a:pPr marL="0" indent="0" algn="ctr">
              <a:buNone/>
            </a:pPr>
            <a:r>
              <a:rPr sz="2500" b="1">
                <a:solidFill>
                  <a:srgbClr val="17191C"/>
                </a:solidFill>
                <a:latin typeface="Noto Serif CJK KR"/>
                <a:ea typeface="Noto Serif CJK KR"/>
                <a:cs typeface="Noto Serif CJK KR"/>
              </a:rPr>
              <a:t>공간이</a:t>
            </a:r>
            <a:endParaRPr sz="2500"/>
          </a:p>
          <a:p xmlns:a="http://schemas.openxmlformats.org/drawingml/2006/main">
            <a:pPr marL="0" indent="0" algn="ctr">
              <a:buNone/>
            </a:pPr>
            <a:r>
              <a:rPr sz="2500" b="1">
                <a:solidFill>
                  <a:srgbClr val="17191C"/>
                </a:solidFill>
                <a:latin typeface="Noto Serif CJK KR"/>
                <a:ea typeface="Noto Serif CJK KR"/>
                <a:cs typeface="Noto Serif CJK KR"/>
              </a:rPr>
              <a:t>paramete…</a:t>
            </a:r>
            <a:endParaRPr sz="2500"/>
          </a:p>
        </p:txBody>
      </p:sp>
      <p:sp>
        <p:nvSpPr>
          <p:cNvPr id="21" name="STC-26-con-final">
            <a:extLst xmlns:a="http://schemas.openxmlformats.org/drawingml/2006/main">
              <a:ext uri="{FF2B5EF4-FFF2-40B4-BE49-F238E27FC236}">
                <a16:creationId xmlns:a16="http://schemas.microsoft.com/office/drawing/2014/main" id="{4ABA2515-68B2-48DF-B47D-A037DB747EDD}"/>
              </a:ext>
            </a:extLst>
          </p:cNvPr>
          <p:cNvSpPr>
            <a:spLocks xmlns:a="http://schemas.openxmlformats.org/drawingml/2006/main" noGrp="1"/>
          </p:cNvSpPr>
          <p:nvPr/>
        </p:nvSpPr>
        <p:spPr>
          <a:xfrm xmlns:a="http://schemas.openxmlformats.org/drawingml/2006/main">
            <a:off x="1965960" y="5175504"/>
            <a:ext cx="8229600" cy="502920"/>
          </a:xfrm>
          <a:prstGeom xmlns:a="http://schemas.openxmlformats.org/drawingml/2006/main" prst="rect">
            <a:avLst/>
          </a:prstGeom>
          <a:solidFill xmlns:a="http://schemas.openxmlformats.org/drawingml/2006/main">
            <a:srgbClr val="2F6B63"/>
          </a:solidFill>
          <a:ln xmlns:a="http://schemas.openxmlformats.org/drawingml/2006/main" w="12700">
            <a:solidFill>
              <a:srgbClr val="2F6B63"/>
            </a:solidFill>
            <a:prstDash val="solid"/>
          </a:ln>
        </p:spPr>
      </p:sp>
      <p:sp>
        <p:nvSpPr>
          <p:cNvPr id="22" name="STC-26-con-final-text">
            <a:extLst xmlns:a="http://schemas.openxmlformats.org/drawingml/2006/main">
              <a:ext uri="{FF2B5EF4-FFF2-40B4-BE49-F238E27FC236}">
                <a16:creationId xmlns:a16="http://schemas.microsoft.com/office/drawing/2014/main" id="{F8188F55-E068-4676-A7D0-1CF459C08858}"/>
              </a:ext>
            </a:extLst>
          </p:cNvPr>
          <p:cNvSpPr>
            <a:spLocks xmlns:a="http://schemas.openxmlformats.org/drawingml/2006/main" noGrp="1"/>
          </p:cNvSpPr>
          <p:nvPr/>
        </p:nvSpPr>
        <p:spPr>
          <a:xfrm xmlns:a="http://schemas.openxmlformats.org/drawingml/2006/main">
            <a:off x="2194560" y="5340096"/>
            <a:ext cx="77724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FFFFFF"/>
                </a:solidFill>
                <a:latin typeface="Noto Sans CJK KR"/>
                <a:ea typeface="Noto Sans CJK KR"/>
                <a:cs typeface="Noto Sans CJK KR"/>
              </a:rPr>
              <a:t>gradient 아님</a:t>
            </a:r>
            <a:endParaRPr sz="1700"/>
          </a:p>
        </p:txBody>
      </p:sp>
    </p:spTree>
    <p:extLst>
      <p:ext uri="{BB962C8B-B14F-4D97-AF65-F5344CB8AC3E}">
        <p14:creationId xmlns:p14="http://schemas.microsoft.com/office/powerpoint/2010/main" val="557935940"/>
      </p:ext>
    </p:extLst>
  </p:cSld>
</p:sld>
</file>

<file path=ppt/slides/slide5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6-section">
            <a:extLst xmlns:a="http://schemas.openxmlformats.org/drawingml/2006/main">
              <a:ext uri="{FF2B5EF4-FFF2-40B4-BE49-F238E27FC236}">
                <a16:creationId xmlns:a16="http://schemas.microsoft.com/office/drawing/2014/main" id="{1EAEABEC-DD0D-4D7C-AA45-BE33B2388F81}"/>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E-PATH</a:t>
            </a:r>
            <a:endParaRPr sz="950"/>
          </a:p>
        </p:txBody>
      </p:sp>
      <p:sp>
        <p:nvSpPr>
          <p:cNvPr id="3" name="STC-16-slide-id">
            <a:extLst xmlns:a="http://schemas.openxmlformats.org/drawingml/2006/main">
              <a:ext uri="{FF2B5EF4-FFF2-40B4-BE49-F238E27FC236}">
                <a16:creationId xmlns:a16="http://schemas.microsoft.com/office/drawing/2014/main" id="{148035CD-3605-4EDB-8925-9EAAD53CDD1E}"/>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STC-053</a:t>
            </a:r>
            <a:endParaRPr sz="950"/>
          </a:p>
        </p:txBody>
      </p:sp>
      <p:sp>
        <p:nvSpPr>
          <p:cNvPr id="4" name="STC-16-headline">
            <a:extLst xmlns:a="http://schemas.openxmlformats.org/drawingml/2006/main">
              <a:ext uri="{FF2B5EF4-FFF2-40B4-BE49-F238E27FC236}">
                <a16:creationId xmlns:a16="http://schemas.microsoft.com/office/drawing/2014/main" id="{31F39839-5A4F-4AB6-A314-6FCD6EBB293B}"/>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비용모델 — 생성 토큰만 세고 prefill 항이 없다</a:t>
            </a:r>
            <a:endParaRPr sz="3000"/>
          </a:p>
        </p:txBody>
      </p:sp>
      <p:sp>
        <p:nvSpPr>
          <p:cNvPr id="5" name="STC-16-status-label">
            <a:extLst xmlns:a="http://schemas.openxmlformats.org/drawingml/2006/main">
              <a:ext uri="{FF2B5EF4-FFF2-40B4-BE49-F238E27FC236}">
                <a16:creationId xmlns:a16="http://schemas.microsoft.com/office/drawing/2014/main" id="{85F97C6D-2152-4166-9EF2-FB1A30075CA5}"/>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논문의 식</a:t>
            </a:r>
            <a:endParaRPr sz="1000"/>
          </a:p>
        </p:txBody>
      </p:sp>
      <p:sp>
        <p:nvSpPr>
          <p:cNvPr id="6" name="STC-16-status-rule">
            <a:extLst xmlns:a="http://schemas.openxmlformats.org/drawingml/2006/main">
              <a:ext uri="{FF2B5EF4-FFF2-40B4-BE49-F238E27FC236}">
                <a16:creationId xmlns:a16="http://schemas.microsoft.com/office/drawing/2014/main" id="{92B0A0F6-E926-46D4-AABF-CD6F912C19B5}"/>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6-footer-rule">
            <a:extLst xmlns:a="http://schemas.openxmlformats.org/drawingml/2006/main">
              <a:ext uri="{FF2B5EF4-FFF2-40B4-BE49-F238E27FC236}">
                <a16:creationId xmlns:a16="http://schemas.microsoft.com/office/drawing/2014/main" id="{78479DB6-1C83-41B6-931F-D82AA487E2AF}"/>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6-source-footer">
            <a:extLst xmlns:a="http://schemas.openxmlformats.org/drawingml/2006/main">
              <a:ext uri="{FF2B5EF4-FFF2-40B4-BE49-F238E27FC236}">
                <a16:creationId xmlns:a16="http://schemas.microsoft.com/office/drawing/2014/main" id="{CCF7D512-F8C3-424D-AAC0-0F61432BB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ch14 §14.5 · [Letta STC §5.3, p.8]</a:t>
            </a:r>
            <a:endParaRPr sz="850"/>
          </a:p>
        </p:txBody>
      </p:sp>
      <p:sp>
        <p:nvSpPr>
          <p:cNvPr id="9" name="STC-16-page-number">
            <a:extLst xmlns:a="http://schemas.openxmlformats.org/drawingml/2006/main">
              <a:ext uri="{FF2B5EF4-FFF2-40B4-BE49-F238E27FC236}">
                <a16:creationId xmlns:a16="http://schemas.microsoft.com/office/drawing/2014/main" id="{CB3F831C-0E59-4B32-AF78-33BF4F5C4D2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53</a:t>
            </a:r>
            <a:endParaRPr sz="850"/>
          </a:p>
        </p:txBody>
      </p:sp>
      <p:sp>
        <p:nvSpPr>
          <p:cNvPr id="11" name="STC-16-nfr-stage-0">
            <a:extLst xmlns:a="http://schemas.openxmlformats.org/drawingml/2006/main">
              <a:ext uri="{FF2B5EF4-FFF2-40B4-BE49-F238E27FC236}">
                <a16:creationId xmlns:a16="http://schemas.microsoft.com/office/drawing/2014/main" id="{BD7BCBEA-7D7C-45F9-940D-B9D49D82B0A9}"/>
              </a:ext>
            </a:extLst>
          </p:cNvPr>
          <p:cNvSpPr>
            <a:spLocks xmlns:a="http://schemas.openxmlformats.org/drawingml/2006/main" noGrp="1"/>
          </p:cNvSpPr>
          <p:nvPr/>
        </p:nvSpPr>
        <p:spPr>
          <a:xfrm xmlns:a="http://schemas.openxmlformats.org/drawingml/2006/main">
            <a:off x="868680" y="2240280"/>
            <a:ext cx="1874520" cy="713232"/>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2" name="STC-16-nfr-label-0">
            <a:extLst xmlns:a="http://schemas.openxmlformats.org/drawingml/2006/main">
              <a:ext uri="{FF2B5EF4-FFF2-40B4-BE49-F238E27FC236}">
                <a16:creationId xmlns:a16="http://schemas.microsoft.com/office/drawing/2014/main" id="{C63A95E6-8E06-4CF9-97A4-DA00A0F19370}"/>
              </a:ext>
            </a:extLst>
          </p:cNvPr>
          <p:cNvSpPr>
            <a:spLocks xmlns:a="http://schemas.openxmlformats.org/drawingml/2006/main" noGrp="1"/>
          </p:cNvSpPr>
          <p:nvPr/>
        </p:nvSpPr>
        <p:spPr>
          <a:xfrm xmlns:a="http://schemas.openxmlformats.org/drawingml/2006/main">
            <a:off x="9784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44E8A"/>
                </a:solidFill>
                <a:latin typeface="Noto Sans Mono CJK KR"/>
                <a:ea typeface="Noto Sans Mono CJK KR"/>
                <a:cs typeface="Noto Sans Mono CJK KR"/>
              </a:rPr>
              <a:t>생성 토큰</a:t>
            </a:r>
            <a:endParaRPr sz="1200"/>
          </a:p>
        </p:txBody>
      </p:sp>
      <p:sp>
        <p:nvSpPr>
          <p:cNvPr id="13" name="STC-16-nfr-arrow-0">
            <a:extLst xmlns:a="http://schemas.openxmlformats.org/drawingml/2006/main">
              <a:ext uri="{FF2B5EF4-FFF2-40B4-BE49-F238E27FC236}">
                <a16:creationId xmlns:a16="http://schemas.microsoft.com/office/drawing/2014/main" id="{93F6E238-5933-4840-8DE8-81F14BF46719}"/>
              </a:ext>
            </a:extLst>
          </p:cNvPr>
          <p:cNvSpPr>
            <a:spLocks xmlns:a="http://schemas.openxmlformats.org/drawingml/2006/main" noGrp="1"/>
          </p:cNvSpPr>
          <p:nvPr/>
        </p:nvSpPr>
        <p:spPr>
          <a:xfrm xmlns:a="http://schemas.openxmlformats.org/drawingml/2006/main">
            <a:off x="28437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4" name="STC-16-nfr-stage-1">
            <a:extLst xmlns:a="http://schemas.openxmlformats.org/drawingml/2006/main">
              <a:ext uri="{FF2B5EF4-FFF2-40B4-BE49-F238E27FC236}">
                <a16:creationId xmlns:a16="http://schemas.microsoft.com/office/drawing/2014/main" id="{6E375C46-F347-452D-B530-0C46A84896AE}"/>
              </a:ext>
            </a:extLst>
          </p:cNvPr>
          <p:cNvSpPr>
            <a:spLocks xmlns:a="http://schemas.openxmlformats.org/drawingml/2006/main" noGrp="1"/>
          </p:cNvSpPr>
          <p:nvPr/>
        </p:nvSpPr>
        <p:spPr>
          <a:xfrm xmlns:a="http://schemas.openxmlformats.org/drawingml/2006/main">
            <a:off x="2926080" y="2240280"/>
            <a:ext cx="1874520" cy="713232"/>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6-nfr-label-1">
            <a:extLst xmlns:a="http://schemas.openxmlformats.org/drawingml/2006/main">
              <a:ext uri="{FF2B5EF4-FFF2-40B4-BE49-F238E27FC236}">
                <a16:creationId xmlns:a16="http://schemas.microsoft.com/office/drawing/2014/main" id="{EE98E794-C92B-4BCD-9AA0-C007E2C3A901}"/>
              </a:ext>
            </a:extLst>
          </p:cNvPr>
          <p:cNvSpPr>
            <a:spLocks xmlns:a="http://schemas.openxmlformats.org/drawingml/2006/main" noGrp="1"/>
          </p:cNvSpPr>
          <p:nvPr/>
        </p:nvSpPr>
        <p:spPr>
          <a:xfrm xmlns:a="http://schemas.openxmlformats.org/drawingml/2006/main">
            <a:off x="30358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F6B63"/>
                </a:solidFill>
                <a:latin typeface="Noto Sans Mono CJK KR"/>
                <a:ea typeface="Noto Sans Mono CJK KR"/>
                <a:cs typeface="Noto Sans Mono CJK KR"/>
              </a:rPr>
              <a:t>입력 토큰</a:t>
            </a:r>
            <a:endParaRPr sz="1200"/>
          </a:p>
        </p:txBody>
      </p:sp>
      <p:sp>
        <p:nvSpPr>
          <p:cNvPr id="16" name="STC-16-nfr-arrow-1">
            <a:extLst xmlns:a="http://schemas.openxmlformats.org/drawingml/2006/main">
              <a:ext uri="{FF2B5EF4-FFF2-40B4-BE49-F238E27FC236}">
                <a16:creationId xmlns:a16="http://schemas.microsoft.com/office/drawing/2014/main" id="{9C699781-3533-4C0E-A37B-9441C305C79A}"/>
              </a:ext>
            </a:extLst>
          </p:cNvPr>
          <p:cNvSpPr>
            <a:spLocks xmlns:a="http://schemas.openxmlformats.org/drawingml/2006/main" noGrp="1"/>
          </p:cNvSpPr>
          <p:nvPr/>
        </p:nvSpPr>
        <p:spPr>
          <a:xfrm xmlns:a="http://schemas.openxmlformats.org/drawingml/2006/main">
            <a:off x="49011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7" name="STC-16-nfr-stage-2">
            <a:extLst xmlns:a="http://schemas.openxmlformats.org/drawingml/2006/main">
              <a:ext uri="{FF2B5EF4-FFF2-40B4-BE49-F238E27FC236}">
                <a16:creationId xmlns:a16="http://schemas.microsoft.com/office/drawing/2014/main" id="{F770F86E-4C00-4545-A7D5-B4D15AB17334}"/>
              </a:ext>
            </a:extLst>
          </p:cNvPr>
          <p:cNvSpPr>
            <a:spLocks xmlns:a="http://schemas.openxmlformats.org/drawingml/2006/main" noGrp="1"/>
          </p:cNvSpPr>
          <p:nvPr/>
        </p:nvSpPr>
        <p:spPr>
          <a:xfrm xmlns:a="http://schemas.openxmlformats.org/drawingml/2006/main">
            <a:off x="5532120" y="2240280"/>
            <a:ext cx="1874520" cy="713232"/>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8" name="STC-16-nfr-label-2">
            <a:extLst xmlns:a="http://schemas.openxmlformats.org/drawingml/2006/main">
              <a:ext uri="{FF2B5EF4-FFF2-40B4-BE49-F238E27FC236}">
                <a16:creationId xmlns:a16="http://schemas.microsoft.com/office/drawing/2014/main" id="{0CA58183-872F-423D-A5A2-DC11CA73C438}"/>
              </a:ext>
            </a:extLst>
          </p:cNvPr>
          <p:cNvSpPr>
            <a:spLocks xmlns:a="http://schemas.openxmlformats.org/drawingml/2006/main" noGrp="1"/>
          </p:cNvSpPr>
          <p:nvPr/>
        </p:nvSpPr>
        <p:spPr>
          <a:xfrm xmlns:a="http://schemas.openxmlformats.org/drawingml/2006/main">
            <a:off x="564184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9A442D"/>
                </a:solidFill>
                <a:latin typeface="Noto Sans Mono CJK KR"/>
                <a:ea typeface="Noto Sans Mono CJK KR"/>
                <a:cs typeface="Noto Sans Mono CJK KR"/>
              </a:rPr>
              <a:t>κ_par 재표현</a:t>
            </a:r>
            <a:endParaRPr sz="1200"/>
          </a:p>
        </p:txBody>
      </p:sp>
      <p:sp>
        <p:nvSpPr>
          <p:cNvPr id="19" name="STC-16-nfr-arrow-2">
            <a:extLst xmlns:a="http://schemas.openxmlformats.org/drawingml/2006/main">
              <a:ext uri="{FF2B5EF4-FFF2-40B4-BE49-F238E27FC236}">
                <a16:creationId xmlns:a16="http://schemas.microsoft.com/office/drawing/2014/main" id="{05297B78-DEE0-4182-9A5E-3E5A7CD7F4DA}"/>
              </a:ext>
            </a:extLst>
          </p:cNvPr>
          <p:cNvSpPr>
            <a:spLocks xmlns:a="http://schemas.openxmlformats.org/drawingml/2006/main" noGrp="1"/>
          </p:cNvSpPr>
          <p:nvPr/>
        </p:nvSpPr>
        <p:spPr>
          <a:xfrm xmlns:a="http://schemas.openxmlformats.org/drawingml/2006/main">
            <a:off x="750722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20" name="STC-16-nfr-stage-3">
            <a:extLst xmlns:a="http://schemas.openxmlformats.org/drawingml/2006/main">
              <a:ext uri="{FF2B5EF4-FFF2-40B4-BE49-F238E27FC236}">
                <a16:creationId xmlns:a16="http://schemas.microsoft.com/office/drawing/2014/main" id="{39A20466-7E4D-40E4-A7D7-42F469ECC895}"/>
              </a:ext>
            </a:extLst>
          </p:cNvPr>
          <p:cNvSpPr>
            <a:spLocks xmlns:a="http://schemas.openxmlformats.org/drawingml/2006/main" noGrp="1"/>
          </p:cNvSpPr>
          <p:nvPr/>
        </p:nvSpPr>
        <p:spPr>
          <a:xfrm xmlns:a="http://schemas.openxmlformats.org/drawingml/2006/main">
            <a:off x="8366760" y="2240280"/>
            <a:ext cx="1874520" cy="71323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16-nfr-label-3">
            <a:extLst xmlns:a="http://schemas.openxmlformats.org/drawingml/2006/main">
              <a:ext uri="{FF2B5EF4-FFF2-40B4-BE49-F238E27FC236}">
                <a16:creationId xmlns:a16="http://schemas.microsoft.com/office/drawing/2014/main" id="{C3585ECC-6437-4548-BCD2-77F576045CDC}"/>
              </a:ext>
            </a:extLst>
          </p:cNvPr>
          <p:cNvSpPr>
            <a:spLocks xmlns:a="http://schemas.openxmlformats.org/drawingml/2006/main" noGrp="1"/>
          </p:cNvSpPr>
          <p:nvPr/>
        </p:nvSpPr>
        <p:spPr>
          <a:xfrm xmlns:a="http://schemas.openxmlformats.org/drawingml/2006/main">
            <a:off x="847648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Noto Sans Mono CJK KR"/>
                <a:ea typeface="Noto Sans Mono CJK KR"/>
                <a:cs typeface="Noto Sans Mono CJK KR"/>
              </a:rPr>
              <a:t>빠진 항</a:t>
            </a:r>
            <a:endParaRPr sz="1200"/>
          </a:p>
        </p:txBody>
      </p:sp>
      <p:sp>
        <p:nvSpPr>
          <p:cNvPr id="22" name="STC-16-nfr-equation">
            <a:extLst xmlns:a="http://schemas.openxmlformats.org/drawingml/2006/main">
              <a:ext uri="{FF2B5EF4-FFF2-40B4-BE49-F238E27FC236}">
                <a16:creationId xmlns:a16="http://schemas.microsoft.com/office/drawing/2014/main" id="{BE0CB8F9-6DA2-4314-B150-9934237AD497}"/>
              </a:ext>
            </a:extLst>
          </p:cNvPr>
          <p:cNvSpPr>
            <a:spLocks xmlns:a="http://schemas.openxmlformats.org/drawingml/2006/main" noGrp="1"/>
          </p:cNvSpPr>
          <p:nvPr/>
        </p:nvSpPr>
        <p:spPr>
          <a:xfrm xmlns:a="http://schemas.openxmlformats.org/drawingml/2006/main">
            <a:off x="2898648" y="3310128"/>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C=κB_t only</a:t>
            </a:r>
            <a:endParaRPr sz="2300"/>
          </a:p>
        </p:txBody>
      </p:sp>
      <p:sp>
        <p:nvSpPr>
          <p:cNvPr id="23" name="STC-16-nfr-result">
            <a:extLst xmlns:a="http://schemas.openxmlformats.org/drawingml/2006/main">
              <a:ext uri="{FF2B5EF4-FFF2-40B4-BE49-F238E27FC236}">
                <a16:creationId xmlns:a16="http://schemas.microsoft.com/office/drawing/2014/main" id="{C4A2FE2B-A37D-47CC-9BE0-490EB409D23D}"/>
              </a:ext>
            </a:extLst>
          </p:cNvPr>
          <p:cNvSpPr>
            <a:spLocks xmlns:a="http://schemas.openxmlformats.org/drawingml/2006/main" noGrp="1"/>
          </p:cNvSpPr>
          <p:nvPr/>
        </p:nvSpPr>
        <p:spPr>
          <a:xfrm xmlns:a="http://schemas.openxmlformats.org/drawingml/2006/main">
            <a:off x="5669280" y="3310128"/>
            <a:ext cx="22402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κ=10 wake</a:t>
            </a:r>
            <a:endParaRPr sz="2300"/>
          </a:p>
        </p:txBody>
      </p:sp>
      <p:sp>
        <p:nvSpPr>
          <p:cNvPr id="24" name="STC-16-nfr-result-arrow">
            <a:extLst xmlns:a="http://schemas.openxmlformats.org/drawingml/2006/main">
              <a:ext uri="{FF2B5EF4-FFF2-40B4-BE49-F238E27FC236}">
                <a16:creationId xmlns:a16="http://schemas.microsoft.com/office/drawing/2014/main" id="{1E4EFA29-21C2-4F8C-B607-F96D778A8A44}"/>
              </a:ext>
            </a:extLst>
          </p:cNvPr>
          <p:cNvSpPr>
            <a:spLocks xmlns:a="http://schemas.openxmlformats.org/drawingml/2006/main" noGrp="1"/>
          </p:cNvSpPr>
          <p:nvPr/>
        </p:nvSpPr>
        <p:spPr>
          <a:xfrm xmlns:a="http://schemas.openxmlformats.org/drawingml/2006/main">
            <a:off x="4937760" y="3493008"/>
            <a:ext cx="658368" cy="0"/>
          </a:xfrm>
          <a:prstGeom xmlns:a="http://schemas.openxmlformats.org/drawingml/2006/main" prst="line">
            <a:avLst/>
          </a:prstGeom>
          <a:noFill xmlns:a="http://schemas.openxmlformats.org/drawingml/2006/main"/>
          <a:ln xmlns:a="http://schemas.openxmlformats.org/drawingml/2006/main" w="19050">
            <a:solidFill>
              <a:srgbClr val="9A442D"/>
            </a:solidFill>
            <a:prstDash val="solid"/>
            <a:tailEnd type="triangle"/>
          </a:ln>
        </p:spPr>
      </p:sp>
      <p:sp>
        <p:nvSpPr>
          <p:cNvPr id="25" name="STC-16-nfr-carriers">
            <a:extLst xmlns:a="http://schemas.openxmlformats.org/drawingml/2006/main">
              <a:ext uri="{FF2B5EF4-FFF2-40B4-BE49-F238E27FC236}">
                <a16:creationId xmlns:a16="http://schemas.microsoft.com/office/drawing/2014/main" id="{2D5BB60A-9D8E-40F6-B3BC-8D23ECC75064}"/>
              </a:ext>
            </a:extLst>
          </p:cNvPr>
          <p:cNvSpPr>
            <a:spLocks xmlns:a="http://schemas.openxmlformats.org/drawingml/2006/main" noGrp="1"/>
          </p:cNvSpPr>
          <p:nvPr/>
        </p:nvSpPr>
        <p:spPr>
          <a:xfrm xmlns:a="http://schemas.openxmlformats.org/drawingml/2006/main">
            <a:off x="1143000" y="4261104"/>
            <a:ext cx="9838944" cy="10607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26" name="STC-16-nfr-carriers-label">
            <a:extLst xmlns:a="http://schemas.openxmlformats.org/drawingml/2006/main">
              <a:ext uri="{FF2B5EF4-FFF2-40B4-BE49-F238E27FC236}">
                <a16:creationId xmlns:a16="http://schemas.microsoft.com/office/drawing/2014/main" id="{5C382C2E-7982-40CC-9D71-4AFD2B2B295F}"/>
              </a:ext>
            </a:extLst>
          </p:cNvPr>
          <p:cNvSpPr>
            <a:spLocks xmlns:a="http://schemas.openxmlformats.org/drawingml/2006/main" noGrp="1"/>
          </p:cNvSpPr>
          <p:nvPr/>
        </p:nvSpPr>
        <p:spPr>
          <a:xfrm xmlns:a="http://schemas.openxmlformats.org/drawingml/2006/main">
            <a:off x="1389888" y="4526280"/>
            <a:ext cx="1234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2F6B63"/>
                </a:solidFill>
                <a:latin typeface="Noto Sans CJK KR"/>
                <a:ea typeface="Noto Sans CJK KR"/>
                <a:cs typeface="Noto Sans CJK KR"/>
              </a:rPr>
              <a:t>생성 토큰</a:t>
            </a:r>
            <a:endParaRPr sz="1700"/>
          </a:p>
        </p:txBody>
      </p:sp>
      <p:sp>
        <p:nvSpPr>
          <p:cNvPr id="27" name="STC-16-nfr-carriers-text">
            <a:extLst xmlns:a="http://schemas.openxmlformats.org/drawingml/2006/main">
              <a:ext uri="{FF2B5EF4-FFF2-40B4-BE49-F238E27FC236}">
                <a16:creationId xmlns:a16="http://schemas.microsoft.com/office/drawing/2014/main" id="{5AA006B0-54B0-4040-95FB-9C38FC9F5627}"/>
              </a:ext>
            </a:extLst>
          </p:cNvPr>
          <p:cNvSpPr>
            <a:spLocks xmlns:a="http://schemas.openxmlformats.org/drawingml/2006/main" noGrp="1"/>
          </p:cNvSpPr>
          <p:nvPr/>
        </p:nvSpPr>
        <p:spPr>
          <a:xfrm xmlns:a="http://schemas.openxmlformats.org/drawingml/2006/main">
            <a:off x="2788920" y="4434840"/>
            <a:ext cx="7818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50" b="1">
                <a:solidFill>
                  <a:srgbClr val="17191C"/>
                </a:solidFill>
                <a:latin typeface="Noto Sans CJK KR"/>
                <a:ea typeface="Noto Sans CJK KR"/>
                <a:cs typeface="Noto Sans CJK KR"/>
              </a:rPr>
              <a:t>빠진 항의 방향과 방법이 작동하는 방향이 같다 — 이 방법은 프롬프트를 늘린다</a:t>
            </a:r>
            <a:endParaRPr sz="1750"/>
          </a:p>
        </p:txBody>
      </p:sp>
      <p:sp>
        <p:nvSpPr>
          <p:cNvPr id="28" name="STC-16-nfr-carriers-note">
            <a:extLst xmlns:a="http://schemas.openxmlformats.org/drawingml/2006/main">
              <a:ext uri="{FF2B5EF4-FFF2-40B4-BE49-F238E27FC236}">
                <a16:creationId xmlns:a16="http://schemas.microsoft.com/office/drawing/2014/main" id="{61EA9E4F-60C4-4072-BF50-77434A086591}"/>
              </a:ext>
            </a:extLst>
          </p:cNvPr>
          <p:cNvSpPr>
            <a:spLocks xmlns:a="http://schemas.openxmlformats.org/drawingml/2006/main" noGrp="1"/>
          </p:cNvSpPr>
          <p:nvPr/>
        </p:nvSpPr>
        <p:spPr>
          <a:xfrm xmlns:a="http://schemas.openxmlformats.org/drawingml/2006/main">
            <a:off x="2788920" y="4974336"/>
            <a:ext cx="781812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a:solidFill>
                  <a:srgbClr val="59616A"/>
                </a:solidFill>
                <a:latin typeface="Noto Sans CJK KR"/>
                <a:ea typeface="Noto Sans CJK KR"/>
                <a:cs typeface="Noto Sans CJK KR"/>
              </a:rPr>
              <a:t>이 방법의 기제가 프롬프트를 늘리는 방향으로 작동한다</a:t>
            </a:r>
            <a:endParaRPr sz="1400"/>
          </a:p>
        </p:txBody>
      </p:sp>
    </p:spTree>
    <p:extLst>
      <p:ext uri="{BB962C8B-B14F-4D97-AF65-F5344CB8AC3E}">
        <p14:creationId xmlns:p14="http://schemas.microsoft.com/office/powerpoint/2010/main" val="13243900"/>
      </p:ext>
    </p:extLst>
  </p:cSld>
</p:sld>
</file>

<file path=ppt/slides/slide5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4-section">
            <a:extLst xmlns:a="http://schemas.openxmlformats.org/drawingml/2006/main">
              <a:ext uri="{FF2B5EF4-FFF2-40B4-BE49-F238E27FC236}">
                <a16:creationId xmlns:a16="http://schemas.microsoft.com/office/drawing/2014/main" id="{7616A92F-78D4-4389-9E54-208FF8DEBDB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E-PATH</a:t>
            </a:r>
            <a:endParaRPr sz="950"/>
          </a:p>
        </p:txBody>
      </p:sp>
      <p:sp>
        <p:nvSpPr>
          <p:cNvPr id="3" name="STC-24-slide-id">
            <a:extLst xmlns:a="http://schemas.openxmlformats.org/drawingml/2006/main">
              <a:ext uri="{FF2B5EF4-FFF2-40B4-BE49-F238E27FC236}">
                <a16:creationId xmlns:a16="http://schemas.microsoft.com/office/drawing/2014/main" id="{28DDB8DD-ED59-4F7A-ABD4-0014B78D57D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STC-054</a:t>
            </a:r>
            <a:endParaRPr sz="950"/>
          </a:p>
        </p:txBody>
      </p:sp>
      <p:sp>
        <p:nvSpPr>
          <p:cNvPr id="4" name="STC-24-headline">
            <a:extLst xmlns:a="http://schemas.openxmlformats.org/drawingml/2006/main">
              <a:ext uri="{FF2B5EF4-FFF2-40B4-BE49-F238E27FC236}">
                <a16:creationId xmlns:a16="http://schemas.microsoft.com/office/drawing/2014/main" id="{E96ED2A6-D5EC-48B5-A06B-512DF4A0B043}"/>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5× · 13% · 2.5× 는 어디서 나온 수인가</a:t>
            </a:r>
            <a:endParaRPr sz="3000"/>
          </a:p>
        </p:txBody>
      </p:sp>
      <p:sp>
        <p:nvSpPr>
          <p:cNvPr id="5" name="STC-24-status-label">
            <a:extLst xmlns:a="http://schemas.openxmlformats.org/drawingml/2006/main">
              <a:ext uri="{FF2B5EF4-FFF2-40B4-BE49-F238E27FC236}">
                <a16:creationId xmlns:a16="http://schemas.microsoft.com/office/drawing/2014/main" id="{DCDB577D-97D2-4F2A-B310-ED51E3EE9C5E}"/>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본서 판정</a:t>
            </a:r>
            <a:endParaRPr sz="1000"/>
          </a:p>
        </p:txBody>
      </p:sp>
      <p:sp>
        <p:nvSpPr>
          <p:cNvPr id="6" name="STC-24-status-rule">
            <a:extLst xmlns:a="http://schemas.openxmlformats.org/drawingml/2006/main">
              <a:ext uri="{FF2B5EF4-FFF2-40B4-BE49-F238E27FC236}">
                <a16:creationId xmlns:a16="http://schemas.microsoft.com/office/drawing/2014/main" id="{3683B797-60B5-480C-A301-49F30A60F273}"/>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24-footer-rule">
            <a:extLst xmlns:a="http://schemas.openxmlformats.org/drawingml/2006/main">
              <a:ext uri="{FF2B5EF4-FFF2-40B4-BE49-F238E27FC236}">
                <a16:creationId xmlns:a16="http://schemas.microsoft.com/office/drawing/2014/main" id="{6FA1EBBA-FD67-4ED0-A852-5338FC5CEF6C}"/>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4-source-footer">
            <a:extLst xmlns:a="http://schemas.openxmlformats.org/drawingml/2006/main">
              <a:ext uri="{FF2B5EF4-FFF2-40B4-BE49-F238E27FC236}">
                <a16:creationId xmlns:a16="http://schemas.microsoft.com/office/drawing/2014/main" id="{F4A5A94F-69E7-42F7-82C3-28BCCACC0D45}"/>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ch14 §14.6 · [Letta STC Abstract; §5.1; App. J; Table 1]</a:t>
            </a:r>
            <a:endParaRPr sz="850"/>
          </a:p>
        </p:txBody>
      </p:sp>
      <p:sp>
        <p:nvSpPr>
          <p:cNvPr id="9" name="STC-24-page-number">
            <a:extLst xmlns:a="http://schemas.openxmlformats.org/drawingml/2006/main">
              <a:ext uri="{FF2B5EF4-FFF2-40B4-BE49-F238E27FC236}">
                <a16:creationId xmlns:a16="http://schemas.microsoft.com/office/drawing/2014/main" id="{0C67EAB4-410A-4712-B528-F9C4ACC0942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54</a:t>
            </a:r>
            <a:endParaRPr sz="850"/>
          </a:p>
        </p:txBody>
      </p:sp>
      <p:sp>
        <p:nvSpPr>
          <p:cNvPr id="11" name="STC-24-redteam-field">
            <a:extLst xmlns:a="http://schemas.openxmlformats.org/drawingml/2006/main">
              <a:ext uri="{FF2B5EF4-FFF2-40B4-BE49-F238E27FC236}">
                <a16:creationId xmlns:a16="http://schemas.microsoft.com/office/drawing/2014/main" id="{FE89799F-71D7-489E-B1FE-5C8044029419}"/>
              </a:ext>
            </a:extLst>
          </p:cNvPr>
          <p:cNvSpPr>
            <a:spLocks xmlns:a="http://schemas.openxmlformats.org/drawingml/2006/main" noGrp="1"/>
          </p:cNvSpPr>
          <p:nvPr/>
        </p:nvSpPr>
        <p:spPr>
          <a:xfrm xmlns:a="http://schemas.openxmlformats.org/drawingml/2006/main">
            <a:off x="777240" y="1581912"/>
            <a:ext cx="2852928" cy="4315968"/>
          </a:xfrm>
          <a:prstGeom xmlns:a="http://schemas.openxmlformats.org/drawingml/2006/main" prst="rect">
            <a:avLst/>
          </a:prstGeom>
          <a:solidFill xmlns:a="http://schemas.openxmlformats.org/drawingml/2006/main">
            <a:srgbClr val="9A442D"/>
          </a:solidFill>
          <a:ln xmlns:a="http://schemas.openxmlformats.org/drawingml/2006/main" w="12700">
            <a:solidFill>
              <a:srgbClr val="9A442D"/>
            </a:solidFill>
            <a:prstDash val="solid"/>
          </a:ln>
        </p:spPr>
      </p:sp>
      <p:sp>
        <p:nvSpPr>
          <p:cNvPr id="12" name="STC-24-redteam-31">
            <a:extLst xmlns:a="http://schemas.openxmlformats.org/drawingml/2006/main">
              <a:ext uri="{FF2B5EF4-FFF2-40B4-BE49-F238E27FC236}">
                <a16:creationId xmlns:a16="http://schemas.microsoft.com/office/drawing/2014/main" id="{76C36925-BB6F-431A-99F4-812FC8CEE5F1}"/>
              </a:ext>
            </a:extLst>
          </p:cNvPr>
          <p:cNvSpPr>
            <a:spLocks xmlns:a="http://schemas.openxmlformats.org/drawingml/2006/main" noGrp="1"/>
          </p:cNvSpPr>
          <p:nvPr/>
        </p:nvSpPr>
        <p:spPr>
          <a:xfrm xmlns:a="http://schemas.openxmlformats.org/drawingml/2006/main">
            <a:off x="1097280" y="1901952"/>
            <a:ext cx="2212848"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5200" b="1">
                <a:solidFill>
                  <a:srgbClr val="FFFFFF"/>
                </a:solidFill>
                <a:latin typeface="Noto Serif CJK KR"/>
                <a:ea typeface="Noto Serif CJK KR"/>
                <a:cs typeface="Noto Serif CJK KR"/>
              </a:rPr>
              <a:t>05</a:t>
            </a:r>
            <a:endParaRPr sz="5200"/>
          </a:p>
        </p:txBody>
      </p:sp>
      <p:sp>
        <p:nvSpPr>
          <p:cNvPr id="13" name="STC-24-redteam-findings">
            <a:extLst xmlns:a="http://schemas.openxmlformats.org/drawingml/2006/main">
              <a:ext uri="{FF2B5EF4-FFF2-40B4-BE49-F238E27FC236}">
                <a16:creationId xmlns:a16="http://schemas.microsoft.com/office/drawing/2014/main" id="{D5F13EAE-2C00-4FDE-BBDA-A4F17E21B35E}"/>
              </a:ext>
            </a:extLst>
          </p:cNvPr>
          <p:cNvSpPr>
            <a:spLocks xmlns:a="http://schemas.openxmlformats.org/drawingml/2006/main" noGrp="1"/>
          </p:cNvSpPr>
          <p:nvPr/>
        </p:nvSpPr>
        <p:spPr>
          <a:xfrm xmlns:a="http://schemas.openxmlformats.org/drawingml/2006/main">
            <a:off x="1097280" y="2816352"/>
            <a:ext cx="2212848"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000" b="1">
                <a:solidFill>
                  <a:srgbClr val="FFFFFF"/>
                </a:solidFill>
                <a:latin typeface="Noto Sans CJK KR"/>
                <a:ea typeface="Noto Sans CJK KR"/>
                <a:cs typeface="Noto Sans CJK KR"/>
              </a:rPr>
              <a:t>본서</a:t>
            </a:r>
            <a:endParaRPr sz="2000"/>
          </a:p>
          <a:p xmlns:a="http://schemas.openxmlformats.org/drawingml/2006/main">
            <a:pPr marL="0" indent="0" algn="ctr">
              <a:buNone/>
            </a:pPr>
            <a:r>
              <a:rPr sz="2000" b="1">
                <a:solidFill>
                  <a:srgbClr val="FFFFFF"/>
                </a:solidFill>
                <a:latin typeface="Noto Sans CJK KR"/>
                <a:ea typeface="Noto Sans CJK KR"/>
                <a:cs typeface="Noto Sans CJK KR"/>
              </a:rPr>
              <a:t>판정 FINDINGS</a:t>
            </a:r>
            <a:endParaRPr sz="2000"/>
          </a:p>
        </p:txBody>
      </p:sp>
      <p:sp>
        <p:nvSpPr>
          <p:cNvPr id="14" name="STC-24-redteam-rule">
            <a:extLst xmlns:a="http://schemas.openxmlformats.org/drawingml/2006/main">
              <a:ext uri="{FF2B5EF4-FFF2-40B4-BE49-F238E27FC236}">
                <a16:creationId xmlns:a16="http://schemas.microsoft.com/office/drawing/2014/main" id="{193B6418-9D2D-496E-BF27-2DF8AE1D1CED}"/>
              </a:ext>
            </a:extLst>
          </p:cNvPr>
          <p:cNvSpPr>
            <a:spLocks xmlns:a="http://schemas.openxmlformats.org/drawingml/2006/main" noGrp="1"/>
          </p:cNvSpPr>
          <p:nvPr/>
        </p:nvSpPr>
        <p:spPr>
          <a:xfrm xmlns:a="http://schemas.openxmlformats.org/drawingml/2006/main">
            <a:off x="1188720" y="3730752"/>
            <a:ext cx="2029968" cy="0"/>
          </a:xfrm>
          <a:prstGeom xmlns:a="http://schemas.openxmlformats.org/drawingml/2006/main" prst="line">
            <a:avLst/>
          </a:prstGeom>
          <a:noFill xmlns:a="http://schemas.openxmlformats.org/drawingml/2006/main"/>
          <a:ln xmlns:a="http://schemas.openxmlformats.org/drawingml/2006/main" w="12700">
            <a:solidFill>
              <a:srgbClr val="FFFFFF"/>
            </a:solidFill>
            <a:prstDash val="solid"/>
            <a:tailEnd type="none"/>
          </a:ln>
        </p:spPr>
      </p:sp>
      <p:sp>
        <p:nvSpPr>
          <p:cNvPr id="15" name="STC-24-redteam-domains">
            <a:extLst xmlns:a="http://schemas.openxmlformats.org/drawingml/2006/main">
              <a:ext uri="{FF2B5EF4-FFF2-40B4-BE49-F238E27FC236}">
                <a16:creationId xmlns:a16="http://schemas.microsoft.com/office/drawing/2014/main" id="{94EAAA44-BDF2-4DC5-83AA-ED7CFE049D6C}"/>
              </a:ext>
            </a:extLst>
          </p:cNvPr>
          <p:cNvSpPr>
            <a:spLocks xmlns:a="http://schemas.openxmlformats.org/drawingml/2006/main" noGrp="1"/>
          </p:cNvSpPr>
          <p:nvPr/>
        </p:nvSpPr>
        <p:spPr>
          <a:xfrm xmlns:a="http://schemas.openxmlformats.org/drawingml/2006/main">
            <a:off x="1188720" y="4005072"/>
            <a:ext cx="2029968"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a:solidFill>
                  <a:srgbClr val="FFFFFF"/>
                </a:solidFill>
                <a:latin typeface="Noto Sans Mono CJK KR"/>
                <a:ea typeface="Noto Sans Mono CJK KR"/>
                <a:cs typeface="Noto Sans Mono CJK KR"/>
              </a:rPr>
              <a:t>GSM-Sym</a:t>
            </a:r>
            <a:endParaRPr sz="1250"/>
          </a:p>
          <a:p xmlns:a="http://schemas.openxmlformats.org/drawingml/2006/main">
            <a:pPr marL="0" indent="0" algn="ctr">
              <a:buNone/>
            </a:pPr>
            <a:r>
              <a:rPr sz="1250">
                <a:solidFill>
                  <a:srgbClr val="FFFFFF"/>
                </a:solidFill>
                <a:latin typeface="Noto Sans Mono CJK KR"/>
                <a:ea typeface="Noto Sans Mono CJK KR"/>
                <a:cs typeface="Noto Sans Mono CJK KR"/>
              </a:rPr>
              <a:t>AIME</a:t>
            </a:r>
            <a:endParaRPr sz="1250"/>
          </a:p>
          <a:p xmlns:a="http://schemas.openxmlformats.org/drawingml/2006/main">
            <a:pPr marL="0" indent="0" algn="ctr">
              <a:buNone/>
            </a:pPr>
            <a:r>
              <a:rPr sz="1250">
                <a:solidFill>
                  <a:srgbClr val="FFFFFF"/>
                </a:solidFill>
                <a:latin typeface="Noto Sans Mono CJK KR"/>
                <a:ea typeface="Noto Sans Mono CJK KR"/>
                <a:cs typeface="Noto Sans Mono CJK KR"/>
              </a:rPr>
              <a:t>Multi-Q</a:t>
            </a:r>
            <a:endParaRPr sz="1250"/>
          </a:p>
          <a:p xmlns:a="http://schemas.openxmlformats.org/drawingml/2006/main">
            <a:pPr marL="0" indent="0" algn="ctr">
              <a:buNone/>
            </a:pPr>
            <a:r>
              <a:rPr sz="1250">
                <a:solidFill>
                  <a:srgbClr val="FFFFFF"/>
                </a:solidFill>
                <a:latin typeface="Noto Sans Mono CJK KR"/>
                <a:ea typeface="Noto Sans Mono CJK KR"/>
                <a:cs typeface="Noto Sans Mono CJK KR"/>
              </a:rPr>
              <a:t>SWE-Feat</a:t>
            </a:r>
            <a:endParaRPr sz="1250"/>
          </a:p>
        </p:txBody>
      </p:sp>
      <p:sp>
        <p:nvSpPr>
          <p:cNvPr id="16" name="STC-24-redteam-condition-0">
            <a:extLst xmlns:a="http://schemas.openxmlformats.org/drawingml/2006/main">
              <a:ext uri="{FF2B5EF4-FFF2-40B4-BE49-F238E27FC236}">
                <a16:creationId xmlns:a16="http://schemas.microsoft.com/office/drawing/2014/main" id="{49FB02AA-6A7B-4109-B1CE-AAFDD4B95126}"/>
              </a:ext>
            </a:extLst>
          </p:cNvPr>
          <p:cNvSpPr>
            <a:spLocks xmlns:a="http://schemas.openxmlformats.org/drawingml/2006/main" noGrp="1"/>
          </p:cNvSpPr>
          <p:nvPr/>
        </p:nvSpPr>
        <p:spPr>
          <a:xfrm xmlns:a="http://schemas.openxmlformats.org/drawingml/2006/main">
            <a:off x="4096512" y="1636776"/>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GSM-SYM</a:t>
            </a:r>
            <a:endParaRPr sz="1050"/>
          </a:p>
        </p:txBody>
      </p:sp>
      <p:sp>
        <p:nvSpPr>
          <p:cNvPr id="17" name="STC-24-redteam-arrow-0">
            <a:extLst xmlns:a="http://schemas.openxmlformats.org/drawingml/2006/main">
              <a:ext uri="{FF2B5EF4-FFF2-40B4-BE49-F238E27FC236}">
                <a16:creationId xmlns:a16="http://schemas.microsoft.com/office/drawing/2014/main" id="{ECFD658B-F414-4945-8A22-4E8FA91012AB}"/>
              </a:ext>
            </a:extLst>
          </p:cNvPr>
          <p:cNvSpPr>
            <a:spLocks xmlns:a="http://schemas.openxmlformats.org/drawingml/2006/main" noGrp="1"/>
          </p:cNvSpPr>
          <p:nvPr/>
        </p:nvSpPr>
        <p:spPr>
          <a:xfrm xmlns:a="http://schemas.openxmlformats.org/drawingml/2006/main">
            <a:off x="6547104" y="1746504"/>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18" name="STC-24-redteam-action-0">
            <a:extLst xmlns:a="http://schemas.openxmlformats.org/drawingml/2006/main">
              <a:ext uri="{FF2B5EF4-FFF2-40B4-BE49-F238E27FC236}">
                <a16:creationId xmlns:a16="http://schemas.microsoft.com/office/drawing/2014/main" id="{25845292-03ED-4596-A305-80A67767FF5E}"/>
              </a:ext>
            </a:extLst>
          </p:cNvPr>
          <p:cNvSpPr>
            <a:spLocks xmlns:a="http://schemas.openxmlformats.org/drawingml/2006/main" noGrp="1"/>
          </p:cNvSpPr>
          <p:nvPr/>
        </p:nvSpPr>
        <p:spPr>
          <a:xfrm xmlns:a="http://schemas.openxmlformats.org/drawingml/2006/main">
            <a:off x="7315200" y="1600200"/>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저자 제작 변형. GSM8K에 문맥 몇 문장을 붙였다</a:t>
            </a:r>
            <a:endParaRPr sz="1700"/>
          </a:p>
        </p:txBody>
      </p:sp>
      <p:sp>
        <p:nvSpPr>
          <p:cNvPr id="19" name="STC-24-redteam-condition-1">
            <a:extLst xmlns:a="http://schemas.openxmlformats.org/drawingml/2006/main">
              <a:ext uri="{FF2B5EF4-FFF2-40B4-BE49-F238E27FC236}">
                <a16:creationId xmlns:a16="http://schemas.microsoft.com/office/drawing/2014/main" id="{C8B7593A-7FC2-429B-B521-B510492237D9}"/>
              </a:ext>
            </a:extLst>
          </p:cNvPr>
          <p:cNvSpPr>
            <a:spLocks xmlns:a="http://schemas.openxmlformats.org/drawingml/2006/main" noGrp="1"/>
          </p:cNvSpPr>
          <p:nvPr/>
        </p:nvSpPr>
        <p:spPr>
          <a:xfrm xmlns:a="http://schemas.openxmlformats.org/drawingml/2006/main">
            <a:off x="4096512" y="2468880"/>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AIME</a:t>
            </a:r>
            <a:endParaRPr sz="1050"/>
          </a:p>
        </p:txBody>
      </p:sp>
      <p:sp>
        <p:nvSpPr>
          <p:cNvPr id="20" name="STC-24-redteam-arrow-1">
            <a:extLst xmlns:a="http://schemas.openxmlformats.org/drawingml/2006/main">
              <a:ext uri="{FF2B5EF4-FFF2-40B4-BE49-F238E27FC236}">
                <a16:creationId xmlns:a16="http://schemas.microsoft.com/office/drawing/2014/main" id="{F092DC91-30E1-437A-B05C-4E92179650B8}"/>
              </a:ext>
            </a:extLst>
          </p:cNvPr>
          <p:cNvSpPr>
            <a:spLocks xmlns:a="http://schemas.openxmlformats.org/drawingml/2006/main" noGrp="1"/>
          </p:cNvSpPr>
          <p:nvPr/>
        </p:nvSpPr>
        <p:spPr>
          <a:xfrm xmlns:a="http://schemas.openxmlformats.org/drawingml/2006/main">
            <a:off x="6547104" y="2578608"/>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21" name="STC-24-redteam-action-1">
            <a:extLst xmlns:a="http://schemas.openxmlformats.org/drawingml/2006/main">
              <a:ext uri="{FF2B5EF4-FFF2-40B4-BE49-F238E27FC236}">
                <a16:creationId xmlns:a16="http://schemas.microsoft.com/office/drawing/2014/main" id="{AAB4C558-8F92-4BB0-B8E0-D28983C0BA46}"/>
              </a:ext>
            </a:extLst>
          </p:cNvPr>
          <p:cNvSpPr>
            <a:spLocks xmlns:a="http://schemas.openxmlformats.org/drawingml/2006/main" noGrp="1"/>
          </p:cNvSpPr>
          <p:nvPr/>
        </p:nvSpPr>
        <p:spPr>
          <a:xfrm xmlns:a="http://schemas.openxmlformats.org/drawingml/2006/main">
            <a:off x="7315200" y="2432304"/>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60문항. 문맥이 빈 인스턴스가 개수 미상 포함</a:t>
            </a:r>
            <a:endParaRPr sz="1700"/>
          </a:p>
        </p:txBody>
      </p:sp>
      <p:sp>
        <p:nvSpPr>
          <p:cNvPr id="22" name="STC-24-redteam-condition-2">
            <a:extLst xmlns:a="http://schemas.openxmlformats.org/drawingml/2006/main">
              <a:ext uri="{FF2B5EF4-FFF2-40B4-BE49-F238E27FC236}">
                <a16:creationId xmlns:a16="http://schemas.microsoft.com/office/drawing/2014/main" id="{49D0C450-50F7-478F-8F31-2E93A9AA5685}"/>
              </a:ext>
            </a:extLst>
          </p:cNvPr>
          <p:cNvSpPr>
            <a:spLocks xmlns:a="http://schemas.openxmlformats.org/drawingml/2006/main" noGrp="1"/>
          </p:cNvSpPr>
          <p:nvPr/>
        </p:nvSpPr>
        <p:spPr>
          <a:xfrm xmlns:a="http://schemas.openxmlformats.org/drawingml/2006/main">
            <a:off x="4096512" y="3300984"/>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MULTI-Q</a:t>
            </a:r>
            <a:endParaRPr sz="1050"/>
          </a:p>
        </p:txBody>
      </p:sp>
      <p:sp>
        <p:nvSpPr>
          <p:cNvPr id="23" name="STC-24-redteam-arrow-2">
            <a:extLst xmlns:a="http://schemas.openxmlformats.org/drawingml/2006/main">
              <a:ext uri="{FF2B5EF4-FFF2-40B4-BE49-F238E27FC236}">
                <a16:creationId xmlns:a16="http://schemas.microsoft.com/office/drawing/2014/main" id="{F1BFD9F8-5311-48DD-82AC-FC91409C398F}"/>
              </a:ext>
            </a:extLst>
          </p:cNvPr>
          <p:cNvSpPr>
            <a:spLocks xmlns:a="http://schemas.openxmlformats.org/drawingml/2006/main" noGrp="1"/>
          </p:cNvSpPr>
          <p:nvPr/>
        </p:nvSpPr>
        <p:spPr>
          <a:xfrm xmlns:a="http://schemas.openxmlformats.org/drawingml/2006/main">
            <a:off x="6547104" y="3410712"/>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24" name="STC-24-redteam-action-2">
            <a:extLst xmlns:a="http://schemas.openxmlformats.org/drawingml/2006/main">
              <a:ext uri="{FF2B5EF4-FFF2-40B4-BE49-F238E27FC236}">
                <a16:creationId xmlns:a16="http://schemas.microsoft.com/office/drawing/2014/main" id="{53B6400F-21E7-48B9-B878-73AC3E062630}"/>
              </a:ext>
            </a:extLst>
          </p:cNvPr>
          <p:cNvSpPr>
            <a:spLocks xmlns:a="http://schemas.openxmlformats.org/drawingml/2006/main" noGrp="1"/>
          </p:cNvSpPr>
          <p:nvPr/>
        </p:nvSpPr>
        <p:spPr>
          <a:xfrm xmlns:a="http://schemas.openxmlformats.org/drawingml/2006/main">
            <a:off x="7315200" y="3264408"/>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90.9%가 모델 생성 문항. 생성 답 검증 미보고</a:t>
            </a:r>
            <a:endParaRPr sz="1700"/>
          </a:p>
        </p:txBody>
      </p:sp>
      <p:sp>
        <p:nvSpPr>
          <p:cNvPr id="25" name="STC-24-redteam-condition-3">
            <a:extLst xmlns:a="http://schemas.openxmlformats.org/drawingml/2006/main">
              <a:ext uri="{FF2B5EF4-FFF2-40B4-BE49-F238E27FC236}">
                <a16:creationId xmlns:a16="http://schemas.microsoft.com/office/drawing/2014/main" id="{54B2E66F-F1FD-43FB-BE43-6557E3F79FBF}"/>
              </a:ext>
            </a:extLst>
          </p:cNvPr>
          <p:cNvSpPr>
            <a:spLocks xmlns:a="http://schemas.openxmlformats.org/drawingml/2006/main" noGrp="1"/>
          </p:cNvSpPr>
          <p:nvPr/>
        </p:nvSpPr>
        <p:spPr>
          <a:xfrm xmlns:a="http://schemas.openxmlformats.org/drawingml/2006/main">
            <a:off x="4096512" y="4133088"/>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SWE-FEAT</a:t>
            </a:r>
            <a:endParaRPr sz="1050"/>
          </a:p>
        </p:txBody>
      </p:sp>
      <p:sp>
        <p:nvSpPr>
          <p:cNvPr id="26" name="STC-24-redteam-arrow-3">
            <a:extLst xmlns:a="http://schemas.openxmlformats.org/drawingml/2006/main">
              <a:ext uri="{FF2B5EF4-FFF2-40B4-BE49-F238E27FC236}">
                <a16:creationId xmlns:a16="http://schemas.microsoft.com/office/drawing/2014/main" id="{142A7955-B5F4-4C94-BF7C-59CB9CABC9A9}"/>
              </a:ext>
            </a:extLst>
          </p:cNvPr>
          <p:cNvSpPr>
            <a:spLocks xmlns:a="http://schemas.openxmlformats.org/drawingml/2006/main" noGrp="1"/>
          </p:cNvSpPr>
          <p:nvPr/>
        </p:nvSpPr>
        <p:spPr>
          <a:xfrm xmlns:a="http://schemas.openxmlformats.org/drawingml/2006/main">
            <a:off x="6547104" y="4242816"/>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27" name="STC-24-redteam-action-3">
            <a:extLst xmlns:a="http://schemas.openxmlformats.org/drawingml/2006/main">
              <a:ext uri="{FF2B5EF4-FFF2-40B4-BE49-F238E27FC236}">
                <a16:creationId xmlns:a16="http://schemas.microsoft.com/office/drawing/2014/main" id="{509CB230-3F0C-4279-A9DF-0AED1E3597D6}"/>
              </a:ext>
            </a:extLst>
          </p:cNvPr>
          <p:cNvSpPr>
            <a:spLocks xmlns:a="http://schemas.openxmlformats.org/drawingml/2006/main" noGrp="1"/>
          </p:cNvSpPr>
          <p:nvPr/>
        </p:nvSpPr>
        <p:spPr>
          <a:xfrm xmlns:a="http://schemas.openxmlformats.org/drawingml/2006/main">
            <a:off x="7315200" y="4096512"/>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형제 PR 묶음. 절감이 약 1.5×로 작다</a:t>
            </a:r>
            <a:endParaRPr sz="1700"/>
          </a:p>
        </p:txBody>
      </p:sp>
      <p:sp>
        <p:nvSpPr>
          <p:cNvPr id="28" name="STC-24-redteam-condition-4">
            <a:extLst xmlns:a="http://schemas.openxmlformats.org/drawingml/2006/main">
              <a:ext uri="{FF2B5EF4-FFF2-40B4-BE49-F238E27FC236}">
                <a16:creationId xmlns:a16="http://schemas.microsoft.com/office/drawing/2014/main" id="{446D537E-ADDE-43CB-9B24-A4F46A7882F5}"/>
              </a:ext>
            </a:extLst>
          </p:cNvPr>
          <p:cNvSpPr>
            <a:spLocks xmlns:a="http://schemas.openxmlformats.org/drawingml/2006/main" noGrp="1"/>
          </p:cNvSpPr>
          <p:nvPr/>
        </p:nvSpPr>
        <p:spPr>
          <a:xfrm xmlns:a="http://schemas.openxmlformats.org/drawingml/2006/main">
            <a:off x="4096512" y="4965192"/>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Κ_COST=10</a:t>
            </a:r>
            <a:endParaRPr sz="1050"/>
          </a:p>
        </p:txBody>
      </p:sp>
      <p:sp>
        <p:nvSpPr>
          <p:cNvPr id="29" name="STC-24-redteam-arrow-4">
            <a:extLst xmlns:a="http://schemas.openxmlformats.org/drawingml/2006/main">
              <a:ext uri="{FF2B5EF4-FFF2-40B4-BE49-F238E27FC236}">
                <a16:creationId xmlns:a16="http://schemas.microsoft.com/office/drawing/2014/main" id="{2F284B3B-3811-4BF7-8991-CD6D21C10D0E}"/>
              </a:ext>
            </a:extLst>
          </p:cNvPr>
          <p:cNvSpPr>
            <a:spLocks xmlns:a="http://schemas.openxmlformats.org/drawingml/2006/main" noGrp="1"/>
          </p:cNvSpPr>
          <p:nvPr/>
        </p:nvSpPr>
        <p:spPr>
          <a:xfrm xmlns:a="http://schemas.openxmlformats.org/drawingml/2006/main">
            <a:off x="6547104" y="5074920"/>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30" name="STC-24-redteam-action-4">
            <a:extLst xmlns:a="http://schemas.openxmlformats.org/drawingml/2006/main">
              <a:ext uri="{FF2B5EF4-FFF2-40B4-BE49-F238E27FC236}">
                <a16:creationId xmlns:a16="http://schemas.microsoft.com/office/drawing/2014/main" id="{0C0BE6BA-1227-4317-8CCB-047039F8A580}"/>
              </a:ext>
            </a:extLst>
          </p:cNvPr>
          <p:cNvSpPr>
            <a:spLocks xmlns:a="http://schemas.openxmlformats.org/drawingml/2006/main" noGrp="1"/>
          </p:cNvSpPr>
          <p:nvPr/>
        </p:nvSpPr>
        <p:spPr>
          <a:xfrm xmlns:a="http://schemas.openxmlformats.org/drawingml/2006/main">
            <a:off x="7315200" y="4928616"/>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벤더 문서 인용 한 줄. 민감도 분석 없음</a:t>
            </a:r>
            <a:endParaRPr sz="1700"/>
          </a:p>
        </p:txBody>
      </p:sp>
      <p:sp>
        <p:nvSpPr>
          <p:cNvPr id="31" name="STC-24-redteam-bottom">
            <a:extLst xmlns:a="http://schemas.openxmlformats.org/drawingml/2006/main">
              <a:ext uri="{FF2B5EF4-FFF2-40B4-BE49-F238E27FC236}">
                <a16:creationId xmlns:a16="http://schemas.microsoft.com/office/drawing/2014/main" id="{3BD5330B-ECE0-40DD-92FE-09B0B3E352BD}"/>
              </a:ext>
            </a:extLst>
          </p:cNvPr>
          <p:cNvSpPr>
            <a:spLocks xmlns:a="http://schemas.openxmlformats.org/drawingml/2006/main" noGrp="1"/>
          </p:cNvSpPr>
          <p:nvPr/>
        </p:nvSpPr>
        <p:spPr>
          <a:xfrm xmlns:a="http://schemas.openxmlformats.org/drawingml/2006/main">
            <a:off x="5074920" y="5596128"/>
            <a:ext cx="532180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b="1">
                <a:solidFill>
                  <a:srgbClr val="2F6B63"/>
                </a:solidFill>
                <a:latin typeface="Noto Sans Mono CJK KR"/>
                <a:ea typeface="Noto Sans Mono CJK KR"/>
                <a:cs typeface="Noto Sans Mono CJK KR"/>
              </a:rPr>
              <a:t>네 벤치마크가 전부 저자 제작 변형이고, 기존 stateful reasoning 벤치가 하나도 없다</a:t>
            </a:r>
            <a:endParaRPr sz="1100"/>
          </a:p>
        </p:txBody>
      </p:sp>
    </p:spTree>
    <p:extLst>
      <p:ext uri="{BB962C8B-B14F-4D97-AF65-F5344CB8AC3E}">
        <p14:creationId xmlns:p14="http://schemas.microsoft.com/office/powerpoint/2010/main" val="777900829"/>
      </p:ext>
    </p:extLst>
  </p:cSld>
</p:sld>
</file>

<file path=ppt/slides/slide5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8-section">
            <a:extLst xmlns:a="http://schemas.openxmlformats.org/drawingml/2006/main">
              <a:ext uri="{FF2B5EF4-FFF2-40B4-BE49-F238E27FC236}">
                <a16:creationId xmlns:a16="http://schemas.microsoft.com/office/drawing/2014/main" id="{7B2F2BEC-3602-48B7-8AE5-82606691E202}"/>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E-PATH</a:t>
            </a:r>
            <a:endParaRPr sz="950"/>
          </a:p>
        </p:txBody>
      </p:sp>
      <p:sp>
        <p:nvSpPr>
          <p:cNvPr id="3" name="STC-18-slide-id">
            <a:extLst xmlns:a="http://schemas.openxmlformats.org/drawingml/2006/main">
              <a:ext uri="{FF2B5EF4-FFF2-40B4-BE49-F238E27FC236}">
                <a16:creationId xmlns:a16="http://schemas.microsoft.com/office/drawing/2014/main" id="{9AE62136-189D-4710-BD84-EAC5632E1659}"/>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STC-055</a:t>
            </a:r>
            <a:endParaRPr sz="950"/>
          </a:p>
        </p:txBody>
      </p:sp>
      <p:sp>
        <p:nvSpPr>
          <p:cNvPr id="4" name="STC-18-headline">
            <a:extLst xmlns:a="http://schemas.openxmlformats.org/drawingml/2006/main">
              <a:ext uri="{FF2B5EF4-FFF2-40B4-BE49-F238E27FC236}">
                <a16:creationId xmlns:a16="http://schemas.microsoft.com/office/drawing/2014/main" id="{D266D2F1-778B-4F2E-AC6F-D10EF836FA1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이득은 높은 예산에서 역전하고, sleep 스케일링은 비단조다</a:t>
            </a:r>
            <a:endParaRPr sz="3000"/>
          </a:p>
        </p:txBody>
      </p:sp>
      <p:sp>
        <p:nvSpPr>
          <p:cNvPr id="5" name="STC-18-status-label">
            <a:extLst xmlns:a="http://schemas.openxmlformats.org/drawingml/2006/main">
              <a:ext uri="{FF2B5EF4-FFF2-40B4-BE49-F238E27FC236}">
                <a16:creationId xmlns:a16="http://schemas.microsoft.com/office/drawing/2014/main" id="{79C701E9-D174-4EFD-A18F-4DC89E642FD4}"/>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9A442D"/>
                </a:solidFill>
                <a:latin typeface="Noto Sans Mono CJK KR"/>
                <a:ea typeface="Noto Sans Mono CJK KR"/>
                <a:cs typeface="Noto Sans Mono CJK KR"/>
              </a:rPr>
              <a:t>논문 수치</a:t>
            </a:r>
            <a:endParaRPr sz="1000"/>
          </a:p>
        </p:txBody>
      </p:sp>
      <p:sp>
        <p:nvSpPr>
          <p:cNvPr id="6" name="STC-18-status-rule">
            <a:extLst xmlns:a="http://schemas.openxmlformats.org/drawingml/2006/main">
              <a:ext uri="{FF2B5EF4-FFF2-40B4-BE49-F238E27FC236}">
                <a16:creationId xmlns:a16="http://schemas.microsoft.com/office/drawing/2014/main" id="{529715C2-F602-473A-947A-5FCB9DCC7AF8}"/>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9A442D"/>
            </a:solidFill>
            <a:prstDash val="solid"/>
            <a:tailEnd type="none"/>
          </a:ln>
        </p:spPr>
      </p:sp>
      <p:sp>
        <p:nvSpPr>
          <p:cNvPr id="7" name="STC-18-footer-rule">
            <a:extLst xmlns:a="http://schemas.openxmlformats.org/drawingml/2006/main">
              <a:ext uri="{FF2B5EF4-FFF2-40B4-BE49-F238E27FC236}">
                <a16:creationId xmlns:a16="http://schemas.microsoft.com/office/drawing/2014/main" id="{403A9EAC-FF66-416C-A329-C6EC95571F21}"/>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8-source-footer">
            <a:extLst xmlns:a="http://schemas.openxmlformats.org/drawingml/2006/main">
              <a:ext uri="{FF2B5EF4-FFF2-40B4-BE49-F238E27FC236}">
                <a16:creationId xmlns:a16="http://schemas.microsoft.com/office/drawing/2014/main" id="{4E420FB2-E8CE-4EDD-9FDC-7CA418F767F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ch14 §14.6 · [Letta STC §5.1, p.6; §5.2, p.8; §6, p.12]</a:t>
            </a:r>
            <a:endParaRPr sz="850"/>
          </a:p>
        </p:txBody>
      </p:sp>
      <p:sp>
        <p:nvSpPr>
          <p:cNvPr id="9" name="STC-18-page-number">
            <a:extLst xmlns:a="http://schemas.openxmlformats.org/drawingml/2006/main">
              <a:ext uri="{FF2B5EF4-FFF2-40B4-BE49-F238E27FC236}">
                <a16:creationId xmlns:a16="http://schemas.microsoft.com/office/drawing/2014/main" id="{4FE270B3-F1A6-4BCA-B282-FDF212DC78F7}"/>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55</a:t>
            </a:r>
            <a:endParaRPr sz="850"/>
          </a:p>
        </p:txBody>
      </p:sp>
      <p:sp>
        <p:nvSpPr>
          <p:cNvPr id="11" name="STC-18-knee-axis-x">
            <a:extLst xmlns:a="http://schemas.openxmlformats.org/drawingml/2006/main">
              <a:ext uri="{FF2B5EF4-FFF2-40B4-BE49-F238E27FC236}">
                <a16:creationId xmlns:a16="http://schemas.microsoft.com/office/drawing/2014/main" id="{C81452CC-D40C-4DD0-AE1A-B0381E5804B5}"/>
              </a:ext>
            </a:extLst>
          </p:cNvPr>
          <p:cNvSpPr>
            <a:spLocks xmlns:a="http://schemas.openxmlformats.org/drawingml/2006/main" noGrp="1"/>
          </p:cNvSpPr>
          <p:nvPr/>
        </p:nvSpPr>
        <p:spPr>
          <a:xfrm xmlns:a="http://schemas.openxmlformats.org/drawingml/2006/main">
            <a:off x="1143000" y="5669280"/>
            <a:ext cx="644652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2" name="STC-18-knee-axis-y">
            <a:extLst xmlns:a="http://schemas.openxmlformats.org/drawingml/2006/main">
              <a:ext uri="{FF2B5EF4-FFF2-40B4-BE49-F238E27FC236}">
                <a16:creationId xmlns:a16="http://schemas.microsoft.com/office/drawing/2014/main" id="{E1F7C2CF-4433-4C4B-8A34-B94592ECA104}"/>
              </a:ext>
            </a:extLst>
          </p:cNvPr>
          <p:cNvSpPr>
            <a:spLocks xmlns:a="http://schemas.openxmlformats.org/drawingml/2006/main" noGrp="1"/>
          </p:cNvSpPr>
          <p:nvPr/>
        </p:nvSpPr>
        <p:spPr>
          <a:xfrm xmlns:a="http://schemas.openxmlformats.org/drawingml/2006/main" flipH="0" flipV="1">
            <a:off x="1143000" y="1691640"/>
            <a:ext cx="0" cy="397764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3" name="STC-18-knee-axis-xlabel">
            <a:extLst xmlns:a="http://schemas.openxmlformats.org/drawingml/2006/main">
              <a:ext uri="{FF2B5EF4-FFF2-40B4-BE49-F238E27FC236}">
                <a16:creationId xmlns:a16="http://schemas.microsoft.com/office/drawing/2014/main" id="{EDAFD2D4-0676-4B50-9F78-4EFC185B7F17}"/>
              </a:ext>
            </a:extLst>
          </p:cNvPr>
          <p:cNvSpPr>
            <a:spLocks xmlns:a="http://schemas.openxmlformats.org/drawingml/2006/main" noGrp="1"/>
          </p:cNvSpPr>
          <p:nvPr/>
        </p:nvSpPr>
        <p:spPr>
          <a:xfrm xmlns:a="http://schemas.openxmlformats.org/drawingml/2006/main">
            <a:off x="6126480" y="5815584"/>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a:solidFill>
                  <a:srgbClr val="59616A"/>
                </a:solidFill>
                <a:latin typeface="Noto Sans CJK KR"/>
                <a:ea typeface="Noto Sans CJK KR"/>
                <a:cs typeface="Noto Sans CJK KR"/>
              </a:rPr>
              <a:t>test-time 예산</a:t>
            </a:r>
            <a:endParaRPr sz="1100"/>
          </a:p>
        </p:txBody>
      </p:sp>
      <p:sp>
        <p:nvSpPr>
          <p:cNvPr id="14" name="STC-18-knee-axis-ylabel">
            <a:extLst xmlns:a="http://schemas.openxmlformats.org/drawingml/2006/main">
              <a:ext uri="{FF2B5EF4-FFF2-40B4-BE49-F238E27FC236}">
                <a16:creationId xmlns:a16="http://schemas.microsoft.com/office/drawing/2014/main" id="{9B0E0507-09BE-4BC6-95FC-188BF218F1D0}"/>
              </a:ext>
            </a:extLst>
          </p:cNvPr>
          <p:cNvSpPr>
            <a:spLocks xmlns:a="http://schemas.openxmlformats.org/drawingml/2006/main" noGrp="1"/>
          </p:cNvSpPr>
          <p:nvPr/>
        </p:nvSpPr>
        <p:spPr>
          <a:xfrm xmlns:a="http://schemas.openxmlformats.org/drawingml/2006/main" rot="16200000">
            <a:off x="731520" y="1581912"/>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9616A"/>
                </a:solidFill>
                <a:latin typeface="Noto Sans CJK KR"/>
                <a:ea typeface="Noto Sans CJK KR"/>
                <a:cs typeface="Noto Sans CJK KR"/>
              </a:rPr>
              <a:t>정확도</a:t>
            </a:r>
            <a:endParaRPr sz="1100"/>
          </a:p>
        </p:txBody>
      </p:sp>
      <p:sp>
        <p:nvSpPr>
          <p:cNvPr id="15" name="STC-18-knee-seg-1">
            <a:extLst xmlns:a="http://schemas.openxmlformats.org/drawingml/2006/main">
              <a:ext uri="{FF2B5EF4-FFF2-40B4-BE49-F238E27FC236}">
                <a16:creationId xmlns:a16="http://schemas.microsoft.com/office/drawing/2014/main" id="{003F0C5F-F595-422E-8FDF-066640D7D432}"/>
              </a:ext>
            </a:extLst>
          </p:cNvPr>
          <p:cNvSpPr>
            <a:spLocks xmlns:a="http://schemas.openxmlformats.org/drawingml/2006/main" noGrp="1"/>
          </p:cNvSpPr>
          <p:nvPr/>
        </p:nvSpPr>
        <p:spPr>
          <a:xfrm xmlns:a="http://schemas.openxmlformats.org/drawingml/2006/main">
            <a:off x="1298448" y="2148840"/>
            <a:ext cx="1005840" cy="27432"/>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6" name="STC-18-knee-seg-2">
            <a:extLst xmlns:a="http://schemas.openxmlformats.org/drawingml/2006/main">
              <a:ext uri="{FF2B5EF4-FFF2-40B4-BE49-F238E27FC236}">
                <a16:creationId xmlns:a16="http://schemas.microsoft.com/office/drawing/2014/main" id="{2F93FE18-0F04-40C0-9893-2A149CE61627}"/>
              </a:ext>
            </a:extLst>
          </p:cNvPr>
          <p:cNvSpPr>
            <a:spLocks xmlns:a="http://schemas.openxmlformats.org/drawingml/2006/main" noGrp="1"/>
          </p:cNvSpPr>
          <p:nvPr/>
        </p:nvSpPr>
        <p:spPr>
          <a:xfrm xmlns:a="http://schemas.openxmlformats.org/drawingml/2006/main">
            <a:off x="2304288" y="2176272"/>
            <a:ext cx="1005840" cy="109728"/>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7" name="STC-18-knee-seg-3">
            <a:extLst xmlns:a="http://schemas.openxmlformats.org/drawingml/2006/main">
              <a:ext uri="{FF2B5EF4-FFF2-40B4-BE49-F238E27FC236}">
                <a16:creationId xmlns:a16="http://schemas.microsoft.com/office/drawing/2014/main" id="{F6FEFA14-7856-41AC-9C31-FD11A3798DEF}"/>
              </a:ext>
            </a:extLst>
          </p:cNvPr>
          <p:cNvSpPr>
            <a:spLocks xmlns:a="http://schemas.openxmlformats.org/drawingml/2006/main" noGrp="1"/>
          </p:cNvSpPr>
          <p:nvPr/>
        </p:nvSpPr>
        <p:spPr>
          <a:xfrm xmlns:a="http://schemas.openxmlformats.org/drawingml/2006/main">
            <a:off x="3310128" y="2286000"/>
            <a:ext cx="1005840" cy="384048"/>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8" name="STC-18-knee-seg-4">
            <a:extLst xmlns:a="http://schemas.openxmlformats.org/drawingml/2006/main">
              <a:ext uri="{FF2B5EF4-FFF2-40B4-BE49-F238E27FC236}">
                <a16:creationId xmlns:a16="http://schemas.microsoft.com/office/drawing/2014/main" id="{6763C838-9134-475E-ACDA-446F8E1614D8}"/>
              </a:ext>
            </a:extLst>
          </p:cNvPr>
          <p:cNvSpPr>
            <a:spLocks xmlns:a="http://schemas.openxmlformats.org/drawingml/2006/main" noGrp="1"/>
          </p:cNvSpPr>
          <p:nvPr/>
        </p:nvSpPr>
        <p:spPr>
          <a:xfrm xmlns:a="http://schemas.openxmlformats.org/drawingml/2006/main">
            <a:off x="4315968" y="2670048"/>
            <a:ext cx="1005840" cy="1024128"/>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19" name="STC-18-knee-seg-5">
            <a:extLst xmlns:a="http://schemas.openxmlformats.org/drawingml/2006/main">
              <a:ext uri="{FF2B5EF4-FFF2-40B4-BE49-F238E27FC236}">
                <a16:creationId xmlns:a16="http://schemas.microsoft.com/office/drawing/2014/main" id="{0972766A-6EEF-47F5-A54A-3BD977CCF7A8}"/>
              </a:ext>
            </a:extLst>
          </p:cNvPr>
          <p:cNvSpPr>
            <a:spLocks xmlns:a="http://schemas.openxmlformats.org/drawingml/2006/main" noGrp="1"/>
          </p:cNvSpPr>
          <p:nvPr/>
        </p:nvSpPr>
        <p:spPr>
          <a:xfrm xmlns:a="http://schemas.openxmlformats.org/drawingml/2006/main">
            <a:off x="5321808" y="3694176"/>
            <a:ext cx="1005840" cy="1298448"/>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20" name="STC-18-knee-seg-6">
            <a:extLst xmlns:a="http://schemas.openxmlformats.org/drawingml/2006/main">
              <a:ext uri="{FF2B5EF4-FFF2-40B4-BE49-F238E27FC236}">
                <a16:creationId xmlns:a16="http://schemas.microsoft.com/office/drawing/2014/main" id="{4DFF07AF-0006-44B9-8763-71C943AA66F4}"/>
              </a:ext>
            </a:extLst>
          </p:cNvPr>
          <p:cNvSpPr>
            <a:spLocks xmlns:a="http://schemas.openxmlformats.org/drawingml/2006/main" noGrp="1"/>
          </p:cNvSpPr>
          <p:nvPr/>
        </p:nvSpPr>
        <p:spPr>
          <a:xfrm xmlns:a="http://schemas.openxmlformats.org/drawingml/2006/main">
            <a:off x="6327648" y="4992624"/>
            <a:ext cx="822960" cy="164592"/>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21" name="STC-18-knee-threshold">
            <a:extLst xmlns:a="http://schemas.openxmlformats.org/drawingml/2006/main">
              <a:ext uri="{FF2B5EF4-FFF2-40B4-BE49-F238E27FC236}">
                <a16:creationId xmlns:a16="http://schemas.microsoft.com/office/drawing/2014/main" id="{E0D27FC3-1406-4DDF-9A5F-FCD6BD706F18}"/>
              </a:ext>
            </a:extLst>
          </p:cNvPr>
          <p:cNvSpPr>
            <a:spLocks xmlns:a="http://schemas.openxmlformats.org/drawingml/2006/main" noGrp="1"/>
          </p:cNvSpPr>
          <p:nvPr/>
        </p:nvSpPr>
        <p:spPr>
          <a:xfrm xmlns:a="http://schemas.openxmlformats.org/drawingml/2006/main">
            <a:off x="1143000" y="2944368"/>
            <a:ext cx="6446520" cy="0"/>
          </a:xfrm>
          <a:prstGeom xmlns:a="http://schemas.openxmlformats.org/drawingml/2006/main" prst="line">
            <a:avLst/>
          </a:prstGeom>
          <a:noFill xmlns:a="http://schemas.openxmlformats.org/drawingml/2006/main"/>
          <a:ln xmlns:a="http://schemas.openxmlformats.org/drawingml/2006/main" w="12700">
            <a:solidFill>
              <a:srgbClr val="59616A"/>
            </a:solidFill>
            <a:prstDash val="solid"/>
            <a:tailEnd type="none"/>
          </a:ln>
        </p:spPr>
      </p:sp>
      <p:sp>
        <p:nvSpPr>
          <p:cNvPr id="22" name="STC-18-knee-threshold-label">
            <a:extLst xmlns:a="http://schemas.openxmlformats.org/drawingml/2006/main">
              <a:ext uri="{FF2B5EF4-FFF2-40B4-BE49-F238E27FC236}">
                <a16:creationId xmlns:a16="http://schemas.microsoft.com/office/drawing/2014/main" id="{C84DFF8C-E003-4B2D-8344-300CD8D0E8BA}"/>
              </a:ext>
            </a:extLst>
          </p:cNvPr>
          <p:cNvSpPr>
            <a:spLocks xmlns:a="http://schemas.openxmlformats.org/drawingml/2006/main" noGrp="1"/>
          </p:cNvSpPr>
          <p:nvPr/>
        </p:nvSpPr>
        <p:spPr>
          <a:xfrm xmlns:a="http://schemas.openxmlformats.org/drawingml/2006/main">
            <a:off x="1325880" y="2761488"/>
            <a:ext cx="11430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9616A"/>
                </a:solidFill>
                <a:latin typeface="Noto Sans Mono CJK KR"/>
                <a:ea typeface="Noto Sans Mono CJK KR"/>
                <a:cs typeface="Noto Sans Mono CJK KR"/>
              </a:rPr>
              <a:t>역전 지점</a:t>
            </a:r>
            <a:endParaRPr sz="1050"/>
          </a:p>
        </p:txBody>
      </p:sp>
      <p:sp>
        <p:nvSpPr>
          <p:cNvPr id="23" name="STC-18-knee-marker">
            <a:extLst xmlns:a="http://schemas.openxmlformats.org/drawingml/2006/main">
              <a:ext uri="{FF2B5EF4-FFF2-40B4-BE49-F238E27FC236}">
                <a16:creationId xmlns:a16="http://schemas.microsoft.com/office/drawing/2014/main" id="{B7796550-C739-4C12-AB34-728E99CD5A5C}"/>
              </a:ext>
            </a:extLst>
          </p:cNvPr>
          <p:cNvSpPr>
            <a:spLocks xmlns:a="http://schemas.openxmlformats.org/drawingml/2006/main" noGrp="1"/>
          </p:cNvSpPr>
          <p:nvPr/>
        </p:nvSpPr>
        <p:spPr>
          <a:xfrm xmlns:a="http://schemas.openxmlformats.org/drawingml/2006/main">
            <a:off x="4709160" y="2889504"/>
            <a:ext cx="0" cy="2505456"/>
          </a:xfrm>
          <a:prstGeom xmlns:a="http://schemas.openxmlformats.org/drawingml/2006/main" prst="line">
            <a:avLst/>
          </a:prstGeom>
          <a:noFill xmlns:a="http://schemas.openxmlformats.org/drawingml/2006/main"/>
          <a:ln xmlns:a="http://schemas.openxmlformats.org/drawingml/2006/main" w="17780">
            <a:solidFill>
              <a:srgbClr val="9A442D"/>
            </a:solidFill>
            <a:prstDash val="solid"/>
            <a:tailEnd type="none"/>
          </a:ln>
        </p:spPr>
      </p:sp>
      <p:sp>
        <p:nvSpPr>
          <p:cNvPr id="24" name="STC-18-knee-keff">
            <a:extLst xmlns:a="http://schemas.openxmlformats.org/drawingml/2006/main">
              <a:ext uri="{FF2B5EF4-FFF2-40B4-BE49-F238E27FC236}">
                <a16:creationId xmlns:a16="http://schemas.microsoft.com/office/drawing/2014/main" id="{560C924C-F866-4087-B484-42FE73811586}"/>
              </a:ext>
            </a:extLst>
          </p:cNvPr>
          <p:cNvSpPr>
            <a:spLocks xmlns:a="http://schemas.openxmlformats.org/drawingml/2006/main" noGrp="1"/>
          </p:cNvSpPr>
          <p:nvPr/>
        </p:nvSpPr>
        <p:spPr>
          <a:xfrm xmlns:a="http://schemas.openxmlformats.org/drawingml/2006/main">
            <a:off x="4379976" y="5394960"/>
            <a:ext cx="685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erif CJK KR"/>
                <a:ea typeface="Noto Serif CJK KR"/>
                <a:cs typeface="Noto Serif CJK KR"/>
              </a:rPr>
              <a:t>5&gt;10</a:t>
            </a:r>
            <a:endParaRPr sz="1800"/>
          </a:p>
        </p:txBody>
      </p:sp>
      <p:sp>
        <p:nvSpPr>
          <p:cNvPr id="25" name="STC-18-knee-check-title">
            <a:extLst xmlns:a="http://schemas.openxmlformats.org/drawingml/2006/main">
              <a:ext uri="{FF2B5EF4-FFF2-40B4-BE49-F238E27FC236}">
                <a16:creationId xmlns:a16="http://schemas.microsoft.com/office/drawing/2014/main" id="{240D967C-B047-4CCF-991D-75A295890503}"/>
              </a:ext>
            </a:extLst>
          </p:cNvPr>
          <p:cNvSpPr>
            <a:spLocks xmlns:a="http://schemas.openxmlformats.org/drawingml/2006/main" noGrp="1"/>
          </p:cNvSpPr>
          <p:nvPr/>
        </p:nvSpPr>
        <p:spPr>
          <a:xfrm xmlns:a="http://schemas.openxmlformats.org/drawingml/2006/main">
            <a:off x="8247888" y="1783080"/>
            <a:ext cx="25603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9A442D"/>
                </a:solidFill>
                <a:latin typeface="Noto Sans Mono CJK KR"/>
                <a:ea typeface="Noto Sans Mono CJK KR"/>
                <a:cs typeface="Noto Sans Mono CJK KR"/>
              </a:rPr>
              <a:t>GSM에서 역전</a:t>
            </a:r>
            <a:endParaRPr sz="1100"/>
          </a:p>
        </p:txBody>
      </p:sp>
      <p:sp>
        <p:nvSpPr>
          <p:cNvPr id="26" name="STC-18-knee-checks-dot-0">
            <a:extLst xmlns:a="http://schemas.openxmlformats.org/drawingml/2006/main">
              <a:ext uri="{FF2B5EF4-FFF2-40B4-BE49-F238E27FC236}">
                <a16:creationId xmlns:a16="http://schemas.microsoft.com/office/drawing/2014/main" id="{C65AB8EB-CD2A-4877-B277-753424C37722}"/>
              </a:ext>
            </a:extLst>
          </p:cNvPr>
          <p:cNvSpPr>
            <a:spLocks xmlns:a="http://schemas.openxmlformats.org/drawingml/2006/main" noGrp="1"/>
          </p:cNvSpPr>
          <p:nvPr/>
        </p:nvSpPr>
        <p:spPr>
          <a:xfrm xmlns:a="http://schemas.openxmlformats.org/drawingml/2006/main">
            <a:off x="8275320" y="2350008"/>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27" name="STC-18-knee-checks-item-0">
            <a:extLst xmlns:a="http://schemas.openxmlformats.org/drawingml/2006/main">
              <a:ext uri="{FF2B5EF4-FFF2-40B4-BE49-F238E27FC236}">
                <a16:creationId xmlns:a16="http://schemas.microsoft.com/office/drawing/2014/main" id="{FDC997E1-38D9-4520-B007-6663A6DF0934}"/>
              </a:ext>
            </a:extLst>
          </p:cNvPr>
          <p:cNvSpPr>
            <a:spLocks xmlns:a="http://schemas.openxmlformats.org/drawingml/2006/main" noGrp="1"/>
          </p:cNvSpPr>
          <p:nvPr/>
        </p:nvSpPr>
        <p:spPr>
          <a:xfrm xmlns:a="http://schemas.openxmlformats.org/drawingml/2006/main">
            <a:off x="8503920" y="2240280"/>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GSM에서 역전</a:t>
            </a:r>
            <a:endParaRPr sz="1550"/>
          </a:p>
        </p:txBody>
      </p:sp>
      <p:sp>
        <p:nvSpPr>
          <p:cNvPr id="28" name="STC-18-knee-checks-dot-1">
            <a:extLst xmlns:a="http://schemas.openxmlformats.org/drawingml/2006/main">
              <a:ext uri="{FF2B5EF4-FFF2-40B4-BE49-F238E27FC236}">
                <a16:creationId xmlns:a16="http://schemas.microsoft.com/office/drawing/2014/main" id="{00BD0BBB-062E-4E7B-BBB4-C431B7E66222}"/>
              </a:ext>
            </a:extLst>
          </p:cNvPr>
          <p:cNvSpPr>
            <a:spLocks xmlns:a="http://schemas.openxmlformats.org/drawingml/2006/main" noGrp="1"/>
          </p:cNvSpPr>
          <p:nvPr/>
        </p:nvSpPr>
        <p:spPr>
          <a:xfrm xmlns:a="http://schemas.openxmlformats.org/drawingml/2006/main">
            <a:off x="8275320" y="2907792"/>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29" name="STC-18-knee-checks-item-1">
            <a:extLst xmlns:a="http://schemas.openxmlformats.org/drawingml/2006/main">
              <a:ext uri="{FF2B5EF4-FFF2-40B4-BE49-F238E27FC236}">
                <a16:creationId xmlns:a16="http://schemas.microsoft.com/office/drawing/2014/main" id="{1F595761-551F-4541-8F4F-785370299BEA}"/>
              </a:ext>
            </a:extLst>
          </p:cNvPr>
          <p:cNvSpPr>
            <a:spLocks xmlns:a="http://schemas.openxmlformats.org/drawingml/2006/main" noGrp="1"/>
          </p:cNvSpPr>
          <p:nvPr/>
        </p:nvSpPr>
        <p:spPr>
          <a:xfrm xmlns:a="http://schemas.openxmlformats.org/drawingml/2006/main">
            <a:off x="8503920" y="2798064"/>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SWE에서 역전</a:t>
            </a:r>
            <a:endParaRPr sz="1550"/>
          </a:p>
        </p:txBody>
      </p:sp>
      <p:sp>
        <p:nvSpPr>
          <p:cNvPr id="30" name="STC-18-knee-checks-dot-2">
            <a:extLst xmlns:a="http://schemas.openxmlformats.org/drawingml/2006/main">
              <a:ext uri="{FF2B5EF4-FFF2-40B4-BE49-F238E27FC236}">
                <a16:creationId xmlns:a16="http://schemas.microsoft.com/office/drawing/2014/main" id="{B00D3C67-9E7B-416B-A50C-CD6FB683D1F6}"/>
              </a:ext>
            </a:extLst>
          </p:cNvPr>
          <p:cNvSpPr>
            <a:spLocks xmlns:a="http://schemas.openxmlformats.org/drawingml/2006/main" noGrp="1"/>
          </p:cNvSpPr>
          <p:nvPr/>
        </p:nvSpPr>
        <p:spPr>
          <a:xfrm xmlns:a="http://schemas.openxmlformats.org/drawingml/2006/main">
            <a:off x="8275320" y="3465576"/>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1" name="STC-18-knee-checks-item-2">
            <a:extLst xmlns:a="http://schemas.openxmlformats.org/drawingml/2006/main">
              <a:ext uri="{FF2B5EF4-FFF2-40B4-BE49-F238E27FC236}">
                <a16:creationId xmlns:a16="http://schemas.microsoft.com/office/drawing/2014/main" id="{A8AD6B50-1222-40F0-B872-FB02938FCA2A}"/>
              </a:ext>
            </a:extLst>
          </p:cNvPr>
          <p:cNvSpPr>
            <a:spLocks xmlns:a="http://schemas.openxmlformats.org/drawingml/2006/main" noGrp="1"/>
          </p:cNvSpPr>
          <p:nvPr/>
        </p:nvSpPr>
        <p:spPr>
          <a:xfrm xmlns:a="http://schemas.openxmlformats.org/drawingml/2006/main">
            <a:off x="8503920" y="3355848"/>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병렬 5벌 &gt; 10벌</a:t>
            </a:r>
            <a:endParaRPr sz="1550"/>
          </a:p>
        </p:txBody>
      </p:sp>
      <p:sp>
        <p:nvSpPr>
          <p:cNvPr id="32" name="STC-18-knee-checks-dot-3">
            <a:extLst xmlns:a="http://schemas.openxmlformats.org/drawingml/2006/main">
              <a:ext uri="{FF2B5EF4-FFF2-40B4-BE49-F238E27FC236}">
                <a16:creationId xmlns:a16="http://schemas.microsoft.com/office/drawing/2014/main" id="{193D497B-83CE-4A7D-AB94-EF7C0D144494}"/>
              </a:ext>
            </a:extLst>
          </p:cNvPr>
          <p:cNvSpPr>
            <a:spLocks xmlns:a="http://schemas.openxmlformats.org/drawingml/2006/main" noGrp="1"/>
          </p:cNvSpPr>
          <p:nvPr/>
        </p:nvSpPr>
        <p:spPr>
          <a:xfrm xmlns:a="http://schemas.openxmlformats.org/drawingml/2006/main">
            <a:off x="8275320" y="4023360"/>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3" name="STC-18-knee-checks-item-3">
            <a:extLst xmlns:a="http://schemas.openxmlformats.org/drawingml/2006/main">
              <a:ext uri="{FF2B5EF4-FFF2-40B4-BE49-F238E27FC236}">
                <a16:creationId xmlns:a16="http://schemas.microsoft.com/office/drawing/2014/main" id="{54E8D5AD-5943-4DD5-A8F6-1C16D270C65A}"/>
              </a:ext>
            </a:extLst>
          </p:cNvPr>
          <p:cNvSpPr>
            <a:spLocks xmlns:a="http://schemas.openxmlformats.org/drawingml/2006/main" noGrp="1"/>
          </p:cNvSpPr>
          <p:nvPr/>
        </p:nvSpPr>
        <p:spPr>
          <a:xfrm xmlns:a="http://schemas.openxmlformats.org/drawingml/2006/main">
            <a:off x="8503920" y="3913632"/>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기제 제시 없음</a:t>
            </a:r>
            <a:endParaRPr sz="1550"/>
          </a:p>
        </p:txBody>
      </p:sp>
      <p:sp>
        <p:nvSpPr>
          <p:cNvPr id="34" name="STC-18-knee-checks-dot-4">
            <a:extLst xmlns:a="http://schemas.openxmlformats.org/drawingml/2006/main">
              <a:ext uri="{FF2B5EF4-FFF2-40B4-BE49-F238E27FC236}">
                <a16:creationId xmlns:a16="http://schemas.microsoft.com/office/drawing/2014/main" id="{5D751B45-D75A-4C29-86C3-1A10CDA2ACFD}"/>
              </a:ext>
            </a:extLst>
          </p:cNvPr>
          <p:cNvSpPr>
            <a:spLocks xmlns:a="http://schemas.openxmlformats.org/drawingml/2006/main" noGrp="1"/>
          </p:cNvSpPr>
          <p:nvPr/>
        </p:nvSpPr>
        <p:spPr>
          <a:xfrm xmlns:a="http://schemas.openxmlformats.org/drawingml/2006/main">
            <a:off x="8275320" y="4581144"/>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5" name="STC-18-knee-checks-item-4">
            <a:extLst xmlns:a="http://schemas.openxmlformats.org/drawingml/2006/main">
              <a:ext uri="{FF2B5EF4-FFF2-40B4-BE49-F238E27FC236}">
                <a16:creationId xmlns:a16="http://schemas.microsoft.com/office/drawing/2014/main" id="{3E5A4F76-5BB5-4E5A-A1D9-42BC1A8E5C0F}"/>
              </a:ext>
            </a:extLst>
          </p:cNvPr>
          <p:cNvSpPr>
            <a:spLocks xmlns:a="http://schemas.openxmlformats.org/drawingml/2006/main" noGrp="1"/>
          </p:cNvSpPr>
          <p:nvPr/>
        </p:nvSpPr>
        <p:spPr>
          <a:xfrm xmlns:a="http://schemas.openxmlformats.org/drawingml/2006/main">
            <a:off x="8503920" y="4471416"/>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논문 자신의 보고</a:t>
            </a:r>
            <a:endParaRPr sz="1550"/>
          </a:p>
        </p:txBody>
      </p:sp>
      <p:sp>
        <p:nvSpPr>
          <p:cNvPr id="36" name="STC-18-knee-unidentified">
            <a:extLst xmlns:a="http://schemas.openxmlformats.org/drawingml/2006/main">
              <a:ext uri="{FF2B5EF4-FFF2-40B4-BE49-F238E27FC236}">
                <a16:creationId xmlns:a16="http://schemas.microsoft.com/office/drawing/2014/main" id="{180F873B-5C68-4872-B82F-6C6C0ED74CC8}"/>
              </a:ext>
            </a:extLst>
          </p:cNvPr>
          <p:cNvSpPr>
            <a:spLocks xmlns:a="http://schemas.openxmlformats.org/drawingml/2006/main" noGrp="1"/>
          </p:cNvSpPr>
          <p:nvPr/>
        </p:nvSpPr>
        <p:spPr>
          <a:xfrm xmlns:a="http://schemas.openxmlformats.org/drawingml/2006/main">
            <a:off x="8211312" y="5230368"/>
            <a:ext cx="2706624" cy="52120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37" name="STC-18-knee-unidentified-text">
            <a:extLst xmlns:a="http://schemas.openxmlformats.org/drawingml/2006/main">
              <a:ext uri="{FF2B5EF4-FFF2-40B4-BE49-F238E27FC236}">
                <a16:creationId xmlns:a16="http://schemas.microsoft.com/office/drawing/2014/main" id="{39151F30-D5D2-4D64-B766-810DF4EFE62A}"/>
              </a:ext>
            </a:extLst>
          </p:cNvPr>
          <p:cNvSpPr>
            <a:spLocks xmlns:a="http://schemas.openxmlformats.org/drawingml/2006/main" noGrp="1"/>
          </p:cNvSpPr>
          <p:nvPr/>
        </p:nvSpPr>
        <p:spPr>
          <a:xfrm xmlns:a="http://schemas.openxmlformats.org/drawingml/2006/main">
            <a:off x="8348472" y="5404104"/>
            <a:ext cx="243230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b="1">
                <a:solidFill>
                  <a:srgbClr val="FFFFFF"/>
                </a:solidFill>
                <a:latin typeface="Noto Sans Mono CJK KR"/>
                <a:ea typeface="Noto Sans Mono CJK KR"/>
                <a:cs typeface="Noto Sans Mono CJK KR"/>
              </a:rPr>
              <a:t>둘 다 논문 안에 있다</a:t>
            </a:r>
            <a:endParaRPr sz="1050"/>
          </a:p>
        </p:txBody>
      </p:sp>
    </p:spTree>
    <p:extLst>
      <p:ext uri="{BB962C8B-B14F-4D97-AF65-F5344CB8AC3E}">
        <p14:creationId xmlns:p14="http://schemas.microsoft.com/office/powerpoint/2010/main" val="1452305100"/>
      </p:ext>
    </p:extLst>
  </p:cSld>
</p:sld>
</file>

<file path=ppt/slides/slide5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E-PATH</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STC-056</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프로덕션 넷 — Mem0 · Zep · ReasoningBank · SCM</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확립</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ch15 · [Mem0 2504.19413; Zep 2501.13956; ReasoningBank 2509.25140; SCM 2604.20943]</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56</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Mem0</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네 연산 판단</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Zep</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이중 시간 그래프</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R-Bank</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과제 후 합집합</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SCM</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LLM 없는 사이클</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Memini</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감쇠 ODE</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공통</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Θ 불변 · W 없음</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다섯 시스템 전부 (U-E)만 실행한다.</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gradient도 손실 함수도 논문 안에 없다</a:t>
            </a:r>
            <a:endParaRPr sz="1500"/>
          </a:p>
        </p:txBody>
      </p:sp>
    </p:spTree>
    <p:extLst>
      <p:ext uri="{BB962C8B-B14F-4D97-AF65-F5344CB8AC3E}">
        <p14:creationId xmlns:p14="http://schemas.microsoft.com/office/powerpoint/2010/main" val="931853972"/>
      </p:ext>
    </p:extLst>
  </p:cSld>
</p:sld>
</file>

<file path=ppt/slides/slide5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4-section">
            <a:extLst xmlns:a="http://schemas.openxmlformats.org/drawingml/2006/main">
              <a:ext uri="{FF2B5EF4-FFF2-40B4-BE49-F238E27FC236}">
                <a16:creationId xmlns:a16="http://schemas.microsoft.com/office/drawing/2014/main" id="{A0075D85-B234-44C8-902E-101F0A3CC31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E-PATH</a:t>
            </a:r>
            <a:endParaRPr sz="950"/>
          </a:p>
        </p:txBody>
      </p:sp>
      <p:sp>
        <p:nvSpPr>
          <p:cNvPr id="3" name="STC-04-slide-id">
            <a:extLst xmlns:a="http://schemas.openxmlformats.org/drawingml/2006/main">
              <a:ext uri="{FF2B5EF4-FFF2-40B4-BE49-F238E27FC236}">
                <a16:creationId xmlns:a16="http://schemas.microsoft.com/office/drawing/2014/main" id="{B14D52AE-8297-468B-A77A-23EAE8342583}"/>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STC-057</a:t>
            </a:r>
            <a:endParaRPr sz="950"/>
          </a:p>
        </p:txBody>
      </p:sp>
      <p:sp>
        <p:nvSpPr>
          <p:cNvPr id="4" name="STC-04-headline">
            <a:extLst xmlns:a="http://schemas.openxmlformats.org/drawingml/2006/main">
              <a:ext uri="{FF2B5EF4-FFF2-40B4-BE49-F238E27FC236}">
                <a16:creationId xmlns:a16="http://schemas.microsoft.com/office/drawing/2014/main" id="{3630F132-02F2-4CE1-9E25-749167C75A9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쓰기 연산자의 네 형태 — 그리고 수축 가능한 것은 둘뿐</a:t>
            </a:r>
            <a:endParaRPr sz="3000"/>
          </a:p>
        </p:txBody>
      </p:sp>
      <p:sp>
        <p:nvSpPr>
          <p:cNvPr id="5" name="STC-04-status-label">
            <a:extLst xmlns:a="http://schemas.openxmlformats.org/drawingml/2006/main">
              <a:ext uri="{FF2B5EF4-FFF2-40B4-BE49-F238E27FC236}">
                <a16:creationId xmlns:a16="http://schemas.microsoft.com/office/drawing/2014/main" id="{A7ACBE27-EC77-4521-8202-C2F79CB3B4F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확립</a:t>
            </a:r>
            <a:endParaRPr sz="1000"/>
          </a:p>
        </p:txBody>
      </p:sp>
      <p:sp>
        <p:nvSpPr>
          <p:cNvPr id="6" name="STC-04-status-rule">
            <a:extLst xmlns:a="http://schemas.openxmlformats.org/drawingml/2006/main">
              <a:ext uri="{FF2B5EF4-FFF2-40B4-BE49-F238E27FC236}">
                <a16:creationId xmlns:a16="http://schemas.microsoft.com/office/drawing/2014/main" id="{168F3EE0-A99E-4D46-9138-97123A1B2E0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4-footer-rule">
            <a:extLst xmlns:a="http://schemas.openxmlformats.org/drawingml/2006/main">
              <a:ext uri="{FF2B5EF4-FFF2-40B4-BE49-F238E27FC236}">
                <a16:creationId xmlns:a16="http://schemas.microsoft.com/office/drawing/2014/main" id="{283A436D-9734-4A07-90CD-F35CB55E5AB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4-source-footer">
            <a:extLst xmlns:a="http://schemas.openxmlformats.org/drawingml/2006/main">
              <a:ext uri="{FF2B5EF4-FFF2-40B4-BE49-F238E27FC236}">
                <a16:creationId xmlns:a16="http://schemas.microsoft.com/office/drawing/2014/main" id="{883AB35B-5226-4881-AC75-8BEB5E56E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ch15 요약 · [Mem0 Alg. 1] · [SCM Algorithm 1]</a:t>
            </a:r>
            <a:endParaRPr sz="850"/>
          </a:p>
        </p:txBody>
      </p:sp>
      <p:sp>
        <p:nvSpPr>
          <p:cNvPr id="9" name="STC-04-page-number">
            <a:extLst xmlns:a="http://schemas.openxmlformats.org/drawingml/2006/main">
              <a:ext uri="{FF2B5EF4-FFF2-40B4-BE49-F238E27FC236}">
                <a16:creationId xmlns:a16="http://schemas.microsoft.com/office/drawing/2014/main" id="{EFF36FC2-57B0-4E0D-A22C-A663CD6EDD60}"/>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57</a:t>
            </a:r>
            <a:endParaRPr sz="850"/>
          </a:p>
        </p:txBody>
      </p:sp>
      <p:sp>
        <p:nvSpPr>
          <p:cNvPr id="11" name="STC-04-phase-tag-0">
            <a:extLst xmlns:a="http://schemas.openxmlformats.org/drawingml/2006/main">
              <a:ext uri="{FF2B5EF4-FFF2-40B4-BE49-F238E27FC236}">
                <a16:creationId xmlns:a16="http://schemas.microsoft.com/office/drawing/2014/main" id="{BA1F2F65-E6CA-4586-80AC-30666A36C48F}"/>
              </a:ext>
            </a:extLst>
          </p:cNvPr>
          <p:cNvSpPr>
            <a:spLocks xmlns:a="http://schemas.openxmlformats.org/drawingml/2006/main" noGrp="1"/>
          </p:cNvSpPr>
          <p:nvPr/>
        </p:nvSpPr>
        <p:spPr>
          <a:xfrm xmlns:a="http://schemas.openxmlformats.org/drawingml/2006/main">
            <a:off x="768096"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59616A"/>
                </a:solidFill>
                <a:latin typeface="Noto Sans Mono CJK KR"/>
                <a:ea typeface="Noto Sans Mono CJK KR"/>
                <a:cs typeface="Noto Sans Mono CJK KR"/>
              </a:rPr>
              <a:t>네 연산 문법</a:t>
            </a:r>
            <a:endParaRPr sz="1200"/>
          </a:p>
        </p:txBody>
      </p:sp>
      <p:sp>
        <p:nvSpPr>
          <p:cNvPr id="12" name="STC-04-phase-ko-0">
            <a:extLst xmlns:a="http://schemas.openxmlformats.org/drawingml/2006/main">
              <a:ext uri="{FF2B5EF4-FFF2-40B4-BE49-F238E27FC236}">
                <a16:creationId xmlns:a16="http://schemas.microsoft.com/office/drawing/2014/main" id="{71B78324-C8F8-4909-82A4-E5B94A3ECF3B}"/>
              </a:ext>
            </a:extLst>
          </p:cNvPr>
          <p:cNvSpPr>
            <a:spLocks xmlns:a="http://schemas.openxmlformats.org/drawingml/2006/main" noGrp="1"/>
          </p:cNvSpPr>
          <p:nvPr/>
        </p:nvSpPr>
        <p:spPr>
          <a:xfrm xmlns:a="http://schemas.openxmlformats.org/drawingml/2006/main">
            <a:off x="768096"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판단</a:t>
            </a:r>
            <a:endParaRPr sz="2300"/>
          </a:p>
        </p:txBody>
      </p:sp>
      <p:sp>
        <p:nvSpPr>
          <p:cNvPr id="13" name="STC-04-phase-rule-0">
            <a:extLst xmlns:a="http://schemas.openxmlformats.org/drawingml/2006/main">
              <a:ext uri="{FF2B5EF4-FFF2-40B4-BE49-F238E27FC236}">
                <a16:creationId xmlns:a16="http://schemas.microsoft.com/office/drawing/2014/main" id="{7764BB8A-B05F-4718-BC24-4AD789913DE0}"/>
              </a:ext>
            </a:extLst>
          </p:cNvPr>
          <p:cNvSpPr>
            <a:spLocks xmlns:a="http://schemas.openxmlformats.org/drawingml/2006/main" noGrp="1"/>
          </p:cNvSpPr>
          <p:nvPr/>
        </p:nvSpPr>
        <p:spPr>
          <a:xfrm xmlns:a="http://schemas.openxmlformats.org/drawingml/2006/main">
            <a:off x="768096" y="2642616"/>
            <a:ext cx="2011680" cy="0"/>
          </a:xfrm>
          <a:prstGeom xmlns:a="http://schemas.openxmlformats.org/drawingml/2006/main" prst="line">
            <a:avLst/>
          </a:prstGeom>
          <a:noFill xmlns:a="http://schemas.openxmlformats.org/drawingml/2006/main"/>
          <a:ln xmlns:a="http://schemas.openxmlformats.org/drawingml/2006/main" w="50800">
            <a:solidFill>
              <a:srgbClr val="59616A"/>
            </a:solidFill>
            <a:prstDash val="solid"/>
            <a:tailEnd type="none"/>
          </a:ln>
        </p:spPr>
      </p:sp>
      <p:sp>
        <p:nvSpPr>
          <p:cNvPr id="14" name="STC-04-phase-body-0">
            <a:extLst xmlns:a="http://schemas.openxmlformats.org/drawingml/2006/main">
              <a:ext uri="{FF2B5EF4-FFF2-40B4-BE49-F238E27FC236}">
                <a16:creationId xmlns:a16="http://schemas.microsoft.com/office/drawing/2014/main" id="{D3EDF87F-330E-402B-BED1-949CABA05E93}"/>
              </a:ext>
            </a:extLst>
          </p:cNvPr>
          <p:cNvSpPr>
            <a:spLocks xmlns:a="http://schemas.openxmlformats.org/drawingml/2006/main" noGrp="1"/>
          </p:cNvSpPr>
          <p:nvPr/>
        </p:nvSpPr>
        <p:spPr>
          <a:xfrm xmlns:a="http://schemas.openxmlformats.org/drawingml/2006/main">
            <a:off x="768096"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판단 · Mem0의</a:t>
            </a:r>
            <a:endParaRPr sz="1800"/>
          </a:p>
          <a:p xmlns:a="http://schemas.openxmlformats.org/drawingml/2006/main">
            <a:pPr marL="0" indent="0">
              <a:buNone/>
            </a:pPr>
            <a:r>
              <a:rPr sz="1800">
                <a:solidFill>
                  <a:srgbClr val="17191C"/>
                </a:solidFill>
                <a:latin typeface="Noto Sans CJK KR"/>
                <a:ea typeface="Noto Sans CJK KR"/>
                <a:cs typeface="Noto Sans CJK KR"/>
              </a:rPr>
              <a:t>ADD/UPDATE/DELETE/NOOP</a:t>
            </a:r>
            <a:endParaRPr sz="1800"/>
          </a:p>
        </p:txBody>
      </p:sp>
      <p:sp>
        <p:nvSpPr>
          <p:cNvPr id="15" name="STC-04-phase-arrow-0">
            <a:extLst xmlns:a="http://schemas.openxmlformats.org/drawingml/2006/main">
              <a:ext uri="{FF2B5EF4-FFF2-40B4-BE49-F238E27FC236}">
                <a16:creationId xmlns:a16="http://schemas.microsoft.com/office/drawing/2014/main" id="{783D597A-ACCC-4F6B-94A9-392B971E7A96}"/>
              </a:ext>
            </a:extLst>
          </p:cNvPr>
          <p:cNvSpPr>
            <a:spLocks xmlns:a="http://schemas.openxmlformats.org/drawingml/2006/main" noGrp="1"/>
          </p:cNvSpPr>
          <p:nvPr/>
        </p:nvSpPr>
        <p:spPr>
          <a:xfrm xmlns:a="http://schemas.openxmlformats.org/drawingml/2006/main">
            <a:off x="2962656"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16" name="STC-04-phase-tag-1">
            <a:extLst xmlns:a="http://schemas.openxmlformats.org/drawingml/2006/main">
              <a:ext uri="{FF2B5EF4-FFF2-40B4-BE49-F238E27FC236}">
                <a16:creationId xmlns:a16="http://schemas.microsoft.com/office/drawing/2014/main" id="{DF120A6C-83FF-4F70-8A23-21607B85C1A0}"/>
              </a:ext>
            </a:extLst>
          </p:cNvPr>
          <p:cNvSpPr>
            <a:spLocks xmlns:a="http://schemas.openxmlformats.org/drawingml/2006/main" noGrp="1"/>
          </p:cNvSpPr>
          <p:nvPr/>
        </p:nvSpPr>
        <p:spPr>
          <a:xfrm xmlns:a="http://schemas.openxmlformats.org/drawingml/2006/main">
            <a:off x="3593592"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그래프 delta</a:t>
            </a:r>
            <a:endParaRPr sz="1200"/>
          </a:p>
        </p:txBody>
      </p:sp>
      <p:sp>
        <p:nvSpPr>
          <p:cNvPr id="17" name="STC-04-phase-ko-1">
            <a:extLst xmlns:a="http://schemas.openxmlformats.org/drawingml/2006/main">
              <a:ext uri="{FF2B5EF4-FFF2-40B4-BE49-F238E27FC236}">
                <a16:creationId xmlns:a16="http://schemas.microsoft.com/office/drawing/2014/main" id="{EC71ADFB-45C0-4738-8C38-F10FAB21F33F}"/>
              </a:ext>
            </a:extLst>
          </p:cNvPr>
          <p:cNvSpPr>
            <a:spLocks xmlns:a="http://schemas.openxmlformats.org/drawingml/2006/main" noGrp="1"/>
          </p:cNvSpPr>
          <p:nvPr/>
        </p:nvSpPr>
        <p:spPr>
          <a:xfrm xmlns:a="http://schemas.openxmlformats.org/drawingml/2006/main">
            <a:off x="3593592"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누적</a:t>
            </a:r>
            <a:endParaRPr sz="2300"/>
          </a:p>
        </p:txBody>
      </p:sp>
      <p:sp>
        <p:nvSpPr>
          <p:cNvPr id="18" name="STC-04-phase-rule-1">
            <a:extLst xmlns:a="http://schemas.openxmlformats.org/drawingml/2006/main">
              <a:ext uri="{FF2B5EF4-FFF2-40B4-BE49-F238E27FC236}">
                <a16:creationId xmlns:a16="http://schemas.microsoft.com/office/drawing/2014/main" id="{CD51B805-650E-4380-9B3A-E873D1907749}"/>
              </a:ext>
            </a:extLst>
          </p:cNvPr>
          <p:cNvSpPr>
            <a:spLocks xmlns:a="http://schemas.openxmlformats.org/drawingml/2006/main" noGrp="1"/>
          </p:cNvSpPr>
          <p:nvPr/>
        </p:nvSpPr>
        <p:spPr>
          <a:xfrm xmlns:a="http://schemas.openxmlformats.org/drawingml/2006/main">
            <a:off x="3593592" y="2642616"/>
            <a:ext cx="2011680" cy="0"/>
          </a:xfrm>
          <a:prstGeom xmlns:a="http://schemas.openxmlformats.org/drawingml/2006/main" prst="line">
            <a:avLst/>
          </a:prstGeom>
          <a:noFill xmlns:a="http://schemas.openxmlformats.org/drawingml/2006/main"/>
          <a:ln xmlns:a="http://schemas.openxmlformats.org/drawingml/2006/main" w="50800">
            <a:solidFill>
              <a:srgbClr val="244E8A"/>
            </a:solidFill>
            <a:prstDash val="solid"/>
            <a:tailEnd type="none"/>
          </a:ln>
        </p:spPr>
      </p:sp>
      <p:sp>
        <p:nvSpPr>
          <p:cNvPr id="19" name="STC-04-phase-body-1">
            <a:extLst xmlns:a="http://schemas.openxmlformats.org/drawingml/2006/main">
              <a:ext uri="{FF2B5EF4-FFF2-40B4-BE49-F238E27FC236}">
                <a16:creationId xmlns:a16="http://schemas.microsoft.com/office/drawing/2014/main" id="{CA6AC282-8658-4035-A58F-484C6AC4BB0A}"/>
              </a:ext>
            </a:extLst>
          </p:cNvPr>
          <p:cNvSpPr>
            <a:spLocks xmlns:a="http://schemas.openxmlformats.org/drawingml/2006/main" noGrp="1"/>
          </p:cNvSpPr>
          <p:nvPr/>
        </p:nvSpPr>
        <p:spPr>
          <a:xfrm xmlns:a="http://schemas.openxmlformats.org/drawingml/2006/main">
            <a:off x="3593592"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누적 · Zep과</a:t>
            </a:r>
            <a:endParaRPr sz="1800"/>
          </a:p>
          <a:p xmlns:a="http://schemas.openxmlformats.org/drawingml/2006/main">
            <a:pPr marL="0" indent="0">
              <a:buNone/>
            </a:pPr>
            <a:r>
              <a:rPr sz="1800">
                <a:solidFill>
                  <a:srgbClr val="17191C"/>
                </a:solidFill>
                <a:latin typeface="Noto Sans CJK KR"/>
                <a:ea typeface="Noto Sans CJK KR"/>
                <a:cs typeface="Noto Sans CJK KR"/>
              </a:rPr>
              <a:t>Mem0^g. 비파괴적이다</a:t>
            </a:r>
            <a:endParaRPr sz="1800"/>
          </a:p>
        </p:txBody>
      </p:sp>
      <p:sp>
        <p:nvSpPr>
          <p:cNvPr id="20" name="STC-04-phase-arrow-1">
            <a:extLst xmlns:a="http://schemas.openxmlformats.org/drawingml/2006/main">
              <a:ext uri="{FF2B5EF4-FFF2-40B4-BE49-F238E27FC236}">
                <a16:creationId xmlns:a16="http://schemas.microsoft.com/office/drawing/2014/main" id="{78036B2A-3081-4A46-8C23-82C208923D54}"/>
              </a:ext>
            </a:extLst>
          </p:cNvPr>
          <p:cNvSpPr>
            <a:spLocks xmlns:a="http://schemas.openxmlformats.org/drawingml/2006/main" noGrp="1"/>
          </p:cNvSpPr>
          <p:nvPr/>
        </p:nvSpPr>
        <p:spPr>
          <a:xfrm xmlns:a="http://schemas.openxmlformats.org/drawingml/2006/main">
            <a:off x="5788152"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1" name="STC-04-phase-tag-2">
            <a:extLst xmlns:a="http://schemas.openxmlformats.org/drawingml/2006/main">
              <a:ext uri="{FF2B5EF4-FFF2-40B4-BE49-F238E27FC236}">
                <a16:creationId xmlns:a16="http://schemas.microsoft.com/office/drawing/2014/main" id="{14A86847-A229-4A53-8F2A-E51A71B0A175}"/>
              </a:ext>
            </a:extLst>
          </p:cNvPr>
          <p:cNvSpPr>
            <a:spLocks xmlns:a="http://schemas.openxmlformats.org/drawingml/2006/main" noGrp="1"/>
          </p:cNvSpPr>
          <p:nvPr/>
        </p:nvSpPr>
        <p:spPr>
          <a:xfrm xmlns:a="http://schemas.openxmlformats.org/drawingml/2006/main">
            <a:off x="6419088"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합집합</a:t>
            </a:r>
            <a:endParaRPr sz="1200"/>
          </a:p>
        </p:txBody>
      </p:sp>
      <p:sp>
        <p:nvSpPr>
          <p:cNvPr id="22" name="STC-04-phase-ko-2">
            <a:extLst xmlns:a="http://schemas.openxmlformats.org/drawingml/2006/main">
              <a:ext uri="{FF2B5EF4-FFF2-40B4-BE49-F238E27FC236}">
                <a16:creationId xmlns:a16="http://schemas.microsoft.com/office/drawing/2014/main" id="{582DA535-C347-498A-B2F9-C40BAE20CE4F}"/>
              </a:ext>
            </a:extLst>
          </p:cNvPr>
          <p:cNvSpPr>
            <a:spLocks xmlns:a="http://schemas.openxmlformats.org/drawingml/2006/main" noGrp="1"/>
          </p:cNvSpPr>
          <p:nvPr/>
        </p:nvSpPr>
        <p:spPr>
          <a:xfrm xmlns:a="http://schemas.openxmlformats.org/drawingml/2006/main">
            <a:off x="6419088"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단조</a:t>
            </a:r>
            <a:endParaRPr sz="2300"/>
          </a:p>
        </p:txBody>
      </p:sp>
      <p:sp>
        <p:nvSpPr>
          <p:cNvPr id="23" name="STC-04-phase-rule-2">
            <a:extLst xmlns:a="http://schemas.openxmlformats.org/drawingml/2006/main">
              <a:ext uri="{FF2B5EF4-FFF2-40B4-BE49-F238E27FC236}">
                <a16:creationId xmlns:a16="http://schemas.microsoft.com/office/drawing/2014/main" id="{604E16CE-5100-4FC5-8DB9-7A23B695EE76}"/>
              </a:ext>
            </a:extLst>
          </p:cNvPr>
          <p:cNvSpPr>
            <a:spLocks xmlns:a="http://schemas.openxmlformats.org/drawingml/2006/main" noGrp="1"/>
          </p:cNvSpPr>
          <p:nvPr/>
        </p:nvSpPr>
        <p:spPr>
          <a:xfrm xmlns:a="http://schemas.openxmlformats.org/drawingml/2006/main">
            <a:off x="6419088" y="2642616"/>
            <a:ext cx="2011680" cy="0"/>
          </a:xfrm>
          <a:prstGeom xmlns:a="http://schemas.openxmlformats.org/drawingml/2006/main" prst="line">
            <a:avLst/>
          </a:prstGeom>
          <a:noFill xmlns:a="http://schemas.openxmlformats.org/drawingml/2006/main"/>
          <a:ln xmlns:a="http://schemas.openxmlformats.org/drawingml/2006/main" w="50800">
            <a:solidFill>
              <a:srgbClr val="9A442D"/>
            </a:solidFill>
            <a:prstDash val="solid"/>
            <a:tailEnd type="none"/>
          </a:ln>
        </p:spPr>
      </p:sp>
      <p:sp>
        <p:nvSpPr>
          <p:cNvPr id="24" name="STC-04-phase-body-2">
            <a:extLst xmlns:a="http://schemas.openxmlformats.org/drawingml/2006/main">
              <a:ext uri="{FF2B5EF4-FFF2-40B4-BE49-F238E27FC236}">
                <a16:creationId xmlns:a16="http://schemas.microsoft.com/office/drawing/2014/main" id="{5BF3497A-374B-4090-AF18-46EDBA191D7C}"/>
              </a:ext>
            </a:extLst>
          </p:cNvPr>
          <p:cNvSpPr>
            <a:spLocks xmlns:a="http://schemas.openxmlformats.org/drawingml/2006/main" noGrp="1"/>
          </p:cNvSpPr>
          <p:nvPr/>
        </p:nvSpPr>
        <p:spPr>
          <a:xfrm xmlns:a="http://schemas.openxmlformats.org/drawingml/2006/main">
            <a:off x="6419088"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단조 ·</a:t>
            </a:r>
            <a:endParaRPr sz="1800"/>
          </a:p>
          <a:p xmlns:a="http://schemas.openxmlformats.org/drawingml/2006/main">
            <a:pPr marL="0" indent="0">
              <a:buNone/>
            </a:pPr>
            <a:r>
              <a:rPr sz="1800">
                <a:solidFill>
                  <a:srgbClr val="17191C"/>
                </a:solidFill>
                <a:latin typeface="Noto Sans CJK KR"/>
                <a:ea typeface="Noto Sans CJK KR"/>
                <a:cs typeface="Noto Sans CJK KR"/>
              </a:rPr>
              <a:t>ReasoningBank. 지우지 않는다</a:t>
            </a:r>
            <a:endParaRPr sz="1800"/>
          </a:p>
        </p:txBody>
      </p:sp>
      <p:sp>
        <p:nvSpPr>
          <p:cNvPr id="25" name="STC-04-phase-arrow-2">
            <a:extLst xmlns:a="http://schemas.openxmlformats.org/drawingml/2006/main">
              <a:ext uri="{FF2B5EF4-FFF2-40B4-BE49-F238E27FC236}">
                <a16:creationId xmlns:a16="http://schemas.microsoft.com/office/drawing/2014/main" id="{4E7BA787-51DD-48C2-90C7-E4BC25DA526D}"/>
              </a:ext>
            </a:extLst>
          </p:cNvPr>
          <p:cNvSpPr>
            <a:spLocks xmlns:a="http://schemas.openxmlformats.org/drawingml/2006/main" noGrp="1"/>
          </p:cNvSpPr>
          <p:nvPr/>
        </p:nvSpPr>
        <p:spPr>
          <a:xfrm xmlns:a="http://schemas.openxmlformats.org/drawingml/2006/main">
            <a:off x="8613648"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04-phase-tag-3">
            <a:extLst xmlns:a="http://schemas.openxmlformats.org/drawingml/2006/main">
              <a:ext uri="{FF2B5EF4-FFF2-40B4-BE49-F238E27FC236}">
                <a16:creationId xmlns:a16="http://schemas.microsoft.com/office/drawing/2014/main" id="{3D317DA2-F326-4299-B8BF-54ACE3EE2AA9}"/>
              </a:ext>
            </a:extLst>
          </p:cNvPr>
          <p:cNvSpPr>
            <a:spLocks xmlns:a="http://schemas.openxmlformats.org/drawingml/2006/main" noGrp="1"/>
          </p:cNvSpPr>
          <p:nvPr/>
        </p:nvSpPr>
        <p:spPr>
          <a:xfrm xmlns:a="http://schemas.openxmlformats.org/drawingml/2006/main">
            <a:off x="9244584"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동역학</a:t>
            </a:r>
            <a:endParaRPr sz="1200"/>
          </a:p>
        </p:txBody>
      </p:sp>
      <p:sp>
        <p:nvSpPr>
          <p:cNvPr id="27" name="STC-04-phase-ko-3">
            <a:extLst xmlns:a="http://schemas.openxmlformats.org/drawingml/2006/main">
              <a:ext uri="{FF2B5EF4-FFF2-40B4-BE49-F238E27FC236}">
                <a16:creationId xmlns:a16="http://schemas.microsoft.com/office/drawing/2014/main" id="{F5446ADD-A14C-416D-B2F4-1A4E119F4329}"/>
              </a:ext>
            </a:extLst>
          </p:cNvPr>
          <p:cNvSpPr>
            <a:spLocks xmlns:a="http://schemas.openxmlformats.org/drawingml/2006/main" noGrp="1"/>
          </p:cNvSpPr>
          <p:nvPr/>
        </p:nvSpPr>
        <p:spPr>
          <a:xfrm xmlns:a="http://schemas.openxmlformats.org/drawingml/2006/main">
            <a:off x="9244584"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감쇠</a:t>
            </a:r>
            <a:endParaRPr sz="2300"/>
          </a:p>
        </p:txBody>
      </p:sp>
      <p:sp>
        <p:nvSpPr>
          <p:cNvPr id="28" name="STC-04-phase-rule-3">
            <a:extLst xmlns:a="http://schemas.openxmlformats.org/drawingml/2006/main">
              <a:ext uri="{FF2B5EF4-FFF2-40B4-BE49-F238E27FC236}">
                <a16:creationId xmlns:a16="http://schemas.microsoft.com/office/drawing/2014/main" id="{4455D656-930A-404D-BF54-7ED24B2942EA}"/>
              </a:ext>
            </a:extLst>
          </p:cNvPr>
          <p:cNvSpPr>
            <a:spLocks xmlns:a="http://schemas.openxmlformats.org/drawingml/2006/main" noGrp="1"/>
          </p:cNvSpPr>
          <p:nvPr/>
        </p:nvSpPr>
        <p:spPr>
          <a:xfrm xmlns:a="http://schemas.openxmlformats.org/drawingml/2006/main">
            <a:off x="9244584" y="2642616"/>
            <a:ext cx="2011680" cy="0"/>
          </a:xfrm>
          <a:prstGeom xmlns:a="http://schemas.openxmlformats.org/drawingml/2006/main" prst="line">
            <a:avLst/>
          </a:prstGeom>
          <a:noFill xmlns:a="http://schemas.openxmlformats.org/drawingml/2006/main"/>
          <a:ln xmlns:a="http://schemas.openxmlformats.org/drawingml/2006/main" w="50800">
            <a:solidFill>
              <a:srgbClr val="2F6B63"/>
            </a:solidFill>
            <a:prstDash val="solid"/>
            <a:tailEnd type="none"/>
          </a:ln>
        </p:spPr>
      </p:sp>
      <p:sp>
        <p:nvSpPr>
          <p:cNvPr id="29" name="STC-04-phase-body-3">
            <a:extLst xmlns:a="http://schemas.openxmlformats.org/drawingml/2006/main">
              <a:ext uri="{FF2B5EF4-FFF2-40B4-BE49-F238E27FC236}">
                <a16:creationId xmlns:a16="http://schemas.microsoft.com/office/drawing/2014/main" id="{FE89CD84-AEBE-4991-983F-DACD28BF3807}"/>
              </a:ext>
            </a:extLst>
          </p:cNvPr>
          <p:cNvSpPr>
            <a:spLocks xmlns:a="http://schemas.openxmlformats.org/drawingml/2006/main" noGrp="1"/>
          </p:cNvSpPr>
          <p:nvPr/>
        </p:nvSpPr>
        <p:spPr>
          <a:xfrm xmlns:a="http://schemas.openxmlformats.org/drawingml/2006/main">
            <a:off x="9244584"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감쇠 · SCM·Memini.</a:t>
            </a:r>
            <a:endParaRPr sz="1800"/>
          </a:p>
          <a:p xmlns:a="http://schemas.openxmlformats.org/drawingml/2006/main">
            <a:pPr marL="0" indent="0">
              <a:buNone/>
            </a:pPr>
            <a:r>
              <a:rPr sz="1800">
                <a:solidFill>
                  <a:srgbClr val="17191C"/>
                </a:solidFill>
                <a:latin typeface="Noto Sans CJK KR"/>
                <a:ea typeface="Noto Sans CJK KR"/>
                <a:cs typeface="Noto Sans CJK KR"/>
              </a:rPr>
              <a:t>prune이 유일한 수축</a:t>
            </a:r>
            <a:endParaRPr sz="1800"/>
          </a:p>
        </p:txBody>
      </p:sp>
      <p:sp>
        <p:nvSpPr>
          <p:cNvPr id="30" name="STC-04-phase-invariant">
            <a:extLst xmlns:a="http://schemas.openxmlformats.org/drawingml/2006/main">
              <a:ext uri="{FF2B5EF4-FFF2-40B4-BE49-F238E27FC236}">
                <a16:creationId xmlns:a16="http://schemas.microsoft.com/office/drawing/2014/main" id="{03288DCF-E840-4104-9A86-10724C88811D}"/>
              </a:ext>
            </a:extLst>
          </p:cNvPr>
          <p:cNvSpPr>
            <a:spLocks xmlns:a="http://schemas.openxmlformats.org/drawingml/2006/main" noGrp="1"/>
          </p:cNvSpPr>
          <p:nvPr/>
        </p:nvSpPr>
        <p:spPr>
          <a:xfrm xmlns:a="http://schemas.openxmlformats.org/drawingml/2006/main">
            <a:off x="1188720" y="4736592"/>
            <a:ext cx="9811512" cy="6035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31" name="STC-04-phase-invariant-text">
            <a:extLst xmlns:a="http://schemas.openxmlformats.org/drawingml/2006/main">
              <a:ext uri="{FF2B5EF4-FFF2-40B4-BE49-F238E27FC236}">
                <a16:creationId xmlns:a16="http://schemas.microsoft.com/office/drawing/2014/main" id="{F965FB3E-3D1D-4CF8-8579-F6405F044BA3}"/>
              </a:ext>
            </a:extLst>
          </p:cNvPr>
          <p:cNvSpPr>
            <a:spLocks xmlns:a="http://schemas.openxmlformats.org/drawingml/2006/main" noGrp="1"/>
          </p:cNvSpPr>
          <p:nvPr/>
        </p:nvSpPr>
        <p:spPr>
          <a:xfrm xmlns:a="http://schemas.openxmlformats.org/drawingml/2006/main">
            <a:off x="1435608" y="4919472"/>
            <a:ext cx="93268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수축 가능한 둘 다 삭제 정확도를 측정하지 않는다</a:t>
            </a:r>
            <a:endParaRPr sz="1700"/>
          </a:p>
        </p:txBody>
      </p:sp>
    </p:spTree>
    <p:extLst>
      <p:ext uri="{BB962C8B-B14F-4D97-AF65-F5344CB8AC3E}">
        <p14:creationId xmlns:p14="http://schemas.microsoft.com/office/powerpoint/2010/main" val="37494492"/>
      </p:ext>
    </p:extLst>
  </p:cSld>
</p:sld>
</file>

<file path=ppt/slides/slide5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3-section">
            <a:extLst xmlns:a="http://schemas.openxmlformats.org/drawingml/2006/main">
              <a:ext uri="{FF2B5EF4-FFF2-40B4-BE49-F238E27FC236}">
                <a16:creationId xmlns:a16="http://schemas.microsoft.com/office/drawing/2014/main" id="{DEF75E10-FC43-4F90-A29D-73D1CBC1DCC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E-PATH</a:t>
            </a:r>
            <a:endParaRPr sz="950"/>
          </a:p>
        </p:txBody>
      </p:sp>
      <p:sp>
        <p:nvSpPr>
          <p:cNvPr id="3" name="STC-13-slide-id">
            <a:extLst xmlns:a="http://schemas.openxmlformats.org/drawingml/2006/main">
              <a:ext uri="{FF2B5EF4-FFF2-40B4-BE49-F238E27FC236}">
                <a16:creationId xmlns:a16="http://schemas.microsoft.com/office/drawing/2014/main" id="{207357D7-4303-4447-A61C-4C79283F663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STC-058</a:t>
            </a:r>
            <a:endParaRPr sz="950"/>
          </a:p>
        </p:txBody>
      </p:sp>
      <p:sp>
        <p:nvSpPr>
          <p:cNvPr id="4" name="STC-13-headline">
            <a:extLst xmlns:a="http://schemas.openxmlformats.org/drawingml/2006/main">
              <a:ext uri="{FF2B5EF4-FFF2-40B4-BE49-F238E27FC236}">
                <a16:creationId xmlns:a16="http://schemas.microsoft.com/office/drawing/2014/main" id="{8E260E54-4985-4C50-817D-C85BDF65F5D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E-경로의 대가 — 품질 1위가 반복적으로 '기억 없음'이다</a:t>
            </a:r>
            <a:endParaRPr sz="3000"/>
          </a:p>
        </p:txBody>
      </p:sp>
      <p:sp>
        <p:nvSpPr>
          <p:cNvPr id="5" name="STC-13-status-label">
            <a:extLst xmlns:a="http://schemas.openxmlformats.org/drawingml/2006/main">
              <a:ext uri="{FF2B5EF4-FFF2-40B4-BE49-F238E27FC236}">
                <a16:creationId xmlns:a16="http://schemas.microsoft.com/office/drawing/2014/main" id="{76CEFCAB-90F8-4FF1-91A9-495F4B23416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논문 자기 수치</a:t>
            </a:r>
            <a:endParaRPr sz="1000"/>
          </a:p>
        </p:txBody>
      </p:sp>
      <p:sp>
        <p:nvSpPr>
          <p:cNvPr id="6" name="STC-13-status-rule">
            <a:extLst xmlns:a="http://schemas.openxmlformats.org/drawingml/2006/main">
              <a:ext uri="{FF2B5EF4-FFF2-40B4-BE49-F238E27FC236}">
                <a16:creationId xmlns:a16="http://schemas.microsoft.com/office/drawing/2014/main" id="{07360112-59F1-4B26-BA92-7088E3FD40C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13-footer-rule">
            <a:extLst xmlns:a="http://schemas.openxmlformats.org/drawingml/2006/main">
              <a:ext uri="{FF2B5EF4-FFF2-40B4-BE49-F238E27FC236}">
                <a16:creationId xmlns:a16="http://schemas.microsoft.com/office/drawing/2014/main" id="{26DC731C-F3A6-48D1-B411-9B2CD636969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3-source-footer">
            <a:extLst xmlns:a="http://schemas.openxmlformats.org/drawingml/2006/main">
              <a:ext uri="{FF2B5EF4-FFF2-40B4-BE49-F238E27FC236}">
                <a16:creationId xmlns:a16="http://schemas.microsoft.com/office/drawing/2014/main" id="{F8DE0C07-9BB3-4619-B392-5FCFC17ACBE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ch15 §15.6 · [Mem0 Table 2] · [Zep Table 1] · [SCM Table 2, 3]</a:t>
            </a:r>
            <a:endParaRPr sz="850"/>
          </a:p>
        </p:txBody>
      </p:sp>
      <p:sp>
        <p:nvSpPr>
          <p:cNvPr id="9" name="STC-13-page-number">
            <a:extLst xmlns:a="http://schemas.openxmlformats.org/drawingml/2006/main">
              <a:ext uri="{FF2B5EF4-FFF2-40B4-BE49-F238E27FC236}">
                <a16:creationId xmlns:a16="http://schemas.microsoft.com/office/drawing/2014/main" id="{77A42865-7B64-4DDF-99E9-C4F94EB652F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58</a:t>
            </a:r>
            <a:endParaRPr sz="850"/>
          </a:p>
        </p:txBody>
      </p:sp>
      <p:sp>
        <p:nvSpPr>
          <p:cNvPr id="11" name="STC-13-data-layer-0">
            <a:extLst xmlns:a="http://schemas.openxmlformats.org/drawingml/2006/main">
              <a:ext uri="{FF2B5EF4-FFF2-40B4-BE49-F238E27FC236}">
                <a16:creationId xmlns:a16="http://schemas.microsoft.com/office/drawing/2014/main" id="{E5BBE619-AB19-42FA-8122-D61948B604E8}"/>
              </a:ext>
            </a:extLst>
          </p:cNvPr>
          <p:cNvSpPr>
            <a:spLocks xmlns:a="http://schemas.openxmlformats.org/drawingml/2006/main" noGrp="1"/>
          </p:cNvSpPr>
          <p:nvPr/>
        </p:nvSpPr>
        <p:spPr>
          <a:xfrm xmlns:a="http://schemas.openxmlformats.org/drawingml/2006/main">
            <a:off x="1618488" y="1664208"/>
            <a:ext cx="8961120" cy="56692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12" name="STC-13-data-label-0">
            <a:extLst xmlns:a="http://schemas.openxmlformats.org/drawingml/2006/main">
              <a:ext uri="{FF2B5EF4-FFF2-40B4-BE49-F238E27FC236}">
                <a16:creationId xmlns:a16="http://schemas.microsoft.com/office/drawing/2014/main" id="{FDF9C9BA-3329-45E9-ABC4-2B36508291DA}"/>
              </a:ext>
            </a:extLst>
          </p:cNvPr>
          <p:cNvSpPr>
            <a:spLocks xmlns:a="http://schemas.openxmlformats.org/drawingml/2006/main" noGrp="1"/>
          </p:cNvSpPr>
          <p:nvPr/>
        </p:nvSpPr>
        <p:spPr>
          <a:xfrm xmlns:a="http://schemas.openxmlformats.org/drawingml/2006/main">
            <a:off x="1783080" y="1828800"/>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FFFFFF"/>
                </a:solidFill>
                <a:latin typeface="Noto Sans Mono CJK KR"/>
                <a:ea typeface="Noto Sans Mono CJK KR"/>
                <a:cs typeface="Noto Sans Mono CJK KR"/>
              </a:rPr>
              <a:t>Mem0</a:t>
            </a:r>
            <a:endParaRPr sz="1050"/>
          </a:p>
        </p:txBody>
      </p:sp>
      <p:sp>
        <p:nvSpPr>
          <p:cNvPr id="13" name="STC-13-data-body-0">
            <a:extLst xmlns:a="http://schemas.openxmlformats.org/drawingml/2006/main">
              <a:ext uri="{FF2B5EF4-FFF2-40B4-BE49-F238E27FC236}">
                <a16:creationId xmlns:a16="http://schemas.microsoft.com/office/drawing/2014/main" id="{34676F1F-A035-47A9-9C53-7C294D97CEF1}"/>
              </a:ext>
            </a:extLst>
          </p:cNvPr>
          <p:cNvSpPr>
            <a:spLocks xmlns:a="http://schemas.openxmlformats.org/drawingml/2006/main" noGrp="1"/>
          </p:cNvSpPr>
          <p:nvPr/>
        </p:nvSpPr>
        <p:spPr>
          <a:xfrm xmlns:a="http://schemas.openxmlformats.org/drawingml/2006/main">
            <a:off x="3401568" y="1755648"/>
            <a:ext cx="6995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FFFFFF"/>
                </a:solidFill>
                <a:latin typeface="Noto Sans CJK KR"/>
                <a:ea typeface="Noto Sans CJK KR"/>
                <a:cs typeface="Noto Sans CJK KR"/>
              </a:rPr>
              <a:t>full-context 72.90% 대 Mem0 66.88% (J)</a:t>
            </a:r>
            <a:endParaRPr sz="1450"/>
          </a:p>
        </p:txBody>
      </p:sp>
      <p:sp>
        <p:nvSpPr>
          <p:cNvPr id="14" name="STC-13-data-layer-1">
            <a:extLst xmlns:a="http://schemas.openxmlformats.org/drawingml/2006/main">
              <a:ext uri="{FF2B5EF4-FFF2-40B4-BE49-F238E27FC236}">
                <a16:creationId xmlns:a16="http://schemas.microsoft.com/office/drawing/2014/main" id="{2C7AD258-BAEB-4994-96A5-F1AB29FB68DF}"/>
              </a:ext>
            </a:extLst>
          </p:cNvPr>
          <p:cNvSpPr>
            <a:spLocks xmlns:a="http://schemas.openxmlformats.org/drawingml/2006/main" noGrp="1"/>
          </p:cNvSpPr>
          <p:nvPr/>
        </p:nvSpPr>
        <p:spPr>
          <a:xfrm xmlns:a="http://schemas.openxmlformats.org/drawingml/2006/main">
            <a:off x="2258568" y="2450592"/>
            <a:ext cx="7680960" cy="566928"/>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3-data-label-1">
            <a:extLst xmlns:a="http://schemas.openxmlformats.org/drawingml/2006/main">
              <a:ext uri="{FF2B5EF4-FFF2-40B4-BE49-F238E27FC236}">
                <a16:creationId xmlns:a16="http://schemas.microsoft.com/office/drawing/2014/main" id="{02CDF8C0-80BF-43B8-B0F1-3E7D91CAE3C2}"/>
              </a:ext>
            </a:extLst>
          </p:cNvPr>
          <p:cNvSpPr>
            <a:spLocks xmlns:a="http://schemas.openxmlformats.org/drawingml/2006/main" noGrp="1"/>
          </p:cNvSpPr>
          <p:nvPr/>
        </p:nvSpPr>
        <p:spPr>
          <a:xfrm xmlns:a="http://schemas.openxmlformats.org/drawingml/2006/main">
            <a:off x="2423160" y="2615184"/>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Zep DMR</a:t>
            </a:r>
            <a:endParaRPr sz="1050"/>
          </a:p>
        </p:txBody>
      </p:sp>
      <p:sp>
        <p:nvSpPr>
          <p:cNvPr id="16" name="STC-13-data-body-1">
            <a:extLst xmlns:a="http://schemas.openxmlformats.org/drawingml/2006/main">
              <a:ext uri="{FF2B5EF4-FFF2-40B4-BE49-F238E27FC236}">
                <a16:creationId xmlns:a16="http://schemas.microsoft.com/office/drawing/2014/main" id="{BC62C31C-D212-42ED-AE30-842B56196CD1}"/>
              </a:ext>
            </a:extLst>
          </p:cNvPr>
          <p:cNvSpPr>
            <a:spLocks xmlns:a="http://schemas.openxmlformats.org/drawingml/2006/main" noGrp="1"/>
          </p:cNvSpPr>
          <p:nvPr/>
        </p:nvSpPr>
        <p:spPr>
          <a:xfrm xmlns:a="http://schemas.openxmlformats.org/drawingml/2006/main">
            <a:off x="4041648" y="2542032"/>
            <a:ext cx="5715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17191C"/>
                </a:solidFill>
                <a:latin typeface="Noto Sans CJK KR"/>
                <a:ea typeface="Noto Sans CJK KR"/>
                <a:cs typeface="Noto Sans CJK KR"/>
              </a:rPr>
              <a:t>full-conversation 94.4%가 MemGPT 93.4%를 이김</a:t>
            </a:r>
            <a:endParaRPr sz="1450"/>
          </a:p>
        </p:txBody>
      </p:sp>
      <p:sp>
        <p:nvSpPr>
          <p:cNvPr id="17" name="STC-13-data-layer-2">
            <a:extLst xmlns:a="http://schemas.openxmlformats.org/drawingml/2006/main">
              <a:ext uri="{FF2B5EF4-FFF2-40B4-BE49-F238E27FC236}">
                <a16:creationId xmlns:a16="http://schemas.microsoft.com/office/drawing/2014/main" id="{D6FAD0EE-091C-49BC-AC96-FF7C3FD7BF30}"/>
              </a:ext>
            </a:extLst>
          </p:cNvPr>
          <p:cNvSpPr>
            <a:spLocks xmlns:a="http://schemas.openxmlformats.org/drawingml/2006/main" noGrp="1"/>
          </p:cNvSpPr>
          <p:nvPr/>
        </p:nvSpPr>
        <p:spPr>
          <a:xfrm xmlns:a="http://schemas.openxmlformats.org/drawingml/2006/main">
            <a:off x="2898648" y="3236976"/>
            <a:ext cx="6400800" cy="566928"/>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8" name="STC-13-data-label-2">
            <a:extLst xmlns:a="http://schemas.openxmlformats.org/drawingml/2006/main">
              <a:ext uri="{FF2B5EF4-FFF2-40B4-BE49-F238E27FC236}">
                <a16:creationId xmlns:a16="http://schemas.microsoft.com/office/drawing/2014/main" id="{AA018C36-C849-429F-A2CB-A09888ED5181}"/>
              </a:ext>
            </a:extLst>
          </p:cNvPr>
          <p:cNvSpPr>
            <a:spLocks xmlns:a="http://schemas.openxmlformats.org/drawingml/2006/main" noGrp="1"/>
          </p:cNvSpPr>
          <p:nvPr/>
        </p:nvSpPr>
        <p:spPr>
          <a:xfrm xmlns:a="http://schemas.openxmlformats.org/drawingml/2006/main">
            <a:off x="3063240" y="3401568"/>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SCM</a:t>
            </a:r>
            <a:endParaRPr sz="1050"/>
          </a:p>
        </p:txBody>
      </p:sp>
      <p:sp>
        <p:nvSpPr>
          <p:cNvPr id="19" name="STC-13-data-body-2">
            <a:extLst xmlns:a="http://schemas.openxmlformats.org/drawingml/2006/main">
              <a:ext uri="{FF2B5EF4-FFF2-40B4-BE49-F238E27FC236}">
                <a16:creationId xmlns:a16="http://schemas.microsoft.com/office/drawing/2014/main" id="{41815879-EDCF-477A-A120-7092A00F5988}"/>
              </a:ext>
            </a:extLst>
          </p:cNvPr>
          <p:cNvSpPr>
            <a:spLocks xmlns:a="http://schemas.openxmlformats.org/drawingml/2006/main" noGrp="1"/>
          </p:cNvSpPr>
          <p:nvPr/>
        </p:nvSpPr>
        <p:spPr>
          <a:xfrm xmlns:a="http://schemas.openxmlformats.org/drawingml/2006/main">
            <a:off x="4681728" y="3328416"/>
            <a:ext cx="4434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무망각 그래프 baseline이 22/22로 동률</a:t>
            </a:r>
            <a:endParaRPr sz="1350"/>
          </a:p>
        </p:txBody>
      </p:sp>
      <p:sp>
        <p:nvSpPr>
          <p:cNvPr id="20" name="STC-13-data-layer-3">
            <a:extLst xmlns:a="http://schemas.openxmlformats.org/drawingml/2006/main">
              <a:ext uri="{FF2B5EF4-FFF2-40B4-BE49-F238E27FC236}">
                <a16:creationId xmlns:a16="http://schemas.microsoft.com/office/drawing/2014/main" id="{FBD0C7D7-10DE-463B-9217-97D247B03C72}"/>
              </a:ext>
            </a:extLst>
          </p:cNvPr>
          <p:cNvSpPr>
            <a:spLocks xmlns:a="http://schemas.openxmlformats.org/drawingml/2006/main" noGrp="1"/>
          </p:cNvSpPr>
          <p:nvPr/>
        </p:nvSpPr>
        <p:spPr>
          <a:xfrm xmlns:a="http://schemas.openxmlformats.org/drawingml/2006/main">
            <a:off x="3538728" y="4023360"/>
            <a:ext cx="5120640" cy="566928"/>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13-data-label-3">
            <a:extLst xmlns:a="http://schemas.openxmlformats.org/drawingml/2006/main">
              <a:ext uri="{FF2B5EF4-FFF2-40B4-BE49-F238E27FC236}">
                <a16:creationId xmlns:a16="http://schemas.microsoft.com/office/drawing/2014/main" id="{8DA5B66F-AB6C-424C-B38E-EC87549B7458}"/>
              </a:ext>
            </a:extLst>
          </p:cNvPr>
          <p:cNvSpPr>
            <a:spLocks xmlns:a="http://schemas.openxmlformats.org/drawingml/2006/main" noGrp="1"/>
          </p:cNvSpPr>
          <p:nvPr/>
        </p:nvSpPr>
        <p:spPr>
          <a:xfrm xmlns:a="http://schemas.openxmlformats.org/drawingml/2006/main">
            <a:off x="3703320" y="4187952"/>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ReasoningBank</a:t>
            </a:r>
            <a:endParaRPr sz="1050"/>
          </a:p>
        </p:txBody>
      </p:sp>
      <p:sp>
        <p:nvSpPr>
          <p:cNvPr id="22" name="STC-13-data-body-3">
            <a:extLst xmlns:a="http://schemas.openxmlformats.org/drawingml/2006/main">
              <a:ext uri="{FF2B5EF4-FFF2-40B4-BE49-F238E27FC236}">
                <a16:creationId xmlns:a16="http://schemas.microsoft.com/office/drawing/2014/main" id="{B07BDB02-D4B0-48AF-8A53-11814C8CDC53}"/>
              </a:ext>
            </a:extLst>
          </p:cNvPr>
          <p:cNvSpPr>
            <a:spLocks xmlns:a="http://schemas.openxmlformats.org/drawingml/2006/main" noGrp="1"/>
          </p:cNvSpPr>
          <p:nvPr/>
        </p:nvSpPr>
        <p:spPr>
          <a:xfrm xmlns:a="http://schemas.openxmlformats.org/drawingml/2006/main">
            <a:off x="5321808" y="41148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검색 항목을 늘리면 성공률이 단조 악화</a:t>
            </a:r>
            <a:endParaRPr sz="1350"/>
          </a:p>
        </p:txBody>
      </p:sp>
      <p:sp>
        <p:nvSpPr>
          <p:cNvPr id="23" name="STC-13-data-layer-4">
            <a:extLst xmlns:a="http://schemas.openxmlformats.org/drawingml/2006/main">
              <a:ext uri="{FF2B5EF4-FFF2-40B4-BE49-F238E27FC236}">
                <a16:creationId xmlns:a16="http://schemas.microsoft.com/office/drawing/2014/main" id="{E60963C1-8D59-4CC2-B99B-C4EA44523D22}"/>
              </a:ext>
            </a:extLst>
          </p:cNvPr>
          <p:cNvSpPr>
            <a:spLocks xmlns:a="http://schemas.openxmlformats.org/drawingml/2006/main" noGrp="1"/>
          </p:cNvSpPr>
          <p:nvPr/>
        </p:nvSpPr>
        <p:spPr>
          <a:xfrm xmlns:a="http://schemas.openxmlformats.org/drawingml/2006/main">
            <a:off x="4178808" y="4809744"/>
            <a:ext cx="3840480" cy="566928"/>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24" name="STC-13-data-label-4">
            <a:extLst xmlns:a="http://schemas.openxmlformats.org/drawingml/2006/main">
              <a:ext uri="{FF2B5EF4-FFF2-40B4-BE49-F238E27FC236}">
                <a16:creationId xmlns:a16="http://schemas.microsoft.com/office/drawing/2014/main" id="{94E567B2-40CF-45FA-B9F9-A1B39A99C7FF}"/>
              </a:ext>
            </a:extLst>
          </p:cNvPr>
          <p:cNvSpPr>
            <a:spLocks xmlns:a="http://schemas.openxmlformats.org/drawingml/2006/main" noGrp="1"/>
          </p:cNvSpPr>
          <p:nvPr/>
        </p:nvSpPr>
        <p:spPr>
          <a:xfrm xmlns:a="http://schemas.openxmlformats.org/drawingml/2006/main">
            <a:off x="4343400" y="4974336"/>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표준편차</a:t>
            </a:r>
            <a:endParaRPr sz="1050"/>
          </a:p>
        </p:txBody>
      </p:sp>
      <p:sp>
        <p:nvSpPr>
          <p:cNvPr id="25" name="STC-13-data-body-4">
            <a:extLst xmlns:a="http://schemas.openxmlformats.org/drawingml/2006/main">
              <a:ext uri="{FF2B5EF4-FFF2-40B4-BE49-F238E27FC236}">
                <a16:creationId xmlns:a16="http://schemas.microsoft.com/office/drawing/2014/main" id="{2C57AF49-F2CA-4C91-AE9F-A85EF45878C8}"/>
              </a:ext>
            </a:extLst>
          </p:cNvPr>
          <p:cNvSpPr>
            <a:spLocks xmlns:a="http://schemas.openxmlformats.org/drawingml/2006/main" noGrp="1"/>
          </p:cNvSpPr>
          <p:nvPr/>
        </p:nvSpPr>
        <p:spPr>
          <a:xfrm xmlns:a="http://schemas.openxmlformats.org/drawingml/2006/main">
            <a:off x="5961888" y="4901184"/>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격차가 인쇄된 sd의 20배를 넘는다</a:t>
            </a:r>
            <a:endParaRPr sz="1350"/>
          </a:p>
        </p:txBody>
      </p:sp>
      <p:sp>
        <p:nvSpPr>
          <p:cNvPr id="26" name="STC-13-data-warning">
            <a:extLst xmlns:a="http://schemas.openxmlformats.org/drawingml/2006/main">
              <a:ext uri="{FF2B5EF4-FFF2-40B4-BE49-F238E27FC236}">
                <a16:creationId xmlns:a16="http://schemas.microsoft.com/office/drawing/2014/main" id="{FE09EF05-9A9A-4209-946A-2FFD878EDF5A}"/>
              </a:ext>
            </a:extLst>
          </p:cNvPr>
          <p:cNvSpPr>
            <a:spLocks xmlns:a="http://schemas.openxmlformats.org/drawingml/2006/main" noGrp="1"/>
          </p:cNvSpPr>
          <p:nvPr/>
        </p:nvSpPr>
        <p:spPr>
          <a:xfrm xmlns:a="http://schemas.openxmlformats.org/drawingml/2006/main">
            <a:off x="2286000" y="5623560"/>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ans CJK KR"/>
                <a:ea typeface="Noto Sans CJK KR"/>
                <a:cs typeface="Noto Sans CJK KR"/>
              </a:rPr>
              <a:t>full-context 72.90% 대 Mem0 66.88% (J)</a:t>
            </a:r>
            <a:endParaRPr sz="1800"/>
          </a:p>
        </p:txBody>
      </p:sp>
    </p:spTree>
    <p:extLst>
      <p:ext uri="{BB962C8B-B14F-4D97-AF65-F5344CB8AC3E}">
        <p14:creationId xmlns:p14="http://schemas.microsoft.com/office/powerpoint/2010/main" val="877466157"/>
      </p:ext>
    </p:extLst>
  </p:cSld>
</p:sld>
</file>

<file path=ppt/slides/slide5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4-section">
            <a:extLst xmlns:a="http://schemas.openxmlformats.org/drawingml/2006/main">
              <a:ext uri="{FF2B5EF4-FFF2-40B4-BE49-F238E27FC236}">
                <a16:creationId xmlns:a16="http://schemas.microsoft.com/office/drawing/2014/main" id="{A0075D85-B234-44C8-902E-101F0A3CC31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W-PATH</a:t>
            </a:r>
            <a:endParaRPr sz="950"/>
          </a:p>
        </p:txBody>
      </p:sp>
      <p:sp>
        <p:nvSpPr>
          <p:cNvPr id="3" name="STC-04-slide-id">
            <a:extLst xmlns:a="http://schemas.openxmlformats.org/drawingml/2006/main">
              <a:ext uri="{FF2B5EF4-FFF2-40B4-BE49-F238E27FC236}">
                <a16:creationId xmlns:a16="http://schemas.microsoft.com/office/drawing/2014/main" id="{B14D52AE-8297-468B-A77A-23EAE8342583}"/>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STC-059</a:t>
            </a:r>
            <a:endParaRPr sz="950"/>
          </a:p>
        </p:txBody>
      </p:sp>
      <p:sp>
        <p:nvSpPr>
          <p:cNvPr id="4" name="STC-04-headline">
            <a:extLst xmlns:a="http://schemas.openxmlformats.org/drawingml/2006/main">
              <a:ext uri="{FF2B5EF4-FFF2-40B4-BE49-F238E27FC236}">
                <a16:creationId xmlns:a16="http://schemas.microsoft.com/office/drawing/2014/main" id="{3630F132-02F2-4CE1-9E25-749167C75A9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W-경로 — 문맥을 접고 원 문맥을 버린다</a:t>
            </a:r>
            <a:endParaRPr sz="3000"/>
          </a:p>
        </p:txBody>
      </p:sp>
      <p:sp>
        <p:nvSpPr>
          <p:cNvPr id="5" name="STC-04-status-label">
            <a:extLst xmlns:a="http://schemas.openxmlformats.org/drawingml/2006/main">
              <a:ext uri="{FF2B5EF4-FFF2-40B4-BE49-F238E27FC236}">
                <a16:creationId xmlns:a16="http://schemas.microsoft.com/office/drawing/2014/main" id="{A7ACBE27-EC77-4521-8202-C2F79CB3B4F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경로 개요</a:t>
            </a:r>
            <a:endParaRPr sz="1000"/>
          </a:p>
        </p:txBody>
      </p:sp>
      <p:sp>
        <p:nvSpPr>
          <p:cNvPr id="6" name="STC-04-status-rule">
            <a:extLst xmlns:a="http://schemas.openxmlformats.org/drawingml/2006/main">
              <a:ext uri="{FF2B5EF4-FFF2-40B4-BE49-F238E27FC236}">
                <a16:creationId xmlns:a16="http://schemas.microsoft.com/office/drawing/2014/main" id="{168F3EE0-A99E-4D46-9138-97123A1B2E0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4-footer-rule">
            <a:extLst xmlns:a="http://schemas.openxmlformats.org/drawingml/2006/main">
              <a:ext uri="{FF2B5EF4-FFF2-40B4-BE49-F238E27FC236}">
                <a16:creationId xmlns:a16="http://schemas.microsoft.com/office/drawing/2014/main" id="{283A436D-9734-4A07-90CD-F35CB55E5AB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4-source-footer">
            <a:extLst xmlns:a="http://schemas.openxmlformats.org/drawingml/2006/main">
              <a:ext uri="{FF2B5EF4-FFF2-40B4-BE49-F238E27FC236}">
                <a16:creationId xmlns:a16="http://schemas.microsoft.com/office/drawing/2014/main" id="{883AB35B-5226-4881-AC75-8BEB5E56E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§11.8 · ch16–ch18</a:t>
            </a:r>
            <a:endParaRPr sz="850"/>
          </a:p>
        </p:txBody>
      </p:sp>
      <p:sp>
        <p:nvSpPr>
          <p:cNvPr id="9" name="STC-04-page-number">
            <a:extLst xmlns:a="http://schemas.openxmlformats.org/drawingml/2006/main">
              <a:ext uri="{FF2B5EF4-FFF2-40B4-BE49-F238E27FC236}">
                <a16:creationId xmlns:a16="http://schemas.microsoft.com/office/drawing/2014/main" id="{EFF36FC2-57B0-4E0D-A22C-A663CD6EDD60}"/>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59</a:t>
            </a:r>
            <a:endParaRPr sz="850"/>
          </a:p>
        </p:txBody>
      </p:sp>
      <p:sp>
        <p:nvSpPr>
          <p:cNvPr id="11" name="STC-04-phase-tag-0">
            <a:extLst xmlns:a="http://schemas.openxmlformats.org/drawingml/2006/main">
              <a:ext uri="{FF2B5EF4-FFF2-40B4-BE49-F238E27FC236}">
                <a16:creationId xmlns:a16="http://schemas.microsoft.com/office/drawing/2014/main" id="{BA1F2F65-E6CA-4586-80AC-30666A36C48F}"/>
              </a:ext>
            </a:extLst>
          </p:cNvPr>
          <p:cNvSpPr>
            <a:spLocks xmlns:a="http://schemas.openxmlformats.org/drawingml/2006/main" noGrp="1"/>
          </p:cNvSpPr>
          <p:nvPr/>
        </p:nvSpPr>
        <p:spPr>
          <a:xfrm xmlns:a="http://schemas.openxmlformats.org/drawingml/2006/main">
            <a:off x="768096"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59616A"/>
                </a:solidFill>
                <a:latin typeface="Noto Sans Mono CJK KR"/>
                <a:ea typeface="Noto Sans Mono CJK KR"/>
                <a:cs typeface="Noto Sans Mono CJK KR"/>
              </a:rPr>
              <a:t>좌변</a:t>
            </a:r>
            <a:endParaRPr sz="1200"/>
          </a:p>
        </p:txBody>
      </p:sp>
      <p:sp>
        <p:nvSpPr>
          <p:cNvPr id="12" name="STC-04-phase-ko-0">
            <a:extLst xmlns:a="http://schemas.openxmlformats.org/drawingml/2006/main">
              <a:ext uri="{FF2B5EF4-FFF2-40B4-BE49-F238E27FC236}">
                <a16:creationId xmlns:a16="http://schemas.microsoft.com/office/drawing/2014/main" id="{71B78324-C8F8-4909-82A4-E5B94A3ECF3B}"/>
              </a:ext>
            </a:extLst>
          </p:cNvPr>
          <p:cNvSpPr>
            <a:spLocks xmlns:a="http://schemas.openxmlformats.org/drawingml/2006/main" noGrp="1"/>
          </p:cNvSpPr>
          <p:nvPr/>
        </p:nvSpPr>
        <p:spPr>
          <a:xfrm xmlns:a="http://schemas.openxmlformats.org/drawingml/2006/main">
            <a:off x="768096"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텐서</a:t>
            </a:r>
            <a:endParaRPr sz="2300"/>
          </a:p>
        </p:txBody>
      </p:sp>
      <p:sp>
        <p:nvSpPr>
          <p:cNvPr id="13" name="STC-04-phase-rule-0">
            <a:extLst xmlns:a="http://schemas.openxmlformats.org/drawingml/2006/main">
              <a:ext uri="{FF2B5EF4-FFF2-40B4-BE49-F238E27FC236}">
                <a16:creationId xmlns:a16="http://schemas.microsoft.com/office/drawing/2014/main" id="{7764BB8A-B05F-4718-BC24-4AD789913DE0}"/>
              </a:ext>
            </a:extLst>
          </p:cNvPr>
          <p:cNvSpPr>
            <a:spLocks xmlns:a="http://schemas.openxmlformats.org/drawingml/2006/main" noGrp="1"/>
          </p:cNvSpPr>
          <p:nvPr/>
        </p:nvSpPr>
        <p:spPr>
          <a:xfrm xmlns:a="http://schemas.openxmlformats.org/drawingml/2006/main">
            <a:off x="768096" y="2642616"/>
            <a:ext cx="2011680" cy="0"/>
          </a:xfrm>
          <a:prstGeom xmlns:a="http://schemas.openxmlformats.org/drawingml/2006/main" prst="line">
            <a:avLst/>
          </a:prstGeom>
          <a:noFill xmlns:a="http://schemas.openxmlformats.org/drawingml/2006/main"/>
          <a:ln xmlns:a="http://schemas.openxmlformats.org/drawingml/2006/main" w="50800">
            <a:solidFill>
              <a:srgbClr val="59616A"/>
            </a:solidFill>
            <a:prstDash val="solid"/>
            <a:tailEnd type="none"/>
          </a:ln>
        </p:spPr>
      </p:sp>
      <p:sp>
        <p:nvSpPr>
          <p:cNvPr id="14" name="STC-04-phase-body-0">
            <a:extLst xmlns:a="http://schemas.openxmlformats.org/drawingml/2006/main">
              <a:ext uri="{FF2B5EF4-FFF2-40B4-BE49-F238E27FC236}">
                <a16:creationId xmlns:a16="http://schemas.microsoft.com/office/drawing/2014/main" id="{D3EDF87F-330E-402B-BED1-949CABA05E93}"/>
              </a:ext>
            </a:extLst>
          </p:cNvPr>
          <p:cNvSpPr>
            <a:spLocks xmlns:a="http://schemas.openxmlformats.org/drawingml/2006/main" noGrp="1"/>
          </p:cNvSpPr>
          <p:nvPr/>
        </p:nvSpPr>
        <p:spPr>
          <a:xfrm xmlns:a="http://schemas.openxmlformats.org/drawingml/2006/main">
            <a:off x="768096"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텐서 · 가중치</a:t>
            </a:r>
            <a:endParaRPr sz="1800"/>
          </a:p>
          <a:p xmlns:a="http://schemas.openxmlformats.org/drawingml/2006/main">
            <a:pPr marL="0" indent="0">
              <a:buNone/>
            </a:pPr>
            <a:r>
              <a:rPr sz="1800">
                <a:solidFill>
                  <a:srgbClr val="17191C"/>
                </a:solidFill>
                <a:latin typeface="Noto Sans CJK KR"/>
                <a:ea typeface="Noto Sans CJK KR"/>
                <a:cs typeface="Noto Sans CJK KR"/>
              </a:rPr>
              <a:t>형태의 세션 상태</a:t>
            </a:r>
            <a:endParaRPr sz="1800"/>
          </a:p>
        </p:txBody>
      </p:sp>
      <p:sp>
        <p:nvSpPr>
          <p:cNvPr id="15" name="STC-04-phase-arrow-0">
            <a:extLst xmlns:a="http://schemas.openxmlformats.org/drawingml/2006/main">
              <a:ext uri="{FF2B5EF4-FFF2-40B4-BE49-F238E27FC236}">
                <a16:creationId xmlns:a16="http://schemas.microsoft.com/office/drawing/2014/main" id="{783D597A-ACCC-4F6B-94A9-392B971E7A96}"/>
              </a:ext>
            </a:extLst>
          </p:cNvPr>
          <p:cNvSpPr>
            <a:spLocks xmlns:a="http://schemas.openxmlformats.org/drawingml/2006/main" noGrp="1"/>
          </p:cNvSpPr>
          <p:nvPr/>
        </p:nvSpPr>
        <p:spPr>
          <a:xfrm xmlns:a="http://schemas.openxmlformats.org/drawingml/2006/main">
            <a:off x="2962656"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16" name="STC-04-phase-tag-1">
            <a:extLst xmlns:a="http://schemas.openxmlformats.org/drawingml/2006/main">
              <a:ext uri="{FF2B5EF4-FFF2-40B4-BE49-F238E27FC236}">
                <a16:creationId xmlns:a16="http://schemas.microsoft.com/office/drawing/2014/main" id="{DF120A6C-83FF-4F70-8A23-21607B85C1A0}"/>
              </a:ext>
            </a:extLst>
          </p:cNvPr>
          <p:cNvSpPr>
            <a:spLocks xmlns:a="http://schemas.openxmlformats.org/drawingml/2006/main" noGrp="1"/>
          </p:cNvSpPr>
          <p:nvPr/>
        </p:nvSpPr>
        <p:spPr>
          <a:xfrm xmlns:a="http://schemas.openxmlformats.org/drawingml/2006/main">
            <a:off x="3593592"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시계</a:t>
            </a:r>
            <a:endParaRPr sz="1200"/>
          </a:p>
        </p:txBody>
      </p:sp>
      <p:sp>
        <p:nvSpPr>
          <p:cNvPr id="17" name="STC-04-phase-ko-1">
            <a:extLst xmlns:a="http://schemas.openxmlformats.org/drawingml/2006/main">
              <a:ext uri="{FF2B5EF4-FFF2-40B4-BE49-F238E27FC236}">
                <a16:creationId xmlns:a16="http://schemas.microsoft.com/office/drawing/2014/main" id="{EC71ADFB-45C0-4738-8C38-F10FAB21F33F}"/>
              </a:ext>
            </a:extLst>
          </p:cNvPr>
          <p:cNvSpPr>
            <a:spLocks xmlns:a="http://schemas.openxmlformats.org/drawingml/2006/main" noGrp="1"/>
          </p:cNvSpPr>
          <p:nvPr/>
        </p:nvSpPr>
        <p:spPr>
          <a:xfrm xmlns:a="http://schemas.openxmlformats.org/drawingml/2006/main">
            <a:off x="3593592"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chunk</a:t>
            </a:r>
            <a:endParaRPr sz="2300"/>
          </a:p>
        </p:txBody>
      </p:sp>
      <p:sp>
        <p:nvSpPr>
          <p:cNvPr id="18" name="STC-04-phase-rule-1">
            <a:extLst xmlns:a="http://schemas.openxmlformats.org/drawingml/2006/main">
              <a:ext uri="{FF2B5EF4-FFF2-40B4-BE49-F238E27FC236}">
                <a16:creationId xmlns:a16="http://schemas.microsoft.com/office/drawing/2014/main" id="{CD51B805-650E-4380-9B3A-E873D1907749}"/>
              </a:ext>
            </a:extLst>
          </p:cNvPr>
          <p:cNvSpPr>
            <a:spLocks xmlns:a="http://schemas.openxmlformats.org/drawingml/2006/main" noGrp="1"/>
          </p:cNvSpPr>
          <p:nvPr/>
        </p:nvSpPr>
        <p:spPr>
          <a:xfrm xmlns:a="http://schemas.openxmlformats.org/drawingml/2006/main">
            <a:off x="3593592" y="2642616"/>
            <a:ext cx="2011680" cy="0"/>
          </a:xfrm>
          <a:prstGeom xmlns:a="http://schemas.openxmlformats.org/drawingml/2006/main" prst="line">
            <a:avLst/>
          </a:prstGeom>
          <a:noFill xmlns:a="http://schemas.openxmlformats.org/drawingml/2006/main"/>
          <a:ln xmlns:a="http://schemas.openxmlformats.org/drawingml/2006/main" w="50800">
            <a:solidFill>
              <a:srgbClr val="244E8A"/>
            </a:solidFill>
            <a:prstDash val="solid"/>
            <a:tailEnd type="none"/>
          </a:ln>
        </p:spPr>
      </p:sp>
      <p:sp>
        <p:nvSpPr>
          <p:cNvPr id="19" name="STC-04-phase-body-1">
            <a:extLst xmlns:a="http://schemas.openxmlformats.org/drawingml/2006/main">
              <a:ext uri="{FF2B5EF4-FFF2-40B4-BE49-F238E27FC236}">
                <a16:creationId xmlns:a16="http://schemas.microsoft.com/office/drawing/2014/main" id="{CA6AC282-8658-4035-A58F-484C6AC4BB0A}"/>
              </a:ext>
            </a:extLst>
          </p:cNvPr>
          <p:cNvSpPr>
            <a:spLocks xmlns:a="http://schemas.openxmlformats.org/drawingml/2006/main" noGrp="1"/>
          </p:cNvSpPr>
          <p:nvPr/>
        </p:nvSpPr>
        <p:spPr>
          <a:xfrm xmlns:a="http://schemas.openxmlformats.org/drawingml/2006/main">
            <a:off x="3593592"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chunk · (U-W)를</a:t>
            </a:r>
            <a:endParaRPr sz="1800"/>
          </a:p>
          <a:p xmlns:a="http://schemas.openxmlformats.org/drawingml/2006/main">
            <a:pPr marL="0" indent="0">
              <a:buNone/>
            </a:pPr>
            <a:r>
              <a:rPr sz="1800">
                <a:solidFill>
                  <a:srgbClr val="17191C"/>
                </a:solidFill>
                <a:latin typeface="Noto Sans CJK KR"/>
                <a:ea typeface="Noto Sans CJK KR"/>
                <a:cs typeface="Noto Sans CJK KR"/>
              </a:rPr>
              <a:t>오프라인에 추가로 돈다</a:t>
            </a:r>
            <a:endParaRPr sz="1800"/>
          </a:p>
        </p:txBody>
      </p:sp>
      <p:sp>
        <p:nvSpPr>
          <p:cNvPr id="20" name="STC-04-phase-arrow-1">
            <a:extLst xmlns:a="http://schemas.openxmlformats.org/drawingml/2006/main">
              <a:ext uri="{FF2B5EF4-FFF2-40B4-BE49-F238E27FC236}">
                <a16:creationId xmlns:a16="http://schemas.microsoft.com/office/drawing/2014/main" id="{78036B2A-3081-4A46-8C23-82C208923D54}"/>
              </a:ext>
            </a:extLst>
          </p:cNvPr>
          <p:cNvSpPr>
            <a:spLocks xmlns:a="http://schemas.openxmlformats.org/drawingml/2006/main" noGrp="1"/>
          </p:cNvSpPr>
          <p:nvPr/>
        </p:nvSpPr>
        <p:spPr>
          <a:xfrm xmlns:a="http://schemas.openxmlformats.org/drawingml/2006/main">
            <a:off x="5788152"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1" name="STC-04-phase-tag-2">
            <a:extLst xmlns:a="http://schemas.openxmlformats.org/drawingml/2006/main">
              <a:ext uri="{FF2B5EF4-FFF2-40B4-BE49-F238E27FC236}">
                <a16:creationId xmlns:a16="http://schemas.microsoft.com/office/drawing/2014/main" id="{14A86847-A229-4A53-8F2A-E51A71B0A175}"/>
              </a:ext>
            </a:extLst>
          </p:cNvPr>
          <p:cNvSpPr>
            <a:spLocks xmlns:a="http://schemas.openxmlformats.org/drawingml/2006/main" noGrp="1"/>
          </p:cNvSpPr>
          <p:nvPr/>
        </p:nvSpPr>
        <p:spPr>
          <a:xfrm xmlns:a="http://schemas.openxmlformats.org/drawingml/2006/main">
            <a:off x="6419088"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이점</a:t>
            </a:r>
            <a:endParaRPr sz="1200"/>
          </a:p>
        </p:txBody>
      </p:sp>
      <p:sp>
        <p:nvSpPr>
          <p:cNvPr id="22" name="STC-04-phase-ko-2">
            <a:extLst xmlns:a="http://schemas.openxmlformats.org/drawingml/2006/main">
              <a:ext uri="{FF2B5EF4-FFF2-40B4-BE49-F238E27FC236}">
                <a16:creationId xmlns:a16="http://schemas.microsoft.com/office/drawing/2014/main" id="{582DA535-C347-498A-B2F9-C40BAE20CE4F}"/>
              </a:ext>
            </a:extLst>
          </p:cNvPr>
          <p:cNvSpPr>
            <a:spLocks xmlns:a="http://schemas.openxmlformats.org/drawingml/2006/main" noGrp="1"/>
          </p:cNvSpPr>
          <p:nvPr/>
        </p:nvSpPr>
        <p:spPr>
          <a:xfrm xmlns:a="http://schemas.openxmlformats.org/drawingml/2006/main">
            <a:off x="6419088"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버림</a:t>
            </a:r>
            <a:endParaRPr sz="2300"/>
          </a:p>
        </p:txBody>
      </p:sp>
      <p:sp>
        <p:nvSpPr>
          <p:cNvPr id="23" name="STC-04-phase-rule-2">
            <a:extLst xmlns:a="http://schemas.openxmlformats.org/drawingml/2006/main">
              <a:ext uri="{FF2B5EF4-FFF2-40B4-BE49-F238E27FC236}">
                <a16:creationId xmlns:a16="http://schemas.microsoft.com/office/drawing/2014/main" id="{604E16CE-5100-4FC5-8DB9-7A23B695EE76}"/>
              </a:ext>
            </a:extLst>
          </p:cNvPr>
          <p:cNvSpPr>
            <a:spLocks xmlns:a="http://schemas.openxmlformats.org/drawingml/2006/main" noGrp="1"/>
          </p:cNvSpPr>
          <p:nvPr/>
        </p:nvSpPr>
        <p:spPr>
          <a:xfrm xmlns:a="http://schemas.openxmlformats.org/drawingml/2006/main">
            <a:off x="6419088" y="2642616"/>
            <a:ext cx="2011680" cy="0"/>
          </a:xfrm>
          <a:prstGeom xmlns:a="http://schemas.openxmlformats.org/drawingml/2006/main" prst="line">
            <a:avLst/>
          </a:prstGeom>
          <a:noFill xmlns:a="http://schemas.openxmlformats.org/drawingml/2006/main"/>
          <a:ln xmlns:a="http://schemas.openxmlformats.org/drawingml/2006/main" w="50800">
            <a:solidFill>
              <a:srgbClr val="9A442D"/>
            </a:solidFill>
            <a:prstDash val="solid"/>
            <a:tailEnd type="none"/>
          </a:ln>
        </p:spPr>
      </p:sp>
      <p:sp>
        <p:nvSpPr>
          <p:cNvPr id="24" name="STC-04-phase-body-2">
            <a:extLst xmlns:a="http://schemas.openxmlformats.org/drawingml/2006/main">
              <a:ext uri="{FF2B5EF4-FFF2-40B4-BE49-F238E27FC236}">
                <a16:creationId xmlns:a16="http://schemas.microsoft.com/office/drawing/2014/main" id="{5BF3497A-374B-4090-AF18-46EDBA191D7C}"/>
              </a:ext>
            </a:extLst>
          </p:cNvPr>
          <p:cNvSpPr>
            <a:spLocks xmlns:a="http://schemas.openxmlformats.org/drawingml/2006/main" noGrp="1"/>
          </p:cNvSpPr>
          <p:nvPr/>
        </p:nvSpPr>
        <p:spPr>
          <a:xfrm xmlns:a="http://schemas.openxmlformats.org/drawingml/2006/main">
            <a:off x="6419088"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버림 · 원 문맥을</a:t>
            </a:r>
            <a:endParaRPr sz="1800"/>
          </a:p>
          <a:p xmlns:a="http://schemas.openxmlformats.org/drawingml/2006/main">
            <a:pPr marL="0" indent="0">
              <a:buNone/>
            </a:pPr>
            <a:r>
              <a:rPr sz="1800">
                <a:solidFill>
                  <a:srgbClr val="17191C"/>
                </a:solidFill>
                <a:latin typeface="Noto Sans CJK KR"/>
                <a:ea typeface="Noto Sans CJK KR"/>
                <a:cs typeface="Noto Sans CJK KR"/>
              </a:rPr>
              <a:t>실제로 버릴 수 있다</a:t>
            </a:r>
            <a:endParaRPr sz="1800"/>
          </a:p>
        </p:txBody>
      </p:sp>
      <p:sp>
        <p:nvSpPr>
          <p:cNvPr id="25" name="STC-04-phase-arrow-2">
            <a:extLst xmlns:a="http://schemas.openxmlformats.org/drawingml/2006/main">
              <a:ext uri="{FF2B5EF4-FFF2-40B4-BE49-F238E27FC236}">
                <a16:creationId xmlns:a16="http://schemas.microsoft.com/office/drawing/2014/main" id="{4E7BA787-51DD-48C2-90C7-E4BC25DA526D}"/>
              </a:ext>
            </a:extLst>
          </p:cNvPr>
          <p:cNvSpPr>
            <a:spLocks xmlns:a="http://schemas.openxmlformats.org/drawingml/2006/main" noGrp="1"/>
          </p:cNvSpPr>
          <p:nvPr/>
        </p:nvSpPr>
        <p:spPr>
          <a:xfrm xmlns:a="http://schemas.openxmlformats.org/drawingml/2006/main">
            <a:off x="8613648"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04-phase-tag-3">
            <a:extLst xmlns:a="http://schemas.openxmlformats.org/drawingml/2006/main">
              <a:ext uri="{FF2B5EF4-FFF2-40B4-BE49-F238E27FC236}">
                <a16:creationId xmlns:a16="http://schemas.microsoft.com/office/drawing/2014/main" id="{3D317DA2-F326-4299-B8BF-54ACE3EE2AA9}"/>
              </a:ext>
            </a:extLst>
          </p:cNvPr>
          <p:cNvSpPr>
            <a:spLocks xmlns:a="http://schemas.openxmlformats.org/drawingml/2006/main" noGrp="1"/>
          </p:cNvSpPr>
          <p:nvPr/>
        </p:nvSpPr>
        <p:spPr>
          <a:xfrm xmlns:a="http://schemas.openxmlformats.org/drawingml/2006/main">
            <a:off x="9244584"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한계</a:t>
            </a:r>
            <a:endParaRPr sz="1200"/>
          </a:p>
        </p:txBody>
      </p:sp>
      <p:sp>
        <p:nvSpPr>
          <p:cNvPr id="27" name="STC-04-phase-ko-3">
            <a:extLst xmlns:a="http://schemas.openxmlformats.org/drawingml/2006/main">
              <a:ext uri="{FF2B5EF4-FFF2-40B4-BE49-F238E27FC236}">
                <a16:creationId xmlns:a16="http://schemas.microsoft.com/office/drawing/2014/main" id="{F5446ADD-A14C-416D-B2F4-1A4E119F4329}"/>
              </a:ext>
            </a:extLst>
          </p:cNvPr>
          <p:cNvSpPr>
            <a:spLocks xmlns:a="http://schemas.openxmlformats.org/drawingml/2006/main" noGrp="1"/>
          </p:cNvSpPr>
          <p:nvPr/>
        </p:nvSpPr>
        <p:spPr>
          <a:xfrm xmlns:a="http://schemas.openxmlformats.org/drawingml/2006/main">
            <a:off x="9244584"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휘발</a:t>
            </a:r>
            <a:endParaRPr sz="2300"/>
          </a:p>
        </p:txBody>
      </p:sp>
      <p:sp>
        <p:nvSpPr>
          <p:cNvPr id="28" name="STC-04-phase-rule-3">
            <a:extLst xmlns:a="http://schemas.openxmlformats.org/drawingml/2006/main">
              <a:ext uri="{FF2B5EF4-FFF2-40B4-BE49-F238E27FC236}">
                <a16:creationId xmlns:a16="http://schemas.microsoft.com/office/drawing/2014/main" id="{4455D656-930A-404D-BF54-7ED24B2942EA}"/>
              </a:ext>
            </a:extLst>
          </p:cNvPr>
          <p:cNvSpPr>
            <a:spLocks xmlns:a="http://schemas.openxmlformats.org/drawingml/2006/main" noGrp="1"/>
          </p:cNvSpPr>
          <p:nvPr/>
        </p:nvSpPr>
        <p:spPr>
          <a:xfrm xmlns:a="http://schemas.openxmlformats.org/drawingml/2006/main">
            <a:off x="9244584" y="2642616"/>
            <a:ext cx="2011680" cy="0"/>
          </a:xfrm>
          <a:prstGeom xmlns:a="http://schemas.openxmlformats.org/drawingml/2006/main" prst="line">
            <a:avLst/>
          </a:prstGeom>
          <a:noFill xmlns:a="http://schemas.openxmlformats.org/drawingml/2006/main"/>
          <a:ln xmlns:a="http://schemas.openxmlformats.org/drawingml/2006/main" w="50800">
            <a:solidFill>
              <a:srgbClr val="2F6B63"/>
            </a:solidFill>
            <a:prstDash val="solid"/>
            <a:tailEnd type="none"/>
          </a:ln>
        </p:spPr>
      </p:sp>
      <p:sp>
        <p:nvSpPr>
          <p:cNvPr id="29" name="STC-04-phase-body-3">
            <a:extLst xmlns:a="http://schemas.openxmlformats.org/drawingml/2006/main">
              <a:ext uri="{FF2B5EF4-FFF2-40B4-BE49-F238E27FC236}">
                <a16:creationId xmlns:a16="http://schemas.microsoft.com/office/drawing/2014/main" id="{FE89CD84-AEBE-4991-983F-DACD28BF3807}"/>
              </a:ext>
            </a:extLst>
          </p:cNvPr>
          <p:cNvSpPr>
            <a:spLocks xmlns:a="http://schemas.openxmlformats.org/drawingml/2006/main" noGrp="1"/>
          </p:cNvSpPr>
          <p:nvPr/>
        </p:nvSpPr>
        <p:spPr>
          <a:xfrm xmlns:a="http://schemas.openxmlformats.org/drawingml/2006/main">
            <a:off x="9244584"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휘발 · 상태가</a:t>
            </a:r>
            <a:endParaRPr sz="1800"/>
          </a:p>
          <a:p xmlns:a="http://schemas.openxmlformats.org/drawingml/2006/main">
            <a:pPr marL="0" indent="0">
              <a:buNone/>
            </a:pPr>
            <a:r>
              <a:rPr sz="1800">
                <a:solidFill>
                  <a:srgbClr val="17191C"/>
                </a:solidFill>
                <a:latin typeface="Noto Sans CJK KR"/>
                <a:ea typeface="Noto Sans CJK KR"/>
                <a:cs typeface="Noto Sans CJK KR"/>
              </a:rPr>
              <a:t>요청과 함께 죽는다</a:t>
            </a:r>
            <a:endParaRPr sz="1800"/>
          </a:p>
        </p:txBody>
      </p:sp>
      <p:sp>
        <p:nvSpPr>
          <p:cNvPr id="30" name="STC-04-phase-invariant">
            <a:extLst xmlns:a="http://schemas.openxmlformats.org/drawingml/2006/main">
              <a:ext uri="{FF2B5EF4-FFF2-40B4-BE49-F238E27FC236}">
                <a16:creationId xmlns:a16="http://schemas.microsoft.com/office/drawing/2014/main" id="{03288DCF-E840-4104-9A86-10724C88811D}"/>
              </a:ext>
            </a:extLst>
          </p:cNvPr>
          <p:cNvSpPr>
            <a:spLocks xmlns:a="http://schemas.openxmlformats.org/drawingml/2006/main" noGrp="1"/>
          </p:cNvSpPr>
          <p:nvPr/>
        </p:nvSpPr>
        <p:spPr>
          <a:xfrm xmlns:a="http://schemas.openxmlformats.org/drawingml/2006/main">
            <a:off x="1188720" y="4736592"/>
            <a:ext cx="9811512" cy="6035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31" name="STC-04-phase-invariant-text">
            <a:extLst xmlns:a="http://schemas.openxmlformats.org/drawingml/2006/main">
              <a:ext uri="{FF2B5EF4-FFF2-40B4-BE49-F238E27FC236}">
                <a16:creationId xmlns:a16="http://schemas.microsoft.com/office/drawing/2014/main" id="{F965FB3E-3D1D-4CF8-8579-F6405F044BA3}"/>
              </a:ext>
            </a:extLst>
          </p:cNvPr>
          <p:cNvSpPr>
            <a:spLocks xmlns:a="http://schemas.openxmlformats.org/drawingml/2006/main" noGrp="1"/>
          </p:cNvSpPr>
          <p:nvPr/>
        </p:nvSpPr>
        <p:spPr>
          <a:xfrm xmlns:a="http://schemas.openxmlformats.org/drawingml/2006/main">
            <a:off x="1435608" y="4919472"/>
            <a:ext cx="93268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회계상 가장 유리한 형태를 가진 경로인데 판별식 정면 통과가 한 편뿐이다</a:t>
            </a:r>
            <a:endParaRPr sz="1700"/>
          </a:p>
        </p:txBody>
      </p:sp>
    </p:spTree>
    <p:extLst>
      <p:ext uri="{BB962C8B-B14F-4D97-AF65-F5344CB8AC3E}">
        <p14:creationId xmlns:p14="http://schemas.microsoft.com/office/powerpoint/2010/main" val="37494492"/>
      </p:ext>
    </p:extLst>
  </p:cSld>
</p:sld>
</file>

<file path=ppt/slides/slide60.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7-section">
            <a:extLst xmlns:a="http://schemas.openxmlformats.org/drawingml/2006/main">
              <a:ext uri="{FF2B5EF4-FFF2-40B4-BE49-F238E27FC236}">
                <a16:creationId xmlns:a16="http://schemas.microsoft.com/office/drawing/2014/main" id="{92E4F8C4-5B7E-4BA3-B695-B6837EACCBA5}"/>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W-PATH</a:t>
            </a:r>
            <a:endParaRPr sz="950"/>
          </a:p>
        </p:txBody>
      </p:sp>
      <p:sp>
        <p:nvSpPr>
          <p:cNvPr id="3" name="STC-17-slide-id">
            <a:extLst xmlns:a="http://schemas.openxmlformats.org/drawingml/2006/main">
              <a:ext uri="{FF2B5EF4-FFF2-40B4-BE49-F238E27FC236}">
                <a16:creationId xmlns:a16="http://schemas.microsoft.com/office/drawing/2014/main" id="{90F0654A-6500-4A13-AE0F-92E29E9E7142}"/>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STC-060</a:t>
            </a:r>
            <a:endParaRPr sz="950"/>
          </a:p>
        </p:txBody>
      </p:sp>
      <p:sp>
        <p:nvSpPr>
          <p:cNvPr id="4" name="STC-17-headline">
            <a:extLst xmlns:a="http://schemas.openxmlformats.org/drawingml/2006/main">
              <a:ext uri="{FF2B5EF4-FFF2-40B4-BE49-F238E27FC236}">
                <a16:creationId xmlns:a16="http://schemas.microsoft.com/office/drawing/2014/main" id="{36BE495C-0276-48C5-8763-B49A07942DC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경첩 — Generative Adapter는 왜 Θ-경로가 아닌가</a:t>
            </a:r>
            <a:endParaRPr sz="3000"/>
          </a:p>
        </p:txBody>
      </p:sp>
      <p:sp>
        <p:nvSpPr>
          <p:cNvPr id="5" name="STC-17-status-label">
            <a:extLst xmlns:a="http://schemas.openxmlformats.org/drawingml/2006/main">
              <a:ext uri="{FF2B5EF4-FFF2-40B4-BE49-F238E27FC236}">
                <a16:creationId xmlns:a16="http://schemas.microsoft.com/office/drawing/2014/main" id="{3085FB04-162B-4BDC-9971-7067E8D465E9}"/>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9A442D"/>
                </a:solidFill>
                <a:latin typeface="Noto Sans Mono CJK KR"/>
                <a:ea typeface="Noto Sans Mono CJK KR"/>
                <a:cs typeface="Noto Sans Mono CJK KR"/>
              </a:rPr>
              <a:t>본서 판정</a:t>
            </a:r>
            <a:endParaRPr sz="1000"/>
          </a:p>
        </p:txBody>
      </p:sp>
      <p:sp>
        <p:nvSpPr>
          <p:cNvPr id="6" name="STC-17-status-rule">
            <a:extLst xmlns:a="http://schemas.openxmlformats.org/drawingml/2006/main">
              <a:ext uri="{FF2B5EF4-FFF2-40B4-BE49-F238E27FC236}">
                <a16:creationId xmlns:a16="http://schemas.microsoft.com/office/drawing/2014/main" id="{578ADC5E-51EB-404F-BC45-37C9D6CD7CD7}"/>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9A442D"/>
            </a:solidFill>
            <a:prstDash val="solid"/>
            <a:tailEnd type="none"/>
          </a:ln>
        </p:spPr>
      </p:sp>
      <p:sp>
        <p:nvSpPr>
          <p:cNvPr id="7" name="STC-17-footer-rule">
            <a:extLst xmlns:a="http://schemas.openxmlformats.org/drawingml/2006/main">
              <a:ext uri="{FF2B5EF4-FFF2-40B4-BE49-F238E27FC236}">
                <a16:creationId xmlns:a16="http://schemas.microsoft.com/office/drawing/2014/main" id="{E08768A2-4454-4B40-89F4-7D7CB0E43EDC}"/>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7-source-footer">
            <a:extLst xmlns:a="http://schemas.openxmlformats.org/drawingml/2006/main">
              <a:ext uri="{FF2B5EF4-FFF2-40B4-BE49-F238E27FC236}">
                <a16:creationId xmlns:a16="http://schemas.microsoft.com/office/drawing/2014/main" id="{AD1D9E5D-8963-4E36-885F-E265EF98368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ch16 · [Generative Adapter Eq. 3, 6, 8–9; §4.1, arXiv:2411.05877]</a:t>
            </a:r>
            <a:endParaRPr sz="850"/>
          </a:p>
        </p:txBody>
      </p:sp>
      <p:sp>
        <p:nvSpPr>
          <p:cNvPr id="9" name="STC-17-page-number">
            <a:extLst xmlns:a="http://schemas.openxmlformats.org/drawingml/2006/main">
              <a:ext uri="{FF2B5EF4-FFF2-40B4-BE49-F238E27FC236}">
                <a16:creationId xmlns:a16="http://schemas.microsoft.com/office/drawing/2014/main" id="{D9D3A1E4-D8BE-40ED-87D8-2EA53AA60732}"/>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60</a:t>
            </a:r>
            <a:endParaRPr sz="850"/>
          </a:p>
        </p:txBody>
      </p:sp>
      <p:sp>
        <p:nvSpPr>
          <p:cNvPr id="11" name="STC-17-scale-left-x">
            <a:extLst xmlns:a="http://schemas.openxmlformats.org/drawingml/2006/main">
              <a:ext uri="{FF2B5EF4-FFF2-40B4-BE49-F238E27FC236}">
                <a16:creationId xmlns:a16="http://schemas.microsoft.com/office/drawing/2014/main" id="{F38B9EA2-0669-4C35-A757-D44B42B288FA}"/>
              </a:ext>
            </a:extLst>
          </p:cNvPr>
          <p:cNvSpPr>
            <a:spLocks xmlns:a="http://schemas.openxmlformats.org/drawingml/2006/main" noGrp="1"/>
          </p:cNvSpPr>
          <p:nvPr/>
        </p:nvSpPr>
        <p:spPr>
          <a:xfrm xmlns:a="http://schemas.openxmlformats.org/drawingml/2006/main">
            <a:off x="1005840" y="5120640"/>
            <a:ext cx="425196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2" name="STC-17-scale-left-y">
            <a:extLst xmlns:a="http://schemas.openxmlformats.org/drawingml/2006/main">
              <a:ext uri="{FF2B5EF4-FFF2-40B4-BE49-F238E27FC236}">
                <a16:creationId xmlns:a16="http://schemas.microsoft.com/office/drawing/2014/main" id="{127EAC0F-7538-48D2-9845-E50816FBC5B6}"/>
              </a:ext>
            </a:extLst>
          </p:cNvPr>
          <p:cNvSpPr>
            <a:spLocks xmlns:a="http://schemas.openxmlformats.org/drawingml/2006/main" noGrp="1"/>
          </p:cNvSpPr>
          <p:nvPr/>
        </p:nvSpPr>
        <p:spPr>
          <a:xfrm xmlns:a="http://schemas.openxmlformats.org/drawingml/2006/main" flipH="0" flipV="1">
            <a:off x="1005840" y="1874520"/>
            <a:ext cx="0" cy="324612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3" name="STC-17-scale-left-xlabel">
            <a:extLst xmlns:a="http://schemas.openxmlformats.org/drawingml/2006/main">
              <a:ext uri="{FF2B5EF4-FFF2-40B4-BE49-F238E27FC236}">
                <a16:creationId xmlns:a16="http://schemas.microsoft.com/office/drawing/2014/main" id="{CC1A6B04-2FA6-4A11-9502-96D6C06C0406}"/>
              </a:ext>
            </a:extLst>
          </p:cNvPr>
          <p:cNvSpPr>
            <a:spLocks xmlns:a="http://schemas.openxmlformats.org/drawingml/2006/main" noGrp="1"/>
          </p:cNvSpPr>
          <p:nvPr/>
        </p:nvSpPr>
        <p:spPr>
          <a:xfrm xmlns:a="http://schemas.openxmlformats.org/drawingml/2006/main">
            <a:off x="3794760" y="5266944"/>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a:solidFill>
                  <a:srgbClr val="59616A"/>
                </a:solidFill>
                <a:latin typeface="Noto Sans CJK KR"/>
                <a:ea typeface="Noto Sans CJK KR"/>
                <a:cs typeface="Noto Sans CJK KR"/>
              </a:rPr>
              <a:t>chunk</a:t>
            </a:r>
            <a:endParaRPr sz="1100"/>
          </a:p>
        </p:txBody>
      </p:sp>
      <p:sp>
        <p:nvSpPr>
          <p:cNvPr id="14" name="STC-17-scale-left-ylabel">
            <a:extLst xmlns:a="http://schemas.openxmlformats.org/drawingml/2006/main">
              <a:ext uri="{FF2B5EF4-FFF2-40B4-BE49-F238E27FC236}">
                <a16:creationId xmlns:a16="http://schemas.microsoft.com/office/drawing/2014/main" id="{3FECF62E-F154-4266-9F86-FA8AD5DD6D5B}"/>
              </a:ext>
            </a:extLst>
          </p:cNvPr>
          <p:cNvSpPr>
            <a:spLocks xmlns:a="http://schemas.openxmlformats.org/drawingml/2006/main" noGrp="1"/>
          </p:cNvSpPr>
          <p:nvPr/>
        </p:nvSpPr>
        <p:spPr>
          <a:xfrm xmlns:a="http://schemas.openxmlformats.org/drawingml/2006/main" rot="16200000">
            <a:off x="594360" y="1764792"/>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9616A"/>
                </a:solidFill>
                <a:latin typeface="Noto Sans CJK KR"/>
                <a:ea typeface="Noto Sans CJK KR"/>
                <a:cs typeface="Noto Sans CJK KR"/>
              </a:rPr>
              <a:t>상태 S_t</a:t>
            </a:r>
            <a:endParaRPr sz="1100"/>
          </a:p>
        </p:txBody>
      </p:sp>
      <p:sp>
        <p:nvSpPr>
          <p:cNvPr id="15" name="STC-17-scale-external">
            <a:extLst xmlns:a="http://schemas.openxmlformats.org/drawingml/2006/main">
              <a:ext uri="{FF2B5EF4-FFF2-40B4-BE49-F238E27FC236}">
                <a16:creationId xmlns:a16="http://schemas.microsoft.com/office/drawing/2014/main" id="{2D86127B-2D39-4C68-9E49-E6517B6F9AD8}"/>
              </a:ext>
            </a:extLst>
          </p:cNvPr>
          <p:cNvSpPr>
            <a:spLocks xmlns:a="http://schemas.openxmlformats.org/drawingml/2006/main" noGrp="1"/>
          </p:cNvSpPr>
          <p:nvPr/>
        </p:nvSpPr>
        <p:spPr>
          <a:xfrm xmlns:a="http://schemas.openxmlformats.org/drawingml/2006/main" flipH="0" flipV="1">
            <a:off x="1188720" y="2606040"/>
            <a:ext cx="3520440" cy="1874520"/>
          </a:xfrm>
          <a:prstGeom xmlns:a="http://schemas.openxmlformats.org/drawingml/2006/main" prst="line">
            <a:avLst/>
          </a:prstGeom>
          <a:noFill xmlns:a="http://schemas.openxmlformats.org/drawingml/2006/main"/>
          <a:ln xmlns:a="http://schemas.openxmlformats.org/drawingml/2006/main" w="27940">
            <a:solidFill>
              <a:srgbClr val="244E8A"/>
            </a:solidFill>
            <a:prstDash val="solid"/>
            <a:tailEnd type="none"/>
          </a:ln>
        </p:spPr>
      </p:sp>
      <p:sp>
        <p:nvSpPr>
          <p:cNvPr id="16" name="STC-17-scale-parametric">
            <a:extLst xmlns:a="http://schemas.openxmlformats.org/drawingml/2006/main">
              <a:ext uri="{FF2B5EF4-FFF2-40B4-BE49-F238E27FC236}">
                <a16:creationId xmlns:a16="http://schemas.microsoft.com/office/drawing/2014/main" id="{DFC59353-7D50-4688-AA06-2224C35349DE}"/>
              </a:ext>
            </a:extLst>
          </p:cNvPr>
          <p:cNvSpPr>
            <a:spLocks xmlns:a="http://schemas.openxmlformats.org/drawingml/2006/main" noGrp="1"/>
          </p:cNvSpPr>
          <p:nvPr/>
        </p:nvSpPr>
        <p:spPr>
          <a:xfrm xmlns:a="http://schemas.openxmlformats.org/drawingml/2006/main">
            <a:off x="1188720" y="2514600"/>
            <a:ext cx="3520440" cy="1965960"/>
          </a:xfrm>
          <a:prstGeom xmlns:a="http://schemas.openxmlformats.org/drawingml/2006/main" prst="line">
            <a:avLst/>
          </a:prstGeom>
          <a:noFill xmlns:a="http://schemas.openxmlformats.org/drawingml/2006/main"/>
          <a:ln xmlns:a="http://schemas.openxmlformats.org/drawingml/2006/main" w="27940">
            <a:solidFill>
              <a:srgbClr val="9A442D"/>
            </a:solidFill>
            <a:prstDash val="solid"/>
            <a:tailEnd type="none"/>
          </a:ln>
        </p:spPr>
      </p:sp>
      <p:sp>
        <p:nvSpPr>
          <p:cNvPr id="17" name="STC-17-scale-cross">
            <a:extLst xmlns:a="http://schemas.openxmlformats.org/drawingml/2006/main">
              <a:ext uri="{FF2B5EF4-FFF2-40B4-BE49-F238E27FC236}">
                <a16:creationId xmlns:a16="http://schemas.microsoft.com/office/drawing/2014/main" id="{38C2475A-C01B-48D1-B5C2-52F03E134CC7}"/>
              </a:ext>
            </a:extLst>
          </p:cNvPr>
          <p:cNvSpPr>
            <a:spLocks xmlns:a="http://schemas.openxmlformats.org/drawingml/2006/main" noGrp="1"/>
          </p:cNvSpPr>
          <p:nvPr/>
        </p:nvSpPr>
        <p:spPr>
          <a:xfrm xmlns:a="http://schemas.openxmlformats.org/drawingml/2006/main">
            <a:off x="2971800" y="3438144"/>
            <a:ext cx="219456" cy="219456"/>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18" name="STC-17-scale-cross-label">
            <a:extLst xmlns:a="http://schemas.openxmlformats.org/drawingml/2006/main">
              <a:ext uri="{FF2B5EF4-FFF2-40B4-BE49-F238E27FC236}">
                <a16:creationId xmlns:a16="http://schemas.microsoft.com/office/drawing/2014/main" id="{5361373B-8A27-4C3F-BCAB-13880DD0432B}"/>
              </a:ext>
            </a:extLst>
          </p:cNvPr>
          <p:cNvSpPr>
            <a:spLocks xmlns:a="http://schemas.openxmlformats.org/drawingml/2006/main" noGrp="1"/>
          </p:cNvSpPr>
          <p:nvPr/>
        </p:nvSpPr>
        <p:spPr>
          <a:xfrm xmlns:a="http://schemas.openxmlformats.org/drawingml/2006/main">
            <a:off x="3200400" y="3209544"/>
            <a:ext cx="1600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7191C"/>
                </a:solidFill>
                <a:latin typeface="Noto Sans CJK KR"/>
                <a:ea typeface="Noto Sans CJK KR"/>
                <a:cs typeface="Noto Sans CJK KR"/>
              </a:rPr>
              <a:t>wake 시계</a:t>
            </a:r>
            <a:endParaRPr sz="1300"/>
          </a:p>
        </p:txBody>
      </p:sp>
      <p:sp>
        <p:nvSpPr>
          <p:cNvPr id="19" name="STC-17-scale-external-label">
            <a:extLst xmlns:a="http://schemas.openxmlformats.org/drawingml/2006/main">
              <a:ext uri="{FF2B5EF4-FFF2-40B4-BE49-F238E27FC236}">
                <a16:creationId xmlns:a16="http://schemas.microsoft.com/office/drawing/2014/main" id="{5A0E898B-D650-4683-929F-FC5564799CA5}"/>
              </a:ext>
            </a:extLst>
          </p:cNvPr>
          <p:cNvSpPr>
            <a:spLocks xmlns:a="http://schemas.openxmlformats.org/drawingml/2006/main" noGrp="1"/>
          </p:cNvSpPr>
          <p:nvPr/>
        </p:nvSpPr>
        <p:spPr>
          <a:xfrm xmlns:a="http://schemas.openxmlformats.org/drawingml/2006/main">
            <a:off x="1554480" y="4096512"/>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244E8A"/>
                </a:solidFill>
                <a:latin typeface="Noto Sans CJK KR"/>
                <a:ea typeface="Noto Sans CJK KR"/>
                <a:cs typeface="Noto Sans CJK KR"/>
              </a:rPr>
              <a:t>산출물</a:t>
            </a:r>
            <a:endParaRPr sz="1200"/>
          </a:p>
        </p:txBody>
      </p:sp>
      <p:sp>
        <p:nvSpPr>
          <p:cNvPr id="20" name="STC-17-scale-parametric-label">
            <a:extLst xmlns:a="http://schemas.openxmlformats.org/drawingml/2006/main">
              <a:ext uri="{FF2B5EF4-FFF2-40B4-BE49-F238E27FC236}">
                <a16:creationId xmlns:a16="http://schemas.microsoft.com/office/drawing/2014/main" id="{9314D827-DE51-4522-BD7E-BDF397FFDFC8}"/>
              </a:ext>
            </a:extLst>
          </p:cNvPr>
          <p:cNvSpPr>
            <a:spLocks xmlns:a="http://schemas.openxmlformats.org/drawingml/2006/main" noGrp="1"/>
          </p:cNvSpPr>
          <p:nvPr/>
        </p:nvSpPr>
        <p:spPr>
          <a:xfrm xmlns:a="http://schemas.openxmlformats.org/drawingml/2006/main">
            <a:off x="3986784" y="4114800"/>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9A442D"/>
                </a:solidFill>
                <a:latin typeface="Noto Sans CJK KR"/>
                <a:ea typeface="Noto Sans CJK KR"/>
                <a:cs typeface="Noto Sans CJK KR"/>
              </a:rPr>
              <a:t>0</a:t>
            </a:r>
            <a:endParaRPr sz="1200"/>
          </a:p>
        </p:txBody>
      </p:sp>
      <p:sp>
        <p:nvSpPr>
          <p:cNvPr id="21" name="STC-17-scale-divider">
            <a:extLst xmlns:a="http://schemas.openxmlformats.org/drawingml/2006/main">
              <a:ext uri="{FF2B5EF4-FFF2-40B4-BE49-F238E27FC236}">
                <a16:creationId xmlns:a16="http://schemas.microsoft.com/office/drawing/2014/main" id="{EED8261B-448F-4417-9C3F-674EDAAAD962}"/>
              </a:ext>
            </a:extLst>
          </p:cNvPr>
          <p:cNvSpPr>
            <a:spLocks xmlns:a="http://schemas.openxmlformats.org/drawingml/2006/main" noGrp="1"/>
          </p:cNvSpPr>
          <p:nvPr/>
        </p:nvSpPr>
        <p:spPr>
          <a:xfrm xmlns:a="http://schemas.openxmlformats.org/drawingml/2006/main">
            <a:off x="5989320" y="1755648"/>
            <a:ext cx="0" cy="3886200"/>
          </a:xfrm>
          <a:prstGeom xmlns:a="http://schemas.openxmlformats.org/drawingml/2006/main" prst="line">
            <a:avLst/>
          </a:prstGeom>
          <a:noFill xmlns:a="http://schemas.openxmlformats.org/drawingml/2006/main"/>
          <a:ln xmlns:a="http://schemas.openxmlformats.org/drawingml/2006/main" w="15240">
            <a:solidFill>
              <a:srgbClr val="C9C4B8"/>
            </a:solidFill>
            <a:prstDash val="solid"/>
            <a:tailEnd type="none"/>
          </a:ln>
        </p:spPr>
      </p:sp>
      <p:sp>
        <p:nvSpPr>
          <p:cNvPr id="22" name="STC-17-atlas-label-0">
            <a:extLst xmlns:a="http://schemas.openxmlformats.org/drawingml/2006/main">
              <a:ext uri="{FF2B5EF4-FFF2-40B4-BE49-F238E27FC236}">
                <a16:creationId xmlns:a16="http://schemas.microsoft.com/office/drawing/2014/main" id="{38500024-C3E5-449E-9177-C70AC65318D7}"/>
              </a:ext>
            </a:extLst>
          </p:cNvPr>
          <p:cNvSpPr>
            <a:spLocks xmlns:a="http://schemas.openxmlformats.org/drawingml/2006/main" noGrp="1"/>
          </p:cNvSpPr>
          <p:nvPr/>
        </p:nvSpPr>
        <p:spPr>
          <a:xfrm xmlns:a="http://schemas.openxmlformats.org/drawingml/2006/main">
            <a:off x="6473952" y="1709928"/>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산출물</a:t>
            </a:r>
            <a:endParaRPr sz="1050"/>
          </a:p>
        </p:txBody>
      </p:sp>
      <p:sp>
        <p:nvSpPr>
          <p:cNvPr id="23" name="STC-17-atlas-rule-0">
            <a:extLst xmlns:a="http://schemas.openxmlformats.org/drawingml/2006/main">
              <a:ext uri="{FF2B5EF4-FFF2-40B4-BE49-F238E27FC236}">
                <a16:creationId xmlns:a16="http://schemas.microsoft.com/office/drawing/2014/main" id="{740662E4-4426-481A-AD86-7B8414E58A82}"/>
              </a:ext>
            </a:extLst>
          </p:cNvPr>
          <p:cNvSpPr>
            <a:spLocks xmlns:a="http://schemas.openxmlformats.org/drawingml/2006/main" noGrp="1"/>
          </p:cNvSpPr>
          <p:nvPr/>
        </p:nvSpPr>
        <p:spPr>
          <a:xfrm xmlns:a="http://schemas.openxmlformats.org/drawingml/2006/main">
            <a:off x="8284464" y="1819656"/>
            <a:ext cx="502920" cy="0"/>
          </a:xfrm>
          <a:prstGeom xmlns:a="http://schemas.openxmlformats.org/drawingml/2006/main" prst="line">
            <a:avLst/>
          </a:prstGeom>
          <a:noFill xmlns:a="http://schemas.openxmlformats.org/drawingml/2006/main"/>
          <a:ln xmlns:a="http://schemas.openxmlformats.org/drawingml/2006/main" w="38100">
            <a:solidFill>
              <a:srgbClr val="9A442D"/>
            </a:solidFill>
            <a:prstDash val="solid"/>
            <a:tailEnd type="none"/>
          </a:ln>
        </p:spPr>
      </p:sp>
      <p:sp>
        <p:nvSpPr>
          <p:cNvPr id="24" name="STC-17-atlas-body-0">
            <a:extLst xmlns:a="http://schemas.openxmlformats.org/drawingml/2006/main">
              <a:ext uri="{FF2B5EF4-FFF2-40B4-BE49-F238E27FC236}">
                <a16:creationId xmlns:a16="http://schemas.microsoft.com/office/drawing/2014/main" id="{1B446C46-BC66-41F9-B60B-A7B63A5C03DC}"/>
              </a:ext>
            </a:extLst>
          </p:cNvPr>
          <p:cNvSpPr>
            <a:spLocks xmlns:a="http://schemas.openxmlformats.org/drawingml/2006/main" noGrp="1"/>
          </p:cNvSpPr>
          <p:nvPr/>
        </p:nvSpPr>
        <p:spPr>
          <a:xfrm xmlns:a="http://schemas.openxmlformats.org/drawingml/2006/main">
            <a:off x="8979408" y="1682496"/>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LoRA. 논문이 그 형태를 명시적으로 유도</a:t>
            </a:r>
            <a:endParaRPr sz="1550"/>
          </a:p>
        </p:txBody>
      </p:sp>
      <p:sp>
        <p:nvSpPr>
          <p:cNvPr id="25" name="STC-17-atlas-label-1">
            <a:extLst xmlns:a="http://schemas.openxmlformats.org/drawingml/2006/main">
              <a:ext uri="{FF2B5EF4-FFF2-40B4-BE49-F238E27FC236}">
                <a16:creationId xmlns:a16="http://schemas.microsoft.com/office/drawing/2014/main" id="{A1AD9682-CB19-4CC3-B24A-465331B8B9E9}"/>
              </a:ext>
            </a:extLst>
          </p:cNvPr>
          <p:cNvSpPr>
            <a:spLocks xmlns:a="http://schemas.openxmlformats.org/drawingml/2006/main" noGrp="1"/>
          </p:cNvSpPr>
          <p:nvPr/>
        </p:nvSpPr>
        <p:spPr>
          <a:xfrm xmlns:a="http://schemas.openxmlformats.org/drawingml/2006/main">
            <a:off x="6473952" y="2496312"/>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갱신식</a:t>
            </a:r>
            <a:endParaRPr sz="1050"/>
          </a:p>
        </p:txBody>
      </p:sp>
      <p:sp>
        <p:nvSpPr>
          <p:cNvPr id="26" name="STC-17-atlas-rule-1">
            <a:extLst xmlns:a="http://schemas.openxmlformats.org/drawingml/2006/main">
              <a:ext uri="{FF2B5EF4-FFF2-40B4-BE49-F238E27FC236}">
                <a16:creationId xmlns:a16="http://schemas.microsoft.com/office/drawing/2014/main" id="{9C753F1A-0E9B-4F34-8439-061056C7176A}"/>
              </a:ext>
            </a:extLst>
          </p:cNvPr>
          <p:cNvSpPr>
            <a:spLocks xmlns:a="http://schemas.openxmlformats.org/drawingml/2006/main" noGrp="1"/>
          </p:cNvSpPr>
          <p:nvPr/>
        </p:nvSpPr>
        <p:spPr>
          <a:xfrm xmlns:a="http://schemas.openxmlformats.org/drawingml/2006/main">
            <a:off x="8284464" y="2606040"/>
            <a:ext cx="502920" cy="0"/>
          </a:xfrm>
          <a:prstGeom xmlns:a="http://schemas.openxmlformats.org/drawingml/2006/main" prst="line">
            <a:avLst/>
          </a:prstGeom>
          <a:noFill xmlns:a="http://schemas.openxmlformats.org/drawingml/2006/main"/>
          <a:ln xmlns:a="http://schemas.openxmlformats.org/drawingml/2006/main" w="38100">
            <a:solidFill>
              <a:srgbClr val="244E8A"/>
            </a:solidFill>
            <a:prstDash val="solid"/>
            <a:tailEnd type="none"/>
          </a:ln>
        </p:spPr>
      </p:sp>
      <p:sp>
        <p:nvSpPr>
          <p:cNvPr id="27" name="STC-17-atlas-body-1">
            <a:extLst xmlns:a="http://schemas.openxmlformats.org/drawingml/2006/main">
              <a:ext uri="{FF2B5EF4-FFF2-40B4-BE49-F238E27FC236}">
                <a16:creationId xmlns:a16="http://schemas.microsoft.com/office/drawing/2014/main" id="{1A33A49B-1D5D-4C8F-8664-0C37F5C18102}"/>
              </a:ext>
            </a:extLst>
          </p:cNvPr>
          <p:cNvSpPr>
            <a:spLocks xmlns:a="http://schemas.openxmlformats.org/drawingml/2006/main" noGrp="1"/>
          </p:cNvSpPr>
          <p:nvPr/>
        </p:nvSpPr>
        <p:spPr>
          <a:xfrm xmlns:a="http://schemas.openxmlformats.org/drawingml/2006/main">
            <a:off x="8979408" y="2468880"/>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S_t=S_{t-1}+A₂HᵀHB₁ — (U-W) 변종</a:t>
            </a:r>
            <a:endParaRPr sz="1550"/>
          </a:p>
        </p:txBody>
      </p:sp>
      <p:sp>
        <p:nvSpPr>
          <p:cNvPr id="28" name="STC-17-atlas-label-2">
            <a:extLst xmlns:a="http://schemas.openxmlformats.org/drawingml/2006/main">
              <a:ext uri="{FF2B5EF4-FFF2-40B4-BE49-F238E27FC236}">
                <a16:creationId xmlns:a16="http://schemas.microsoft.com/office/drawing/2014/main" id="{4B5B8C07-BC12-46CD-813B-3AF219E12202}"/>
              </a:ext>
            </a:extLst>
          </p:cNvPr>
          <p:cNvSpPr>
            <a:spLocks xmlns:a="http://schemas.openxmlformats.org/drawingml/2006/main" noGrp="1"/>
          </p:cNvSpPr>
          <p:nvPr/>
        </p:nvSpPr>
        <p:spPr>
          <a:xfrm xmlns:a="http://schemas.openxmlformats.org/drawingml/2006/main">
            <a:off x="6473952" y="3282696"/>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빈 항 넷</a:t>
            </a:r>
            <a:endParaRPr sz="1050"/>
          </a:p>
        </p:txBody>
      </p:sp>
      <p:sp>
        <p:nvSpPr>
          <p:cNvPr id="29" name="STC-17-atlas-rule-2">
            <a:extLst xmlns:a="http://schemas.openxmlformats.org/drawingml/2006/main">
              <a:ext uri="{FF2B5EF4-FFF2-40B4-BE49-F238E27FC236}">
                <a16:creationId xmlns:a16="http://schemas.microsoft.com/office/drawing/2014/main" id="{5B2A6C3E-8059-4CE9-9C3B-70976103A271}"/>
              </a:ext>
            </a:extLst>
          </p:cNvPr>
          <p:cNvSpPr>
            <a:spLocks xmlns:a="http://schemas.openxmlformats.org/drawingml/2006/main" noGrp="1"/>
          </p:cNvSpPr>
          <p:nvPr/>
        </p:nvSpPr>
        <p:spPr>
          <a:xfrm xmlns:a="http://schemas.openxmlformats.org/drawingml/2006/main">
            <a:off x="8284464" y="3392424"/>
            <a:ext cx="502920" cy="0"/>
          </a:xfrm>
          <a:prstGeom xmlns:a="http://schemas.openxmlformats.org/drawingml/2006/main" prst="line">
            <a:avLst/>
          </a:prstGeom>
          <a:noFill xmlns:a="http://schemas.openxmlformats.org/drawingml/2006/main"/>
          <a:ln xmlns:a="http://schemas.openxmlformats.org/drawingml/2006/main" w="38100">
            <a:solidFill>
              <a:srgbClr val="2F6B63"/>
            </a:solidFill>
            <a:prstDash val="solid"/>
            <a:tailEnd type="none"/>
          </a:ln>
        </p:spPr>
      </p:sp>
      <p:sp>
        <p:nvSpPr>
          <p:cNvPr id="30" name="STC-17-atlas-body-2">
            <a:extLst xmlns:a="http://schemas.openxmlformats.org/drawingml/2006/main">
              <a:ext uri="{FF2B5EF4-FFF2-40B4-BE49-F238E27FC236}">
                <a16:creationId xmlns:a16="http://schemas.microsoft.com/office/drawing/2014/main" id="{ED8666E7-DF2A-4D85-9EB9-7BFAEFE25FBB}"/>
              </a:ext>
            </a:extLst>
          </p:cNvPr>
          <p:cNvSpPr>
            <a:spLocks xmlns:a="http://schemas.openxmlformats.org/drawingml/2006/main" noGrp="1"/>
          </p:cNvSpPr>
          <p:nvPr/>
        </p:nvSpPr>
        <p:spPr>
          <a:xfrm xmlns:a="http://schemas.openxmlformats.org/drawingml/2006/main">
            <a:off x="8979408" y="3255264"/>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α 없음, β≡1, η 없음, inner loss 없음</a:t>
            </a:r>
            <a:endParaRPr sz="1550"/>
          </a:p>
        </p:txBody>
      </p:sp>
      <p:sp>
        <p:nvSpPr>
          <p:cNvPr id="31" name="STC-17-atlas-label-3">
            <a:extLst xmlns:a="http://schemas.openxmlformats.org/drawingml/2006/main">
              <a:ext uri="{FF2B5EF4-FFF2-40B4-BE49-F238E27FC236}">
                <a16:creationId xmlns:a16="http://schemas.microsoft.com/office/drawing/2014/main" id="{C22D209C-8F5F-4D75-9BCF-C8C2E6E5DB33}"/>
              </a:ext>
            </a:extLst>
          </p:cNvPr>
          <p:cNvSpPr>
            <a:spLocks xmlns:a="http://schemas.openxmlformats.org/drawingml/2006/main" noGrp="1"/>
          </p:cNvSpPr>
          <p:nvPr/>
        </p:nvSpPr>
        <p:spPr>
          <a:xfrm xmlns:a="http://schemas.openxmlformats.org/drawingml/2006/main">
            <a:off x="6473952" y="4069080"/>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체크포인트</a:t>
            </a:r>
            <a:endParaRPr sz="1050"/>
          </a:p>
        </p:txBody>
      </p:sp>
      <p:sp>
        <p:nvSpPr>
          <p:cNvPr id="32" name="STC-17-atlas-rule-3">
            <a:extLst xmlns:a="http://schemas.openxmlformats.org/drawingml/2006/main">
              <a:ext uri="{FF2B5EF4-FFF2-40B4-BE49-F238E27FC236}">
                <a16:creationId xmlns:a16="http://schemas.microsoft.com/office/drawing/2014/main" id="{6413883D-F716-4E60-A3EA-294B9FF31579}"/>
              </a:ext>
            </a:extLst>
          </p:cNvPr>
          <p:cNvSpPr>
            <a:spLocks xmlns:a="http://schemas.openxmlformats.org/drawingml/2006/main" noGrp="1"/>
          </p:cNvSpPr>
          <p:nvPr/>
        </p:nvSpPr>
        <p:spPr>
          <a:xfrm xmlns:a="http://schemas.openxmlformats.org/drawingml/2006/main">
            <a:off x="8284464" y="4178808"/>
            <a:ext cx="502920" cy="0"/>
          </a:xfrm>
          <a:prstGeom xmlns:a="http://schemas.openxmlformats.org/drawingml/2006/main" prst="line">
            <a:avLst/>
          </a:prstGeom>
          <a:noFill xmlns:a="http://schemas.openxmlformats.org/drawingml/2006/main"/>
          <a:ln xmlns:a="http://schemas.openxmlformats.org/drawingml/2006/main" w="38100">
            <a:solidFill>
              <a:srgbClr val="9A442D"/>
            </a:solidFill>
            <a:prstDash val="solid"/>
            <a:tailEnd type="none"/>
          </a:ln>
        </p:spPr>
      </p:sp>
      <p:sp>
        <p:nvSpPr>
          <p:cNvPr id="33" name="STC-17-atlas-body-3">
            <a:extLst xmlns:a="http://schemas.openxmlformats.org/drawingml/2006/main">
              <a:ext uri="{FF2B5EF4-FFF2-40B4-BE49-F238E27FC236}">
                <a16:creationId xmlns:a16="http://schemas.microsoft.com/office/drawing/2014/main" id="{3690E37F-97C1-44E1-9B22-261955C76526}"/>
              </a:ext>
            </a:extLst>
          </p:cNvPr>
          <p:cNvSpPr>
            <a:spLocks xmlns:a="http://schemas.openxmlformats.org/drawingml/2006/main" noGrp="1"/>
          </p:cNvSpPr>
          <p:nvPr/>
        </p:nvSpPr>
        <p:spPr>
          <a:xfrm xmlns:a="http://schemas.openxmlformats.org/drawingml/2006/main">
            <a:off x="8979408" y="4041648"/>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이전과 바이트 단위로 같다</a:t>
            </a:r>
            <a:endParaRPr sz="1550"/>
          </a:p>
        </p:txBody>
      </p:sp>
      <p:sp>
        <p:nvSpPr>
          <p:cNvPr id="34" name="STC-17-atlas-label-4">
            <a:extLst xmlns:a="http://schemas.openxmlformats.org/drawingml/2006/main">
              <a:ext uri="{FF2B5EF4-FFF2-40B4-BE49-F238E27FC236}">
                <a16:creationId xmlns:a16="http://schemas.microsoft.com/office/drawing/2014/main" id="{4E09BD89-2B39-4380-8908-5D98AB0C13FF}"/>
              </a:ext>
            </a:extLst>
          </p:cNvPr>
          <p:cNvSpPr>
            <a:spLocks xmlns:a="http://schemas.openxmlformats.org/drawingml/2006/main" noGrp="1"/>
          </p:cNvSpPr>
          <p:nvPr/>
        </p:nvSpPr>
        <p:spPr>
          <a:xfrm xmlns:a="http://schemas.openxmlformats.org/drawingml/2006/main">
            <a:off x="6473952" y="4855464"/>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시계</a:t>
            </a:r>
            <a:endParaRPr sz="1050"/>
          </a:p>
        </p:txBody>
      </p:sp>
      <p:sp>
        <p:nvSpPr>
          <p:cNvPr id="35" name="STC-17-atlas-rule-4">
            <a:extLst xmlns:a="http://schemas.openxmlformats.org/drawingml/2006/main">
              <a:ext uri="{FF2B5EF4-FFF2-40B4-BE49-F238E27FC236}">
                <a16:creationId xmlns:a16="http://schemas.microsoft.com/office/drawing/2014/main" id="{6F85C4F8-DEE9-43E4-B953-A1AA93F5F878}"/>
              </a:ext>
            </a:extLst>
          </p:cNvPr>
          <p:cNvSpPr>
            <a:spLocks xmlns:a="http://schemas.openxmlformats.org/drawingml/2006/main" noGrp="1"/>
          </p:cNvSpPr>
          <p:nvPr/>
        </p:nvSpPr>
        <p:spPr>
          <a:xfrm xmlns:a="http://schemas.openxmlformats.org/drawingml/2006/main">
            <a:off x="8284464" y="4965192"/>
            <a:ext cx="502920" cy="0"/>
          </a:xfrm>
          <a:prstGeom xmlns:a="http://schemas.openxmlformats.org/drawingml/2006/main" prst="line">
            <a:avLst/>
          </a:prstGeom>
          <a:noFill xmlns:a="http://schemas.openxmlformats.org/drawingml/2006/main"/>
          <a:ln xmlns:a="http://schemas.openxmlformats.org/drawingml/2006/main" w="38100">
            <a:solidFill>
              <a:srgbClr val="59616A"/>
            </a:solidFill>
            <a:prstDash val="solid"/>
            <a:tailEnd type="none"/>
          </a:ln>
        </p:spPr>
      </p:sp>
      <p:sp>
        <p:nvSpPr>
          <p:cNvPr id="36" name="STC-17-atlas-body-4">
            <a:extLst xmlns:a="http://schemas.openxmlformats.org/drawingml/2006/main">
              <a:ext uri="{FF2B5EF4-FFF2-40B4-BE49-F238E27FC236}">
                <a16:creationId xmlns:a16="http://schemas.microsoft.com/office/drawing/2014/main" id="{E742DFC6-454B-4514-81D0-A19D043EF25B}"/>
              </a:ext>
            </a:extLst>
          </p:cNvPr>
          <p:cNvSpPr>
            <a:spLocks xmlns:a="http://schemas.openxmlformats.org/drawingml/2006/main" noGrp="1"/>
          </p:cNvSpPr>
          <p:nvPr/>
        </p:nvSpPr>
        <p:spPr>
          <a:xfrm xmlns:a="http://schemas.openxmlformats.org/drawingml/2006/main">
            <a:off x="8979408" y="4828032"/>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wake. 그 자리에서 접고 그 문맥에 답한다</a:t>
            </a:r>
            <a:endParaRPr sz="1550"/>
          </a:p>
        </p:txBody>
      </p:sp>
      <p:sp>
        <p:nvSpPr>
          <p:cNvPr id="37" name="STC-17-scale-nonresult">
            <a:extLst xmlns:a="http://schemas.openxmlformats.org/drawingml/2006/main">
              <a:ext uri="{FF2B5EF4-FFF2-40B4-BE49-F238E27FC236}">
                <a16:creationId xmlns:a16="http://schemas.microsoft.com/office/drawing/2014/main" id="{0DBC12A9-4F5B-4978-9410-2294970708B3}"/>
              </a:ext>
            </a:extLst>
          </p:cNvPr>
          <p:cNvSpPr>
            <a:spLocks xmlns:a="http://schemas.openxmlformats.org/drawingml/2006/main" noGrp="1"/>
          </p:cNvSpPr>
          <p:nvPr/>
        </p:nvSpPr>
        <p:spPr>
          <a:xfrm xmlns:a="http://schemas.openxmlformats.org/drawingml/2006/main">
            <a:off x="8183880" y="5715000"/>
            <a:ext cx="2971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b="1">
                <a:solidFill>
                  <a:srgbClr val="9A442D"/>
                </a:solidFill>
                <a:latin typeface="Noto Sans Mono CJK KR"/>
                <a:ea typeface="Noto Sans Mono CJK KR"/>
                <a:cs typeface="Noto Sans Mono CJK KR"/>
              </a:rPr>
              <a:t>산출물은 LoRA 모양이고 논문이 그 형태를 직접 유도하는데, 갱신식은 (U-W)이고 시계는 wake다</a:t>
            </a:r>
            <a:endParaRPr sz="1000"/>
          </a:p>
        </p:txBody>
      </p:sp>
    </p:spTree>
    <p:extLst>
      <p:ext uri="{BB962C8B-B14F-4D97-AF65-F5344CB8AC3E}">
        <p14:creationId xmlns:p14="http://schemas.microsoft.com/office/powerpoint/2010/main" val="814754748"/>
      </p:ext>
    </p:extLst>
  </p:cSld>
</p:sld>
</file>

<file path=ppt/slides/slide61.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2-section">
            <a:extLst xmlns:a="http://schemas.openxmlformats.org/drawingml/2006/main">
              <a:ext uri="{FF2B5EF4-FFF2-40B4-BE49-F238E27FC236}">
                <a16:creationId xmlns:a16="http://schemas.microsoft.com/office/drawing/2014/main" id="{B3AE04B8-8245-44A2-8AD4-9A767BB156F4}"/>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W-PATH</a:t>
            </a:r>
            <a:endParaRPr sz="950"/>
          </a:p>
        </p:txBody>
      </p:sp>
      <p:sp>
        <p:nvSpPr>
          <p:cNvPr id="3" name="STC-02-slide-id">
            <a:extLst xmlns:a="http://schemas.openxmlformats.org/drawingml/2006/main">
              <a:ext uri="{FF2B5EF4-FFF2-40B4-BE49-F238E27FC236}">
                <a16:creationId xmlns:a16="http://schemas.microsoft.com/office/drawing/2014/main" id="{BE855689-E691-4D5A-A176-FA0CC6C672AC}"/>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STC-061</a:t>
            </a:r>
            <a:endParaRPr sz="950"/>
          </a:p>
        </p:txBody>
      </p:sp>
      <p:sp>
        <p:nvSpPr>
          <p:cNvPr id="4" name="STC-02-headline">
            <a:extLst xmlns:a="http://schemas.openxmlformats.org/drawingml/2006/main">
              <a:ext uri="{FF2B5EF4-FFF2-40B4-BE49-F238E27FC236}">
                <a16:creationId xmlns:a16="http://schemas.microsoft.com/office/drawing/2014/main" id="{9F4BA35A-C084-4820-A869-3F58338107FA}"/>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모양으로 분류하면 세 판정이 동시에 틀린다</a:t>
            </a:r>
            <a:endParaRPr sz="3000"/>
          </a:p>
        </p:txBody>
      </p:sp>
      <p:sp>
        <p:nvSpPr>
          <p:cNvPr id="5" name="STC-02-status-label">
            <a:extLst xmlns:a="http://schemas.openxmlformats.org/drawingml/2006/main">
              <a:ext uri="{FF2B5EF4-FFF2-40B4-BE49-F238E27FC236}">
                <a16:creationId xmlns:a16="http://schemas.microsoft.com/office/drawing/2014/main" id="{1B872D46-D4B1-425B-A362-8822456881AC}"/>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본서 판정</a:t>
            </a:r>
            <a:endParaRPr sz="1000"/>
          </a:p>
        </p:txBody>
      </p:sp>
      <p:sp>
        <p:nvSpPr>
          <p:cNvPr id="6" name="STC-02-status-rule">
            <a:extLst xmlns:a="http://schemas.openxmlformats.org/drawingml/2006/main">
              <a:ext uri="{FF2B5EF4-FFF2-40B4-BE49-F238E27FC236}">
                <a16:creationId xmlns:a16="http://schemas.microsoft.com/office/drawing/2014/main" id="{AAA2BDB5-9AB1-43CC-81F2-726033A947FE}"/>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2-footer-rule">
            <a:extLst xmlns:a="http://schemas.openxmlformats.org/drawingml/2006/main">
              <a:ext uri="{FF2B5EF4-FFF2-40B4-BE49-F238E27FC236}">
                <a16:creationId xmlns:a16="http://schemas.microsoft.com/office/drawing/2014/main" id="{90EAC1C3-0B28-440F-82C3-430CFCB7A87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2-source-footer">
            <a:extLst xmlns:a="http://schemas.openxmlformats.org/drawingml/2006/main">
              <a:ext uri="{FF2B5EF4-FFF2-40B4-BE49-F238E27FC236}">
                <a16:creationId xmlns:a16="http://schemas.microsoft.com/office/drawing/2014/main" id="{793D87D7-D04F-48E5-B4E6-8B70035D63C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§11.4.5 [해설] · ch16 §16.4</a:t>
            </a:r>
            <a:endParaRPr sz="850"/>
          </a:p>
        </p:txBody>
      </p:sp>
      <p:sp>
        <p:nvSpPr>
          <p:cNvPr id="9" name="STC-02-page-number">
            <a:extLst xmlns:a="http://schemas.openxmlformats.org/drawingml/2006/main">
              <a:ext uri="{FF2B5EF4-FFF2-40B4-BE49-F238E27FC236}">
                <a16:creationId xmlns:a16="http://schemas.microsoft.com/office/drawing/2014/main" id="{9B82730B-5BA4-40C1-BB36-231F3E2F81B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61</a:t>
            </a:r>
            <a:endParaRPr sz="850"/>
          </a:p>
        </p:txBody>
      </p:sp>
      <p:sp>
        <p:nvSpPr>
          <p:cNvPr id="11" name="STC-02-when">
            <a:extLst xmlns:a="http://schemas.openxmlformats.org/drawingml/2006/main">
              <a:ext uri="{FF2B5EF4-FFF2-40B4-BE49-F238E27FC236}">
                <a16:creationId xmlns:a16="http://schemas.microsoft.com/office/drawing/2014/main" id="{16BCA9BF-B6CB-412C-9306-FDAB2AE1F9FD}"/>
              </a:ext>
            </a:extLst>
          </p:cNvPr>
          <p:cNvSpPr>
            <a:spLocks xmlns:a="http://schemas.openxmlformats.org/drawingml/2006/main" noGrp="1"/>
          </p:cNvSpPr>
          <p:nvPr/>
        </p:nvSpPr>
        <p:spPr>
          <a:xfrm xmlns:a="http://schemas.openxmlformats.org/drawingml/2006/main">
            <a:off x="731520" y="1673352"/>
            <a:ext cx="9601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44E8A"/>
                </a:solidFill>
                <a:latin typeface="Noto Serif CJK KR"/>
                <a:ea typeface="Noto Serif CJK KR"/>
                <a:cs typeface="Noto Serif CJK KR"/>
              </a:rPr>
              <a:t>GenAdapter</a:t>
            </a:r>
            <a:endParaRPr sz="2800"/>
          </a:p>
        </p:txBody>
      </p:sp>
      <p:sp>
        <p:nvSpPr>
          <p:cNvPr id="12" name="STC-02-what">
            <a:extLst xmlns:a="http://schemas.openxmlformats.org/drawingml/2006/main">
              <a:ext uri="{FF2B5EF4-FFF2-40B4-BE49-F238E27FC236}">
                <a16:creationId xmlns:a16="http://schemas.microsoft.com/office/drawing/2014/main" id="{4D549EF3-5805-4997-88E2-74654ACC4A4F}"/>
              </a:ext>
            </a:extLst>
          </p:cNvPr>
          <p:cNvSpPr>
            <a:spLocks xmlns:a="http://schemas.openxmlformats.org/drawingml/2006/main" noGrp="1"/>
          </p:cNvSpPr>
          <p:nvPr/>
        </p:nvSpPr>
        <p:spPr>
          <a:xfrm xmlns:a="http://schemas.openxmlformats.org/drawingml/2006/main">
            <a:off x="731520" y="2761488"/>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9A442D"/>
                </a:solidFill>
                <a:latin typeface="Noto Serif CJK KR"/>
                <a:ea typeface="Noto Serif CJK KR"/>
                <a:cs typeface="Noto Serif CJK KR"/>
              </a:rPr>
              <a:t>SCM</a:t>
            </a:r>
            <a:endParaRPr sz="2800"/>
          </a:p>
        </p:txBody>
      </p:sp>
      <p:sp>
        <p:nvSpPr>
          <p:cNvPr id="13" name="STC-02-where">
            <a:extLst xmlns:a="http://schemas.openxmlformats.org/drawingml/2006/main">
              <a:ext uri="{FF2B5EF4-FFF2-40B4-BE49-F238E27FC236}">
                <a16:creationId xmlns:a16="http://schemas.microsoft.com/office/drawing/2014/main" id="{F2ABEEFC-09C0-4ED9-A436-4F6FF445EF5A}"/>
              </a:ext>
            </a:extLst>
          </p:cNvPr>
          <p:cNvSpPr>
            <a:spLocks xmlns:a="http://schemas.openxmlformats.org/drawingml/2006/main" noGrp="1"/>
          </p:cNvSpPr>
          <p:nvPr/>
        </p:nvSpPr>
        <p:spPr>
          <a:xfrm xmlns:a="http://schemas.openxmlformats.org/drawingml/2006/main">
            <a:off x="731520" y="3849624"/>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F6B63"/>
                </a:solidFill>
                <a:latin typeface="Noto Serif CJK KR"/>
                <a:ea typeface="Noto Serif CJK KR"/>
                <a:cs typeface="Noto Serif CJK KR"/>
              </a:rPr>
              <a:t>MemCaching</a:t>
            </a:r>
            <a:endParaRPr sz="2800"/>
          </a:p>
        </p:txBody>
      </p:sp>
      <p:sp>
        <p:nvSpPr>
          <p:cNvPr id="14" name="STC-02-when-line">
            <a:extLst xmlns:a="http://schemas.openxmlformats.org/drawingml/2006/main">
              <a:ext uri="{FF2B5EF4-FFF2-40B4-BE49-F238E27FC236}">
                <a16:creationId xmlns:a16="http://schemas.microsoft.com/office/drawing/2014/main" id="{A0043737-4272-4C17-86C1-34866CB1C145}"/>
              </a:ext>
            </a:extLst>
          </p:cNvPr>
          <p:cNvSpPr>
            <a:spLocks xmlns:a="http://schemas.openxmlformats.org/drawingml/2006/main" noGrp="1"/>
          </p:cNvSpPr>
          <p:nvPr/>
        </p:nvSpPr>
        <p:spPr>
          <a:xfrm xmlns:a="http://schemas.openxmlformats.org/drawingml/2006/main">
            <a:off x="2148840" y="1865376"/>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5" name="STC-02-what-line">
            <a:extLst xmlns:a="http://schemas.openxmlformats.org/drawingml/2006/main">
              <a:ext uri="{FF2B5EF4-FFF2-40B4-BE49-F238E27FC236}">
                <a16:creationId xmlns:a16="http://schemas.microsoft.com/office/drawing/2014/main" id="{19984047-E359-40E7-B1A0-D045178C217D}"/>
              </a:ext>
            </a:extLst>
          </p:cNvPr>
          <p:cNvSpPr>
            <a:spLocks xmlns:a="http://schemas.openxmlformats.org/drawingml/2006/main" noGrp="1"/>
          </p:cNvSpPr>
          <p:nvPr/>
        </p:nvSpPr>
        <p:spPr>
          <a:xfrm xmlns:a="http://schemas.openxmlformats.org/drawingml/2006/main">
            <a:off x="2148840" y="2953512"/>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6" name="STC-02-where-line">
            <a:extLst xmlns:a="http://schemas.openxmlformats.org/drawingml/2006/main">
              <a:ext uri="{FF2B5EF4-FFF2-40B4-BE49-F238E27FC236}">
                <a16:creationId xmlns:a16="http://schemas.microsoft.com/office/drawing/2014/main" id="{AC3FBBFF-8861-47FA-A523-B7B08374B29E}"/>
              </a:ext>
            </a:extLst>
          </p:cNvPr>
          <p:cNvSpPr>
            <a:spLocks xmlns:a="http://schemas.openxmlformats.org/drawingml/2006/main" noGrp="1"/>
          </p:cNvSpPr>
          <p:nvPr/>
        </p:nvSpPr>
        <p:spPr>
          <a:xfrm xmlns:a="http://schemas.openxmlformats.org/drawingml/2006/main">
            <a:off x="2148840" y="4041648"/>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7" name="STC-02-when-answer">
            <a:extLst xmlns:a="http://schemas.openxmlformats.org/drawingml/2006/main">
              <a:ext uri="{FF2B5EF4-FFF2-40B4-BE49-F238E27FC236}">
                <a16:creationId xmlns:a16="http://schemas.microsoft.com/office/drawing/2014/main" id="{DE30F009-38B4-4744-A843-3338330F9296}"/>
              </a:ext>
            </a:extLst>
          </p:cNvPr>
          <p:cNvSpPr>
            <a:spLocks xmlns:a="http://schemas.openxmlformats.org/drawingml/2006/main" noGrp="1"/>
          </p:cNvSpPr>
          <p:nvPr/>
        </p:nvSpPr>
        <p:spPr>
          <a:xfrm xmlns:a="http://schemas.openxmlformats.org/drawingml/2006/main">
            <a:off x="2377440" y="1618488"/>
            <a:ext cx="7269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모양으로 보면 Θ, 실제로는 W이고 시계는 wake</a:t>
            </a:r>
            <a:endParaRPr sz="2100"/>
          </a:p>
        </p:txBody>
      </p:sp>
      <p:sp>
        <p:nvSpPr>
          <p:cNvPr id="18" name="STC-02-what-answer">
            <a:extLst xmlns:a="http://schemas.openxmlformats.org/drawingml/2006/main">
              <a:ext uri="{FF2B5EF4-FFF2-40B4-BE49-F238E27FC236}">
                <a16:creationId xmlns:a16="http://schemas.microsoft.com/office/drawing/2014/main" id="{31F10D90-9E59-4017-AAB6-C5184B790324}"/>
              </a:ext>
            </a:extLst>
          </p:cNvPr>
          <p:cNvSpPr>
            <a:spLocks xmlns:a="http://schemas.openxmlformats.org/drawingml/2006/main" noGrp="1"/>
          </p:cNvSpPr>
          <p:nvPr/>
        </p:nvSpPr>
        <p:spPr>
          <a:xfrm xmlns:a="http://schemas.openxmlformats.org/drawingml/2006/main">
            <a:off x="2377440" y="2706624"/>
            <a:ext cx="78638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제목으로 보면 Θ, 실제로는 E다</a:t>
            </a:r>
            <a:endParaRPr sz="2100"/>
          </a:p>
        </p:txBody>
      </p:sp>
      <p:sp>
        <p:nvSpPr>
          <p:cNvPr id="19" name="STC-02-where-answer">
            <a:extLst xmlns:a="http://schemas.openxmlformats.org/drawingml/2006/main">
              <a:ext uri="{FF2B5EF4-FFF2-40B4-BE49-F238E27FC236}">
                <a16:creationId xmlns:a16="http://schemas.microsoft.com/office/drawing/2014/main" id="{7B9DAECE-395E-4C23-8BFF-9AE8A0ABEE81}"/>
              </a:ext>
            </a:extLst>
          </p:cNvPr>
          <p:cNvSpPr>
            <a:spLocks xmlns:a="http://schemas.openxmlformats.org/drawingml/2006/main" noGrp="1"/>
          </p:cNvSpPr>
          <p:nvPr/>
        </p:nvSpPr>
        <p:spPr>
          <a:xfrm xmlns:a="http://schemas.openxmlformats.org/drawingml/2006/main">
            <a:off x="2377440" y="3794760"/>
            <a:ext cx="8458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문제의식으로 보면 이 범주, 실제로는 읽기 변경</a:t>
            </a:r>
            <a:endParaRPr sz="2100"/>
          </a:p>
        </p:txBody>
      </p:sp>
      <p:sp>
        <p:nvSpPr>
          <p:cNvPr id="20" name="STC-02-thesis-bar">
            <a:extLst xmlns:a="http://schemas.openxmlformats.org/drawingml/2006/main">
              <a:ext uri="{FF2B5EF4-FFF2-40B4-BE49-F238E27FC236}">
                <a16:creationId xmlns:a16="http://schemas.microsoft.com/office/drawing/2014/main" id="{307CCCCF-FC4F-496A-AFFE-4544A0437B9F}"/>
              </a:ext>
            </a:extLst>
          </p:cNvPr>
          <p:cNvSpPr>
            <a:spLocks xmlns:a="http://schemas.openxmlformats.org/drawingml/2006/main" noGrp="1"/>
          </p:cNvSpPr>
          <p:nvPr/>
        </p:nvSpPr>
        <p:spPr>
          <a:xfrm xmlns:a="http://schemas.openxmlformats.org/drawingml/2006/main">
            <a:off x="2359152" y="4791456"/>
            <a:ext cx="8174736" cy="731520"/>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02-thesis-bar-text">
            <a:extLst xmlns:a="http://schemas.openxmlformats.org/drawingml/2006/main">
              <a:ext uri="{FF2B5EF4-FFF2-40B4-BE49-F238E27FC236}">
                <a16:creationId xmlns:a16="http://schemas.microsoft.com/office/drawing/2014/main" id="{A739DA4E-B679-406F-8823-36B5720A9DC8}"/>
              </a:ext>
            </a:extLst>
          </p:cNvPr>
          <p:cNvSpPr>
            <a:spLocks xmlns:a="http://schemas.openxmlformats.org/drawingml/2006/main" noGrp="1"/>
          </p:cNvSpPr>
          <p:nvPr/>
        </p:nvSpPr>
        <p:spPr>
          <a:xfrm xmlns:a="http://schemas.openxmlformats.org/drawingml/2006/main">
            <a:off x="2606040" y="5001768"/>
            <a:ext cx="7680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900" b="1">
                <a:solidFill>
                  <a:srgbClr val="FFFFFF"/>
                </a:solidFill>
                <a:latin typeface="Noto Sans CJK KR"/>
                <a:ea typeface="Noto Sans CJK KR"/>
                <a:cs typeface="Noto Sans CJK KR"/>
              </a:rPr>
              <a:t>모양은 저장·전송·롤백 단위를 정하고, 시계와 갱신식이 경로를 정한다</a:t>
            </a:r>
            <a:endParaRPr sz="1900"/>
          </a:p>
        </p:txBody>
      </p:sp>
    </p:spTree>
    <p:extLst>
      <p:ext uri="{BB962C8B-B14F-4D97-AF65-F5344CB8AC3E}">
        <p14:creationId xmlns:p14="http://schemas.microsoft.com/office/powerpoint/2010/main" val="1716489855"/>
      </p:ext>
    </p:extLst>
  </p:cSld>
</p:sld>
</file>

<file path=ppt/slides/slide6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W-PATH</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STC-062</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`Do LMs Need Sleep?` — W-경로의 유일한 정면 사례</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확립</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ch17 · [Do LMs Need Sleep? Eq. 3; §3.1; §6.3, arXiv:2605.26099]</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62</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진단</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용량 아닌 계산</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기제</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chunk를 N번 누적</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정제</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특징 고정점 반복</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표기</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L과 T가 뒤바뀜</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식 불일치</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제시 ≠ 실행</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선언</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규칙은 무관</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논문이 보여 주는 식은</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논문이 돌린 식이 아니다</a:t>
            </a:r>
            <a:endParaRPr sz="1500"/>
          </a:p>
        </p:txBody>
      </p:sp>
    </p:spTree>
    <p:extLst>
      <p:ext uri="{BB962C8B-B14F-4D97-AF65-F5344CB8AC3E}">
        <p14:creationId xmlns:p14="http://schemas.microsoft.com/office/powerpoint/2010/main" val="931853972"/>
      </p:ext>
    </p:extLst>
  </p:cSld>
</p:sld>
</file>

<file path=ppt/slides/slide6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0-section">
            <a:extLst xmlns:a="http://schemas.openxmlformats.org/drawingml/2006/main">
              <a:ext uri="{FF2B5EF4-FFF2-40B4-BE49-F238E27FC236}">
                <a16:creationId xmlns:a16="http://schemas.microsoft.com/office/drawing/2014/main" id="{EF3FC378-6B44-4B49-B1BB-4667473BF88D}"/>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W-PATH</a:t>
            </a:r>
            <a:endParaRPr sz="950"/>
          </a:p>
        </p:txBody>
      </p:sp>
      <p:sp>
        <p:nvSpPr>
          <p:cNvPr id="3" name="STC-20-slide-id">
            <a:extLst xmlns:a="http://schemas.openxmlformats.org/drawingml/2006/main">
              <a:ext uri="{FF2B5EF4-FFF2-40B4-BE49-F238E27FC236}">
                <a16:creationId xmlns:a16="http://schemas.microsoft.com/office/drawing/2014/main" id="{CC20B574-D2C0-4046-9A1A-25ADE22F8D1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STC-063</a:t>
            </a:r>
            <a:endParaRPr sz="950"/>
          </a:p>
        </p:txBody>
      </p:sp>
      <p:sp>
        <p:nvSpPr>
          <p:cNvPr id="4" name="STC-20-headline">
            <a:extLst xmlns:a="http://schemas.openxmlformats.org/drawingml/2006/main">
              <a:ext uri="{FF2B5EF4-FFF2-40B4-BE49-F238E27FC236}">
                <a16:creationId xmlns:a16="http://schemas.microsoft.com/office/drawing/2014/main" id="{81422673-09A9-4801-94A9-13C70E66A3C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판별식 통과가 설정에 달려 있다</a:t>
            </a:r>
            <a:endParaRPr sz="3000"/>
          </a:p>
        </p:txBody>
      </p:sp>
      <p:sp>
        <p:nvSpPr>
          <p:cNvPr id="5" name="STC-20-status-label">
            <a:extLst xmlns:a="http://schemas.openxmlformats.org/drawingml/2006/main">
              <a:ext uri="{FF2B5EF4-FFF2-40B4-BE49-F238E27FC236}">
                <a16:creationId xmlns:a16="http://schemas.microsoft.com/office/drawing/2014/main" id="{14A8D44A-E47B-4BF7-8A5A-F78858804A15}"/>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본서 판정</a:t>
            </a:r>
            <a:endParaRPr sz="1000"/>
          </a:p>
        </p:txBody>
      </p:sp>
      <p:sp>
        <p:nvSpPr>
          <p:cNvPr id="6" name="STC-20-status-rule">
            <a:extLst xmlns:a="http://schemas.openxmlformats.org/drawingml/2006/main">
              <a:ext uri="{FF2B5EF4-FFF2-40B4-BE49-F238E27FC236}">
                <a16:creationId xmlns:a16="http://schemas.microsoft.com/office/drawing/2014/main" id="{9111AC13-7AC9-486F-A35E-14918CB2FAEA}"/>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20-footer-rule">
            <a:extLst xmlns:a="http://schemas.openxmlformats.org/drawingml/2006/main">
              <a:ext uri="{FF2B5EF4-FFF2-40B4-BE49-F238E27FC236}">
                <a16:creationId xmlns:a16="http://schemas.microsoft.com/office/drawing/2014/main" id="{99AB930A-93F8-4C3C-B1B2-60A6CD2FD70F}"/>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0-source-footer">
            <a:extLst xmlns:a="http://schemas.openxmlformats.org/drawingml/2006/main">
              <a:ext uri="{FF2B5EF4-FFF2-40B4-BE49-F238E27FC236}">
                <a16:creationId xmlns:a16="http://schemas.microsoft.com/office/drawing/2014/main" id="{ACA61175-AD4B-4248-BD6E-1C9E5F3D48A1}"/>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ch17 §17.4 · [Do LMs Need Sleep? Alg. 1]</a:t>
            </a:r>
            <a:endParaRPr sz="850"/>
          </a:p>
        </p:txBody>
      </p:sp>
      <p:sp>
        <p:nvSpPr>
          <p:cNvPr id="9" name="STC-20-page-number">
            <a:extLst xmlns:a="http://schemas.openxmlformats.org/drawingml/2006/main">
              <a:ext uri="{FF2B5EF4-FFF2-40B4-BE49-F238E27FC236}">
                <a16:creationId xmlns:a16="http://schemas.microsoft.com/office/drawing/2014/main" id="{BFF20DF2-5531-4220-9167-36B66397782A}"/>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63</a:t>
            </a:r>
            <a:endParaRPr sz="850"/>
          </a:p>
        </p:txBody>
      </p:sp>
      <p:sp>
        <p:nvSpPr>
          <p:cNvPr id="11" name="STC-20-infra-plane-0">
            <a:extLst xmlns:a="http://schemas.openxmlformats.org/drawingml/2006/main">
              <a:ext uri="{FF2B5EF4-FFF2-40B4-BE49-F238E27FC236}">
                <a16:creationId xmlns:a16="http://schemas.microsoft.com/office/drawing/2014/main" id="{C8220505-B492-4023-B70A-A2232E14F70E}"/>
              </a:ext>
            </a:extLst>
          </p:cNvPr>
          <p:cNvSpPr>
            <a:spLocks xmlns:a="http://schemas.openxmlformats.org/drawingml/2006/main" noGrp="1"/>
          </p:cNvSpPr>
          <p:nvPr/>
        </p:nvSpPr>
        <p:spPr>
          <a:xfrm xmlns:a="http://schemas.openxmlformats.org/drawingml/2006/main">
            <a:off x="749808" y="2633472"/>
            <a:ext cx="2514600" cy="2057400"/>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2" name="STC-20-infra-label-0">
            <a:extLst xmlns:a="http://schemas.openxmlformats.org/drawingml/2006/main">
              <a:ext uri="{FF2B5EF4-FFF2-40B4-BE49-F238E27FC236}">
                <a16:creationId xmlns:a16="http://schemas.microsoft.com/office/drawing/2014/main" id="{874AE9C7-25F3-4D96-A818-0C8E56EBC16F}"/>
              </a:ext>
            </a:extLst>
          </p:cNvPr>
          <p:cNvSpPr>
            <a:spLocks xmlns:a="http://schemas.openxmlformats.org/drawingml/2006/main" noGrp="1"/>
          </p:cNvSpPr>
          <p:nvPr/>
        </p:nvSpPr>
        <p:spPr>
          <a:xfrm xmlns:a="http://schemas.openxmlformats.org/drawingml/2006/main">
            <a:off x="932688"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244E8A"/>
                </a:solidFill>
                <a:latin typeface="Noto Sans Mono CJK KR"/>
                <a:ea typeface="Noto Sans Mono CJK KR"/>
                <a:cs typeface="Noto Sans Mono CJK KR"/>
              </a:rPr>
              <a:t>Depo 설정</a:t>
            </a:r>
            <a:endParaRPr sz="1150"/>
          </a:p>
        </p:txBody>
      </p:sp>
      <p:sp>
        <p:nvSpPr>
          <p:cNvPr id="13" name="STC-20-infra-body-0">
            <a:extLst xmlns:a="http://schemas.openxmlformats.org/drawingml/2006/main">
              <a:ext uri="{FF2B5EF4-FFF2-40B4-BE49-F238E27FC236}">
                <a16:creationId xmlns:a16="http://schemas.microsoft.com/office/drawing/2014/main" id="{EAA62413-4D3B-461E-A878-B0FEC894A515}"/>
              </a:ext>
            </a:extLst>
          </p:cNvPr>
          <p:cNvSpPr>
            <a:spLocks xmlns:a="http://schemas.openxmlformats.org/drawingml/2006/main" noGrp="1"/>
          </p:cNvSpPr>
          <p:nvPr/>
        </p:nvSpPr>
        <p:spPr>
          <a:xfrm xmlns:a="http://schemas.openxmlformats.org/drawingml/2006/main">
            <a:off x="978408"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consolidation이</a:t>
            </a:r>
            <a:endParaRPr sz="1800"/>
          </a:p>
          <a:p xmlns:a="http://schemas.openxmlformats.org/drawingml/2006/main">
            <a:pPr marL="0" indent="0" algn="ctr">
              <a:buNone/>
            </a:pPr>
            <a:r>
              <a:rPr sz="1800" b="1">
                <a:solidFill>
                  <a:srgbClr val="17191C"/>
                </a:solidFill>
                <a:latin typeface="Noto Sans CJK KR"/>
                <a:ea typeface="Noto Sans CJK KR"/>
                <a:cs typeface="Noto Sans CJK KR"/>
              </a:rPr>
              <a:t>질의보다 앞선다. N_q=10</a:t>
            </a:r>
            <a:endParaRPr sz="1800"/>
          </a:p>
        </p:txBody>
      </p:sp>
      <p:sp>
        <p:nvSpPr>
          <p:cNvPr id="14" name="STC-20-infra-arrow-0">
            <a:extLst xmlns:a="http://schemas.openxmlformats.org/drawingml/2006/main">
              <a:ext uri="{FF2B5EF4-FFF2-40B4-BE49-F238E27FC236}">
                <a16:creationId xmlns:a16="http://schemas.microsoft.com/office/drawing/2014/main" id="{B8F31725-8432-4D1D-9A1E-34BAF08A8290}"/>
              </a:ext>
            </a:extLst>
          </p:cNvPr>
          <p:cNvSpPr>
            <a:spLocks xmlns:a="http://schemas.openxmlformats.org/drawingml/2006/main" noGrp="1"/>
          </p:cNvSpPr>
          <p:nvPr/>
        </p:nvSpPr>
        <p:spPr>
          <a:xfrm xmlns:a="http://schemas.openxmlformats.org/drawingml/2006/main">
            <a:off x="3346704" y="3657600"/>
            <a:ext cx="530352"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5" name="STC-20-infra-plane-1">
            <a:extLst xmlns:a="http://schemas.openxmlformats.org/drawingml/2006/main">
              <a:ext uri="{FF2B5EF4-FFF2-40B4-BE49-F238E27FC236}">
                <a16:creationId xmlns:a16="http://schemas.microsoft.com/office/drawing/2014/main" id="{383116CD-3E34-4394-B8A0-C315F75F29F2}"/>
              </a:ext>
            </a:extLst>
          </p:cNvPr>
          <p:cNvSpPr>
            <a:spLocks xmlns:a="http://schemas.openxmlformats.org/drawingml/2006/main" noGrp="1"/>
          </p:cNvSpPr>
          <p:nvPr/>
        </p:nvSpPr>
        <p:spPr>
          <a:xfrm xmlns:a="http://schemas.openxmlformats.org/drawingml/2006/main">
            <a:off x="3977640" y="2633472"/>
            <a:ext cx="2514600" cy="2057400"/>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6" name="STC-20-infra-label-1">
            <a:extLst xmlns:a="http://schemas.openxmlformats.org/drawingml/2006/main">
              <a:ext uri="{FF2B5EF4-FFF2-40B4-BE49-F238E27FC236}">
                <a16:creationId xmlns:a16="http://schemas.microsoft.com/office/drawing/2014/main" id="{AB17AEA0-6CEA-4C76-B857-1E4165564301}"/>
              </a:ext>
            </a:extLst>
          </p:cNvPr>
          <p:cNvSpPr>
            <a:spLocks xmlns:a="http://schemas.openxmlformats.org/drawingml/2006/main" noGrp="1"/>
          </p:cNvSpPr>
          <p:nvPr/>
        </p:nvSpPr>
        <p:spPr>
          <a:xfrm xmlns:a="http://schemas.openxmlformats.org/drawingml/2006/main">
            <a:off x="4160520"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9A442D"/>
                </a:solidFill>
                <a:latin typeface="Noto Sans Mono CJK KR"/>
                <a:ea typeface="Noto Sans Mono CJK KR"/>
                <a:cs typeface="Noto Sans Mono CJK KR"/>
              </a:rPr>
              <a:t>GSM-Infinite</a:t>
            </a:r>
            <a:endParaRPr sz="1150"/>
          </a:p>
        </p:txBody>
      </p:sp>
      <p:sp>
        <p:nvSpPr>
          <p:cNvPr id="17" name="STC-20-infra-body-1">
            <a:extLst xmlns:a="http://schemas.openxmlformats.org/drawingml/2006/main">
              <a:ext uri="{FF2B5EF4-FFF2-40B4-BE49-F238E27FC236}">
                <a16:creationId xmlns:a16="http://schemas.microsoft.com/office/drawing/2014/main" id="{8BC9875E-56D1-4FE2-AFA5-6CD36FDD67BD}"/>
              </a:ext>
            </a:extLst>
          </p:cNvPr>
          <p:cNvSpPr>
            <a:spLocks xmlns:a="http://schemas.openxmlformats.org/drawingml/2006/main" noGrp="1"/>
          </p:cNvSpPr>
          <p:nvPr/>
        </p:nvSpPr>
        <p:spPr>
          <a:xfrm xmlns:a="http://schemas.openxmlformats.org/drawingml/2006/main">
            <a:off x="4206240"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질문이 문맥 앞.</a:t>
            </a:r>
            <a:endParaRPr sz="1800"/>
          </a:p>
          <a:p xmlns:a="http://schemas.openxmlformats.org/drawingml/2006/main">
            <a:pPr marL="0" indent="0" algn="ctr">
              <a:buNone/>
            </a:pPr>
            <a:r>
              <a:rPr sz="1800" b="1">
                <a:solidFill>
                  <a:srgbClr val="17191C"/>
                </a:solidFill>
                <a:latin typeface="Noto Sans CJK KR"/>
                <a:ea typeface="Noto Sans CJK KR"/>
                <a:cs typeface="Noto Sans CJK KR"/>
              </a:rPr>
              <a:t>consolidation이 질의 조건부</a:t>
            </a:r>
            <a:endParaRPr sz="1800"/>
          </a:p>
        </p:txBody>
      </p:sp>
      <p:sp>
        <p:nvSpPr>
          <p:cNvPr id="18" name="STC-20-infra-arrow-1">
            <a:extLst xmlns:a="http://schemas.openxmlformats.org/drawingml/2006/main">
              <a:ext uri="{FF2B5EF4-FFF2-40B4-BE49-F238E27FC236}">
                <a16:creationId xmlns:a16="http://schemas.microsoft.com/office/drawing/2014/main" id="{48A1470C-A87D-49C1-AD06-0A2A05BC7D9B}"/>
              </a:ext>
            </a:extLst>
          </p:cNvPr>
          <p:cNvSpPr>
            <a:spLocks xmlns:a="http://schemas.openxmlformats.org/drawingml/2006/main" noGrp="1"/>
          </p:cNvSpPr>
          <p:nvPr/>
        </p:nvSpPr>
        <p:spPr>
          <a:xfrm xmlns:a="http://schemas.openxmlformats.org/drawingml/2006/main">
            <a:off x="6574536" y="3657600"/>
            <a:ext cx="530352"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9" name="STC-20-infra-plane-2">
            <a:extLst xmlns:a="http://schemas.openxmlformats.org/drawingml/2006/main">
              <a:ext uri="{FF2B5EF4-FFF2-40B4-BE49-F238E27FC236}">
                <a16:creationId xmlns:a16="http://schemas.microsoft.com/office/drawing/2014/main" id="{56548C3C-0562-4527-B7A6-9AAEEE6E1179}"/>
              </a:ext>
            </a:extLst>
          </p:cNvPr>
          <p:cNvSpPr>
            <a:spLocks xmlns:a="http://schemas.openxmlformats.org/drawingml/2006/main" noGrp="1"/>
          </p:cNvSpPr>
          <p:nvPr/>
        </p:nvSpPr>
        <p:spPr>
          <a:xfrm xmlns:a="http://schemas.openxmlformats.org/drawingml/2006/main">
            <a:off x="7205472" y="2633472"/>
            <a:ext cx="2514600" cy="2057400"/>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20" name="STC-20-infra-label-2">
            <a:extLst xmlns:a="http://schemas.openxmlformats.org/drawingml/2006/main">
              <a:ext uri="{FF2B5EF4-FFF2-40B4-BE49-F238E27FC236}">
                <a16:creationId xmlns:a16="http://schemas.microsoft.com/office/drawing/2014/main" id="{7D68313E-B396-49BB-9026-C73B3F9CE439}"/>
              </a:ext>
            </a:extLst>
          </p:cNvPr>
          <p:cNvSpPr>
            <a:spLocks xmlns:a="http://schemas.openxmlformats.org/drawingml/2006/main" noGrp="1"/>
          </p:cNvSpPr>
          <p:nvPr/>
        </p:nvSpPr>
        <p:spPr>
          <a:xfrm xmlns:a="http://schemas.openxmlformats.org/drawingml/2006/main">
            <a:off x="7388352"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2F6B63"/>
                </a:solidFill>
                <a:latin typeface="Noto Sans Mono CJK KR"/>
                <a:ea typeface="Noto Sans Mono CJK KR"/>
                <a:cs typeface="Noto Sans Mono CJK KR"/>
              </a:rPr>
              <a:t>귀결</a:t>
            </a:r>
            <a:endParaRPr sz="1150"/>
          </a:p>
        </p:txBody>
      </p:sp>
      <p:sp>
        <p:nvSpPr>
          <p:cNvPr id="21" name="STC-20-infra-body-2">
            <a:extLst xmlns:a="http://schemas.openxmlformats.org/drawingml/2006/main">
              <a:ext uri="{FF2B5EF4-FFF2-40B4-BE49-F238E27FC236}">
                <a16:creationId xmlns:a16="http://schemas.microsoft.com/office/drawing/2014/main" id="{FA77EDB7-C1A2-4EE1-AB98-FF52014EEADC}"/>
              </a:ext>
            </a:extLst>
          </p:cNvPr>
          <p:cNvSpPr>
            <a:spLocks xmlns:a="http://schemas.openxmlformats.org/drawingml/2006/main" noGrp="1"/>
          </p:cNvSpPr>
          <p:nvPr/>
        </p:nvSpPr>
        <p:spPr>
          <a:xfrm xmlns:a="http://schemas.openxmlformats.org/drawingml/2006/main">
            <a:off x="7434072"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N_q=1이라 식</a:t>
            </a:r>
            <a:endParaRPr sz="1800"/>
          </a:p>
          <a:p xmlns:a="http://schemas.openxmlformats.org/drawingml/2006/main">
            <a:pPr marL="0" indent="0" algn="ctr">
              <a:buNone/>
            </a:pPr>
            <a:r>
              <a:rPr sz="1800" b="1">
                <a:solidFill>
                  <a:srgbClr val="17191C"/>
                </a:solidFill>
                <a:latin typeface="Noto Sans CJK KR"/>
                <a:ea typeface="Noto Sans CJK KR"/>
                <a:cs typeface="Noto Sans CJK KR"/>
              </a:rPr>
              <a:t>(A)가 합으로 붕괴한다</a:t>
            </a:r>
            <a:endParaRPr sz="1800"/>
          </a:p>
        </p:txBody>
      </p:sp>
      <p:sp>
        <p:nvSpPr>
          <p:cNvPr id="22" name="STC-20-infra-control">
            <a:extLst xmlns:a="http://schemas.openxmlformats.org/drawingml/2006/main">
              <a:ext uri="{FF2B5EF4-FFF2-40B4-BE49-F238E27FC236}">
                <a16:creationId xmlns:a16="http://schemas.microsoft.com/office/drawing/2014/main" id="{29BE5495-BD82-4477-88F7-D6AF498D154C}"/>
              </a:ext>
            </a:extLst>
          </p:cNvPr>
          <p:cNvSpPr>
            <a:spLocks xmlns:a="http://schemas.openxmlformats.org/drawingml/2006/main" noGrp="1"/>
          </p:cNvSpPr>
          <p:nvPr/>
        </p:nvSpPr>
        <p:spPr>
          <a:xfrm xmlns:a="http://schemas.openxmlformats.org/drawingml/2006/main">
            <a:off x="1481328" y="1435608"/>
            <a:ext cx="8183880" cy="65836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3" name="STC-20-infra-control-text">
            <a:extLst xmlns:a="http://schemas.openxmlformats.org/drawingml/2006/main">
              <a:ext uri="{FF2B5EF4-FFF2-40B4-BE49-F238E27FC236}">
                <a16:creationId xmlns:a16="http://schemas.microsoft.com/office/drawing/2014/main" id="{DD79965F-265D-40C2-AEAD-EB1FC8BA1267}"/>
              </a:ext>
            </a:extLst>
          </p:cNvPr>
          <p:cNvSpPr>
            <a:spLocks xmlns:a="http://schemas.openxmlformats.org/drawingml/2006/main" noGrp="1"/>
          </p:cNvSpPr>
          <p:nvPr/>
        </p:nvSpPr>
        <p:spPr>
          <a:xfrm xmlns:a="http://schemas.openxmlformats.org/drawingml/2006/main">
            <a:off x="1773936" y="1655064"/>
            <a:ext cx="76078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b="1">
                <a:solidFill>
                  <a:srgbClr val="FFFFFF"/>
                </a:solidFill>
                <a:latin typeface="Noto Sans Mono CJK KR"/>
                <a:ea typeface="Noto Sans Mono CJK KR"/>
                <a:cs typeface="Noto Sans Mono CJK KR"/>
              </a:rPr>
              <a:t>같은 논문의 두 설정 중 하나에서는 sleep-time compute이고 다른 하나에서는 아니다</a:t>
            </a:r>
            <a:endParaRPr sz="1250"/>
          </a:p>
        </p:txBody>
      </p:sp>
      <p:sp>
        <p:nvSpPr>
          <p:cNvPr id="24" name="STC-20-infra-control-wake">
            <a:extLst xmlns:a="http://schemas.openxmlformats.org/drawingml/2006/main">
              <a:ext uri="{FF2B5EF4-FFF2-40B4-BE49-F238E27FC236}">
                <a16:creationId xmlns:a16="http://schemas.microsoft.com/office/drawing/2014/main" id="{43E7917B-51C1-450C-A277-0741EFA35A12}"/>
              </a:ext>
            </a:extLst>
          </p:cNvPr>
          <p:cNvSpPr>
            <a:spLocks xmlns:a="http://schemas.openxmlformats.org/drawingml/2006/main" noGrp="1"/>
          </p:cNvSpPr>
          <p:nvPr/>
        </p:nvSpPr>
        <p:spPr>
          <a:xfrm xmlns:a="http://schemas.openxmlformats.org/drawingml/2006/main">
            <a:off x="2816352"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5" name="STC-20-infra-control-sleep">
            <a:extLst xmlns:a="http://schemas.openxmlformats.org/drawingml/2006/main">
              <a:ext uri="{FF2B5EF4-FFF2-40B4-BE49-F238E27FC236}">
                <a16:creationId xmlns:a16="http://schemas.microsoft.com/office/drawing/2014/main" id="{3A660823-14F6-4B6B-B118-257913111373}"/>
              </a:ext>
            </a:extLst>
          </p:cNvPr>
          <p:cNvSpPr>
            <a:spLocks xmlns:a="http://schemas.openxmlformats.org/drawingml/2006/main" noGrp="1"/>
          </p:cNvSpPr>
          <p:nvPr/>
        </p:nvSpPr>
        <p:spPr>
          <a:xfrm xmlns:a="http://schemas.openxmlformats.org/drawingml/2006/main">
            <a:off x="6044184"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20-infra-control-memory">
            <a:extLst xmlns:a="http://schemas.openxmlformats.org/drawingml/2006/main">
              <a:ext uri="{FF2B5EF4-FFF2-40B4-BE49-F238E27FC236}">
                <a16:creationId xmlns:a16="http://schemas.microsoft.com/office/drawing/2014/main" id="{C059216D-6C86-4256-B827-B6F048815B09}"/>
              </a:ext>
            </a:extLst>
          </p:cNvPr>
          <p:cNvSpPr>
            <a:spLocks xmlns:a="http://schemas.openxmlformats.org/drawingml/2006/main" noGrp="1"/>
          </p:cNvSpPr>
          <p:nvPr/>
        </p:nvSpPr>
        <p:spPr>
          <a:xfrm xmlns:a="http://schemas.openxmlformats.org/drawingml/2006/main">
            <a:off x="9272016"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7" name="STC-20-infra-ledger">
            <a:extLst xmlns:a="http://schemas.openxmlformats.org/drawingml/2006/main">
              <a:ext uri="{FF2B5EF4-FFF2-40B4-BE49-F238E27FC236}">
                <a16:creationId xmlns:a16="http://schemas.microsoft.com/office/drawing/2014/main" id="{FD304FC3-39EC-4FAD-A3A7-9CFE6AD014A3}"/>
              </a:ext>
            </a:extLst>
          </p:cNvPr>
          <p:cNvSpPr>
            <a:spLocks xmlns:a="http://schemas.openxmlformats.org/drawingml/2006/main" noGrp="1"/>
          </p:cNvSpPr>
          <p:nvPr/>
        </p:nvSpPr>
        <p:spPr>
          <a:xfrm xmlns:a="http://schemas.openxmlformats.org/drawingml/2006/main">
            <a:off x="10268712" y="1435608"/>
            <a:ext cx="941832" cy="325526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28" name="STC-20-infra-ledger-text">
            <a:extLst xmlns:a="http://schemas.openxmlformats.org/drawingml/2006/main">
              <a:ext uri="{FF2B5EF4-FFF2-40B4-BE49-F238E27FC236}">
                <a16:creationId xmlns:a16="http://schemas.microsoft.com/office/drawing/2014/main" id="{1F693BD4-3AF9-4EE0-8CB6-7A83368EE3F9}"/>
              </a:ext>
            </a:extLst>
          </p:cNvPr>
          <p:cNvSpPr>
            <a:spLocks xmlns:a="http://schemas.openxmlformats.org/drawingml/2006/main" noGrp="1"/>
          </p:cNvSpPr>
          <p:nvPr/>
        </p:nvSpPr>
        <p:spPr>
          <a:xfrm xmlns:a="http://schemas.openxmlformats.org/drawingml/2006/main" rot="16200000">
            <a:off x="10405872" y="2487168"/>
            <a:ext cx="66751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59616A"/>
                </a:solidFill>
                <a:latin typeface="Noto Sans Mono CJK KR"/>
                <a:ea typeface="Noto Sans Mono CJK KR"/>
                <a:cs typeface="Noto Sans Mono CJK KR"/>
              </a:rPr>
              <a:t>Depo</a:t>
            </a:r>
            <a:endParaRPr sz="1100"/>
          </a:p>
          <a:p xmlns:a="http://schemas.openxmlformats.org/drawingml/2006/main">
            <a:pPr marL="0" indent="0" algn="ctr">
              <a:buNone/>
            </a:pPr>
            <a:r>
              <a:rPr sz="1100" b="1">
                <a:solidFill>
                  <a:srgbClr val="59616A"/>
                </a:solidFill>
                <a:latin typeface="Noto Sans Mono CJK KR"/>
                <a:ea typeface="Noto Sans Mono CJK KR"/>
                <a:cs typeface="Noto Sans Mono CJK KR"/>
              </a:rPr>
              <a:t>설정</a:t>
            </a:r>
            <a:endParaRPr sz="1100"/>
          </a:p>
        </p:txBody>
      </p:sp>
      <p:sp>
        <p:nvSpPr>
          <p:cNvPr id="29" name="STC-20-infra-latency">
            <a:extLst xmlns:a="http://schemas.openxmlformats.org/drawingml/2006/main">
              <a:ext uri="{FF2B5EF4-FFF2-40B4-BE49-F238E27FC236}">
                <a16:creationId xmlns:a16="http://schemas.microsoft.com/office/drawing/2014/main" id="{3D41E0D1-4347-465C-AE68-23FB7C1267CF}"/>
              </a:ext>
            </a:extLst>
          </p:cNvPr>
          <p:cNvSpPr>
            <a:spLocks xmlns:a="http://schemas.openxmlformats.org/drawingml/2006/main" noGrp="1"/>
          </p:cNvSpPr>
          <p:nvPr/>
        </p:nvSpPr>
        <p:spPr>
          <a:xfrm xmlns:a="http://schemas.openxmlformats.org/drawingml/2006/main">
            <a:off x="868680"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244E8A"/>
                </a:solidFill>
                <a:latin typeface="Noto Sans CJK KR"/>
                <a:ea typeface="Noto Sans CJK KR"/>
                <a:cs typeface="Noto Sans CJK KR"/>
              </a:rPr>
              <a:t>N_q = 1</a:t>
            </a:r>
            <a:endParaRPr sz="1300"/>
          </a:p>
        </p:txBody>
      </p:sp>
      <p:sp>
        <p:nvSpPr>
          <p:cNvPr id="30" name="STC-20-infra-throughput">
            <a:extLst xmlns:a="http://schemas.openxmlformats.org/drawingml/2006/main">
              <a:ext uri="{FF2B5EF4-FFF2-40B4-BE49-F238E27FC236}">
                <a16:creationId xmlns:a16="http://schemas.microsoft.com/office/drawing/2014/main" id="{C8A7806F-FA6A-439E-9271-2F787EB29C92}"/>
              </a:ext>
            </a:extLst>
          </p:cNvPr>
          <p:cNvSpPr>
            <a:spLocks xmlns:a="http://schemas.openxmlformats.org/drawingml/2006/main" noGrp="1"/>
          </p:cNvSpPr>
          <p:nvPr/>
        </p:nvSpPr>
        <p:spPr>
          <a:xfrm xmlns:a="http://schemas.openxmlformats.org/drawingml/2006/main">
            <a:off x="4133088"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9A442D"/>
                </a:solidFill>
                <a:latin typeface="Noto Sans CJK KR"/>
                <a:ea typeface="Noto Sans CJK KR"/>
                <a:cs typeface="Noto Sans CJK KR"/>
              </a:rPr>
              <a:t>GSM-Infinite</a:t>
            </a:r>
            <a:endParaRPr sz="1300"/>
          </a:p>
        </p:txBody>
      </p:sp>
      <p:sp>
        <p:nvSpPr>
          <p:cNvPr id="31" name="STC-20-infra-tiered">
            <a:extLst xmlns:a="http://schemas.openxmlformats.org/drawingml/2006/main">
              <a:ext uri="{FF2B5EF4-FFF2-40B4-BE49-F238E27FC236}">
                <a16:creationId xmlns:a16="http://schemas.microsoft.com/office/drawing/2014/main" id="{EFFD8688-A736-46D2-AA52-97BFFC250E90}"/>
              </a:ext>
            </a:extLst>
          </p:cNvPr>
          <p:cNvSpPr>
            <a:spLocks xmlns:a="http://schemas.openxmlformats.org/drawingml/2006/main" noGrp="1"/>
          </p:cNvSpPr>
          <p:nvPr/>
        </p:nvSpPr>
        <p:spPr>
          <a:xfrm xmlns:a="http://schemas.openxmlformats.org/drawingml/2006/main">
            <a:off x="7333488"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2F6B63"/>
                </a:solidFill>
                <a:latin typeface="Noto Sans CJK KR"/>
                <a:ea typeface="Noto Sans CJK KR"/>
                <a:cs typeface="Noto Sans CJK KR"/>
              </a:rPr>
              <a:t>귀결</a:t>
            </a:r>
            <a:endParaRPr sz="1300"/>
          </a:p>
        </p:txBody>
      </p:sp>
    </p:spTree>
    <p:extLst>
      <p:ext uri="{BB962C8B-B14F-4D97-AF65-F5344CB8AC3E}">
        <p14:creationId xmlns:p14="http://schemas.microsoft.com/office/powerpoint/2010/main" val="1555086896"/>
      </p:ext>
    </p:extLst>
  </p:cSld>
</p:sld>
</file>

<file path=ppt/slides/slide6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3-section">
            <a:extLst xmlns:a="http://schemas.openxmlformats.org/drawingml/2006/main">
              <a:ext uri="{FF2B5EF4-FFF2-40B4-BE49-F238E27FC236}">
                <a16:creationId xmlns:a16="http://schemas.microsoft.com/office/drawing/2014/main" id="{DEF75E10-FC43-4F90-A29D-73D1CBC1DCC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W-PATH</a:t>
            </a:r>
            <a:endParaRPr sz="950"/>
          </a:p>
        </p:txBody>
      </p:sp>
      <p:sp>
        <p:nvSpPr>
          <p:cNvPr id="3" name="STC-13-slide-id">
            <a:extLst xmlns:a="http://schemas.openxmlformats.org/drawingml/2006/main">
              <a:ext uri="{FF2B5EF4-FFF2-40B4-BE49-F238E27FC236}">
                <a16:creationId xmlns:a16="http://schemas.microsoft.com/office/drawing/2014/main" id="{207357D7-4303-4447-A61C-4C79283F663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STC-064</a:t>
            </a:r>
            <a:endParaRPr sz="950"/>
          </a:p>
        </p:txBody>
      </p:sp>
      <p:sp>
        <p:nvSpPr>
          <p:cNvPr id="4" name="STC-13-headline">
            <a:extLst xmlns:a="http://schemas.openxmlformats.org/drawingml/2006/main">
              <a:ext uri="{FF2B5EF4-FFF2-40B4-BE49-F238E27FC236}">
                <a16:creationId xmlns:a16="http://schemas.microsoft.com/office/drawing/2014/main" id="{8E260E54-4985-4C50-817D-C85BDF65F5D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비용 4종 전부 부재, 그리고 계산량을 맞춘 baseline이 없다</a:t>
            </a:r>
            <a:endParaRPr sz="3000"/>
          </a:p>
        </p:txBody>
      </p:sp>
      <p:sp>
        <p:nvSpPr>
          <p:cNvPr id="5" name="STC-13-status-label">
            <a:extLst xmlns:a="http://schemas.openxmlformats.org/drawingml/2006/main">
              <a:ext uri="{FF2B5EF4-FFF2-40B4-BE49-F238E27FC236}">
                <a16:creationId xmlns:a16="http://schemas.microsoft.com/office/drawing/2014/main" id="{76CEFCAB-90F8-4FF1-91A9-495F4B23416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부재 확인</a:t>
            </a:r>
            <a:endParaRPr sz="1000"/>
          </a:p>
        </p:txBody>
      </p:sp>
      <p:sp>
        <p:nvSpPr>
          <p:cNvPr id="6" name="STC-13-status-rule">
            <a:extLst xmlns:a="http://schemas.openxmlformats.org/drawingml/2006/main">
              <a:ext uri="{FF2B5EF4-FFF2-40B4-BE49-F238E27FC236}">
                <a16:creationId xmlns:a16="http://schemas.microsoft.com/office/drawing/2014/main" id="{07360112-59F1-4B26-BA92-7088E3FD40C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13-footer-rule">
            <a:extLst xmlns:a="http://schemas.openxmlformats.org/drawingml/2006/main">
              <a:ext uri="{FF2B5EF4-FFF2-40B4-BE49-F238E27FC236}">
                <a16:creationId xmlns:a16="http://schemas.microsoft.com/office/drawing/2014/main" id="{26DC731C-F3A6-48D1-B411-9B2CD636969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3-source-footer">
            <a:extLst xmlns:a="http://schemas.openxmlformats.org/drawingml/2006/main">
              <a:ext uri="{FF2B5EF4-FFF2-40B4-BE49-F238E27FC236}">
                <a16:creationId xmlns:a16="http://schemas.microsoft.com/office/drawing/2014/main" id="{F8DE0C07-9BB3-4619-B392-5FCFC17ACBE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ch17 §17.5, §17.6</a:t>
            </a:r>
            <a:endParaRPr sz="850"/>
          </a:p>
        </p:txBody>
      </p:sp>
      <p:sp>
        <p:nvSpPr>
          <p:cNvPr id="9" name="STC-13-page-number">
            <a:extLst xmlns:a="http://schemas.openxmlformats.org/drawingml/2006/main">
              <a:ext uri="{FF2B5EF4-FFF2-40B4-BE49-F238E27FC236}">
                <a16:creationId xmlns:a16="http://schemas.microsoft.com/office/drawing/2014/main" id="{77A42865-7B64-4DDF-99E9-C4F94EB652F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64</a:t>
            </a:r>
            <a:endParaRPr sz="850"/>
          </a:p>
        </p:txBody>
      </p:sp>
      <p:sp>
        <p:nvSpPr>
          <p:cNvPr id="11" name="STC-13-data-layer-0">
            <a:extLst xmlns:a="http://schemas.openxmlformats.org/drawingml/2006/main">
              <a:ext uri="{FF2B5EF4-FFF2-40B4-BE49-F238E27FC236}">
                <a16:creationId xmlns:a16="http://schemas.microsoft.com/office/drawing/2014/main" id="{E5BBE619-AB19-42FA-8122-D61948B604E8}"/>
              </a:ext>
            </a:extLst>
          </p:cNvPr>
          <p:cNvSpPr>
            <a:spLocks xmlns:a="http://schemas.openxmlformats.org/drawingml/2006/main" noGrp="1"/>
          </p:cNvSpPr>
          <p:nvPr/>
        </p:nvSpPr>
        <p:spPr>
          <a:xfrm xmlns:a="http://schemas.openxmlformats.org/drawingml/2006/main">
            <a:off x="1618488" y="1664208"/>
            <a:ext cx="8961120" cy="56692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12" name="STC-13-data-label-0">
            <a:extLst xmlns:a="http://schemas.openxmlformats.org/drawingml/2006/main">
              <a:ext uri="{FF2B5EF4-FFF2-40B4-BE49-F238E27FC236}">
                <a16:creationId xmlns:a16="http://schemas.microsoft.com/office/drawing/2014/main" id="{FDF9C9BA-3329-45E9-ABC4-2B36508291DA}"/>
              </a:ext>
            </a:extLst>
          </p:cNvPr>
          <p:cNvSpPr>
            <a:spLocks xmlns:a="http://schemas.openxmlformats.org/drawingml/2006/main" noGrp="1"/>
          </p:cNvSpPr>
          <p:nvPr/>
        </p:nvSpPr>
        <p:spPr>
          <a:xfrm xmlns:a="http://schemas.openxmlformats.org/drawingml/2006/main">
            <a:off x="1783080" y="1828800"/>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FFFFFF"/>
                </a:solidFill>
                <a:latin typeface="Noto Sans Mono CJK KR"/>
                <a:ea typeface="Noto Sans Mono CJK KR"/>
                <a:cs typeface="Noto Sans Mono CJK KR"/>
              </a:rPr>
              <a:t>B_s</a:t>
            </a:r>
            <a:endParaRPr sz="1050"/>
          </a:p>
        </p:txBody>
      </p:sp>
      <p:sp>
        <p:nvSpPr>
          <p:cNvPr id="13" name="STC-13-data-body-0">
            <a:extLst xmlns:a="http://schemas.openxmlformats.org/drawingml/2006/main">
              <a:ext uri="{FF2B5EF4-FFF2-40B4-BE49-F238E27FC236}">
                <a16:creationId xmlns:a16="http://schemas.microsoft.com/office/drawing/2014/main" id="{34676F1F-A035-47A9-9C53-7C294D97CEF1}"/>
              </a:ext>
            </a:extLst>
          </p:cNvPr>
          <p:cNvSpPr>
            <a:spLocks xmlns:a="http://schemas.openxmlformats.org/drawingml/2006/main" noGrp="1"/>
          </p:cNvSpPr>
          <p:nvPr/>
        </p:nvSpPr>
        <p:spPr>
          <a:xfrm xmlns:a="http://schemas.openxmlformats.org/drawingml/2006/main">
            <a:off x="3401568" y="1755648"/>
            <a:ext cx="6995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FFFFFF"/>
                </a:solidFill>
                <a:latin typeface="Noto Sans CJK KR"/>
                <a:ea typeface="Noto Sans CJK KR"/>
                <a:cs typeface="Noto Sans CJK KR"/>
              </a:rPr>
              <a:t>구조로만 있다. 수치가 없다</a:t>
            </a:r>
            <a:endParaRPr sz="1450"/>
          </a:p>
        </p:txBody>
      </p:sp>
      <p:sp>
        <p:nvSpPr>
          <p:cNvPr id="14" name="STC-13-data-layer-1">
            <a:extLst xmlns:a="http://schemas.openxmlformats.org/drawingml/2006/main">
              <a:ext uri="{FF2B5EF4-FFF2-40B4-BE49-F238E27FC236}">
                <a16:creationId xmlns:a16="http://schemas.microsoft.com/office/drawing/2014/main" id="{2C7AD258-BAEB-4994-96A5-F1AB29FB68DF}"/>
              </a:ext>
            </a:extLst>
          </p:cNvPr>
          <p:cNvSpPr>
            <a:spLocks xmlns:a="http://schemas.openxmlformats.org/drawingml/2006/main" noGrp="1"/>
          </p:cNvSpPr>
          <p:nvPr/>
        </p:nvSpPr>
        <p:spPr>
          <a:xfrm xmlns:a="http://schemas.openxmlformats.org/drawingml/2006/main">
            <a:off x="2258568" y="2450592"/>
            <a:ext cx="7680960" cy="566928"/>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3-data-label-1">
            <a:extLst xmlns:a="http://schemas.openxmlformats.org/drawingml/2006/main">
              <a:ext uri="{FF2B5EF4-FFF2-40B4-BE49-F238E27FC236}">
                <a16:creationId xmlns:a16="http://schemas.microsoft.com/office/drawing/2014/main" id="{02CDF8C0-80BF-43B8-B0F1-3E7D91CAE3C2}"/>
              </a:ext>
            </a:extLst>
          </p:cNvPr>
          <p:cNvSpPr>
            <a:spLocks xmlns:a="http://schemas.openxmlformats.org/drawingml/2006/main" noGrp="1"/>
          </p:cNvSpPr>
          <p:nvPr/>
        </p:nvSpPr>
        <p:spPr>
          <a:xfrm xmlns:a="http://schemas.openxmlformats.org/drawingml/2006/main">
            <a:off x="2423160" y="2615184"/>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L_w</a:t>
            </a:r>
            <a:endParaRPr sz="1050"/>
          </a:p>
        </p:txBody>
      </p:sp>
      <p:sp>
        <p:nvSpPr>
          <p:cNvPr id="16" name="STC-13-data-body-1">
            <a:extLst xmlns:a="http://schemas.openxmlformats.org/drawingml/2006/main">
              <a:ext uri="{FF2B5EF4-FFF2-40B4-BE49-F238E27FC236}">
                <a16:creationId xmlns:a16="http://schemas.microsoft.com/office/drawing/2014/main" id="{BC62C31C-D212-42ED-AE30-842B56196CD1}"/>
              </a:ext>
            </a:extLst>
          </p:cNvPr>
          <p:cNvSpPr>
            <a:spLocks xmlns:a="http://schemas.openxmlformats.org/drawingml/2006/main" noGrp="1"/>
          </p:cNvSpPr>
          <p:nvPr/>
        </p:nvSpPr>
        <p:spPr>
          <a:xfrm xmlns:a="http://schemas.openxmlformats.org/drawingml/2006/main">
            <a:off x="4041648" y="2542032"/>
            <a:ext cx="5715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17191C"/>
                </a:solidFill>
                <a:latin typeface="Noto Sans CJK KR"/>
                <a:ea typeface="Noto Sans CJK KR"/>
                <a:cs typeface="Noto Sans CJK KR"/>
              </a:rPr>
              <a:t>아키텍처 보장이지 측정이 아니다</a:t>
            </a:r>
            <a:endParaRPr sz="1450"/>
          </a:p>
        </p:txBody>
      </p:sp>
      <p:sp>
        <p:nvSpPr>
          <p:cNvPr id="17" name="STC-13-data-layer-2">
            <a:extLst xmlns:a="http://schemas.openxmlformats.org/drawingml/2006/main">
              <a:ext uri="{FF2B5EF4-FFF2-40B4-BE49-F238E27FC236}">
                <a16:creationId xmlns:a16="http://schemas.microsoft.com/office/drawing/2014/main" id="{D6FAD0EE-091C-49BC-AC96-FF7C3FD7BF30}"/>
              </a:ext>
            </a:extLst>
          </p:cNvPr>
          <p:cNvSpPr>
            <a:spLocks xmlns:a="http://schemas.openxmlformats.org/drawingml/2006/main" noGrp="1"/>
          </p:cNvSpPr>
          <p:nvPr/>
        </p:nvSpPr>
        <p:spPr>
          <a:xfrm xmlns:a="http://schemas.openxmlformats.org/drawingml/2006/main">
            <a:off x="2898648" y="3236976"/>
            <a:ext cx="6400800" cy="566928"/>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8" name="STC-13-data-label-2">
            <a:extLst xmlns:a="http://schemas.openxmlformats.org/drawingml/2006/main">
              <a:ext uri="{FF2B5EF4-FFF2-40B4-BE49-F238E27FC236}">
                <a16:creationId xmlns:a16="http://schemas.microsoft.com/office/drawing/2014/main" id="{AA018C36-C849-429F-A2CB-A09888ED5181}"/>
              </a:ext>
            </a:extLst>
          </p:cNvPr>
          <p:cNvSpPr>
            <a:spLocks xmlns:a="http://schemas.openxmlformats.org/drawingml/2006/main" noGrp="1"/>
          </p:cNvSpPr>
          <p:nvPr/>
        </p:nvSpPr>
        <p:spPr>
          <a:xfrm xmlns:a="http://schemas.openxmlformats.org/drawingml/2006/main">
            <a:off x="3063240" y="3401568"/>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C_cap</a:t>
            </a:r>
            <a:endParaRPr sz="1050"/>
          </a:p>
        </p:txBody>
      </p:sp>
      <p:sp>
        <p:nvSpPr>
          <p:cNvPr id="19" name="STC-13-data-body-2">
            <a:extLst xmlns:a="http://schemas.openxmlformats.org/drawingml/2006/main">
              <a:ext uri="{FF2B5EF4-FFF2-40B4-BE49-F238E27FC236}">
                <a16:creationId xmlns:a16="http://schemas.microsoft.com/office/drawing/2014/main" id="{41815879-EDCF-477A-A120-7092A00F5988}"/>
              </a:ext>
            </a:extLst>
          </p:cNvPr>
          <p:cNvSpPr>
            <a:spLocks xmlns:a="http://schemas.openxmlformats.org/drawingml/2006/main" noGrp="1"/>
          </p:cNvSpPr>
          <p:nvPr/>
        </p:nvSpPr>
        <p:spPr>
          <a:xfrm xmlns:a="http://schemas.openxmlformats.org/drawingml/2006/main">
            <a:off x="4681728" y="3328416"/>
            <a:ext cx="4434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상태 차원·head 수·dtype이 없어 유도 불가</a:t>
            </a:r>
            <a:endParaRPr sz="1350"/>
          </a:p>
        </p:txBody>
      </p:sp>
      <p:sp>
        <p:nvSpPr>
          <p:cNvPr id="20" name="STC-13-data-layer-3">
            <a:extLst xmlns:a="http://schemas.openxmlformats.org/drawingml/2006/main">
              <a:ext uri="{FF2B5EF4-FFF2-40B4-BE49-F238E27FC236}">
                <a16:creationId xmlns:a16="http://schemas.microsoft.com/office/drawing/2014/main" id="{FBD0C7D7-10DE-463B-9217-97D247B03C72}"/>
              </a:ext>
            </a:extLst>
          </p:cNvPr>
          <p:cNvSpPr>
            <a:spLocks xmlns:a="http://schemas.openxmlformats.org/drawingml/2006/main" noGrp="1"/>
          </p:cNvSpPr>
          <p:nvPr/>
        </p:nvSpPr>
        <p:spPr>
          <a:xfrm xmlns:a="http://schemas.openxmlformats.org/drawingml/2006/main">
            <a:off x="3538728" y="4023360"/>
            <a:ext cx="5120640" cy="566928"/>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13-data-label-3">
            <a:extLst xmlns:a="http://schemas.openxmlformats.org/drawingml/2006/main">
              <a:ext uri="{FF2B5EF4-FFF2-40B4-BE49-F238E27FC236}">
                <a16:creationId xmlns:a16="http://schemas.microsoft.com/office/drawing/2014/main" id="{8DA5B66F-AB6C-424C-B38E-EC87549B7458}"/>
              </a:ext>
            </a:extLst>
          </p:cNvPr>
          <p:cNvSpPr>
            <a:spLocks xmlns:a="http://schemas.openxmlformats.org/drawingml/2006/main" noGrp="1"/>
          </p:cNvSpPr>
          <p:nvPr/>
        </p:nvSpPr>
        <p:spPr>
          <a:xfrm xmlns:a="http://schemas.openxmlformats.org/drawingml/2006/main">
            <a:off x="3703320" y="4187952"/>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ρ</a:t>
            </a:r>
            <a:endParaRPr sz="1050"/>
          </a:p>
        </p:txBody>
      </p:sp>
      <p:sp>
        <p:nvSpPr>
          <p:cNvPr id="22" name="STC-13-data-body-3">
            <a:extLst xmlns:a="http://schemas.openxmlformats.org/drawingml/2006/main">
              <a:ext uri="{FF2B5EF4-FFF2-40B4-BE49-F238E27FC236}">
                <a16:creationId xmlns:a16="http://schemas.microsoft.com/office/drawing/2014/main" id="{B07BDB02-D4B0-48AF-8A53-11814C8CDC53}"/>
              </a:ext>
            </a:extLst>
          </p:cNvPr>
          <p:cNvSpPr>
            <a:spLocks xmlns:a="http://schemas.openxmlformats.org/drawingml/2006/main" noGrp="1"/>
          </p:cNvSpPr>
          <p:nvPr/>
        </p:nvSpPr>
        <p:spPr>
          <a:xfrm xmlns:a="http://schemas.openxmlformats.org/drawingml/2006/main">
            <a:off x="5321808" y="41148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관측될 레짐에 논문이 들어가지 않는다</a:t>
            </a:r>
            <a:endParaRPr sz="1350"/>
          </a:p>
        </p:txBody>
      </p:sp>
      <p:sp>
        <p:nvSpPr>
          <p:cNvPr id="23" name="STC-13-data-layer-4">
            <a:extLst xmlns:a="http://schemas.openxmlformats.org/drawingml/2006/main">
              <a:ext uri="{FF2B5EF4-FFF2-40B4-BE49-F238E27FC236}">
                <a16:creationId xmlns:a16="http://schemas.microsoft.com/office/drawing/2014/main" id="{E60963C1-8D59-4CC2-B99B-C4EA44523D22}"/>
              </a:ext>
            </a:extLst>
          </p:cNvPr>
          <p:cNvSpPr>
            <a:spLocks xmlns:a="http://schemas.openxmlformats.org/drawingml/2006/main" noGrp="1"/>
          </p:cNvSpPr>
          <p:nvPr/>
        </p:nvSpPr>
        <p:spPr>
          <a:xfrm xmlns:a="http://schemas.openxmlformats.org/drawingml/2006/main">
            <a:off x="4178808" y="4809744"/>
            <a:ext cx="3840480" cy="566928"/>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24" name="STC-13-data-label-4">
            <a:extLst xmlns:a="http://schemas.openxmlformats.org/drawingml/2006/main">
              <a:ext uri="{FF2B5EF4-FFF2-40B4-BE49-F238E27FC236}">
                <a16:creationId xmlns:a16="http://schemas.microsoft.com/office/drawing/2014/main" id="{94E567B2-40CF-45FA-B9F9-A1B39A99C7FF}"/>
              </a:ext>
            </a:extLst>
          </p:cNvPr>
          <p:cNvSpPr>
            <a:spLocks xmlns:a="http://schemas.openxmlformats.org/drawingml/2006/main" noGrp="1"/>
          </p:cNvSpPr>
          <p:nvPr/>
        </p:nvSpPr>
        <p:spPr>
          <a:xfrm xmlns:a="http://schemas.openxmlformats.org/drawingml/2006/main">
            <a:off x="4343400" y="4974336"/>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대조군</a:t>
            </a:r>
            <a:endParaRPr sz="1050"/>
          </a:p>
        </p:txBody>
      </p:sp>
      <p:sp>
        <p:nvSpPr>
          <p:cNvPr id="25" name="STC-13-data-body-4">
            <a:extLst xmlns:a="http://schemas.openxmlformats.org/drawingml/2006/main">
              <a:ext uri="{FF2B5EF4-FFF2-40B4-BE49-F238E27FC236}">
                <a16:creationId xmlns:a16="http://schemas.microsoft.com/office/drawing/2014/main" id="{2C57AF49-F2CA-4C91-AE9F-A85EF45878C8}"/>
              </a:ext>
            </a:extLst>
          </p:cNvPr>
          <p:cNvSpPr>
            <a:spLocks xmlns:a="http://schemas.openxmlformats.org/drawingml/2006/main" noGrp="1"/>
          </p:cNvSpPr>
          <p:nvPr/>
        </p:nvSpPr>
        <p:spPr>
          <a:xfrm xmlns:a="http://schemas.openxmlformats.org/drawingml/2006/main">
            <a:off x="5961888" y="4901184"/>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캐시 유지 full attention이 어디에도 없다</a:t>
            </a:r>
            <a:endParaRPr sz="1350"/>
          </a:p>
        </p:txBody>
      </p:sp>
      <p:sp>
        <p:nvSpPr>
          <p:cNvPr id="26" name="STC-13-data-warning">
            <a:extLst xmlns:a="http://schemas.openxmlformats.org/drawingml/2006/main">
              <a:ext uri="{FF2B5EF4-FFF2-40B4-BE49-F238E27FC236}">
                <a16:creationId xmlns:a16="http://schemas.microsoft.com/office/drawing/2014/main" id="{FE09EF05-9A9A-4209-946A-2FFD878EDF5A}"/>
              </a:ext>
            </a:extLst>
          </p:cNvPr>
          <p:cNvSpPr>
            <a:spLocks xmlns:a="http://schemas.openxmlformats.org/drawingml/2006/main" noGrp="1"/>
          </p:cNvSpPr>
          <p:nvPr/>
        </p:nvSpPr>
        <p:spPr>
          <a:xfrm xmlns:a="http://schemas.openxmlformats.org/drawingml/2006/main">
            <a:off x="2286000" y="5623560"/>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ans CJK KR"/>
                <a:ea typeface="Noto Sans CJK KR"/>
                <a:cs typeface="Noto Sans CJK KR"/>
              </a:rPr>
              <a:t>구조로만 있다. 수치가 없다</a:t>
            </a:r>
            <a:endParaRPr sz="1800"/>
          </a:p>
        </p:txBody>
      </p:sp>
    </p:spTree>
    <p:extLst>
      <p:ext uri="{BB962C8B-B14F-4D97-AF65-F5344CB8AC3E}">
        <p14:creationId xmlns:p14="http://schemas.microsoft.com/office/powerpoint/2010/main" val="877466157"/>
      </p:ext>
    </p:extLst>
  </p:cSld>
</p:sld>
</file>

<file path=ppt/slides/slide6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1-section">
            <a:extLst xmlns:a="http://schemas.openxmlformats.org/drawingml/2006/main">
              <a:ext uri="{FF2B5EF4-FFF2-40B4-BE49-F238E27FC236}">
                <a16:creationId xmlns:a16="http://schemas.microsoft.com/office/drawing/2014/main" id="{8BB9BD3F-B2A5-4809-9119-06656DAC1DCC}"/>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W-PATH</a:t>
            </a:r>
            <a:endParaRPr sz="950"/>
          </a:p>
        </p:txBody>
      </p:sp>
      <p:sp>
        <p:nvSpPr>
          <p:cNvPr id="3" name="STC-21-slide-id">
            <a:extLst xmlns:a="http://schemas.openxmlformats.org/drawingml/2006/main">
              <a:ext uri="{FF2B5EF4-FFF2-40B4-BE49-F238E27FC236}">
                <a16:creationId xmlns:a16="http://schemas.microsoft.com/office/drawing/2014/main" id="{E1BF2D37-A293-4FA6-A010-98F61D6C6436}"/>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STC-065</a:t>
            </a:r>
            <a:endParaRPr sz="950"/>
          </a:p>
        </p:txBody>
      </p:sp>
      <p:sp>
        <p:nvSpPr>
          <p:cNvPr id="4" name="STC-21-headline">
            <a:extLst xmlns:a="http://schemas.openxmlformats.org/drawingml/2006/main">
              <a:ext uri="{FF2B5EF4-FFF2-40B4-BE49-F238E27FC236}">
                <a16:creationId xmlns:a16="http://schemas.microsoft.com/office/drawing/2014/main" id="{C957F144-E07A-475B-800F-FA851D788889}"/>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이 경로에서 함께 거론되지만 이 범주가 아닌 둘</a:t>
            </a:r>
            <a:endParaRPr sz="3000"/>
          </a:p>
        </p:txBody>
      </p:sp>
      <p:sp>
        <p:nvSpPr>
          <p:cNvPr id="5" name="STC-21-status-label">
            <a:extLst xmlns:a="http://schemas.openxmlformats.org/drawingml/2006/main">
              <a:ext uri="{FF2B5EF4-FFF2-40B4-BE49-F238E27FC236}">
                <a16:creationId xmlns:a16="http://schemas.microsoft.com/office/drawing/2014/main" id="{A5CBE44C-A00A-4227-BC87-07F71E876613}"/>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본서 판정</a:t>
            </a:r>
            <a:endParaRPr sz="1000"/>
          </a:p>
        </p:txBody>
      </p:sp>
      <p:sp>
        <p:nvSpPr>
          <p:cNvPr id="6" name="STC-21-status-rule">
            <a:extLst xmlns:a="http://schemas.openxmlformats.org/drawingml/2006/main">
              <a:ext uri="{FF2B5EF4-FFF2-40B4-BE49-F238E27FC236}">
                <a16:creationId xmlns:a16="http://schemas.microsoft.com/office/drawing/2014/main" id="{326874C7-2AC2-4EF3-A0AF-B337822D55FE}"/>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21-footer-rule">
            <a:extLst xmlns:a="http://schemas.openxmlformats.org/drawingml/2006/main">
              <a:ext uri="{FF2B5EF4-FFF2-40B4-BE49-F238E27FC236}">
                <a16:creationId xmlns:a16="http://schemas.microsoft.com/office/drawing/2014/main" id="{3FAEEB53-00B4-4B8F-9C15-D1D1E0AA47E5}"/>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1-source-footer">
            <a:extLst xmlns:a="http://schemas.openxmlformats.org/drawingml/2006/main">
              <a:ext uri="{FF2B5EF4-FFF2-40B4-BE49-F238E27FC236}">
                <a16:creationId xmlns:a16="http://schemas.microsoft.com/office/drawing/2014/main" id="{C15D3B91-4B19-418F-B75E-CDBAB63CBABC}"/>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ch18 · [NL §1, §6, §9.1] · [MC §3.1, §4.2, Table 5]</a:t>
            </a:r>
            <a:endParaRPr sz="850"/>
          </a:p>
        </p:txBody>
      </p:sp>
      <p:sp>
        <p:nvSpPr>
          <p:cNvPr id="9" name="STC-21-page-number">
            <a:extLst xmlns:a="http://schemas.openxmlformats.org/drawingml/2006/main">
              <a:ext uri="{FF2B5EF4-FFF2-40B4-BE49-F238E27FC236}">
                <a16:creationId xmlns:a16="http://schemas.microsoft.com/office/drawing/2014/main" id="{6D8B17AB-5125-44EC-A34D-E5D99843272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65</a:t>
            </a:r>
            <a:endParaRPr sz="850"/>
          </a:p>
        </p:txBody>
      </p:sp>
      <p:sp>
        <p:nvSpPr>
          <p:cNvPr id="11" name="STC-21-tx-tag-0">
            <a:extLst xmlns:a="http://schemas.openxmlformats.org/drawingml/2006/main">
              <a:ext uri="{FF2B5EF4-FFF2-40B4-BE49-F238E27FC236}">
                <a16:creationId xmlns:a16="http://schemas.microsoft.com/office/drawing/2014/main" id="{C3BA3125-4962-4DAF-AB08-40AF0FFBE740}"/>
              </a:ext>
            </a:extLst>
          </p:cNvPr>
          <p:cNvSpPr>
            <a:spLocks xmlns:a="http://schemas.openxmlformats.org/drawingml/2006/main" noGrp="1"/>
          </p:cNvSpPr>
          <p:nvPr/>
        </p:nvSpPr>
        <p:spPr>
          <a:xfrm xmlns:a="http://schemas.openxmlformats.org/drawingml/2006/main">
            <a:off x="804672"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NL</a:t>
            </a:r>
            <a:endParaRPr sz="1100"/>
          </a:p>
        </p:txBody>
      </p:sp>
      <p:sp>
        <p:nvSpPr>
          <p:cNvPr id="12" name="STC-21-tx-node-0">
            <a:extLst xmlns:a="http://schemas.openxmlformats.org/drawingml/2006/main">
              <a:ext uri="{FF2B5EF4-FFF2-40B4-BE49-F238E27FC236}">
                <a16:creationId xmlns:a16="http://schemas.microsoft.com/office/drawing/2014/main" id="{53BB23E7-533E-4499-8184-5B3E4A7EFDA2}"/>
              </a:ext>
            </a:extLst>
          </p:cNvPr>
          <p:cNvSpPr>
            <a:spLocks xmlns:a="http://schemas.openxmlformats.org/drawingml/2006/main" noGrp="1"/>
          </p:cNvSpPr>
          <p:nvPr/>
        </p:nvSpPr>
        <p:spPr>
          <a:xfrm xmlns:a="http://schemas.openxmlformats.org/drawingml/2006/main">
            <a:off x="804672" y="2084832"/>
            <a:ext cx="1417320" cy="1078992"/>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3" name="STC-21-tx-body-0">
            <a:extLst xmlns:a="http://schemas.openxmlformats.org/drawingml/2006/main">
              <a:ext uri="{FF2B5EF4-FFF2-40B4-BE49-F238E27FC236}">
                <a16:creationId xmlns:a16="http://schemas.microsoft.com/office/drawing/2014/main" id="{FBD336B1-FC65-4C91-B49E-E58EE455FC4E}"/>
              </a:ext>
            </a:extLst>
          </p:cNvPr>
          <p:cNvSpPr>
            <a:spLocks xmlns:a="http://schemas.openxmlformats.org/drawingml/2006/main" noGrp="1"/>
          </p:cNvSpPr>
          <p:nvPr/>
        </p:nvSpPr>
        <p:spPr>
          <a:xfrm xmlns:a="http://schemas.openxmlformats.org/drawingml/2006/main">
            <a:off x="914400"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17191C"/>
                </a:solidFill>
                <a:latin typeface="Noto Sans CJK KR"/>
                <a:ea typeface="Noto Sans CJK KR"/>
                <a:cs typeface="Noto Sans CJK KR"/>
              </a:rPr>
              <a:t>모든</a:t>
            </a:r>
            <a:endParaRPr sz="1500"/>
          </a:p>
          <a:p xmlns:a="http://schemas.openxmlformats.org/drawingml/2006/main">
            <a:pPr marL="0" indent="0" algn="ctr">
              <a:buNone/>
            </a:pPr>
            <a:r>
              <a:rPr sz="1500" b="1">
                <a:solidFill>
                  <a:srgbClr val="17191C"/>
                </a:solidFill>
                <a:latin typeface="Noto Sans CJK KR"/>
                <a:ea typeface="Noto Sans CJK KR"/>
                <a:cs typeface="Noto Sans CJK KR"/>
              </a:rPr>
              <a:t>시계가 토큰</a:t>
            </a:r>
            <a:endParaRPr sz="1500"/>
          </a:p>
        </p:txBody>
      </p:sp>
      <p:sp>
        <p:nvSpPr>
          <p:cNvPr id="14" name="STC-21-tx-arrow-0">
            <a:extLst xmlns:a="http://schemas.openxmlformats.org/drawingml/2006/main">
              <a:ext uri="{FF2B5EF4-FFF2-40B4-BE49-F238E27FC236}">
                <a16:creationId xmlns:a16="http://schemas.microsoft.com/office/drawing/2014/main" id="{25A11E43-C965-41E7-9C14-52E8EA3401F7}"/>
              </a:ext>
            </a:extLst>
          </p:cNvPr>
          <p:cNvSpPr>
            <a:spLocks xmlns:a="http://schemas.openxmlformats.org/drawingml/2006/main" noGrp="1"/>
          </p:cNvSpPr>
          <p:nvPr/>
        </p:nvSpPr>
        <p:spPr>
          <a:xfrm xmlns:a="http://schemas.openxmlformats.org/drawingml/2006/main">
            <a:off x="2286000" y="2615184"/>
            <a:ext cx="749808"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5" name="STC-21-tx-tag-1">
            <a:extLst xmlns:a="http://schemas.openxmlformats.org/drawingml/2006/main">
              <a:ext uri="{FF2B5EF4-FFF2-40B4-BE49-F238E27FC236}">
                <a16:creationId xmlns:a16="http://schemas.microsoft.com/office/drawing/2014/main" id="{404B7313-C00F-4D29-A5FA-939F36A1526B}"/>
              </a:ext>
            </a:extLst>
          </p:cNvPr>
          <p:cNvSpPr>
            <a:spLocks xmlns:a="http://schemas.openxmlformats.org/drawingml/2006/main" noGrp="1"/>
          </p:cNvSpPr>
          <p:nvPr/>
        </p:nvSpPr>
        <p:spPr>
          <a:xfrm xmlns:a="http://schemas.openxmlformats.org/drawingml/2006/main">
            <a:off x="3127248"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59616A"/>
                </a:solidFill>
                <a:latin typeface="Noto Sans Mono CJK KR"/>
                <a:ea typeface="Noto Sans Mono CJK KR"/>
                <a:cs typeface="Noto Sans Mono CJK KR"/>
              </a:rPr>
              <a:t>NL 최저</a:t>
            </a:r>
            <a:endParaRPr sz="1100"/>
          </a:p>
        </p:txBody>
      </p:sp>
      <p:sp>
        <p:nvSpPr>
          <p:cNvPr id="16" name="STC-21-tx-node-1">
            <a:extLst xmlns:a="http://schemas.openxmlformats.org/drawingml/2006/main">
              <a:ext uri="{FF2B5EF4-FFF2-40B4-BE49-F238E27FC236}">
                <a16:creationId xmlns:a16="http://schemas.microsoft.com/office/drawing/2014/main" id="{7DFAFD63-2A6A-400B-AD95-61F6E85244B4}"/>
              </a:ext>
            </a:extLst>
          </p:cNvPr>
          <p:cNvSpPr>
            <a:spLocks xmlns:a="http://schemas.openxmlformats.org/drawingml/2006/main" noGrp="1"/>
          </p:cNvSpPr>
          <p:nvPr/>
        </p:nvSpPr>
        <p:spPr>
          <a:xfrm xmlns:a="http://schemas.openxmlformats.org/drawingml/2006/main">
            <a:off x="3127248" y="2084832"/>
            <a:ext cx="1417320" cy="1078992"/>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17" name="STC-21-tx-body-1">
            <a:extLst xmlns:a="http://schemas.openxmlformats.org/drawingml/2006/main">
              <a:ext uri="{FF2B5EF4-FFF2-40B4-BE49-F238E27FC236}">
                <a16:creationId xmlns:a16="http://schemas.microsoft.com/office/drawing/2014/main" id="{F8BA9679-919C-4358-AAF3-27439FE7E417}"/>
              </a:ext>
            </a:extLst>
          </p:cNvPr>
          <p:cNvSpPr>
            <a:spLocks xmlns:a="http://schemas.openxmlformats.org/drawingml/2006/main" noGrp="1"/>
          </p:cNvSpPr>
          <p:nvPr/>
        </p:nvSpPr>
        <p:spPr>
          <a:xfrm xmlns:a="http://schemas.openxmlformats.org/drawingml/2006/main">
            <a:off x="3236976"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50" b="1">
                <a:solidFill>
                  <a:srgbClr val="17191C"/>
                </a:solidFill>
                <a:latin typeface="Noto Sans CJK KR"/>
                <a:ea typeface="Noto Sans CJK KR"/>
                <a:cs typeface="Noto Sans CJK KR"/>
              </a:rPr>
              <a:t>2K</a:t>
            </a:r>
            <a:endParaRPr sz="1550"/>
          </a:p>
          <a:p xmlns:a="http://schemas.openxmlformats.org/drawingml/2006/main">
            <a:pPr marL="0" indent="0" algn="ctr">
              <a:buNone/>
            </a:pPr>
            <a:r>
              <a:rPr sz="1550" b="1">
                <a:solidFill>
                  <a:srgbClr val="17191C"/>
                </a:solidFill>
                <a:latin typeface="Noto Sans CJK KR"/>
                <a:ea typeface="Noto Sans CJK KR"/>
                <a:cs typeface="Noto Sans CJK KR"/>
              </a:rPr>
              <a:t>토큰이 한계</a:t>
            </a:r>
            <a:endParaRPr sz="1550"/>
          </a:p>
        </p:txBody>
      </p:sp>
      <p:sp>
        <p:nvSpPr>
          <p:cNvPr id="18" name="STC-21-tx-arrow-1">
            <a:extLst xmlns:a="http://schemas.openxmlformats.org/drawingml/2006/main">
              <a:ext uri="{FF2B5EF4-FFF2-40B4-BE49-F238E27FC236}">
                <a16:creationId xmlns:a16="http://schemas.microsoft.com/office/drawing/2014/main" id="{8FF9AF62-92FB-4B27-B05B-E439FC524C80}"/>
              </a:ext>
            </a:extLst>
          </p:cNvPr>
          <p:cNvSpPr>
            <a:spLocks xmlns:a="http://schemas.openxmlformats.org/drawingml/2006/main" noGrp="1"/>
          </p:cNvSpPr>
          <p:nvPr/>
        </p:nvSpPr>
        <p:spPr>
          <a:xfrm xmlns:a="http://schemas.openxmlformats.org/drawingml/2006/main">
            <a:off x="4608576" y="2615184"/>
            <a:ext cx="749808"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9" name="STC-21-tx-tag-2">
            <a:extLst xmlns:a="http://schemas.openxmlformats.org/drawingml/2006/main">
              <a:ext uri="{FF2B5EF4-FFF2-40B4-BE49-F238E27FC236}">
                <a16:creationId xmlns:a16="http://schemas.microsoft.com/office/drawing/2014/main" id="{DEB7B59F-ADAD-468C-A230-15D1996782BC}"/>
              </a:ext>
            </a:extLst>
          </p:cNvPr>
          <p:cNvSpPr>
            <a:spLocks xmlns:a="http://schemas.openxmlformats.org/drawingml/2006/main" noGrp="1"/>
          </p:cNvSpPr>
          <p:nvPr/>
        </p:nvSpPr>
        <p:spPr>
          <a:xfrm xmlns:a="http://schemas.openxmlformats.org/drawingml/2006/main">
            <a:off x="5449824"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NL 선언</a:t>
            </a:r>
            <a:endParaRPr sz="1100"/>
          </a:p>
        </p:txBody>
      </p:sp>
      <p:sp>
        <p:nvSpPr>
          <p:cNvPr id="20" name="STC-21-tx-node-2">
            <a:extLst xmlns:a="http://schemas.openxmlformats.org/drawingml/2006/main">
              <a:ext uri="{FF2B5EF4-FFF2-40B4-BE49-F238E27FC236}">
                <a16:creationId xmlns:a16="http://schemas.microsoft.com/office/drawing/2014/main" id="{CC1983C5-B1FB-4342-8507-E5E9BD1F53CD}"/>
              </a:ext>
            </a:extLst>
          </p:cNvPr>
          <p:cNvSpPr>
            <a:spLocks xmlns:a="http://schemas.openxmlformats.org/drawingml/2006/main" noGrp="1"/>
          </p:cNvSpPr>
          <p:nvPr/>
        </p:nvSpPr>
        <p:spPr>
          <a:xfrm xmlns:a="http://schemas.openxmlformats.org/drawingml/2006/main">
            <a:off x="5449824" y="2084832"/>
            <a:ext cx="1417320" cy="1078992"/>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21-tx-body-2">
            <a:extLst xmlns:a="http://schemas.openxmlformats.org/drawingml/2006/main">
              <a:ext uri="{FF2B5EF4-FFF2-40B4-BE49-F238E27FC236}">
                <a16:creationId xmlns:a16="http://schemas.microsoft.com/office/drawing/2014/main" id="{7BE056EE-C08A-4D3E-B2E5-A3C85198E381}"/>
              </a:ext>
            </a:extLst>
          </p:cNvPr>
          <p:cNvSpPr>
            <a:spLocks xmlns:a="http://schemas.openxmlformats.org/drawingml/2006/main" noGrp="1"/>
          </p:cNvSpPr>
          <p:nvPr/>
        </p:nvSpPr>
        <p:spPr>
          <a:xfrm xmlns:a="http://schemas.openxmlformats.org/drawingml/2006/main">
            <a:off x="5559552"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50" b="1">
                <a:solidFill>
                  <a:srgbClr val="17191C"/>
                </a:solidFill>
                <a:latin typeface="Noto Sans CJK KR"/>
                <a:ea typeface="Noto Sans CJK KR"/>
                <a:cs typeface="Noto Sans CJK KR"/>
              </a:rPr>
              <a:t>오프라인은</a:t>
            </a:r>
            <a:endParaRPr sz="1550"/>
          </a:p>
          <a:p xmlns:a="http://schemas.openxmlformats.org/drawingml/2006/main">
            <a:pPr marL="0" indent="0" algn="ctr">
              <a:buNone/>
            </a:pPr>
            <a:r>
              <a:rPr sz="1550" b="1">
                <a:solidFill>
                  <a:srgbClr val="17191C"/>
                </a:solidFill>
                <a:latin typeface="Noto Sans CJK KR"/>
                <a:ea typeface="Noto Sans CJK KR"/>
                <a:cs typeface="Noto Sans CJK KR"/>
              </a:rPr>
              <a:t>범위 밖</a:t>
            </a:r>
            <a:endParaRPr sz="1550"/>
          </a:p>
        </p:txBody>
      </p:sp>
      <p:sp>
        <p:nvSpPr>
          <p:cNvPr id="22" name="STC-21-tx-arrow-2">
            <a:extLst xmlns:a="http://schemas.openxmlformats.org/drawingml/2006/main">
              <a:ext uri="{FF2B5EF4-FFF2-40B4-BE49-F238E27FC236}">
                <a16:creationId xmlns:a16="http://schemas.microsoft.com/office/drawing/2014/main" id="{D272B464-9913-4524-832C-F33C0DD693E5}"/>
              </a:ext>
            </a:extLst>
          </p:cNvPr>
          <p:cNvSpPr>
            <a:spLocks xmlns:a="http://schemas.openxmlformats.org/drawingml/2006/main" noGrp="1"/>
          </p:cNvSpPr>
          <p:nvPr/>
        </p:nvSpPr>
        <p:spPr>
          <a:xfrm xmlns:a="http://schemas.openxmlformats.org/drawingml/2006/main">
            <a:off x="6931152" y="2615184"/>
            <a:ext cx="749808"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23" name="STC-21-tx-tag-3">
            <a:extLst xmlns:a="http://schemas.openxmlformats.org/drawingml/2006/main">
              <a:ext uri="{FF2B5EF4-FFF2-40B4-BE49-F238E27FC236}">
                <a16:creationId xmlns:a16="http://schemas.microsoft.com/office/drawing/2014/main" id="{C1F54617-09E9-4FEC-BA52-DB7D26800FFD}"/>
              </a:ext>
            </a:extLst>
          </p:cNvPr>
          <p:cNvSpPr>
            <a:spLocks xmlns:a="http://schemas.openxmlformats.org/drawingml/2006/main" noGrp="1"/>
          </p:cNvSpPr>
          <p:nvPr/>
        </p:nvSpPr>
        <p:spPr>
          <a:xfrm xmlns:a="http://schemas.openxmlformats.org/drawingml/2006/main">
            <a:off x="7772400"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MC</a:t>
            </a:r>
            <a:endParaRPr sz="1100"/>
          </a:p>
        </p:txBody>
      </p:sp>
      <p:sp>
        <p:nvSpPr>
          <p:cNvPr id="24" name="STC-21-tx-node-3">
            <a:extLst xmlns:a="http://schemas.openxmlformats.org/drawingml/2006/main">
              <a:ext uri="{FF2B5EF4-FFF2-40B4-BE49-F238E27FC236}">
                <a16:creationId xmlns:a16="http://schemas.microsoft.com/office/drawing/2014/main" id="{5205FABA-9309-4D1E-B735-69D21F63ACA0}"/>
              </a:ext>
            </a:extLst>
          </p:cNvPr>
          <p:cNvSpPr>
            <a:spLocks xmlns:a="http://schemas.openxmlformats.org/drawingml/2006/main" noGrp="1"/>
          </p:cNvSpPr>
          <p:nvPr/>
        </p:nvSpPr>
        <p:spPr>
          <a:xfrm xmlns:a="http://schemas.openxmlformats.org/drawingml/2006/main">
            <a:off x="7772400" y="2084832"/>
            <a:ext cx="1417320" cy="1078992"/>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25" name="STC-21-tx-body-3">
            <a:extLst xmlns:a="http://schemas.openxmlformats.org/drawingml/2006/main">
              <a:ext uri="{FF2B5EF4-FFF2-40B4-BE49-F238E27FC236}">
                <a16:creationId xmlns:a16="http://schemas.microsoft.com/office/drawing/2014/main" id="{4CEBAF60-4A96-421B-AB1C-4EFE7E60FC3B}"/>
              </a:ext>
            </a:extLst>
          </p:cNvPr>
          <p:cNvSpPr>
            <a:spLocks xmlns:a="http://schemas.openxmlformats.org/drawingml/2006/main" noGrp="1"/>
          </p:cNvSpPr>
          <p:nvPr/>
        </p:nvSpPr>
        <p:spPr>
          <a:xfrm xmlns:a="http://schemas.openxmlformats.org/drawingml/2006/main">
            <a:off x="7882128"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50" b="1">
                <a:solidFill>
                  <a:srgbClr val="17191C"/>
                </a:solidFill>
                <a:latin typeface="Noto Sans CJK KR"/>
                <a:ea typeface="Noto Sans CJK KR"/>
                <a:cs typeface="Noto Sans CJK KR"/>
              </a:rPr>
              <a:t>읽기식만</a:t>
            </a:r>
            <a:endParaRPr sz="1550"/>
          </a:p>
          <a:p xmlns:a="http://schemas.openxmlformats.org/drawingml/2006/main">
            <a:pPr marL="0" indent="0" algn="ctr">
              <a:buNone/>
            </a:pPr>
            <a:r>
              <a:rPr sz="1550" b="1">
                <a:solidFill>
                  <a:srgbClr val="17191C"/>
                </a:solidFill>
                <a:latin typeface="Noto Sans CJK KR"/>
                <a:ea typeface="Noto Sans CJK KR"/>
                <a:cs typeface="Noto Sans CJK KR"/>
              </a:rPr>
              <a:t>바꿨다</a:t>
            </a:r>
            <a:endParaRPr sz="1550"/>
          </a:p>
        </p:txBody>
      </p:sp>
      <p:sp>
        <p:nvSpPr>
          <p:cNvPr id="26" name="STC-21-tx-arrow-3">
            <a:extLst xmlns:a="http://schemas.openxmlformats.org/drawingml/2006/main">
              <a:ext uri="{FF2B5EF4-FFF2-40B4-BE49-F238E27FC236}">
                <a16:creationId xmlns:a16="http://schemas.microsoft.com/office/drawing/2014/main" id="{7B34D62B-E2F2-4A17-8604-CA2DCE342B6E}"/>
              </a:ext>
            </a:extLst>
          </p:cNvPr>
          <p:cNvSpPr>
            <a:spLocks xmlns:a="http://schemas.openxmlformats.org/drawingml/2006/main" noGrp="1"/>
          </p:cNvSpPr>
          <p:nvPr/>
        </p:nvSpPr>
        <p:spPr>
          <a:xfrm xmlns:a="http://schemas.openxmlformats.org/drawingml/2006/main">
            <a:off x="9253728" y="2615184"/>
            <a:ext cx="749808"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27" name="STC-21-tx-tag-4">
            <a:extLst xmlns:a="http://schemas.openxmlformats.org/drawingml/2006/main">
              <a:ext uri="{FF2B5EF4-FFF2-40B4-BE49-F238E27FC236}">
                <a16:creationId xmlns:a16="http://schemas.microsoft.com/office/drawing/2014/main" id="{42476528-B1DE-4070-A3CB-36583B42833C}"/>
              </a:ext>
            </a:extLst>
          </p:cNvPr>
          <p:cNvSpPr>
            <a:spLocks xmlns:a="http://schemas.openxmlformats.org/drawingml/2006/main" noGrp="1"/>
          </p:cNvSpPr>
          <p:nvPr/>
        </p:nvSpPr>
        <p:spPr>
          <a:xfrm xmlns:a="http://schemas.openxmlformats.org/drawingml/2006/main">
            <a:off x="10094976"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17191C"/>
                </a:solidFill>
                <a:latin typeface="Noto Sans Mono CJK KR"/>
                <a:ea typeface="Noto Sans Mono CJK KR"/>
                <a:cs typeface="Noto Sans Mono CJK KR"/>
              </a:rPr>
              <a:t>MC 천장</a:t>
            </a:r>
            <a:endParaRPr sz="1100"/>
          </a:p>
        </p:txBody>
      </p:sp>
      <p:sp>
        <p:nvSpPr>
          <p:cNvPr id="28" name="STC-21-tx-node-4">
            <a:extLst xmlns:a="http://schemas.openxmlformats.org/drawingml/2006/main">
              <a:ext uri="{FF2B5EF4-FFF2-40B4-BE49-F238E27FC236}">
                <a16:creationId xmlns:a16="http://schemas.microsoft.com/office/drawing/2014/main" id="{A4F01ABE-5242-4A17-A30A-6B279F1E7991}"/>
              </a:ext>
            </a:extLst>
          </p:cNvPr>
          <p:cNvSpPr>
            <a:spLocks xmlns:a="http://schemas.openxmlformats.org/drawingml/2006/main" noGrp="1"/>
          </p:cNvSpPr>
          <p:nvPr/>
        </p:nvSpPr>
        <p:spPr>
          <a:xfrm xmlns:a="http://schemas.openxmlformats.org/drawingml/2006/main">
            <a:off x="10094976" y="2084832"/>
            <a:ext cx="1417320" cy="107899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9" name="STC-21-tx-body-4">
            <a:extLst xmlns:a="http://schemas.openxmlformats.org/drawingml/2006/main">
              <a:ext uri="{FF2B5EF4-FFF2-40B4-BE49-F238E27FC236}">
                <a16:creationId xmlns:a16="http://schemas.microsoft.com/office/drawing/2014/main" id="{3DBD0041-3D66-45D1-8D69-0DCBD9DC23B2}"/>
              </a:ext>
            </a:extLst>
          </p:cNvPr>
          <p:cNvSpPr>
            <a:spLocks xmlns:a="http://schemas.openxmlformats.org/drawingml/2006/main" noGrp="1"/>
          </p:cNvSpPr>
          <p:nvPr/>
        </p:nvSpPr>
        <p:spPr>
          <a:xfrm xmlns:a="http://schemas.openxmlformats.org/drawingml/2006/main">
            <a:off x="10204704"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50" b="1">
                <a:solidFill>
                  <a:srgbClr val="FFFFFF"/>
                </a:solidFill>
                <a:latin typeface="Noto Sans CJK KR"/>
                <a:ea typeface="Noto Sans CJK KR"/>
                <a:cs typeface="Noto Sans CJK KR"/>
              </a:rPr>
              <a:t>log₂L</a:t>
            </a:r>
            <a:endParaRPr sz="1550"/>
          </a:p>
          <a:p xmlns:a="http://schemas.openxmlformats.org/drawingml/2006/main">
            <a:pPr marL="0" indent="0" algn="ctr">
              <a:buNone/>
            </a:pPr>
            <a:r>
              <a:rPr sz="1550" b="1">
                <a:solidFill>
                  <a:srgbClr val="FFFFFF"/>
                </a:solidFill>
                <a:latin typeface="Noto Sans CJK KR"/>
                <a:ea typeface="Noto Sans CJK KR"/>
                <a:cs typeface="Noto Sans CJK KR"/>
              </a:rPr>
              <a:t>이하 캐시</a:t>
            </a:r>
            <a:endParaRPr sz="1550"/>
          </a:p>
        </p:txBody>
      </p:sp>
      <p:sp>
        <p:nvSpPr>
          <p:cNvPr id="30" name="STC-21-tx-reject">
            <a:extLst xmlns:a="http://schemas.openxmlformats.org/drawingml/2006/main">
              <a:ext uri="{FF2B5EF4-FFF2-40B4-BE49-F238E27FC236}">
                <a16:creationId xmlns:a16="http://schemas.microsoft.com/office/drawing/2014/main" id="{0678AAE5-7BE6-48F0-9FBD-E39E3F6ACC79}"/>
              </a:ext>
            </a:extLst>
          </p:cNvPr>
          <p:cNvSpPr>
            <a:spLocks xmlns:a="http://schemas.openxmlformats.org/drawingml/2006/main" noGrp="1"/>
          </p:cNvSpPr>
          <p:nvPr/>
        </p:nvSpPr>
        <p:spPr>
          <a:xfrm xmlns:a="http://schemas.openxmlformats.org/drawingml/2006/main" flipH="1" flipV="0">
            <a:off x="5074920" y="3264408"/>
            <a:ext cx="3108960" cy="1124712"/>
          </a:xfrm>
          <a:prstGeom xmlns:a="http://schemas.openxmlformats.org/drawingml/2006/main" prst="line">
            <a:avLst/>
          </a:prstGeom>
          <a:noFill xmlns:a="http://schemas.openxmlformats.org/drawingml/2006/main"/>
          <a:ln xmlns:a="http://schemas.openxmlformats.org/drawingml/2006/main" w="17780">
            <a:solidFill>
              <a:srgbClr val="9A442D"/>
            </a:solidFill>
            <a:prstDash val="solid"/>
            <a:tailEnd type="triangle"/>
          </a:ln>
        </p:spPr>
      </p:sp>
      <p:sp>
        <p:nvSpPr>
          <p:cNvPr id="31" name="STC-21-tx-reject-label">
            <a:extLst xmlns:a="http://schemas.openxmlformats.org/drawingml/2006/main">
              <a:ext uri="{FF2B5EF4-FFF2-40B4-BE49-F238E27FC236}">
                <a16:creationId xmlns:a16="http://schemas.microsoft.com/office/drawing/2014/main" id="{7B04337F-AFB0-490A-926B-0796C30487B5}"/>
              </a:ext>
            </a:extLst>
          </p:cNvPr>
          <p:cNvSpPr>
            <a:spLocks xmlns:a="http://schemas.openxmlformats.org/drawingml/2006/main" noGrp="1"/>
          </p:cNvSpPr>
          <p:nvPr/>
        </p:nvSpPr>
        <p:spPr>
          <a:xfrm xmlns:a="http://schemas.openxmlformats.org/drawingml/2006/main">
            <a:off x="5047488" y="4480560"/>
            <a:ext cx="21031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NL</a:t>
            </a:r>
            <a:endParaRPr sz="1050"/>
          </a:p>
        </p:txBody>
      </p:sp>
      <p:sp>
        <p:nvSpPr>
          <p:cNvPr id="32" name="STC-21-tx-invariants">
            <a:extLst xmlns:a="http://schemas.openxmlformats.org/drawingml/2006/main">
              <a:ext uri="{FF2B5EF4-FFF2-40B4-BE49-F238E27FC236}">
                <a16:creationId xmlns:a16="http://schemas.microsoft.com/office/drawing/2014/main" id="{7F4A737E-D286-4BFA-BE0B-5DD5A6D248C8}"/>
              </a:ext>
            </a:extLst>
          </p:cNvPr>
          <p:cNvSpPr>
            <a:spLocks xmlns:a="http://schemas.openxmlformats.org/drawingml/2006/main" noGrp="1"/>
          </p:cNvSpPr>
          <p:nvPr/>
        </p:nvSpPr>
        <p:spPr>
          <a:xfrm xmlns:a="http://schemas.openxmlformats.org/drawingml/2006/main">
            <a:off x="1353312" y="4919472"/>
            <a:ext cx="9372600" cy="69494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33" name="STC-21-tx-invariants-text">
            <a:extLst xmlns:a="http://schemas.openxmlformats.org/drawingml/2006/main">
              <a:ext uri="{FF2B5EF4-FFF2-40B4-BE49-F238E27FC236}">
                <a16:creationId xmlns:a16="http://schemas.microsoft.com/office/drawing/2014/main" id="{D8913978-F4E0-4671-BF3B-EB53BDBED854}"/>
              </a:ext>
            </a:extLst>
          </p:cNvPr>
          <p:cNvSpPr>
            <a:spLocks xmlns:a="http://schemas.openxmlformats.org/drawingml/2006/main" noGrp="1"/>
          </p:cNvSpPr>
          <p:nvPr/>
        </p:nvSpPr>
        <p:spPr>
          <a:xfrm xmlns:a="http://schemas.openxmlformats.org/drawingml/2006/main">
            <a:off x="1645920" y="5148072"/>
            <a:ext cx="87965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17191C"/>
                </a:solidFill>
                <a:latin typeface="Noto Sans Mono CJK KR"/>
                <a:ea typeface="Noto Sans Mono CJK KR"/>
                <a:cs typeface="Noto Sans Mono CJK KR"/>
              </a:rPr>
              <a:t>둘 다 이 범주는 아니되 뒤에서 용량 천장과 반증 축의 재료를 공급한다</a:t>
            </a:r>
            <a:endParaRPr sz="1200"/>
          </a:p>
        </p:txBody>
      </p:sp>
      <p:sp>
        <p:nvSpPr>
          <p:cNvPr id="34" name="STC-21-tx-bottom">
            <a:extLst xmlns:a="http://schemas.openxmlformats.org/drawingml/2006/main">
              <a:ext uri="{FF2B5EF4-FFF2-40B4-BE49-F238E27FC236}">
                <a16:creationId xmlns:a16="http://schemas.microsoft.com/office/drawing/2014/main" id="{D70E8476-0CFE-4413-9553-0E102D1AAD5E}"/>
              </a:ext>
            </a:extLst>
          </p:cNvPr>
          <p:cNvSpPr>
            <a:spLocks xmlns:a="http://schemas.openxmlformats.org/drawingml/2006/main" noGrp="1"/>
          </p:cNvSpPr>
          <p:nvPr/>
        </p:nvSpPr>
        <p:spPr>
          <a:xfrm xmlns:a="http://schemas.openxmlformats.org/drawingml/2006/main">
            <a:off x="1828800" y="5788152"/>
            <a:ext cx="85496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600">
                <a:solidFill>
                  <a:srgbClr val="2F6B63"/>
                </a:solidFill>
                <a:latin typeface="Noto Sans CJK KR"/>
                <a:ea typeface="Noto Sans CJK KR"/>
                <a:cs typeface="Noto Sans CJK KR"/>
              </a:rPr>
              <a:t>둘 다 이 범주는 아니되 뒤에서 용량 천장과 반증 축의 재료를 공급한다</a:t>
            </a:r>
            <a:endParaRPr sz="1600"/>
          </a:p>
        </p:txBody>
      </p:sp>
    </p:spTree>
    <p:extLst>
      <p:ext uri="{BB962C8B-B14F-4D97-AF65-F5344CB8AC3E}">
        <p14:creationId xmlns:p14="http://schemas.microsoft.com/office/powerpoint/2010/main" val="1478967083"/>
      </p:ext>
    </p:extLst>
  </p:cSld>
</p:sld>
</file>

<file path=ppt/slides/slide6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4-section">
            <a:extLst xmlns:a="http://schemas.openxmlformats.org/drawingml/2006/main">
              <a:ext uri="{FF2B5EF4-FFF2-40B4-BE49-F238E27FC236}">
                <a16:creationId xmlns:a16="http://schemas.microsoft.com/office/drawing/2014/main" id="{A0075D85-B234-44C8-902E-101F0A3CC31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THETA-PATH</a:t>
            </a:r>
            <a:endParaRPr sz="950"/>
          </a:p>
        </p:txBody>
      </p:sp>
      <p:sp>
        <p:nvSpPr>
          <p:cNvPr id="3" name="STC-04-slide-id">
            <a:extLst xmlns:a="http://schemas.openxmlformats.org/drawingml/2006/main">
              <a:ext uri="{FF2B5EF4-FFF2-40B4-BE49-F238E27FC236}">
                <a16:creationId xmlns:a16="http://schemas.microsoft.com/office/drawing/2014/main" id="{B14D52AE-8297-468B-A77A-23EAE8342583}"/>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STC-066</a:t>
            </a:r>
            <a:endParaRPr sz="950"/>
          </a:p>
        </p:txBody>
      </p:sp>
      <p:sp>
        <p:nvSpPr>
          <p:cNvPr id="4" name="STC-04-headline">
            <a:extLst xmlns:a="http://schemas.openxmlformats.org/drawingml/2006/main">
              <a:ext uri="{FF2B5EF4-FFF2-40B4-BE49-F238E27FC236}">
                <a16:creationId xmlns:a16="http://schemas.microsoft.com/office/drawing/2014/main" id="{3630F132-02F2-4CE1-9E25-749167C75A9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Θ-경로 — 배포 아티팩트 자체를 바꾼다</a:t>
            </a:r>
            <a:endParaRPr sz="3000"/>
          </a:p>
        </p:txBody>
      </p:sp>
      <p:sp>
        <p:nvSpPr>
          <p:cNvPr id="5" name="STC-04-status-label">
            <a:extLst xmlns:a="http://schemas.openxmlformats.org/drawingml/2006/main">
              <a:ext uri="{FF2B5EF4-FFF2-40B4-BE49-F238E27FC236}">
                <a16:creationId xmlns:a16="http://schemas.microsoft.com/office/drawing/2014/main" id="{A7ACBE27-EC77-4521-8202-C2F79CB3B4F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경로 개요</a:t>
            </a:r>
            <a:endParaRPr sz="1000"/>
          </a:p>
        </p:txBody>
      </p:sp>
      <p:sp>
        <p:nvSpPr>
          <p:cNvPr id="6" name="STC-04-status-rule">
            <a:extLst xmlns:a="http://schemas.openxmlformats.org/drawingml/2006/main">
              <a:ext uri="{FF2B5EF4-FFF2-40B4-BE49-F238E27FC236}">
                <a16:creationId xmlns:a16="http://schemas.microsoft.com/office/drawing/2014/main" id="{168F3EE0-A99E-4D46-9138-97123A1B2E0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4-footer-rule">
            <a:extLst xmlns:a="http://schemas.openxmlformats.org/drawingml/2006/main">
              <a:ext uri="{FF2B5EF4-FFF2-40B4-BE49-F238E27FC236}">
                <a16:creationId xmlns:a16="http://schemas.microsoft.com/office/drawing/2014/main" id="{283A436D-9734-4A07-90CD-F35CB55E5AB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4-source-footer">
            <a:extLst xmlns:a="http://schemas.openxmlformats.org/drawingml/2006/main">
              <a:ext uri="{FF2B5EF4-FFF2-40B4-BE49-F238E27FC236}">
                <a16:creationId xmlns:a16="http://schemas.microsoft.com/office/drawing/2014/main" id="{883AB35B-5226-4881-AC75-8BEB5E56E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§11.8 · ch19–ch22</a:t>
            </a:r>
            <a:endParaRPr sz="850"/>
          </a:p>
        </p:txBody>
      </p:sp>
      <p:sp>
        <p:nvSpPr>
          <p:cNvPr id="9" name="STC-04-page-number">
            <a:extLst xmlns:a="http://schemas.openxmlformats.org/drawingml/2006/main">
              <a:ext uri="{FF2B5EF4-FFF2-40B4-BE49-F238E27FC236}">
                <a16:creationId xmlns:a16="http://schemas.microsoft.com/office/drawing/2014/main" id="{EFF36FC2-57B0-4E0D-A22C-A663CD6EDD60}"/>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66</a:t>
            </a:r>
            <a:endParaRPr sz="850"/>
          </a:p>
        </p:txBody>
      </p:sp>
      <p:sp>
        <p:nvSpPr>
          <p:cNvPr id="11" name="STC-04-phase-tag-0">
            <a:extLst xmlns:a="http://schemas.openxmlformats.org/drawingml/2006/main">
              <a:ext uri="{FF2B5EF4-FFF2-40B4-BE49-F238E27FC236}">
                <a16:creationId xmlns:a16="http://schemas.microsoft.com/office/drawing/2014/main" id="{BA1F2F65-E6CA-4586-80AC-30666A36C48F}"/>
              </a:ext>
            </a:extLst>
          </p:cNvPr>
          <p:cNvSpPr>
            <a:spLocks xmlns:a="http://schemas.openxmlformats.org/drawingml/2006/main" noGrp="1"/>
          </p:cNvSpPr>
          <p:nvPr/>
        </p:nvSpPr>
        <p:spPr>
          <a:xfrm xmlns:a="http://schemas.openxmlformats.org/drawingml/2006/main">
            <a:off x="768096"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59616A"/>
                </a:solidFill>
                <a:latin typeface="Noto Sans Mono CJK KR"/>
                <a:ea typeface="Noto Sans Mono CJK KR"/>
                <a:cs typeface="Noto Sans Mono CJK KR"/>
              </a:rPr>
              <a:t>좌변</a:t>
            </a:r>
            <a:endParaRPr sz="1200"/>
          </a:p>
        </p:txBody>
      </p:sp>
      <p:sp>
        <p:nvSpPr>
          <p:cNvPr id="12" name="STC-04-phase-ko-0">
            <a:extLst xmlns:a="http://schemas.openxmlformats.org/drawingml/2006/main">
              <a:ext uri="{FF2B5EF4-FFF2-40B4-BE49-F238E27FC236}">
                <a16:creationId xmlns:a16="http://schemas.microsoft.com/office/drawing/2014/main" id="{71B78324-C8F8-4909-82A4-E5B94A3ECF3B}"/>
              </a:ext>
            </a:extLst>
          </p:cNvPr>
          <p:cNvSpPr>
            <a:spLocks xmlns:a="http://schemas.openxmlformats.org/drawingml/2006/main" noGrp="1"/>
          </p:cNvSpPr>
          <p:nvPr/>
        </p:nvSpPr>
        <p:spPr>
          <a:xfrm xmlns:a="http://schemas.openxmlformats.org/drawingml/2006/main">
            <a:off x="768096"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delta</a:t>
            </a:r>
            <a:endParaRPr sz="2300"/>
          </a:p>
        </p:txBody>
      </p:sp>
      <p:sp>
        <p:nvSpPr>
          <p:cNvPr id="13" name="STC-04-phase-rule-0">
            <a:extLst xmlns:a="http://schemas.openxmlformats.org/drawingml/2006/main">
              <a:ext uri="{FF2B5EF4-FFF2-40B4-BE49-F238E27FC236}">
                <a16:creationId xmlns:a16="http://schemas.microsoft.com/office/drawing/2014/main" id="{7764BB8A-B05F-4718-BC24-4AD789913DE0}"/>
              </a:ext>
            </a:extLst>
          </p:cNvPr>
          <p:cNvSpPr>
            <a:spLocks xmlns:a="http://schemas.openxmlformats.org/drawingml/2006/main" noGrp="1"/>
          </p:cNvSpPr>
          <p:nvPr/>
        </p:nvSpPr>
        <p:spPr>
          <a:xfrm xmlns:a="http://schemas.openxmlformats.org/drawingml/2006/main">
            <a:off x="768096" y="2642616"/>
            <a:ext cx="2011680" cy="0"/>
          </a:xfrm>
          <a:prstGeom xmlns:a="http://schemas.openxmlformats.org/drawingml/2006/main" prst="line">
            <a:avLst/>
          </a:prstGeom>
          <a:noFill xmlns:a="http://schemas.openxmlformats.org/drawingml/2006/main"/>
          <a:ln xmlns:a="http://schemas.openxmlformats.org/drawingml/2006/main" w="50800">
            <a:solidFill>
              <a:srgbClr val="59616A"/>
            </a:solidFill>
            <a:prstDash val="solid"/>
            <a:tailEnd type="none"/>
          </a:ln>
        </p:spPr>
      </p:sp>
      <p:sp>
        <p:nvSpPr>
          <p:cNvPr id="14" name="STC-04-phase-body-0">
            <a:extLst xmlns:a="http://schemas.openxmlformats.org/drawingml/2006/main">
              <a:ext uri="{FF2B5EF4-FFF2-40B4-BE49-F238E27FC236}">
                <a16:creationId xmlns:a16="http://schemas.microsoft.com/office/drawing/2014/main" id="{D3EDF87F-330E-402B-BED1-949CABA05E93}"/>
              </a:ext>
            </a:extLst>
          </p:cNvPr>
          <p:cNvSpPr>
            <a:spLocks xmlns:a="http://schemas.openxmlformats.org/drawingml/2006/main" noGrp="1"/>
          </p:cNvSpPr>
          <p:nvPr/>
        </p:nvSpPr>
        <p:spPr>
          <a:xfrm xmlns:a="http://schemas.openxmlformats.org/drawingml/2006/main">
            <a:off x="768096"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delta · 가중치.</a:t>
            </a:r>
            <a:endParaRPr sz="1800"/>
          </a:p>
          <a:p xmlns:a="http://schemas.openxmlformats.org/drawingml/2006/main">
            <a:pPr marL="0" indent="0">
              <a:buNone/>
            </a:pPr>
            <a:r>
              <a:rPr sz="1800">
                <a:solidFill>
                  <a:srgbClr val="17191C"/>
                </a:solidFill>
                <a:latin typeface="Noto Sans CJK KR"/>
                <a:ea typeface="Noto Sans CJK KR"/>
                <a:cs typeface="Noto Sans CJK KR"/>
              </a:rPr>
              <a:t>배포 아티팩트가 바뀐다</a:t>
            </a:r>
            <a:endParaRPr sz="1800"/>
          </a:p>
        </p:txBody>
      </p:sp>
      <p:sp>
        <p:nvSpPr>
          <p:cNvPr id="15" name="STC-04-phase-arrow-0">
            <a:extLst xmlns:a="http://schemas.openxmlformats.org/drawingml/2006/main">
              <a:ext uri="{FF2B5EF4-FFF2-40B4-BE49-F238E27FC236}">
                <a16:creationId xmlns:a16="http://schemas.microsoft.com/office/drawing/2014/main" id="{783D597A-ACCC-4F6B-94A9-392B971E7A96}"/>
              </a:ext>
            </a:extLst>
          </p:cNvPr>
          <p:cNvSpPr>
            <a:spLocks xmlns:a="http://schemas.openxmlformats.org/drawingml/2006/main" noGrp="1"/>
          </p:cNvSpPr>
          <p:nvPr/>
        </p:nvSpPr>
        <p:spPr>
          <a:xfrm xmlns:a="http://schemas.openxmlformats.org/drawingml/2006/main">
            <a:off x="2962656"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16" name="STC-04-phase-tag-1">
            <a:extLst xmlns:a="http://schemas.openxmlformats.org/drawingml/2006/main">
              <a:ext uri="{FF2B5EF4-FFF2-40B4-BE49-F238E27FC236}">
                <a16:creationId xmlns:a16="http://schemas.microsoft.com/office/drawing/2014/main" id="{DF120A6C-83FF-4F70-8A23-21607B85C1A0}"/>
              </a:ext>
            </a:extLst>
          </p:cNvPr>
          <p:cNvSpPr>
            <a:spLocks xmlns:a="http://schemas.openxmlformats.org/drawingml/2006/main" noGrp="1"/>
          </p:cNvSpPr>
          <p:nvPr/>
        </p:nvSpPr>
        <p:spPr>
          <a:xfrm xmlns:a="http://schemas.openxmlformats.org/drawingml/2006/main">
            <a:off x="3593592"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시계</a:t>
            </a:r>
            <a:endParaRPr sz="1200"/>
          </a:p>
        </p:txBody>
      </p:sp>
      <p:sp>
        <p:nvSpPr>
          <p:cNvPr id="17" name="STC-04-phase-ko-1">
            <a:extLst xmlns:a="http://schemas.openxmlformats.org/drawingml/2006/main">
              <a:ext uri="{FF2B5EF4-FFF2-40B4-BE49-F238E27FC236}">
                <a16:creationId xmlns:a16="http://schemas.microsoft.com/office/drawing/2014/main" id="{EC71ADFB-45C0-4738-8C38-F10FAB21F33F}"/>
              </a:ext>
            </a:extLst>
          </p:cNvPr>
          <p:cNvSpPr>
            <a:spLocks xmlns:a="http://schemas.openxmlformats.org/drawingml/2006/main" noGrp="1"/>
          </p:cNvSpPr>
          <p:nvPr/>
        </p:nvSpPr>
        <p:spPr>
          <a:xfrm xmlns:a="http://schemas.openxmlformats.org/drawingml/2006/main">
            <a:off x="3593592"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라운드</a:t>
            </a:r>
            <a:endParaRPr sz="2300"/>
          </a:p>
        </p:txBody>
      </p:sp>
      <p:sp>
        <p:nvSpPr>
          <p:cNvPr id="18" name="STC-04-phase-rule-1">
            <a:extLst xmlns:a="http://schemas.openxmlformats.org/drawingml/2006/main">
              <a:ext uri="{FF2B5EF4-FFF2-40B4-BE49-F238E27FC236}">
                <a16:creationId xmlns:a16="http://schemas.microsoft.com/office/drawing/2014/main" id="{CD51B805-650E-4380-9B3A-E873D1907749}"/>
              </a:ext>
            </a:extLst>
          </p:cNvPr>
          <p:cNvSpPr>
            <a:spLocks xmlns:a="http://schemas.openxmlformats.org/drawingml/2006/main" noGrp="1"/>
          </p:cNvSpPr>
          <p:nvPr/>
        </p:nvSpPr>
        <p:spPr>
          <a:xfrm xmlns:a="http://schemas.openxmlformats.org/drawingml/2006/main">
            <a:off x="3593592" y="2642616"/>
            <a:ext cx="2011680" cy="0"/>
          </a:xfrm>
          <a:prstGeom xmlns:a="http://schemas.openxmlformats.org/drawingml/2006/main" prst="line">
            <a:avLst/>
          </a:prstGeom>
          <a:noFill xmlns:a="http://schemas.openxmlformats.org/drawingml/2006/main"/>
          <a:ln xmlns:a="http://schemas.openxmlformats.org/drawingml/2006/main" w="50800">
            <a:solidFill>
              <a:srgbClr val="244E8A"/>
            </a:solidFill>
            <a:prstDash val="solid"/>
            <a:tailEnd type="none"/>
          </a:ln>
        </p:spPr>
      </p:sp>
      <p:sp>
        <p:nvSpPr>
          <p:cNvPr id="19" name="STC-04-phase-body-1">
            <a:extLst xmlns:a="http://schemas.openxmlformats.org/drawingml/2006/main">
              <a:ext uri="{FF2B5EF4-FFF2-40B4-BE49-F238E27FC236}">
                <a16:creationId xmlns:a16="http://schemas.microsoft.com/office/drawing/2014/main" id="{CA6AC282-8658-4035-A58F-484C6AC4BB0A}"/>
              </a:ext>
            </a:extLst>
          </p:cNvPr>
          <p:cNvSpPr>
            <a:spLocks xmlns:a="http://schemas.openxmlformats.org/drawingml/2006/main" noGrp="1"/>
          </p:cNvSpPr>
          <p:nvPr/>
        </p:nvSpPr>
        <p:spPr>
          <a:xfrm xmlns:a="http://schemas.openxmlformats.org/drawingml/2006/main">
            <a:off x="3593592"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라운드 ·</a:t>
            </a:r>
            <a:endParaRPr sz="1800"/>
          </a:p>
          <a:p xmlns:a="http://schemas.openxmlformats.org/drawingml/2006/main">
            <a:pPr marL="0" indent="0">
              <a:buNone/>
            </a:pPr>
            <a:r>
              <a:rPr sz="1800">
                <a:solidFill>
                  <a:srgbClr val="17191C"/>
                </a:solidFill>
                <a:latin typeface="Noto Sans CJK KR"/>
                <a:ea typeface="Noto Sans CJK KR"/>
                <a:cs typeface="Noto Sans CJK KR"/>
              </a:rPr>
              <a:t>sleep 라운드 k마다</a:t>
            </a:r>
            <a:endParaRPr sz="1800"/>
          </a:p>
        </p:txBody>
      </p:sp>
      <p:sp>
        <p:nvSpPr>
          <p:cNvPr id="20" name="STC-04-phase-arrow-1">
            <a:extLst xmlns:a="http://schemas.openxmlformats.org/drawingml/2006/main">
              <a:ext uri="{FF2B5EF4-FFF2-40B4-BE49-F238E27FC236}">
                <a16:creationId xmlns:a16="http://schemas.microsoft.com/office/drawing/2014/main" id="{78036B2A-3081-4A46-8C23-82C208923D54}"/>
              </a:ext>
            </a:extLst>
          </p:cNvPr>
          <p:cNvSpPr>
            <a:spLocks xmlns:a="http://schemas.openxmlformats.org/drawingml/2006/main" noGrp="1"/>
          </p:cNvSpPr>
          <p:nvPr/>
        </p:nvSpPr>
        <p:spPr>
          <a:xfrm xmlns:a="http://schemas.openxmlformats.org/drawingml/2006/main">
            <a:off x="5788152"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1" name="STC-04-phase-tag-2">
            <a:extLst xmlns:a="http://schemas.openxmlformats.org/drawingml/2006/main">
              <a:ext uri="{FF2B5EF4-FFF2-40B4-BE49-F238E27FC236}">
                <a16:creationId xmlns:a16="http://schemas.microsoft.com/office/drawing/2014/main" id="{14A86847-A229-4A53-8F2A-E51A71B0A175}"/>
              </a:ext>
            </a:extLst>
          </p:cNvPr>
          <p:cNvSpPr>
            <a:spLocks xmlns:a="http://schemas.openxmlformats.org/drawingml/2006/main" noGrp="1"/>
          </p:cNvSpPr>
          <p:nvPr/>
        </p:nvSpPr>
        <p:spPr>
          <a:xfrm xmlns:a="http://schemas.openxmlformats.org/drawingml/2006/main">
            <a:off x="6419088"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이점</a:t>
            </a:r>
            <a:endParaRPr sz="1200"/>
          </a:p>
        </p:txBody>
      </p:sp>
      <p:sp>
        <p:nvSpPr>
          <p:cNvPr id="22" name="STC-04-phase-ko-2">
            <a:extLst xmlns:a="http://schemas.openxmlformats.org/drawingml/2006/main">
              <a:ext uri="{FF2B5EF4-FFF2-40B4-BE49-F238E27FC236}">
                <a16:creationId xmlns:a16="http://schemas.microsoft.com/office/drawing/2014/main" id="{582DA535-C347-498A-B2F9-C40BAE20CE4F}"/>
              </a:ext>
            </a:extLst>
          </p:cNvPr>
          <p:cNvSpPr>
            <a:spLocks xmlns:a="http://schemas.openxmlformats.org/drawingml/2006/main" noGrp="1"/>
          </p:cNvSpPr>
          <p:nvPr/>
        </p:nvSpPr>
        <p:spPr>
          <a:xfrm xmlns:a="http://schemas.openxmlformats.org/drawingml/2006/main">
            <a:off x="6419088"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0</a:t>
            </a:r>
            <a:endParaRPr sz="2300"/>
          </a:p>
        </p:txBody>
      </p:sp>
      <p:sp>
        <p:nvSpPr>
          <p:cNvPr id="23" name="STC-04-phase-rule-2">
            <a:extLst xmlns:a="http://schemas.openxmlformats.org/drawingml/2006/main">
              <a:ext uri="{FF2B5EF4-FFF2-40B4-BE49-F238E27FC236}">
                <a16:creationId xmlns:a16="http://schemas.microsoft.com/office/drawing/2014/main" id="{604E16CE-5100-4FC5-8DB9-7A23B695EE76}"/>
              </a:ext>
            </a:extLst>
          </p:cNvPr>
          <p:cNvSpPr>
            <a:spLocks xmlns:a="http://schemas.openxmlformats.org/drawingml/2006/main" noGrp="1"/>
          </p:cNvSpPr>
          <p:nvPr/>
        </p:nvSpPr>
        <p:spPr>
          <a:xfrm xmlns:a="http://schemas.openxmlformats.org/drawingml/2006/main">
            <a:off x="6419088" y="2642616"/>
            <a:ext cx="2011680" cy="0"/>
          </a:xfrm>
          <a:prstGeom xmlns:a="http://schemas.openxmlformats.org/drawingml/2006/main" prst="line">
            <a:avLst/>
          </a:prstGeom>
          <a:noFill xmlns:a="http://schemas.openxmlformats.org/drawingml/2006/main"/>
          <a:ln xmlns:a="http://schemas.openxmlformats.org/drawingml/2006/main" w="50800">
            <a:solidFill>
              <a:srgbClr val="9A442D"/>
            </a:solidFill>
            <a:prstDash val="solid"/>
            <a:tailEnd type="none"/>
          </a:ln>
        </p:spPr>
      </p:sp>
      <p:sp>
        <p:nvSpPr>
          <p:cNvPr id="24" name="STC-04-phase-body-2">
            <a:extLst xmlns:a="http://schemas.openxmlformats.org/drawingml/2006/main">
              <a:ext uri="{FF2B5EF4-FFF2-40B4-BE49-F238E27FC236}">
                <a16:creationId xmlns:a16="http://schemas.microsoft.com/office/drawing/2014/main" id="{5BF3497A-374B-4090-AF18-46EDBA191D7C}"/>
              </a:ext>
            </a:extLst>
          </p:cNvPr>
          <p:cNvSpPr>
            <a:spLocks xmlns:a="http://schemas.openxmlformats.org/drawingml/2006/main" noGrp="1"/>
          </p:cNvSpPr>
          <p:nvPr/>
        </p:nvSpPr>
        <p:spPr>
          <a:xfrm xmlns:a="http://schemas.openxmlformats.org/drawingml/2006/main">
            <a:off x="6419088"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0 · 담긴 사실의</a:t>
            </a:r>
            <a:endParaRPr sz="1800"/>
          </a:p>
          <a:p xmlns:a="http://schemas.openxmlformats.org/drawingml/2006/main">
            <a:pPr marL="0" indent="0">
              <a:buNone/>
            </a:pPr>
            <a:r>
              <a:rPr sz="1800">
                <a:solidFill>
                  <a:srgbClr val="17191C"/>
                </a:solidFill>
                <a:latin typeface="Noto Sans CJK KR"/>
                <a:ea typeface="Noto Sans CJK KR"/>
                <a:cs typeface="Noto Sans CJK KR"/>
              </a:rPr>
              <a:t>질의당 한계 비용이 0이다</a:t>
            </a:r>
            <a:endParaRPr sz="1800"/>
          </a:p>
        </p:txBody>
      </p:sp>
      <p:sp>
        <p:nvSpPr>
          <p:cNvPr id="25" name="STC-04-phase-arrow-2">
            <a:extLst xmlns:a="http://schemas.openxmlformats.org/drawingml/2006/main">
              <a:ext uri="{FF2B5EF4-FFF2-40B4-BE49-F238E27FC236}">
                <a16:creationId xmlns:a16="http://schemas.microsoft.com/office/drawing/2014/main" id="{4E7BA787-51DD-48C2-90C7-E4BC25DA526D}"/>
              </a:ext>
            </a:extLst>
          </p:cNvPr>
          <p:cNvSpPr>
            <a:spLocks xmlns:a="http://schemas.openxmlformats.org/drawingml/2006/main" noGrp="1"/>
          </p:cNvSpPr>
          <p:nvPr/>
        </p:nvSpPr>
        <p:spPr>
          <a:xfrm xmlns:a="http://schemas.openxmlformats.org/drawingml/2006/main">
            <a:off x="8613648"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04-phase-tag-3">
            <a:extLst xmlns:a="http://schemas.openxmlformats.org/drawingml/2006/main">
              <a:ext uri="{FF2B5EF4-FFF2-40B4-BE49-F238E27FC236}">
                <a16:creationId xmlns:a16="http://schemas.microsoft.com/office/drawing/2014/main" id="{3D317DA2-F326-4299-B8BF-54ACE3EE2AA9}"/>
              </a:ext>
            </a:extLst>
          </p:cNvPr>
          <p:cNvSpPr>
            <a:spLocks xmlns:a="http://schemas.openxmlformats.org/drawingml/2006/main" noGrp="1"/>
          </p:cNvSpPr>
          <p:nvPr/>
        </p:nvSpPr>
        <p:spPr>
          <a:xfrm xmlns:a="http://schemas.openxmlformats.org/drawingml/2006/main">
            <a:off x="9244584"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대가</a:t>
            </a:r>
            <a:endParaRPr sz="1200"/>
          </a:p>
        </p:txBody>
      </p:sp>
      <p:sp>
        <p:nvSpPr>
          <p:cNvPr id="27" name="STC-04-phase-ko-3">
            <a:extLst xmlns:a="http://schemas.openxmlformats.org/drawingml/2006/main">
              <a:ext uri="{FF2B5EF4-FFF2-40B4-BE49-F238E27FC236}">
                <a16:creationId xmlns:a16="http://schemas.microsoft.com/office/drawing/2014/main" id="{F5446ADD-A14C-416D-B2F4-1A4E119F4329}"/>
              </a:ext>
            </a:extLst>
          </p:cNvPr>
          <p:cNvSpPr>
            <a:spLocks xmlns:a="http://schemas.openxmlformats.org/drawingml/2006/main" noGrp="1"/>
          </p:cNvSpPr>
          <p:nvPr/>
        </p:nvSpPr>
        <p:spPr>
          <a:xfrm xmlns:a="http://schemas.openxmlformats.org/drawingml/2006/main">
            <a:off x="9244584"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배칭</a:t>
            </a:r>
            <a:endParaRPr sz="2300"/>
          </a:p>
        </p:txBody>
      </p:sp>
      <p:sp>
        <p:nvSpPr>
          <p:cNvPr id="28" name="STC-04-phase-rule-3">
            <a:extLst xmlns:a="http://schemas.openxmlformats.org/drawingml/2006/main">
              <a:ext uri="{FF2B5EF4-FFF2-40B4-BE49-F238E27FC236}">
                <a16:creationId xmlns:a16="http://schemas.microsoft.com/office/drawing/2014/main" id="{4455D656-930A-404D-BF54-7ED24B2942EA}"/>
              </a:ext>
            </a:extLst>
          </p:cNvPr>
          <p:cNvSpPr>
            <a:spLocks xmlns:a="http://schemas.openxmlformats.org/drawingml/2006/main" noGrp="1"/>
          </p:cNvSpPr>
          <p:nvPr/>
        </p:nvSpPr>
        <p:spPr>
          <a:xfrm xmlns:a="http://schemas.openxmlformats.org/drawingml/2006/main">
            <a:off x="9244584" y="2642616"/>
            <a:ext cx="2011680" cy="0"/>
          </a:xfrm>
          <a:prstGeom xmlns:a="http://schemas.openxmlformats.org/drawingml/2006/main" prst="line">
            <a:avLst/>
          </a:prstGeom>
          <a:noFill xmlns:a="http://schemas.openxmlformats.org/drawingml/2006/main"/>
          <a:ln xmlns:a="http://schemas.openxmlformats.org/drawingml/2006/main" w="50800">
            <a:solidFill>
              <a:srgbClr val="2F6B63"/>
            </a:solidFill>
            <a:prstDash val="solid"/>
            <a:tailEnd type="none"/>
          </a:ln>
        </p:spPr>
      </p:sp>
      <p:sp>
        <p:nvSpPr>
          <p:cNvPr id="29" name="STC-04-phase-body-3">
            <a:extLst xmlns:a="http://schemas.openxmlformats.org/drawingml/2006/main">
              <a:ext uri="{FF2B5EF4-FFF2-40B4-BE49-F238E27FC236}">
                <a16:creationId xmlns:a16="http://schemas.microsoft.com/office/drawing/2014/main" id="{FE89CD84-AEBE-4991-983F-DACD28BF3807}"/>
              </a:ext>
            </a:extLst>
          </p:cNvPr>
          <p:cNvSpPr>
            <a:spLocks xmlns:a="http://schemas.openxmlformats.org/drawingml/2006/main" noGrp="1"/>
          </p:cNvSpPr>
          <p:nvPr/>
        </p:nvSpPr>
        <p:spPr>
          <a:xfrm xmlns:a="http://schemas.openxmlformats.org/drawingml/2006/main">
            <a:off x="9244584"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배칭 ·</a:t>
            </a:r>
            <a:endParaRPr sz="1800"/>
          </a:p>
          <a:p xmlns:a="http://schemas.openxmlformats.org/drawingml/2006/main">
            <a:pPr marL="0" indent="0">
              <a:buNone/>
            </a:pPr>
            <a:r>
              <a:rPr sz="1800">
                <a:solidFill>
                  <a:srgbClr val="17191C"/>
                </a:solidFill>
                <a:latin typeface="Noto Sans CJK KR"/>
                <a:ea typeface="Noto Sans CJK KR"/>
                <a:cs typeface="Noto Sans CJK KR"/>
              </a:rPr>
              <a:t>shared-weight batching이 깨진다</a:t>
            </a:r>
            <a:endParaRPr sz="1800"/>
          </a:p>
        </p:txBody>
      </p:sp>
      <p:sp>
        <p:nvSpPr>
          <p:cNvPr id="30" name="STC-04-phase-invariant">
            <a:extLst xmlns:a="http://schemas.openxmlformats.org/drawingml/2006/main">
              <a:ext uri="{FF2B5EF4-FFF2-40B4-BE49-F238E27FC236}">
                <a16:creationId xmlns:a16="http://schemas.microsoft.com/office/drawing/2014/main" id="{03288DCF-E840-4104-9A86-10724C88811D}"/>
              </a:ext>
            </a:extLst>
          </p:cNvPr>
          <p:cNvSpPr>
            <a:spLocks xmlns:a="http://schemas.openxmlformats.org/drawingml/2006/main" noGrp="1"/>
          </p:cNvSpPr>
          <p:nvPr/>
        </p:nvSpPr>
        <p:spPr>
          <a:xfrm xmlns:a="http://schemas.openxmlformats.org/drawingml/2006/main">
            <a:off x="1188720" y="4736592"/>
            <a:ext cx="9811512" cy="6035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31" name="STC-04-phase-invariant-text">
            <a:extLst xmlns:a="http://schemas.openxmlformats.org/drawingml/2006/main">
              <a:ext uri="{FF2B5EF4-FFF2-40B4-BE49-F238E27FC236}">
                <a16:creationId xmlns:a16="http://schemas.microsoft.com/office/drawing/2014/main" id="{F965FB3E-3D1D-4CF8-8579-F6405F044BA3}"/>
              </a:ext>
            </a:extLst>
          </p:cNvPr>
          <p:cNvSpPr>
            <a:spLocks xmlns:a="http://schemas.openxmlformats.org/drawingml/2006/main" noGrp="1"/>
          </p:cNvSpPr>
          <p:nvPr/>
        </p:nvSpPr>
        <p:spPr>
          <a:xfrm xmlns:a="http://schemas.openxmlformats.org/drawingml/2006/main">
            <a:off x="1435608" y="4919472"/>
            <a:ext cx="93268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질의당 한계 decode 비용 0을 사기 위해 배치 효율과 웜 스토리지를 지불한다</a:t>
            </a:r>
            <a:endParaRPr sz="1700"/>
          </a:p>
        </p:txBody>
      </p:sp>
    </p:spTree>
    <p:extLst>
      <p:ext uri="{BB962C8B-B14F-4D97-AF65-F5344CB8AC3E}">
        <p14:creationId xmlns:p14="http://schemas.microsoft.com/office/powerpoint/2010/main" val="37494492"/>
      </p:ext>
    </p:extLst>
  </p:cSld>
</p:sld>
</file>

<file path=ppt/slides/slide6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THETA-PATH</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STC-067</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쓰기 primitive ① — LoRA, 그리고 그것이 풀지 않은 문제</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확립</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ch03, ch19 · [LoRA arXiv:2106.09685] §4.1, §4.2</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67</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형태</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ΔΘ = BA</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rank r</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바이트가 선형</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merge</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지연 추가 0 (구조)</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탈락</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시계 부재</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지위</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쓰기 primitive</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미보고</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load 시간 없음</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LoRA는 배포 경제학을 풀었지 기억 문제를</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풀지 않았다. 시계가 없어 이 범주도 아니다</a:t>
            </a:r>
            <a:endParaRPr sz="1500"/>
          </a:p>
        </p:txBody>
      </p:sp>
    </p:spTree>
    <p:extLst>
      <p:ext uri="{BB962C8B-B14F-4D97-AF65-F5344CB8AC3E}">
        <p14:creationId xmlns:p14="http://schemas.microsoft.com/office/powerpoint/2010/main" val="931853972"/>
      </p:ext>
    </p:extLst>
  </p:cSld>
</p:sld>
</file>

<file path=ppt/slides/slide6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3-section">
            <a:extLst xmlns:a="http://schemas.openxmlformats.org/drawingml/2006/main">
              <a:ext uri="{FF2B5EF4-FFF2-40B4-BE49-F238E27FC236}">
                <a16:creationId xmlns:a16="http://schemas.microsoft.com/office/drawing/2014/main" id="{DEF75E10-FC43-4F90-A29D-73D1CBC1DCC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THETA-PATH</a:t>
            </a:r>
            <a:endParaRPr sz="950"/>
          </a:p>
        </p:txBody>
      </p:sp>
      <p:sp>
        <p:nvSpPr>
          <p:cNvPr id="3" name="STC-13-slide-id">
            <a:extLst xmlns:a="http://schemas.openxmlformats.org/drawingml/2006/main">
              <a:ext uri="{FF2B5EF4-FFF2-40B4-BE49-F238E27FC236}">
                <a16:creationId xmlns:a16="http://schemas.microsoft.com/office/drawing/2014/main" id="{207357D7-4303-4447-A61C-4C79283F663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STC-068</a:t>
            </a:r>
            <a:endParaRPr sz="950"/>
          </a:p>
        </p:txBody>
      </p:sp>
      <p:sp>
        <p:nvSpPr>
          <p:cNvPr id="4" name="STC-13-headline">
            <a:extLst xmlns:a="http://schemas.openxmlformats.org/drawingml/2006/main">
              <a:ext uri="{FF2B5EF4-FFF2-40B4-BE49-F238E27FC236}">
                <a16:creationId xmlns:a16="http://schemas.microsoft.com/office/drawing/2014/main" id="{8E260E54-4985-4C50-817D-C85BDF65F5D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쓰기 primitive ② — ROME과 MEMIT, 그리고 저자 자신의 유보</a:t>
            </a:r>
            <a:endParaRPr sz="3000"/>
          </a:p>
        </p:txBody>
      </p:sp>
      <p:sp>
        <p:nvSpPr>
          <p:cNvPr id="5" name="STC-13-status-label">
            <a:extLst xmlns:a="http://schemas.openxmlformats.org/drawingml/2006/main">
              <a:ext uri="{FF2B5EF4-FFF2-40B4-BE49-F238E27FC236}">
                <a16:creationId xmlns:a16="http://schemas.microsoft.com/office/drawing/2014/main" id="{76CEFCAB-90F8-4FF1-91A9-495F4B23416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확립</a:t>
            </a:r>
            <a:endParaRPr sz="1000"/>
          </a:p>
        </p:txBody>
      </p:sp>
      <p:sp>
        <p:nvSpPr>
          <p:cNvPr id="6" name="STC-13-status-rule">
            <a:extLst xmlns:a="http://schemas.openxmlformats.org/drawingml/2006/main">
              <a:ext uri="{FF2B5EF4-FFF2-40B4-BE49-F238E27FC236}">
                <a16:creationId xmlns:a16="http://schemas.microsoft.com/office/drawing/2014/main" id="{07360112-59F1-4B26-BA92-7088E3FD40C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13-footer-rule">
            <a:extLst xmlns:a="http://schemas.openxmlformats.org/drawingml/2006/main">
              <a:ext uri="{FF2B5EF4-FFF2-40B4-BE49-F238E27FC236}">
                <a16:creationId xmlns:a16="http://schemas.microsoft.com/office/drawing/2014/main" id="{26DC731C-F3A6-48D1-B411-9B2CD636969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3-source-footer">
            <a:extLst xmlns:a="http://schemas.openxmlformats.org/drawingml/2006/main">
              <a:ext uri="{FF2B5EF4-FFF2-40B4-BE49-F238E27FC236}">
                <a16:creationId xmlns:a16="http://schemas.microsoft.com/office/drawing/2014/main" id="{F8DE0C07-9BB3-4619-B392-5FCFC17ACBE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ch19 · [ROME §3.7, arXiv:2202.05262] · [MEMIT §5.2.2, arXiv:2210.07229]</a:t>
            </a:r>
            <a:endParaRPr sz="850"/>
          </a:p>
        </p:txBody>
      </p:sp>
      <p:sp>
        <p:nvSpPr>
          <p:cNvPr id="9" name="STC-13-page-number">
            <a:extLst xmlns:a="http://schemas.openxmlformats.org/drawingml/2006/main">
              <a:ext uri="{FF2B5EF4-FFF2-40B4-BE49-F238E27FC236}">
                <a16:creationId xmlns:a16="http://schemas.microsoft.com/office/drawing/2014/main" id="{77A42865-7B64-4DDF-99E9-C4F94EB652F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68</a:t>
            </a:r>
            <a:endParaRPr sz="850"/>
          </a:p>
        </p:txBody>
      </p:sp>
      <p:sp>
        <p:nvSpPr>
          <p:cNvPr id="11" name="STC-13-data-layer-0">
            <a:extLst xmlns:a="http://schemas.openxmlformats.org/drawingml/2006/main">
              <a:ext uri="{FF2B5EF4-FFF2-40B4-BE49-F238E27FC236}">
                <a16:creationId xmlns:a16="http://schemas.microsoft.com/office/drawing/2014/main" id="{E5BBE619-AB19-42FA-8122-D61948B604E8}"/>
              </a:ext>
            </a:extLst>
          </p:cNvPr>
          <p:cNvSpPr>
            <a:spLocks xmlns:a="http://schemas.openxmlformats.org/drawingml/2006/main" noGrp="1"/>
          </p:cNvSpPr>
          <p:nvPr/>
        </p:nvSpPr>
        <p:spPr>
          <a:xfrm xmlns:a="http://schemas.openxmlformats.org/drawingml/2006/main">
            <a:off x="1618488" y="1664208"/>
            <a:ext cx="8961120" cy="56692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12" name="STC-13-data-label-0">
            <a:extLst xmlns:a="http://schemas.openxmlformats.org/drawingml/2006/main">
              <a:ext uri="{FF2B5EF4-FFF2-40B4-BE49-F238E27FC236}">
                <a16:creationId xmlns:a16="http://schemas.microsoft.com/office/drawing/2014/main" id="{FDF9C9BA-3329-45E9-ABC4-2B36508291DA}"/>
              </a:ext>
            </a:extLst>
          </p:cNvPr>
          <p:cNvSpPr>
            <a:spLocks xmlns:a="http://schemas.openxmlformats.org/drawingml/2006/main" noGrp="1"/>
          </p:cNvSpPr>
          <p:nvPr/>
        </p:nvSpPr>
        <p:spPr>
          <a:xfrm xmlns:a="http://schemas.openxmlformats.org/drawingml/2006/main">
            <a:off x="1783080" y="1828800"/>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FFFFFF"/>
                </a:solidFill>
                <a:latin typeface="Noto Sans Mono CJK KR"/>
                <a:ea typeface="Noto Sans Mono CJK KR"/>
                <a:cs typeface="Noto Sans Mono CJK KR"/>
              </a:rPr>
              <a:t>ROME 갱신</a:t>
            </a:r>
            <a:endParaRPr sz="1050"/>
          </a:p>
        </p:txBody>
      </p:sp>
      <p:sp>
        <p:nvSpPr>
          <p:cNvPr id="13" name="STC-13-data-body-0">
            <a:extLst xmlns:a="http://schemas.openxmlformats.org/drawingml/2006/main">
              <a:ext uri="{FF2B5EF4-FFF2-40B4-BE49-F238E27FC236}">
                <a16:creationId xmlns:a16="http://schemas.microsoft.com/office/drawing/2014/main" id="{34676F1F-A035-47A9-9C53-7C294D97CEF1}"/>
              </a:ext>
            </a:extLst>
          </p:cNvPr>
          <p:cNvSpPr>
            <a:spLocks xmlns:a="http://schemas.openxmlformats.org/drawingml/2006/main" noGrp="1"/>
          </p:cNvSpPr>
          <p:nvPr/>
        </p:nvSpPr>
        <p:spPr>
          <a:xfrm xmlns:a="http://schemas.openxmlformats.org/drawingml/2006/main">
            <a:off x="3401568" y="1755648"/>
            <a:ext cx="6995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FFFFFF"/>
                </a:solidFill>
                <a:latin typeface="Noto Sans CJK KR"/>
                <a:ea typeface="Noto Sans CJK KR"/>
                <a:cs typeface="Noto Sans CJK KR"/>
              </a:rPr>
              <a:t>등식제약 최소제곱의 닫힌 해. η_Θ가 없다</a:t>
            </a:r>
            <a:endParaRPr sz="1450"/>
          </a:p>
        </p:txBody>
      </p:sp>
      <p:sp>
        <p:nvSpPr>
          <p:cNvPr id="14" name="STC-13-data-layer-1">
            <a:extLst xmlns:a="http://schemas.openxmlformats.org/drawingml/2006/main">
              <a:ext uri="{FF2B5EF4-FFF2-40B4-BE49-F238E27FC236}">
                <a16:creationId xmlns:a16="http://schemas.microsoft.com/office/drawing/2014/main" id="{2C7AD258-BAEB-4994-96A5-F1AB29FB68DF}"/>
              </a:ext>
            </a:extLst>
          </p:cNvPr>
          <p:cNvSpPr>
            <a:spLocks xmlns:a="http://schemas.openxmlformats.org/drawingml/2006/main" noGrp="1"/>
          </p:cNvSpPr>
          <p:nvPr/>
        </p:nvSpPr>
        <p:spPr>
          <a:xfrm xmlns:a="http://schemas.openxmlformats.org/drawingml/2006/main">
            <a:off x="2258568" y="2450592"/>
            <a:ext cx="7680960" cy="566928"/>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3-data-label-1">
            <a:extLst xmlns:a="http://schemas.openxmlformats.org/drawingml/2006/main">
              <a:ext uri="{FF2B5EF4-FFF2-40B4-BE49-F238E27FC236}">
                <a16:creationId xmlns:a16="http://schemas.microsoft.com/office/drawing/2014/main" id="{02CDF8C0-80BF-43B8-B0F1-3E7D91CAE3C2}"/>
              </a:ext>
            </a:extLst>
          </p:cNvPr>
          <p:cNvSpPr>
            <a:spLocks xmlns:a="http://schemas.openxmlformats.org/drawingml/2006/main" noGrp="1"/>
          </p:cNvSpPr>
          <p:nvPr/>
        </p:nvSpPr>
        <p:spPr>
          <a:xfrm xmlns:a="http://schemas.openxmlformats.org/drawingml/2006/main">
            <a:off x="2423160" y="2615184"/>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저자 유보</a:t>
            </a:r>
            <a:endParaRPr sz="1050"/>
          </a:p>
        </p:txBody>
      </p:sp>
      <p:sp>
        <p:nvSpPr>
          <p:cNvPr id="16" name="STC-13-data-body-1">
            <a:extLst xmlns:a="http://schemas.openxmlformats.org/drawingml/2006/main">
              <a:ext uri="{FF2B5EF4-FFF2-40B4-BE49-F238E27FC236}">
                <a16:creationId xmlns:a16="http://schemas.microsoft.com/office/drawing/2014/main" id="{BC62C31C-D212-42ED-AE30-842B56196CD1}"/>
              </a:ext>
            </a:extLst>
          </p:cNvPr>
          <p:cNvSpPr>
            <a:spLocks xmlns:a="http://schemas.openxmlformats.org/drawingml/2006/main" noGrp="1"/>
          </p:cNvSpPr>
          <p:nvPr/>
        </p:nvSpPr>
        <p:spPr>
          <a:xfrm xmlns:a="http://schemas.openxmlformats.org/drawingml/2006/main">
            <a:off x="4041648" y="2542032"/>
            <a:ext cx="5715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17191C"/>
                </a:solidFill>
                <a:latin typeface="Noto Sans CJK KR"/>
                <a:ea typeface="Noto Sans CJK KR"/>
                <a:cs typeface="Noto Sans CJK KR"/>
              </a:rPr>
              <a:t>'실용적 방법으로 의도되지 않았다'</a:t>
            </a:r>
            <a:endParaRPr sz="1450"/>
          </a:p>
        </p:txBody>
      </p:sp>
      <p:sp>
        <p:nvSpPr>
          <p:cNvPr id="17" name="STC-13-data-layer-2">
            <a:extLst xmlns:a="http://schemas.openxmlformats.org/drawingml/2006/main">
              <a:ext uri="{FF2B5EF4-FFF2-40B4-BE49-F238E27FC236}">
                <a16:creationId xmlns:a16="http://schemas.microsoft.com/office/drawing/2014/main" id="{D6FAD0EE-091C-49BC-AC96-FF7C3FD7BF30}"/>
              </a:ext>
            </a:extLst>
          </p:cNvPr>
          <p:cNvSpPr>
            <a:spLocks xmlns:a="http://schemas.openxmlformats.org/drawingml/2006/main" noGrp="1"/>
          </p:cNvSpPr>
          <p:nvPr/>
        </p:nvSpPr>
        <p:spPr>
          <a:xfrm xmlns:a="http://schemas.openxmlformats.org/drawingml/2006/main">
            <a:off x="2898648" y="3236976"/>
            <a:ext cx="6400800" cy="566928"/>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8" name="STC-13-data-label-2">
            <a:extLst xmlns:a="http://schemas.openxmlformats.org/drawingml/2006/main">
              <a:ext uri="{FF2B5EF4-FFF2-40B4-BE49-F238E27FC236}">
                <a16:creationId xmlns:a16="http://schemas.microsoft.com/office/drawing/2014/main" id="{AA018C36-C849-429F-A2CB-A09888ED5181}"/>
              </a:ext>
            </a:extLst>
          </p:cNvPr>
          <p:cNvSpPr>
            <a:spLocks xmlns:a="http://schemas.openxmlformats.org/drawingml/2006/main" noGrp="1"/>
          </p:cNvSpPr>
          <p:nvPr/>
        </p:nvSpPr>
        <p:spPr>
          <a:xfrm xmlns:a="http://schemas.openxmlformats.org/drawingml/2006/main">
            <a:off x="3063240" y="3401568"/>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MEMIT</a:t>
            </a:r>
            <a:endParaRPr sz="1050"/>
          </a:p>
        </p:txBody>
      </p:sp>
      <p:sp>
        <p:nvSpPr>
          <p:cNvPr id="19" name="STC-13-data-body-2">
            <a:extLst xmlns:a="http://schemas.openxmlformats.org/drawingml/2006/main">
              <a:ext uri="{FF2B5EF4-FFF2-40B4-BE49-F238E27FC236}">
                <a16:creationId xmlns:a16="http://schemas.microsoft.com/office/drawing/2014/main" id="{41815879-EDCF-477A-A120-7092A00F5988}"/>
              </a:ext>
            </a:extLst>
          </p:cNvPr>
          <p:cNvSpPr>
            <a:spLocks xmlns:a="http://schemas.openxmlformats.org/drawingml/2006/main" noGrp="1"/>
          </p:cNvSpPr>
          <p:nvPr/>
        </p:nvSpPr>
        <p:spPr>
          <a:xfrm xmlns:a="http://schemas.openxmlformats.org/drawingml/2006/main">
            <a:off x="4681728" y="3328416"/>
            <a:ext cx="4434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같은 편집을 대량으로 확장. 제자리 덧셈</a:t>
            </a:r>
            <a:endParaRPr sz="1350"/>
          </a:p>
        </p:txBody>
      </p:sp>
      <p:sp>
        <p:nvSpPr>
          <p:cNvPr id="20" name="STC-13-data-layer-3">
            <a:extLst xmlns:a="http://schemas.openxmlformats.org/drawingml/2006/main">
              <a:ext uri="{FF2B5EF4-FFF2-40B4-BE49-F238E27FC236}">
                <a16:creationId xmlns:a16="http://schemas.microsoft.com/office/drawing/2014/main" id="{FBD0C7D7-10DE-463B-9217-97D247B03C72}"/>
              </a:ext>
            </a:extLst>
          </p:cNvPr>
          <p:cNvSpPr>
            <a:spLocks xmlns:a="http://schemas.openxmlformats.org/drawingml/2006/main" noGrp="1"/>
          </p:cNvSpPr>
          <p:nvPr/>
        </p:nvSpPr>
        <p:spPr>
          <a:xfrm xmlns:a="http://schemas.openxmlformats.org/drawingml/2006/main">
            <a:off x="3538728" y="4023360"/>
            <a:ext cx="5120640" cy="566928"/>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13-data-label-3">
            <a:extLst xmlns:a="http://schemas.openxmlformats.org/drawingml/2006/main">
              <a:ext uri="{FF2B5EF4-FFF2-40B4-BE49-F238E27FC236}">
                <a16:creationId xmlns:a16="http://schemas.microsoft.com/office/drawing/2014/main" id="{8DA5B66F-AB6C-424C-B38E-EC87549B7458}"/>
              </a:ext>
            </a:extLst>
          </p:cNvPr>
          <p:cNvSpPr>
            <a:spLocks xmlns:a="http://schemas.openxmlformats.org/drawingml/2006/main" noGrp="1"/>
          </p:cNvSpPr>
          <p:nvPr/>
        </p:nvSpPr>
        <p:spPr>
          <a:xfrm xmlns:a="http://schemas.openxmlformats.org/drawingml/2006/main">
            <a:off x="3703320" y="4187952"/>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지위</a:t>
            </a:r>
            <a:endParaRPr sz="1050"/>
          </a:p>
        </p:txBody>
      </p:sp>
      <p:sp>
        <p:nvSpPr>
          <p:cNvPr id="22" name="STC-13-data-body-3">
            <a:extLst xmlns:a="http://schemas.openxmlformats.org/drawingml/2006/main">
              <a:ext uri="{FF2B5EF4-FFF2-40B4-BE49-F238E27FC236}">
                <a16:creationId xmlns:a16="http://schemas.microsoft.com/office/drawing/2014/main" id="{B07BDB02-D4B0-48AF-8A53-11814C8CDC53}"/>
              </a:ext>
            </a:extLst>
          </p:cNvPr>
          <p:cNvSpPr>
            <a:spLocks xmlns:a="http://schemas.openxmlformats.org/drawingml/2006/main" noGrp="1"/>
          </p:cNvSpPr>
          <p:nvPr/>
        </p:nvSpPr>
        <p:spPr>
          <a:xfrm xmlns:a="http://schemas.openxmlformats.org/drawingml/2006/main">
            <a:off x="5321808" y="41148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delta 아티팩트를 만들지 않는다</a:t>
            </a:r>
            <a:endParaRPr sz="1350"/>
          </a:p>
        </p:txBody>
      </p:sp>
      <p:sp>
        <p:nvSpPr>
          <p:cNvPr id="23" name="STC-13-data-layer-4">
            <a:extLst xmlns:a="http://schemas.openxmlformats.org/drawingml/2006/main">
              <a:ext uri="{FF2B5EF4-FFF2-40B4-BE49-F238E27FC236}">
                <a16:creationId xmlns:a16="http://schemas.microsoft.com/office/drawing/2014/main" id="{E60963C1-8D59-4CC2-B99B-C4EA44523D22}"/>
              </a:ext>
            </a:extLst>
          </p:cNvPr>
          <p:cNvSpPr>
            <a:spLocks xmlns:a="http://schemas.openxmlformats.org/drawingml/2006/main" noGrp="1"/>
          </p:cNvSpPr>
          <p:nvPr/>
        </p:nvSpPr>
        <p:spPr>
          <a:xfrm xmlns:a="http://schemas.openxmlformats.org/drawingml/2006/main">
            <a:off x="4178808" y="4809744"/>
            <a:ext cx="3840480" cy="566928"/>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24" name="STC-13-data-label-4">
            <a:extLst xmlns:a="http://schemas.openxmlformats.org/drawingml/2006/main">
              <a:ext uri="{FF2B5EF4-FFF2-40B4-BE49-F238E27FC236}">
                <a16:creationId xmlns:a16="http://schemas.microsoft.com/office/drawing/2014/main" id="{94E567B2-40CF-45FA-B9F9-A1B39A99C7FF}"/>
              </a:ext>
            </a:extLst>
          </p:cNvPr>
          <p:cNvSpPr>
            <a:spLocks xmlns:a="http://schemas.openxmlformats.org/drawingml/2006/main" noGrp="1"/>
          </p:cNvSpPr>
          <p:nvPr/>
        </p:nvSpPr>
        <p:spPr>
          <a:xfrm xmlns:a="http://schemas.openxmlformats.org/drawingml/2006/main">
            <a:off x="4343400" y="4974336"/>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gradient 불필요</a:t>
            </a:r>
            <a:endParaRPr sz="1050"/>
          </a:p>
        </p:txBody>
      </p:sp>
      <p:sp>
        <p:nvSpPr>
          <p:cNvPr id="25" name="STC-13-data-body-4">
            <a:extLst xmlns:a="http://schemas.openxmlformats.org/drawingml/2006/main">
              <a:ext uri="{FF2B5EF4-FFF2-40B4-BE49-F238E27FC236}">
                <a16:creationId xmlns:a16="http://schemas.microsoft.com/office/drawing/2014/main" id="{2C57AF49-F2CA-4C91-AE9F-A85EF45878C8}"/>
              </a:ext>
            </a:extLst>
          </p:cNvPr>
          <p:cNvSpPr>
            <a:spLocks xmlns:a="http://schemas.openxmlformats.org/drawingml/2006/main" noGrp="1"/>
          </p:cNvSpPr>
          <p:nvPr/>
        </p:nvSpPr>
        <p:spPr>
          <a:xfrm xmlns:a="http://schemas.openxmlformats.org/drawingml/2006/main">
            <a:off x="5961888" y="4901184"/>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Θ 쓰기가 반드시 SGD여야 하는 건 아니다</a:t>
            </a:r>
            <a:endParaRPr sz="1350"/>
          </a:p>
        </p:txBody>
      </p:sp>
      <p:sp>
        <p:nvSpPr>
          <p:cNvPr id="26" name="STC-13-data-warning">
            <a:extLst xmlns:a="http://schemas.openxmlformats.org/drawingml/2006/main">
              <a:ext uri="{FF2B5EF4-FFF2-40B4-BE49-F238E27FC236}">
                <a16:creationId xmlns:a16="http://schemas.microsoft.com/office/drawing/2014/main" id="{FE09EF05-9A9A-4209-946A-2FFD878EDF5A}"/>
              </a:ext>
            </a:extLst>
          </p:cNvPr>
          <p:cNvSpPr>
            <a:spLocks xmlns:a="http://schemas.openxmlformats.org/drawingml/2006/main" noGrp="1"/>
          </p:cNvSpPr>
          <p:nvPr/>
        </p:nvSpPr>
        <p:spPr>
          <a:xfrm xmlns:a="http://schemas.openxmlformats.org/drawingml/2006/main">
            <a:off x="2286000" y="5623560"/>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ans CJK KR"/>
                <a:ea typeface="Noto Sans CJK KR"/>
                <a:cs typeface="Noto Sans CJK KR"/>
              </a:rPr>
              <a:t>등식제약 최소제곱의 닫힌 해. η_Θ가 없다</a:t>
            </a:r>
            <a:endParaRPr sz="1800"/>
          </a:p>
        </p:txBody>
      </p:sp>
    </p:spTree>
    <p:extLst>
      <p:ext uri="{BB962C8B-B14F-4D97-AF65-F5344CB8AC3E}">
        <p14:creationId xmlns:p14="http://schemas.microsoft.com/office/powerpoint/2010/main" val="877466157"/>
      </p:ext>
    </p:extLst>
  </p:cSld>
</p:sld>
</file>

<file path=ppt/slides/slide6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8-section">
            <a:extLst xmlns:a="http://schemas.openxmlformats.org/drawingml/2006/main">
              <a:ext uri="{FF2B5EF4-FFF2-40B4-BE49-F238E27FC236}">
                <a16:creationId xmlns:a16="http://schemas.microsoft.com/office/drawing/2014/main" id="{7B2F2BEC-3602-48B7-8AE5-82606691E202}"/>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THETA-PATH</a:t>
            </a:r>
            <a:endParaRPr sz="950"/>
          </a:p>
        </p:txBody>
      </p:sp>
      <p:sp>
        <p:nvSpPr>
          <p:cNvPr id="3" name="STC-18-slide-id">
            <a:extLst xmlns:a="http://schemas.openxmlformats.org/drawingml/2006/main">
              <a:ext uri="{FF2B5EF4-FFF2-40B4-BE49-F238E27FC236}">
                <a16:creationId xmlns:a16="http://schemas.microsoft.com/office/drawing/2014/main" id="{9AE62136-189D-4710-BD84-EAC5632E1659}"/>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STC-069</a:t>
            </a:r>
            <a:endParaRPr sz="950"/>
          </a:p>
        </p:txBody>
      </p:sp>
      <p:sp>
        <p:nvSpPr>
          <p:cNvPr id="4" name="STC-18-headline">
            <a:extLst xmlns:a="http://schemas.openxmlformats.org/drawingml/2006/main">
              <a:ext uri="{FF2B5EF4-FFF2-40B4-BE49-F238E27FC236}">
                <a16:creationId xmlns:a16="http://schemas.microsoft.com/office/drawing/2014/main" id="{D266D2F1-778B-4F2E-AC6F-D10EF836FA1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편집 용량 10,000과 그 대가</a:t>
            </a:r>
            <a:endParaRPr sz="3000"/>
          </a:p>
        </p:txBody>
      </p:sp>
      <p:sp>
        <p:nvSpPr>
          <p:cNvPr id="5" name="STC-18-status-label">
            <a:extLst xmlns:a="http://schemas.openxmlformats.org/drawingml/2006/main">
              <a:ext uri="{FF2B5EF4-FFF2-40B4-BE49-F238E27FC236}">
                <a16:creationId xmlns:a16="http://schemas.microsoft.com/office/drawing/2014/main" id="{79C701E9-D174-4EFD-A18F-4DC89E642FD4}"/>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9A442D"/>
                </a:solidFill>
                <a:latin typeface="Noto Sans Mono CJK KR"/>
                <a:ea typeface="Noto Sans Mono CJK KR"/>
                <a:cs typeface="Noto Sans Mono CJK KR"/>
              </a:rPr>
              <a:t>논문 수치</a:t>
            </a:r>
            <a:endParaRPr sz="1000"/>
          </a:p>
        </p:txBody>
      </p:sp>
      <p:sp>
        <p:nvSpPr>
          <p:cNvPr id="6" name="STC-18-status-rule">
            <a:extLst xmlns:a="http://schemas.openxmlformats.org/drawingml/2006/main">
              <a:ext uri="{FF2B5EF4-FFF2-40B4-BE49-F238E27FC236}">
                <a16:creationId xmlns:a16="http://schemas.microsoft.com/office/drawing/2014/main" id="{529715C2-F602-473A-947A-5FCB9DCC7AF8}"/>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9A442D"/>
            </a:solidFill>
            <a:prstDash val="solid"/>
            <a:tailEnd type="none"/>
          </a:ln>
        </p:spPr>
      </p:sp>
      <p:sp>
        <p:nvSpPr>
          <p:cNvPr id="7" name="STC-18-footer-rule">
            <a:extLst xmlns:a="http://schemas.openxmlformats.org/drawingml/2006/main">
              <a:ext uri="{FF2B5EF4-FFF2-40B4-BE49-F238E27FC236}">
                <a16:creationId xmlns:a16="http://schemas.microsoft.com/office/drawing/2014/main" id="{403A9EAC-FF66-416C-A329-C6EC95571F21}"/>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8-source-footer">
            <a:extLst xmlns:a="http://schemas.openxmlformats.org/drawingml/2006/main">
              <a:ext uri="{FF2B5EF4-FFF2-40B4-BE49-F238E27FC236}">
                <a16:creationId xmlns:a16="http://schemas.microsoft.com/office/drawing/2014/main" id="{4E420FB2-E8CE-4EDD-9FDC-7CA418F767F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ch19 §19.6.2 · [MEMIT Table 1, Table 2; §5.2.2; App. B.4]</a:t>
            </a:r>
            <a:endParaRPr sz="850"/>
          </a:p>
        </p:txBody>
      </p:sp>
      <p:sp>
        <p:nvSpPr>
          <p:cNvPr id="9" name="STC-18-page-number">
            <a:extLst xmlns:a="http://schemas.openxmlformats.org/drawingml/2006/main">
              <a:ext uri="{FF2B5EF4-FFF2-40B4-BE49-F238E27FC236}">
                <a16:creationId xmlns:a16="http://schemas.microsoft.com/office/drawing/2014/main" id="{4FE270B3-F1A6-4BCA-B282-FDF212DC78F7}"/>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69</a:t>
            </a:r>
            <a:endParaRPr sz="850"/>
          </a:p>
        </p:txBody>
      </p:sp>
      <p:sp>
        <p:nvSpPr>
          <p:cNvPr id="11" name="STC-18-knee-axis-x">
            <a:extLst xmlns:a="http://schemas.openxmlformats.org/drawingml/2006/main">
              <a:ext uri="{FF2B5EF4-FFF2-40B4-BE49-F238E27FC236}">
                <a16:creationId xmlns:a16="http://schemas.microsoft.com/office/drawing/2014/main" id="{C81452CC-D40C-4DD0-AE1A-B0381E5804B5}"/>
              </a:ext>
            </a:extLst>
          </p:cNvPr>
          <p:cNvSpPr>
            <a:spLocks xmlns:a="http://schemas.openxmlformats.org/drawingml/2006/main" noGrp="1"/>
          </p:cNvSpPr>
          <p:nvPr/>
        </p:nvSpPr>
        <p:spPr>
          <a:xfrm xmlns:a="http://schemas.openxmlformats.org/drawingml/2006/main">
            <a:off x="1143000" y="5669280"/>
            <a:ext cx="644652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2" name="STC-18-knee-axis-y">
            <a:extLst xmlns:a="http://schemas.openxmlformats.org/drawingml/2006/main">
              <a:ext uri="{FF2B5EF4-FFF2-40B4-BE49-F238E27FC236}">
                <a16:creationId xmlns:a16="http://schemas.microsoft.com/office/drawing/2014/main" id="{E1F7C2CF-4433-4C4B-8A34-B94592ECA104}"/>
              </a:ext>
            </a:extLst>
          </p:cNvPr>
          <p:cNvSpPr>
            <a:spLocks xmlns:a="http://schemas.openxmlformats.org/drawingml/2006/main" noGrp="1"/>
          </p:cNvSpPr>
          <p:nvPr/>
        </p:nvSpPr>
        <p:spPr>
          <a:xfrm xmlns:a="http://schemas.openxmlformats.org/drawingml/2006/main" flipH="0" flipV="1">
            <a:off x="1143000" y="1691640"/>
            <a:ext cx="0" cy="397764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3" name="STC-18-knee-axis-xlabel">
            <a:extLst xmlns:a="http://schemas.openxmlformats.org/drawingml/2006/main">
              <a:ext uri="{FF2B5EF4-FFF2-40B4-BE49-F238E27FC236}">
                <a16:creationId xmlns:a16="http://schemas.microsoft.com/office/drawing/2014/main" id="{EDAFD2D4-0676-4B50-9F78-4EFC185B7F17}"/>
              </a:ext>
            </a:extLst>
          </p:cNvPr>
          <p:cNvSpPr>
            <a:spLocks xmlns:a="http://schemas.openxmlformats.org/drawingml/2006/main" noGrp="1"/>
          </p:cNvSpPr>
          <p:nvPr/>
        </p:nvSpPr>
        <p:spPr>
          <a:xfrm xmlns:a="http://schemas.openxmlformats.org/drawingml/2006/main">
            <a:off x="6126480" y="5815584"/>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a:solidFill>
                  <a:srgbClr val="59616A"/>
                </a:solidFill>
                <a:latin typeface="Noto Sans CJK KR"/>
                <a:ea typeface="Noto Sans CJK KR"/>
                <a:cs typeface="Noto Sans CJK KR"/>
              </a:rPr>
              <a:t>편집 수</a:t>
            </a:r>
            <a:endParaRPr sz="1100"/>
          </a:p>
        </p:txBody>
      </p:sp>
      <p:sp>
        <p:nvSpPr>
          <p:cNvPr id="14" name="STC-18-knee-axis-ylabel">
            <a:extLst xmlns:a="http://schemas.openxmlformats.org/drawingml/2006/main">
              <a:ext uri="{FF2B5EF4-FFF2-40B4-BE49-F238E27FC236}">
                <a16:creationId xmlns:a16="http://schemas.microsoft.com/office/drawing/2014/main" id="{9B0E0507-09BE-4BC6-95FC-188BF218F1D0}"/>
              </a:ext>
            </a:extLst>
          </p:cNvPr>
          <p:cNvSpPr>
            <a:spLocks xmlns:a="http://schemas.openxmlformats.org/drawingml/2006/main" noGrp="1"/>
          </p:cNvSpPr>
          <p:nvPr/>
        </p:nvSpPr>
        <p:spPr>
          <a:xfrm xmlns:a="http://schemas.openxmlformats.org/drawingml/2006/main" rot="16200000">
            <a:off x="731520" y="1581912"/>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9616A"/>
                </a:solidFill>
                <a:latin typeface="Noto Sans CJK KR"/>
                <a:ea typeface="Noto Sans CJK KR"/>
                <a:cs typeface="Noto Sans CJK KR"/>
              </a:rPr>
              <a:t>specificity</a:t>
            </a:r>
            <a:endParaRPr sz="1100"/>
          </a:p>
        </p:txBody>
      </p:sp>
      <p:sp>
        <p:nvSpPr>
          <p:cNvPr id="15" name="STC-18-knee-seg-1">
            <a:extLst xmlns:a="http://schemas.openxmlformats.org/drawingml/2006/main">
              <a:ext uri="{FF2B5EF4-FFF2-40B4-BE49-F238E27FC236}">
                <a16:creationId xmlns:a16="http://schemas.microsoft.com/office/drawing/2014/main" id="{003F0C5F-F595-422E-8FDF-066640D7D432}"/>
              </a:ext>
            </a:extLst>
          </p:cNvPr>
          <p:cNvSpPr>
            <a:spLocks xmlns:a="http://schemas.openxmlformats.org/drawingml/2006/main" noGrp="1"/>
          </p:cNvSpPr>
          <p:nvPr/>
        </p:nvSpPr>
        <p:spPr>
          <a:xfrm xmlns:a="http://schemas.openxmlformats.org/drawingml/2006/main">
            <a:off x="1298448" y="2148840"/>
            <a:ext cx="1005840" cy="27432"/>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6" name="STC-18-knee-seg-2">
            <a:extLst xmlns:a="http://schemas.openxmlformats.org/drawingml/2006/main">
              <a:ext uri="{FF2B5EF4-FFF2-40B4-BE49-F238E27FC236}">
                <a16:creationId xmlns:a16="http://schemas.microsoft.com/office/drawing/2014/main" id="{2F93FE18-0F04-40C0-9893-2A149CE61627}"/>
              </a:ext>
            </a:extLst>
          </p:cNvPr>
          <p:cNvSpPr>
            <a:spLocks xmlns:a="http://schemas.openxmlformats.org/drawingml/2006/main" noGrp="1"/>
          </p:cNvSpPr>
          <p:nvPr/>
        </p:nvSpPr>
        <p:spPr>
          <a:xfrm xmlns:a="http://schemas.openxmlformats.org/drawingml/2006/main">
            <a:off x="2304288" y="2176272"/>
            <a:ext cx="1005840" cy="109728"/>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7" name="STC-18-knee-seg-3">
            <a:extLst xmlns:a="http://schemas.openxmlformats.org/drawingml/2006/main">
              <a:ext uri="{FF2B5EF4-FFF2-40B4-BE49-F238E27FC236}">
                <a16:creationId xmlns:a16="http://schemas.microsoft.com/office/drawing/2014/main" id="{F6FEFA14-7856-41AC-9C31-FD11A3798DEF}"/>
              </a:ext>
            </a:extLst>
          </p:cNvPr>
          <p:cNvSpPr>
            <a:spLocks xmlns:a="http://schemas.openxmlformats.org/drawingml/2006/main" noGrp="1"/>
          </p:cNvSpPr>
          <p:nvPr/>
        </p:nvSpPr>
        <p:spPr>
          <a:xfrm xmlns:a="http://schemas.openxmlformats.org/drawingml/2006/main">
            <a:off x="3310128" y="2286000"/>
            <a:ext cx="1005840" cy="384048"/>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8" name="STC-18-knee-seg-4">
            <a:extLst xmlns:a="http://schemas.openxmlformats.org/drawingml/2006/main">
              <a:ext uri="{FF2B5EF4-FFF2-40B4-BE49-F238E27FC236}">
                <a16:creationId xmlns:a16="http://schemas.microsoft.com/office/drawing/2014/main" id="{6763C838-9134-475E-ACDA-446F8E1614D8}"/>
              </a:ext>
            </a:extLst>
          </p:cNvPr>
          <p:cNvSpPr>
            <a:spLocks xmlns:a="http://schemas.openxmlformats.org/drawingml/2006/main" noGrp="1"/>
          </p:cNvSpPr>
          <p:nvPr/>
        </p:nvSpPr>
        <p:spPr>
          <a:xfrm xmlns:a="http://schemas.openxmlformats.org/drawingml/2006/main">
            <a:off x="4315968" y="2670048"/>
            <a:ext cx="1005840" cy="1024128"/>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19" name="STC-18-knee-seg-5">
            <a:extLst xmlns:a="http://schemas.openxmlformats.org/drawingml/2006/main">
              <a:ext uri="{FF2B5EF4-FFF2-40B4-BE49-F238E27FC236}">
                <a16:creationId xmlns:a16="http://schemas.microsoft.com/office/drawing/2014/main" id="{0972766A-6EEF-47F5-A54A-3BD977CCF7A8}"/>
              </a:ext>
            </a:extLst>
          </p:cNvPr>
          <p:cNvSpPr>
            <a:spLocks xmlns:a="http://schemas.openxmlformats.org/drawingml/2006/main" noGrp="1"/>
          </p:cNvSpPr>
          <p:nvPr/>
        </p:nvSpPr>
        <p:spPr>
          <a:xfrm xmlns:a="http://schemas.openxmlformats.org/drawingml/2006/main">
            <a:off x="5321808" y="3694176"/>
            <a:ext cx="1005840" cy="1298448"/>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20" name="STC-18-knee-seg-6">
            <a:extLst xmlns:a="http://schemas.openxmlformats.org/drawingml/2006/main">
              <a:ext uri="{FF2B5EF4-FFF2-40B4-BE49-F238E27FC236}">
                <a16:creationId xmlns:a16="http://schemas.microsoft.com/office/drawing/2014/main" id="{4DFF07AF-0006-44B9-8763-71C943AA66F4}"/>
              </a:ext>
            </a:extLst>
          </p:cNvPr>
          <p:cNvSpPr>
            <a:spLocks xmlns:a="http://schemas.openxmlformats.org/drawingml/2006/main" noGrp="1"/>
          </p:cNvSpPr>
          <p:nvPr/>
        </p:nvSpPr>
        <p:spPr>
          <a:xfrm xmlns:a="http://schemas.openxmlformats.org/drawingml/2006/main">
            <a:off x="6327648" y="4992624"/>
            <a:ext cx="822960" cy="164592"/>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21" name="STC-18-knee-threshold">
            <a:extLst xmlns:a="http://schemas.openxmlformats.org/drawingml/2006/main">
              <a:ext uri="{FF2B5EF4-FFF2-40B4-BE49-F238E27FC236}">
                <a16:creationId xmlns:a16="http://schemas.microsoft.com/office/drawing/2014/main" id="{E0D27FC3-1406-4DDF-9A5F-FCD6BD706F18}"/>
              </a:ext>
            </a:extLst>
          </p:cNvPr>
          <p:cNvSpPr>
            <a:spLocks xmlns:a="http://schemas.openxmlformats.org/drawingml/2006/main" noGrp="1"/>
          </p:cNvSpPr>
          <p:nvPr/>
        </p:nvSpPr>
        <p:spPr>
          <a:xfrm xmlns:a="http://schemas.openxmlformats.org/drawingml/2006/main">
            <a:off x="1143000" y="2944368"/>
            <a:ext cx="6446520" cy="0"/>
          </a:xfrm>
          <a:prstGeom xmlns:a="http://schemas.openxmlformats.org/drawingml/2006/main" prst="line">
            <a:avLst/>
          </a:prstGeom>
          <a:noFill xmlns:a="http://schemas.openxmlformats.org/drawingml/2006/main"/>
          <a:ln xmlns:a="http://schemas.openxmlformats.org/drawingml/2006/main" w="12700">
            <a:solidFill>
              <a:srgbClr val="59616A"/>
            </a:solidFill>
            <a:prstDash val="solid"/>
            <a:tailEnd type="none"/>
          </a:ln>
        </p:spPr>
      </p:sp>
      <p:sp>
        <p:nvSpPr>
          <p:cNvPr id="22" name="STC-18-knee-threshold-label">
            <a:extLst xmlns:a="http://schemas.openxmlformats.org/drawingml/2006/main">
              <a:ext uri="{FF2B5EF4-FFF2-40B4-BE49-F238E27FC236}">
                <a16:creationId xmlns:a16="http://schemas.microsoft.com/office/drawing/2014/main" id="{C84DFF8C-E003-4B2D-8344-300CD8D0E8BA}"/>
              </a:ext>
            </a:extLst>
          </p:cNvPr>
          <p:cNvSpPr>
            <a:spLocks xmlns:a="http://schemas.openxmlformats.org/drawingml/2006/main" noGrp="1"/>
          </p:cNvSpPr>
          <p:nvPr/>
        </p:nvSpPr>
        <p:spPr>
          <a:xfrm xmlns:a="http://schemas.openxmlformats.org/drawingml/2006/main">
            <a:off x="1325880" y="2761488"/>
            <a:ext cx="11430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9616A"/>
                </a:solidFill>
                <a:latin typeface="Noto Sans Mono CJK KR"/>
                <a:ea typeface="Noto Sans Mono CJK KR"/>
                <a:cs typeface="Noto Sans Mono CJK KR"/>
              </a:rPr>
              <a:t>10,000</a:t>
            </a:r>
            <a:endParaRPr sz="1050"/>
          </a:p>
        </p:txBody>
      </p:sp>
      <p:sp>
        <p:nvSpPr>
          <p:cNvPr id="23" name="STC-18-knee-marker">
            <a:extLst xmlns:a="http://schemas.openxmlformats.org/drawingml/2006/main">
              <a:ext uri="{FF2B5EF4-FFF2-40B4-BE49-F238E27FC236}">
                <a16:creationId xmlns:a16="http://schemas.microsoft.com/office/drawing/2014/main" id="{B7796550-C739-4C12-AB34-728E99CD5A5C}"/>
              </a:ext>
            </a:extLst>
          </p:cNvPr>
          <p:cNvSpPr>
            <a:spLocks xmlns:a="http://schemas.openxmlformats.org/drawingml/2006/main" noGrp="1"/>
          </p:cNvSpPr>
          <p:nvPr/>
        </p:nvSpPr>
        <p:spPr>
          <a:xfrm xmlns:a="http://schemas.openxmlformats.org/drawingml/2006/main">
            <a:off x="4709160" y="2889504"/>
            <a:ext cx="0" cy="2505456"/>
          </a:xfrm>
          <a:prstGeom xmlns:a="http://schemas.openxmlformats.org/drawingml/2006/main" prst="line">
            <a:avLst/>
          </a:prstGeom>
          <a:noFill xmlns:a="http://schemas.openxmlformats.org/drawingml/2006/main"/>
          <a:ln xmlns:a="http://schemas.openxmlformats.org/drawingml/2006/main" w="17780">
            <a:solidFill>
              <a:srgbClr val="9A442D"/>
            </a:solidFill>
            <a:prstDash val="solid"/>
            <a:tailEnd type="none"/>
          </a:ln>
        </p:spPr>
      </p:sp>
      <p:sp>
        <p:nvSpPr>
          <p:cNvPr id="24" name="STC-18-knee-keff">
            <a:extLst xmlns:a="http://schemas.openxmlformats.org/drawingml/2006/main">
              <a:ext uri="{FF2B5EF4-FFF2-40B4-BE49-F238E27FC236}">
                <a16:creationId xmlns:a16="http://schemas.microsoft.com/office/drawing/2014/main" id="{560C924C-F866-4087-B484-42FE73811586}"/>
              </a:ext>
            </a:extLst>
          </p:cNvPr>
          <p:cNvSpPr>
            <a:spLocks xmlns:a="http://schemas.openxmlformats.org/drawingml/2006/main" noGrp="1"/>
          </p:cNvSpPr>
          <p:nvPr/>
        </p:nvSpPr>
        <p:spPr>
          <a:xfrm xmlns:a="http://schemas.openxmlformats.org/drawingml/2006/main">
            <a:off x="4379976" y="5394960"/>
            <a:ext cx="685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erif CJK KR"/>
                <a:ea typeface="Noto Serif CJK KR"/>
                <a:cs typeface="Noto Serif CJK KR"/>
              </a:rPr>
              <a:t>7.44h</a:t>
            </a:r>
            <a:endParaRPr sz="1800"/>
          </a:p>
        </p:txBody>
      </p:sp>
      <p:sp>
        <p:nvSpPr>
          <p:cNvPr id="25" name="STC-18-knee-check-title">
            <a:extLst xmlns:a="http://schemas.openxmlformats.org/drawingml/2006/main">
              <a:ext uri="{FF2B5EF4-FFF2-40B4-BE49-F238E27FC236}">
                <a16:creationId xmlns:a16="http://schemas.microsoft.com/office/drawing/2014/main" id="{240D967C-B047-4CCF-991D-75A295890503}"/>
              </a:ext>
            </a:extLst>
          </p:cNvPr>
          <p:cNvSpPr>
            <a:spLocks xmlns:a="http://schemas.openxmlformats.org/drawingml/2006/main" noGrp="1"/>
          </p:cNvSpPr>
          <p:nvPr/>
        </p:nvSpPr>
        <p:spPr>
          <a:xfrm xmlns:a="http://schemas.openxmlformats.org/drawingml/2006/main">
            <a:off x="8247888" y="1783080"/>
            <a:ext cx="25603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9A442D"/>
                </a:solidFill>
                <a:latin typeface="Noto Sans Mono CJK KR"/>
                <a:ea typeface="Noto Sans Mono CJK KR"/>
                <a:cs typeface="Noto Sans Mono CJK KR"/>
              </a:rPr>
              <a:t>GPT-J 6B 10,000 편집</a:t>
            </a:r>
            <a:endParaRPr sz="1100"/>
          </a:p>
        </p:txBody>
      </p:sp>
      <p:sp>
        <p:nvSpPr>
          <p:cNvPr id="26" name="STC-18-knee-checks-dot-0">
            <a:extLst xmlns:a="http://schemas.openxmlformats.org/drawingml/2006/main">
              <a:ext uri="{FF2B5EF4-FFF2-40B4-BE49-F238E27FC236}">
                <a16:creationId xmlns:a16="http://schemas.microsoft.com/office/drawing/2014/main" id="{C65AB8EB-CD2A-4877-B277-753424C37722}"/>
              </a:ext>
            </a:extLst>
          </p:cNvPr>
          <p:cNvSpPr>
            <a:spLocks xmlns:a="http://schemas.openxmlformats.org/drawingml/2006/main" noGrp="1"/>
          </p:cNvSpPr>
          <p:nvPr/>
        </p:nvSpPr>
        <p:spPr>
          <a:xfrm xmlns:a="http://schemas.openxmlformats.org/drawingml/2006/main">
            <a:off x="8275320" y="2350008"/>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27" name="STC-18-knee-checks-item-0">
            <a:extLst xmlns:a="http://schemas.openxmlformats.org/drawingml/2006/main">
              <a:ext uri="{FF2B5EF4-FFF2-40B4-BE49-F238E27FC236}">
                <a16:creationId xmlns:a16="http://schemas.microsoft.com/office/drawing/2014/main" id="{FDC997E1-38D9-4520-B007-6663A6DF0934}"/>
              </a:ext>
            </a:extLst>
          </p:cNvPr>
          <p:cNvSpPr>
            <a:spLocks xmlns:a="http://schemas.openxmlformats.org/drawingml/2006/main" noGrp="1"/>
          </p:cNvSpPr>
          <p:nvPr/>
        </p:nvSpPr>
        <p:spPr>
          <a:xfrm xmlns:a="http://schemas.openxmlformats.org/drawingml/2006/main">
            <a:off x="8503920" y="2240280"/>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GPT-J 6B 10,000 편집</a:t>
            </a:r>
            <a:endParaRPr sz="1550"/>
          </a:p>
        </p:txBody>
      </p:sp>
      <p:sp>
        <p:nvSpPr>
          <p:cNvPr id="28" name="STC-18-knee-checks-dot-1">
            <a:extLst xmlns:a="http://schemas.openxmlformats.org/drawingml/2006/main">
              <a:ext uri="{FF2B5EF4-FFF2-40B4-BE49-F238E27FC236}">
                <a16:creationId xmlns:a16="http://schemas.microsoft.com/office/drawing/2014/main" id="{00BD0BBB-062E-4E7B-BBB4-C431B7E66222}"/>
              </a:ext>
            </a:extLst>
          </p:cNvPr>
          <p:cNvSpPr>
            <a:spLocks xmlns:a="http://schemas.openxmlformats.org/drawingml/2006/main" noGrp="1"/>
          </p:cNvSpPr>
          <p:nvPr/>
        </p:nvSpPr>
        <p:spPr>
          <a:xfrm xmlns:a="http://schemas.openxmlformats.org/drawingml/2006/main">
            <a:off x="8275320" y="2907792"/>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29" name="STC-18-knee-checks-item-1">
            <a:extLst xmlns:a="http://schemas.openxmlformats.org/drawingml/2006/main">
              <a:ext uri="{FF2B5EF4-FFF2-40B4-BE49-F238E27FC236}">
                <a16:creationId xmlns:a16="http://schemas.microsoft.com/office/drawing/2014/main" id="{1F595761-551F-4541-8F4F-785370299BEA}"/>
              </a:ext>
            </a:extLst>
          </p:cNvPr>
          <p:cNvSpPr>
            <a:spLocks xmlns:a="http://schemas.openxmlformats.org/drawingml/2006/main" noGrp="1"/>
          </p:cNvSpPr>
          <p:nvPr/>
        </p:nvSpPr>
        <p:spPr>
          <a:xfrm xmlns:a="http://schemas.openxmlformats.org/drawingml/2006/main">
            <a:off x="8503920" y="2798064"/>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specificity 83.5 → 73.7</a:t>
            </a:r>
            <a:endParaRPr sz="1550"/>
          </a:p>
        </p:txBody>
      </p:sp>
      <p:sp>
        <p:nvSpPr>
          <p:cNvPr id="30" name="STC-18-knee-checks-dot-2">
            <a:extLst xmlns:a="http://schemas.openxmlformats.org/drawingml/2006/main">
              <a:ext uri="{FF2B5EF4-FFF2-40B4-BE49-F238E27FC236}">
                <a16:creationId xmlns:a16="http://schemas.microsoft.com/office/drawing/2014/main" id="{B00D3C67-9E7B-416B-A50C-CD6FB683D1F6}"/>
              </a:ext>
            </a:extLst>
          </p:cNvPr>
          <p:cNvSpPr>
            <a:spLocks xmlns:a="http://schemas.openxmlformats.org/drawingml/2006/main" noGrp="1"/>
          </p:cNvSpPr>
          <p:nvPr/>
        </p:nvSpPr>
        <p:spPr>
          <a:xfrm xmlns:a="http://schemas.openxmlformats.org/drawingml/2006/main">
            <a:off x="8275320" y="3465576"/>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1" name="STC-18-knee-checks-item-2">
            <a:extLst xmlns:a="http://schemas.openxmlformats.org/drawingml/2006/main">
              <a:ext uri="{FF2B5EF4-FFF2-40B4-BE49-F238E27FC236}">
                <a16:creationId xmlns:a16="http://schemas.microsoft.com/office/drawing/2014/main" id="{A8AD6B50-1222-40F0-B872-FB02938FCA2A}"/>
              </a:ext>
            </a:extLst>
          </p:cNvPr>
          <p:cNvSpPr>
            <a:spLocks xmlns:a="http://schemas.openxmlformats.org/drawingml/2006/main" noGrp="1"/>
          </p:cNvSpPr>
          <p:nvPr/>
        </p:nvSpPr>
        <p:spPr>
          <a:xfrm xmlns:a="http://schemas.openxmlformats.org/drawingml/2006/main">
            <a:off x="8503920" y="3355848"/>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zsRE Specificity 26.6</a:t>
            </a:r>
            <a:endParaRPr sz="1550"/>
          </a:p>
        </p:txBody>
      </p:sp>
      <p:sp>
        <p:nvSpPr>
          <p:cNvPr id="32" name="STC-18-knee-checks-dot-3">
            <a:extLst xmlns:a="http://schemas.openxmlformats.org/drawingml/2006/main">
              <a:ext uri="{FF2B5EF4-FFF2-40B4-BE49-F238E27FC236}">
                <a16:creationId xmlns:a16="http://schemas.microsoft.com/office/drawing/2014/main" id="{193D497B-83CE-4A7D-AB94-EF7C0D144494}"/>
              </a:ext>
            </a:extLst>
          </p:cNvPr>
          <p:cNvSpPr>
            <a:spLocks xmlns:a="http://schemas.openxmlformats.org/drawingml/2006/main" noGrp="1"/>
          </p:cNvSpPr>
          <p:nvPr/>
        </p:nvSpPr>
        <p:spPr>
          <a:xfrm xmlns:a="http://schemas.openxmlformats.org/drawingml/2006/main">
            <a:off x="8275320" y="4023360"/>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3" name="STC-18-knee-checks-item-3">
            <a:extLst xmlns:a="http://schemas.openxmlformats.org/drawingml/2006/main">
              <a:ext uri="{FF2B5EF4-FFF2-40B4-BE49-F238E27FC236}">
                <a16:creationId xmlns:a16="http://schemas.microsoft.com/office/drawing/2014/main" id="{54E8D5AD-5943-4DD5-A8F6-1C16D270C65A}"/>
              </a:ext>
            </a:extLst>
          </p:cNvPr>
          <p:cNvSpPr>
            <a:spLocks xmlns:a="http://schemas.openxmlformats.org/drawingml/2006/main" noGrp="1"/>
          </p:cNvSpPr>
          <p:nvPr/>
        </p:nvSpPr>
        <p:spPr>
          <a:xfrm xmlns:a="http://schemas.openxmlformats.org/drawingml/2006/main">
            <a:off x="8503920" y="3913632"/>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미편집 GPT-J 27.0</a:t>
            </a:r>
            <a:endParaRPr sz="1550"/>
          </a:p>
        </p:txBody>
      </p:sp>
      <p:sp>
        <p:nvSpPr>
          <p:cNvPr id="34" name="STC-18-knee-checks-dot-4">
            <a:extLst xmlns:a="http://schemas.openxmlformats.org/drawingml/2006/main">
              <a:ext uri="{FF2B5EF4-FFF2-40B4-BE49-F238E27FC236}">
                <a16:creationId xmlns:a16="http://schemas.microsoft.com/office/drawing/2014/main" id="{5D751B45-D75A-4C29-86C3-1A10CDA2ACFD}"/>
              </a:ext>
            </a:extLst>
          </p:cNvPr>
          <p:cNvSpPr>
            <a:spLocks xmlns:a="http://schemas.openxmlformats.org/drawingml/2006/main" noGrp="1"/>
          </p:cNvSpPr>
          <p:nvPr/>
        </p:nvSpPr>
        <p:spPr>
          <a:xfrm xmlns:a="http://schemas.openxmlformats.org/drawingml/2006/main">
            <a:off x="8275320" y="4581144"/>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5" name="STC-18-knee-checks-item-4">
            <a:extLst xmlns:a="http://schemas.openxmlformats.org/drawingml/2006/main">
              <a:ext uri="{FF2B5EF4-FFF2-40B4-BE49-F238E27FC236}">
                <a16:creationId xmlns:a16="http://schemas.microsoft.com/office/drawing/2014/main" id="{3E5A4F76-5BB5-4E5A-A1D9-42BC1A8E5C0F}"/>
              </a:ext>
            </a:extLst>
          </p:cNvPr>
          <p:cNvSpPr>
            <a:spLocks xmlns:a="http://schemas.openxmlformats.org/drawingml/2006/main" noGrp="1"/>
          </p:cNvSpPr>
          <p:nvPr/>
        </p:nvSpPr>
        <p:spPr>
          <a:xfrm xmlns:a="http://schemas.openxmlformats.org/drawingml/2006/main">
            <a:off x="8503920" y="4471416"/>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편집당 2.68초 (본서 나눗셈)</a:t>
            </a:r>
            <a:endParaRPr sz="1550"/>
          </a:p>
        </p:txBody>
      </p:sp>
      <p:sp>
        <p:nvSpPr>
          <p:cNvPr id="36" name="STC-18-knee-unidentified">
            <a:extLst xmlns:a="http://schemas.openxmlformats.org/drawingml/2006/main">
              <a:ext uri="{FF2B5EF4-FFF2-40B4-BE49-F238E27FC236}">
                <a16:creationId xmlns:a16="http://schemas.microsoft.com/office/drawing/2014/main" id="{180F873B-5C68-4872-B82F-6C6C0ED74CC8}"/>
              </a:ext>
            </a:extLst>
          </p:cNvPr>
          <p:cNvSpPr>
            <a:spLocks xmlns:a="http://schemas.openxmlformats.org/drawingml/2006/main" noGrp="1"/>
          </p:cNvSpPr>
          <p:nvPr/>
        </p:nvSpPr>
        <p:spPr>
          <a:xfrm xmlns:a="http://schemas.openxmlformats.org/drawingml/2006/main">
            <a:off x="8211312" y="5230368"/>
            <a:ext cx="2706624" cy="52120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37" name="STC-18-knee-unidentified-text">
            <a:extLst xmlns:a="http://schemas.openxmlformats.org/drawingml/2006/main">
              <a:ext uri="{FF2B5EF4-FFF2-40B4-BE49-F238E27FC236}">
                <a16:creationId xmlns:a16="http://schemas.microsoft.com/office/drawing/2014/main" id="{39151F30-D5D2-4D64-B766-810DF4EFE62A}"/>
              </a:ext>
            </a:extLst>
          </p:cNvPr>
          <p:cNvSpPr>
            <a:spLocks xmlns:a="http://schemas.openxmlformats.org/drawingml/2006/main" noGrp="1"/>
          </p:cNvSpPr>
          <p:nvPr/>
        </p:nvSpPr>
        <p:spPr>
          <a:xfrm xmlns:a="http://schemas.openxmlformats.org/drawingml/2006/main">
            <a:off x="8348472" y="5404104"/>
            <a:ext cx="243230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b="1">
                <a:solidFill>
                  <a:srgbClr val="FFFFFF"/>
                </a:solidFill>
                <a:latin typeface="Noto Sans Mono CJK KR"/>
                <a:ea typeface="Noto Sans Mono CJK KR"/>
                <a:cs typeface="Noto Sans Mono CJK KR"/>
              </a:rPr>
              <a:t>10,000은 관측된 하한이다</a:t>
            </a:r>
            <a:endParaRPr sz="1050"/>
          </a:p>
        </p:txBody>
      </p:sp>
    </p:spTree>
    <p:extLst>
      <p:ext uri="{BB962C8B-B14F-4D97-AF65-F5344CB8AC3E}">
        <p14:creationId xmlns:p14="http://schemas.microsoft.com/office/powerpoint/2010/main" val="1452305100"/>
      </p:ext>
    </p:extLst>
  </p:cSld>
</p:sld>
</file>

<file path=ppt/slides/slide70.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2-section">
            <a:extLst xmlns:a="http://schemas.openxmlformats.org/drawingml/2006/main">
              <a:ext uri="{FF2B5EF4-FFF2-40B4-BE49-F238E27FC236}">
                <a16:creationId xmlns:a16="http://schemas.microsoft.com/office/drawing/2014/main" id="{B3AE04B8-8245-44A2-8AD4-9A767BB156F4}"/>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THETA-PATH</a:t>
            </a:r>
            <a:endParaRPr sz="950"/>
          </a:p>
        </p:txBody>
      </p:sp>
      <p:sp>
        <p:nvSpPr>
          <p:cNvPr id="3" name="STC-02-slide-id">
            <a:extLst xmlns:a="http://schemas.openxmlformats.org/drawingml/2006/main">
              <a:ext uri="{FF2B5EF4-FFF2-40B4-BE49-F238E27FC236}">
                <a16:creationId xmlns:a16="http://schemas.microsoft.com/office/drawing/2014/main" id="{BE855689-E691-4D5A-A176-FA0CC6C672AC}"/>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STC-070</a:t>
            </a:r>
            <a:endParaRPr sz="950"/>
          </a:p>
        </p:txBody>
      </p:sp>
      <p:sp>
        <p:nvSpPr>
          <p:cNvPr id="4" name="STC-02-headline">
            <a:extLst xmlns:a="http://schemas.openxmlformats.org/drawingml/2006/main">
              <a:ext uri="{FF2B5EF4-FFF2-40B4-BE49-F238E27FC236}">
                <a16:creationId xmlns:a16="http://schemas.microsoft.com/office/drawing/2014/main" id="{9F4BA35A-C084-4820-A869-3F58338107FA}"/>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갈림길 — delta인가 직접 편집인가</a:t>
            </a:r>
            <a:endParaRPr sz="3000"/>
          </a:p>
        </p:txBody>
      </p:sp>
      <p:sp>
        <p:nvSpPr>
          <p:cNvPr id="5" name="STC-02-status-label">
            <a:extLst xmlns:a="http://schemas.openxmlformats.org/drawingml/2006/main">
              <a:ext uri="{FF2B5EF4-FFF2-40B4-BE49-F238E27FC236}">
                <a16:creationId xmlns:a16="http://schemas.microsoft.com/office/drawing/2014/main" id="{1B872D46-D4B1-425B-A362-8822456881AC}"/>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본서 판정</a:t>
            </a:r>
            <a:endParaRPr sz="1000"/>
          </a:p>
        </p:txBody>
      </p:sp>
      <p:sp>
        <p:nvSpPr>
          <p:cNvPr id="6" name="STC-02-status-rule">
            <a:extLst xmlns:a="http://schemas.openxmlformats.org/drawingml/2006/main">
              <a:ext uri="{FF2B5EF4-FFF2-40B4-BE49-F238E27FC236}">
                <a16:creationId xmlns:a16="http://schemas.microsoft.com/office/drawing/2014/main" id="{AAA2BDB5-9AB1-43CC-81F2-726033A947FE}"/>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2-footer-rule">
            <a:extLst xmlns:a="http://schemas.openxmlformats.org/drawingml/2006/main">
              <a:ext uri="{FF2B5EF4-FFF2-40B4-BE49-F238E27FC236}">
                <a16:creationId xmlns:a16="http://schemas.microsoft.com/office/drawing/2014/main" id="{90EAC1C3-0B28-440F-82C3-430CFCB7A87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2-source-footer">
            <a:extLst xmlns:a="http://schemas.openxmlformats.org/drawingml/2006/main">
              <a:ext uri="{FF2B5EF4-FFF2-40B4-BE49-F238E27FC236}">
                <a16:creationId xmlns:a16="http://schemas.microsoft.com/office/drawing/2014/main" id="{793D87D7-D04F-48E5-B4E6-8B70035D63C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ch19 §19.7 · ch26 §26.3.6</a:t>
            </a:r>
            <a:endParaRPr sz="850"/>
          </a:p>
        </p:txBody>
      </p:sp>
      <p:sp>
        <p:nvSpPr>
          <p:cNvPr id="9" name="STC-02-page-number">
            <a:extLst xmlns:a="http://schemas.openxmlformats.org/drawingml/2006/main">
              <a:ext uri="{FF2B5EF4-FFF2-40B4-BE49-F238E27FC236}">
                <a16:creationId xmlns:a16="http://schemas.microsoft.com/office/drawing/2014/main" id="{9B82730B-5BA4-40C1-BB36-231F3E2F81B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70</a:t>
            </a:r>
            <a:endParaRPr sz="850"/>
          </a:p>
        </p:txBody>
      </p:sp>
      <p:sp>
        <p:nvSpPr>
          <p:cNvPr id="11" name="STC-02-when">
            <a:extLst xmlns:a="http://schemas.openxmlformats.org/drawingml/2006/main">
              <a:ext uri="{FF2B5EF4-FFF2-40B4-BE49-F238E27FC236}">
                <a16:creationId xmlns:a16="http://schemas.microsoft.com/office/drawing/2014/main" id="{16BCA9BF-B6CB-412C-9306-FDAB2AE1F9FD}"/>
              </a:ext>
            </a:extLst>
          </p:cNvPr>
          <p:cNvSpPr>
            <a:spLocks xmlns:a="http://schemas.openxmlformats.org/drawingml/2006/main" noGrp="1"/>
          </p:cNvSpPr>
          <p:nvPr/>
        </p:nvSpPr>
        <p:spPr>
          <a:xfrm xmlns:a="http://schemas.openxmlformats.org/drawingml/2006/main">
            <a:off x="731520" y="1673352"/>
            <a:ext cx="9601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44E8A"/>
                </a:solidFill>
                <a:latin typeface="Noto Serif CJK KR"/>
                <a:ea typeface="Noto Serif CJK KR"/>
                <a:cs typeface="Noto Serif CJK KR"/>
              </a:rPr>
              <a:t>delta</a:t>
            </a:r>
            <a:endParaRPr sz="2800"/>
          </a:p>
        </p:txBody>
      </p:sp>
      <p:sp>
        <p:nvSpPr>
          <p:cNvPr id="12" name="STC-02-what">
            <a:extLst xmlns:a="http://schemas.openxmlformats.org/drawingml/2006/main">
              <a:ext uri="{FF2B5EF4-FFF2-40B4-BE49-F238E27FC236}">
                <a16:creationId xmlns:a16="http://schemas.microsoft.com/office/drawing/2014/main" id="{4D549EF3-5805-4997-88E2-74654ACC4A4F}"/>
              </a:ext>
            </a:extLst>
          </p:cNvPr>
          <p:cNvSpPr>
            <a:spLocks xmlns:a="http://schemas.openxmlformats.org/drawingml/2006/main" noGrp="1"/>
          </p:cNvSpPr>
          <p:nvPr/>
        </p:nvSpPr>
        <p:spPr>
          <a:xfrm xmlns:a="http://schemas.openxmlformats.org/drawingml/2006/main">
            <a:off x="731520" y="2761488"/>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9A442D"/>
                </a:solidFill>
                <a:latin typeface="Noto Serif CJK KR"/>
                <a:ea typeface="Noto Serif CJK KR"/>
                <a:cs typeface="Noto Serif CJK KR"/>
              </a:rPr>
              <a:t>직접 편집</a:t>
            </a:r>
            <a:endParaRPr sz="2800"/>
          </a:p>
        </p:txBody>
      </p:sp>
      <p:sp>
        <p:nvSpPr>
          <p:cNvPr id="13" name="STC-02-where">
            <a:extLst xmlns:a="http://schemas.openxmlformats.org/drawingml/2006/main">
              <a:ext uri="{FF2B5EF4-FFF2-40B4-BE49-F238E27FC236}">
                <a16:creationId xmlns:a16="http://schemas.microsoft.com/office/drawing/2014/main" id="{F2ABEEFC-09C0-4ED9-A436-4F6FF445EF5A}"/>
              </a:ext>
            </a:extLst>
          </p:cNvPr>
          <p:cNvSpPr>
            <a:spLocks xmlns:a="http://schemas.openxmlformats.org/drawingml/2006/main" noGrp="1"/>
          </p:cNvSpPr>
          <p:nvPr/>
        </p:nvSpPr>
        <p:spPr>
          <a:xfrm xmlns:a="http://schemas.openxmlformats.org/drawingml/2006/main">
            <a:off x="731520" y="3849624"/>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F6B63"/>
                </a:solidFill>
                <a:latin typeface="Noto Serif CJK KR"/>
                <a:ea typeface="Noto Serif CJK KR"/>
                <a:cs typeface="Noto Serif CJK KR"/>
              </a:rPr>
              <a:t>귀결</a:t>
            </a:r>
            <a:endParaRPr sz="2800"/>
          </a:p>
        </p:txBody>
      </p:sp>
      <p:sp>
        <p:nvSpPr>
          <p:cNvPr id="14" name="STC-02-when-line">
            <a:extLst xmlns:a="http://schemas.openxmlformats.org/drawingml/2006/main">
              <a:ext uri="{FF2B5EF4-FFF2-40B4-BE49-F238E27FC236}">
                <a16:creationId xmlns:a16="http://schemas.microsoft.com/office/drawing/2014/main" id="{A0043737-4272-4C17-86C1-34866CB1C145}"/>
              </a:ext>
            </a:extLst>
          </p:cNvPr>
          <p:cNvSpPr>
            <a:spLocks xmlns:a="http://schemas.openxmlformats.org/drawingml/2006/main" noGrp="1"/>
          </p:cNvSpPr>
          <p:nvPr/>
        </p:nvSpPr>
        <p:spPr>
          <a:xfrm xmlns:a="http://schemas.openxmlformats.org/drawingml/2006/main">
            <a:off x="2148840" y="1865376"/>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5" name="STC-02-what-line">
            <a:extLst xmlns:a="http://schemas.openxmlformats.org/drawingml/2006/main">
              <a:ext uri="{FF2B5EF4-FFF2-40B4-BE49-F238E27FC236}">
                <a16:creationId xmlns:a16="http://schemas.microsoft.com/office/drawing/2014/main" id="{19984047-E359-40E7-B1A0-D045178C217D}"/>
              </a:ext>
            </a:extLst>
          </p:cNvPr>
          <p:cNvSpPr>
            <a:spLocks xmlns:a="http://schemas.openxmlformats.org/drawingml/2006/main" noGrp="1"/>
          </p:cNvSpPr>
          <p:nvPr/>
        </p:nvSpPr>
        <p:spPr>
          <a:xfrm xmlns:a="http://schemas.openxmlformats.org/drawingml/2006/main">
            <a:off x="2148840" y="2953512"/>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6" name="STC-02-where-line">
            <a:extLst xmlns:a="http://schemas.openxmlformats.org/drawingml/2006/main">
              <a:ext uri="{FF2B5EF4-FFF2-40B4-BE49-F238E27FC236}">
                <a16:creationId xmlns:a16="http://schemas.microsoft.com/office/drawing/2014/main" id="{AC3FBBFF-8861-47FA-A523-B7B08374B29E}"/>
              </a:ext>
            </a:extLst>
          </p:cNvPr>
          <p:cNvSpPr>
            <a:spLocks xmlns:a="http://schemas.openxmlformats.org/drawingml/2006/main" noGrp="1"/>
          </p:cNvSpPr>
          <p:nvPr/>
        </p:nvSpPr>
        <p:spPr>
          <a:xfrm xmlns:a="http://schemas.openxmlformats.org/drawingml/2006/main">
            <a:off x="2148840" y="4041648"/>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7" name="STC-02-when-answer">
            <a:extLst xmlns:a="http://schemas.openxmlformats.org/drawingml/2006/main">
              <a:ext uri="{FF2B5EF4-FFF2-40B4-BE49-F238E27FC236}">
                <a16:creationId xmlns:a16="http://schemas.microsoft.com/office/drawing/2014/main" id="{DE30F009-38B4-4744-A843-3338330F9296}"/>
              </a:ext>
            </a:extLst>
          </p:cNvPr>
          <p:cNvSpPr>
            <a:spLocks xmlns:a="http://schemas.openxmlformats.org/drawingml/2006/main" noGrp="1"/>
          </p:cNvSpPr>
          <p:nvPr/>
        </p:nvSpPr>
        <p:spPr>
          <a:xfrm xmlns:a="http://schemas.openxmlformats.org/drawingml/2006/main">
            <a:off x="2377440" y="1618488"/>
            <a:ext cx="7269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분리 가능한 아티팩트. 사용자별로 붙였다 뗀다</a:t>
            </a:r>
            <a:endParaRPr sz="2100"/>
          </a:p>
        </p:txBody>
      </p:sp>
      <p:sp>
        <p:nvSpPr>
          <p:cNvPr id="18" name="STC-02-what-answer">
            <a:extLst xmlns:a="http://schemas.openxmlformats.org/drawingml/2006/main">
              <a:ext uri="{FF2B5EF4-FFF2-40B4-BE49-F238E27FC236}">
                <a16:creationId xmlns:a16="http://schemas.microsoft.com/office/drawing/2014/main" id="{31F10D90-9E59-4017-AAB6-C5184B790324}"/>
              </a:ext>
            </a:extLst>
          </p:cNvPr>
          <p:cNvSpPr>
            <a:spLocks xmlns:a="http://schemas.openxmlformats.org/drawingml/2006/main" noGrp="1"/>
          </p:cNvSpPr>
          <p:nvPr/>
        </p:nvSpPr>
        <p:spPr>
          <a:xfrm xmlns:a="http://schemas.openxmlformats.org/drawingml/2006/main">
            <a:off x="2377440" y="2706624"/>
            <a:ext cx="78638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base에 흡수. 아무것도 남기지 않는다</a:t>
            </a:r>
            <a:endParaRPr sz="2100"/>
          </a:p>
        </p:txBody>
      </p:sp>
      <p:sp>
        <p:nvSpPr>
          <p:cNvPr id="19" name="STC-02-where-answer">
            <a:extLst xmlns:a="http://schemas.openxmlformats.org/drawingml/2006/main">
              <a:ext uri="{FF2B5EF4-FFF2-40B4-BE49-F238E27FC236}">
                <a16:creationId xmlns:a16="http://schemas.microsoft.com/office/drawing/2014/main" id="{7B9DAECE-395E-4C23-8BFF-9AE8A0ABEE81}"/>
              </a:ext>
            </a:extLst>
          </p:cNvPr>
          <p:cNvSpPr>
            <a:spLocks xmlns:a="http://schemas.openxmlformats.org/drawingml/2006/main" noGrp="1"/>
          </p:cNvSpPr>
          <p:nvPr/>
        </p:nvSpPr>
        <p:spPr>
          <a:xfrm xmlns:a="http://schemas.openxmlformats.org/drawingml/2006/main">
            <a:off x="2377440" y="3794760"/>
            <a:ext cx="8458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전역이면 편집이 이기고, 개인화면 delta여야 한다</a:t>
            </a:r>
            <a:endParaRPr sz="2100"/>
          </a:p>
        </p:txBody>
      </p:sp>
      <p:sp>
        <p:nvSpPr>
          <p:cNvPr id="20" name="STC-02-thesis-bar">
            <a:extLst xmlns:a="http://schemas.openxmlformats.org/drawingml/2006/main">
              <a:ext uri="{FF2B5EF4-FFF2-40B4-BE49-F238E27FC236}">
                <a16:creationId xmlns:a16="http://schemas.microsoft.com/office/drawing/2014/main" id="{307CCCCF-FC4F-496A-AFFE-4544A0437B9F}"/>
              </a:ext>
            </a:extLst>
          </p:cNvPr>
          <p:cNvSpPr>
            <a:spLocks xmlns:a="http://schemas.openxmlformats.org/drawingml/2006/main" noGrp="1"/>
          </p:cNvSpPr>
          <p:nvPr/>
        </p:nvSpPr>
        <p:spPr>
          <a:xfrm xmlns:a="http://schemas.openxmlformats.org/drawingml/2006/main">
            <a:off x="2359152" y="4791456"/>
            <a:ext cx="8174736" cy="731520"/>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02-thesis-bar-text">
            <a:extLst xmlns:a="http://schemas.openxmlformats.org/drawingml/2006/main">
              <a:ext uri="{FF2B5EF4-FFF2-40B4-BE49-F238E27FC236}">
                <a16:creationId xmlns:a16="http://schemas.microsoft.com/office/drawing/2014/main" id="{A739DA4E-B679-406F-8823-36B5720A9DC8}"/>
              </a:ext>
            </a:extLst>
          </p:cNvPr>
          <p:cNvSpPr>
            <a:spLocks xmlns:a="http://schemas.openxmlformats.org/drawingml/2006/main" noGrp="1"/>
          </p:cNvSpPr>
          <p:nvPr/>
        </p:nvSpPr>
        <p:spPr>
          <a:xfrm xmlns:a="http://schemas.openxmlformats.org/drawingml/2006/main">
            <a:off x="2606040" y="5001768"/>
            <a:ext cx="7680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900" b="1">
                <a:solidFill>
                  <a:srgbClr val="FFFFFF"/>
                </a:solidFill>
                <a:latin typeface="Noto Sans CJK KR"/>
                <a:ea typeface="Noto Sans CJK KR"/>
                <a:cs typeface="Noto Sans CJK KR"/>
              </a:rPr>
              <a:t>직접 편집은 전역 사실 갱신의 도구이고, delta는 개인화의 도구다. 이 구분을 제기한 논문이 없다</a:t>
            </a:r>
            <a:endParaRPr sz="1900"/>
          </a:p>
        </p:txBody>
      </p:sp>
    </p:spTree>
    <p:extLst>
      <p:ext uri="{BB962C8B-B14F-4D97-AF65-F5344CB8AC3E}">
        <p14:creationId xmlns:p14="http://schemas.microsoft.com/office/powerpoint/2010/main" val="1716489855"/>
      </p:ext>
    </p:extLst>
  </p:cSld>
</p:sld>
</file>

<file path=ppt/slides/slide71.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THETA-PATH</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STC-071</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SEAL — 모델이 자기 학습 데이터를 쓴다</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확립</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ch20 · [SEAL arXiv:2506.10943] §4.2</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71</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self-edit</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자연어 갱신 명세</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형식 ①</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함의 목록</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형식 ②</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lr·epoch·mask</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inner</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문맥마다 SFT</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outer</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점수로 정책 갱신</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읽기</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W 없음 · 검색 없음</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corpus에서 가장 순수한 Θ-경로</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읽기다 — wake 프롬프트에 passage가 없다</a:t>
            </a:r>
            <a:endParaRPr sz="1500"/>
          </a:p>
        </p:txBody>
      </p:sp>
    </p:spTree>
    <p:extLst>
      <p:ext uri="{BB962C8B-B14F-4D97-AF65-F5344CB8AC3E}">
        <p14:creationId xmlns:p14="http://schemas.microsoft.com/office/powerpoint/2010/main" val="931853972"/>
      </p:ext>
    </p:extLst>
  </p:cSld>
</p:sld>
</file>

<file path=ppt/slides/slide7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4-section">
            <a:extLst xmlns:a="http://schemas.openxmlformats.org/drawingml/2006/main">
              <a:ext uri="{FF2B5EF4-FFF2-40B4-BE49-F238E27FC236}">
                <a16:creationId xmlns:a16="http://schemas.microsoft.com/office/drawing/2014/main" id="{7616A92F-78D4-4389-9E54-208FF8DEBDB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THETA-PATH</a:t>
            </a:r>
            <a:endParaRPr sz="950"/>
          </a:p>
        </p:txBody>
      </p:sp>
      <p:sp>
        <p:nvSpPr>
          <p:cNvPr id="3" name="STC-24-slide-id">
            <a:extLst xmlns:a="http://schemas.openxmlformats.org/drawingml/2006/main">
              <a:ext uri="{FF2B5EF4-FFF2-40B4-BE49-F238E27FC236}">
                <a16:creationId xmlns:a16="http://schemas.microsoft.com/office/drawing/2014/main" id="{28DDB8DD-ED59-4F7A-ABD4-0014B78D57D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STC-072</a:t>
            </a:r>
            <a:endParaRPr sz="950"/>
          </a:p>
        </p:txBody>
      </p:sp>
      <p:sp>
        <p:nvSpPr>
          <p:cNvPr id="4" name="STC-24-headline">
            <a:extLst xmlns:a="http://schemas.openxmlformats.org/drawingml/2006/main">
              <a:ext uri="{FF2B5EF4-FFF2-40B4-BE49-F238E27FC236}">
                <a16:creationId xmlns:a16="http://schemas.microsoft.com/office/drawing/2014/main" id="{E96ED2A6-D5EC-48B5-A06B-512DF4A0B043}"/>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SEAL — 자기 표가 논지를 세 번 깎는다</a:t>
            </a:r>
            <a:endParaRPr sz="3000"/>
          </a:p>
        </p:txBody>
      </p:sp>
      <p:sp>
        <p:nvSpPr>
          <p:cNvPr id="5" name="STC-24-status-label">
            <a:extLst xmlns:a="http://schemas.openxmlformats.org/drawingml/2006/main">
              <a:ext uri="{FF2B5EF4-FFF2-40B4-BE49-F238E27FC236}">
                <a16:creationId xmlns:a16="http://schemas.microsoft.com/office/drawing/2014/main" id="{DCDB577D-97D2-4F2A-B310-ED51E3EE9C5E}"/>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논문 자기 수치</a:t>
            </a:r>
            <a:endParaRPr sz="1000"/>
          </a:p>
        </p:txBody>
      </p:sp>
      <p:sp>
        <p:nvSpPr>
          <p:cNvPr id="6" name="STC-24-status-rule">
            <a:extLst xmlns:a="http://schemas.openxmlformats.org/drawingml/2006/main">
              <a:ext uri="{FF2B5EF4-FFF2-40B4-BE49-F238E27FC236}">
                <a16:creationId xmlns:a16="http://schemas.microsoft.com/office/drawing/2014/main" id="{3683B797-60B5-480C-A301-49F30A60F273}"/>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24-footer-rule">
            <a:extLst xmlns:a="http://schemas.openxmlformats.org/drawingml/2006/main">
              <a:ext uri="{FF2B5EF4-FFF2-40B4-BE49-F238E27FC236}">
                <a16:creationId xmlns:a16="http://schemas.microsoft.com/office/drawing/2014/main" id="{6FA1EBBA-FD67-4ED0-A852-5338FC5CEF6C}"/>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4-source-footer">
            <a:extLst xmlns:a="http://schemas.openxmlformats.org/drawingml/2006/main">
              <a:ext uri="{FF2B5EF4-FFF2-40B4-BE49-F238E27FC236}">
                <a16:creationId xmlns:a16="http://schemas.microsoft.com/office/drawing/2014/main" id="{F4A5A94F-69E7-42F7-82C3-28BCCACC0D45}"/>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ch20 §20.6, §20.7 · [SEAL §4.2]</a:t>
            </a:r>
            <a:endParaRPr sz="850"/>
          </a:p>
        </p:txBody>
      </p:sp>
      <p:sp>
        <p:nvSpPr>
          <p:cNvPr id="9" name="STC-24-page-number">
            <a:extLst xmlns:a="http://schemas.openxmlformats.org/drawingml/2006/main">
              <a:ext uri="{FF2B5EF4-FFF2-40B4-BE49-F238E27FC236}">
                <a16:creationId xmlns:a16="http://schemas.microsoft.com/office/drawing/2014/main" id="{0C67EAB4-410A-4712-B528-F9C4ACC0942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72</a:t>
            </a:r>
            <a:endParaRPr sz="850"/>
          </a:p>
        </p:txBody>
      </p:sp>
      <p:sp>
        <p:nvSpPr>
          <p:cNvPr id="11" name="STC-24-redteam-field">
            <a:extLst xmlns:a="http://schemas.openxmlformats.org/drawingml/2006/main">
              <a:ext uri="{FF2B5EF4-FFF2-40B4-BE49-F238E27FC236}">
                <a16:creationId xmlns:a16="http://schemas.microsoft.com/office/drawing/2014/main" id="{FE89799F-71D7-489E-B1FE-5C8044029419}"/>
              </a:ext>
            </a:extLst>
          </p:cNvPr>
          <p:cNvSpPr>
            <a:spLocks xmlns:a="http://schemas.openxmlformats.org/drawingml/2006/main" noGrp="1"/>
          </p:cNvSpPr>
          <p:nvPr/>
        </p:nvSpPr>
        <p:spPr>
          <a:xfrm xmlns:a="http://schemas.openxmlformats.org/drawingml/2006/main">
            <a:off x="777240" y="1581912"/>
            <a:ext cx="2852928" cy="4315968"/>
          </a:xfrm>
          <a:prstGeom xmlns:a="http://schemas.openxmlformats.org/drawingml/2006/main" prst="rect">
            <a:avLst/>
          </a:prstGeom>
          <a:solidFill xmlns:a="http://schemas.openxmlformats.org/drawingml/2006/main">
            <a:srgbClr val="9A442D"/>
          </a:solidFill>
          <a:ln xmlns:a="http://schemas.openxmlformats.org/drawingml/2006/main" w="12700">
            <a:solidFill>
              <a:srgbClr val="9A442D"/>
            </a:solidFill>
            <a:prstDash val="solid"/>
          </a:ln>
        </p:spPr>
      </p:sp>
      <p:sp>
        <p:nvSpPr>
          <p:cNvPr id="12" name="STC-24-redteam-31">
            <a:extLst xmlns:a="http://schemas.openxmlformats.org/drawingml/2006/main">
              <a:ext uri="{FF2B5EF4-FFF2-40B4-BE49-F238E27FC236}">
                <a16:creationId xmlns:a16="http://schemas.microsoft.com/office/drawing/2014/main" id="{76C36925-BB6F-431A-99F4-812FC8CEE5F1}"/>
              </a:ext>
            </a:extLst>
          </p:cNvPr>
          <p:cNvSpPr>
            <a:spLocks xmlns:a="http://schemas.openxmlformats.org/drawingml/2006/main" noGrp="1"/>
          </p:cNvSpPr>
          <p:nvPr/>
        </p:nvSpPr>
        <p:spPr>
          <a:xfrm xmlns:a="http://schemas.openxmlformats.org/drawingml/2006/main">
            <a:off x="1097280" y="1901952"/>
            <a:ext cx="2212848"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5200" b="1">
                <a:solidFill>
                  <a:srgbClr val="FFFFFF"/>
                </a:solidFill>
                <a:latin typeface="Noto Serif CJK KR"/>
                <a:ea typeface="Noto Serif CJK KR"/>
                <a:cs typeface="Noto Serif CJK KR"/>
              </a:rPr>
              <a:t>05</a:t>
            </a:r>
            <a:endParaRPr sz="5200"/>
          </a:p>
        </p:txBody>
      </p:sp>
      <p:sp>
        <p:nvSpPr>
          <p:cNvPr id="13" name="STC-24-redteam-findings">
            <a:extLst xmlns:a="http://schemas.openxmlformats.org/drawingml/2006/main">
              <a:ext uri="{FF2B5EF4-FFF2-40B4-BE49-F238E27FC236}">
                <a16:creationId xmlns:a16="http://schemas.microsoft.com/office/drawing/2014/main" id="{D5F13EAE-2C00-4FDE-BBDA-A4F17E21B35E}"/>
              </a:ext>
            </a:extLst>
          </p:cNvPr>
          <p:cNvSpPr>
            <a:spLocks xmlns:a="http://schemas.openxmlformats.org/drawingml/2006/main" noGrp="1"/>
          </p:cNvSpPr>
          <p:nvPr/>
        </p:nvSpPr>
        <p:spPr>
          <a:xfrm xmlns:a="http://schemas.openxmlformats.org/drawingml/2006/main">
            <a:off x="1097280" y="2816352"/>
            <a:ext cx="2212848"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000" b="1">
                <a:solidFill>
                  <a:srgbClr val="FFFFFF"/>
                </a:solidFill>
                <a:latin typeface="Noto Sans CJK KR"/>
                <a:ea typeface="Noto Sans CJK KR"/>
                <a:cs typeface="Noto Sans CJK KR"/>
              </a:rPr>
              <a:t>논문 자기</a:t>
            </a:r>
            <a:endParaRPr sz="2000"/>
          </a:p>
          <a:p xmlns:a="http://schemas.openxmlformats.org/drawingml/2006/main">
            <a:pPr marL="0" indent="0" algn="ctr">
              <a:buNone/>
            </a:pPr>
            <a:r>
              <a:rPr sz="2000" b="1">
                <a:solidFill>
                  <a:srgbClr val="FFFFFF"/>
                </a:solidFill>
                <a:latin typeface="Noto Sans CJK KR"/>
                <a:ea typeface="Noto Sans CJK KR"/>
                <a:cs typeface="Noto Sans CJK KR"/>
              </a:rPr>
              <a:t>수치 FINDINGS</a:t>
            </a:r>
            <a:endParaRPr sz="2000"/>
          </a:p>
        </p:txBody>
      </p:sp>
      <p:sp>
        <p:nvSpPr>
          <p:cNvPr id="14" name="STC-24-redteam-rule">
            <a:extLst xmlns:a="http://schemas.openxmlformats.org/drawingml/2006/main">
              <a:ext uri="{FF2B5EF4-FFF2-40B4-BE49-F238E27FC236}">
                <a16:creationId xmlns:a16="http://schemas.microsoft.com/office/drawing/2014/main" id="{193B6418-9D2D-496E-BF27-2DF8AE1D1CED}"/>
              </a:ext>
            </a:extLst>
          </p:cNvPr>
          <p:cNvSpPr>
            <a:spLocks xmlns:a="http://schemas.openxmlformats.org/drawingml/2006/main" noGrp="1"/>
          </p:cNvSpPr>
          <p:nvPr/>
        </p:nvSpPr>
        <p:spPr>
          <a:xfrm xmlns:a="http://schemas.openxmlformats.org/drawingml/2006/main">
            <a:off x="1188720" y="3730752"/>
            <a:ext cx="2029968" cy="0"/>
          </a:xfrm>
          <a:prstGeom xmlns:a="http://schemas.openxmlformats.org/drawingml/2006/main" prst="line">
            <a:avLst/>
          </a:prstGeom>
          <a:noFill xmlns:a="http://schemas.openxmlformats.org/drawingml/2006/main"/>
          <a:ln xmlns:a="http://schemas.openxmlformats.org/drawingml/2006/main" w="12700">
            <a:solidFill>
              <a:srgbClr val="FFFFFF"/>
            </a:solidFill>
            <a:prstDash val="solid"/>
            <a:tailEnd type="none"/>
          </a:ln>
        </p:spPr>
      </p:sp>
      <p:sp>
        <p:nvSpPr>
          <p:cNvPr id="15" name="STC-24-redteam-domains">
            <a:extLst xmlns:a="http://schemas.openxmlformats.org/drawingml/2006/main">
              <a:ext uri="{FF2B5EF4-FFF2-40B4-BE49-F238E27FC236}">
                <a16:creationId xmlns:a16="http://schemas.microsoft.com/office/drawing/2014/main" id="{94EAAA44-BDF2-4DC5-83AA-ED7CFE049D6C}"/>
              </a:ext>
            </a:extLst>
          </p:cNvPr>
          <p:cNvSpPr>
            <a:spLocks xmlns:a="http://schemas.openxmlformats.org/drawingml/2006/main" noGrp="1"/>
          </p:cNvSpPr>
          <p:nvPr/>
        </p:nvSpPr>
        <p:spPr>
          <a:xfrm xmlns:a="http://schemas.openxmlformats.org/drawingml/2006/main">
            <a:off x="1188720" y="4005072"/>
            <a:ext cx="2029968"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a:solidFill>
                  <a:srgbClr val="FFFFFF"/>
                </a:solidFill>
                <a:latin typeface="Noto Sans Mono CJK KR"/>
                <a:ea typeface="Noto Sans Mono CJK KR"/>
                <a:cs typeface="Noto Sans Mono CJK KR"/>
              </a:rPr>
              <a:t>초록</a:t>
            </a:r>
            <a:endParaRPr sz="1250"/>
          </a:p>
          <a:p xmlns:a="http://schemas.openxmlformats.org/drawingml/2006/main">
            <a:pPr marL="0" indent="0" algn="ctr">
              <a:buNone/>
            </a:pPr>
            <a:r>
              <a:rPr sz="1250">
                <a:solidFill>
                  <a:srgbClr val="FFFFFF"/>
                </a:solidFill>
                <a:latin typeface="Noto Sans Mono CJK KR"/>
                <a:ea typeface="Noto Sans Mono CJK KR"/>
                <a:cs typeface="Noto Sans Mono CJK KR"/>
              </a:rPr>
              <a:t>범위 RL</a:t>
            </a:r>
            <a:endParaRPr sz="1250"/>
          </a:p>
          <a:p xmlns:a="http://schemas.openxmlformats.org/drawingml/2006/main">
            <a:pPr marL="0" indent="0" algn="ctr">
              <a:buNone/>
            </a:pPr>
            <a:r>
              <a:rPr sz="1250">
                <a:solidFill>
                  <a:srgbClr val="FFFFFF"/>
                </a:solidFill>
                <a:latin typeface="Noto Sans Mono CJK KR"/>
                <a:ea typeface="Noto Sans Mono CJK KR"/>
                <a:cs typeface="Noto Sans Mono CJK KR"/>
              </a:rPr>
              <a:t>없이 TTT</a:t>
            </a:r>
            <a:endParaRPr sz="1250"/>
          </a:p>
          <a:p xmlns:a="http://schemas.openxmlformats.org/drawingml/2006/main">
            <a:pPr marL="0" indent="0" algn="ctr">
              <a:buNone/>
            </a:pPr>
            <a:r>
              <a:rPr sz="1250">
                <a:solidFill>
                  <a:srgbClr val="FFFFFF"/>
                </a:solidFill>
                <a:latin typeface="Noto Sans Mono CJK KR"/>
                <a:ea typeface="Noto Sans Mono CJK KR"/>
                <a:cs typeface="Noto Sans Mono CJK KR"/>
              </a:rPr>
              <a:t>보상 형식 자율</a:t>
            </a:r>
            <a:endParaRPr sz="1250"/>
          </a:p>
        </p:txBody>
      </p:sp>
      <p:sp>
        <p:nvSpPr>
          <p:cNvPr id="16" name="STC-24-redteam-condition-0">
            <a:extLst xmlns:a="http://schemas.openxmlformats.org/drawingml/2006/main">
              <a:ext uri="{FF2B5EF4-FFF2-40B4-BE49-F238E27FC236}">
                <a16:creationId xmlns:a16="http://schemas.microsoft.com/office/drawing/2014/main" id="{49FB02AA-6A7B-4109-B1CE-AAFDD4B95126}"/>
              </a:ext>
            </a:extLst>
          </p:cNvPr>
          <p:cNvSpPr>
            <a:spLocks xmlns:a="http://schemas.openxmlformats.org/drawingml/2006/main" noGrp="1"/>
          </p:cNvSpPr>
          <p:nvPr/>
        </p:nvSpPr>
        <p:spPr>
          <a:xfrm xmlns:a="http://schemas.openxmlformats.org/drawingml/2006/main">
            <a:off x="4096512" y="1636776"/>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초록 범위</a:t>
            </a:r>
            <a:endParaRPr sz="1050"/>
          </a:p>
        </p:txBody>
      </p:sp>
      <p:sp>
        <p:nvSpPr>
          <p:cNvPr id="17" name="STC-24-redteam-arrow-0">
            <a:extLst xmlns:a="http://schemas.openxmlformats.org/drawingml/2006/main">
              <a:ext uri="{FF2B5EF4-FFF2-40B4-BE49-F238E27FC236}">
                <a16:creationId xmlns:a16="http://schemas.microsoft.com/office/drawing/2014/main" id="{ECFD658B-F414-4945-8A22-4E8FA91012AB}"/>
              </a:ext>
            </a:extLst>
          </p:cNvPr>
          <p:cNvSpPr>
            <a:spLocks xmlns:a="http://schemas.openxmlformats.org/drawingml/2006/main" noGrp="1"/>
          </p:cNvSpPr>
          <p:nvPr/>
        </p:nvSpPr>
        <p:spPr>
          <a:xfrm xmlns:a="http://schemas.openxmlformats.org/drawingml/2006/main">
            <a:off x="6547104" y="1746504"/>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18" name="STC-24-redteam-action-0">
            <a:extLst xmlns:a="http://schemas.openxmlformats.org/drawingml/2006/main">
              <a:ext uri="{FF2B5EF4-FFF2-40B4-BE49-F238E27FC236}">
                <a16:creationId xmlns:a16="http://schemas.microsoft.com/office/drawing/2014/main" id="{25845292-03ED-4596-A305-80A67767FF5E}"/>
              </a:ext>
            </a:extLst>
          </p:cNvPr>
          <p:cNvSpPr>
            <a:spLocks xmlns:a="http://schemas.openxmlformats.org/drawingml/2006/main" noGrp="1"/>
          </p:cNvSpPr>
          <p:nvPr/>
        </p:nvSpPr>
        <p:spPr>
          <a:xfrm xmlns:a="http://schemas.openxmlformats.org/drawingml/2006/main">
            <a:off x="7315200" y="1600200"/>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'GPT-4.1 능가'는 세 열 중 한 열에서만 성립</a:t>
            </a:r>
            <a:endParaRPr sz="1700"/>
          </a:p>
        </p:txBody>
      </p:sp>
      <p:sp>
        <p:nvSpPr>
          <p:cNvPr id="19" name="STC-24-redteam-condition-1">
            <a:extLst xmlns:a="http://schemas.openxmlformats.org/drawingml/2006/main">
              <a:ext uri="{FF2B5EF4-FFF2-40B4-BE49-F238E27FC236}">
                <a16:creationId xmlns:a16="http://schemas.microsoft.com/office/drawing/2014/main" id="{C8B7593A-7FC2-429B-B521-B510492237D9}"/>
              </a:ext>
            </a:extLst>
          </p:cNvPr>
          <p:cNvSpPr>
            <a:spLocks xmlns:a="http://schemas.openxmlformats.org/drawingml/2006/main" noGrp="1"/>
          </p:cNvSpPr>
          <p:nvPr/>
        </p:nvSpPr>
        <p:spPr>
          <a:xfrm xmlns:a="http://schemas.openxmlformats.org/drawingml/2006/main">
            <a:off x="4096512" y="2468880"/>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RL 없이</a:t>
            </a:r>
            <a:endParaRPr sz="1050"/>
          </a:p>
        </p:txBody>
      </p:sp>
      <p:sp>
        <p:nvSpPr>
          <p:cNvPr id="20" name="STC-24-redteam-arrow-1">
            <a:extLst xmlns:a="http://schemas.openxmlformats.org/drawingml/2006/main">
              <a:ext uri="{FF2B5EF4-FFF2-40B4-BE49-F238E27FC236}">
                <a16:creationId xmlns:a16="http://schemas.microsoft.com/office/drawing/2014/main" id="{F092DC91-30E1-437A-B05C-4E92179650B8}"/>
              </a:ext>
            </a:extLst>
          </p:cNvPr>
          <p:cNvSpPr>
            <a:spLocks xmlns:a="http://schemas.openxmlformats.org/drawingml/2006/main" noGrp="1"/>
          </p:cNvSpPr>
          <p:nvPr/>
        </p:nvSpPr>
        <p:spPr>
          <a:xfrm xmlns:a="http://schemas.openxmlformats.org/drawingml/2006/main">
            <a:off x="6547104" y="2578608"/>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21" name="STC-24-redteam-action-1">
            <a:extLst xmlns:a="http://schemas.openxmlformats.org/drawingml/2006/main">
              <a:ext uri="{FF2B5EF4-FFF2-40B4-BE49-F238E27FC236}">
                <a16:creationId xmlns:a16="http://schemas.microsoft.com/office/drawing/2014/main" id="{AAB4C558-8F92-4BB0-B8E0-D28983C0BA46}"/>
              </a:ext>
            </a:extLst>
          </p:cNvPr>
          <p:cNvSpPr>
            <a:spLocks xmlns:a="http://schemas.openxmlformats.org/drawingml/2006/main" noGrp="1"/>
          </p:cNvSpPr>
          <p:nvPr/>
        </p:nvSpPr>
        <p:spPr>
          <a:xfrm xmlns:a="http://schemas.openxmlformats.org/drawingml/2006/main">
            <a:off x="7315200" y="2432304"/>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프롬프트 둘(49.3·49.4)이 RL 헤드라인 47.0을 넘음</a:t>
            </a:r>
            <a:endParaRPr sz="1700"/>
          </a:p>
        </p:txBody>
      </p:sp>
      <p:sp>
        <p:nvSpPr>
          <p:cNvPr id="22" name="STC-24-redteam-condition-2">
            <a:extLst xmlns:a="http://schemas.openxmlformats.org/drawingml/2006/main">
              <a:ext uri="{FF2B5EF4-FFF2-40B4-BE49-F238E27FC236}">
                <a16:creationId xmlns:a16="http://schemas.microsoft.com/office/drawing/2014/main" id="{49D0C450-50F7-478F-8F31-2E93A9AA5685}"/>
              </a:ext>
            </a:extLst>
          </p:cNvPr>
          <p:cNvSpPr>
            <a:spLocks xmlns:a="http://schemas.openxmlformats.org/drawingml/2006/main" noGrp="1"/>
          </p:cNvSpPr>
          <p:nvPr/>
        </p:nvSpPr>
        <p:spPr>
          <a:xfrm xmlns:a="http://schemas.openxmlformats.org/drawingml/2006/main">
            <a:off x="4096512" y="3300984"/>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TTT 보상</a:t>
            </a:r>
            <a:endParaRPr sz="1050"/>
          </a:p>
        </p:txBody>
      </p:sp>
      <p:sp>
        <p:nvSpPr>
          <p:cNvPr id="23" name="STC-24-redteam-arrow-2">
            <a:extLst xmlns:a="http://schemas.openxmlformats.org/drawingml/2006/main">
              <a:ext uri="{FF2B5EF4-FFF2-40B4-BE49-F238E27FC236}">
                <a16:creationId xmlns:a16="http://schemas.microsoft.com/office/drawing/2014/main" id="{F1BFD9F8-5311-48DD-82AC-FC91409C398F}"/>
              </a:ext>
            </a:extLst>
          </p:cNvPr>
          <p:cNvSpPr>
            <a:spLocks xmlns:a="http://schemas.openxmlformats.org/drawingml/2006/main" noGrp="1"/>
          </p:cNvSpPr>
          <p:nvPr/>
        </p:nvSpPr>
        <p:spPr>
          <a:xfrm xmlns:a="http://schemas.openxmlformats.org/drawingml/2006/main">
            <a:off x="6547104" y="3410712"/>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24" name="STC-24-redteam-action-2">
            <a:extLst xmlns:a="http://schemas.openxmlformats.org/drawingml/2006/main">
              <a:ext uri="{FF2B5EF4-FFF2-40B4-BE49-F238E27FC236}">
                <a16:creationId xmlns:a16="http://schemas.microsoft.com/office/drawing/2014/main" id="{53B6400F-21E7-48B9-B878-73AC3E062630}"/>
              </a:ext>
            </a:extLst>
          </p:cNvPr>
          <p:cNvSpPr>
            <a:spLocks xmlns:a="http://schemas.openxmlformats.org/drawingml/2006/main" noGrp="1"/>
          </p:cNvSpPr>
          <p:nvPr/>
        </p:nvSpPr>
        <p:spPr>
          <a:xfrm xmlns:a="http://schemas.openxmlformats.org/drawingml/2006/main">
            <a:off x="7315200" y="3264408"/>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지워도 45.6이고 약 72배 싸다</a:t>
            </a:r>
            <a:endParaRPr sz="1700"/>
          </a:p>
        </p:txBody>
      </p:sp>
      <p:sp>
        <p:nvSpPr>
          <p:cNvPr id="25" name="STC-24-redteam-condition-3">
            <a:extLst xmlns:a="http://schemas.openxmlformats.org/drawingml/2006/main">
              <a:ext uri="{FF2B5EF4-FFF2-40B4-BE49-F238E27FC236}">
                <a16:creationId xmlns:a16="http://schemas.microsoft.com/office/drawing/2014/main" id="{54B2E66F-F1FD-43FB-BE43-6557E3F79FBF}"/>
              </a:ext>
            </a:extLst>
          </p:cNvPr>
          <p:cNvSpPr>
            <a:spLocks xmlns:a="http://schemas.openxmlformats.org/drawingml/2006/main" noGrp="1"/>
          </p:cNvSpPr>
          <p:nvPr/>
        </p:nvSpPr>
        <p:spPr>
          <a:xfrm xmlns:a="http://schemas.openxmlformats.org/drawingml/2006/main">
            <a:off x="4096512" y="4133088"/>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형식 자율</a:t>
            </a:r>
            <a:endParaRPr sz="1050"/>
          </a:p>
        </p:txBody>
      </p:sp>
      <p:sp>
        <p:nvSpPr>
          <p:cNvPr id="26" name="STC-24-redteam-arrow-3">
            <a:extLst xmlns:a="http://schemas.openxmlformats.org/drawingml/2006/main">
              <a:ext uri="{FF2B5EF4-FFF2-40B4-BE49-F238E27FC236}">
                <a16:creationId xmlns:a16="http://schemas.microsoft.com/office/drawing/2014/main" id="{142A7955-B5F4-4C94-BF7C-59CB9CABC9A9}"/>
              </a:ext>
            </a:extLst>
          </p:cNvPr>
          <p:cNvSpPr>
            <a:spLocks xmlns:a="http://schemas.openxmlformats.org/drawingml/2006/main" noGrp="1"/>
          </p:cNvSpPr>
          <p:nvPr/>
        </p:nvSpPr>
        <p:spPr>
          <a:xfrm xmlns:a="http://schemas.openxmlformats.org/drawingml/2006/main">
            <a:off x="6547104" y="4242816"/>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27" name="STC-24-redteam-action-3">
            <a:extLst xmlns:a="http://schemas.openxmlformats.org/drawingml/2006/main">
              <a:ext uri="{FF2B5EF4-FFF2-40B4-BE49-F238E27FC236}">
                <a16:creationId xmlns:a16="http://schemas.microsoft.com/office/drawing/2014/main" id="{509CB230-3F0C-4279-A9DF-0AED1E3597D6}"/>
              </a:ext>
            </a:extLst>
          </p:cNvPr>
          <p:cNvSpPr>
            <a:spLocks xmlns:a="http://schemas.openxmlformats.org/drawingml/2006/main" noGrp="1"/>
          </p:cNvSpPr>
          <p:nvPr/>
        </p:nvSpPr>
        <p:spPr>
          <a:xfrm xmlns:a="http://schemas.openxmlformats.org/drawingml/2006/main">
            <a:off x="7315200" y="4096512"/>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모델이 형식을 스스로 정하면 18.9로 무너진다</a:t>
            </a:r>
            <a:endParaRPr sz="1700"/>
          </a:p>
        </p:txBody>
      </p:sp>
      <p:sp>
        <p:nvSpPr>
          <p:cNvPr id="28" name="STC-24-redteam-condition-4">
            <a:extLst xmlns:a="http://schemas.openxmlformats.org/drawingml/2006/main">
              <a:ext uri="{FF2B5EF4-FFF2-40B4-BE49-F238E27FC236}">
                <a16:creationId xmlns:a16="http://schemas.microsoft.com/office/drawing/2014/main" id="{446D537E-ADDE-43CB-9B24-A4F46A7882F5}"/>
              </a:ext>
            </a:extLst>
          </p:cNvPr>
          <p:cNvSpPr>
            <a:spLocks xmlns:a="http://schemas.openxmlformats.org/drawingml/2006/main" noGrp="1"/>
          </p:cNvSpPr>
          <p:nvPr/>
        </p:nvSpPr>
        <p:spPr>
          <a:xfrm xmlns:a="http://schemas.openxmlformats.org/drawingml/2006/main">
            <a:off x="4096512" y="4965192"/>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벤치 구성</a:t>
            </a:r>
            <a:endParaRPr sz="1050"/>
          </a:p>
        </p:txBody>
      </p:sp>
      <p:sp>
        <p:nvSpPr>
          <p:cNvPr id="29" name="STC-24-redteam-arrow-4">
            <a:extLst xmlns:a="http://schemas.openxmlformats.org/drawingml/2006/main">
              <a:ext uri="{FF2B5EF4-FFF2-40B4-BE49-F238E27FC236}">
                <a16:creationId xmlns:a16="http://schemas.microsoft.com/office/drawing/2014/main" id="{2F284B3B-3811-4BF7-8991-CD6D21C10D0E}"/>
              </a:ext>
            </a:extLst>
          </p:cNvPr>
          <p:cNvSpPr>
            <a:spLocks xmlns:a="http://schemas.openxmlformats.org/drawingml/2006/main" noGrp="1"/>
          </p:cNvSpPr>
          <p:nvPr/>
        </p:nvSpPr>
        <p:spPr>
          <a:xfrm xmlns:a="http://schemas.openxmlformats.org/drawingml/2006/main">
            <a:off x="6547104" y="5074920"/>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30" name="STC-24-redteam-action-4">
            <a:extLst xmlns:a="http://schemas.openxmlformats.org/drawingml/2006/main">
              <a:ext uri="{FF2B5EF4-FFF2-40B4-BE49-F238E27FC236}">
                <a16:creationId xmlns:a16="http://schemas.microsoft.com/office/drawing/2014/main" id="{0C0BE6BA-1227-4317-8CCB-047039F8A580}"/>
              </a:ext>
            </a:extLst>
          </p:cNvPr>
          <p:cNvSpPr>
            <a:spLocks xmlns:a="http://schemas.openxmlformats.org/drawingml/2006/main" noGrp="1"/>
          </p:cNvSpPr>
          <p:nvPr/>
        </p:nvSpPr>
        <p:spPr>
          <a:xfrm xmlns:a="http://schemas.openxmlformats.org/drawingml/2006/main">
            <a:off x="7315200" y="4928616"/>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TTT 가해성으로 필터된 19과제 — Oracle 100%는 구성상 참</a:t>
            </a:r>
            <a:endParaRPr sz="1700"/>
          </a:p>
        </p:txBody>
      </p:sp>
      <p:sp>
        <p:nvSpPr>
          <p:cNvPr id="31" name="STC-24-redteam-bottom">
            <a:extLst xmlns:a="http://schemas.openxmlformats.org/drawingml/2006/main">
              <a:ext uri="{FF2B5EF4-FFF2-40B4-BE49-F238E27FC236}">
                <a16:creationId xmlns:a16="http://schemas.microsoft.com/office/drawing/2014/main" id="{3BD5330B-ECE0-40DD-92FE-09B0B3E352BD}"/>
              </a:ext>
            </a:extLst>
          </p:cNvPr>
          <p:cNvSpPr>
            <a:spLocks xmlns:a="http://schemas.openxmlformats.org/drawingml/2006/main" noGrp="1"/>
          </p:cNvSpPr>
          <p:nvPr/>
        </p:nvSpPr>
        <p:spPr>
          <a:xfrm xmlns:a="http://schemas.openxmlformats.org/drawingml/2006/main">
            <a:off x="5074920" y="5596128"/>
            <a:ext cx="532180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b="1">
                <a:solidFill>
                  <a:srgbClr val="2F6B63"/>
                </a:solidFill>
                <a:latin typeface="Noto Sans Mono CJK KR"/>
                <a:ea typeface="Noto Sans Mono CJK KR"/>
                <a:cs typeface="Noto Sans Mono CJK KR"/>
              </a:rPr>
              <a:t>실제 걸림돌은 계산이 아니라 문맥마다 라벨을 요구하는 보상 oracle이다</a:t>
            </a:r>
            <a:endParaRPr sz="1100"/>
          </a:p>
        </p:txBody>
      </p:sp>
    </p:spTree>
    <p:extLst>
      <p:ext uri="{BB962C8B-B14F-4D97-AF65-F5344CB8AC3E}">
        <p14:creationId xmlns:p14="http://schemas.microsoft.com/office/powerpoint/2010/main" val="777900829"/>
      </p:ext>
    </p:extLst>
  </p:cSld>
</p:sld>
</file>

<file path=ppt/slides/slide7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4-section">
            <a:extLst xmlns:a="http://schemas.openxmlformats.org/drawingml/2006/main">
              <a:ext uri="{FF2B5EF4-FFF2-40B4-BE49-F238E27FC236}">
                <a16:creationId xmlns:a16="http://schemas.microsoft.com/office/drawing/2014/main" id="{A0075D85-B234-44C8-902E-101F0A3CC31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THETA-PATH</a:t>
            </a:r>
            <a:endParaRPr sz="950"/>
          </a:p>
        </p:txBody>
      </p:sp>
      <p:sp>
        <p:nvSpPr>
          <p:cNvPr id="3" name="STC-04-slide-id">
            <a:extLst xmlns:a="http://schemas.openxmlformats.org/drawingml/2006/main">
              <a:ext uri="{FF2B5EF4-FFF2-40B4-BE49-F238E27FC236}">
                <a16:creationId xmlns:a16="http://schemas.microsoft.com/office/drawing/2014/main" id="{B14D52AE-8297-468B-A77A-23EAE8342583}"/>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STC-073</a:t>
            </a:r>
            <a:endParaRPr sz="950"/>
          </a:p>
        </p:txBody>
      </p:sp>
      <p:sp>
        <p:nvSpPr>
          <p:cNvPr id="4" name="STC-04-headline">
            <a:extLst xmlns:a="http://schemas.openxmlformats.org/drawingml/2006/main">
              <a:ext uri="{FF2B5EF4-FFF2-40B4-BE49-F238E27FC236}">
                <a16:creationId xmlns:a16="http://schemas.microsoft.com/office/drawing/2014/main" id="{3630F132-02F2-4CE1-9E25-749167C75A9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`LM Need Sleep` — wake의 W에서 sleep의 Θ로 이송한다</a:t>
            </a:r>
            <a:endParaRPr sz="3000"/>
          </a:p>
        </p:txBody>
      </p:sp>
      <p:sp>
        <p:nvSpPr>
          <p:cNvPr id="5" name="STC-04-status-label">
            <a:extLst xmlns:a="http://schemas.openxmlformats.org/drawingml/2006/main">
              <a:ext uri="{FF2B5EF4-FFF2-40B4-BE49-F238E27FC236}">
                <a16:creationId xmlns:a16="http://schemas.microsoft.com/office/drawing/2014/main" id="{A7ACBE27-EC77-4521-8202-C2F79CB3B4F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확립</a:t>
            </a:r>
            <a:endParaRPr sz="1000"/>
          </a:p>
        </p:txBody>
      </p:sp>
      <p:sp>
        <p:nvSpPr>
          <p:cNvPr id="6" name="STC-04-status-rule">
            <a:extLst xmlns:a="http://schemas.openxmlformats.org/drawingml/2006/main">
              <a:ext uri="{FF2B5EF4-FFF2-40B4-BE49-F238E27FC236}">
                <a16:creationId xmlns:a16="http://schemas.microsoft.com/office/drawing/2014/main" id="{168F3EE0-A99E-4D46-9138-97123A1B2E0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4-footer-rule">
            <a:extLst xmlns:a="http://schemas.openxmlformats.org/drawingml/2006/main">
              <a:ext uri="{FF2B5EF4-FFF2-40B4-BE49-F238E27FC236}">
                <a16:creationId xmlns:a16="http://schemas.microsoft.com/office/drawing/2014/main" id="{283A436D-9734-4A07-90CD-F35CB55E5AB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4-source-footer">
            <a:extLst xmlns:a="http://schemas.openxmlformats.org/drawingml/2006/main">
              <a:ext uri="{FF2B5EF4-FFF2-40B4-BE49-F238E27FC236}">
                <a16:creationId xmlns:a16="http://schemas.microsoft.com/office/drawing/2014/main" id="{883AB35B-5226-4881-AC75-8BEB5E56E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ch21 · [LM Need Sleep §1, §3.2, §3.3, arXiv:2606.03979]</a:t>
            </a:r>
            <a:endParaRPr sz="850"/>
          </a:p>
        </p:txBody>
      </p:sp>
      <p:sp>
        <p:nvSpPr>
          <p:cNvPr id="9" name="STC-04-page-number">
            <a:extLst xmlns:a="http://schemas.openxmlformats.org/drawingml/2006/main">
              <a:ext uri="{FF2B5EF4-FFF2-40B4-BE49-F238E27FC236}">
                <a16:creationId xmlns:a16="http://schemas.microsoft.com/office/drawing/2014/main" id="{EFF36FC2-57B0-4E0D-A22C-A663CD6EDD60}"/>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73</a:t>
            </a:r>
            <a:endParaRPr sz="850"/>
          </a:p>
        </p:txBody>
      </p:sp>
      <p:sp>
        <p:nvSpPr>
          <p:cNvPr id="11" name="STC-04-phase-tag-0">
            <a:extLst xmlns:a="http://schemas.openxmlformats.org/drawingml/2006/main">
              <a:ext uri="{FF2B5EF4-FFF2-40B4-BE49-F238E27FC236}">
                <a16:creationId xmlns:a16="http://schemas.microsoft.com/office/drawing/2014/main" id="{BA1F2F65-E6CA-4586-80AC-30666A36C48F}"/>
              </a:ext>
            </a:extLst>
          </p:cNvPr>
          <p:cNvSpPr>
            <a:spLocks xmlns:a="http://schemas.openxmlformats.org/drawingml/2006/main" noGrp="1"/>
          </p:cNvSpPr>
          <p:nvPr/>
        </p:nvSpPr>
        <p:spPr>
          <a:xfrm xmlns:a="http://schemas.openxmlformats.org/drawingml/2006/main">
            <a:off x="768096"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59616A"/>
                </a:solidFill>
                <a:latin typeface="Noto Sans Mono CJK KR"/>
                <a:ea typeface="Noto Sans Mono CJK KR"/>
                <a:cs typeface="Noto Sans Mono CJK KR"/>
              </a:rPr>
              <a:t>bridge-in</a:t>
            </a:r>
            <a:endParaRPr sz="1200"/>
          </a:p>
        </p:txBody>
      </p:sp>
      <p:sp>
        <p:nvSpPr>
          <p:cNvPr id="12" name="STC-04-phase-ko-0">
            <a:extLst xmlns:a="http://schemas.openxmlformats.org/drawingml/2006/main">
              <a:ext uri="{FF2B5EF4-FFF2-40B4-BE49-F238E27FC236}">
                <a16:creationId xmlns:a16="http://schemas.microsoft.com/office/drawing/2014/main" id="{71B78324-C8F8-4909-82A4-E5B94A3ECF3B}"/>
              </a:ext>
            </a:extLst>
          </p:cNvPr>
          <p:cNvSpPr>
            <a:spLocks xmlns:a="http://schemas.openxmlformats.org/drawingml/2006/main" noGrp="1"/>
          </p:cNvSpPr>
          <p:nvPr/>
        </p:nvSpPr>
        <p:spPr>
          <a:xfrm xmlns:a="http://schemas.openxmlformats.org/drawingml/2006/main">
            <a:off x="768096"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상속</a:t>
            </a:r>
            <a:endParaRPr sz="2300"/>
          </a:p>
        </p:txBody>
      </p:sp>
      <p:sp>
        <p:nvSpPr>
          <p:cNvPr id="13" name="STC-04-phase-rule-0">
            <a:extLst xmlns:a="http://schemas.openxmlformats.org/drawingml/2006/main">
              <a:ext uri="{FF2B5EF4-FFF2-40B4-BE49-F238E27FC236}">
                <a16:creationId xmlns:a16="http://schemas.microsoft.com/office/drawing/2014/main" id="{7764BB8A-B05F-4718-BC24-4AD789913DE0}"/>
              </a:ext>
            </a:extLst>
          </p:cNvPr>
          <p:cNvSpPr>
            <a:spLocks xmlns:a="http://schemas.openxmlformats.org/drawingml/2006/main" noGrp="1"/>
          </p:cNvSpPr>
          <p:nvPr/>
        </p:nvSpPr>
        <p:spPr>
          <a:xfrm xmlns:a="http://schemas.openxmlformats.org/drawingml/2006/main">
            <a:off x="768096" y="2642616"/>
            <a:ext cx="2011680" cy="0"/>
          </a:xfrm>
          <a:prstGeom xmlns:a="http://schemas.openxmlformats.org/drawingml/2006/main" prst="line">
            <a:avLst/>
          </a:prstGeom>
          <a:noFill xmlns:a="http://schemas.openxmlformats.org/drawingml/2006/main"/>
          <a:ln xmlns:a="http://schemas.openxmlformats.org/drawingml/2006/main" w="50800">
            <a:solidFill>
              <a:srgbClr val="59616A"/>
            </a:solidFill>
            <a:prstDash val="solid"/>
            <a:tailEnd type="none"/>
          </a:ln>
        </p:spPr>
      </p:sp>
      <p:sp>
        <p:nvSpPr>
          <p:cNvPr id="14" name="STC-04-phase-body-0">
            <a:extLst xmlns:a="http://schemas.openxmlformats.org/drawingml/2006/main">
              <a:ext uri="{FF2B5EF4-FFF2-40B4-BE49-F238E27FC236}">
                <a16:creationId xmlns:a16="http://schemas.microsoft.com/office/drawing/2014/main" id="{D3EDF87F-330E-402B-BED1-949CABA05E93}"/>
              </a:ext>
            </a:extLst>
          </p:cNvPr>
          <p:cNvSpPr>
            <a:spLocks xmlns:a="http://schemas.openxmlformats.org/drawingml/2006/main" noGrp="1"/>
          </p:cNvSpPr>
          <p:nvPr/>
        </p:nvSpPr>
        <p:spPr>
          <a:xfrm xmlns:a="http://schemas.openxmlformats.org/drawingml/2006/main">
            <a:off x="768096"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상속 · NL이 범위 밖에</a:t>
            </a:r>
            <a:endParaRPr sz="1800"/>
          </a:p>
          <a:p xmlns:a="http://schemas.openxmlformats.org/drawingml/2006/main">
            <a:pPr marL="0" indent="0">
              <a:buNone/>
            </a:pPr>
            <a:r>
              <a:rPr sz="1800">
                <a:solidFill>
                  <a:srgbClr val="17191C"/>
                </a:solidFill>
                <a:latin typeface="Noto Sans CJK KR"/>
                <a:ea typeface="Noto Sans CJK KR"/>
                <a:cs typeface="Noto Sans CJK KR"/>
              </a:rPr>
              <a:t>둔 자리를 명시적으로 받는다</a:t>
            </a:r>
            <a:endParaRPr sz="1800"/>
          </a:p>
        </p:txBody>
      </p:sp>
      <p:sp>
        <p:nvSpPr>
          <p:cNvPr id="15" name="STC-04-phase-arrow-0">
            <a:extLst xmlns:a="http://schemas.openxmlformats.org/drawingml/2006/main">
              <a:ext uri="{FF2B5EF4-FFF2-40B4-BE49-F238E27FC236}">
                <a16:creationId xmlns:a16="http://schemas.microsoft.com/office/drawing/2014/main" id="{783D597A-ACCC-4F6B-94A9-392B971E7A96}"/>
              </a:ext>
            </a:extLst>
          </p:cNvPr>
          <p:cNvSpPr>
            <a:spLocks xmlns:a="http://schemas.openxmlformats.org/drawingml/2006/main" noGrp="1"/>
          </p:cNvSpPr>
          <p:nvPr/>
        </p:nvSpPr>
        <p:spPr>
          <a:xfrm xmlns:a="http://schemas.openxmlformats.org/drawingml/2006/main">
            <a:off x="2962656"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16" name="STC-04-phase-tag-1">
            <a:extLst xmlns:a="http://schemas.openxmlformats.org/drawingml/2006/main">
              <a:ext uri="{FF2B5EF4-FFF2-40B4-BE49-F238E27FC236}">
                <a16:creationId xmlns:a16="http://schemas.microsoft.com/office/drawing/2014/main" id="{DF120A6C-83FF-4F70-8A23-21607B85C1A0}"/>
              </a:ext>
            </a:extLst>
          </p:cNvPr>
          <p:cNvSpPr>
            <a:spLocks xmlns:a="http://schemas.openxmlformats.org/drawingml/2006/main" noGrp="1"/>
          </p:cNvSpPr>
          <p:nvPr/>
        </p:nvSpPr>
        <p:spPr>
          <a:xfrm xmlns:a="http://schemas.openxmlformats.org/drawingml/2006/main">
            <a:off x="3593592"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wake</a:t>
            </a:r>
            <a:endParaRPr sz="1200"/>
          </a:p>
        </p:txBody>
      </p:sp>
      <p:sp>
        <p:nvSpPr>
          <p:cNvPr id="17" name="STC-04-phase-ko-1">
            <a:extLst xmlns:a="http://schemas.openxmlformats.org/drawingml/2006/main">
              <a:ext uri="{FF2B5EF4-FFF2-40B4-BE49-F238E27FC236}">
                <a16:creationId xmlns:a16="http://schemas.microsoft.com/office/drawing/2014/main" id="{EC71ADFB-45C0-4738-8C38-F10FAB21F33F}"/>
              </a:ext>
            </a:extLst>
          </p:cNvPr>
          <p:cNvSpPr>
            <a:spLocks xmlns:a="http://schemas.openxmlformats.org/drawingml/2006/main" noGrp="1"/>
          </p:cNvSpPr>
          <p:nvPr/>
        </p:nvSpPr>
        <p:spPr>
          <a:xfrm xmlns:a="http://schemas.openxmlformats.org/drawingml/2006/main">
            <a:off x="3593592"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(U-W)</a:t>
            </a:r>
            <a:endParaRPr sz="2300"/>
          </a:p>
        </p:txBody>
      </p:sp>
      <p:sp>
        <p:nvSpPr>
          <p:cNvPr id="18" name="STC-04-phase-rule-1">
            <a:extLst xmlns:a="http://schemas.openxmlformats.org/drawingml/2006/main">
              <a:ext uri="{FF2B5EF4-FFF2-40B4-BE49-F238E27FC236}">
                <a16:creationId xmlns:a16="http://schemas.microsoft.com/office/drawing/2014/main" id="{CD51B805-650E-4380-9B3A-E873D1907749}"/>
              </a:ext>
            </a:extLst>
          </p:cNvPr>
          <p:cNvSpPr>
            <a:spLocks xmlns:a="http://schemas.openxmlformats.org/drawingml/2006/main" noGrp="1"/>
          </p:cNvSpPr>
          <p:nvPr/>
        </p:nvSpPr>
        <p:spPr>
          <a:xfrm xmlns:a="http://schemas.openxmlformats.org/drawingml/2006/main">
            <a:off x="3593592" y="2642616"/>
            <a:ext cx="2011680" cy="0"/>
          </a:xfrm>
          <a:prstGeom xmlns:a="http://schemas.openxmlformats.org/drawingml/2006/main" prst="line">
            <a:avLst/>
          </a:prstGeom>
          <a:noFill xmlns:a="http://schemas.openxmlformats.org/drawingml/2006/main"/>
          <a:ln xmlns:a="http://schemas.openxmlformats.org/drawingml/2006/main" w="50800">
            <a:solidFill>
              <a:srgbClr val="244E8A"/>
            </a:solidFill>
            <a:prstDash val="solid"/>
            <a:tailEnd type="none"/>
          </a:ln>
        </p:spPr>
      </p:sp>
      <p:sp>
        <p:nvSpPr>
          <p:cNvPr id="19" name="STC-04-phase-body-1">
            <a:extLst xmlns:a="http://schemas.openxmlformats.org/drawingml/2006/main">
              <a:ext uri="{FF2B5EF4-FFF2-40B4-BE49-F238E27FC236}">
                <a16:creationId xmlns:a16="http://schemas.microsoft.com/office/drawing/2014/main" id="{CA6AC282-8658-4035-A58F-484C6AC4BB0A}"/>
              </a:ext>
            </a:extLst>
          </p:cNvPr>
          <p:cNvSpPr>
            <a:spLocks xmlns:a="http://schemas.openxmlformats.org/drawingml/2006/main" noGrp="1"/>
          </p:cNvSpPr>
          <p:nvPr/>
        </p:nvSpPr>
        <p:spPr>
          <a:xfrm xmlns:a="http://schemas.openxmlformats.org/drawingml/2006/main">
            <a:off x="3593592"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(U-W) · 살아 있는</a:t>
            </a:r>
            <a:endParaRPr sz="1800"/>
          </a:p>
          <a:p xmlns:a="http://schemas.openxmlformats.org/drawingml/2006/main">
            <a:pPr marL="0" indent="0">
              <a:buNone/>
            </a:pPr>
            <a:r>
              <a:rPr sz="1800">
                <a:solidFill>
                  <a:srgbClr val="17191C"/>
                </a:solidFill>
                <a:latin typeface="Noto Sans CJK KR"/>
                <a:ea typeface="Noto Sans CJK KR"/>
                <a:cs typeface="Noto Sans CJK KR"/>
              </a:rPr>
              <a:t>시퀀스에서 fast weight에 쌓는다</a:t>
            </a:r>
            <a:endParaRPr sz="1800"/>
          </a:p>
        </p:txBody>
      </p:sp>
      <p:sp>
        <p:nvSpPr>
          <p:cNvPr id="20" name="STC-04-phase-arrow-1">
            <a:extLst xmlns:a="http://schemas.openxmlformats.org/drawingml/2006/main">
              <a:ext uri="{FF2B5EF4-FFF2-40B4-BE49-F238E27FC236}">
                <a16:creationId xmlns:a16="http://schemas.microsoft.com/office/drawing/2014/main" id="{78036B2A-3081-4A46-8C23-82C208923D54}"/>
              </a:ext>
            </a:extLst>
          </p:cNvPr>
          <p:cNvSpPr>
            <a:spLocks xmlns:a="http://schemas.openxmlformats.org/drawingml/2006/main" noGrp="1"/>
          </p:cNvSpPr>
          <p:nvPr/>
        </p:nvSpPr>
        <p:spPr>
          <a:xfrm xmlns:a="http://schemas.openxmlformats.org/drawingml/2006/main">
            <a:off x="5788152"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1" name="STC-04-phase-tag-2">
            <a:extLst xmlns:a="http://schemas.openxmlformats.org/drawingml/2006/main">
              <a:ext uri="{FF2B5EF4-FFF2-40B4-BE49-F238E27FC236}">
                <a16:creationId xmlns:a16="http://schemas.microsoft.com/office/drawing/2014/main" id="{14A86847-A229-4A53-8F2A-E51A71B0A175}"/>
              </a:ext>
            </a:extLst>
          </p:cNvPr>
          <p:cNvSpPr>
            <a:spLocks xmlns:a="http://schemas.openxmlformats.org/drawingml/2006/main" noGrp="1"/>
          </p:cNvSpPr>
          <p:nvPr/>
        </p:nvSpPr>
        <p:spPr>
          <a:xfrm xmlns:a="http://schemas.openxmlformats.org/drawingml/2006/main">
            <a:off x="6419088"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sleep</a:t>
            </a:r>
            <a:endParaRPr sz="1200"/>
          </a:p>
        </p:txBody>
      </p:sp>
      <p:sp>
        <p:nvSpPr>
          <p:cNvPr id="22" name="STC-04-phase-ko-2">
            <a:extLst xmlns:a="http://schemas.openxmlformats.org/drawingml/2006/main">
              <a:ext uri="{FF2B5EF4-FFF2-40B4-BE49-F238E27FC236}">
                <a16:creationId xmlns:a16="http://schemas.microsoft.com/office/drawing/2014/main" id="{582DA535-C347-498A-B2F9-C40BAE20CE4F}"/>
              </a:ext>
            </a:extLst>
          </p:cNvPr>
          <p:cNvSpPr>
            <a:spLocks xmlns:a="http://schemas.openxmlformats.org/drawingml/2006/main" noGrp="1"/>
          </p:cNvSpPr>
          <p:nvPr/>
        </p:nvSpPr>
        <p:spPr>
          <a:xfrm xmlns:a="http://schemas.openxmlformats.org/drawingml/2006/main">
            <a:off x="6419088"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이송</a:t>
            </a:r>
            <a:endParaRPr sz="2300"/>
          </a:p>
        </p:txBody>
      </p:sp>
      <p:sp>
        <p:nvSpPr>
          <p:cNvPr id="23" name="STC-04-phase-rule-2">
            <a:extLst xmlns:a="http://schemas.openxmlformats.org/drawingml/2006/main">
              <a:ext uri="{FF2B5EF4-FFF2-40B4-BE49-F238E27FC236}">
                <a16:creationId xmlns:a16="http://schemas.microsoft.com/office/drawing/2014/main" id="{604E16CE-5100-4FC5-8DB9-7A23B695EE76}"/>
              </a:ext>
            </a:extLst>
          </p:cNvPr>
          <p:cNvSpPr>
            <a:spLocks xmlns:a="http://schemas.openxmlformats.org/drawingml/2006/main" noGrp="1"/>
          </p:cNvSpPr>
          <p:nvPr/>
        </p:nvSpPr>
        <p:spPr>
          <a:xfrm xmlns:a="http://schemas.openxmlformats.org/drawingml/2006/main">
            <a:off x="6419088" y="2642616"/>
            <a:ext cx="2011680" cy="0"/>
          </a:xfrm>
          <a:prstGeom xmlns:a="http://schemas.openxmlformats.org/drawingml/2006/main" prst="line">
            <a:avLst/>
          </a:prstGeom>
          <a:noFill xmlns:a="http://schemas.openxmlformats.org/drawingml/2006/main"/>
          <a:ln xmlns:a="http://schemas.openxmlformats.org/drawingml/2006/main" w="50800">
            <a:solidFill>
              <a:srgbClr val="9A442D"/>
            </a:solidFill>
            <a:prstDash val="solid"/>
            <a:tailEnd type="none"/>
          </a:ln>
        </p:spPr>
      </p:sp>
      <p:sp>
        <p:nvSpPr>
          <p:cNvPr id="24" name="STC-04-phase-body-2">
            <a:extLst xmlns:a="http://schemas.openxmlformats.org/drawingml/2006/main">
              <a:ext uri="{FF2B5EF4-FFF2-40B4-BE49-F238E27FC236}">
                <a16:creationId xmlns:a16="http://schemas.microsoft.com/office/drawing/2014/main" id="{5BF3497A-374B-4090-AF18-46EDBA191D7C}"/>
              </a:ext>
            </a:extLst>
          </p:cNvPr>
          <p:cNvSpPr>
            <a:spLocks xmlns:a="http://schemas.openxmlformats.org/drawingml/2006/main" noGrp="1"/>
          </p:cNvSpPr>
          <p:nvPr/>
        </p:nvSpPr>
        <p:spPr>
          <a:xfrm xmlns:a="http://schemas.openxmlformats.org/drawingml/2006/main">
            <a:off x="6419088"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이송 · 세 단계로</a:t>
            </a:r>
            <a:endParaRPr sz="1800"/>
          </a:p>
          <a:p xmlns:a="http://schemas.openxmlformats.org/drawingml/2006/main">
            <a:pPr marL="0" indent="0">
              <a:buNone/>
            </a:pPr>
            <a:r>
              <a:rPr sz="1800">
                <a:solidFill>
                  <a:srgbClr val="17191C"/>
                </a:solidFill>
                <a:latin typeface="Noto Sans CJK KR"/>
                <a:ea typeface="Noto Sans CJK KR"/>
                <a:cs typeface="Noto Sans CJK KR"/>
              </a:rPr>
              <a:t>Θ에 옮기고 W를 리셋한다</a:t>
            </a:r>
            <a:endParaRPr sz="1800"/>
          </a:p>
        </p:txBody>
      </p:sp>
      <p:sp>
        <p:nvSpPr>
          <p:cNvPr id="25" name="STC-04-phase-arrow-2">
            <a:extLst xmlns:a="http://schemas.openxmlformats.org/drawingml/2006/main">
              <a:ext uri="{FF2B5EF4-FFF2-40B4-BE49-F238E27FC236}">
                <a16:creationId xmlns:a16="http://schemas.microsoft.com/office/drawing/2014/main" id="{4E7BA787-51DD-48C2-90C7-E4BC25DA526D}"/>
              </a:ext>
            </a:extLst>
          </p:cNvPr>
          <p:cNvSpPr>
            <a:spLocks xmlns:a="http://schemas.openxmlformats.org/drawingml/2006/main" noGrp="1"/>
          </p:cNvSpPr>
          <p:nvPr/>
        </p:nvSpPr>
        <p:spPr>
          <a:xfrm xmlns:a="http://schemas.openxmlformats.org/drawingml/2006/main">
            <a:off x="8613648"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04-phase-tag-3">
            <a:extLst xmlns:a="http://schemas.openxmlformats.org/drawingml/2006/main">
              <a:ext uri="{FF2B5EF4-FFF2-40B4-BE49-F238E27FC236}">
                <a16:creationId xmlns:a16="http://schemas.microsoft.com/office/drawing/2014/main" id="{3D317DA2-F326-4299-B8BF-54ACE3EE2AA9}"/>
              </a:ext>
            </a:extLst>
          </p:cNvPr>
          <p:cNvSpPr>
            <a:spLocks xmlns:a="http://schemas.openxmlformats.org/drawingml/2006/main" noGrp="1"/>
          </p:cNvSpPr>
          <p:nvPr/>
        </p:nvSpPr>
        <p:spPr>
          <a:xfrm xmlns:a="http://schemas.openxmlformats.org/drawingml/2006/main">
            <a:off x="9244584"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확장</a:t>
            </a:r>
            <a:endParaRPr sz="1200"/>
          </a:p>
        </p:txBody>
      </p:sp>
      <p:sp>
        <p:nvSpPr>
          <p:cNvPr id="27" name="STC-04-phase-ko-3">
            <a:extLst xmlns:a="http://schemas.openxmlformats.org/drawingml/2006/main">
              <a:ext uri="{FF2B5EF4-FFF2-40B4-BE49-F238E27FC236}">
                <a16:creationId xmlns:a16="http://schemas.microsoft.com/office/drawing/2014/main" id="{F5446ADD-A14C-416D-B2F4-1A4E119F4329}"/>
              </a:ext>
            </a:extLst>
          </p:cNvPr>
          <p:cNvSpPr>
            <a:spLocks xmlns:a="http://schemas.openxmlformats.org/drawingml/2006/main" noGrp="1"/>
          </p:cNvSpPr>
          <p:nvPr/>
        </p:nvSpPr>
        <p:spPr>
          <a:xfrm xmlns:a="http://schemas.openxmlformats.org/drawingml/2006/main">
            <a:off x="9244584"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성장</a:t>
            </a:r>
            <a:endParaRPr sz="2300"/>
          </a:p>
        </p:txBody>
      </p:sp>
      <p:sp>
        <p:nvSpPr>
          <p:cNvPr id="28" name="STC-04-phase-rule-3">
            <a:extLst xmlns:a="http://schemas.openxmlformats.org/drawingml/2006/main">
              <a:ext uri="{FF2B5EF4-FFF2-40B4-BE49-F238E27FC236}">
                <a16:creationId xmlns:a16="http://schemas.microsoft.com/office/drawing/2014/main" id="{4455D656-930A-404D-BF54-7ED24B2942EA}"/>
              </a:ext>
            </a:extLst>
          </p:cNvPr>
          <p:cNvSpPr>
            <a:spLocks xmlns:a="http://schemas.openxmlformats.org/drawingml/2006/main" noGrp="1"/>
          </p:cNvSpPr>
          <p:nvPr/>
        </p:nvSpPr>
        <p:spPr>
          <a:xfrm xmlns:a="http://schemas.openxmlformats.org/drawingml/2006/main">
            <a:off x="9244584" y="2642616"/>
            <a:ext cx="2011680" cy="0"/>
          </a:xfrm>
          <a:prstGeom xmlns:a="http://schemas.openxmlformats.org/drawingml/2006/main" prst="line">
            <a:avLst/>
          </a:prstGeom>
          <a:noFill xmlns:a="http://schemas.openxmlformats.org/drawingml/2006/main"/>
          <a:ln xmlns:a="http://schemas.openxmlformats.org/drawingml/2006/main" w="50800">
            <a:solidFill>
              <a:srgbClr val="2F6B63"/>
            </a:solidFill>
            <a:prstDash val="solid"/>
            <a:tailEnd type="none"/>
          </a:ln>
        </p:spPr>
      </p:sp>
      <p:sp>
        <p:nvSpPr>
          <p:cNvPr id="29" name="STC-04-phase-body-3">
            <a:extLst xmlns:a="http://schemas.openxmlformats.org/drawingml/2006/main">
              <a:ext uri="{FF2B5EF4-FFF2-40B4-BE49-F238E27FC236}">
                <a16:creationId xmlns:a16="http://schemas.microsoft.com/office/drawing/2014/main" id="{FE89CD84-AEBE-4991-983F-DACD28BF3807}"/>
              </a:ext>
            </a:extLst>
          </p:cNvPr>
          <p:cNvSpPr>
            <a:spLocks xmlns:a="http://schemas.openxmlformats.org/drawingml/2006/main" noGrp="1"/>
          </p:cNvSpPr>
          <p:nvPr/>
        </p:nvSpPr>
        <p:spPr>
          <a:xfrm xmlns:a="http://schemas.openxmlformats.org/drawingml/2006/main">
            <a:off x="9244584"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성장 · dim Θ가</a:t>
            </a:r>
            <a:endParaRPr sz="1800"/>
          </a:p>
          <a:p xmlns:a="http://schemas.openxmlformats.org/drawingml/2006/main">
            <a:pPr marL="0" indent="0">
              <a:buNone/>
            </a:pPr>
            <a:r>
              <a:rPr sz="1800">
                <a:solidFill>
                  <a:srgbClr val="17191C"/>
                </a:solidFill>
                <a:latin typeface="Noto Sans CJK KR"/>
                <a:ea typeface="Noto Sans CJK KR"/>
                <a:cs typeface="Noto Sans CJK KR"/>
              </a:rPr>
              <a:t>라운드마다 커진다</a:t>
            </a:r>
            <a:endParaRPr sz="1800"/>
          </a:p>
        </p:txBody>
      </p:sp>
      <p:sp>
        <p:nvSpPr>
          <p:cNvPr id="30" name="STC-04-phase-invariant">
            <a:extLst xmlns:a="http://schemas.openxmlformats.org/drawingml/2006/main">
              <a:ext uri="{FF2B5EF4-FFF2-40B4-BE49-F238E27FC236}">
                <a16:creationId xmlns:a16="http://schemas.microsoft.com/office/drawing/2014/main" id="{03288DCF-E840-4104-9A86-10724C88811D}"/>
              </a:ext>
            </a:extLst>
          </p:cNvPr>
          <p:cNvSpPr>
            <a:spLocks xmlns:a="http://schemas.openxmlformats.org/drawingml/2006/main" noGrp="1"/>
          </p:cNvSpPr>
          <p:nvPr/>
        </p:nvSpPr>
        <p:spPr>
          <a:xfrm xmlns:a="http://schemas.openxmlformats.org/drawingml/2006/main">
            <a:off x="1188720" y="4736592"/>
            <a:ext cx="9811512" cy="6035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31" name="STC-04-phase-invariant-text">
            <a:extLst xmlns:a="http://schemas.openxmlformats.org/drawingml/2006/main">
              <a:ext uri="{FF2B5EF4-FFF2-40B4-BE49-F238E27FC236}">
                <a16:creationId xmlns:a16="http://schemas.microsoft.com/office/drawing/2014/main" id="{F965FB3E-3D1D-4CF8-8579-F6405F044BA3}"/>
              </a:ext>
            </a:extLst>
          </p:cNvPr>
          <p:cNvSpPr>
            <a:spLocks xmlns:a="http://schemas.openxmlformats.org/drawingml/2006/main" noGrp="1"/>
          </p:cNvSpPr>
          <p:nvPr/>
        </p:nvSpPr>
        <p:spPr>
          <a:xfrm xmlns:a="http://schemas.openxmlformats.org/drawingml/2006/main">
            <a:off x="1435608" y="4919472"/>
            <a:ext cx="93268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corpus에서 bridge-in이 교과서적으로 성립하는 거의 유일한 사례다</a:t>
            </a:r>
            <a:endParaRPr sz="1700"/>
          </a:p>
        </p:txBody>
      </p:sp>
    </p:spTree>
    <p:extLst>
      <p:ext uri="{BB962C8B-B14F-4D97-AF65-F5344CB8AC3E}">
        <p14:creationId xmlns:p14="http://schemas.microsoft.com/office/powerpoint/2010/main" val="37494492"/>
      </p:ext>
    </p:extLst>
  </p:cSld>
</p:sld>
</file>

<file path=ppt/slides/slide7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7-section">
            <a:extLst xmlns:a="http://schemas.openxmlformats.org/drawingml/2006/main">
              <a:ext uri="{FF2B5EF4-FFF2-40B4-BE49-F238E27FC236}">
                <a16:creationId xmlns:a16="http://schemas.microsoft.com/office/drawing/2014/main" id="{92E4F8C4-5B7E-4BA3-B695-B6837EACCBA5}"/>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THETA-PATH</a:t>
            </a:r>
            <a:endParaRPr sz="950"/>
          </a:p>
        </p:txBody>
      </p:sp>
      <p:sp>
        <p:nvSpPr>
          <p:cNvPr id="3" name="STC-17-slide-id">
            <a:extLst xmlns:a="http://schemas.openxmlformats.org/drawingml/2006/main">
              <a:ext uri="{FF2B5EF4-FFF2-40B4-BE49-F238E27FC236}">
                <a16:creationId xmlns:a16="http://schemas.microsoft.com/office/drawing/2014/main" id="{90F0654A-6500-4A13-AE0F-92E29E9E7142}"/>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STC-074</a:t>
            </a:r>
            <a:endParaRPr sz="950"/>
          </a:p>
        </p:txBody>
      </p:sp>
      <p:sp>
        <p:nvSpPr>
          <p:cNvPr id="4" name="STC-17-headline">
            <a:extLst xmlns:a="http://schemas.openxmlformats.org/drawingml/2006/main">
              <a:ext uri="{FF2B5EF4-FFF2-40B4-BE49-F238E27FC236}">
                <a16:creationId xmlns:a16="http://schemas.microsoft.com/office/drawing/2014/main" id="{36BE495C-0276-48C5-8763-B49A07942DC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Knowledge Seeding과 Dreaming — 그리고 그 마진의 출처</a:t>
            </a:r>
            <a:endParaRPr sz="3000"/>
          </a:p>
        </p:txBody>
      </p:sp>
      <p:sp>
        <p:nvSpPr>
          <p:cNvPr id="5" name="STC-17-status-label">
            <a:extLst xmlns:a="http://schemas.openxmlformats.org/drawingml/2006/main">
              <a:ext uri="{FF2B5EF4-FFF2-40B4-BE49-F238E27FC236}">
                <a16:creationId xmlns:a16="http://schemas.microsoft.com/office/drawing/2014/main" id="{3085FB04-162B-4BDC-9971-7067E8D465E9}"/>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9A442D"/>
                </a:solidFill>
                <a:latin typeface="Noto Sans Mono CJK KR"/>
                <a:ea typeface="Noto Sans Mono CJK KR"/>
                <a:cs typeface="Noto Sans Mono CJK KR"/>
              </a:rPr>
              <a:t>확립</a:t>
            </a:r>
            <a:endParaRPr sz="1000"/>
          </a:p>
        </p:txBody>
      </p:sp>
      <p:sp>
        <p:nvSpPr>
          <p:cNvPr id="6" name="STC-17-status-rule">
            <a:extLst xmlns:a="http://schemas.openxmlformats.org/drawingml/2006/main">
              <a:ext uri="{FF2B5EF4-FFF2-40B4-BE49-F238E27FC236}">
                <a16:creationId xmlns:a16="http://schemas.microsoft.com/office/drawing/2014/main" id="{578ADC5E-51EB-404F-BC45-37C9D6CD7CD7}"/>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9A442D"/>
            </a:solidFill>
            <a:prstDash val="solid"/>
            <a:tailEnd type="none"/>
          </a:ln>
        </p:spPr>
      </p:sp>
      <p:sp>
        <p:nvSpPr>
          <p:cNvPr id="7" name="STC-17-footer-rule">
            <a:extLst xmlns:a="http://schemas.openxmlformats.org/drawingml/2006/main">
              <a:ext uri="{FF2B5EF4-FFF2-40B4-BE49-F238E27FC236}">
                <a16:creationId xmlns:a16="http://schemas.microsoft.com/office/drawing/2014/main" id="{E08768A2-4454-4B40-89F4-7D7CB0E43EDC}"/>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7-source-footer">
            <a:extLst xmlns:a="http://schemas.openxmlformats.org/drawingml/2006/main">
              <a:ext uri="{FF2B5EF4-FFF2-40B4-BE49-F238E27FC236}">
                <a16:creationId xmlns:a16="http://schemas.microsoft.com/office/drawing/2014/main" id="{AD1D9E5D-8963-4E36-885F-E265EF98368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ch21 §21.4, §21.6 · [LM Need Sleep App. B.5, p.26]</a:t>
            </a:r>
            <a:endParaRPr sz="850"/>
          </a:p>
        </p:txBody>
      </p:sp>
      <p:sp>
        <p:nvSpPr>
          <p:cNvPr id="9" name="STC-17-page-number">
            <a:extLst xmlns:a="http://schemas.openxmlformats.org/drawingml/2006/main">
              <a:ext uri="{FF2B5EF4-FFF2-40B4-BE49-F238E27FC236}">
                <a16:creationId xmlns:a16="http://schemas.microsoft.com/office/drawing/2014/main" id="{D9D3A1E4-D8BE-40ED-87D8-2EA53AA60732}"/>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74</a:t>
            </a:r>
            <a:endParaRPr sz="850"/>
          </a:p>
        </p:txBody>
      </p:sp>
      <p:sp>
        <p:nvSpPr>
          <p:cNvPr id="11" name="STC-17-scale-left-x">
            <a:extLst xmlns:a="http://schemas.openxmlformats.org/drawingml/2006/main">
              <a:ext uri="{FF2B5EF4-FFF2-40B4-BE49-F238E27FC236}">
                <a16:creationId xmlns:a16="http://schemas.microsoft.com/office/drawing/2014/main" id="{F38B9EA2-0669-4C35-A757-D44B42B288FA}"/>
              </a:ext>
            </a:extLst>
          </p:cNvPr>
          <p:cNvSpPr>
            <a:spLocks xmlns:a="http://schemas.openxmlformats.org/drawingml/2006/main" noGrp="1"/>
          </p:cNvSpPr>
          <p:nvPr/>
        </p:nvSpPr>
        <p:spPr>
          <a:xfrm xmlns:a="http://schemas.openxmlformats.org/drawingml/2006/main">
            <a:off x="1005840" y="5120640"/>
            <a:ext cx="425196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2" name="STC-17-scale-left-y">
            <a:extLst xmlns:a="http://schemas.openxmlformats.org/drawingml/2006/main">
              <a:ext uri="{FF2B5EF4-FFF2-40B4-BE49-F238E27FC236}">
                <a16:creationId xmlns:a16="http://schemas.microsoft.com/office/drawing/2014/main" id="{127EAC0F-7538-48D2-9845-E50816FBC5B6}"/>
              </a:ext>
            </a:extLst>
          </p:cNvPr>
          <p:cNvSpPr>
            <a:spLocks xmlns:a="http://schemas.openxmlformats.org/drawingml/2006/main" noGrp="1"/>
          </p:cNvSpPr>
          <p:nvPr/>
        </p:nvSpPr>
        <p:spPr>
          <a:xfrm xmlns:a="http://schemas.openxmlformats.org/drawingml/2006/main" flipH="0" flipV="1">
            <a:off x="1005840" y="1874520"/>
            <a:ext cx="0" cy="324612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3" name="STC-17-scale-left-xlabel">
            <a:extLst xmlns:a="http://schemas.openxmlformats.org/drawingml/2006/main">
              <a:ext uri="{FF2B5EF4-FFF2-40B4-BE49-F238E27FC236}">
                <a16:creationId xmlns:a16="http://schemas.microsoft.com/office/drawing/2014/main" id="{CC1A6B04-2FA6-4A11-9502-96D6C06C0406}"/>
              </a:ext>
            </a:extLst>
          </p:cNvPr>
          <p:cNvSpPr>
            <a:spLocks xmlns:a="http://schemas.openxmlformats.org/drawingml/2006/main" noGrp="1"/>
          </p:cNvSpPr>
          <p:nvPr/>
        </p:nvSpPr>
        <p:spPr>
          <a:xfrm xmlns:a="http://schemas.openxmlformats.org/drawingml/2006/main">
            <a:off x="3794760" y="5266944"/>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a:solidFill>
                  <a:srgbClr val="59616A"/>
                </a:solidFill>
                <a:latin typeface="Noto Sans CJK KR"/>
                <a:ea typeface="Noto Sans CJK KR"/>
                <a:cs typeface="Noto Sans CJK KR"/>
              </a:rPr>
              <a:t>sleep 라운드</a:t>
            </a:r>
            <a:endParaRPr sz="1100"/>
          </a:p>
        </p:txBody>
      </p:sp>
      <p:sp>
        <p:nvSpPr>
          <p:cNvPr id="14" name="STC-17-scale-left-ylabel">
            <a:extLst xmlns:a="http://schemas.openxmlformats.org/drawingml/2006/main">
              <a:ext uri="{FF2B5EF4-FFF2-40B4-BE49-F238E27FC236}">
                <a16:creationId xmlns:a16="http://schemas.microsoft.com/office/drawing/2014/main" id="{3FECF62E-F154-4266-9F86-FA8AD5DD6D5B}"/>
              </a:ext>
            </a:extLst>
          </p:cNvPr>
          <p:cNvSpPr>
            <a:spLocks xmlns:a="http://schemas.openxmlformats.org/drawingml/2006/main" noGrp="1"/>
          </p:cNvSpPr>
          <p:nvPr/>
        </p:nvSpPr>
        <p:spPr>
          <a:xfrm xmlns:a="http://schemas.openxmlformats.org/drawingml/2006/main" rot="16200000">
            <a:off x="594360" y="1764792"/>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9616A"/>
                </a:solidFill>
                <a:latin typeface="Noto Sans CJK KR"/>
                <a:ea typeface="Noto Sans CJK KR"/>
                <a:cs typeface="Noto Sans CJK KR"/>
              </a:rPr>
              <a:t>성능</a:t>
            </a:r>
            <a:endParaRPr sz="1100"/>
          </a:p>
        </p:txBody>
      </p:sp>
      <p:sp>
        <p:nvSpPr>
          <p:cNvPr id="15" name="STC-17-scale-external">
            <a:extLst xmlns:a="http://schemas.openxmlformats.org/drawingml/2006/main">
              <a:ext uri="{FF2B5EF4-FFF2-40B4-BE49-F238E27FC236}">
                <a16:creationId xmlns:a16="http://schemas.microsoft.com/office/drawing/2014/main" id="{2D86127B-2D39-4C68-9E49-E6517B6F9AD8}"/>
              </a:ext>
            </a:extLst>
          </p:cNvPr>
          <p:cNvSpPr>
            <a:spLocks xmlns:a="http://schemas.openxmlformats.org/drawingml/2006/main" noGrp="1"/>
          </p:cNvSpPr>
          <p:nvPr/>
        </p:nvSpPr>
        <p:spPr>
          <a:xfrm xmlns:a="http://schemas.openxmlformats.org/drawingml/2006/main" flipH="0" flipV="1">
            <a:off x="1188720" y="2606040"/>
            <a:ext cx="3520440" cy="1874520"/>
          </a:xfrm>
          <a:prstGeom xmlns:a="http://schemas.openxmlformats.org/drawingml/2006/main" prst="line">
            <a:avLst/>
          </a:prstGeom>
          <a:noFill xmlns:a="http://schemas.openxmlformats.org/drawingml/2006/main"/>
          <a:ln xmlns:a="http://schemas.openxmlformats.org/drawingml/2006/main" w="27940">
            <a:solidFill>
              <a:srgbClr val="244E8A"/>
            </a:solidFill>
            <a:prstDash val="solid"/>
            <a:tailEnd type="none"/>
          </a:ln>
        </p:spPr>
      </p:sp>
      <p:sp>
        <p:nvSpPr>
          <p:cNvPr id="16" name="STC-17-scale-parametric">
            <a:extLst xmlns:a="http://schemas.openxmlformats.org/drawingml/2006/main">
              <a:ext uri="{FF2B5EF4-FFF2-40B4-BE49-F238E27FC236}">
                <a16:creationId xmlns:a16="http://schemas.microsoft.com/office/drawing/2014/main" id="{DFC59353-7D50-4688-AA06-2224C35349DE}"/>
              </a:ext>
            </a:extLst>
          </p:cNvPr>
          <p:cNvSpPr>
            <a:spLocks xmlns:a="http://schemas.openxmlformats.org/drawingml/2006/main" noGrp="1"/>
          </p:cNvSpPr>
          <p:nvPr/>
        </p:nvSpPr>
        <p:spPr>
          <a:xfrm xmlns:a="http://schemas.openxmlformats.org/drawingml/2006/main">
            <a:off x="1188720" y="2514600"/>
            <a:ext cx="3520440" cy="1965960"/>
          </a:xfrm>
          <a:prstGeom xmlns:a="http://schemas.openxmlformats.org/drawingml/2006/main" prst="line">
            <a:avLst/>
          </a:prstGeom>
          <a:noFill xmlns:a="http://schemas.openxmlformats.org/drawingml/2006/main"/>
          <a:ln xmlns:a="http://schemas.openxmlformats.org/drawingml/2006/main" w="27940">
            <a:solidFill>
              <a:srgbClr val="9A442D"/>
            </a:solidFill>
            <a:prstDash val="solid"/>
            <a:tailEnd type="none"/>
          </a:ln>
        </p:spPr>
      </p:sp>
      <p:sp>
        <p:nvSpPr>
          <p:cNvPr id="17" name="STC-17-scale-cross">
            <a:extLst xmlns:a="http://schemas.openxmlformats.org/drawingml/2006/main">
              <a:ext uri="{FF2B5EF4-FFF2-40B4-BE49-F238E27FC236}">
                <a16:creationId xmlns:a16="http://schemas.microsoft.com/office/drawing/2014/main" id="{38C2475A-C01B-48D1-B5C2-52F03E134CC7}"/>
              </a:ext>
            </a:extLst>
          </p:cNvPr>
          <p:cNvSpPr>
            <a:spLocks xmlns:a="http://schemas.openxmlformats.org/drawingml/2006/main" noGrp="1"/>
          </p:cNvSpPr>
          <p:nvPr/>
        </p:nvSpPr>
        <p:spPr>
          <a:xfrm xmlns:a="http://schemas.openxmlformats.org/drawingml/2006/main">
            <a:off x="2971800" y="3438144"/>
            <a:ext cx="219456" cy="219456"/>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18" name="STC-17-scale-cross-label">
            <a:extLst xmlns:a="http://schemas.openxmlformats.org/drawingml/2006/main">
              <a:ext uri="{FF2B5EF4-FFF2-40B4-BE49-F238E27FC236}">
                <a16:creationId xmlns:a16="http://schemas.microsoft.com/office/drawing/2014/main" id="{5361373B-8A27-4C3F-BCAB-13880DD0432B}"/>
              </a:ext>
            </a:extLst>
          </p:cNvPr>
          <p:cNvSpPr>
            <a:spLocks xmlns:a="http://schemas.openxmlformats.org/drawingml/2006/main" noGrp="1"/>
          </p:cNvSpPr>
          <p:nvPr/>
        </p:nvSpPr>
        <p:spPr>
          <a:xfrm xmlns:a="http://schemas.openxmlformats.org/drawingml/2006/main">
            <a:off x="3200400" y="3209544"/>
            <a:ext cx="1600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7191C"/>
                </a:solidFill>
                <a:latin typeface="Noto Sans CJK KR"/>
                <a:ea typeface="Noto Sans CJK KR"/>
                <a:cs typeface="Noto Sans CJK KR"/>
              </a:rPr>
              <a:t>확장만으로</a:t>
            </a:r>
            <a:endParaRPr sz="1300"/>
          </a:p>
        </p:txBody>
      </p:sp>
      <p:sp>
        <p:nvSpPr>
          <p:cNvPr id="19" name="STC-17-scale-external-label">
            <a:extLst xmlns:a="http://schemas.openxmlformats.org/drawingml/2006/main">
              <a:ext uri="{FF2B5EF4-FFF2-40B4-BE49-F238E27FC236}">
                <a16:creationId xmlns:a16="http://schemas.microsoft.com/office/drawing/2014/main" id="{5A0E898B-D650-4683-929F-FC5564799CA5}"/>
              </a:ext>
            </a:extLst>
          </p:cNvPr>
          <p:cNvSpPr>
            <a:spLocks xmlns:a="http://schemas.openxmlformats.org/drawingml/2006/main" noGrp="1"/>
          </p:cNvSpPr>
          <p:nvPr/>
        </p:nvSpPr>
        <p:spPr>
          <a:xfrm xmlns:a="http://schemas.openxmlformats.org/drawingml/2006/main">
            <a:off x="1554480" y="4096512"/>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244E8A"/>
                </a:solidFill>
                <a:latin typeface="Noto Sans CJK KR"/>
                <a:ea typeface="Noto Sans CJK KR"/>
                <a:cs typeface="Noto Sans CJK KR"/>
              </a:rPr>
              <a:t>Seeding</a:t>
            </a:r>
            <a:endParaRPr sz="1200"/>
          </a:p>
        </p:txBody>
      </p:sp>
      <p:sp>
        <p:nvSpPr>
          <p:cNvPr id="20" name="STC-17-scale-parametric-label">
            <a:extLst xmlns:a="http://schemas.openxmlformats.org/drawingml/2006/main">
              <a:ext uri="{FF2B5EF4-FFF2-40B4-BE49-F238E27FC236}">
                <a16:creationId xmlns:a16="http://schemas.microsoft.com/office/drawing/2014/main" id="{9314D827-DE51-4522-BD7E-BDF397FFDFC8}"/>
              </a:ext>
            </a:extLst>
          </p:cNvPr>
          <p:cNvSpPr>
            <a:spLocks xmlns:a="http://schemas.openxmlformats.org/drawingml/2006/main" noGrp="1"/>
          </p:cNvSpPr>
          <p:nvPr/>
        </p:nvSpPr>
        <p:spPr>
          <a:xfrm xmlns:a="http://schemas.openxmlformats.org/drawingml/2006/main">
            <a:off x="3986784" y="4114800"/>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9A442D"/>
                </a:solidFill>
                <a:latin typeface="Noto Sans CJK KR"/>
                <a:ea typeface="Noto Sans CJK KR"/>
                <a:cs typeface="Noto Sans CJK KR"/>
              </a:rPr>
              <a:t>4×</a:t>
            </a:r>
            <a:endParaRPr sz="1200"/>
          </a:p>
        </p:txBody>
      </p:sp>
      <p:sp>
        <p:nvSpPr>
          <p:cNvPr id="21" name="STC-17-scale-divider">
            <a:extLst xmlns:a="http://schemas.openxmlformats.org/drawingml/2006/main">
              <a:ext uri="{FF2B5EF4-FFF2-40B4-BE49-F238E27FC236}">
                <a16:creationId xmlns:a16="http://schemas.microsoft.com/office/drawing/2014/main" id="{EED8261B-448F-4417-9C3F-674EDAAAD962}"/>
              </a:ext>
            </a:extLst>
          </p:cNvPr>
          <p:cNvSpPr>
            <a:spLocks xmlns:a="http://schemas.openxmlformats.org/drawingml/2006/main" noGrp="1"/>
          </p:cNvSpPr>
          <p:nvPr/>
        </p:nvSpPr>
        <p:spPr>
          <a:xfrm xmlns:a="http://schemas.openxmlformats.org/drawingml/2006/main">
            <a:off x="5989320" y="1755648"/>
            <a:ext cx="0" cy="3886200"/>
          </a:xfrm>
          <a:prstGeom xmlns:a="http://schemas.openxmlformats.org/drawingml/2006/main" prst="line">
            <a:avLst/>
          </a:prstGeom>
          <a:noFill xmlns:a="http://schemas.openxmlformats.org/drawingml/2006/main"/>
          <a:ln xmlns:a="http://schemas.openxmlformats.org/drawingml/2006/main" w="15240">
            <a:solidFill>
              <a:srgbClr val="C9C4B8"/>
            </a:solidFill>
            <a:prstDash val="solid"/>
            <a:tailEnd type="none"/>
          </a:ln>
        </p:spPr>
      </p:sp>
      <p:sp>
        <p:nvSpPr>
          <p:cNvPr id="22" name="STC-17-atlas-label-0">
            <a:extLst xmlns:a="http://schemas.openxmlformats.org/drawingml/2006/main">
              <a:ext uri="{FF2B5EF4-FFF2-40B4-BE49-F238E27FC236}">
                <a16:creationId xmlns:a16="http://schemas.microsoft.com/office/drawing/2014/main" id="{38500024-C3E5-449E-9177-C70AC65318D7}"/>
              </a:ext>
            </a:extLst>
          </p:cNvPr>
          <p:cNvSpPr>
            <a:spLocks xmlns:a="http://schemas.openxmlformats.org/drawingml/2006/main" noGrp="1"/>
          </p:cNvSpPr>
          <p:nvPr/>
        </p:nvSpPr>
        <p:spPr>
          <a:xfrm xmlns:a="http://schemas.openxmlformats.org/drawingml/2006/main">
            <a:off x="6473952" y="1709928"/>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Seeding</a:t>
            </a:r>
            <a:endParaRPr sz="1050"/>
          </a:p>
        </p:txBody>
      </p:sp>
      <p:sp>
        <p:nvSpPr>
          <p:cNvPr id="23" name="STC-17-atlas-rule-0">
            <a:extLst xmlns:a="http://schemas.openxmlformats.org/drawingml/2006/main">
              <a:ext uri="{FF2B5EF4-FFF2-40B4-BE49-F238E27FC236}">
                <a16:creationId xmlns:a16="http://schemas.microsoft.com/office/drawing/2014/main" id="{740662E4-4426-481A-AD86-7B8414E58A82}"/>
              </a:ext>
            </a:extLst>
          </p:cNvPr>
          <p:cNvSpPr>
            <a:spLocks xmlns:a="http://schemas.openxmlformats.org/drawingml/2006/main" noGrp="1"/>
          </p:cNvSpPr>
          <p:nvPr/>
        </p:nvSpPr>
        <p:spPr>
          <a:xfrm xmlns:a="http://schemas.openxmlformats.org/drawingml/2006/main">
            <a:off x="8284464" y="1819656"/>
            <a:ext cx="502920" cy="0"/>
          </a:xfrm>
          <a:prstGeom xmlns:a="http://schemas.openxmlformats.org/drawingml/2006/main" prst="line">
            <a:avLst/>
          </a:prstGeom>
          <a:noFill xmlns:a="http://schemas.openxmlformats.org/drawingml/2006/main"/>
          <a:ln xmlns:a="http://schemas.openxmlformats.org/drawingml/2006/main" w="38100">
            <a:solidFill>
              <a:srgbClr val="9A442D"/>
            </a:solidFill>
            <a:prstDash val="solid"/>
            <a:tailEnd type="none"/>
          </a:ln>
        </p:spPr>
      </p:sp>
      <p:sp>
        <p:nvSpPr>
          <p:cNvPr id="24" name="STC-17-atlas-body-0">
            <a:extLst xmlns:a="http://schemas.openxmlformats.org/drawingml/2006/main">
              <a:ext uri="{FF2B5EF4-FFF2-40B4-BE49-F238E27FC236}">
                <a16:creationId xmlns:a16="http://schemas.microsoft.com/office/drawing/2014/main" id="{1B446C46-BC66-41F9-B60B-A7B63A5C03DC}"/>
              </a:ext>
            </a:extLst>
          </p:cNvPr>
          <p:cNvSpPr>
            <a:spLocks xmlns:a="http://schemas.openxmlformats.org/drawingml/2006/main" noGrp="1"/>
          </p:cNvSpPr>
          <p:nvPr/>
        </p:nvSpPr>
        <p:spPr>
          <a:xfrm xmlns:a="http://schemas.openxmlformats.org/drawingml/2006/main">
            <a:off x="8979408" y="1682496"/>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sleep에 넣을 데이터를 스스로 만든다</a:t>
            </a:r>
            <a:endParaRPr sz="1550"/>
          </a:p>
        </p:txBody>
      </p:sp>
      <p:sp>
        <p:nvSpPr>
          <p:cNvPr id="25" name="STC-17-atlas-label-1">
            <a:extLst xmlns:a="http://schemas.openxmlformats.org/drawingml/2006/main">
              <a:ext uri="{FF2B5EF4-FFF2-40B4-BE49-F238E27FC236}">
                <a16:creationId xmlns:a16="http://schemas.microsoft.com/office/drawing/2014/main" id="{A1AD9682-CB19-4CC3-B24A-465331B8B9E9}"/>
              </a:ext>
            </a:extLst>
          </p:cNvPr>
          <p:cNvSpPr>
            <a:spLocks xmlns:a="http://schemas.openxmlformats.org/drawingml/2006/main" noGrp="1"/>
          </p:cNvSpPr>
          <p:nvPr/>
        </p:nvSpPr>
        <p:spPr>
          <a:xfrm xmlns:a="http://schemas.openxmlformats.org/drawingml/2006/main">
            <a:off x="6473952" y="2496312"/>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Dreaming</a:t>
            </a:r>
            <a:endParaRPr sz="1050"/>
          </a:p>
        </p:txBody>
      </p:sp>
      <p:sp>
        <p:nvSpPr>
          <p:cNvPr id="26" name="STC-17-atlas-rule-1">
            <a:extLst xmlns:a="http://schemas.openxmlformats.org/drawingml/2006/main">
              <a:ext uri="{FF2B5EF4-FFF2-40B4-BE49-F238E27FC236}">
                <a16:creationId xmlns:a16="http://schemas.microsoft.com/office/drawing/2014/main" id="{9C753F1A-0E9B-4F34-8439-061056C7176A}"/>
              </a:ext>
            </a:extLst>
          </p:cNvPr>
          <p:cNvSpPr>
            <a:spLocks xmlns:a="http://schemas.openxmlformats.org/drawingml/2006/main" noGrp="1"/>
          </p:cNvSpPr>
          <p:nvPr/>
        </p:nvSpPr>
        <p:spPr>
          <a:xfrm xmlns:a="http://schemas.openxmlformats.org/drawingml/2006/main">
            <a:off x="8284464" y="2606040"/>
            <a:ext cx="502920" cy="0"/>
          </a:xfrm>
          <a:prstGeom xmlns:a="http://schemas.openxmlformats.org/drawingml/2006/main" prst="line">
            <a:avLst/>
          </a:prstGeom>
          <a:noFill xmlns:a="http://schemas.openxmlformats.org/drawingml/2006/main"/>
          <a:ln xmlns:a="http://schemas.openxmlformats.org/drawingml/2006/main" w="38100">
            <a:solidFill>
              <a:srgbClr val="244E8A"/>
            </a:solidFill>
            <a:prstDash val="solid"/>
            <a:tailEnd type="none"/>
          </a:ln>
        </p:spPr>
      </p:sp>
      <p:sp>
        <p:nvSpPr>
          <p:cNvPr id="27" name="STC-17-atlas-body-1">
            <a:extLst xmlns:a="http://schemas.openxmlformats.org/drawingml/2006/main">
              <a:ext uri="{FF2B5EF4-FFF2-40B4-BE49-F238E27FC236}">
                <a16:creationId xmlns:a16="http://schemas.microsoft.com/office/drawing/2014/main" id="{1A33A49B-1D5D-4C8F-8664-0C37F5C18102}"/>
              </a:ext>
            </a:extLst>
          </p:cNvPr>
          <p:cNvSpPr>
            <a:spLocks xmlns:a="http://schemas.openxmlformats.org/drawingml/2006/main" noGrp="1"/>
          </p:cNvSpPr>
          <p:nvPr/>
        </p:nvSpPr>
        <p:spPr>
          <a:xfrm xmlns:a="http://schemas.openxmlformats.org/drawingml/2006/main">
            <a:off x="8979408" y="2468880"/>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생성된 것으로 distillation과 RL을 돈다</a:t>
            </a:r>
            <a:endParaRPr sz="1550"/>
          </a:p>
        </p:txBody>
      </p:sp>
      <p:sp>
        <p:nvSpPr>
          <p:cNvPr id="28" name="STC-17-atlas-label-2">
            <a:extLst xmlns:a="http://schemas.openxmlformats.org/drawingml/2006/main">
              <a:ext uri="{FF2B5EF4-FFF2-40B4-BE49-F238E27FC236}">
                <a16:creationId xmlns:a16="http://schemas.microsoft.com/office/drawing/2014/main" id="{4B5B8C07-BC12-46CD-813B-3AF219E12202}"/>
              </a:ext>
            </a:extLst>
          </p:cNvPr>
          <p:cNvSpPr>
            <a:spLocks xmlns:a="http://schemas.openxmlformats.org/drawingml/2006/main" noGrp="1"/>
          </p:cNvSpPr>
          <p:nvPr/>
        </p:nvSpPr>
        <p:spPr>
          <a:xfrm xmlns:a="http://schemas.openxmlformats.org/drawingml/2006/main">
            <a:off x="6473952" y="3282696"/>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확장만</a:t>
            </a:r>
            <a:endParaRPr sz="1050"/>
          </a:p>
        </p:txBody>
      </p:sp>
      <p:sp>
        <p:nvSpPr>
          <p:cNvPr id="29" name="STC-17-atlas-rule-2">
            <a:extLst xmlns:a="http://schemas.openxmlformats.org/drawingml/2006/main">
              <a:ext uri="{FF2B5EF4-FFF2-40B4-BE49-F238E27FC236}">
                <a16:creationId xmlns:a16="http://schemas.microsoft.com/office/drawing/2014/main" id="{5B2A6C3E-8059-4CE9-9C3B-70976103A271}"/>
              </a:ext>
            </a:extLst>
          </p:cNvPr>
          <p:cNvSpPr>
            <a:spLocks xmlns:a="http://schemas.openxmlformats.org/drawingml/2006/main" noGrp="1"/>
          </p:cNvSpPr>
          <p:nvPr/>
        </p:nvSpPr>
        <p:spPr>
          <a:xfrm xmlns:a="http://schemas.openxmlformats.org/drawingml/2006/main">
            <a:off x="8284464" y="3392424"/>
            <a:ext cx="502920" cy="0"/>
          </a:xfrm>
          <a:prstGeom xmlns:a="http://schemas.openxmlformats.org/drawingml/2006/main" prst="line">
            <a:avLst/>
          </a:prstGeom>
          <a:noFill xmlns:a="http://schemas.openxmlformats.org/drawingml/2006/main"/>
          <a:ln xmlns:a="http://schemas.openxmlformats.org/drawingml/2006/main" w="38100">
            <a:solidFill>
              <a:srgbClr val="2F6B63"/>
            </a:solidFill>
            <a:prstDash val="solid"/>
            <a:tailEnd type="none"/>
          </a:ln>
        </p:spPr>
      </p:sp>
      <p:sp>
        <p:nvSpPr>
          <p:cNvPr id="30" name="STC-17-atlas-body-2">
            <a:extLst xmlns:a="http://schemas.openxmlformats.org/drawingml/2006/main">
              <a:ext uri="{FF2B5EF4-FFF2-40B4-BE49-F238E27FC236}">
                <a16:creationId xmlns:a16="http://schemas.microsoft.com/office/drawing/2014/main" id="{ED8666E7-DF2A-4D85-9EB9-7BFAEFE25FBB}"/>
              </a:ext>
            </a:extLst>
          </p:cNvPr>
          <p:cNvSpPr>
            <a:spLocks xmlns:a="http://schemas.openxmlformats.org/drawingml/2006/main" noGrp="1"/>
          </p:cNvSpPr>
          <p:nvPr/>
        </p:nvSpPr>
        <p:spPr>
          <a:xfrm xmlns:a="http://schemas.openxmlformats.org/drawingml/2006/main">
            <a:off x="8979408" y="3255264"/>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76.6→77.9 등 마진 절반이 여기서 나온다</a:t>
            </a:r>
            <a:endParaRPr sz="1550"/>
          </a:p>
        </p:txBody>
      </p:sp>
      <p:sp>
        <p:nvSpPr>
          <p:cNvPr id="31" name="STC-17-atlas-label-3">
            <a:extLst xmlns:a="http://schemas.openxmlformats.org/drawingml/2006/main">
              <a:ext uri="{FF2B5EF4-FFF2-40B4-BE49-F238E27FC236}">
                <a16:creationId xmlns:a16="http://schemas.microsoft.com/office/drawing/2014/main" id="{C22D209C-8F5F-4D75-9BCF-C8C2E6E5DB33}"/>
              </a:ext>
            </a:extLst>
          </p:cNvPr>
          <p:cNvSpPr>
            <a:spLocks xmlns:a="http://schemas.openxmlformats.org/drawingml/2006/main" noGrp="1"/>
          </p:cNvSpPr>
          <p:nvPr/>
        </p:nvSpPr>
        <p:spPr>
          <a:xfrm xmlns:a="http://schemas.openxmlformats.org/drawingml/2006/main">
            <a:off x="6473952" y="4069080"/>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예산</a:t>
            </a:r>
            <a:endParaRPr sz="1050"/>
          </a:p>
        </p:txBody>
      </p:sp>
      <p:sp>
        <p:nvSpPr>
          <p:cNvPr id="32" name="STC-17-atlas-rule-3">
            <a:extLst xmlns:a="http://schemas.openxmlformats.org/drawingml/2006/main">
              <a:ext uri="{FF2B5EF4-FFF2-40B4-BE49-F238E27FC236}">
                <a16:creationId xmlns:a16="http://schemas.microsoft.com/office/drawing/2014/main" id="{6413883D-F716-4E60-A3EA-294B9FF31579}"/>
              </a:ext>
            </a:extLst>
          </p:cNvPr>
          <p:cNvSpPr>
            <a:spLocks xmlns:a="http://schemas.openxmlformats.org/drawingml/2006/main" noGrp="1"/>
          </p:cNvSpPr>
          <p:nvPr/>
        </p:nvSpPr>
        <p:spPr>
          <a:xfrm xmlns:a="http://schemas.openxmlformats.org/drawingml/2006/main">
            <a:off x="8284464" y="4178808"/>
            <a:ext cx="502920" cy="0"/>
          </a:xfrm>
          <a:prstGeom xmlns:a="http://schemas.openxmlformats.org/drawingml/2006/main" prst="line">
            <a:avLst/>
          </a:prstGeom>
          <a:noFill xmlns:a="http://schemas.openxmlformats.org/drawingml/2006/main"/>
          <a:ln xmlns:a="http://schemas.openxmlformats.org/drawingml/2006/main" w="38100">
            <a:solidFill>
              <a:srgbClr val="9A442D"/>
            </a:solidFill>
            <a:prstDash val="solid"/>
            <a:tailEnd type="none"/>
          </a:ln>
        </p:spPr>
      </p:sp>
      <p:sp>
        <p:nvSpPr>
          <p:cNvPr id="33" name="STC-17-atlas-body-3">
            <a:extLst xmlns:a="http://schemas.openxmlformats.org/drawingml/2006/main">
              <a:ext uri="{FF2B5EF4-FFF2-40B4-BE49-F238E27FC236}">
                <a16:creationId xmlns:a16="http://schemas.microsoft.com/office/drawing/2014/main" id="{3690E37F-97C1-44E1-9B22-261955C76526}"/>
              </a:ext>
            </a:extLst>
          </p:cNvPr>
          <p:cNvSpPr>
            <a:spLocks xmlns:a="http://schemas.openxmlformats.org/drawingml/2006/main" noGrp="1"/>
          </p:cNvSpPr>
          <p:nvPr/>
        </p:nvSpPr>
        <p:spPr>
          <a:xfrm xmlns:a="http://schemas.openxmlformats.org/drawingml/2006/main">
            <a:off x="8979408" y="4041648"/>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SFT 대비 step당 4배. 절대값은 없다</a:t>
            </a:r>
            <a:endParaRPr sz="1550"/>
          </a:p>
        </p:txBody>
      </p:sp>
      <p:sp>
        <p:nvSpPr>
          <p:cNvPr id="34" name="STC-17-atlas-label-4">
            <a:extLst xmlns:a="http://schemas.openxmlformats.org/drawingml/2006/main">
              <a:ext uri="{FF2B5EF4-FFF2-40B4-BE49-F238E27FC236}">
                <a16:creationId xmlns:a16="http://schemas.microsoft.com/office/drawing/2014/main" id="{4E09BD89-2B39-4380-8908-5D98AB0C13FF}"/>
              </a:ext>
            </a:extLst>
          </p:cNvPr>
          <p:cNvSpPr>
            <a:spLocks xmlns:a="http://schemas.openxmlformats.org/drawingml/2006/main" noGrp="1"/>
          </p:cNvSpPr>
          <p:nvPr/>
        </p:nvSpPr>
        <p:spPr>
          <a:xfrm xmlns:a="http://schemas.openxmlformats.org/drawingml/2006/main">
            <a:off x="6473952" y="4855464"/>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부재</a:t>
            </a:r>
            <a:endParaRPr sz="1050"/>
          </a:p>
        </p:txBody>
      </p:sp>
      <p:sp>
        <p:nvSpPr>
          <p:cNvPr id="35" name="STC-17-atlas-rule-4">
            <a:extLst xmlns:a="http://schemas.openxmlformats.org/drawingml/2006/main">
              <a:ext uri="{FF2B5EF4-FFF2-40B4-BE49-F238E27FC236}">
                <a16:creationId xmlns:a16="http://schemas.microsoft.com/office/drawing/2014/main" id="{6F85C4F8-DEE9-43E4-B953-A1AA93F5F878}"/>
              </a:ext>
            </a:extLst>
          </p:cNvPr>
          <p:cNvSpPr>
            <a:spLocks xmlns:a="http://schemas.openxmlformats.org/drawingml/2006/main" noGrp="1"/>
          </p:cNvSpPr>
          <p:nvPr/>
        </p:nvSpPr>
        <p:spPr>
          <a:xfrm xmlns:a="http://schemas.openxmlformats.org/drawingml/2006/main">
            <a:off x="8284464" y="4965192"/>
            <a:ext cx="502920" cy="0"/>
          </a:xfrm>
          <a:prstGeom xmlns:a="http://schemas.openxmlformats.org/drawingml/2006/main" prst="line">
            <a:avLst/>
          </a:prstGeom>
          <a:noFill xmlns:a="http://schemas.openxmlformats.org/drawingml/2006/main"/>
          <a:ln xmlns:a="http://schemas.openxmlformats.org/drawingml/2006/main" w="38100">
            <a:solidFill>
              <a:srgbClr val="59616A"/>
            </a:solidFill>
            <a:prstDash val="solid"/>
            <a:tailEnd type="none"/>
          </a:ln>
        </p:spPr>
      </p:sp>
      <p:sp>
        <p:nvSpPr>
          <p:cNvPr id="36" name="STC-17-atlas-body-4">
            <a:extLst xmlns:a="http://schemas.openxmlformats.org/drawingml/2006/main">
              <a:ext uri="{FF2B5EF4-FFF2-40B4-BE49-F238E27FC236}">
                <a16:creationId xmlns:a16="http://schemas.microsoft.com/office/drawing/2014/main" id="{E742DFC6-454B-4514-81D0-A19D043EF25B}"/>
              </a:ext>
            </a:extLst>
          </p:cNvPr>
          <p:cNvSpPr>
            <a:spLocks xmlns:a="http://schemas.openxmlformats.org/drawingml/2006/main" noGrp="1"/>
          </p:cNvSpPr>
          <p:nvPr/>
        </p:nvSpPr>
        <p:spPr>
          <a:xfrm xmlns:a="http://schemas.openxmlformats.org/drawingml/2006/main">
            <a:off x="8979408" y="4828032"/>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일곱 실험 중 넷은 숫자가 없다</a:t>
            </a:r>
            <a:endParaRPr sz="1550"/>
          </a:p>
        </p:txBody>
      </p:sp>
      <p:sp>
        <p:nvSpPr>
          <p:cNvPr id="37" name="STC-17-scale-nonresult">
            <a:extLst xmlns:a="http://schemas.openxmlformats.org/drawingml/2006/main">
              <a:ext uri="{FF2B5EF4-FFF2-40B4-BE49-F238E27FC236}">
                <a16:creationId xmlns:a16="http://schemas.microsoft.com/office/drawing/2014/main" id="{0DBC12A9-4F5B-4978-9410-2294970708B3}"/>
              </a:ext>
            </a:extLst>
          </p:cNvPr>
          <p:cNvSpPr>
            <a:spLocks xmlns:a="http://schemas.openxmlformats.org/drawingml/2006/main" noGrp="1"/>
          </p:cNvSpPr>
          <p:nvPr/>
        </p:nvSpPr>
        <p:spPr>
          <a:xfrm xmlns:a="http://schemas.openxmlformats.org/drawingml/2006/main">
            <a:off x="8183880" y="5715000"/>
            <a:ext cx="2971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b="1">
                <a:solidFill>
                  <a:srgbClr val="9A442D"/>
                </a:solidFill>
                <a:latin typeface="Noto Sans Mono CJK KR"/>
                <a:ea typeface="Noto Sans Mono CJK KR"/>
                <a:cs typeface="Noto Sans Mono CJK KR"/>
              </a:rPr>
              <a:t>마진의 절반가량이 Knowledge Seeding 없이 구조적 확장만으로 얻어진다</a:t>
            </a:r>
            <a:endParaRPr sz="1000"/>
          </a:p>
        </p:txBody>
      </p:sp>
    </p:spTree>
    <p:extLst>
      <p:ext uri="{BB962C8B-B14F-4D97-AF65-F5344CB8AC3E}">
        <p14:creationId xmlns:p14="http://schemas.microsoft.com/office/powerpoint/2010/main" val="814754748"/>
      </p:ext>
    </p:extLst>
  </p:cSld>
</p:sld>
</file>

<file path=ppt/slides/slide7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3-section">
            <a:extLst xmlns:a="http://schemas.openxmlformats.org/drawingml/2006/main">
              <a:ext uri="{FF2B5EF4-FFF2-40B4-BE49-F238E27FC236}">
                <a16:creationId xmlns:a16="http://schemas.microsoft.com/office/drawing/2014/main" id="{DEF75E10-FC43-4F90-A29D-73D1CBC1DCC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THETA-PATH</a:t>
            </a:r>
            <a:endParaRPr sz="950"/>
          </a:p>
        </p:txBody>
      </p:sp>
      <p:sp>
        <p:nvSpPr>
          <p:cNvPr id="3" name="STC-13-slide-id">
            <a:extLst xmlns:a="http://schemas.openxmlformats.org/drawingml/2006/main">
              <a:ext uri="{FF2B5EF4-FFF2-40B4-BE49-F238E27FC236}">
                <a16:creationId xmlns:a16="http://schemas.microsoft.com/office/drawing/2014/main" id="{207357D7-4303-4447-A61C-4C79283F663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STC-075</a:t>
            </a:r>
            <a:endParaRPr sz="950"/>
          </a:p>
        </p:txBody>
      </p:sp>
      <p:sp>
        <p:nvSpPr>
          <p:cNvPr id="4" name="STC-13-headline">
            <a:extLst xmlns:a="http://schemas.openxmlformats.org/drawingml/2006/main">
              <a:ext uri="{FF2B5EF4-FFF2-40B4-BE49-F238E27FC236}">
                <a16:creationId xmlns:a16="http://schemas.microsoft.com/office/drawing/2014/main" id="{8E260E54-4985-4C50-817D-C85BDF65F5D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ablation 역전과 상각식의 퇴화</a:t>
            </a:r>
            <a:endParaRPr sz="3000"/>
          </a:p>
        </p:txBody>
      </p:sp>
      <p:sp>
        <p:nvSpPr>
          <p:cNvPr id="5" name="STC-13-status-label">
            <a:extLst xmlns:a="http://schemas.openxmlformats.org/drawingml/2006/main">
              <a:ext uri="{FF2B5EF4-FFF2-40B4-BE49-F238E27FC236}">
                <a16:creationId xmlns:a16="http://schemas.microsoft.com/office/drawing/2014/main" id="{76CEFCAB-90F8-4FF1-91A9-495F4B23416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논문 자기 수치</a:t>
            </a:r>
            <a:endParaRPr sz="1000"/>
          </a:p>
        </p:txBody>
      </p:sp>
      <p:sp>
        <p:nvSpPr>
          <p:cNvPr id="6" name="STC-13-status-rule">
            <a:extLst xmlns:a="http://schemas.openxmlformats.org/drawingml/2006/main">
              <a:ext uri="{FF2B5EF4-FFF2-40B4-BE49-F238E27FC236}">
                <a16:creationId xmlns:a16="http://schemas.microsoft.com/office/drawing/2014/main" id="{07360112-59F1-4B26-BA92-7088E3FD40C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13-footer-rule">
            <a:extLst xmlns:a="http://schemas.openxmlformats.org/drawingml/2006/main">
              <a:ext uri="{FF2B5EF4-FFF2-40B4-BE49-F238E27FC236}">
                <a16:creationId xmlns:a16="http://schemas.microsoft.com/office/drawing/2014/main" id="{26DC731C-F3A6-48D1-B411-9B2CD636969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3-source-footer">
            <a:extLst xmlns:a="http://schemas.openxmlformats.org/drawingml/2006/main">
              <a:ext uri="{FF2B5EF4-FFF2-40B4-BE49-F238E27FC236}">
                <a16:creationId xmlns:a16="http://schemas.microsoft.com/office/drawing/2014/main" id="{F8DE0C07-9BB3-4619-B392-5FCFC17ACBE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ch21 §21.5, §21.6 · [LM Need Sleep Table 1, p.11; §4.2, p.13]</a:t>
            </a:r>
            <a:endParaRPr sz="850"/>
          </a:p>
        </p:txBody>
      </p:sp>
      <p:sp>
        <p:nvSpPr>
          <p:cNvPr id="9" name="STC-13-page-number">
            <a:extLst xmlns:a="http://schemas.openxmlformats.org/drawingml/2006/main">
              <a:ext uri="{FF2B5EF4-FFF2-40B4-BE49-F238E27FC236}">
                <a16:creationId xmlns:a16="http://schemas.microsoft.com/office/drawing/2014/main" id="{77A42865-7B64-4DDF-99E9-C4F94EB652F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75</a:t>
            </a:r>
            <a:endParaRPr sz="850"/>
          </a:p>
        </p:txBody>
      </p:sp>
      <p:sp>
        <p:nvSpPr>
          <p:cNvPr id="11" name="STC-13-data-layer-0">
            <a:extLst xmlns:a="http://schemas.openxmlformats.org/drawingml/2006/main">
              <a:ext uri="{FF2B5EF4-FFF2-40B4-BE49-F238E27FC236}">
                <a16:creationId xmlns:a16="http://schemas.microsoft.com/office/drawing/2014/main" id="{E5BBE619-AB19-42FA-8122-D61948B604E8}"/>
              </a:ext>
            </a:extLst>
          </p:cNvPr>
          <p:cNvSpPr>
            <a:spLocks xmlns:a="http://schemas.openxmlformats.org/drawingml/2006/main" noGrp="1"/>
          </p:cNvSpPr>
          <p:nvPr/>
        </p:nvSpPr>
        <p:spPr>
          <a:xfrm xmlns:a="http://schemas.openxmlformats.org/drawingml/2006/main">
            <a:off x="1618488" y="1664208"/>
            <a:ext cx="8961120" cy="56692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12" name="STC-13-data-label-0">
            <a:extLst xmlns:a="http://schemas.openxmlformats.org/drawingml/2006/main">
              <a:ext uri="{FF2B5EF4-FFF2-40B4-BE49-F238E27FC236}">
                <a16:creationId xmlns:a16="http://schemas.microsoft.com/office/drawing/2014/main" id="{FDF9C9BA-3329-45E9-ABC4-2B36508291DA}"/>
              </a:ext>
            </a:extLst>
          </p:cNvPr>
          <p:cNvSpPr>
            <a:spLocks xmlns:a="http://schemas.openxmlformats.org/drawingml/2006/main" noGrp="1"/>
          </p:cNvSpPr>
          <p:nvPr/>
        </p:nvSpPr>
        <p:spPr>
          <a:xfrm xmlns:a="http://schemas.openxmlformats.org/drawingml/2006/main">
            <a:off x="1783080" y="1828800"/>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FFFFFF"/>
                </a:solidFill>
                <a:latin typeface="Noto Sans Mono CJK KR"/>
                <a:ea typeface="Noto Sans Mono CJK KR"/>
                <a:cs typeface="Noto Sans Mono CJK KR"/>
              </a:rPr>
              <a:t>Semantic Reward</a:t>
            </a:r>
            <a:endParaRPr sz="1050"/>
          </a:p>
        </p:txBody>
      </p:sp>
      <p:sp>
        <p:nvSpPr>
          <p:cNvPr id="13" name="STC-13-data-body-0">
            <a:extLst xmlns:a="http://schemas.openxmlformats.org/drawingml/2006/main">
              <a:ext uri="{FF2B5EF4-FFF2-40B4-BE49-F238E27FC236}">
                <a16:creationId xmlns:a16="http://schemas.microsoft.com/office/drawing/2014/main" id="{34676F1F-A035-47A9-9C53-7C294D97CEF1}"/>
              </a:ext>
            </a:extLst>
          </p:cNvPr>
          <p:cNvSpPr>
            <a:spLocks xmlns:a="http://schemas.openxmlformats.org/drawingml/2006/main" noGrp="1"/>
          </p:cNvSpPr>
          <p:nvPr/>
        </p:nvSpPr>
        <p:spPr>
          <a:xfrm xmlns:a="http://schemas.openxmlformats.org/drawingml/2006/main">
            <a:off x="3401568" y="1755648"/>
            <a:ext cx="6995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FFFFFF"/>
                </a:solidFill>
                <a:latin typeface="Noto Sans CJK KR"/>
                <a:ea typeface="Noto Sans CJK KR"/>
                <a:cs typeface="Noto Sans CJK KR"/>
              </a:rPr>
              <a:t>제거하면 AIME-25가 69.0에서 69.2로 오른다</a:t>
            </a:r>
            <a:endParaRPr sz="1450"/>
          </a:p>
        </p:txBody>
      </p:sp>
      <p:sp>
        <p:nvSpPr>
          <p:cNvPr id="14" name="STC-13-data-layer-1">
            <a:extLst xmlns:a="http://schemas.openxmlformats.org/drawingml/2006/main">
              <a:ext uri="{FF2B5EF4-FFF2-40B4-BE49-F238E27FC236}">
                <a16:creationId xmlns:a16="http://schemas.microsoft.com/office/drawing/2014/main" id="{2C7AD258-BAEB-4994-96A5-F1AB29FB68DF}"/>
              </a:ext>
            </a:extLst>
          </p:cNvPr>
          <p:cNvSpPr>
            <a:spLocks xmlns:a="http://schemas.openxmlformats.org/drawingml/2006/main" noGrp="1"/>
          </p:cNvSpPr>
          <p:nvPr/>
        </p:nvSpPr>
        <p:spPr>
          <a:xfrm xmlns:a="http://schemas.openxmlformats.org/drawingml/2006/main">
            <a:off x="2258568" y="2450592"/>
            <a:ext cx="7680960" cy="566928"/>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3-data-label-1">
            <a:extLst xmlns:a="http://schemas.openxmlformats.org/drawingml/2006/main">
              <a:ext uri="{FF2B5EF4-FFF2-40B4-BE49-F238E27FC236}">
                <a16:creationId xmlns:a16="http://schemas.microsoft.com/office/drawing/2014/main" id="{02CDF8C0-80BF-43B8-B0F1-3E7D91CAE3C2}"/>
              </a:ext>
            </a:extLst>
          </p:cNvPr>
          <p:cNvSpPr>
            <a:spLocks xmlns:a="http://schemas.openxmlformats.org/drawingml/2006/main" noGrp="1"/>
          </p:cNvSpPr>
          <p:nvPr/>
        </p:nvSpPr>
        <p:spPr>
          <a:xfrm xmlns:a="http://schemas.openxmlformats.org/drawingml/2006/main">
            <a:off x="2423160" y="2615184"/>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그럼에도</a:t>
            </a:r>
            <a:endParaRPr sz="1050"/>
          </a:p>
        </p:txBody>
      </p:sp>
      <p:sp>
        <p:nvSpPr>
          <p:cNvPr id="16" name="STC-13-data-body-1">
            <a:extLst xmlns:a="http://schemas.openxmlformats.org/drawingml/2006/main">
              <a:ext uri="{FF2B5EF4-FFF2-40B4-BE49-F238E27FC236}">
                <a16:creationId xmlns:a16="http://schemas.microsoft.com/office/drawing/2014/main" id="{BC62C31C-D212-42ED-AE30-842B56196CD1}"/>
              </a:ext>
            </a:extLst>
          </p:cNvPr>
          <p:cNvSpPr>
            <a:spLocks xmlns:a="http://schemas.openxmlformats.org/drawingml/2006/main" noGrp="1"/>
          </p:cNvSpPr>
          <p:nvPr/>
        </p:nvSpPr>
        <p:spPr>
          <a:xfrm xmlns:a="http://schemas.openxmlformats.org/drawingml/2006/main">
            <a:off x="4041648" y="2542032"/>
            <a:ext cx="5715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17191C"/>
                </a:solidFill>
                <a:latin typeface="Noto Sans CJK KR"/>
                <a:ea typeface="Noto Sans CJK KR"/>
                <a:cs typeface="Noto Sans CJK KR"/>
              </a:rPr>
              <a:t>'모든 구성요소가 긍정적으로 기여한다'</a:t>
            </a:r>
            <a:endParaRPr sz="1450"/>
          </a:p>
        </p:txBody>
      </p:sp>
      <p:sp>
        <p:nvSpPr>
          <p:cNvPr id="17" name="STC-13-data-layer-2">
            <a:extLst xmlns:a="http://schemas.openxmlformats.org/drawingml/2006/main">
              <a:ext uri="{FF2B5EF4-FFF2-40B4-BE49-F238E27FC236}">
                <a16:creationId xmlns:a16="http://schemas.microsoft.com/office/drawing/2014/main" id="{D6FAD0EE-091C-49BC-AC96-FF7C3FD7BF30}"/>
              </a:ext>
            </a:extLst>
          </p:cNvPr>
          <p:cNvSpPr>
            <a:spLocks xmlns:a="http://schemas.openxmlformats.org/drawingml/2006/main" noGrp="1"/>
          </p:cNvSpPr>
          <p:nvPr/>
        </p:nvSpPr>
        <p:spPr>
          <a:xfrm xmlns:a="http://schemas.openxmlformats.org/drawingml/2006/main">
            <a:off x="2898648" y="3236976"/>
            <a:ext cx="6400800" cy="566928"/>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8" name="STC-13-data-label-2">
            <a:extLst xmlns:a="http://schemas.openxmlformats.org/drawingml/2006/main">
              <a:ext uri="{FF2B5EF4-FFF2-40B4-BE49-F238E27FC236}">
                <a16:creationId xmlns:a16="http://schemas.microsoft.com/office/drawing/2014/main" id="{AA018C36-C849-429F-A2CB-A09888ED5181}"/>
              </a:ext>
            </a:extLst>
          </p:cNvPr>
          <p:cNvSpPr>
            <a:spLocks xmlns:a="http://schemas.openxmlformats.org/drawingml/2006/main" noGrp="1"/>
          </p:cNvSpPr>
          <p:nvPr/>
        </p:nvSpPr>
        <p:spPr>
          <a:xfrm xmlns:a="http://schemas.openxmlformats.org/drawingml/2006/main">
            <a:off x="3063240" y="3401568"/>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그 보상</a:t>
            </a:r>
            <a:endParaRPr sz="1050"/>
          </a:p>
        </p:txBody>
      </p:sp>
      <p:sp>
        <p:nvSpPr>
          <p:cNvPr id="19" name="STC-13-data-body-2">
            <a:extLst xmlns:a="http://schemas.openxmlformats.org/drawingml/2006/main">
              <a:ext uri="{FF2B5EF4-FFF2-40B4-BE49-F238E27FC236}">
                <a16:creationId xmlns:a16="http://schemas.microsoft.com/office/drawing/2014/main" id="{41815879-EDCF-477A-A120-7092A00F5988}"/>
              </a:ext>
            </a:extLst>
          </p:cNvPr>
          <p:cNvSpPr>
            <a:spLocks xmlns:a="http://schemas.openxmlformats.org/drawingml/2006/main" noGrp="1"/>
          </p:cNvSpPr>
          <p:nvPr/>
        </p:nvSpPr>
        <p:spPr>
          <a:xfrm xmlns:a="http://schemas.openxmlformats.org/drawingml/2006/main">
            <a:off x="4681728" y="3328416"/>
            <a:ext cx="4434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이름도 크기도 없는 외부 frozen reward model</a:t>
            </a:r>
            <a:endParaRPr sz="1350"/>
          </a:p>
        </p:txBody>
      </p:sp>
      <p:sp>
        <p:nvSpPr>
          <p:cNvPr id="20" name="STC-13-data-layer-3">
            <a:extLst xmlns:a="http://schemas.openxmlformats.org/drawingml/2006/main">
              <a:ext uri="{FF2B5EF4-FFF2-40B4-BE49-F238E27FC236}">
                <a16:creationId xmlns:a16="http://schemas.microsoft.com/office/drawing/2014/main" id="{FBD0C7D7-10DE-463B-9217-97D247B03C72}"/>
              </a:ext>
            </a:extLst>
          </p:cNvPr>
          <p:cNvSpPr>
            <a:spLocks xmlns:a="http://schemas.openxmlformats.org/drawingml/2006/main" noGrp="1"/>
          </p:cNvSpPr>
          <p:nvPr/>
        </p:nvSpPr>
        <p:spPr>
          <a:xfrm xmlns:a="http://schemas.openxmlformats.org/drawingml/2006/main">
            <a:off x="3538728" y="4023360"/>
            <a:ext cx="5120640" cy="566928"/>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13-data-label-3">
            <a:extLst xmlns:a="http://schemas.openxmlformats.org/drawingml/2006/main">
              <a:ext uri="{FF2B5EF4-FFF2-40B4-BE49-F238E27FC236}">
                <a16:creationId xmlns:a16="http://schemas.microsoft.com/office/drawing/2014/main" id="{8DA5B66F-AB6C-424C-B38E-EC87549B7458}"/>
              </a:ext>
            </a:extLst>
          </p:cNvPr>
          <p:cNvSpPr>
            <a:spLocks xmlns:a="http://schemas.openxmlformats.org/drawingml/2006/main" noGrp="1"/>
          </p:cNvSpPr>
          <p:nvPr/>
        </p:nvSpPr>
        <p:spPr>
          <a:xfrm xmlns:a="http://schemas.openxmlformats.org/drawingml/2006/main">
            <a:off x="3703320" y="4187952"/>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N_q</a:t>
            </a:r>
            <a:endParaRPr sz="1050"/>
          </a:p>
        </p:txBody>
      </p:sp>
      <p:sp>
        <p:nvSpPr>
          <p:cNvPr id="22" name="STC-13-data-body-3">
            <a:extLst xmlns:a="http://schemas.openxmlformats.org/drawingml/2006/main">
              <a:ext uri="{FF2B5EF4-FFF2-40B4-BE49-F238E27FC236}">
                <a16:creationId xmlns:a16="http://schemas.microsoft.com/office/drawing/2014/main" id="{B07BDB02-D4B0-48AF-8A53-11814C8CDC53}"/>
              </a:ext>
            </a:extLst>
          </p:cNvPr>
          <p:cNvSpPr>
            <a:spLocks xmlns:a="http://schemas.openxmlformats.org/drawingml/2006/main" noGrp="1"/>
          </p:cNvSpPr>
          <p:nvPr/>
        </p:nvSpPr>
        <p:spPr>
          <a:xfrm xmlns:a="http://schemas.openxmlformats.org/drawingml/2006/main">
            <a:off x="5321808" y="41148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쓰기가 스케줄별이라 '앞으로의 전 트래픽'이 된다</a:t>
            </a:r>
            <a:endParaRPr sz="1350"/>
          </a:p>
        </p:txBody>
      </p:sp>
      <p:sp>
        <p:nvSpPr>
          <p:cNvPr id="23" name="STC-13-data-layer-4">
            <a:extLst xmlns:a="http://schemas.openxmlformats.org/drawingml/2006/main">
              <a:ext uri="{FF2B5EF4-FFF2-40B4-BE49-F238E27FC236}">
                <a16:creationId xmlns:a16="http://schemas.microsoft.com/office/drawing/2014/main" id="{E60963C1-8D59-4CC2-B99B-C4EA44523D22}"/>
              </a:ext>
            </a:extLst>
          </p:cNvPr>
          <p:cNvSpPr>
            <a:spLocks xmlns:a="http://schemas.openxmlformats.org/drawingml/2006/main" noGrp="1"/>
          </p:cNvSpPr>
          <p:nvPr/>
        </p:nvSpPr>
        <p:spPr>
          <a:xfrm xmlns:a="http://schemas.openxmlformats.org/drawingml/2006/main">
            <a:off x="4178808" y="4809744"/>
            <a:ext cx="3840480" cy="566928"/>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24" name="STC-13-data-label-4">
            <a:extLst xmlns:a="http://schemas.openxmlformats.org/drawingml/2006/main">
              <a:ext uri="{FF2B5EF4-FFF2-40B4-BE49-F238E27FC236}">
                <a16:creationId xmlns:a16="http://schemas.microsoft.com/office/drawing/2014/main" id="{94E567B2-40CF-45FA-B9F9-A1B39A99C7FF}"/>
              </a:ext>
            </a:extLst>
          </p:cNvPr>
          <p:cNvSpPr>
            <a:spLocks xmlns:a="http://schemas.openxmlformats.org/drawingml/2006/main" noGrp="1"/>
          </p:cNvSpPr>
          <p:nvPr/>
        </p:nvSpPr>
        <p:spPr>
          <a:xfrm xmlns:a="http://schemas.openxmlformats.org/drawingml/2006/main">
            <a:off x="4343400" y="4974336"/>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귀결</a:t>
            </a:r>
            <a:endParaRPr sz="1050"/>
          </a:p>
        </p:txBody>
      </p:sp>
      <p:sp>
        <p:nvSpPr>
          <p:cNvPr id="25" name="STC-13-data-body-4">
            <a:extLst xmlns:a="http://schemas.openxmlformats.org/drawingml/2006/main">
              <a:ext uri="{FF2B5EF4-FFF2-40B4-BE49-F238E27FC236}">
                <a16:creationId xmlns:a16="http://schemas.microsoft.com/office/drawing/2014/main" id="{2C57AF49-F2CA-4C91-AE9F-A85EF45878C8}"/>
              </a:ext>
            </a:extLst>
          </p:cNvPr>
          <p:cNvSpPr>
            <a:spLocks xmlns:a="http://schemas.openxmlformats.org/drawingml/2006/main" noGrp="1"/>
          </p:cNvSpPr>
          <p:nvPr/>
        </p:nvSpPr>
        <p:spPr>
          <a:xfrm xmlns:a="http://schemas.openxmlformats.org/drawingml/2006/main">
            <a:off x="5961888" y="4901184"/>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식 (A)가 이 경로에서 퇴화한다</a:t>
            </a:r>
            <a:endParaRPr sz="1350"/>
          </a:p>
        </p:txBody>
      </p:sp>
      <p:sp>
        <p:nvSpPr>
          <p:cNvPr id="26" name="STC-13-data-warning">
            <a:extLst xmlns:a="http://schemas.openxmlformats.org/drawingml/2006/main">
              <a:ext uri="{FF2B5EF4-FFF2-40B4-BE49-F238E27FC236}">
                <a16:creationId xmlns:a16="http://schemas.microsoft.com/office/drawing/2014/main" id="{FE09EF05-9A9A-4209-946A-2FFD878EDF5A}"/>
              </a:ext>
            </a:extLst>
          </p:cNvPr>
          <p:cNvSpPr>
            <a:spLocks xmlns:a="http://schemas.openxmlformats.org/drawingml/2006/main" noGrp="1"/>
          </p:cNvSpPr>
          <p:nvPr/>
        </p:nvSpPr>
        <p:spPr>
          <a:xfrm xmlns:a="http://schemas.openxmlformats.org/drawingml/2006/main">
            <a:off x="2286000" y="5623560"/>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ans CJK KR"/>
                <a:ea typeface="Noto Sans CJK KR"/>
                <a:cs typeface="Noto Sans CJK KR"/>
              </a:rPr>
              <a:t>제거하면 AIME-25가 69.0에서 69.2로 오른다</a:t>
            </a:r>
            <a:endParaRPr sz="1800"/>
          </a:p>
        </p:txBody>
      </p:sp>
    </p:spTree>
    <p:extLst>
      <p:ext uri="{BB962C8B-B14F-4D97-AF65-F5344CB8AC3E}">
        <p14:creationId xmlns:p14="http://schemas.microsoft.com/office/powerpoint/2010/main" val="877466157"/>
      </p:ext>
    </p:extLst>
  </p:cSld>
</p:sld>
</file>

<file path=ppt/slides/slide7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THETA-PATH</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STC-076</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반증 축 — 가중치에 사실을 계속 넣을 수 있는가</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반증 축</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ch22 · [Continual Facts §3.1, §4.3, §5.1, §6.1, §6.2, §7.2]</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76</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루프</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k=100까지 merge</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유지율</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25–28% 고원</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망각</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소거 아닌 접근 상실</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잔존</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lift 69% · 79%</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간섭</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들어오는 쓰기</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해리</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역량만 회복</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가장 강한 반증 후보가</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반증 대상을 읽지 않고 쓰였다</a:t>
            </a:r>
            <a:endParaRPr sz="1500"/>
          </a:p>
        </p:txBody>
      </p:sp>
    </p:spTree>
    <p:extLst>
      <p:ext uri="{BB962C8B-B14F-4D97-AF65-F5344CB8AC3E}">
        <p14:creationId xmlns:p14="http://schemas.microsoft.com/office/powerpoint/2010/main" val="931853972"/>
      </p:ext>
    </p:extLst>
  </p:cSld>
</p:sld>
</file>

<file path=ppt/slides/slide7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7-section">
            <a:extLst xmlns:a="http://schemas.openxmlformats.org/drawingml/2006/main">
              <a:ext uri="{FF2B5EF4-FFF2-40B4-BE49-F238E27FC236}">
                <a16:creationId xmlns:a16="http://schemas.microsoft.com/office/drawing/2014/main" id="{1D137726-4914-48A2-85D5-224A1CBB8B83}"/>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THETA-PATH</a:t>
            </a:r>
            <a:endParaRPr sz="950"/>
          </a:p>
        </p:txBody>
      </p:sp>
      <p:sp>
        <p:nvSpPr>
          <p:cNvPr id="3" name="STC-07-slide-id">
            <a:extLst xmlns:a="http://schemas.openxmlformats.org/drawingml/2006/main">
              <a:ext uri="{FF2B5EF4-FFF2-40B4-BE49-F238E27FC236}">
                <a16:creationId xmlns:a16="http://schemas.microsoft.com/office/drawing/2014/main" id="{135B4B6A-3B89-487A-9CEA-E5C7E5EED204}"/>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STC-077</a:t>
            </a:r>
            <a:endParaRPr sz="950"/>
          </a:p>
        </p:txBody>
      </p:sp>
      <p:sp>
        <p:nvSpPr>
          <p:cNvPr id="4" name="STC-07-headline">
            <a:extLst xmlns:a="http://schemas.openxmlformats.org/drawingml/2006/main">
              <a:ext uri="{FF2B5EF4-FFF2-40B4-BE49-F238E27FC236}">
                <a16:creationId xmlns:a16="http://schemas.microsoft.com/office/drawing/2014/main" id="{69C310FD-1BA7-40DE-9467-2AA541CBC7D3}"/>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생물학이 실제로 보인 것 — 은유의 담보를 확인한다</a:t>
            </a:r>
            <a:endParaRPr sz="3000"/>
          </a:p>
        </p:txBody>
      </p:sp>
      <p:sp>
        <p:nvSpPr>
          <p:cNvPr id="5" name="STC-07-status-label">
            <a:extLst xmlns:a="http://schemas.openxmlformats.org/drawingml/2006/main">
              <a:ext uri="{FF2B5EF4-FFF2-40B4-BE49-F238E27FC236}">
                <a16:creationId xmlns:a16="http://schemas.microsoft.com/office/drawing/2014/main" id="{C89B1737-53E3-4487-92D3-B61B00B58CF8}"/>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44E8A"/>
                </a:solidFill>
                <a:latin typeface="Noto Sans Mono CJK KR"/>
                <a:ea typeface="Noto Sans Mono CJK KR"/>
                <a:cs typeface="Noto Sans Mono CJK KR"/>
              </a:rPr>
              <a:t>생물 실증</a:t>
            </a:r>
            <a:endParaRPr sz="1000"/>
          </a:p>
        </p:txBody>
      </p:sp>
      <p:sp>
        <p:nvSpPr>
          <p:cNvPr id="6" name="STC-07-status-rule">
            <a:extLst xmlns:a="http://schemas.openxmlformats.org/drawingml/2006/main">
              <a:ext uri="{FF2B5EF4-FFF2-40B4-BE49-F238E27FC236}">
                <a16:creationId xmlns:a16="http://schemas.microsoft.com/office/drawing/2014/main" id="{FE4EEA0D-83FB-4682-B1D0-5F89638A4EC7}"/>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44E8A"/>
            </a:solidFill>
            <a:prstDash val="solid"/>
            <a:tailEnd type="none"/>
          </a:ln>
        </p:spPr>
      </p:sp>
      <p:sp>
        <p:nvSpPr>
          <p:cNvPr id="7" name="STC-07-footer-rule">
            <a:extLst xmlns:a="http://schemas.openxmlformats.org/drawingml/2006/main">
              <a:ext uri="{FF2B5EF4-FFF2-40B4-BE49-F238E27FC236}">
                <a16:creationId xmlns:a16="http://schemas.microsoft.com/office/drawing/2014/main" id="{D3C2358E-59CE-49F9-AE83-ECA23B717C4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7-source-footer">
            <a:extLst xmlns:a="http://schemas.openxmlformats.org/drawingml/2006/main">
              <a:ext uri="{FF2B5EF4-FFF2-40B4-BE49-F238E27FC236}">
                <a16:creationId xmlns:a16="http://schemas.microsoft.com/office/drawing/2014/main" id="{774D1206-5E02-4221-B3F8-331F3E1E6580}"/>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ch23 · [PLOS Sleep] · [PAD eLife]</a:t>
            </a:r>
            <a:endParaRPr sz="850"/>
          </a:p>
        </p:txBody>
      </p:sp>
      <p:sp>
        <p:nvSpPr>
          <p:cNvPr id="9" name="STC-07-page-number">
            <a:extLst xmlns:a="http://schemas.openxmlformats.org/drawingml/2006/main">
              <a:ext uri="{FF2B5EF4-FFF2-40B4-BE49-F238E27FC236}">
                <a16:creationId xmlns:a16="http://schemas.microsoft.com/office/drawing/2014/main" id="{78A83FEE-1D5C-4FCE-B710-C3DA562A624A}"/>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77</a:t>
            </a:r>
            <a:endParaRPr sz="850"/>
          </a:p>
        </p:txBody>
      </p:sp>
      <p:sp>
        <p:nvSpPr>
          <p:cNvPr id="11" name="STC-07-plos-tag-0">
            <a:extLst xmlns:a="http://schemas.openxmlformats.org/drawingml/2006/main">
              <a:ext uri="{FF2B5EF4-FFF2-40B4-BE49-F238E27FC236}">
                <a16:creationId xmlns:a16="http://schemas.microsoft.com/office/drawing/2014/main" id="{477BEE9E-30E4-43A7-AEF5-0D10E930A967}"/>
              </a:ext>
            </a:extLst>
          </p:cNvPr>
          <p:cNvSpPr>
            <a:spLocks xmlns:a="http://schemas.openxmlformats.org/drawingml/2006/main" noGrp="1"/>
          </p:cNvSpPr>
          <p:nvPr/>
        </p:nvSpPr>
        <p:spPr>
          <a:xfrm xmlns:a="http://schemas.openxmlformats.org/drawingml/2006/main">
            <a:off x="841248" y="1764792"/>
            <a:ext cx="1691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PLOS</a:t>
            </a:r>
            <a:endParaRPr sz="1050"/>
          </a:p>
        </p:txBody>
      </p:sp>
      <p:sp>
        <p:nvSpPr>
          <p:cNvPr id="12" name="STC-07-plos-node-0">
            <a:extLst xmlns:a="http://schemas.openxmlformats.org/drawingml/2006/main">
              <a:ext uri="{FF2B5EF4-FFF2-40B4-BE49-F238E27FC236}">
                <a16:creationId xmlns:a16="http://schemas.microsoft.com/office/drawing/2014/main" id="{711415C9-6053-4EFA-8A88-19702F34B04B}"/>
              </a:ext>
            </a:extLst>
          </p:cNvPr>
          <p:cNvSpPr>
            <a:spLocks xmlns:a="http://schemas.openxmlformats.org/drawingml/2006/main" noGrp="1"/>
          </p:cNvSpPr>
          <p:nvPr/>
        </p:nvSpPr>
        <p:spPr>
          <a:xfrm xmlns:a="http://schemas.openxmlformats.org/drawingml/2006/main">
            <a:off x="841248" y="2084832"/>
            <a:ext cx="1737360" cy="1143000"/>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3" name="STC-07-plos-body-0">
            <a:extLst xmlns:a="http://schemas.openxmlformats.org/drawingml/2006/main">
              <a:ext uri="{FF2B5EF4-FFF2-40B4-BE49-F238E27FC236}">
                <a16:creationId xmlns:a16="http://schemas.microsoft.com/office/drawing/2014/main" id="{935994DA-E088-4574-AD6F-A8C3F1588EA3}"/>
              </a:ext>
            </a:extLst>
          </p:cNvPr>
          <p:cNvSpPr>
            <a:spLocks xmlns:a="http://schemas.openxmlformats.org/drawingml/2006/main" noGrp="1"/>
          </p:cNvSpPr>
          <p:nvPr/>
        </p:nvSpPr>
        <p:spPr>
          <a:xfrm xmlns:a="http://schemas.openxmlformats.org/drawingml/2006/main">
            <a:off x="978408" y="2350008"/>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wake와 sleep 두</a:t>
            </a:r>
            <a:endParaRPr sz="1700"/>
          </a:p>
          <a:p xmlns:a="http://schemas.openxmlformats.org/drawingml/2006/main">
            <a:pPr marL="0" indent="0" algn="ctr">
              <a:buNone/>
            </a:pPr>
            <a:r>
              <a:rPr sz="1700" b="1">
                <a:solidFill>
                  <a:srgbClr val="17191C"/>
                </a:solidFill>
                <a:latin typeface="Noto Sans CJK KR"/>
                <a:ea typeface="Noto Sans CJK KR"/>
                <a:cs typeface="Noto Sans CJK KR"/>
              </a:rPr>
              <a:t>시계로 같은 시냅스에 쓴다</a:t>
            </a:r>
            <a:endParaRPr sz="1700"/>
          </a:p>
        </p:txBody>
      </p:sp>
      <p:sp>
        <p:nvSpPr>
          <p:cNvPr id="14" name="STC-07-plos-arrow-0">
            <a:extLst xmlns:a="http://schemas.openxmlformats.org/drawingml/2006/main">
              <a:ext uri="{FF2B5EF4-FFF2-40B4-BE49-F238E27FC236}">
                <a16:creationId xmlns:a16="http://schemas.microsoft.com/office/drawing/2014/main" id="{DDFC7402-063F-4686-91B0-5B1DAACFD850}"/>
              </a:ext>
            </a:extLst>
          </p:cNvPr>
          <p:cNvSpPr>
            <a:spLocks xmlns:a="http://schemas.openxmlformats.org/drawingml/2006/main" noGrp="1"/>
          </p:cNvSpPr>
          <p:nvPr/>
        </p:nvSpPr>
        <p:spPr>
          <a:xfrm xmlns:a="http://schemas.openxmlformats.org/drawingml/2006/main">
            <a:off x="2642616" y="2651760"/>
            <a:ext cx="86868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5" name="STC-07-plos-tag-1">
            <a:extLst xmlns:a="http://schemas.openxmlformats.org/drawingml/2006/main">
              <a:ext uri="{FF2B5EF4-FFF2-40B4-BE49-F238E27FC236}">
                <a16:creationId xmlns:a16="http://schemas.microsoft.com/office/drawing/2014/main" id="{4F0CBE47-41DD-4036-8542-A439DC04CE5E}"/>
              </a:ext>
            </a:extLst>
          </p:cNvPr>
          <p:cNvSpPr>
            <a:spLocks xmlns:a="http://schemas.openxmlformats.org/drawingml/2006/main" noGrp="1"/>
          </p:cNvSpPr>
          <p:nvPr/>
        </p:nvSpPr>
        <p:spPr>
          <a:xfrm xmlns:a="http://schemas.openxmlformats.org/drawingml/2006/main">
            <a:off x="3017520" y="1764792"/>
            <a:ext cx="1691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강한 baseline</a:t>
            </a:r>
            <a:endParaRPr sz="1050"/>
          </a:p>
        </p:txBody>
      </p:sp>
      <p:sp>
        <p:nvSpPr>
          <p:cNvPr id="16" name="STC-07-plos-node-1">
            <a:extLst xmlns:a="http://schemas.openxmlformats.org/drawingml/2006/main">
              <a:ext uri="{FF2B5EF4-FFF2-40B4-BE49-F238E27FC236}">
                <a16:creationId xmlns:a16="http://schemas.microsoft.com/office/drawing/2014/main" id="{C161CFB9-271D-42F0-9370-7CE4447E08BB}"/>
              </a:ext>
            </a:extLst>
          </p:cNvPr>
          <p:cNvSpPr>
            <a:spLocks xmlns:a="http://schemas.openxmlformats.org/drawingml/2006/main" noGrp="1"/>
          </p:cNvSpPr>
          <p:nvPr/>
        </p:nvSpPr>
        <p:spPr>
          <a:xfrm xmlns:a="http://schemas.openxmlformats.org/drawingml/2006/main">
            <a:off x="3017520" y="2084832"/>
            <a:ext cx="1737360" cy="1143000"/>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7" name="STC-07-plos-body-1">
            <a:extLst xmlns:a="http://schemas.openxmlformats.org/drawingml/2006/main">
              <a:ext uri="{FF2B5EF4-FFF2-40B4-BE49-F238E27FC236}">
                <a16:creationId xmlns:a16="http://schemas.microsoft.com/office/drawing/2014/main" id="{3253C665-58CC-44A3-9B85-5E619532AC5F}"/>
              </a:ext>
            </a:extLst>
          </p:cNvPr>
          <p:cNvSpPr>
            <a:spLocks xmlns:a="http://schemas.openxmlformats.org/drawingml/2006/main" noGrp="1"/>
          </p:cNvSpPr>
          <p:nvPr/>
        </p:nvSpPr>
        <p:spPr>
          <a:xfrm xmlns:a="http://schemas.openxmlformats.org/drawingml/2006/main">
            <a:off x="3154680" y="2350008"/>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과거 데이터를</a:t>
            </a:r>
            <a:endParaRPr sz="1700"/>
          </a:p>
          <a:p xmlns:a="http://schemas.openxmlformats.org/drawingml/2006/main">
            <a:pPr marL="0" indent="0" algn="ctr">
              <a:buNone/>
            </a:pPr>
            <a:r>
              <a:rPr sz="1700" b="1">
                <a:solidFill>
                  <a:srgbClr val="17191C"/>
                </a:solidFill>
                <a:latin typeface="Noto Sans CJK KR"/>
                <a:ea typeface="Noto Sans CJK KR"/>
                <a:cs typeface="Noto Sans CJK KR"/>
              </a:rPr>
              <a:t>저장하는 고전 interleaving</a:t>
            </a:r>
            <a:endParaRPr sz="1700"/>
          </a:p>
        </p:txBody>
      </p:sp>
      <p:sp>
        <p:nvSpPr>
          <p:cNvPr id="18" name="STC-07-plos-arrow-1">
            <a:extLst xmlns:a="http://schemas.openxmlformats.org/drawingml/2006/main">
              <a:ext uri="{FF2B5EF4-FFF2-40B4-BE49-F238E27FC236}">
                <a16:creationId xmlns:a16="http://schemas.microsoft.com/office/drawing/2014/main" id="{FCCDF2E8-B001-493B-A9BA-96C7A42636DF}"/>
              </a:ext>
            </a:extLst>
          </p:cNvPr>
          <p:cNvSpPr>
            <a:spLocks xmlns:a="http://schemas.openxmlformats.org/drawingml/2006/main" noGrp="1"/>
          </p:cNvSpPr>
          <p:nvPr/>
        </p:nvSpPr>
        <p:spPr>
          <a:xfrm xmlns:a="http://schemas.openxmlformats.org/drawingml/2006/main">
            <a:off x="4818888" y="2651760"/>
            <a:ext cx="86868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9" name="STC-07-plos-tag-2">
            <a:extLst xmlns:a="http://schemas.openxmlformats.org/drawingml/2006/main">
              <a:ext uri="{FF2B5EF4-FFF2-40B4-BE49-F238E27FC236}">
                <a16:creationId xmlns:a16="http://schemas.microsoft.com/office/drawing/2014/main" id="{15EFF682-7D6E-41A3-A7F6-F9DA2E4C87AE}"/>
              </a:ext>
            </a:extLst>
          </p:cNvPr>
          <p:cNvSpPr>
            <a:spLocks xmlns:a="http://schemas.openxmlformats.org/drawingml/2006/main" noGrp="1"/>
          </p:cNvSpPr>
          <p:nvPr/>
        </p:nvSpPr>
        <p:spPr>
          <a:xfrm xmlns:a="http://schemas.openxmlformats.org/drawingml/2006/main">
            <a:off x="5193792" y="1764792"/>
            <a:ext cx="1691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결과</a:t>
            </a:r>
            <a:endParaRPr sz="1050"/>
          </a:p>
        </p:txBody>
      </p:sp>
      <p:sp>
        <p:nvSpPr>
          <p:cNvPr id="20" name="STC-07-plos-node-2">
            <a:extLst xmlns:a="http://schemas.openxmlformats.org/drawingml/2006/main">
              <a:ext uri="{FF2B5EF4-FFF2-40B4-BE49-F238E27FC236}">
                <a16:creationId xmlns:a16="http://schemas.microsoft.com/office/drawing/2014/main" id="{6444BC29-B709-411A-B01C-AAC85CD1C90A}"/>
              </a:ext>
            </a:extLst>
          </p:cNvPr>
          <p:cNvSpPr>
            <a:spLocks xmlns:a="http://schemas.openxmlformats.org/drawingml/2006/main" noGrp="1"/>
          </p:cNvSpPr>
          <p:nvPr/>
        </p:nvSpPr>
        <p:spPr>
          <a:xfrm xmlns:a="http://schemas.openxmlformats.org/drawingml/2006/main">
            <a:off x="5193792" y="2084832"/>
            <a:ext cx="1737360" cy="1143000"/>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21" name="STC-07-plos-body-2">
            <a:extLst xmlns:a="http://schemas.openxmlformats.org/drawingml/2006/main">
              <a:ext uri="{FF2B5EF4-FFF2-40B4-BE49-F238E27FC236}">
                <a16:creationId xmlns:a16="http://schemas.microsoft.com/office/drawing/2014/main" id="{DFC24F49-F232-4EB7-96A7-E3FCE01CF0EF}"/>
              </a:ext>
            </a:extLst>
          </p:cNvPr>
          <p:cNvSpPr>
            <a:spLocks xmlns:a="http://schemas.openxmlformats.org/drawingml/2006/main" noGrp="1"/>
          </p:cNvSpPr>
          <p:nvPr/>
        </p:nvSpPr>
        <p:spPr>
          <a:xfrm xmlns:a="http://schemas.openxmlformats.org/drawingml/2006/main">
            <a:off x="5330952" y="2350008"/>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sleep 0.70/0.68 대</a:t>
            </a:r>
            <a:endParaRPr sz="1700"/>
          </a:p>
          <a:p xmlns:a="http://schemas.openxmlformats.org/drawingml/2006/main">
            <a:pPr marL="0" indent="0" algn="ctr">
              <a:buNone/>
            </a:pPr>
            <a:r>
              <a:rPr sz="1700" b="1">
                <a:solidFill>
                  <a:srgbClr val="17191C"/>
                </a:solidFill>
                <a:latin typeface="Noto Sans CJK KR"/>
                <a:ea typeface="Noto Sans CJK KR"/>
                <a:cs typeface="Noto Sans CJK KR"/>
              </a:rPr>
              <a:t>interleaving 0.68/0.65</a:t>
            </a:r>
            <a:endParaRPr sz="1700"/>
          </a:p>
        </p:txBody>
      </p:sp>
      <p:sp>
        <p:nvSpPr>
          <p:cNvPr id="22" name="STC-07-plos-arrow-2">
            <a:extLst xmlns:a="http://schemas.openxmlformats.org/drawingml/2006/main">
              <a:ext uri="{FF2B5EF4-FFF2-40B4-BE49-F238E27FC236}">
                <a16:creationId xmlns:a16="http://schemas.microsoft.com/office/drawing/2014/main" id="{DEA9420B-E88D-45C2-A54B-51FF0C7D3E7B}"/>
              </a:ext>
            </a:extLst>
          </p:cNvPr>
          <p:cNvSpPr>
            <a:spLocks xmlns:a="http://schemas.openxmlformats.org/drawingml/2006/main" noGrp="1"/>
          </p:cNvSpPr>
          <p:nvPr/>
        </p:nvSpPr>
        <p:spPr>
          <a:xfrm xmlns:a="http://schemas.openxmlformats.org/drawingml/2006/main">
            <a:off x="6995160" y="2651760"/>
            <a:ext cx="86868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23" name="STC-07-plos-tag-3">
            <a:extLst xmlns:a="http://schemas.openxmlformats.org/drawingml/2006/main">
              <a:ext uri="{FF2B5EF4-FFF2-40B4-BE49-F238E27FC236}">
                <a16:creationId xmlns:a16="http://schemas.microsoft.com/office/drawing/2014/main" id="{BC7C8B99-61D6-427D-B2B7-39B11F56BBCF}"/>
              </a:ext>
            </a:extLst>
          </p:cNvPr>
          <p:cNvSpPr>
            <a:spLocks xmlns:a="http://schemas.openxmlformats.org/drawingml/2006/main" noGrp="1"/>
          </p:cNvSpPr>
          <p:nvPr/>
        </p:nvSpPr>
        <p:spPr>
          <a:xfrm xmlns:a="http://schemas.openxmlformats.org/drawingml/2006/main">
            <a:off x="7818120" y="1764792"/>
            <a:ext cx="1691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PAD</a:t>
            </a:r>
            <a:endParaRPr sz="1050"/>
          </a:p>
        </p:txBody>
      </p:sp>
      <p:sp>
        <p:nvSpPr>
          <p:cNvPr id="24" name="STC-07-plos-node-3">
            <a:extLst xmlns:a="http://schemas.openxmlformats.org/drawingml/2006/main">
              <a:ext uri="{FF2B5EF4-FFF2-40B4-BE49-F238E27FC236}">
                <a16:creationId xmlns:a16="http://schemas.microsoft.com/office/drawing/2014/main" id="{7E2767A4-30EB-4666-A59C-FABEDD16407C}"/>
              </a:ext>
            </a:extLst>
          </p:cNvPr>
          <p:cNvSpPr>
            <a:spLocks xmlns:a="http://schemas.openxmlformats.org/drawingml/2006/main" noGrp="1"/>
          </p:cNvSpPr>
          <p:nvPr/>
        </p:nvSpPr>
        <p:spPr>
          <a:xfrm xmlns:a="http://schemas.openxmlformats.org/drawingml/2006/main">
            <a:off x="7818120" y="2084832"/>
            <a:ext cx="1737360" cy="1143000"/>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25" name="STC-07-plos-body-3">
            <a:extLst xmlns:a="http://schemas.openxmlformats.org/drawingml/2006/main">
              <a:ext uri="{FF2B5EF4-FFF2-40B4-BE49-F238E27FC236}">
                <a16:creationId xmlns:a16="http://schemas.microsoft.com/office/drawing/2014/main" id="{809257DE-5F16-4363-A566-4CF9FDC204D6}"/>
              </a:ext>
            </a:extLst>
          </p:cNvPr>
          <p:cNvSpPr>
            <a:spLocks xmlns:a="http://schemas.openxmlformats.org/drawingml/2006/main" noGrp="1"/>
          </p:cNvSpPr>
          <p:nvPr/>
        </p:nvSpPr>
        <p:spPr>
          <a:xfrm xmlns:a="http://schemas.openxmlformats.org/drawingml/2006/main">
            <a:off x="7955280" y="2350008"/>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제목이 가리키는</a:t>
            </a:r>
            <a:endParaRPr sz="1700"/>
          </a:p>
          <a:p xmlns:a="http://schemas.openxmlformats.org/drawingml/2006/main">
            <a:pPr marL="0" indent="0" algn="ctr">
              <a:buNone/>
            </a:pPr>
            <a:r>
              <a:rPr sz="1700" b="1">
                <a:solidFill>
                  <a:srgbClr val="17191C"/>
                </a:solidFill>
                <a:latin typeface="Noto Sans CJK KR"/>
                <a:ea typeface="Noto Sans CJK KR"/>
                <a:cs typeface="Noto Sans CJK KR"/>
              </a:rPr>
              <a:t>성분의 효과를 못 보였다</a:t>
            </a:r>
            <a:endParaRPr sz="1700"/>
          </a:p>
        </p:txBody>
      </p:sp>
      <p:sp>
        <p:nvSpPr>
          <p:cNvPr id="26" name="STC-07-plos-number-field">
            <a:extLst xmlns:a="http://schemas.openxmlformats.org/drawingml/2006/main">
              <a:ext uri="{FF2B5EF4-FFF2-40B4-BE49-F238E27FC236}">
                <a16:creationId xmlns:a16="http://schemas.microsoft.com/office/drawing/2014/main" id="{4E2978AC-8368-4EA8-8B79-F7C178E60D71}"/>
              </a:ext>
            </a:extLst>
          </p:cNvPr>
          <p:cNvSpPr>
            <a:spLocks xmlns:a="http://schemas.openxmlformats.org/drawingml/2006/main" noGrp="1"/>
          </p:cNvSpPr>
          <p:nvPr/>
        </p:nvSpPr>
        <p:spPr>
          <a:xfrm xmlns:a="http://schemas.openxmlformats.org/drawingml/2006/main">
            <a:off x="10012680" y="1664208"/>
            <a:ext cx="1325880" cy="2011680"/>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7" name="STC-07-plos-842">
            <a:extLst xmlns:a="http://schemas.openxmlformats.org/drawingml/2006/main">
              <a:ext uri="{FF2B5EF4-FFF2-40B4-BE49-F238E27FC236}">
                <a16:creationId xmlns:a16="http://schemas.microsoft.com/office/drawing/2014/main" id="{392FC100-A9FD-4309-8FA8-1363DDE8985D}"/>
              </a:ext>
            </a:extLst>
          </p:cNvPr>
          <p:cNvSpPr>
            <a:spLocks xmlns:a="http://schemas.openxmlformats.org/drawingml/2006/main" noGrp="1"/>
          </p:cNvSpPr>
          <p:nvPr/>
        </p:nvSpPr>
        <p:spPr>
          <a:xfrm xmlns:a="http://schemas.openxmlformats.org/drawingml/2006/main">
            <a:off x="10131552" y="1938528"/>
            <a:ext cx="10972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3200" b="1">
                <a:solidFill>
                  <a:srgbClr val="FFFFFF"/>
                </a:solidFill>
                <a:latin typeface="Noto Serif CJK KR"/>
                <a:ea typeface="Noto Serif CJK KR"/>
                <a:cs typeface="Noto Serif CJK KR"/>
              </a:rPr>
              <a:t>0.70</a:t>
            </a:r>
            <a:endParaRPr sz="3200"/>
          </a:p>
        </p:txBody>
      </p:sp>
      <p:sp>
        <p:nvSpPr>
          <p:cNvPr id="28" name="STC-07-plos-scope">
            <a:extLst xmlns:a="http://schemas.openxmlformats.org/drawingml/2006/main">
              <a:ext uri="{FF2B5EF4-FFF2-40B4-BE49-F238E27FC236}">
                <a16:creationId xmlns:a16="http://schemas.microsoft.com/office/drawing/2014/main" id="{A640C846-8ED3-4E78-B2F8-34C98733D95E}"/>
              </a:ext>
            </a:extLst>
          </p:cNvPr>
          <p:cNvSpPr>
            <a:spLocks xmlns:a="http://schemas.openxmlformats.org/drawingml/2006/main" noGrp="1"/>
          </p:cNvSpPr>
          <p:nvPr/>
        </p:nvSpPr>
        <p:spPr>
          <a:xfrm xmlns:a="http://schemas.openxmlformats.org/drawingml/2006/main">
            <a:off x="10131552" y="2578608"/>
            <a:ext cx="10972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FFFFFF"/>
                </a:solidFill>
                <a:latin typeface="Noto Sans CJK KR"/>
                <a:ea typeface="Noto Sans CJK KR"/>
                <a:cs typeface="Noto Sans CJK KR"/>
              </a:rPr>
              <a:t>4</a:t>
            </a:r>
            <a:endParaRPr sz="1300"/>
          </a:p>
          <a:p xmlns:a="http://schemas.openxmlformats.org/drawingml/2006/main">
            <a:pPr marL="0" indent="0" algn="ctr">
              <a:buNone/>
            </a:pPr>
            <a:r>
              <a:rPr sz="1300">
                <a:solidFill>
                  <a:srgbClr val="FFFFFF"/>
                </a:solidFill>
                <a:latin typeface="Noto Sans CJK KR"/>
                <a:ea typeface="Noto Sans CJK KR"/>
                <a:cs typeface="Noto Sans CJK KR"/>
              </a:rPr>
              <a:t>stages</a:t>
            </a:r>
            <a:endParaRPr sz="1300"/>
          </a:p>
          <a:p xmlns:a="http://schemas.openxmlformats.org/drawingml/2006/main">
            <a:pPr marL="0" indent="0" algn="ctr">
              <a:buNone/>
            </a:pPr>
            <a:r>
              <a:rPr sz="1300">
                <a:solidFill>
                  <a:srgbClr val="FFFFFF"/>
                </a:solidFill>
                <a:latin typeface="Noto Sans CJK KR"/>
                <a:ea typeface="Noto Sans CJK KR"/>
                <a:cs typeface="Noto Sans CJK KR"/>
              </a:rPr>
              <a:t>3 refs</a:t>
            </a:r>
            <a:endParaRPr sz="1300"/>
          </a:p>
        </p:txBody>
      </p:sp>
      <p:sp>
        <p:nvSpPr>
          <p:cNvPr id="29" name="STC-07-plos-seq-label">
            <a:extLst xmlns:a="http://schemas.openxmlformats.org/drawingml/2006/main">
              <a:ext uri="{FF2B5EF4-FFF2-40B4-BE49-F238E27FC236}">
                <a16:creationId xmlns:a16="http://schemas.microsoft.com/office/drawing/2014/main" id="{4B5003AB-D62F-4D2E-A7CC-C087E5B60099}"/>
              </a:ext>
            </a:extLst>
          </p:cNvPr>
          <p:cNvSpPr>
            <a:spLocks xmlns:a="http://schemas.openxmlformats.org/drawingml/2006/main" noGrp="1"/>
          </p:cNvSpPr>
          <p:nvPr/>
        </p:nvSpPr>
        <p:spPr>
          <a:xfrm xmlns:a="http://schemas.openxmlformats.org/drawingml/2006/main">
            <a:off x="914400" y="4142232"/>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9A442D"/>
                </a:solidFill>
                <a:latin typeface="Noto Sans CJK KR"/>
                <a:ea typeface="Noto Sans CJK KR"/>
                <a:cs typeface="Noto Sans CJK KR"/>
              </a:rPr>
              <a:t>PLOS</a:t>
            </a:r>
            <a:endParaRPr sz="1300"/>
          </a:p>
        </p:txBody>
      </p:sp>
      <p:sp>
        <p:nvSpPr>
          <p:cNvPr id="30" name="STC-07-plos-seq-num">
            <a:extLst xmlns:a="http://schemas.openxmlformats.org/drawingml/2006/main">
              <a:ext uri="{FF2B5EF4-FFF2-40B4-BE49-F238E27FC236}">
                <a16:creationId xmlns:a16="http://schemas.microsoft.com/office/drawing/2014/main" id="{4EC59591-8190-4C07-BE77-B1C069C16F76}"/>
              </a:ext>
            </a:extLst>
          </p:cNvPr>
          <p:cNvSpPr>
            <a:spLocks xmlns:a="http://schemas.openxmlformats.org/drawingml/2006/main" noGrp="1"/>
          </p:cNvSpPr>
          <p:nvPr/>
        </p:nvSpPr>
        <p:spPr>
          <a:xfrm xmlns:a="http://schemas.openxmlformats.org/drawingml/2006/main">
            <a:off x="2148840" y="4078224"/>
            <a:ext cx="23957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7191C"/>
                </a:solidFill>
                <a:latin typeface="Noto Sans Mono CJK KR"/>
                <a:ea typeface="Noto Sans Mono CJK KR"/>
                <a:cs typeface="Noto Sans Mono CJK KR"/>
              </a:rPr>
              <a:t>0.68 대 0.65</a:t>
            </a:r>
            <a:endParaRPr sz="1600"/>
          </a:p>
        </p:txBody>
      </p:sp>
      <p:sp>
        <p:nvSpPr>
          <p:cNvPr id="31" name="STC-07-plos-sleep-label">
            <a:extLst xmlns:a="http://schemas.openxmlformats.org/drawingml/2006/main">
              <a:ext uri="{FF2B5EF4-FFF2-40B4-BE49-F238E27FC236}">
                <a16:creationId xmlns:a16="http://schemas.microsoft.com/office/drawing/2014/main" id="{3C05A67A-CD6F-48DD-8144-46159D32367E}"/>
              </a:ext>
            </a:extLst>
          </p:cNvPr>
          <p:cNvSpPr>
            <a:spLocks xmlns:a="http://schemas.openxmlformats.org/drawingml/2006/main" noGrp="1"/>
          </p:cNvSpPr>
          <p:nvPr/>
        </p:nvSpPr>
        <p:spPr>
          <a:xfrm xmlns:a="http://schemas.openxmlformats.org/drawingml/2006/main">
            <a:off x="914400" y="4773168"/>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2F6B63"/>
                </a:solidFill>
                <a:latin typeface="Noto Sans CJK KR"/>
                <a:ea typeface="Noto Sans CJK KR"/>
                <a:cs typeface="Noto Sans CJK KR"/>
              </a:rPr>
              <a:t>강한 baseline</a:t>
            </a:r>
            <a:endParaRPr sz="1300"/>
          </a:p>
        </p:txBody>
      </p:sp>
      <p:sp>
        <p:nvSpPr>
          <p:cNvPr id="32" name="STC-07-plos-sleep-num">
            <a:extLst xmlns:a="http://schemas.openxmlformats.org/drawingml/2006/main">
              <a:ext uri="{FF2B5EF4-FFF2-40B4-BE49-F238E27FC236}">
                <a16:creationId xmlns:a16="http://schemas.microsoft.com/office/drawing/2014/main" id="{4B364966-9FB8-4AFF-B214-9B719ABB159C}"/>
              </a:ext>
            </a:extLst>
          </p:cNvPr>
          <p:cNvSpPr>
            <a:spLocks xmlns:a="http://schemas.openxmlformats.org/drawingml/2006/main" noGrp="1"/>
          </p:cNvSpPr>
          <p:nvPr/>
        </p:nvSpPr>
        <p:spPr>
          <a:xfrm xmlns:a="http://schemas.openxmlformats.org/drawingml/2006/main">
            <a:off x="2148840" y="4709160"/>
            <a:ext cx="42245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7191C"/>
                </a:solidFill>
                <a:latin typeface="Noto Sans Mono CJK KR"/>
                <a:ea typeface="Noto Sans Mono CJK KR"/>
                <a:cs typeface="Noto Sans Mono CJK KR"/>
              </a:rPr>
              <a:t>고전 interleaving과 표준편차 안에서 같다</a:t>
            </a:r>
            <a:endParaRPr sz="1600"/>
          </a:p>
        </p:txBody>
      </p:sp>
      <p:sp>
        <p:nvSpPr>
          <p:cNvPr id="33" name="STC-07-plos-limit-divider">
            <a:extLst xmlns:a="http://schemas.openxmlformats.org/drawingml/2006/main">
              <a:ext uri="{FF2B5EF4-FFF2-40B4-BE49-F238E27FC236}">
                <a16:creationId xmlns:a16="http://schemas.microsoft.com/office/drawing/2014/main" id="{C0D35C19-DF22-49BB-AB20-03C3F56DFA2F}"/>
              </a:ext>
            </a:extLst>
          </p:cNvPr>
          <p:cNvSpPr>
            <a:spLocks xmlns:a="http://schemas.openxmlformats.org/drawingml/2006/main" noGrp="1"/>
          </p:cNvSpPr>
          <p:nvPr/>
        </p:nvSpPr>
        <p:spPr>
          <a:xfrm xmlns:a="http://schemas.openxmlformats.org/drawingml/2006/main">
            <a:off x="6675120" y="4005072"/>
            <a:ext cx="0" cy="1426464"/>
          </a:xfrm>
          <a:prstGeom xmlns:a="http://schemas.openxmlformats.org/drawingml/2006/main" prst="line">
            <a:avLst/>
          </a:prstGeom>
          <a:noFill xmlns:a="http://schemas.openxmlformats.org/drawingml/2006/main"/>
          <a:ln xmlns:a="http://schemas.openxmlformats.org/drawingml/2006/main" w="15240">
            <a:solidFill>
              <a:srgbClr val="C9C4B8"/>
            </a:solidFill>
            <a:prstDash val="solid"/>
            <a:tailEnd type="none"/>
          </a:ln>
        </p:spPr>
      </p:sp>
      <p:sp>
        <p:nvSpPr>
          <p:cNvPr id="34" name="STC-07-plos-limit">
            <a:extLst xmlns:a="http://schemas.openxmlformats.org/drawingml/2006/main">
              <a:ext uri="{FF2B5EF4-FFF2-40B4-BE49-F238E27FC236}">
                <a16:creationId xmlns:a16="http://schemas.microsoft.com/office/drawing/2014/main" id="{477B7D5E-675D-4036-A0EA-4A37A50D4B3D}"/>
              </a:ext>
            </a:extLst>
          </p:cNvPr>
          <p:cNvSpPr>
            <a:spLocks xmlns:a="http://schemas.openxmlformats.org/drawingml/2006/main" noGrp="1"/>
          </p:cNvSpPr>
          <p:nvPr/>
        </p:nvSpPr>
        <p:spPr>
          <a:xfrm xmlns:a="http://schemas.openxmlformats.org/drawingml/2006/main">
            <a:off x="7022592" y="4059936"/>
            <a:ext cx="594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9A442D"/>
                </a:solidFill>
                <a:latin typeface="Noto Serif CJK KR"/>
                <a:ea typeface="Noto Serif CJK KR"/>
                <a:cs typeface="Noto Serif CJK KR"/>
              </a:rPr>
              <a:t>LIMIT</a:t>
            </a:r>
            <a:endParaRPr sz="1800"/>
          </a:p>
        </p:txBody>
      </p:sp>
      <p:sp>
        <p:nvSpPr>
          <p:cNvPr id="35" name="STC-07-plos-limit-text">
            <a:extLst xmlns:a="http://schemas.openxmlformats.org/drawingml/2006/main">
              <a:ext uri="{FF2B5EF4-FFF2-40B4-BE49-F238E27FC236}">
                <a16:creationId xmlns:a16="http://schemas.microsoft.com/office/drawing/2014/main" id="{506AA01B-FB2F-4186-90CA-3CA39B51D9A0}"/>
              </a:ext>
            </a:extLst>
          </p:cNvPr>
          <p:cNvSpPr>
            <a:spLocks xmlns:a="http://schemas.openxmlformats.org/drawingml/2006/main" noGrp="1"/>
          </p:cNvSpPr>
          <p:nvPr/>
        </p:nvSpPr>
        <p:spPr>
          <a:xfrm xmlns:a="http://schemas.openxmlformats.org/drawingml/2006/main">
            <a:off x="7726680" y="4014216"/>
            <a:ext cx="3438144" cy="960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a:solidFill>
                  <a:srgbClr val="17191C"/>
                </a:solidFill>
                <a:latin typeface="Noto Sans CJK KR"/>
                <a:ea typeface="Noto Sans CJK KR"/>
                <a:cs typeface="Noto Sans CJK KR"/>
              </a:rPr>
              <a:t>실증된 우위는</a:t>
            </a:r>
            <a:endParaRPr sz="1700"/>
          </a:p>
          <a:p xmlns:a="http://schemas.openxmlformats.org/drawingml/2006/main">
            <a:pPr marL="0" indent="0">
              <a:buNone/>
            </a:pPr>
            <a:r>
              <a:rPr sz="1700">
                <a:solidFill>
                  <a:srgbClr val="17191C"/>
                </a:solidFill>
                <a:latin typeface="Noto Sans CJK KR"/>
                <a:ea typeface="Noto Sans CJK KR"/>
                <a:cs typeface="Noto Sans CJK KR"/>
              </a:rPr>
              <a:t>정확도가 아니라 저장의 제거다</a:t>
            </a:r>
            <a:endParaRPr sz="1700"/>
          </a:p>
        </p:txBody>
      </p:sp>
    </p:spTree>
    <p:extLst>
      <p:ext uri="{BB962C8B-B14F-4D97-AF65-F5344CB8AC3E}">
        <p14:creationId xmlns:p14="http://schemas.microsoft.com/office/powerpoint/2010/main" val="1190465356"/>
      </p:ext>
    </p:extLst>
  </p:cSld>
</p:sld>
</file>

<file path=ppt/slides/slide7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4-section">
            <a:extLst xmlns:a="http://schemas.openxmlformats.org/drawingml/2006/main">
              <a:ext uri="{FF2B5EF4-FFF2-40B4-BE49-F238E27FC236}">
                <a16:creationId xmlns:a16="http://schemas.microsoft.com/office/drawing/2014/main" id="{A0075D85-B234-44C8-902E-101F0A3CC31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EXPERIMENTS</a:t>
            </a:r>
            <a:endParaRPr sz="950"/>
          </a:p>
        </p:txBody>
      </p:sp>
      <p:sp>
        <p:nvSpPr>
          <p:cNvPr id="3" name="STC-04-slide-id">
            <a:extLst xmlns:a="http://schemas.openxmlformats.org/drawingml/2006/main">
              <a:ext uri="{FF2B5EF4-FFF2-40B4-BE49-F238E27FC236}">
                <a16:creationId xmlns:a16="http://schemas.microsoft.com/office/drawing/2014/main" id="{B14D52AE-8297-468B-A77A-23EAE8342583}"/>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STC-078</a:t>
            </a:r>
            <a:endParaRPr sz="950"/>
          </a:p>
        </p:txBody>
      </p:sp>
      <p:sp>
        <p:nvSpPr>
          <p:cNvPr id="4" name="STC-04-headline">
            <a:extLst xmlns:a="http://schemas.openxmlformats.org/drawingml/2006/main">
              <a:ext uri="{FF2B5EF4-FFF2-40B4-BE49-F238E27FC236}">
                <a16:creationId xmlns:a16="http://schemas.microsoft.com/office/drawing/2014/main" id="{3630F132-02F2-4CE1-9E25-749167C75A9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이 발표가 딛는 실험 넷 — 어느 것도 GPU 실측이 아니다</a:t>
            </a:r>
            <a:endParaRPr sz="3000"/>
          </a:p>
        </p:txBody>
      </p:sp>
      <p:sp>
        <p:nvSpPr>
          <p:cNvPr id="5" name="STC-04-status-label">
            <a:extLst xmlns:a="http://schemas.openxmlformats.org/drawingml/2006/main">
              <a:ext uri="{FF2B5EF4-FFF2-40B4-BE49-F238E27FC236}">
                <a16:creationId xmlns:a16="http://schemas.microsoft.com/office/drawing/2014/main" id="{A7ACBE27-EC77-4521-8202-C2F79CB3B4F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등급 계약</a:t>
            </a:r>
            <a:endParaRPr sz="1000"/>
          </a:p>
        </p:txBody>
      </p:sp>
      <p:sp>
        <p:nvSpPr>
          <p:cNvPr id="6" name="STC-04-status-rule">
            <a:extLst xmlns:a="http://schemas.openxmlformats.org/drawingml/2006/main">
              <a:ext uri="{FF2B5EF4-FFF2-40B4-BE49-F238E27FC236}">
                <a16:creationId xmlns:a16="http://schemas.microsoft.com/office/drawing/2014/main" id="{168F3EE0-A99E-4D46-9138-97123A1B2E0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4-footer-rule">
            <a:extLst xmlns:a="http://schemas.openxmlformats.org/drawingml/2006/main">
              <a:ext uri="{FF2B5EF4-FFF2-40B4-BE49-F238E27FC236}">
                <a16:creationId xmlns:a16="http://schemas.microsoft.com/office/drawing/2014/main" id="{283A436D-9734-4A07-90CD-F35CB55E5AB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4-source-footer">
            <a:extLst xmlns:a="http://schemas.openxmlformats.org/drawingml/2006/main">
              <a:ext uri="{FF2B5EF4-FFF2-40B4-BE49-F238E27FC236}">
                <a16:creationId xmlns:a16="http://schemas.microsoft.com/office/drawing/2014/main" id="{883AB35B-5226-4881-AC75-8BEB5E56E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experiments/stc/X1–X4 · study-kr-stc ch30 표 30-1</a:t>
            </a:r>
            <a:endParaRPr sz="850"/>
          </a:p>
        </p:txBody>
      </p:sp>
      <p:sp>
        <p:nvSpPr>
          <p:cNvPr id="9" name="STC-04-page-number">
            <a:extLst xmlns:a="http://schemas.openxmlformats.org/drawingml/2006/main">
              <a:ext uri="{FF2B5EF4-FFF2-40B4-BE49-F238E27FC236}">
                <a16:creationId xmlns:a16="http://schemas.microsoft.com/office/drawing/2014/main" id="{EFF36FC2-57B0-4E0D-A22C-A663CD6EDD60}"/>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78</a:t>
            </a:r>
            <a:endParaRPr sz="850"/>
          </a:p>
        </p:txBody>
      </p:sp>
      <p:sp>
        <p:nvSpPr>
          <p:cNvPr id="11" name="STC-04-phase-tag-0">
            <a:extLst xmlns:a="http://schemas.openxmlformats.org/drawingml/2006/main">
              <a:ext uri="{FF2B5EF4-FFF2-40B4-BE49-F238E27FC236}">
                <a16:creationId xmlns:a16="http://schemas.microsoft.com/office/drawing/2014/main" id="{BA1F2F65-E6CA-4586-80AC-30666A36C48F}"/>
              </a:ext>
            </a:extLst>
          </p:cNvPr>
          <p:cNvSpPr>
            <a:spLocks xmlns:a="http://schemas.openxmlformats.org/drawingml/2006/main" noGrp="1"/>
          </p:cNvSpPr>
          <p:nvPr/>
        </p:nvSpPr>
        <p:spPr>
          <a:xfrm xmlns:a="http://schemas.openxmlformats.org/drawingml/2006/main">
            <a:off x="768096"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59616A"/>
                </a:solidFill>
                <a:latin typeface="Noto Sans Mono CJK KR"/>
                <a:ea typeface="Noto Sans Mono CJK KR"/>
                <a:cs typeface="Noto Sans Mono CJK KR"/>
              </a:rPr>
              <a:t>X1 비용 회계</a:t>
            </a:r>
            <a:endParaRPr sz="1200"/>
          </a:p>
        </p:txBody>
      </p:sp>
      <p:sp>
        <p:nvSpPr>
          <p:cNvPr id="12" name="STC-04-phase-ko-0">
            <a:extLst xmlns:a="http://schemas.openxmlformats.org/drawingml/2006/main">
              <a:ext uri="{FF2B5EF4-FFF2-40B4-BE49-F238E27FC236}">
                <a16:creationId xmlns:a16="http://schemas.microsoft.com/office/drawing/2014/main" id="{71B78324-C8F8-4909-82A4-E5B94A3ECF3B}"/>
              </a:ext>
            </a:extLst>
          </p:cNvPr>
          <p:cNvSpPr>
            <a:spLocks xmlns:a="http://schemas.openxmlformats.org/drawingml/2006/main" noGrp="1"/>
          </p:cNvSpPr>
          <p:nvPr/>
        </p:nvSpPr>
        <p:spPr>
          <a:xfrm xmlns:a="http://schemas.openxmlformats.org/drawingml/2006/main">
            <a:off x="768096"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회계</a:t>
            </a:r>
            <a:endParaRPr sz="2300"/>
          </a:p>
        </p:txBody>
      </p:sp>
      <p:sp>
        <p:nvSpPr>
          <p:cNvPr id="13" name="STC-04-phase-rule-0">
            <a:extLst xmlns:a="http://schemas.openxmlformats.org/drawingml/2006/main">
              <a:ext uri="{FF2B5EF4-FFF2-40B4-BE49-F238E27FC236}">
                <a16:creationId xmlns:a16="http://schemas.microsoft.com/office/drawing/2014/main" id="{7764BB8A-B05F-4718-BC24-4AD789913DE0}"/>
              </a:ext>
            </a:extLst>
          </p:cNvPr>
          <p:cNvSpPr>
            <a:spLocks xmlns:a="http://schemas.openxmlformats.org/drawingml/2006/main" noGrp="1"/>
          </p:cNvSpPr>
          <p:nvPr/>
        </p:nvSpPr>
        <p:spPr>
          <a:xfrm xmlns:a="http://schemas.openxmlformats.org/drawingml/2006/main">
            <a:off x="768096" y="2642616"/>
            <a:ext cx="2011680" cy="0"/>
          </a:xfrm>
          <a:prstGeom xmlns:a="http://schemas.openxmlformats.org/drawingml/2006/main" prst="line">
            <a:avLst/>
          </a:prstGeom>
          <a:noFill xmlns:a="http://schemas.openxmlformats.org/drawingml/2006/main"/>
          <a:ln xmlns:a="http://schemas.openxmlformats.org/drawingml/2006/main" w="50800">
            <a:solidFill>
              <a:srgbClr val="59616A"/>
            </a:solidFill>
            <a:prstDash val="solid"/>
            <a:tailEnd type="none"/>
          </a:ln>
        </p:spPr>
      </p:sp>
      <p:sp>
        <p:nvSpPr>
          <p:cNvPr id="14" name="STC-04-phase-body-0">
            <a:extLst xmlns:a="http://schemas.openxmlformats.org/drawingml/2006/main">
              <a:ext uri="{FF2B5EF4-FFF2-40B4-BE49-F238E27FC236}">
                <a16:creationId xmlns:a16="http://schemas.microsoft.com/office/drawing/2014/main" id="{D3EDF87F-330E-402B-BED1-949CABA05E93}"/>
              </a:ext>
            </a:extLst>
          </p:cNvPr>
          <p:cNvSpPr>
            <a:spLocks xmlns:a="http://schemas.openxmlformats.org/drawingml/2006/main" noGrp="1"/>
          </p:cNvSpPr>
          <p:nvPr/>
        </p:nvSpPr>
        <p:spPr>
          <a:xfrm xmlns:a="http://schemas.openxmlformats.org/drawingml/2006/main">
            <a:off x="768096"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회계 · 상각식에 빠진</a:t>
            </a:r>
            <a:endParaRPr sz="1800"/>
          </a:p>
          <a:p xmlns:a="http://schemas.openxmlformats.org/drawingml/2006/main">
            <a:pPr marL="0" indent="0">
              <a:buNone/>
            </a:pPr>
            <a:r>
              <a:rPr sz="1800">
                <a:solidFill>
                  <a:srgbClr val="17191C"/>
                </a:solidFill>
                <a:latin typeface="Noto Sans CJK KR"/>
                <a:ea typeface="Noto Sans CJK KR"/>
                <a:cs typeface="Noto Sans CJK KR"/>
              </a:rPr>
              <a:t>항을 되살려 닫힌 형태로 푼다</a:t>
            </a:r>
            <a:endParaRPr sz="1800"/>
          </a:p>
        </p:txBody>
      </p:sp>
      <p:sp>
        <p:nvSpPr>
          <p:cNvPr id="15" name="STC-04-phase-arrow-0">
            <a:extLst xmlns:a="http://schemas.openxmlformats.org/drawingml/2006/main">
              <a:ext uri="{FF2B5EF4-FFF2-40B4-BE49-F238E27FC236}">
                <a16:creationId xmlns:a16="http://schemas.microsoft.com/office/drawing/2014/main" id="{783D597A-ACCC-4F6B-94A9-392B971E7A96}"/>
              </a:ext>
            </a:extLst>
          </p:cNvPr>
          <p:cNvSpPr>
            <a:spLocks xmlns:a="http://schemas.openxmlformats.org/drawingml/2006/main" noGrp="1"/>
          </p:cNvSpPr>
          <p:nvPr/>
        </p:nvSpPr>
        <p:spPr>
          <a:xfrm xmlns:a="http://schemas.openxmlformats.org/drawingml/2006/main">
            <a:off x="2962656"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16" name="STC-04-phase-tag-1">
            <a:extLst xmlns:a="http://schemas.openxmlformats.org/drawingml/2006/main">
              <a:ext uri="{FF2B5EF4-FFF2-40B4-BE49-F238E27FC236}">
                <a16:creationId xmlns:a16="http://schemas.microsoft.com/office/drawing/2014/main" id="{DF120A6C-83FF-4F70-8A23-21607B85C1A0}"/>
              </a:ext>
            </a:extLst>
          </p:cNvPr>
          <p:cNvSpPr>
            <a:spLocks xmlns:a="http://schemas.openxmlformats.org/drawingml/2006/main" noGrp="1"/>
          </p:cNvSpPr>
          <p:nvPr/>
        </p:nvSpPr>
        <p:spPr>
          <a:xfrm xmlns:a="http://schemas.openxmlformats.org/drawingml/2006/main">
            <a:off x="3593592"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X2 용량 회계</a:t>
            </a:r>
            <a:endParaRPr sz="1200"/>
          </a:p>
        </p:txBody>
      </p:sp>
      <p:sp>
        <p:nvSpPr>
          <p:cNvPr id="17" name="STC-04-phase-ko-1">
            <a:extLst xmlns:a="http://schemas.openxmlformats.org/drawingml/2006/main">
              <a:ext uri="{FF2B5EF4-FFF2-40B4-BE49-F238E27FC236}">
                <a16:creationId xmlns:a16="http://schemas.microsoft.com/office/drawing/2014/main" id="{EC71ADFB-45C0-4738-8C38-F10FAB21F33F}"/>
              </a:ext>
            </a:extLst>
          </p:cNvPr>
          <p:cNvSpPr>
            <a:spLocks xmlns:a="http://schemas.openxmlformats.org/drawingml/2006/main" noGrp="1"/>
          </p:cNvSpPr>
          <p:nvPr/>
        </p:nvSpPr>
        <p:spPr>
          <a:xfrm xmlns:a="http://schemas.openxmlformats.org/drawingml/2006/main">
            <a:off x="3593592"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회계</a:t>
            </a:r>
            <a:endParaRPr sz="2300"/>
          </a:p>
        </p:txBody>
      </p:sp>
      <p:sp>
        <p:nvSpPr>
          <p:cNvPr id="18" name="STC-04-phase-rule-1">
            <a:extLst xmlns:a="http://schemas.openxmlformats.org/drawingml/2006/main">
              <a:ext uri="{FF2B5EF4-FFF2-40B4-BE49-F238E27FC236}">
                <a16:creationId xmlns:a16="http://schemas.microsoft.com/office/drawing/2014/main" id="{CD51B805-650E-4380-9B3A-E873D1907749}"/>
              </a:ext>
            </a:extLst>
          </p:cNvPr>
          <p:cNvSpPr>
            <a:spLocks xmlns:a="http://schemas.openxmlformats.org/drawingml/2006/main" noGrp="1"/>
          </p:cNvSpPr>
          <p:nvPr/>
        </p:nvSpPr>
        <p:spPr>
          <a:xfrm xmlns:a="http://schemas.openxmlformats.org/drawingml/2006/main">
            <a:off x="3593592" y="2642616"/>
            <a:ext cx="2011680" cy="0"/>
          </a:xfrm>
          <a:prstGeom xmlns:a="http://schemas.openxmlformats.org/drawingml/2006/main" prst="line">
            <a:avLst/>
          </a:prstGeom>
          <a:noFill xmlns:a="http://schemas.openxmlformats.org/drawingml/2006/main"/>
          <a:ln xmlns:a="http://schemas.openxmlformats.org/drawingml/2006/main" w="50800">
            <a:solidFill>
              <a:srgbClr val="244E8A"/>
            </a:solidFill>
            <a:prstDash val="solid"/>
            <a:tailEnd type="none"/>
          </a:ln>
        </p:spPr>
      </p:sp>
      <p:sp>
        <p:nvSpPr>
          <p:cNvPr id="19" name="STC-04-phase-body-1">
            <a:extLst xmlns:a="http://schemas.openxmlformats.org/drawingml/2006/main">
              <a:ext uri="{FF2B5EF4-FFF2-40B4-BE49-F238E27FC236}">
                <a16:creationId xmlns:a16="http://schemas.microsoft.com/office/drawing/2014/main" id="{CA6AC282-8658-4035-A58F-484C6AC4BB0A}"/>
              </a:ext>
            </a:extLst>
          </p:cNvPr>
          <p:cNvSpPr>
            <a:spLocks xmlns:a="http://schemas.openxmlformats.org/drawingml/2006/main" noGrp="1"/>
          </p:cNvSpPr>
          <p:nvPr/>
        </p:nvSpPr>
        <p:spPr>
          <a:xfrm xmlns:a="http://schemas.openxmlformats.org/drawingml/2006/main">
            <a:off x="3593592"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회계 · 구성</a:t>
            </a:r>
            <a:endParaRPr sz="1800"/>
          </a:p>
          <a:p xmlns:a="http://schemas.openxmlformats.org/drawingml/2006/main">
            <a:pPr marL="0" indent="0">
              <a:buNone/>
            </a:pPr>
            <a:r>
              <a:rPr sz="1800">
                <a:solidFill>
                  <a:srgbClr val="17191C"/>
                </a:solidFill>
                <a:latin typeface="Noto Sans CJK KR"/>
                <a:ea typeface="Noto Sans CJK KR"/>
                <a:cs typeface="Noto Sans CJK KR"/>
              </a:rPr>
              <a:t>파라미터에서 바이트를 복원한다</a:t>
            </a:r>
            <a:endParaRPr sz="1800"/>
          </a:p>
        </p:txBody>
      </p:sp>
      <p:sp>
        <p:nvSpPr>
          <p:cNvPr id="20" name="STC-04-phase-arrow-1">
            <a:extLst xmlns:a="http://schemas.openxmlformats.org/drawingml/2006/main">
              <a:ext uri="{FF2B5EF4-FFF2-40B4-BE49-F238E27FC236}">
                <a16:creationId xmlns:a16="http://schemas.microsoft.com/office/drawing/2014/main" id="{78036B2A-3081-4A46-8C23-82C208923D54}"/>
              </a:ext>
            </a:extLst>
          </p:cNvPr>
          <p:cNvSpPr>
            <a:spLocks xmlns:a="http://schemas.openxmlformats.org/drawingml/2006/main" noGrp="1"/>
          </p:cNvSpPr>
          <p:nvPr/>
        </p:nvSpPr>
        <p:spPr>
          <a:xfrm xmlns:a="http://schemas.openxmlformats.org/drawingml/2006/main">
            <a:off x="5788152"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1" name="STC-04-phase-tag-2">
            <a:extLst xmlns:a="http://schemas.openxmlformats.org/drawingml/2006/main">
              <a:ext uri="{FF2B5EF4-FFF2-40B4-BE49-F238E27FC236}">
                <a16:creationId xmlns:a16="http://schemas.microsoft.com/office/drawing/2014/main" id="{14A86847-A229-4A53-8F2A-E51A71B0A175}"/>
              </a:ext>
            </a:extLst>
          </p:cNvPr>
          <p:cNvSpPr>
            <a:spLocks xmlns:a="http://schemas.openxmlformats.org/drawingml/2006/main" noGrp="1"/>
          </p:cNvSpPr>
          <p:nvPr/>
        </p:nvSpPr>
        <p:spPr>
          <a:xfrm xmlns:a="http://schemas.openxmlformats.org/drawingml/2006/main">
            <a:off x="6419088"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X3 예산 감사</a:t>
            </a:r>
            <a:endParaRPr sz="1200"/>
          </a:p>
        </p:txBody>
      </p:sp>
      <p:sp>
        <p:nvSpPr>
          <p:cNvPr id="22" name="STC-04-phase-ko-2">
            <a:extLst xmlns:a="http://schemas.openxmlformats.org/drawingml/2006/main">
              <a:ext uri="{FF2B5EF4-FFF2-40B4-BE49-F238E27FC236}">
                <a16:creationId xmlns:a16="http://schemas.microsoft.com/office/drawing/2014/main" id="{582DA535-C347-498A-B2F9-C40BAE20CE4F}"/>
              </a:ext>
            </a:extLst>
          </p:cNvPr>
          <p:cNvSpPr>
            <a:spLocks xmlns:a="http://schemas.openxmlformats.org/drawingml/2006/main" noGrp="1"/>
          </p:cNvSpPr>
          <p:nvPr/>
        </p:nvSpPr>
        <p:spPr>
          <a:xfrm xmlns:a="http://schemas.openxmlformats.org/drawingml/2006/main">
            <a:off x="6419088"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감사</a:t>
            </a:r>
            <a:endParaRPr sz="2300"/>
          </a:p>
        </p:txBody>
      </p:sp>
      <p:sp>
        <p:nvSpPr>
          <p:cNvPr id="23" name="STC-04-phase-rule-2">
            <a:extLst xmlns:a="http://schemas.openxmlformats.org/drawingml/2006/main">
              <a:ext uri="{FF2B5EF4-FFF2-40B4-BE49-F238E27FC236}">
                <a16:creationId xmlns:a16="http://schemas.microsoft.com/office/drawing/2014/main" id="{604E16CE-5100-4FC5-8DB9-7A23B695EE76}"/>
              </a:ext>
            </a:extLst>
          </p:cNvPr>
          <p:cNvSpPr>
            <a:spLocks xmlns:a="http://schemas.openxmlformats.org/drawingml/2006/main" noGrp="1"/>
          </p:cNvSpPr>
          <p:nvPr/>
        </p:nvSpPr>
        <p:spPr>
          <a:xfrm xmlns:a="http://schemas.openxmlformats.org/drawingml/2006/main">
            <a:off x="6419088" y="2642616"/>
            <a:ext cx="2011680" cy="0"/>
          </a:xfrm>
          <a:prstGeom xmlns:a="http://schemas.openxmlformats.org/drawingml/2006/main" prst="line">
            <a:avLst/>
          </a:prstGeom>
          <a:noFill xmlns:a="http://schemas.openxmlformats.org/drawingml/2006/main"/>
          <a:ln xmlns:a="http://schemas.openxmlformats.org/drawingml/2006/main" w="50800">
            <a:solidFill>
              <a:srgbClr val="9A442D"/>
            </a:solidFill>
            <a:prstDash val="solid"/>
            <a:tailEnd type="none"/>
          </a:ln>
        </p:spPr>
      </p:sp>
      <p:sp>
        <p:nvSpPr>
          <p:cNvPr id="24" name="STC-04-phase-body-2">
            <a:extLst xmlns:a="http://schemas.openxmlformats.org/drawingml/2006/main">
              <a:ext uri="{FF2B5EF4-FFF2-40B4-BE49-F238E27FC236}">
                <a16:creationId xmlns:a16="http://schemas.microsoft.com/office/drawing/2014/main" id="{5BF3497A-374B-4090-AF18-46EDBA191D7C}"/>
              </a:ext>
            </a:extLst>
          </p:cNvPr>
          <p:cNvSpPr>
            <a:spLocks xmlns:a="http://schemas.openxmlformats.org/drawingml/2006/main" noGrp="1"/>
          </p:cNvSpPr>
          <p:nvPr/>
        </p:nvSpPr>
        <p:spPr>
          <a:xfrm xmlns:a="http://schemas.openxmlformats.org/drawingml/2006/main">
            <a:off x="6419088"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감사 · 29편의 B_s</a:t>
            </a:r>
            <a:endParaRPr sz="1800"/>
          </a:p>
          <a:p xmlns:a="http://schemas.openxmlformats.org/drawingml/2006/main">
            <a:pPr marL="0" indent="0">
              <a:buNone/>
            </a:pPr>
            <a:r>
              <a:rPr sz="1800">
                <a:solidFill>
                  <a:srgbClr val="17191C"/>
                </a:solidFill>
                <a:latin typeface="Noto Sans CJK KR"/>
                <a:ea typeface="Noto Sans CJK KR"/>
                <a:cs typeface="Noto Sans CJK KR"/>
              </a:rPr>
              <a:t>보고 형태를 전수로 센다</a:t>
            </a:r>
            <a:endParaRPr sz="1800"/>
          </a:p>
        </p:txBody>
      </p:sp>
      <p:sp>
        <p:nvSpPr>
          <p:cNvPr id="25" name="STC-04-phase-arrow-2">
            <a:extLst xmlns:a="http://schemas.openxmlformats.org/drawingml/2006/main">
              <a:ext uri="{FF2B5EF4-FFF2-40B4-BE49-F238E27FC236}">
                <a16:creationId xmlns:a16="http://schemas.microsoft.com/office/drawing/2014/main" id="{4E7BA787-51DD-48C2-90C7-E4BC25DA526D}"/>
              </a:ext>
            </a:extLst>
          </p:cNvPr>
          <p:cNvSpPr>
            <a:spLocks xmlns:a="http://schemas.openxmlformats.org/drawingml/2006/main" noGrp="1"/>
          </p:cNvSpPr>
          <p:nvPr/>
        </p:nvSpPr>
        <p:spPr>
          <a:xfrm xmlns:a="http://schemas.openxmlformats.org/drawingml/2006/main">
            <a:off x="8613648"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04-phase-tag-3">
            <a:extLst xmlns:a="http://schemas.openxmlformats.org/drawingml/2006/main">
              <a:ext uri="{FF2B5EF4-FFF2-40B4-BE49-F238E27FC236}">
                <a16:creationId xmlns:a16="http://schemas.microsoft.com/office/drawing/2014/main" id="{3D317DA2-F326-4299-B8BF-54ACE3EE2AA9}"/>
              </a:ext>
            </a:extLst>
          </p:cNvPr>
          <p:cNvSpPr>
            <a:spLocks xmlns:a="http://schemas.openxmlformats.org/drawingml/2006/main" noGrp="1"/>
          </p:cNvSpPr>
          <p:nvPr/>
        </p:nvSpPr>
        <p:spPr>
          <a:xfrm xmlns:a="http://schemas.openxmlformats.org/drawingml/2006/main">
            <a:off x="9244584"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X4 반복 열화</a:t>
            </a:r>
            <a:endParaRPr sz="1200"/>
          </a:p>
        </p:txBody>
      </p:sp>
      <p:sp>
        <p:nvSpPr>
          <p:cNvPr id="27" name="STC-04-phase-ko-3">
            <a:extLst xmlns:a="http://schemas.openxmlformats.org/drawingml/2006/main">
              <a:ext uri="{FF2B5EF4-FFF2-40B4-BE49-F238E27FC236}">
                <a16:creationId xmlns:a16="http://schemas.microsoft.com/office/drawing/2014/main" id="{F5446ADD-A14C-416D-B2F4-1A4E119F4329}"/>
              </a:ext>
            </a:extLst>
          </p:cNvPr>
          <p:cNvSpPr>
            <a:spLocks xmlns:a="http://schemas.openxmlformats.org/drawingml/2006/main" noGrp="1"/>
          </p:cNvSpPr>
          <p:nvPr/>
        </p:nvSpPr>
        <p:spPr>
          <a:xfrm xmlns:a="http://schemas.openxmlformats.org/drawingml/2006/main">
            <a:off x="9244584"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모형</a:t>
            </a:r>
            <a:endParaRPr sz="2300"/>
          </a:p>
        </p:txBody>
      </p:sp>
      <p:sp>
        <p:nvSpPr>
          <p:cNvPr id="28" name="STC-04-phase-rule-3">
            <a:extLst xmlns:a="http://schemas.openxmlformats.org/drawingml/2006/main">
              <a:ext uri="{FF2B5EF4-FFF2-40B4-BE49-F238E27FC236}">
                <a16:creationId xmlns:a16="http://schemas.microsoft.com/office/drawing/2014/main" id="{4455D656-930A-404D-BF54-7ED24B2942EA}"/>
              </a:ext>
            </a:extLst>
          </p:cNvPr>
          <p:cNvSpPr>
            <a:spLocks xmlns:a="http://schemas.openxmlformats.org/drawingml/2006/main" noGrp="1"/>
          </p:cNvSpPr>
          <p:nvPr/>
        </p:nvSpPr>
        <p:spPr>
          <a:xfrm xmlns:a="http://schemas.openxmlformats.org/drawingml/2006/main">
            <a:off x="9244584" y="2642616"/>
            <a:ext cx="2011680" cy="0"/>
          </a:xfrm>
          <a:prstGeom xmlns:a="http://schemas.openxmlformats.org/drawingml/2006/main" prst="line">
            <a:avLst/>
          </a:prstGeom>
          <a:noFill xmlns:a="http://schemas.openxmlformats.org/drawingml/2006/main"/>
          <a:ln xmlns:a="http://schemas.openxmlformats.org/drawingml/2006/main" w="50800">
            <a:solidFill>
              <a:srgbClr val="2F6B63"/>
            </a:solidFill>
            <a:prstDash val="solid"/>
            <a:tailEnd type="none"/>
          </a:ln>
        </p:spPr>
      </p:sp>
      <p:sp>
        <p:nvSpPr>
          <p:cNvPr id="29" name="STC-04-phase-body-3">
            <a:extLst xmlns:a="http://schemas.openxmlformats.org/drawingml/2006/main">
              <a:ext uri="{FF2B5EF4-FFF2-40B4-BE49-F238E27FC236}">
                <a16:creationId xmlns:a16="http://schemas.microsoft.com/office/drawing/2014/main" id="{FE89CD84-AEBE-4991-983F-DACD28BF3807}"/>
              </a:ext>
            </a:extLst>
          </p:cNvPr>
          <p:cNvSpPr>
            <a:spLocks xmlns:a="http://schemas.openxmlformats.org/drawingml/2006/main" noGrp="1"/>
          </p:cNvSpPr>
          <p:nvPr/>
        </p:nvSpPr>
        <p:spPr>
          <a:xfrm xmlns:a="http://schemas.openxmlformats.org/drawingml/2006/main">
            <a:off x="9244584"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모형 · 가우시안과</a:t>
            </a:r>
            <a:endParaRPr sz="1800"/>
          </a:p>
          <a:p xmlns:a="http://schemas.openxmlformats.org/drawingml/2006/main">
            <a:pPr marL="0" indent="0">
              <a:buNone/>
            </a:pPr>
            <a:r>
              <a:rPr sz="1800">
                <a:solidFill>
                  <a:srgbClr val="17191C"/>
                </a:solidFill>
                <a:latin typeface="Noto Sans CJK KR"/>
                <a:ea typeface="Noto Sans CJK KR"/>
                <a:cs typeface="Noto Sans CJK KR"/>
              </a:rPr>
              <a:t>선형 연상기억. LLM 아님</a:t>
            </a:r>
            <a:endParaRPr sz="1800"/>
          </a:p>
        </p:txBody>
      </p:sp>
      <p:sp>
        <p:nvSpPr>
          <p:cNvPr id="30" name="STC-04-phase-invariant">
            <a:extLst xmlns:a="http://schemas.openxmlformats.org/drawingml/2006/main">
              <a:ext uri="{FF2B5EF4-FFF2-40B4-BE49-F238E27FC236}">
                <a16:creationId xmlns:a16="http://schemas.microsoft.com/office/drawing/2014/main" id="{03288DCF-E840-4104-9A86-10724C88811D}"/>
              </a:ext>
            </a:extLst>
          </p:cNvPr>
          <p:cNvSpPr>
            <a:spLocks xmlns:a="http://schemas.openxmlformats.org/drawingml/2006/main" noGrp="1"/>
          </p:cNvSpPr>
          <p:nvPr/>
        </p:nvSpPr>
        <p:spPr>
          <a:xfrm xmlns:a="http://schemas.openxmlformats.org/drawingml/2006/main">
            <a:off x="1188720" y="4736592"/>
            <a:ext cx="9811512" cy="6035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31" name="STC-04-phase-invariant-text">
            <a:extLst xmlns:a="http://schemas.openxmlformats.org/drawingml/2006/main">
              <a:ext uri="{FF2B5EF4-FFF2-40B4-BE49-F238E27FC236}">
                <a16:creationId xmlns:a16="http://schemas.microsoft.com/office/drawing/2014/main" id="{F965FB3E-3D1D-4CF8-8579-F6405F044BA3}"/>
              </a:ext>
            </a:extLst>
          </p:cNvPr>
          <p:cNvSpPr>
            <a:spLocks xmlns:a="http://schemas.openxmlformats.org/drawingml/2006/main" noGrp="1"/>
          </p:cNvSpPr>
          <p:nvPr/>
        </p:nvSpPr>
        <p:spPr>
          <a:xfrm xmlns:a="http://schemas.openxmlformats.org/drawingml/2006/main">
            <a:off x="1435608" y="4919472"/>
            <a:ext cx="93268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이 host에 NVIDIA GPU가 없다. 그래서 이 발표에는 지연·처리량·전력의 측정값이 하나도 없다</a:t>
            </a:r>
            <a:endParaRPr sz="1700"/>
          </a:p>
        </p:txBody>
      </p:sp>
    </p:spTree>
    <p:extLst>
      <p:ext uri="{BB962C8B-B14F-4D97-AF65-F5344CB8AC3E}">
        <p14:creationId xmlns:p14="http://schemas.microsoft.com/office/powerpoint/2010/main" val="37494492"/>
      </p:ext>
    </p:extLst>
  </p:cSld>
</p:sld>
</file>

<file path=ppt/slides/slide7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1-section">
            <a:extLst xmlns:a="http://schemas.openxmlformats.org/drawingml/2006/main">
              <a:ext uri="{FF2B5EF4-FFF2-40B4-BE49-F238E27FC236}">
                <a16:creationId xmlns:a16="http://schemas.microsoft.com/office/drawing/2014/main" id="{8BB9BD3F-B2A5-4809-9119-06656DAC1DCC}"/>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EXPERIMENTS</a:t>
            </a:r>
            <a:endParaRPr sz="950"/>
          </a:p>
        </p:txBody>
      </p:sp>
      <p:sp>
        <p:nvSpPr>
          <p:cNvPr id="3" name="STC-21-slide-id">
            <a:extLst xmlns:a="http://schemas.openxmlformats.org/drawingml/2006/main">
              <a:ext uri="{FF2B5EF4-FFF2-40B4-BE49-F238E27FC236}">
                <a16:creationId xmlns:a16="http://schemas.microsoft.com/office/drawing/2014/main" id="{E1BF2D37-A293-4FA6-A010-98F61D6C6436}"/>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STC-079</a:t>
            </a:r>
            <a:endParaRPr sz="950"/>
          </a:p>
        </p:txBody>
      </p:sp>
      <p:sp>
        <p:nvSpPr>
          <p:cNvPr id="4" name="STC-21-headline">
            <a:extLst xmlns:a="http://schemas.openxmlformats.org/drawingml/2006/main">
              <a:ext uri="{FF2B5EF4-FFF2-40B4-BE49-F238E27FC236}">
                <a16:creationId xmlns:a16="http://schemas.microsoft.com/office/drawing/2014/main" id="{C957F144-E07A-475B-800F-FA851D788889}"/>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계산해 놓고 본문에 올리지 않은 값 넷</a:t>
            </a:r>
            <a:endParaRPr sz="3000"/>
          </a:p>
        </p:txBody>
      </p:sp>
      <p:sp>
        <p:nvSpPr>
          <p:cNvPr id="5" name="STC-21-status-label">
            <a:extLst xmlns:a="http://schemas.openxmlformats.org/drawingml/2006/main">
              <a:ext uri="{FF2B5EF4-FFF2-40B4-BE49-F238E27FC236}">
                <a16:creationId xmlns:a16="http://schemas.microsoft.com/office/drawing/2014/main" id="{A5CBE44C-A00A-4227-BC87-07F71E876613}"/>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등급 계약</a:t>
            </a:r>
            <a:endParaRPr sz="1000"/>
          </a:p>
        </p:txBody>
      </p:sp>
      <p:sp>
        <p:nvSpPr>
          <p:cNvPr id="6" name="STC-21-status-rule">
            <a:extLst xmlns:a="http://schemas.openxmlformats.org/drawingml/2006/main">
              <a:ext uri="{FF2B5EF4-FFF2-40B4-BE49-F238E27FC236}">
                <a16:creationId xmlns:a16="http://schemas.microsoft.com/office/drawing/2014/main" id="{326874C7-2AC2-4EF3-A0AF-B337822D55FE}"/>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21-footer-rule">
            <a:extLst xmlns:a="http://schemas.openxmlformats.org/drawingml/2006/main">
              <a:ext uri="{FF2B5EF4-FFF2-40B4-BE49-F238E27FC236}">
                <a16:creationId xmlns:a16="http://schemas.microsoft.com/office/drawing/2014/main" id="{3FAEEB53-00B4-4B8F-9C15-D1D1E0AA47E5}"/>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1-source-footer">
            <a:extLst xmlns:a="http://schemas.openxmlformats.org/drawingml/2006/main">
              <a:ext uri="{FF2B5EF4-FFF2-40B4-BE49-F238E27FC236}">
                <a16:creationId xmlns:a16="http://schemas.microsoft.com/office/drawing/2014/main" id="{C15D3B91-4B19-418F-B75E-CDBAB63CBABC}"/>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ch24 §24.2 · ch30 §30.3.5</a:t>
            </a:r>
            <a:endParaRPr sz="850"/>
          </a:p>
        </p:txBody>
      </p:sp>
      <p:sp>
        <p:nvSpPr>
          <p:cNvPr id="9" name="STC-21-page-number">
            <a:extLst xmlns:a="http://schemas.openxmlformats.org/drawingml/2006/main">
              <a:ext uri="{FF2B5EF4-FFF2-40B4-BE49-F238E27FC236}">
                <a16:creationId xmlns:a16="http://schemas.microsoft.com/office/drawing/2014/main" id="{6D8B17AB-5125-44EC-A34D-E5D99843272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79</a:t>
            </a:r>
            <a:endParaRPr sz="850"/>
          </a:p>
        </p:txBody>
      </p:sp>
      <p:sp>
        <p:nvSpPr>
          <p:cNvPr id="11" name="STC-21-tx-tag-0">
            <a:extLst xmlns:a="http://schemas.openxmlformats.org/drawingml/2006/main">
              <a:ext uri="{FF2B5EF4-FFF2-40B4-BE49-F238E27FC236}">
                <a16:creationId xmlns:a16="http://schemas.microsoft.com/office/drawing/2014/main" id="{C3BA3125-4962-4DAF-AB08-40AF0FFBE740}"/>
              </a:ext>
            </a:extLst>
          </p:cNvPr>
          <p:cNvSpPr>
            <a:spLocks xmlns:a="http://schemas.openxmlformats.org/drawingml/2006/main" noGrp="1"/>
          </p:cNvSpPr>
          <p:nvPr/>
        </p:nvSpPr>
        <p:spPr>
          <a:xfrm xmlns:a="http://schemas.openxmlformats.org/drawingml/2006/main">
            <a:off x="804672"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비율</a:t>
            </a:r>
            <a:endParaRPr sz="1100"/>
          </a:p>
        </p:txBody>
      </p:sp>
      <p:sp>
        <p:nvSpPr>
          <p:cNvPr id="12" name="STC-21-tx-node-0">
            <a:extLst xmlns:a="http://schemas.openxmlformats.org/drawingml/2006/main">
              <a:ext uri="{FF2B5EF4-FFF2-40B4-BE49-F238E27FC236}">
                <a16:creationId xmlns:a16="http://schemas.microsoft.com/office/drawing/2014/main" id="{53BB23E7-533E-4499-8184-5B3E4A7EFDA2}"/>
              </a:ext>
            </a:extLst>
          </p:cNvPr>
          <p:cNvSpPr>
            <a:spLocks xmlns:a="http://schemas.openxmlformats.org/drawingml/2006/main" noGrp="1"/>
          </p:cNvSpPr>
          <p:nvPr/>
        </p:nvSpPr>
        <p:spPr>
          <a:xfrm xmlns:a="http://schemas.openxmlformats.org/drawingml/2006/main">
            <a:off x="804672" y="2084832"/>
            <a:ext cx="1417320" cy="1078992"/>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3" name="STC-21-tx-body-0">
            <a:extLst xmlns:a="http://schemas.openxmlformats.org/drawingml/2006/main">
              <a:ext uri="{FF2B5EF4-FFF2-40B4-BE49-F238E27FC236}">
                <a16:creationId xmlns:a16="http://schemas.microsoft.com/office/drawing/2014/main" id="{FBD336B1-FC65-4C91-B49E-E58EE455FC4E}"/>
              </a:ext>
            </a:extLst>
          </p:cNvPr>
          <p:cNvSpPr>
            <a:spLocks xmlns:a="http://schemas.openxmlformats.org/drawingml/2006/main" noGrp="1"/>
          </p:cNvSpPr>
          <p:nvPr/>
        </p:nvSpPr>
        <p:spPr>
          <a:xfrm xmlns:a="http://schemas.openxmlformats.org/drawingml/2006/main">
            <a:off x="914400"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17191C"/>
                </a:solidFill>
                <a:latin typeface="Noto Sans CJK KR"/>
                <a:ea typeface="Noto Sans CJK KR"/>
                <a:cs typeface="Noto Sans CJK KR"/>
              </a:rPr>
              <a:t>경로별</a:t>
            </a:r>
            <a:endParaRPr sz="1500"/>
          </a:p>
          <a:p xmlns:a="http://schemas.openxmlformats.org/drawingml/2006/main">
            <a:pPr marL="0" indent="0" algn="ctr">
              <a:buNone/>
            </a:pPr>
            <a:r>
              <a:rPr sz="1500" b="1">
                <a:solidFill>
                  <a:srgbClr val="17191C"/>
                </a:solidFill>
                <a:latin typeface="Noto Sans CJK KR"/>
                <a:ea typeface="Noto Sans CJK KR"/>
                <a:cs typeface="Noto Sans CJK KR"/>
              </a:rPr>
              <a:t>보고율</a:t>
            </a:r>
            <a:endParaRPr sz="1500"/>
          </a:p>
        </p:txBody>
      </p:sp>
      <p:sp>
        <p:nvSpPr>
          <p:cNvPr id="14" name="STC-21-tx-arrow-0">
            <a:extLst xmlns:a="http://schemas.openxmlformats.org/drawingml/2006/main">
              <a:ext uri="{FF2B5EF4-FFF2-40B4-BE49-F238E27FC236}">
                <a16:creationId xmlns:a16="http://schemas.microsoft.com/office/drawing/2014/main" id="{25A11E43-C965-41E7-9C14-52E8EA3401F7}"/>
              </a:ext>
            </a:extLst>
          </p:cNvPr>
          <p:cNvSpPr>
            <a:spLocks xmlns:a="http://schemas.openxmlformats.org/drawingml/2006/main" noGrp="1"/>
          </p:cNvSpPr>
          <p:nvPr/>
        </p:nvSpPr>
        <p:spPr>
          <a:xfrm xmlns:a="http://schemas.openxmlformats.org/drawingml/2006/main">
            <a:off x="2286000" y="2615184"/>
            <a:ext cx="749808"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5" name="STC-21-tx-tag-1">
            <a:extLst xmlns:a="http://schemas.openxmlformats.org/drawingml/2006/main">
              <a:ext uri="{FF2B5EF4-FFF2-40B4-BE49-F238E27FC236}">
                <a16:creationId xmlns:a16="http://schemas.microsoft.com/office/drawing/2014/main" id="{404B7313-C00F-4D29-A5FA-939F36A1526B}"/>
              </a:ext>
            </a:extLst>
          </p:cNvPr>
          <p:cNvSpPr>
            <a:spLocks xmlns:a="http://schemas.openxmlformats.org/drawingml/2006/main" noGrp="1"/>
          </p:cNvSpPr>
          <p:nvPr/>
        </p:nvSpPr>
        <p:spPr>
          <a:xfrm xmlns:a="http://schemas.openxmlformats.org/drawingml/2006/main">
            <a:off x="3127248"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59616A"/>
                </a:solidFill>
                <a:latin typeface="Noto Sans Mono CJK KR"/>
                <a:ea typeface="Noto Sans Mono CJK KR"/>
                <a:cs typeface="Noto Sans Mono CJK KR"/>
              </a:rPr>
              <a:t>바이트</a:t>
            </a:r>
            <a:endParaRPr sz="1100"/>
          </a:p>
        </p:txBody>
      </p:sp>
      <p:sp>
        <p:nvSpPr>
          <p:cNvPr id="16" name="STC-21-tx-node-1">
            <a:extLst xmlns:a="http://schemas.openxmlformats.org/drawingml/2006/main">
              <a:ext uri="{FF2B5EF4-FFF2-40B4-BE49-F238E27FC236}">
                <a16:creationId xmlns:a16="http://schemas.microsoft.com/office/drawing/2014/main" id="{7DFAFD63-2A6A-400B-AD95-61F6E85244B4}"/>
              </a:ext>
            </a:extLst>
          </p:cNvPr>
          <p:cNvSpPr>
            <a:spLocks xmlns:a="http://schemas.openxmlformats.org/drawingml/2006/main" noGrp="1"/>
          </p:cNvSpPr>
          <p:nvPr/>
        </p:nvSpPr>
        <p:spPr>
          <a:xfrm xmlns:a="http://schemas.openxmlformats.org/drawingml/2006/main">
            <a:off x="3127248" y="2084832"/>
            <a:ext cx="1417320" cy="1078992"/>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17" name="STC-21-tx-body-1">
            <a:extLst xmlns:a="http://schemas.openxmlformats.org/drawingml/2006/main">
              <a:ext uri="{FF2B5EF4-FFF2-40B4-BE49-F238E27FC236}">
                <a16:creationId xmlns:a16="http://schemas.microsoft.com/office/drawing/2014/main" id="{F8BA9679-919C-4358-AAF3-27439FE7E417}"/>
              </a:ext>
            </a:extLst>
          </p:cNvPr>
          <p:cNvSpPr>
            <a:spLocks xmlns:a="http://schemas.openxmlformats.org/drawingml/2006/main" noGrp="1"/>
          </p:cNvSpPr>
          <p:nvPr/>
        </p:nvSpPr>
        <p:spPr>
          <a:xfrm xmlns:a="http://schemas.openxmlformats.org/drawingml/2006/main">
            <a:off x="3236976"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50" b="1">
                <a:solidFill>
                  <a:srgbClr val="17191C"/>
                </a:solidFill>
                <a:latin typeface="Noto Sans CJK KR"/>
                <a:ea typeface="Noto Sans CJK KR"/>
                <a:cs typeface="Noto Sans CJK KR"/>
              </a:rPr>
              <a:t>웜</a:t>
            </a:r>
            <a:endParaRPr sz="1550"/>
          </a:p>
          <a:p xmlns:a="http://schemas.openxmlformats.org/drawingml/2006/main">
            <a:pPr marL="0" indent="0" algn="ctr">
              <a:buNone/>
            </a:pPr>
            <a:r>
              <a:rPr sz="1550" b="1">
                <a:solidFill>
                  <a:srgbClr val="17191C"/>
                </a:solidFill>
                <a:latin typeface="Noto Sans CJK KR"/>
                <a:ea typeface="Noto Sans CJK KR"/>
                <a:cs typeface="Noto Sans CJK KR"/>
              </a:rPr>
              <a:t>스토리지 절대</a:t>
            </a:r>
            <a:endParaRPr sz="1550"/>
          </a:p>
        </p:txBody>
      </p:sp>
      <p:sp>
        <p:nvSpPr>
          <p:cNvPr id="18" name="STC-21-tx-arrow-1">
            <a:extLst xmlns:a="http://schemas.openxmlformats.org/drawingml/2006/main">
              <a:ext uri="{FF2B5EF4-FFF2-40B4-BE49-F238E27FC236}">
                <a16:creationId xmlns:a16="http://schemas.microsoft.com/office/drawing/2014/main" id="{8FF9AF62-92FB-4B27-B05B-E439FC524C80}"/>
              </a:ext>
            </a:extLst>
          </p:cNvPr>
          <p:cNvSpPr>
            <a:spLocks xmlns:a="http://schemas.openxmlformats.org/drawingml/2006/main" noGrp="1"/>
          </p:cNvSpPr>
          <p:nvPr/>
        </p:nvSpPr>
        <p:spPr>
          <a:xfrm xmlns:a="http://schemas.openxmlformats.org/drawingml/2006/main">
            <a:off x="4608576" y="2615184"/>
            <a:ext cx="749808"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9" name="STC-21-tx-tag-2">
            <a:extLst xmlns:a="http://schemas.openxmlformats.org/drawingml/2006/main">
              <a:ext uri="{FF2B5EF4-FFF2-40B4-BE49-F238E27FC236}">
                <a16:creationId xmlns:a16="http://schemas.microsoft.com/office/drawing/2014/main" id="{DEB7B59F-ADAD-468C-A230-15D1996782BC}"/>
              </a:ext>
            </a:extLst>
          </p:cNvPr>
          <p:cNvSpPr>
            <a:spLocks xmlns:a="http://schemas.openxmlformats.org/drawingml/2006/main" noGrp="1"/>
          </p:cNvSpPr>
          <p:nvPr/>
        </p:nvSpPr>
        <p:spPr>
          <a:xfrm xmlns:a="http://schemas.openxmlformats.org/drawingml/2006/main">
            <a:off x="5449824"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토큰</a:t>
            </a:r>
            <a:endParaRPr sz="1100"/>
          </a:p>
        </p:txBody>
      </p:sp>
      <p:sp>
        <p:nvSpPr>
          <p:cNvPr id="20" name="STC-21-tx-node-2">
            <a:extLst xmlns:a="http://schemas.openxmlformats.org/drawingml/2006/main">
              <a:ext uri="{FF2B5EF4-FFF2-40B4-BE49-F238E27FC236}">
                <a16:creationId xmlns:a16="http://schemas.microsoft.com/office/drawing/2014/main" id="{CC1983C5-B1FB-4342-8507-E5E9BD1F53CD}"/>
              </a:ext>
            </a:extLst>
          </p:cNvPr>
          <p:cNvSpPr>
            <a:spLocks xmlns:a="http://schemas.openxmlformats.org/drawingml/2006/main" noGrp="1"/>
          </p:cNvSpPr>
          <p:nvPr/>
        </p:nvSpPr>
        <p:spPr>
          <a:xfrm xmlns:a="http://schemas.openxmlformats.org/drawingml/2006/main">
            <a:off x="5449824" y="2084832"/>
            <a:ext cx="1417320" cy="1078992"/>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21-tx-body-2">
            <a:extLst xmlns:a="http://schemas.openxmlformats.org/drawingml/2006/main">
              <a:ext uri="{FF2B5EF4-FFF2-40B4-BE49-F238E27FC236}">
                <a16:creationId xmlns:a16="http://schemas.microsoft.com/office/drawing/2014/main" id="{7BE056EE-C08A-4D3E-B2E5-A3C85198E381}"/>
              </a:ext>
            </a:extLst>
          </p:cNvPr>
          <p:cNvSpPr>
            <a:spLocks xmlns:a="http://schemas.openxmlformats.org/drawingml/2006/main" noGrp="1"/>
          </p:cNvSpPr>
          <p:nvPr/>
        </p:nvSpPr>
        <p:spPr>
          <a:xfrm xmlns:a="http://schemas.openxmlformats.org/drawingml/2006/main">
            <a:off x="5559552"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50" b="1">
                <a:solidFill>
                  <a:srgbClr val="17191C"/>
                </a:solidFill>
                <a:latin typeface="Noto Sans CJK KR"/>
                <a:ea typeface="Noto Sans CJK KR"/>
                <a:cs typeface="Noto Sans CJK KR"/>
              </a:rPr>
              <a:t>상각</a:t>
            </a:r>
            <a:endParaRPr sz="1550"/>
          </a:p>
          <a:p xmlns:a="http://schemas.openxmlformats.org/drawingml/2006/main">
            <a:pPr marL="0" indent="0" algn="ctr">
              <a:buNone/>
            </a:pPr>
            <a:r>
              <a:rPr sz="1550" b="1">
                <a:solidFill>
                  <a:srgbClr val="17191C"/>
                </a:solidFill>
                <a:latin typeface="Noto Sans CJK KR"/>
                <a:ea typeface="Noto Sans CJK KR"/>
                <a:cs typeface="Noto Sans CJK KR"/>
              </a:rPr>
              <a:t>임계 절대</a:t>
            </a:r>
            <a:endParaRPr sz="1550"/>
          </a:p>
        </p:txBody>
      </p:sp>
      <p:sp>
        <p:nvSpPr>
          <p:cNvPr id="22" name="STC-21-tx-arrow-2">
            <a:extLst xmlns:a="http://schemas.openxmlformats.org/drawingml/2006/main">
              <a:ext uri="{FF2B5EF4-FFF2-40B4-BE49-F238E27FC236}">
                <a16:creationId xmlns:a16="http://schemas.microsoft.com/office/drawing/2014/main" id="{D272B464-9913-4524-832C-F33C0DD693E5}"/>
              </a:ext>
            </a:extLst>
          </p:cNvPr>
          <p:cNvSpPr>
            <a:spLocks xmlns:a="http://schemas.openxmlformats.org/drawingml/2006/main" noGrp="1"/>
          </p:cNvSpPr>
          <p:nvPr/>
        </p:nvSpPr>
        <p:spPr>
          <a:xfrm xmlns:a="http://schemas.openxmlformats.org/drawingml/2006/main">
            <a:off x="6931152" y="2615184"/>
            <a:ext cx="749808"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23" name="STC-21-tx-tag-3">
            <a:extLst xmlns:a="http://schemas.openxmlformats.org/drawingml/2006/main">
              <a:ext uri="{FF2B5EF4-FFF2-40B4-BE49-F238E27FC236}">
                <a16:creationId xmlns:a16="http://schemas.microsoft.com/office/drawing/2014/main" id="{C1F54617-09E9-4FEC-BA52-DB7D26800FFD}"/>
              </a:ext>
            </a:extLst>
          </p:cNvPr>
          <p:cNvSpPr>
            <a:spLocks xmlns:a="http://schemas.openxmlformats.org/drawingml/2006/main" noGrp="1"/>
          </p:cNvSpPr>
          <p:nvPr/>
        </p:nvSpPr>
        <p:spPr>
          <a:xfrm xmlns:a="http://schemas.openxmlformats.org/drawingml/2006/main">
            <a:off x="7772400"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라운드</a:t>
            </a:r>
            <a:endParaRPr sz="1100"/>
          </a:p>
        </p:txBody>
      </p:sp>
      <p:sp>
        <p:nvSpPr>
          <p:cNvPr id="24" name="STC-21-tx-node-3">
            <a:extLst xmlns:a="http://schemas.openxmlformats.org/drawingml/2006/main">
              <a:ext uri="{FF2B5EF4-FFF2-40B4-BE49-F238E27FC236}">
                <a16:creationId xmlns:a16="http://schemas.microsoft.com/office/drawing/2014/main" id="{5205FABA-9309-4D1E-B735-69D21F63ACA0}"/>
              </a:ext>
            </a:extLst>
          </p:cNvPr>
          <p:cNvSpPr>
            <a:spLocks xmlns:a="http://schemas.openxmlformats.org/drawingml/2006/main" noGrp="1"/>
          </p:cNvSpPr>
          <p:nvPr/>
        </p:nvSpPr>
        <p:spPr>
          <a:xfrm xmlns:a="http://schemas.openxmlformats.org/drawingml/2006/main">
            <a:off x="7772400" y="2084832"/>
            <a:ext cx="1417320" cy="1078992"/>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25" name="STC-21-tx-body-3">
            <a:extLst xmlns:a="http://schemas.openxmlformats.org/drawingml/2006/main">
              <a:ext uri="{FF2B5EF4-FFF2-40B4-BE49-F238E27FC236}">
                <a16:creationId xmlns:a16="http://schemas.microsoft.com/office/drawing/2014/main" id="{4CEBAF60-4A96-421B-AB1C-4EFE7E60FC3B}"/>
              </a:ext>
            </a:extLst>
          </p:cNvPr>
          <p:cNvSpPr>
            <a:spLocks xmlns:a="http://schemas.openxmlformats.org/drawingml/2006/main" noGrp="1"/>
          </p:cNvSpPr>
          <p:nvPr/>
        </p:nvSpPr>
        <p:spPr>
          <a:xfrm xmlns:a="http://schemas.openxmlformats.org/drawingml/2006/main">
            <a:off x="7882128"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50" b="1">
                <a:solidFill>
                  <a:srgbClr val="17191C"/>
                </a:solidFill>
                <a:latin typeface="Noto Sans CJK KR"/>
                <a:ea typeface="Noto Sans CJK KR"/>
                <a:cs typeface="Noto Sans CJK KR"/>
              </a:rPr>
              <a:t>열화</a:t>
            </a:r>
            <a:endParaRPr sz="1550"/>
          </a:p>
          <a:p xmlns:a="http://schemas.openxmlformats.org/drawingml/2006/main">
            <a:pPr marL="0" indent="0" algn="ctr">
              <a:buNone/>
            </a:pPr>
            <a:r>
              <a:rPr sz="1550" b="1">
                <a:solidFill>
                  <a:srgbClr val="17191C"/>
                </a:solidFill>
                <a:latin typeface="Noto Sans CJK KR"/>
                <a:ea typeface="Noto Sans CJK KR"/>
                <a:cs typeface="Noto Sans CJK KR"/>
              </a:rPr>
              <a:t>pp와 K*</a:t>
            </a:r>
            <a:endParaRPr sz="1550"/>
          </a:p>
        </p:txBody>
      </p:sp>
      <p:sp>
        <p:nvSpPr>
          <p:cNvPr id="26" name="STC-21-tx-arrow-3">
            <a:extLst xmlns:a="http://schemas.openxmlformats.org/drawingml/2006/main">
              <a:ext uri="{FF2B5EF4-FFF2-40B4-BE49-F238E27FC236}">
                <a16:creationId xmlns:a16="http://schemas.microsoft.com/office/drawing/2014/main" id="{7B34D62B-E2F2-4A17-8604-CA2DCE342B6E}"/>
              </a:ext>
            </a:extLst>
          </p:cNvPr>
          <p:cNvSpPr>
            <a:spLocks xmlns:a="http://schemas.openxmlformats.org/drawingml/2006/main" noGrp="1"/>
          </p:cNvSpPr>
          <p:nvPr/>
        </p:nvSpPr>
        <p:spPr>
          <a:xfrm xmlns:a="http://schemas.openxmlformats.org/drawingml/2006/main">
            <a:off x="9253728" y="2615184"/>
            <a:ext cx="749808"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27" name="STC-21-tx-tag-4">
            <a:extLst xmlns:a="http://schemas.openxmlformats.org/drawingml/2006/main">
              <a:ext uri="{FF2B5EF4-FFF2-40B4-BE49-F238E27FC236}">
                <a16:creationId xmlns:a16="http://schemas.microsoft.com/office/drawing/2014/main" id="{42476528-B1DE-4070-A3CB-36583B42833C}"/>
              </a:ext>
            </a:extLst>
          </p:cNvPr>
          <p:cNvSpPr>
            <a:spLocks xmlns:a="http://schemas.openxmlformats.org/drawingml/2006/main" noGrp="1"/>
          </p:cNvSpPr>
          <p:nvPr/>
        </p:nvSpPr>
        <p:spPr>
          <a:xfrm xmlns:a="http://schemas.openxmlformats.org/drawingml/2006/main">
            <a:off x="10094976"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17191C"/>
                </a:solidFill>
                <a:latin typeface="Noto Sans Mono CJK KR"/>
                <a:ea typeface="Noto Sans Mono CJK KR"/>
                <a:cs typeface="Noto Sans Mono CJK KR"/>
              </a:rPr>
              <a:t>이유</a:t>
            </a:r>
            <a:endParaRPr sz="1100"/>
          </a:p>
        </p:txBody>
      </p:sp>
      <p:sp>
        <p:nvSpPr>
          <p:cNvPr id="28" name="STC-21-tx-node-4">
            <a:extLst xmlns:a="http://schemas.openxmlformats.org/drawingml/2006/main">
              <a:ext uri="{FF2B5EF4-FFF2-40B4-BE49-F238E27FC236}">
                <a16:creationId xmlns:a16="http://schemas.microsoft.com/office/drawing/2014/main" id="{A4F01ABE-5242-4A17-A30A-6B279F1E7991}"/>
              </a:ext>
            </a:extLst>
          </p:cNvPr>
          <p:cNvSpPr>
            <a:spLocks xmlns:a="http://schemas.openxmlformats.org/drawingml/2006/main" noGrp="1"/>
          </p:cNvSpPr>
          <p:nvPr/>
        </p:nvSpPr>
        <p:spPr>
          <a:xfrm xmlns:a="http://schemas.openxmlformats.org/drawingml/2006/main">
            <a:off x="10094976" y="2084832"/>
            <a:ext cx="1417320" cy="107899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9" name="STC-21-tx-body-4">
            <a:extLst xmlns:a="http://schemas.openxmlformats.org/drawingml/2006/main">
              <a:ext uri="{FF2B5EF4-FFF2-40B4-BE49-F238E27FC236}">
                <a16:creationId xmlns:a16="http://schemas.microsoft.com/office/drawing/2014/main" id="{3DBD0041-3D66-45D1-8D69-0DCBD9DC23B2}"/>
              </a:ext>
            </a:extLst>
          </p:cNvPr>
          <p:cNvSpPr>
            <a:spLocks xmlns:a="http://schemas.openxmlformats.org/drawingml/2006/main" noGrp="1"/>
          </p:cNvSpPr>
          <p:nvPr/>
        </p:nvSpPr>
        <p:spPr>
          <a:xfrm xmlns:a="http://schemas.openxmlformats.org/drawingml/2006/main">
            <a:off x="10204704"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50" b="1">
                <a:solidFill>
                  <a:srgbClr val="FFFFFF"/>
                </a:solidFill>
                <a:latin typeface="Noto Sans CJK KR"/>
                <a:ea typeface="Noto Sans CJK KR"/>
                <a:cs typeface="Noto Sans CJK KR"/>
              </a:rPr>
              <a:t>표본·가정·모형</a:t>
            </a:r>
            <a:endParaRPr sz="1550"/>
          </a:p>
          <a:p xmlns:a="http://schemas.openxmlformats.org/drawingml/2006/main">
            <a:pPr marL="0" indent="0" algn="ctr">
              <a:buNone/>
            </a:pPr>
            <a:r>
              <a:rPr sz="1550" b="1">
                <a:solidFill>
                  <a:srgbClr val="FFFFFF"/>
                </a:solidFill>
                <a:latin typeface="Noto Sans CJK KR"/>
                <a:ea typeface="Noto Sans CJK KR"/>
                <a:cs typeface="Noto Sans CJK KR"/>
              </a:rPr>
              <a:t>MANIFEST</a:t>
            </a:r>
            <a:endParaRPr sz="1550"/>
          </a:p>
        </p:txBody>
      </p:sp>
      <p:sp>
        <p:nvSpPr>
          <p:cNvPr id="30" name="STC-21-tx-reject">
            <a:extLst xmlns:a="http://schemas.openxmlformats.org/drawingml/2006/main">
              <a:ext uri="{FF2B5EF4-FFF2-40B4-BE49-F238E27FC236}">
                <a16:creationId xmlns:a16="http://schemas.microsoft.com/office/drawing/2014/main" id="{0678AAE5-7BE6-48F0-9FBD-E39E3F6ACC79}"/>
              </a:ext>
            </a:extLst>
          </p:cNvPr>
          <p:cNvSpPr>
            <a:spLocks xmlns:a="http://schemas.openxmlformats.org/drawingml/2006/main" noGrp="1"/>
          </p:cNvSpPr>
          <p:nvPr/>
        </p:nvSpPr>
        <p:spPr>
          <a:xfrm xmlns:a="http://schemas.openxmlformats.org/drawingml/2006/main" flipH="1" flipV="0">
            <a:off x="5074920" y="3264408"/>
            <a:ext cx="3108960" cy="1124712"/>
          </a:xfrm>
          <a:prstGeom xmlns:a="http://schemas.openxmlformats.org/drawingml/2006/main" prst="line">
            <a:avLst/>
          </a:prstGeom>
          <a:noFill xmlns:a="http://schemas.openxmlformats.org/drawingml/2006/main"/>
          <a:ln xmlns:a="http://schemas.openxmlformats.org/drawingml/2006/main" w="17780">
            <a:solidFill>
              <a:srgbClr val="9A442D"/>
            </a:solidFill>
            <a:prstDash val="solid"/>
            <a:tailEnd type="triangle"/>
          </a:ln>
        </p:spPr>
      </p:sp>
      <p:sp>
        <p:nvSpPr>
          <p:cNvPr id="31" name="STC-21-tx-reject-label">
            <a:extLst xmlns:a="http://schemas.openxmlformats.org/drawingml/2006/main">
              <a:ext uri="{FF2B5EF4-FFF2-40B4-BE49-F238E27FC236}">
                <a16:creationId xmlns:a16="http://schemas.microsoft.com/office/drawing/2014/main" id="{7B04337F-AFB0-490A-926B-0796C30487B5}"/>
              </a:ext>
            </a:extLst>
          </p:cNvPr>
          <p:cNvSpPr>
            <a:spLocks xmlns:a="http://schemas.openxmlformats.org/drawingml/2006/main" noGrp="1"/>
          </p:cNvSpPr>
          <p:nvPr/>
        </p:nvSpPr>
        <p:spPr>
          <a:xfrm xmlns:a="http://schemas.openxmlformats.org/drawingml/2006/main">
            <a:off x="5047488" y="4480560"/>
            <a:ext cx="21031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비율</a:t>
            </a:r>
            <a:endParaRPr sz="1050"/>
          </a:p>
        </p:txBody>
      </p:sp>
      <p:sp>
        <p:nvSpPr>
          <p:cNvPr id="32" name="STC-21-tx-invariants">
            <a:extLst xmlns:a="http://schemas.openxmlformats.org/drawingml/2006/main">
              <a:ext uri="{FF2B5EF4-FFF2-40B4-BE49-F238E27FC236}">
                <a16:creationId xmlns:a16="http://schemas.microsoft.com/office/drawing/2014/main" id="{7F4A737E-D286-4BFA-BE0B-5DD5A6D248C8}"/>
              </a:ext>
            </a:extLst>
          </p:cNvPr>
          <p:cNvSpPr>
            <a:spLocks xmlns:a="http://schemas.openxmlformats.org/drawingml/2006/main" noGrp="1"/>
          </p:cNvSpPr>
          <p:nvPr/>
        </p:nvSpPr>
        <p:spPr>
          <a:xfrm xmlns:a="http://schemas.openxmlformats.org/drawingml/2006/main">
            <a:off x="1353312" y="4919472"/>
            <a:ext cx="9372600" cy="69494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33" name="STC-21-tx-invariants-text">
            <a:extLst xmlns:a="http://schemas.openxmlformats.org/drawingml/2006/main">
              <a:ext uri="{FF2B5EF4-FFF2-40B4-BE49-F238E27FC236}">
                <a16:creationId xmlns:a16="http://schemas.microsoft.com/office/drawing/2014/main" id="{D8913978-F4E0-4671-BF3B-EB53BDBED854}"/>
              </a:ext>
            </a:extLst>
          </p:cNvPr>
          <p:cNvSpPr>
            <a:spLocks xmlns:a="http://schemas.openxmlformats.org/drawingml/2006/main" noGrp="1"/>
          </p:cNvSpPr>
          <p:nvPr/>
        </p:nvSpPr>
        <p:spPr>
          <a:xfrm xmlns:a="http://schemas.openxmlformats.org/drawingml/2006/main">
            <a:off x="1645920" y="5148072"/>
            <a:ext cx="87965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17191C"/>
                </a:solidFill>
                <a:latin typeface="Noto Sans Mono CJK KR"/>
                <a:ea typeface="Noto Sans Mono CJK KR"/>
                <a:cs typeface="Noto Sans Mono CJK KR"/>
              </a:rPr>
              <a:t>비용 칸이 비어 있는 논문에 '효율적'이라고 쓰지 않는 규칙은 이 발표의 실험에도 똑같이 적용된다</a:t>
            </a:r>
            <a:endParaRPr sz="1200"/>
          </a:p>
        </p:txBody>
      </p:sp>
      <p:sp>
        <p:nvSpPr>
          <p:cNvPr id="34" name="STC-21-tx-bottom">
            <a:extLst xmlns:a="http://schemas.openxmlformats.org/drawingml/2006/main">
              <a:ext uri="{FF2B5EF4-FFF2-40B4-BE49-F238E27FC236}">
                <a16:creationId xmlns:a16="http://schemas.microsoft.com/office/drawing/2014/main" id="{D70E8476-0CFE-4413-9553-0E102D1AAD5E}"/>
              </a:ext>
            </a:extLst>
          </p:cNvPr>
          <p:cNvSpPr>
            <a:spLocks xmlns:a="http://schemas.openxmlformats.org/drawingml/2006/main" noGrp="1"/>
          </p:cNvSpPr>
          <p:nvPr/>
        </p:nvSpPr>
        <p:spPr>
          <a:xfrm xmlns:a="http://schemas.openxmlformats.org/drawingml/2006/main">
            <a:off x="1828800" y="5788152"/>
            <a:ext cx="85496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600">
                <a:solidFill>
                  <a:srgbClr val="2F6B63"/>
                </a:solidFill>
                <a:latin typeface="Noto Sans CJK KR"/>
                <a:ea typeface="Noto Sans CJK KR"/>
                <a:cs typeface="Noto Sans CJK KR"/>
              </a:rPr>
              <a:t>비용 칸이 비어 있는 논문에 '효율적'이라고 쓰지 않는 규칙은 이 발표의 실험에도 똑같이 적용된다</a:t>
            </a:r>
            <a:endParaRPr sz="1600"/>
          </a:p>
        </p:txBody>
      </p:sp>
    </p:spTree>
    <p:extLst>
      <p:ext uri="{BB962C8B-B14F-4D97-AF65-F5344CB8AC3E}">
        <p14:creationId xmlns:p14="http://schemas.microsoft.com/office/powerpoint/2010/main" val="1478967083"/>
      </p:ext>
    </p:extLst>
  </p:cSld>
</p:sld>
</file>

<file path=ppt/slides/slide80.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EXPERIMENTS</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STC-080</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X1 설계 — 논문의 비용모델을 열어 빠진 항을 되살린다</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회계(측정 아님)</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experiments/stc/X1 meta · study-kr-stc ch25 §25.2.3</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80</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단위</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sleep 토큰 = 1</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w_in</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0 · 0.25 · 1</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A1 유리</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sleep에 배수 없음</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A2 유리</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문맥 읽기 과소계상</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A4 중립</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정확도 동일 가정</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스윕</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논문에 없는 값 넷</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가정 둘을 판정 대상에게 유리한 쪽으로</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고정했다 — 결과가 가정 탓으로 나오지 않게</a:t>
            </a:r>
            <a:endParaRPr sz="1500"/>
          </a:p>
        </p:txBody>
      </p:sp>
    </p:spTree>
    <p:extLst>
      <p:ext uri="{BB962C8B-B14F-4D97-AF65-F5344CB8AC3E}">
        <p14:creationId xmlns:p14="http://schemas.microsoft.com/office/powerpoint/2010/main" val="931853972"/>
      </p:ext>
    </p:extLst>
  </p:cSld>
</p:sld>
</file>

<file path=ppt/slides/slide81.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6-section">
            <a:extLst xmlns:a="http://schemas.openxmlformats.org/drawingml/2006/main">
              <a:ext uri="{FF2B5EF4-FFF2-40B4-BE49-F238E27FC236}">
                <a16:creationId xmlns:a16="http://schemas.microsoft.com/office/drawing/2014/main" id="{1EAEABEC-DD0D-4D7C-AA45-BE33B2388F81}"/>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EXPERIMENTS</a:t>
            </a:r>
            <a:endParaRPr sz="950"/>
          </a:p>
        </p:txBody>
      </p:sp>
      <p:sp>
        <p:nvSpPr>
          <p:cNvPr id="3" name="STC-16-slide-id">
            <a:extLst xmlns:a="http://schemas.openxmlformats.org/drawingml/2006/main">
              <a:ext uri="{FF2B5EF4-FFF2-40B4-BE49-F238E27FC236}">
                <a16:creationId xmlns:a16="http://schemas.microsoft.com/office/drawing/2014/main" id="{148035CD-3605-4EDB-8925-9EAAD53CDD1E}"/>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STC-081</a:t>
            </a:r>
            <a:endParaRPr sz="950"/>
          </a:p>
        </p:txBody>
      </p:sp>
      <p:sp>
        <p:nvSpPr>
          <p:cNvPr id="4" name="STC-16-headline">
            <a:extLst xmlns:a="http://schemas.openxmlformats.org/drawingml/2006/main">
              <a:ext uri="{FF2B5EF4-FFF2-40B4-BE49-F238E27FC236}">
                <a16:creationId xmlns:a16="http://schemas.microsoft.com/office/drawing/2014/main" id="{31F39839-5A4F-4AB6-A314-6FCD6EBB293B}"/>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X1 파생량 ① — 임계 길이 L*</a:t>
            </a:r>
            <a:endParaRPr sz="3000"/>
          </a:p>
        </p:txBody>
      </p:sp>
      <p:sp>
        <p:nvSpPr>
          <p:cNvPr id="5" name="STC-16-status-label">
            <a:extLst xmlns:a="http://schemas.openxmlformats.org/drawingml/2006/main">
              <a:ext uri="{FF2B5EF4-FFF2-40B4-BE49-F238E27FC236}">
                <a16:creationId xmlns:a16="http://schemas.microsoft.com/office/drawing/2014/main" id="{85F97C6D-2152-4166-9EF2-FB1A30075CA5}"/>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본서 산술</a:t>
            </a:r>
            <a:endParaRPr sz="1000"/>
          </a:p>
        </p:txBody>
      </p:sp>
      <p:sp>
        <p:nvSpPr>
          <p:cNvPr id="6" name="STC-16-status-rule">
            <a:extLst xmlns:a="http://schemas.openxmlformats.org/drawingml/2006/main">
              <a:ext uri="{FF2B5EF4-FFF2-40B4-BE49-F238E27FC236}">
                <a16:creationId xmlns:a16="http://schemas.microsoft.com/office/drawing/2014/main" id="{92B0A0F6-E926-46D4-AABF-CD6F912C19B5}"/>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6-footer-rule">
            <a:extLst xmlns:a="http://schemas.openxmlformats.org/drawingml/2006/main">
              <a:ext uri="{FF2B5EF4-FFF2-40B4-BE49-F238E27FC236}">
                <a16:creationId xmlns:a16="http://schemas.microsoft.com/office/drawing/2014/main" id="{78479DB6-1C83-41B6-931F-D82AA487E2AF}"/>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6-source-footer">
            <a:extLst xmlns:a="http://schemas.openxmlformats.org/drawingml/2006/main">
              <a:ext uri="{FF2B5EF4-FFF2-40B4-BE49-F238E27FC236}">
                <a16:creationId xmlns:a16="http://schemas.microsoft.com/office/drawing/2014/main" id="{CCF7D512-F8C3-424D-AAC0-0F61432BB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ch25 §25.2.4 식 (25-2) [본서 산술]</a:t>
            </a:r>
            <a:endParaRPr sz="850"/>
          </a:p>
        </p:txBody>
      </p:sp>
      <p:sp>
        <p:nvSpPr>
          <p:cNvPr id="9" name="STC-16-page-number">
            <a:extLst xmlns:a="http://schemas.openxmlformats.org/drawingml/2006/main">
              <a:ext uri="{FF2B5EF4-FFF2-40B4-BE49-F238E27FC236}">
                <a16:creationId xmlns:a16="http://schemas.microsoft.com/office/drawing/2014/main" id="{CB3F831C-0E59-4B32-AF78-33BF4F5C4D2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81</a:t>
            </a:r>
            <a:endParaRPr sz="850"/>
          </a:p>
        </p:txBody>
      </p:sp>
      <p:sp>
        <p:nvSpPr>
          <p:cNvPr id="11" name="STC-16-nfr-stage-0">
            <a:extLst xmlns:a="http://schemas.openxmlformats.org/drawingml/2006/main">
              <a:ext uri="{FF2B5EF4-FFF2-40B4-BE49-F238E27FC236}">
                <a16:creationId xmlns:a16="http://schemas.microsoft.com/office/drawing/2014/main" id="{BD7BCBEA-7D7C-45F9-940D-B9D49D82B0A9}"/>
              </a:ext>
            </a:extLst>
          </p:cNvPr>
          <p:cNvSpPr>
            <a:spLocks xmlns:a="http://schemas.openxmlformats.org/drawingml/2006/main" noGrp="1"/>
          </p:cNvSpPr>
          <p:nvPr/>
        </p:nvSpPr>
        <p:spPr>
          <a:xfrm xmlns:a="http://schemas.openxmlformats.org/drawingml/2006/main">
            <a:off x="868680" y="2240280"/>
            <a:ext cx="1874520" cy="713232"/>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2" name="STC-16-nfr-label-0">
            <a:extLst xmlns:a="http://schemas.openxmlformats.org/drawingml/2006/main">
              <a:ext uri="{FF2B5EF4-FFF2-40B4-BE49-F238E27FC236}">
                <a16:creationId xmlns:a16="http://schemas.microsoft.com/office/drawing/2014/main" id="{C63A95E6-8E06-4CF9-97A4-DA00A0F19370}"/>
              </a:ext>
            </a:extLst>
          </p:cNvPr>
          <p:cNvSpPr>
            <a:spLocks xmlns:a="http://schemas.openxmlformats.org/drawingml/2006/main" noGrp="1"/>
          </p:cNvSpPr>
          <p:nvPr/>
        </p:nvSpPr>
        <p:spPr>
          <a:xfrm xmlns:a="http://schemas.openxmlformats.org/drawingml/2006/main">
            <a:off x="9784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44E8A"/>
                </a:solidFill>
                <a:latin typeface="Noto Sans Mono CJK KR"/>
                <a:ea typeface="Noto Sans Mono CJK KR"/>
                <a:cs typeface="Noto Sans Mono CJK KR"/>
              </a:rPr>
              <a:t>κ_cost</a:t>
            </a:r>
            <a:endParaRPr sz="1200"/>
          </a:p>
        </p:txBody>
      </p:sp>
      <p:sp>
        <p:nvSpPr>
          <p:cNvPr id="13" name="STC-16-nfr-arrow-0">
            <a:extLst xmlns:a="http://schemas.openxmlformats.org/drawingml/2006/main">
              <a:ext uri="{FF2B5EF4-FFF2-40B4-BE49-F238E27FC236}">
                <a16:creationId xmlns:a16="http://schemas.microsoft.com/office/drawing/2014/main" id="{93F6E238-5933-4840-8DE8-81F14BF46719}"/>
              </a:ext>
            </a:extLst>
          </p:cNvPr>
          <p:cNvSpPr>
            <a:spLocks xmlns:a="http://schemas.openxmlformats.org/drawingml/2006/main" noGrp="1"/>
          </p:cNvSpPr>
          <p:nvPr/>
        </p:nvSpPr>
        <p:spPr>
          <a:xfrm xmlns:a="http://schemas.openxmlformats.org/drawingml/2006/main">
            <a:off x="28437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4" name="STC-16-nfr-stage-1">
            <a:extLst xmlns:a="http://schemas.openxmlformats.org/drawingml/2006/main">
              <a:ext uri="{FF2B5EF4-FFF2-40B4-BE49-F238E27FC236}">
                <a16:creationId xmlns:a16="http://schemas.microsoft.com/office/drawing/2014/main" id="{6E375C46-F347-452D-B530-0C46A84896AE}"/>
              </a:ext>
            </a:extLst>
          </p:cNvPr>
          <p:cNvSpPr>
            <a:spLocks xmlns:a="http://schemas.openxmlformats.org/drawingml/2006/main" noGrp="1"/>
          </p:cNvSpPr>
          <p:nvPr/>
        </p:nvSpPr>
        <p:spPr>
          <a:xfrm xmlns:a="http://schemas.openxmlformats.org/drawingml/2006/main">
            <a:off x="2926080" y="2240280"/>
            <a:ext cx="1874520" cy="713232"/>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6-nfr-label-1">
            <a:extLst xmlns:a="http://schemas.openxmlformats.org/drawingml/2006/main">
              <a:ext uri="{FF2B5EF4-FFF2-40B4-BE49-F238E27FC236}">
                <a16:creationId xmlns:a16="http://schemas.microsoft.com/office/drawing/2014/main" id="{EE98E794-C92B-4BCD-9AA0-C007E2C3A901}"/>
              </a:ext>
            </a:extLst>
          </p:cNvPr>
          <p:cNvSpPr>
            <a:spLocks xmlns:a="http://schemas.openxmlformats.org/drawingml/2006/main" noGrp="1"/>
          </p:cNvSpPr>
          <p:nvPr/>
        </p:nvSpPr>
        <p:spPr>
          <a:xfrm xmlns:a="http://schemas.openxmlformats.org/drawingml/2006/main">
            <a:off x="30358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F6B63"/>
                </a:solidFill>
                <a:latin typeface="Noto Sans Mono CJK KR"/>
                <a:ea typeface="Noto Sans Mono CJK KR"/>
                <a:cs typeface="Noto Sans Mono CJK KR"/>
              </a:rPr>
              <a:t>ΔB_t</a:t>
            </a:r>
            <a:endParaRPr sz="1200"/>
          </a:p>
        </p:txBody>
      </p:sp>
      <p:sp>
        <p:nvSpPr>
          <p:cNvPr id="16" name="STC-16-nfr-arrow-1">
            <a:extLst xmlns:a="http://schemas.openxmlformats.org/drawingml/2006/main">
              <a:ext uri="{FF2B5EF4-FFF2-40B4-BE49-F238E27FC236}">
                <a16:creationId xmlns:a16="http://schemas.microsoft.com/office/drawing/2014/main" id="{9C699781-3533-4C0E-A37B-9441C305C79A}"/>
              </a:ext>
            </a:extLst>
          </p:cNvPr>
          <p:cNvSpPr>
            <a:spLocks xmlns:a="http://schemas.openxmlformats.org/drawingml/2006/main" noGrp="1"/>
          </p:cNvSpPr>
          <p:nvPr/>
        </p:nvSpPr>
        <p:spPr>
          <a:xfrm xmlns:a="http://schemas.openxmlformats.org/drawingml/2006/main">
            <a:off x="49011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7" name="STC-16-nfr-stage-2">
            <a:extLst xmlns:a="http://schemas.openxmlformats.org/drawingml/2006/main">
              <a:ext uri="{FF2B5EF4-FFF2-40B4-BE49-F238E27FC236}">
                <a16:creationId xmlns:a16="http://schemas.microsoft.com/office/drawing/2014/main" id="{F770F86E-4C00-4545-A7D5-B4D15AB17334}"/>
              </a:ext>
            </a:extLst>
          </p:cNvPr>
          <p:cNvSpPr>
            <a:spLocks xmlns:a="http://schemas.openxmlformats.org/drawingml/2006/main" noGrp="1"/>
          </p:cNvSpPr>
          <p:nvPr/>
        </p:nvSpPr>
        <p:spPr>
          <a:xfrm xmlns:a="http://schemas.openxmlformats.org/drawingml/2006/main">
            <a:off x="5532120" y="2240280"/>
            <a:ext cx="1874520" cy="713232"/>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8" name="STC-16-nfr-label-2">
            <a:extLst xmlns:a="http://schemas.openxmlformats.org/drawingml/2006/main">
              <a:ext uri="{FF2B5EF4-FFF2-40B4-BE49-F238E27FC236}">
                <a16:creationId xmlns:a16="http://schemas.microsoft.com/office/drawing/2014/main" id="{0CA58183-872F-423D-A5A2-DC11CA73C438}"/>
              </a:ext>
            </a:extLst>
          </p:cNvPr>
          <p:cNvSpPr>
            <a:spLocks xmlns:a="http://schemas.openxmlformats.org/drawingml/2006/main" noGrp="1"/>
          </p:cNvSpPr>
          <p:nvPr/>
        </p:nvSpPr>
        <p:spPr>
          <a:xfrm xmlns:a="http://schemas.openxmlformats.org/drawingml/2006/main">
            <a:off x="564184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9A442D"/>
                </a:solidFill>
                <a:latin typeface="Noto Sans Mono CJK KR"/>
                <a:ea typeface="Noto Sans Mono CJK KR"/>
                <a:cs typeface="Noto Sans Mono CJK KR"/>
              </a:rPr>
              <a:t>w_in</a:t>
            </a:r>
            <a:endParaRPr sz="1200"/>
          </a:p>
        </p:txBody>
      </p:sp>
      <p:sp>
        <p:nvSpPr>
          <p:cNvPr id="19" name="STC-16-nfr-arrow-2">
            <a:extLst xmlns:a="http://schemas.openxmlformats.org/drawingml/2006/main">
              <a:ext uri="{FF2B5EF4-FFF2-40B4-BE49-F238E27FC236}">
                <a16:creationId xmlns:a16="http://schemas.microsoft.com/office/drawing/2014/main" id="{05297B78-DEE0-4182-9A5E-3E5A7CD7F4DA}"/>
              </a:ext>
            </a:extLst>
          </p:cNvPr>
          <p:cNvSpPr>
            <a:spLocks xmlns:a="http://schemas.openxmlformats.org/drawingml/2006/main" noGrp="1"/>
          </p:cNvSpPr>
          <p:nvPr/>
        </p:nvSpPr>
        <p:spPr>
          <a:xfrm xmlns:a="http://schemas.openxmlformats.org/drawingml/2006/main">
            <a:off x="750722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20" name="STC-16-nfr-stage-3">
            <a:extLst xmlns:a="http://schemas.openxmlformats.org/drawingml/2006/main">
              <a:ext uri="{FF2B5EF4-FFF2-40B4-BE49-F238E27FC236}">
                <a16:creationId xmlns:a16="http://schemas.microsoft.com/office/drawing/2014/main" id="{39A20466-7E4D-40E4-A7D7-42F469ECC895}"/>
              </a:ext>
            </a:extLst>
          </p:cNvPr>
          <p:cNvSpPr>
            <a:spLocks xmlns:a="http://schemas.openxmlformats.org/drawingml/2006/main" noGrp="1"/>
          </p:cNvSpPr>
          <p:nvPr/>
        </p:nvSpPr>
        <p:spPr>
          <a:xfrm xmlns:a="http://schemas.openxmlformats.org/drawingml/2006/main">
            <a:off x="8366760" y="2240280"/>
            <a:ext cx="1874520" cy="71323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16-nfr-label-3">
            <a:extLst xmlns:a="http://schemas.openxmlformats.org/drawingml/2006/main">
              <a:ext uri="{FF2B5EF4-FFF2-40B4-BE49-F238E27FC236}">
                <a16:creationId xmlns:a16="http://schemas.microsoft.com/office/drawing/2014/main" id="{C3585ECC-6437-4548-BCD2-77F576045CDC}"/>
              </a:ext>
            </a:extLst>
          </p:cNvPr>
          <p:cNvSpPr>
            <a:spLocks xmlns:a="http://schemas.openxmlformats.org/drawingml/2006/main" noGrp="1"/>
          </p:cNvSpPr>
          <p:nvPr/>
        </p:nvSpPr>
        <p:spPr>
          <a:xfrm xmlns:a="http://schemas.openxmlformats.org/drawingml/2006/main">
            <a:off x="847648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Noto Sans Mono CJK KR"/>
                <a:ea typeface="Noto Sans Mono CJK KR"/>
                <a:cs typeface="Noto Sans Mono CJK KR"/>
              </a:rPr>
              <a:t>κ_∥ 병렬</a:t>
            </a:r>
            <a:endParaRPr sz="1200"/>
          </a:p>
        </p:txBody>
      </p:sp>
      <p:sp>
        <p:nvSpPr>
          <p:cNvPr id="22" name="STC-16-nfr-equation">
            <a:extLst xmlns:a="http://schemas.openxmlformats.org/drawingml/2006/main">
              <a:ext uri="{FF2B5EF4-FFF2-40B4-BE49-F238E27FC236}">
                <a16:creationId xmlns:a16="http://schemas.microsoft.com/office/drawing/2014/main" id="{BE0CB8F9-6DA2-4314-B150-9934237AD497}"/>
              </a:ext>
            </a:extLst>
          </p:cNvPr>
          <p:cNvSpPr>
            <a:spLocks xmlns:a="http://schemas.openxmlformats.org/drawingml/2006/main" noGrp="1"/>
          </p:cNvSpPr>
          <p:nvPr/>
        </p:nvSpPr>
        <p:spPr>
          <a:xfrm xmlns:a="http://schemas.openxmlformats.org/drawingml/2006/main">
            <a:off x="2898648" y="3310128"/>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L*=κΔB/(w·κ∥)</a:t>
            </a:r>
            <a:endParaRPr sz="2300"/>
          </a:p>
        </p:txBody>
      </p:sp>
      <p:sp>
        <p:nvSpPr>
          <p:cNvPr id="23" name="STC-16-nfr-result">
            <a:extLst xmlns:a="http://schemas.openxmlformats.org/drawingml/2006/main">
              <a:ext uri="{FF2B5EF4-FFF2-40B4-BE49-F238E27FC236}">
                <a16:creationId xmlns:a16="http://schemas.microsoft.com/office/drawing/2014/main" id="{C4A2FE2B-A37D-47CC-9BE0-490EB409D23D}"/>
              </a:ext>
            </a:extLst>
          </p:cNvPr>
          <p:cNvSpPr>
            <a:spLocks xmlns:a="http://schemas.openxmlformats.org/drawingml/2006/main" noGrp="1"/>
          </p:cNvSpPr>
          <p:nvPr/>
        </p:nvSpPr>
        <p:spPr>
          <a:xfrm xmlns:a="http://schemas.openxmlformats.org/drawingml/2006/main">
            <a:off x="5669280" y="3310128"/>
            <a:ext cx="22402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wake 배수</a:t>
            </a:r>
            <a:endParaRPr sz="2300"/>
          </a:p>
        </p:txBody>
      </p:sp>
      <p:sp>
        <p:nvSpPr>
          <p:cNvPr id="24" name="STC-16-nfr-result-arrow">
            <a:extLst xmlns:a="http://schemas.openxmlformats.org/drawingml/2006/main">
              <a:ext uri="{FF2B5EF4-FFF2-40B4-BE49-F238E27FC236}">
                <a16:creationId xmlns:a16="http://schemas.microsoft.com/office/drawing/2014/main" id="{1E4EFA29-21C2-4F8C-B607-F96D778A8A44}"/>
              </a:ext>
            </a:extLst>
          </p:cNvPr>
          <p:cNvSpPr>
            <a:spLocks xmlns:a="http://schemas.openxmlformats.org/drawingml/2006/main" noGrp="1"/>
          </p:cNvSpPr>
          <p:nvPr/>
        </p:nvSpPr>
        <p:spPr>
          <a:xfrm xmlns:a="http://schemas.openxmlformats.org/drawingml/2006/main">
            <a:off x="4937760" y="3493008"/>
            <a:ext cx="658368" cy="0"/>
          </a:xfrm>
          <a:prstGeom xmlns:a="http://schemas.openxmlformats.org/drawingml/2006/main" prst="line">
            <a:avLst/>
          </a:prstGeom>
          <a:noFill xmlns:a="http://schemas.openxmlformats.org/drawingml/2006/main"/>
          <a:ln xmlns:a="http://schemas.openxmlformats.org/drawingml/2006/main" w="19050">
            <a:solidFill>
              <a:srgbClr val="9A442D"/>
            </a:solidFill>
            <a:prstDash val="solid"/>
            <a:tailEnd type="triangle"/>
          </a:ln>
        </p:spPr>
      </p:sp>
      <p:sp>
        <p:nvSpPr>
          <p:cNvPr id="25" name="STC-16-nfr-carriers">
            <a:extLst xmlns:a="http://schemas.openxmlformats.org/drawingml/2006/main">
              <a:ext uri="{FF2B5EF4-FFF2-40B4-BE49-F238E27FC236}">
                <a16:creationId xmlns:a16="http://schemas.microsoft.com/office/drawing/2014/main" id="{2D5BB60A-9D8E-40F6-B3BC-8D23ECC75064}"/>
              </a:ext>
            </a:extLst>
          </p:cNvPr>
          <p:cNvSpPr>
            <a:spLocks xmlns:a="http://schemas.openxmlformats.org/drawingml/2006/main" noGrp="1"/>
          </p:cNvSpPr>
          <p:nvPr/>
        </p:nvSpPr>
        <p:spPr>
          <a:xfrm xmlns:a="http://schemas.openxmlformats.org/drawingml/2006/main">
            <a:off x="1143000" y="4261104"/>
            <a:ext cx="9838944" cy="10607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26" name="STC-16-nfr-carriers-label">
            <a:extLst xmlns:a="http://schemas.openxmlformats.org/drawingml/2006/main">
              <a:ext uri="{FF2B5EF4-FFF2-40B4-BE49-F238E27FC236}">
                <a16:creationId xmlns:a16="http://schemas.microsoft.com/office/drawing/2014/main" id="{5C382C2E-7982-40CC-9D71-4AFD2B2B295F}"/>
              </a:ext>
            </a:extLst>
          </p:cNvPr>
          <p:cNvSpPr>
            <a:spLocks xmlns:a="http://schemas.openxmlformats.org/drawingml/2006/main" noGrp="1"/>
          </p:cNvSpPr>
          <p:nvPr/>
        </p:nvSpPr>
        <p:spPr>
          <a:xfrm xmlns:a="http://schemas.openxmlformats.org/drawingml/2006/main">
            <a:off x="1389888" y="4526280"/>
            <a:ext cx="1234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2F6B63"/>
                </a:solidFill>
                <a:latin typeface="Noto Sans CJK KR"/>
                <a:ea typeface="Noto Sans CJK KR"/>
                <a:cs typeface="Noto Sans CJK KR"/>
              </a:rPr>
              <a:t>κ_cost</a:t>
            </a:r>
            <a:endParaRPr sz="1700"/>
          </a:p>
        </p:txBody>
      </p:sp>
      <p:sp>
        <p:nvSpPr>
          <p:cNvPr id="27" name="STC-16-nfr-carriers-text">
            <a:extLst xmlns:a="http://schemas.openxmlformats.org/drawingml/2006/main">
              <a:ext uri="{FF2B5EF4-FFF2-40B4-BE49-F238E27FC236}">
                <a16:creationId xmlns:a16="http://schemas.microsoft.com/office/drawing/2014/main" id="{5AA006B0-54B0-4040-95FB-9C38FC9F5627}"/>
              </a:ext>
            </a:extLst>
          </p:cNvPr>
          <p:cNvSpPr>
            <a:spLocks xmlns:a="http://schemas.openxmlformats.org/drawingml/2006/main" noGrp="1"/>
          </p:cNvSpPr>
          <p:nvPr/>
        </p:nvSpPr>
        <p:spPr>
          <a:xfrm xmlns:a="http://schemas.openxmlformats.org/drawingml/2006/main">
            <a:off x="2788920" y="4434840"/>
            <a:ext cx="7818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50" b="1">
                <a:solidFill>
                  <a:srgbClr val="17191C"/>
                </a:solidFill>
                <a:latin typeface="Noto Sans CJK KR"/>
                <a:ea typeface="Noto Sans CJK KR"/>
                <a:cs typeface="Noto Sans CJK KR"/>
              </a:rPr>
              <a:t>|ĉ|가 L*를 넘으면 N_q를 아무리 키워도 baseline을 이길 수 없다. w_in=0이면 L*=∞이다</a:t>
            </a:r>
            <a:endParaRPr sz="1750"/>
          </a:p>
        </p:txBody>
      </p:sp>
      <p:sp>
        <p:nvSpPr>
          <p:cNvPr id="28" name="STC-16-nfr-carriers-note">
            <a:extLst xmlns:a="http://schemas.openxmlformats.org/drawingml/2006/main">
              <a:ext uri="{FF2B5EF4-FFF2-40B4-BE49-F238E27FC236}">
                <a16:creationId xmlns:a16="http://schemas.microsoft.com/office/drawing/2014/main" id="{61EA9E4F-60C4-4072-BF50-77434A086591}"/>
              </a:ext>
            </a:extLst>
          </p:cNvPr>
          <p:cNvSpPr>
            <a:spLocks xmlns:a="http://schemas.openxmlformats.org/drawingml/2006/main" noGrp="1"/>
          </p:cNvSpPr>
          <p:nvPr/>
        </p:nvSpPr>
        <p:spPr>
          <a:xfrm xmlns:a="http://schemas.openxmlformats.org/drawingml/2006/main">
            <a:off x="2788920" y="4974336"/>
            <a:ext cx="781812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a:solidFill>
                  <a:srgbClr val="59616A"/>
                </a:solidFill>
                <a:latin typeface="Noto Sans CJK KR"/>
                <a:ea typeface="Noto Sans CJK KR"/>
                <a:cs typeface="Noto Sans CJK KR"/>
              </a:rPr>
              <a:t>논문의 회계에는 이 경계가 존재하지 않는다</a:t>
            </a:r>
            <a:endParaRPr sz="1400"/>
          </a:p>
        </p:txBody>
      </p:sp>
    </p:spTree>
    <p:extLst>
      <p:ext uri="{BB962C8B-B14F-4D97-AF65-F5344CB8AC3E}">
        <p14:creationId xmlns:p14="http://schemas.microsoft.com/office/powerpoint/2010/main" val="13243900"/>
      </p:ext>
    </p:extLst>
  </p:cSld>
</p:sld>
</file>

<file path=ppt/slides/slide8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6-section">
            <a:extLst xmlns:a="http://schemas.openxmlformats.org/drawingml/2006/main">
              <a:ext uri="{FF2B5EF4-FFF2-40B4-BE49-F238E27FC236}">
                <a16:creationId xmlns:a16="http://schemas.microsoft.com/office/drawing/2014/main" id="{1EAEABEC-DD0D-4D7C-AA45-BE33B2388F81}"/>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EXPERIMENTS</a:t>
            </a:r>
            <a:endParaRPr sz="950"/>
          </a:p>
        </p:txBody>
      </p:sp>
      <p:sp>
        <p:nvSpPr>
          <p:cNvPr id="3" name="STC-16-slide-id">
            <a:extLst xmlns:a="http://schemas.openxmlformats.org/drawingml/2006/main">
              <a:ext uri="{FF2B5EF4-FFF2-40B4-BE49-F238E27FC236}">
                <a16:creationId xmlns:a16="http://schemas.microsoft.com/office/drawing/2014/main" id="{148035CD-3605-4EDB-8925-9EAAD53CDD1E}"/>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STC-082</a:t>
            </a:r>
            <a:endParaRPr sz="950"/>
          </a:p>
        </p:txBody>
      </p:sp>
      <p:sp>
        <p:nvSpPr>
          <p:cNvPr id="4" name="STC-16-headline">
            <a:extLst xmlns:a="http://schemas.openxmlformats.org/drawingml/2006/main">
              <a:ext uri="{FF2B5EF4-FFF2-40B4-BE49-F238E27FC236}">
                <a16:creationId xmlns:a16="http://schemas.microsoft.com/office/drawing/2014/main" id="{31F39839-5A4F-4AB6-A314-6FCD6EBB293B}"/>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X1 파생량 ② — 손익분기는 절벽이 아니라 점근이다</a:t>
            </a:r>
            <a:endParaRPr sz="3000"/>
          </a:p>
        </p:txBody>
      </p:sp>
      <p:sp>
        <p:nvSpPr>
          <p:cNvPr id="5" name="STC-16-status-label">
            <a:extLst xmlns:a="http://schemas.openxmlformats.org/drawingml/2006/main">
              <a:ext uri="{FF2B5EF4-FFF2-40B4-BE49-F238E27FC236}">
                <a16:creationId xmlns:a16="http://schemas.microsoft.com/office/drawing/2014/main" id="{85F97C6D-2152-4166-9EF2-FB1A30075CA5}"/>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본서 산술</a:t>
            </a:r>
            <a:endParaRPr sz="1000"/>
          </a:p>
        </p:txBody>
      </p:sp>
      <p:sp>
        <p:nvSpPr>
          <p:cNvPr id="6" name="STC-16-status-rule">
            <a:extLst xmlns:a="http://schemas.openxmlformats.org/drawingml/2006/main">
              <a:ext uri="{FF2B5EF4-FFF2-40B4-BE49-F238E27FC236}">
                <a16:creationId xmlns:a16="http://schemas.microsoft.com/office/drawing/2014/main" id="{92B0A0F6-E926-46D4-AABF-CD6F912C19B5}"/>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6-footer-rule">
            <a:extLst xmlns:a="http://schemas.openxmlformats.org/drawingml/2006/main">
              <a:ext uri="{FF2B5EF4-FFF2-40B4-BE49-F238E27FC236}">
                <a16:creationId xmlns:a16="http://schemas.microsoft.com/office/drawing/2014/main" id="{78479DB6-1C83-41B6-931F-D82AA487E2AF}"/>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6-source-footer">
            <a:extLst xmlns:a="http://schemas.openxmlformats.org/drawingml/2006/main">
              <a:ext uri="{FF2B5EF4-FFF2-40B4-BE49-F238E27FC236}">
                <a16:creationId xmlns:a16="http://schemas.microsoft.com/office/drawing/2014/main" id="{CCF7D512-F8C3-424D-AAC0-0F61432BB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ch25 §25.2.4 식 (25-3) [본서 산술]</a:t>
            </a:r>
            <a:endParaRPr sz="850"/>
          </a:p>
        </p:txBody>
      </p:sp>
      <p:sp>
        <p:nvSpPr>
          <p:cNvPr id="9" name="STC-16-page-number">
            <a:extLst xmlns:a="http://schemas.openxmlformats.org/drawingml/2006/main">
              <a:ext uri="{FF2B5EF4-FFF2-40B4-BE49-F238E27FC236}">
                <a16:creationId xmlns:a16="http://schemas.microsoft.com/office/drawing/2014/main" id="{CB3F831C-0E59-4B32-AF78-33BF4F5C4D2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82</a:t>
            </a:r>
            <a:endParaRPr sz="850"/>
          </a:p>
        </p:txBody>
      </p:sp>
      <p:sp>
        <p:nvSpPr>
          <p:cNvPr id="11" name="STC-16-nfr-stage-0">
            <a:extLst xmlns:a="http://schemas.openxmlformats.org/drawingml/2006/main">
              <a:ext uri="{FF2B5EF4-FFF2-40B4-BE49-F238E27FC236}">
                <a16:creationId xmlns:a16="http://schemas.microsoft.com/office/drawing/2014/main" id="{BD7BCBEA-7D7C-45F9-940D-B9D49D82B0A9}"/>
              </a:ext>
            </a:extLst>
          </p:cNvPr>
          <p:cNvSpPr>
            <a:spLocks xmlns:a="http://schemas.openxmlformats.org/drawingml/2006/main" noGrp="1"/>
          </p:cNvSpPr>
          <p:nvPr/>
        </p:nvSpPr>
        <p:spPr>
          <a:xfrm xmlns:a="http://schemas.openxmlformats.org/drawingml/2006/main">
            <a:off x="868680" y="2240280"/>
            <a:ext cx="1874520" cy="713232"/>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2" name="STC-16-nfr-label-0">
            <a:extLst xmlns:a="http://schemas.openxmlformats.org/drawingml/2006/main">
              <a:ext uri="{FF2B5EF4-FFF2-40B4-BE49-F238E27FC236}">
                <a16:creationId xmlns:a16="http://schemas.microsoft.com/office/drawing/2014/main" id="{C63A95E6-8E06-4CF9-97A4-DA00A0F19370}"/>
              </a:ext>
            </a:extLst>
          </p:cNvPr>
          <p:cNvSpPr>
            <a:spLocks xmlns:a="http://schemas.openxmlformats.org/drawingml/2006/main" noGrp="1"/>
          </p:cNvSpPr>
          <p:nvPr/>
        </p:nvSpPr>
        <p:spPr>
          <a:xfrm xmlns:a="http://schemas.openxmlformats.org/drawingml/2006/main">
            <a:off x="9784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44E8A"/>
                </a:solidFill>
                <a:latin typeface="Noto Sans Mono CJK KR"/>
                <a:ea typeface="Noto Sans Mono CJK KR"/>
                <a:cs typeface="Noto Sans Mono CJK KR"/>
              </a:rPr>
              <a:t>분자 B_s</a:t>
            </a:r>
            <a:endParaRPr sz="1200"/>
          </a:p>
        </p:txBody>
      </p:sp>
      <p:sp>
        <p:nvSpPr>
          <p:cNvPr id="13" name="STC-16-nfr-arrow-0">
            <a:extLst xmlns:a="http://schemas.openxmlformats.org/drawingml/2006/main">
              <a:ext uri="{FF2B5EF4-FFF2-40B4-BE49-F238E27FC236}">
                <a16:creationId xmlns:a16="http://schemas.microsoft.com/office/drawing/2014/main" id="{93F6E238-5933-4840-8DE8-81F14BF46719}"/>
              </a:ext>
            </a:extLst>
          </p:cNvPr>
          <p:cNvSpPr>
            <a:spLocks xmlns:a="http://schemas.openxmlformats.org/drawingml/2006/main" noGrp="1"/>
          </p:cNvSpPr>
          <p:nvPr/>
        </p:nvSpPr>
        <p:spPr>
          <a:xfrm xmlns:a="http://schemas.openxmlformats.org/drawingml/2006/main">
            <a:off x="28437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4" name="STC-16-nfr-stage-1">
            <a:extLst xmlns:a="http://schemas.openxmlformats.org/drawingml/2006/main">
              <a:ext uri="{FF2B5EF4-FFF2-40B4-BE49-F238E27FC236}">
                <a16:creationId xmlns:a16="http://schemas.microsoft.com/office/drawing/2014/main" id="{6E375C46-F347-452D-B530-0C46A84896AE}"/>
              </a:ext>
            </a:extLst>
          </p:cNvPr>
          <p:cNvSpPr>
            <a:spLocks xmlns:a="http://schemas.openxmlformats.org/drawingml/2006/main" noGrp="1"/>
          </p:cNvSpPr>
          <p:nvPr/>
        </p:nvSpPr>
        <p:spPr>
          <a:xfrm xmlns:a="http://schemas.openxmlformats.org/drawingml/2006/main">
            <a:off x="2926080" y="2240280"/>
            <a:ext cx="1874520" cy="713232"/>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6-nfr-label-1">
            <a:extLst xmlns:a="http://schemas.openxmlformats.org/drawingml/2006/main">
              <a:ext uri="{FF2B5EF4-FFF2-40B4-BE49-F238E27FC236}">
                <a16:creationId xmlns:a16="http://schemas.microsoft.com/office/drawing/2014/main" id="{EE98E794-C92B-4BCD-9AA0-C007E2C3A901}"/>
              </a:ext>
            </a:extLst>
          </p:cNvPr>
          <p:cNvSpPr>
            <a:spLocks xmlns:a="http://schemas.openxmlformats.org/drawingml/2006/main" noGrp="1"/>
          </p:cNvSpPr>
          <p:nvPr/>
        </p:nvSpPr>
        <p:spPr>
          <a:xfrm xmlns:a="http://schemas.openxmlformats.org/drawingml/2006/main">
            <a:off x="30358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F6B63"/>
                </a:solidFill>
                <a:latin typeface="Noto Sans Mono CJK KR"/>
                <a:ea typeface="Noto Sans Mono CJK KR"/>
                <a:cs typeface="Noto Sans Mono CJK KR"/>
              </a:rPr>
              <a:t>분모 여유</a:t>
            </a:r>
            <a:endParaRPr sz="1200"/>
          </a:p>
        </p:txBody>
      </p:sp>
      <p:sp>
        <p:nvSpPr>
          <p:cNvPr id="16" name="STC-16-nfr-arrow-1">
            <a:extLst xmlns:a="http://schemas.openxmlformats.org/drawingml/2006/main">
              <a:ext uri="{FF2B5EF4-FFF2-40B4-BE49-F238E27FC236}">
                <a16:creationId xmlns:a16="http://schemas.microsoft.com/office/drawing/2014/main" id="{9C699781-3533-4C0E-A37B-9441C305C79A}"/>
              </a:ext>
            </a:extLst>
          </p:cNvPr>
          <p:cNvSpPr>
            <a:spLocks xmlns:a="http://schemas.openxmlformats.org/drawingml/2006/main" noGrp="1"/>
          </p:cNvSpPr>
          <p:nvPr/>
        </p:nvSpPr>
        <p:spPr>
          <a:xfrm xmlns:a="http://schemas.openxmlformats.org/drawingml/2006/main">
            <a:off x="49011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7" name="STC-16-nfr-stage-2">
            <a:extLst xmlns:a="http://schemas.openxmlformats.org/drawingml/2006/main">
              <a:ext uri="{FF2B5EF4-FFF2-40B4-BE49-F238E27FC236}">
                <a16:creationId xmlns:a16="http://schemas.microsoft.com/office/drawing/2014/main" id="{F770F86E-4C00-4545-A7D5-B4D15AB17334}"/>
              </a:ext>
            </a:extLst>
          </p:cNvPr>
          <p:cNvSpPr>
            <a:spLocks xmlns:a="http://schemas.openxmlformats.org/drawingml/2006/main" noGrp="1"/>
          </p:cNvSpPr>
          <p:nvPr/>
        </p:nvSpPr>
        <p:spPr>
          <a:xfrm xmlns:a="http://schemas.openxmlformats.org/drawingml/2006/main">
            <a:off x="5532120" y="2240280"/>
            <a:ext cx="1874520" cy="713232"/>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8" name="STC-16-nfr-label-2">
            <a:extLst xmlns:a="http://schemas.openxmlformats.org/drawingml/2006/main">
              <a:ext uri="{FF2B5EF4-FFF2-40B4-BE49-F238E27FC236}">
                <a16:creationId xmlns:a16="http://schemas.microsoft.com/office/drawing/2014/main" id="{0CA58183-872F-423D-A5A2-DC11CA73C438}"/>
              </a:ext>
            </a:extLst>
          </p:cNvPr>
          <p:cNvSpPr>
            <a:spLocks xmlns:a="http://schemas.openxmlformats.org/drawingml/2006/main" noGrp="1"/>
          </p:cNvSpPr>
          <p:nvPr/>
        </p:nvSpPr>
        <p:spPr>
          <a:xfrm xmlns:a="http://schemas.openxmlformats.org/drawingml/2006/main">
            <a:off x="564184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9A442D"/>
                </a:solidFill>
                <a:latin typeface="Noto Sans Mono CJK KR"/>
                <a:ea typeface="Noto Sans Mono CJK KR"/>
                <a:cs typeface="Noto Sans Mono CJK KR"/>
              </a:rPr>
              <a:t>발산</a:t>
            </a:r>
            <a:endParaRPr sz="1200"/>
          </a:p>
        </p:txBody>
      </p:sp>
      <p:sp>
        <p:nvSpPr>
          <p:cNvPr id="19" name="STC-16-nfr-arrow-2">
            <a:extLst xmlns:a="http://schemas.openxmlformats.org/drawingml/2006/main">
              <a:ext uri="{FF2B5EF4-FFF2-40B4-BE49-F238E27FC236}">
                <a16:creationId xmlns:a16="http://schemas.microsoft.com/office/drawing/2014/main" id="{05297B78-DEE0-4182-9A5E-3E5A7CD7F4DA}"/>
              </a:ext>
            </a:extLst>
          </p:cNvPr>
          <p:cNvSpPr>
            <a:spLocks xmlns:a="http://schemas.openxmlformats.org/drawingml/2006/main" noGrp="1"/>
          </p:cNvSpPr>
          <p:nvPr/>
        </p:nvSpPr>
        <p:spPr>
          <a:xfrm xmlns:a="http://schemas.openxmlformats.org/drawingml/2006/main">
            <a:off x="750722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20" name="STC-16-nfr-stage-3">
            <a:extLst xmlns:a="http://schemas.openxmlformats.org/drawingml/2006/main">
              <a:ext uri="{FF2B5EF4-FFF2-40B4-BE49-F238E27FC236}">
                <a16:creationId xmlns:a16="http://schemas.microsoft.com/office/drawing/2014/main" id="{39A20466-7E4D-40E4-A7D7-42F469ECC895}"/>
              </a:ext>
            </a:extLst>
          </p:cNvPr>
          <p:cNvSpPr>
            <a:spLocks xmlns:a="http://schemas.openxmlformats.org/drawingml/2006/main" noGrp="1"/>
          </p:cNvSpPr>
          <p:nvPr/>
        </p:nvSpPr>
        <p:spPr>
          <a:xfrm xmlns:a="http://schemas.openxmlformats.org/drawingml/2006/main">
            <a:off x="8366760" y="2240280"/>
            <a:ext cx="1874520" cy="71323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16-nfr-label-3">
            <a:extLst xmlns:a="http://schemas.openxmlformats.org/drawingml/2006/main">
              <a:ext uri="{FF2B5EF4-FFF2-40B4-BE49-F238E27FC236}">
                <a16:creationId xmlns:a16="http://schemas.microsoft.com/office/drawing/2014/main" id="{C3585ECC-6437-4548-BCD2-77F576045CDC}"/>
              </a:ext>
            </a:extLst>
          </p:cNvPr>
          <p:cNvSpPr>
            <a:spLocks xmlns:a="http://schemas.openxmlformats.org/drawingml/2006/main" noGrp="1"/>
          </p:cNvSpPr>
          <p:nvPr/>
        </p:nvSpPr>
        <p:spPr>
          <a:xfrm xmlns:a="http://schemas.openxmlformats.org/drawingml/2006/main">
            <a:off x="847648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Noto Sans Mono CJK KR"/>
                <a:ea typeface="Noto Sans Mono CJK KR"/>
                <a:cs typeface="Noto Sans Mono CJK KR"/>
              </a:rPr>
              <a:t>해 없음</a:t>
            </a:r>
            <a:endParaRPr sz="1200"/>
          </a:p>
        </p:txBody>
      </p:sp>
      <p:sp>
        <p:nvSpPr>
          <p:cNvPr id="22" name="STC-16-nfr-equation">
            <a:extLst xmlns:a="http://schemas.openxmlformats.org/drawingml/2006/main">
              <a:ext uri="{FF2B5EF4-FFF2-40B4-BE49-F238E27FC236}">
                <a16:creationId xmlns:a16="http://schemas.microsoft.com/office/drawing/2014/main" id="{BE0CB8F9-6DA2-4314-B150-9934237AD497}"/>
              </a:ext>
            </a:extLst>
          </p:cNvPr>
          <p:cNvSpPr>
            <a:spLocks xmlns:a="http://schemas.openxmlformats.org/drawingml/2006/main" noGrp="1"/>
          </p:cNvSpPr>
          <p:nvPr/>
        </p:nvSpPr>
        <p:spPr>
          <a:xfrm xmlns:a="http://schemas.openxmlformats.org/drawingml/2006/main">
            <a:off x="2898648" y="3310128"/>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Nq*=Bs/wΔ</a:t>
            </a:r>
            <a:endParaRPr sz="2300"/>
          </a:p>
        </p:txBody>
      </p:sp>
      <p:sp>
        <p:nvSpPr>
          <p:cNvPr id="23" name="STC-16-nfr-result">
            <a:extLst xmlns:a="http://schemas.openxmlformats.org/drawingml/2006/main">
              <a:ext uri="{FF2B5EF4-FFF2-40B4-BE49-F238E27FC236}">
                <a16:creationId xmlns:a16="http://schemas.microsoft.com/office/drawing/2014/main" id="{C4A2FE2B-A37D-47CC-9BE0-490EB409D23D}"/>
              </a:ext>
            </a:extLst>
          </p:cNvPr>
          <p:cNvSpPr>
            <a:spLocks xmlns:a="http://schemas.openxmlformats.org/drawingml/2006/main" noGrp="1"/>
          </p:cNvSpPr>
          <p:nvPr/>
        </p:nvSpPr>
        <p:spPr>
          <a:xfrm xmlns:a="http://schemas.openxmlformats.org/drawingml/2006/main">
            <a:off x="5669280" y="3310128"/>
            <a:ext cx="22402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한 번</a:t>
            </a:r>
            <a:endParaRPr sz="2300"/>
          </a:p>
        </p:txBody>
      </p:sp>
      <p:sp>
        <p:nvSpPr>
          <p:cNvPr id="24" name="STC-16-nfr-result-arrow">
            <a:extLst xmlns:a="http://schemas.openxmlformats.org/drawingml/2006/main">
              <a:ext uri="{FF2B5EF4-FFF2-40B4-BE49-F238E27FC236}">
                <a16:creationId xmlns:a16="http://schemas.microsoft.com/office/drawing/2014/main" id="{1E4EFA29-21C2-4F8C-B607-F96D778A8A44}"/>
              </a:ext>
            </a:extLst>
          </p:cNvPr>
          <p:cNvSpPr>
            <a:spLocks xmlns:a="http://schemas.openxmlformats.org/drawingml/2006/main" noGrp="1"/>
          </p:cNvSpPr>
          <p:nvPr/>
        </p:nvSpPr>
        <p:spPr>
          <a:xfrm xmlns:a="http://schemas.openxmlformats.org/drawingml/2006/main">
            <a:off x="4937760" y="3493008"/>
            <a:ext cx="658368" cy="0"/>
          </a:xfrm>
          <a:prstGeom xmlns:a="http://schemas.openxmlformats.org/drawingml/2006/main" prst="line">
            <a:avLst/>
          </a:prstGeom>
          <a:noFill xmlns:a="http://schemas.openxmlformats.org/drawingml/2006/main"/>
          <a:ln xmlns:a="http://schemas.openxmlformats.org/drawingml/2006/main" w="19050">
            <a:solidFill>
              <a:srgbClr val="9A442D"/>
            </a:solidFill>
            <a:prstDash val="solid"/>
            <a:tailEnd type="triangle"/>
          </a:ln>
        </p:spPr>
      </p:sp>
      <p:sp>
        <p:nvSpPr>
          <p:cNvPr id="25" name="STC-16-nfr-carriers">
            <a:extLst xmlns:a="http://schemas.openxmlformats.org/drawingml/2006/main">
              <a:ext uri="{FF2B5EF4-FFF2-40B4-BE49-F238E27FC236}">
                <a16:creationId xmlns:a16="http://schemas.microsoft.com/office/drawing/2014/main" id="{2D5BB60A-9D8E-40F6-B3BC-8D23ECC75064}"/>
              </a:ext>
            </a:extLst>
          </p:cNvPr>
          <p:cNvSpPr>
            <a:spLocks xmlns:a="http://schemas.openxmlformats.org/drawingml/2006/main" noGrp="1"/>
          </p:cNvSpPr>
          <p:nvPr/>
        </p:nvSpPr>
        <p:spPr>
          <a:xfrm xmlns:a="http://schemas.openxmlformats.org/drawingml/2006/main">
            <a:off x="1143000" y="4261104"/>
            <a:ext cx="9838944" cy="10607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26" name="STC-16-nfr-carriers-label">
            <a:extLst xmlns:a="http://schemas.openxmlformats.org/drawingml/2006/main">
              <a:ext uri="{FF2B5EF4-FFF2-40B4-BE49-F238E27FC236}">
                <a16:creationId xmlns:a16="http://schemas.microsoft.com/office/drawing/2014/main" id="{5C382C2E-7982-40CC-9D71-4AFD2B2B295F}"/>
              </a:ext>
            </a:extLst>
          </p:cNvPr>
          <p:cNvSpPr>
            <a:spLocks xmlns:a="http://schemas.openxmlformats.org/drawingml/2006/main" noGrp="1"/>
          </p:cNvSpPr>
          <p:nvPr/>
        </p:nvSpPr>
        <p:spPr>
          <a:xfrm xmlns:a="http://schemas.openxmlformats.org/drawingml/2006/main">
            <a:off x="1389888" y="4526280"/>
            <a:ext cx="1234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2F6B63"/>
                </a:solidFill>
                <a:latin typeface="Noto Sans CJK KR"/>
                <a:ea typeface="Noto Sans CJK KR"/>
                <a:cs typeface="Noto Sans CJK KR"/>
              </a:rPr>
              <a:t>분자 B_s</a:t>
            </a:r>
            <a:endParaRPr sz="1700"/>
          </a:p>
        </p:txBody>
      </p:sp>
      <p:sp>
        <p:nvSpPr>
          <p:cNvPr id="27" name="STC-16-nfr-carriers-text">
            <a:extLst xmlns:a="http://schemas.openxmlformats.org/drawingml/2006/main">
              <a:ext uri="{FF2B5EF4-FFF2-40B4-BE49-F238E27FC236}">
                <a16:creationId xmlns:a16="http://schemas.microsoft.com/office/drawing/2014/main" id="{5AA006B0-54B0-4040-95FB-9C38FC9F5627}"/>
              </a:ext>
            </a:extLst>
          </p:cNvPr>
          <p:cNvSpPr>
            <a:spLocks xmlns:a="http://schemas.openxmlformats.org/drawingml/2006/main" noGrp="1"/>
          </p:cNvSpPr>
          <p:nvPr/>
        </p:nvSpPr>
        <p:spPr>
          <a:xfrm xmlns:a="http://schemas.openxmlformats.org/drawingml/2006/main">
            <a:off x="2788920" y="4434840"/>
            <a:ext cx="7818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50" b="1">
                <a:solidFill>
                  <a:srgbClr val="17191C"/>
                </a:solidFill>
                <a:latin typeface="Noto Sans CJK KR"/>
                <a:ea typeface="Noto Sans CJK KR"/>
                <a:cs typeface="Noto Sans CJK KR"/>
              </a:rPr>
              <a:t>|ĉ|→L*에서 N_q*가 발산한다. 임계에 닿기 한참 전부터 필요한 질의 수가 도달 불가능해진다</a:t>
            </a:r>
            <a:endParaRPr sz="1750"/>
          </a:p>
        </p:txBody>
      </p:sp>
      <p:sp>
        <p:nvSpPr>
          <p:cNvPr id="28" name="STC-16-nfr-carriers-note">
            <a:extLst xmlns:a="http://schemas.openxmlformats.org/drawingml/2006/main">
              <a:ext uri="{FF2B5EF4-FFF2-40B4-BE49-F238E27FC236}">
                <a16:creationId xmlns:a16="http://schemas.microsoft.com/office/drawing/2014/main" id="{61EA9E4F-60C4-4072-BF50-77434A086591}"/>
              </a:ext>
            </a:extLst>
          </p:cNvPr>
          <p:cNvSpPr>
            <a:spLocks xmlns:a="http://schemas.openxmlformats.org/drawingml/2006/main" noGrp="1"/>
          </p:cNvSpPr>
          <p:nvPr/>
        </p:nvSpPr>
        <p:spPr>
          <a:xfrm xmlns:a="http://schemas.openxmlformats.org/drawingml/2006/main">
            <a:off x="2788920" y="4974336"/>
            <a:ext cx="781812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a:solidFill>
                  <a:srgbClr val="59616A"/>
                </a:solidFill>
                <a:latin typeface="Noto Sans CJK KR"/>
                <a:ea typeface="Noto Sans CJK KR"/>
                <a:cs typeface="Noto Sans CJK KR"/>
              </a:rPr>
              <a:t>|ĉ|가 L*에 가까워질수록 필요한 질의 수가 발산한다</a:t>
            </a:r>
            <a:endParaRPr sz="1400"/>
          </a:p>
        </p:txBody>
      </p:sp>
    </p:spTree>
    <p:extLst>
      <p:ext uri="{BB962C8B-B14F-4D97-AF65-F5344CB8AC3E}">
        <p14:creationId xmlns:p14="http://schemas.microsoft.com/office/powerpoint/2010/main" val="13243900"/>
      </p:ext>
    </p:extLst>
  </p:cSld>
</p:sld>
</file>

<file path=ppt/slides/slide8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7-section">
            <a:extLst xmlns:a="http://schemas.openxmlformats.org/drawingml/2006/main">
              <a:ext uri="{FF2B5EF4-FFF2-40B4-BE49-F238E27FC236}">
                <a16:creationId xmlns:a16="http://schemas.microsoft.com/office/drawing/2014/main" id="{92E4F8C4-5B7E-4BA3-B695-B6837EACCBA5}"/>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EXPERIMENTS</a:t>
            </a:r>
            <a:endParaRPr sz="950"/>
          </a:p>
        </p:txBody>
      </p:sp>
      <p:sp>
        <p:nvSpPr>
          <p:cNvPr id="3" name="STC-17-slide-id">
            <a:extLst xmlns:a="http://schemas.openxmlformats.org/drawingml/2006/main">
              <a:ext uri="{FF2B5EF4-FFF2-40B4-BE49-F238E27FC236}">
                <a16:creationId xmlns:a16="http://schemas.microsoft.com/office/drawing/2014/main" id="{90F0654A-6500-4A13-AE0F-92E29E9E7142}"/>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STC-083</a:t>
            </a:r>
            <a:endParaRPr sz="950"/>
          </a:p>
        </p:txBody>
      </p:sp>
      <p:sp>
        <p:nvSpPr>
          <p:cNvPr id="4" name="STC-17-headline">
            <a:extLst xmlns:a="http://schemas.openxmlformats.org/drawingml/2006/main">
              <a:ext uri="{FF2B5EF4-FFF2-40B4-BE49-F238E27FC236}">
                <a16:creationId xmlns:a16="http://schemas.microsoft.com/office/drawing/2014/main" id="{36BE495C-0276-48C5-8763-B49A07942DC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X1 결과 — 단정하는 것은 레짐 간 순서다</a:t>
            </a:r>
            <a:endParaRPr sz="3000"/>
          </a:p>
        </p:txBody>
      </p:sp>
      <p:sp>
        <p:nvSpPr>
          <p:cNvPr id="5" name="STC-17-status-label">
            <a:extLst xmlns:a="http://schemas.openxmlformats.org/drawingml/2006/main">
              <a:ext uri="{FF2B5EF4-FFF2-40B4-BE49-F238E27FC236}">
                <a16:creationId xmlns:a16="http://schemas.microsoft.com/office/drawing/2014/main" id="{3085FB04-162B-4BDC-9971-7067E8D465E9}"/>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9A442D"/>
                </a:solidFill>
                <a:latin typeface="Noto Sans Mono CJK KR"/>
                <a:ea typeface="Noto Sans Mono CJK KR"/>
                <a:cs typeface="Noto Sans Mono CJK KR"/>
              </a:rPr>
              <a:t>회계 · 순서만</a:t>
            </a:r>
            <a:endParaRPr sz="1000"/>
          </a:p>
        </p:txBody>
      </p:sp>
      <p:sp>
        <p:nvSpPr>
          <p:cNvPr id="6" name="STC-17-status-rule">
            <a:extLst xmlns:a="http://schemas.openxmlformats.org/drawingml/2006/main">
              <a:ext uri="{FF2B5EF4-FFF2-40B4-BE49-F238E27FC236}">
                <a16:creationId xmlns:a16="http://schemas.microsoft.com/office/drawing/2014/main" id="{578ADC5E-51EB-404F-BC45-37C9D6CD7CD7}"/>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9A442D"/>
            </a:solidFill>
            <a:prstDash val="solid"/>
            <a:tailEnd type="none"/>
          </a:ln>
        </p:spPr>
      </p:sp>
      <p:sp>
        <p:nvSpPr>
          <p:cNvPr id="7" name="STC-17-footer-rule">
            <a:extLst xmlns:a="http://schemas.openxmlformats.org/drawingml/2006/main">
              <a:ext uri="{FF2B5EF4-FFF2-40B4-BE49-F238E27FC236}">
                <a16:creationId xmlns:a16="http://schemas.microsoft.com/office/drawing/2014/main" id="{E08768A2-4454-4B40-89F4-7D7CB0E43EDC}"/>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7-source-footer">
            <a:extLst xmlns:a="http://schemas.openxmlformats.org/drawingml/2006/main">
              <a:ext uri="{FF2B5EF4-FFF2-40B4-BE49-F238E27FC236}">
                <a16:creationId xmlns:a16="http://schemas.microsoft.com/office/drawing/2014/main" id="{AD1D9E5D-8963-4E36-885F-E265EF98368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ch25 표 25-4 · experiments/stc/X1 F4</a:t>
            </a:r>
            <a:endParaRPr sz="850"/>
          </a:p>
        </p:txBody>
      </p:sp>
      <p:sp>
        <p:nvSpPr>
          <p:cNvPr id="9" name="STC-17-page-number">
            <a:extLst xmlns:a="http://schemas.openxmlformats.org/drawingml/2006/main">
              <a:ext uri="{FF2B5EF4-FFF2-40B4-BE49-F238E27FC236}">
                <a16:creationId xmlns:a16="http://schemas.microsoft.com/office/drawing/2014/main" id="{D9D3A1E4-D8BE-40ED-87D8-2EA53AA60732}"/>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83</a:t>
            </a:r>
            <a:endParaRPr sz="850"/>
          </a:p>
        </p:txBody>
      </p:sp>
      <p:sp>
        <p:nvSpPr>
          <p:cNvPr id="11" name="STC-17-scale-left-x">
            <a:extLst xmlns:a="http://schemas.openxmlformats.org/drawingml/2006/main">
              <a:ext uri="{FF2B5EF4-FFF2-40B4-BE49-F238E27FC236}">
                <a16:creationId xmlns:a16="http://schemas.microsoft.com/office/drawing/2014/main" id="{F38B9EA2-0669-4C35-A757-D44B42B288FA}"/>
              </a:ext>
            </a:extLst>
          </p:cNvPr>
          <p:cNvSpPr>
            <a:spLocks xmlns:a="http://schemas.openxmlformats.org/drawingml/2006/main" noGrp="1"/>
          </p:cNvSpPr>
          <p:nvPr/>
        </p:nvSpPr>
        <p:spPr>
          <a:xfrm xmlns:a="http://schemas.openxmlformats.org/drawingml/2006/main">
            <a:off x="1005840" y="5120640"/>
            <a:ext cx="425196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2" name="STC-17-scale-left-y">
            <a:extLst xmlns:a="http://schemas.openxmlformats.org/drawingml/2006/main">
              <a:ext uri="{FF2B5EF4-FFF2-40B4-BE49-F238E27FC236}">
                <a16:creationId xmlns:a16="http://schemas.microsoft.com/office/drawing/2014/main" id="{127EAC0F-7538-48D2-9845-E50816FBC5B6}"/>
              </a:ext>
            </a:extLst>
          </p:cNvPr>
          <p:cNvSpPr>
            <a:spLocks xmlns:a="http://schemas.openxmlformats.org/drawingml/2006/main" noGrp="1"/>
          </p:cNvSpPr>
          <p:nvPr/>
        </p:nvSpPr>
        <p:spPr>
          <a:xfrm xmlns:a="http://schemas.openxmlformats.org/drawingml/2006/main" flipH="0" flipV="1">
            <a:off x="1005840" y="1874520"/>
            <a:ext cx="0" cy="324612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3" name="STC-17-scale-left-xlabel">
            <a:extLst xmlns:a="http://schemas.openxmlformats.org/drawingml/2006/main">
              <a:ext uri="{FF2B5EF4-FFF2-40B4-BE49-F238E27FC236}">
                <a16:creationId xmlns:a16="http://schemas.microsoft.com/office/drawing/2014/main" id="{CC1A6B04-2FA6-4A11-9502-96D6C06C0406}"/>
              </a:ext>
            </a:extLst>
          </p:cNvPr>
          <p:cNvSpPr>
            <a:spLocks xmlns:a="http://schemas.openxmlformats.org/drawingml/2006/main" noGrp="1"/>
          </p:cNvSpPr>
          <p:nvPr/>
        </p:nvSpPr>
        <p:spPr>
          <a:xfrm xmlns:a="http://schemas.openxmlformats.org/drawingml/2006/main">
            <a:off x="3794760" y="5266944"/>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a:solidFill>
                  <a:srgbClr val="59616A"/>
                </a:solidFill>
                <a:latin typeface="Noto Sans CJK KR"/>
                <a:ea typeface="Noto Sans CJK KR"/>
                <a:cs typeface="Noto Sans CJK KR"/>
              </a:rPr>
              <a:t>|ĉ| / |c|</a:t>
            </a:r>
            <a:endParaRPr sz="1100"/>
          </a:p>
        </p:txBody>
      </p:sp>
      <p:sp>
        <p:nvSpPr>
          <p:cNvPr id="14" name="STC-17-scale-left-ylabel">
            <a:extLst xmlns:a="http://schemas.openxmlformats.org/drawingml/2006/main">
              <a:ext uri="{FF2B5EF4-FFF2-40B4-BE49-F238E27FC236}">
                <a16:creationId xmlns:a16="http://schemas.microsoft.com/office/drawing/2014/main" id="{3FECF62E-F154-4266-9F86-FA8AD5DD6D5B}"/>
              </a:ext>
            </a:extLst>
          </p:cNvPr>
          <p:cNvSpPr>
            <a:spLocks xmlns:a="http://schemas.openxmlformats.org/drawingml/2006/main" noGrp="1"/>
          </p:cNvSpPr>
          <p:nvPr/>
        </p:nvSpPr>
        <p:spPr>
          <a:xfrm xmlns:a="http://schemas.openxmlformats.org/drawingml/2006/main" rot="16200000">
            <a:off x="594360" y="1764792"/>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9616A"/>
                </a:solidFill>
                <a:latin typeface="Noto Sans CJK KR"/>
                <a:ea typeface="Noto Sans CJK KR"/>
                <a:cs typeface="Noto Sans CJK KR"/>
              </a:rPr>
              <a:t>여유</a:t>
            </a:r>
            <a:endParaRPr sz="1100"/>
          </a:p>
        </p:txBody>
      </p:sp>
      <p:sp>
        <p:nvSpPr>
          <p:cNvPr id="15" name="STC-17-scale-external">
            <a:extLst xmlns:a="http://schemas.openxmlformats.org/drawingml/2006/main">
              <a:ext uri="{FF2B5EF4-FFF2-40B4-BE49-F238E27FC236}">
                <a16:creationId xmlns:a16="http://schemas.microsoft.com/office/drawing/2014/main" id="{2D86127B-2D39-4C68-9E49-E6517B6F9AD8}"/>
              </a:ext>
            </a:extLst>
          </p:cNvPr>
          <p:cNvSpPr>
            <a:spLocks xmlns:a="http://schemas.openxmlformats.org/drawingml/2006/main" noGrp="1"/>
          </p:cNvSpPr>
          <p:nvPr/>
        </p:nvSpPr>
        <p:spPr>
          <a:xfrm xmlns:a="http://schemas.openxmlformats.org/drawingml/2006/main" flipH="0" flipV="1">
            <a:off x="1188720" y="2606040"/>
            <a:ext cx="3520440" cy="1874520"/>
          </a:xfrm>
          <a:prstGeom xmlns:a="http://schemas.openxmlformats.org/drawingml/2006/main" prst="line">
            <a:avLst/>
          </a:prstGeom>
          <a:noFill xmlns:a="http://schemas.openxmlformats.org/drawingml/2006/main"/>
          <a:ln xmlns:a="http://schemas.openxmlformats.org/drawingml/2006/main" w="27940">
            <a:solidFill>
              <a:srgbClr val="244E8A"/>
            </a:solidFill>
            <a:prstDash val="solid"/>
            <a:tailEnd type="none"/>
          </a:ln>
        </p:spPr>
      </p:sp>
      <p:sp>
        <p:nvSpPr>
          <p:cNvPr id="16" name="STC-17-scale-parametric">
            <a:extLst xmlns:a="http://schemas.openxmlformats.org/drawingml/2006/main">
              <a:ext uri="{FF2B5EF4-FFF2-40B4-BE49-F238E27FC236}">
                <a16:creationId xmlns:a16="http://schemas.microsoft.com/office/drawing/2014/main" id="{DFC59353-7D50-4688-AA06-2224C35349DE}"/>
              </a:ext>
            </a:extLst>
          </p:cNvPr>
          <p:cNvSpPr>
            <a:spLocks xmlns:a="http://schemas.openxmlformats.org/drawingml/2006/main" noGrp="1"/>
          </p:cNvSpPr>
          <p:nvPr/>
        </p:nvSpPr>
        <p:spPr>
          <a:xfrm xmlns:a="http://schemas.openxmlformats.org/drawingml/2006/main">
            <a:off x="1188720" y="2514600"/>
            <a:ext cx="3520440" cy="1965960"/>
          </a:xfrm>
          <a:prstGeom xmlns:a="http://schemas.openxmlformats.org/drawingml/2006/main" prst="line">
            <a:avLst/>
          </a:prstGeom>
          <a:noFill xmlns:a="http://schemas.openxmlformats.org/drawingml/2006/main"/>
          <a:ln xmlns:a="http://schemas.openxmlformats.org/drawingml/2006/main" w="27940">
            <a:solidFill>
              <a:srgbClr val="9A442D"/>
            </a:solidFill>
            <a:prstDash val="solid"/>
            <a:tailEnd type="none"/>
          </a:ln>
        </p:spPr>
      </p:sp>
      <p:sp>
        <p:nvSpPr>
          <p:cNvPr id="17" name="STC-17-scale-cross">
            <a:extLst xmlns:a="http://schemas.openxmlformats.org/drawingml/2006/main">
              <a:ext uri="{FF2B5EF4-FFF2-40B4-BE49-F238E27FC236}">
                <a16:creationId xmlns:a16="http://schemas.microsoft.com/office/drawing/2014/main" id="{38C2475A-C01B-48D1-B5C2-52F03E134CC7}"/>
              </a:ext>
            </a:extLst>
          </p:cNvPr>
          <p:cNvSpPr>
            <a:spLocks xmlns:a="http://schemas.openxmlformats.org/drawingml/2006/main" noGrp="1"/>
          </p:cNvSpPr>
          <p:nvPr/>
        </p:nvSpPr>
        <p:spPr>
          <a:xfrm xmlns:a="http://schemas.openxmlformats.org/drawingml/2006/main">
            <a:off x="2971800" y="3438144"/>
            <a:ext cx="219456" cy="219456"/>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18" name="STC-17-scale-cross-label">
            <a:extLst xmlns:a="http://schemas.openxmlformats.org/drawingml/2006/main">
              <a:ext uri="{FF2B5EF4-FFF2-40B4-BE49-F238E27FC236}">
                <a16:creationId xmlns:a16="http://schemas.microsoft.com/office/drawing/2014/main" id="{5361373B-8A27-4C3F-BCAB-13880DD0432B}"/>
              </a:ext>
            </a:extLst>
          </p:cNvPr>
          <p:cNvSpPr>
            <a:spLocks xmlns:a="http://schemas.openxmlformats.org/drawingml/2006/main" noGrp="1"/>
          </p:cNvSpPr>
          <p:nvPr/>
        </p:nvSpPr>
        <p:spPr>
          <a:xfrm xmlns:a="http://schemas.openxmlformats.org/drawingml/2006/main">
            <a:off x="3200400" y="3209544"/>
            <a:ext cx="1600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7191C"/>
                </a:solidFill>
                <a:latin typeface="Noto Sans CJK KR"/>
                <a:ea typeface="Noto Sans CJK KR"/>
                <a:cs typeface="Noto Sans CJK KR"/>
              </a:rPr>
              <a:t>L*</a:t>
            </a:r>
            <a:endParaRPr sz="1300"/>
          </a:p>
        </p:txBody>
      </p:sp>
      <p:sp>
        <p:nvSpPr>
          <p:cNvPr id="19" name="STC-17-scale-external-label">
            <a:extLst xmlns:a="http://schemas.openxmlformats.org/drawingml/2006/main">
              <a:ext uri="{FF2B5EF4-FFF2-40B4-BE49-F238E27FC236}">
                <a16:creationId xmlns:a16="http://schemas.microsoft.com/office/drawing/2014/main" id="{5A0E898B-D650-4683-929F-FC5564799CA5}"/>
              </a:ext>
            </a:extLst>
          </p:cNvPr>
          <p:cNvSpPr>
            <a:spLocks xmlns:a="http://schemas.openxmlformats.org/drawingml/2006/main" noGrp="1"/>
          </p:cNvSpPr>
          <p:nvPr/>
        </p:nvSpPr>
        <p:spPr>
          <a:xfrm xmlns:a="http://schemas.openxmlformats.org/drawingml/2006/main">
            <a:off x="1554480" y="4096512"/>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244E8A"/>
                </a:solidFill>
                <a:latin typeface="Noto Sans CJK KR"/>
                <a:ea typeface="Noto Sans CJK KR"/>
                <a:cs typeface="Noto Sans CJK KR"/>
              </a:rPr>
              <a:t>논문 회계</a:t>
            </a:r>
            <a:endParaRPr sz="1200"/>
          </a:p>
        </p:txBody>
      </p:sp>
      <p:sp>
        <p:nvSpPr>
          <p:cNvPr id="20" name="STC-17-scale-parametric-label">
            <a:extLst xmlns:a="http://schemas.openxmlformats.org/drawingml/2006/main">
              <a:ext uri="{FF2B5EF4-FFF2-40B4-BE49-F238E27FC236}">
                <a16:creationId xmlns:a16="http://schemas.microsoft.com/office/drawing/2014/main" id="{9314D827-DE51-4522-BD7E-BDF397FFDFC8}"/>
              </a:ext>
            </a:extLst>
          </p:cNvPr>
          <p:cNvSpPr>
            <a:spLocks xmlns:a="http://schemas.openxmlformats.org/drawingml/2006/main" noGrp="1"/>
          </p:cNvSpPr>
          <p:nvPr/>
        </p:nvSpPr>
        <p:spPr>
          <a:xfrm xmlns:a="http://schemas.openxmlformats.org/drawingml/2006/main">
            <a:off x="3986784" y="4114800"/>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9A442D"/>
                </a:solidFill>
                <a:latin typeface="Noto Sans CJK KR"/>
                <a:ea typeface="Noto Sans CJK KR"/>
                <a:cs typeface="Noto Sans CJK KR"/>
              </a:rPr>
              <a:t>12×</a:t>
            </a:r>
            <a:endParaRPr sz="1200"/>
          </a:p>
        </p:txBody>
      </p:sp>
      <p:sp>
        <p:nvSpPr>
          <p:cNvPr id="21" name="STC-17-scale-divider">
            <a:extLst xmlns:a="http://schemas.openxmlformats.org/drawingml/2006/main">
              <a:ext uri="{FF2B5EF4-FFF2-40B4-BE49-F238E27FC236}">
                <a16:creationId xmlns:a16="http://schemas.microsoft.com/office/drawing/2014/main" id="{EED8261B-448F-4417-9C3F-674EDAAAD962}"/>
              </a:ext>
            </a:extLst>
          </p:cNvPr>
          <p:cNvSpPr>
            <a:spLocks xmlns:a="http://schemas.openxmlformats.org/drawingml/2006/main" noGrp="1"/>
          </p:cNvSpPr>
          <p:nvPr/>
        </p:nvSpPr>
        <p:spPr>
          <a:xfrm xmlns:a="http://schemas.openxmlformats.org/drawingml/2006/main">
            <a:off x="5989320" y="1755648"/>
            <a:ext cx="0" cy="3886200"/>
          </a:xfrm>
          <a:prstGeom xmlns:a="http://schemas.openxmlformats.org/drawingml/2006/main" prst="line">
            <a:avLst/>
          </a:prstGeom>
          <a:noFill xmlns:a="http://schemas.openxmlformats.org/drawingml/2006/main"/>
          <a:ln xmlns:a="http://schemas.openxmlformats.org/drawingml/2006/main" w="15240">
            <a:solidFill>
              <a:srgbClr val="C9C4B8"/>
            </a:solidFill>
            <a:prstDash val="solid"/>
            <a:tailEnd type="none"/>
          </a:ln>
        </p:spPr>
      </p:sp>
      <p:sp>
        <p:nvSpPr>
          <p:cNvPr id="22" name="STC-17-atlas-label-0">
            <a:extLst xmlns:a="http://schemas.openxmlformats.org/drawingml/2006/main">
              <a:ext uri="{FF2B5EF4-FFF2-40B4-BE49-F238E27FC236}">
                <a16:creationId xmlns:a16="http://schemas.microsoft.com/office/drawing/2014/main" id="{38500024-C3E5-449E-9177-C70AC65318D7}"/>
              </a:ext>
            </a:extLst>
          </p:cNvPr>
          <p:cNvSpPr>
            <a:spLocks xmlns:a="http://schemas.openxmlformats.org/drawingml/2006/main" noGrp="1"/>
          </p:cNvSpPr>
          <p:nvPr/>
        </p:nvSpPr>
        <p:spPr>
          <a:xfrm xmlns:a="http://schemas.openxmlformats.org/drawingml/2006/main">
            <a:off x="6473952" y="1709928"/>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논문 회계</a:t>
            </a:r>
            <a:endParaRPr sz="1050"/>
          </a:p>
        </p:txBody>
      </p:sp>
      <p:sp>
        <p:nvSpPr>
          <p:cNvPr id="23" name="STC-17-atlas-rule-0">
            <a:extLst xmlns:a="http://schemas.openxmlformats.org/drawingml/2006/main">
              <a:ext uri="{FF2B5EF4-FFF2-40B4-BE49-F238E27FC236}">
                <a16:creationId xmlns:a16="http://schemas.microsoft.com/office/drawing/2014/main" id="{740662E4-4426-481A-AD86-7B8414E58A82}"/>
              </a:ext>
            </a:extLst>
          </p:cNvPr>
          <p:cNvSpPr>
            <a:spLocks xmlns:a="http://schemas.openxmlformats.org/drawingml/2006/main" noGrp="1"/>
          </p:cNvSpPr>
          <p:nvPr/>
        </p:nvSpPr>
        <p:spPr>
          <a:xfrm xmlns:a="http://schemas.openxmlformats.org/drawingml/2006/main">
            <a:off x="8284464" y="1819656"/>
            <a:ext cx="502920" cy="0"/>
          </a:xfrm>
          <a:prstGeom xmlns:a="http://schemas.openxmlformats.org/drawingml/2006/main" prst="line">
            <a:avLst/>
          </a:prstGeom>
          <a:noFill xmlns:a="http://schemas.openxmlformats.org/drawingml/2006/main"/>
          <a:ln xmlns:a="http://schemas.openxmlformats.org/drawingml/2006/main" w="38100">
            <a:solidFill>
              <a:srgbClr val="9A442D"/>
            </a:solidFill>
            <a:prstDash val="solid"/>
            <a:tailEnd type="none"/>
          </a:ln>
        </p:spPr>
      </p:sp>
      <p:sp>
        <p:nvSpPr>
          <p:cNvPr id="24" name="STC-17-atlas-body-0">
            <a:extLst xmlns:a="http://schemas.openxmlformats.org/drawingml/2006/main">
              <a:ext uri="{FF2B5EF4-FFF2-40B4-BE49-F238E27FC236}">
                <a16:creationId xmlns:a16="http://schemas.microsoft.com/office/drawing/2014/main" id="{1B446C46-BC66-41F9-B60B-A7B63A5C03DC}"/>
              </a:ext>
            </a:extLst>
          </p:cNvPr>
          <p:cNvSpPr>
            <a:spLocks xmlns:a="http://schemas.openxmlformats.org/drawingml/2006/main" noGrp="1"/>
          </p:cNvSpPr>
          <p:nvPr/>
        </p:nvSpPr>
        <p:spPr>
          <a:xfrm xmlns:a="http://schemas.openxmlformats.org/drawingml/2006/main">
            <a:off x="8979408" y="1682496"/>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세 레짐 모두 '경계 없음'</a:t>
            </a:r>
            <a:endParaRPr sz="1550"/>
          </a:p>
        </p:txBody>
      </p:sp>
      <p:sp>
        <p:nvSpPr>
          <p:cNvPr id="25" name="STC-17-atlas-label-1">
            <a:extLst xmlns:a="http://schemas.openxmlformats.org/drawingml/2006/main">
              <a:ext uri="{FF2B5EF4-FFF2-40B4-BE49-F238E27FC236}">
                <a16:creationId xmlns:a16="http://schemas.microsoft.com/office/drawing/2014/main" id="{A1AD9682-CB19-4CC3-B24A-465331B8B9E9}"/>
              </a:ext>
            </a:extLst>
          </p:cNvPr>
          <p:cNvSpPr>
            <a:spLocks xmlns:a="http://schemas.openxmlformats.org/drawingml/2006/main" noGrp="1"/>
          </p:cNvSpPr>
          <p:nvPr/>
        </p:nvSpPr>
        <p:spPr>
          <a:xfrm xmlns:a="http://schemas.openxmlformats.org/drawingml/2006/main">
            <a:off x="6473952" y="2496312"/>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GSM-Sym</a:t>
            </a:r>
            <a:endParaRPr sz="1050"/>
          </a:p>
        </p:txBody>
      </p:sp>
      <p:sp>
        <p:nvSpPr>
          <p:cNvPr id="26" name="STC-17-atlas-rule-1">
            <a:extLst xmlns:a="http://schemas.openxmlformats.org/drawingml/2006/main">
              <a:ext uri="{FF2B5EF4-FFF2-40B4-BE49-F238E27FC236}">
                <a16:creationId xmlns:a16="http://schemas.microsoft.com/office/drawing/2014/main" id="{9C753F1A-0E9B-4F34-8439-061056C7176A}"/>
              </a:ext>
            </a:extLst>
          </p:cNvPr>
          <p:cNvSpPr>
            <a:spLocks xmlns:a="http://schemas.openxmlformats.org/drawingml/2006/main" noGrp="1"/>
          </p:cNvSpPr>
          <p:nvPr/>
        </p:nvSpPr>
        <p:spPr>
          <a:xfrm xmlns:a="http://schemas.openxmlformats.org/drawingml/2006/main">
            <a:off x="8284464" y="2606040"/>
            <a:ext cx="502920" cy="0"/>
          </a:xfrm>
          <a:prstGeom xmlns:a="http://schemas.openxmlformats.org/drawingml/2006/main" prst="line">
            <a:avLst/>
          </a:prstGeom>
          <a:noFill xmlns:a="http://schemas.openxmlformats.org/drawingml/2006/main"/>
          <a:ln xmlns:a="http://schemas.openxmlformats.org/drawingml/2006/main" w="38100">
            <a:solidFill>
              <a:srgbClr val="244E8A"/>
            </a:solidFill>
            <a:prstDash val="solid"/>
            <a:tailEnd type="none"/>
          </a:ln>
        </p:spPr>
      </p:sp>
      <p:sp>
        <p:nvSpPr>
          <p:cNvPr id="27" name="STC-17-atlas-body-1">
            <a:extLst xmlns:a="http://schemas.openxmlformats.org/drawingml/2006/main">
              <a:ext uri="{FF2B5EF4-FFF2-40B4-BE49-F238E27FC236}">
                <a16:creationId xmlns:a16="http://schemas.microsoft.com/office/drawing/2014/main" id="{1A33A49B-1D5D-4C8F-8664-0C37F5C18102}"/>
              </a:ext>
            </a:extLst>
          </p:cNvPr>
          <p:cNvSpPr>
            <a:spLocks xmlns:a="http://schemas.openxmlformats.org/drawingml/2006/main" noGrp="1"/>
          </p:cNvSpPr>
          <p:nvPr/>
        </p:nvSpPr>
        <p:spPr>
          <a:xfrm xmlns:a="http://schemas.openxmlformats.org/drawingml/2006/main">
            <a:off x="8979408" y="2468880"/>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FLOPs·κ∥=1에서 문맥의 12배</a:t>
            </a:r>
            <a:endParaRPr sz="1550"/>
          </a:p>
        </p:txBody>
      </p:sp>
      <p:sp>
        <p:nvSpPr>
          <p:cNvPr id="28" name="STC-17-atlas-label-2">
            <a:extLst xmlns:a="http://schemas.openxmlformats.org/drawingml/2006/main">
              <a:ext uri="{FF2B5EF4-FFF2-40B4-BE49-F238E27FC236}">
                <a16:creationId xmlns:a16="http://schemas.microsoft.com/office/drawing/2014/main" id="{4B5B8C07-BC12-46CD-813B-3AF219E12202}"/>
              </a:ext>
            </a:extLst>
          </p:cNvPr>
          <p:cNvSpPr>
            <a:spLocks xmlns:a="http://schemas.openxmlformats.org/drawingml/2006/main" noGrp="1"/>
          </p:cNvSpPr>
          <p:nvPr/>
        </p:nvSpPr>
        <p:spPr>
          <a:xfrm xmlns:a="http://schemas.openxmlformats.org/drawingml/2006/main">
            <a:off x="6473952" y="3282696"/>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AIME</a:t>
            </a:r>
            <a:endParaRPr sz="1050"/>
          </a:p>
        </p:txBody>
      </p:sp>
      <p:sp>
        <p:nvSpPr>
          <p:cNvPr id="29" name="STC-17-atlas-rule-2">
            <a:extLst xmlns:a="http://schemas.openxmlformats.org/drawingml/2006/main">
              <a:ext uri="{FF2B5EF4-FFF2-40B4-BE49-F238E27FC236}">
                <a16:creationId xmlns:a16="http://schemas.microsoft.com/office/drawing/2014/main" id="{5B2A6C3E-8059-4CE9-9C3B-70976103A271}"/>
              </a:ext>
            </a:extLst>
          </p:cNvPr>
          <p:cNvSpPr>
            <a:spLocks xmlns:a="http://schemas.openxmlformats.org/drawingml/2006/main" noGrp="1"/>
          </p:cNvSpPr>
          <p:nvPr/>
        </p:nvSpPr>
        <p:spPr>
          <a:xfrm xmlns:a="http://schemas.openxmlformats.org/drawingml/2006/main">
            <a:off x="8284464" y="3392424"/>
            <a:ext cx="502920" cy="0"/>
          </a:xfrm>
          <a:prstGeom xmlns:a="http://schemas.openxmlformats.org/drawingml/2006/main" prst="line">
            <a:avLst/>
          </a:prstGeom>
          <a:noFill xmlns:a="http://schemas.openxmlformats.org/drawingml/2006/main"/>
          <a:ln xmlns:a="http://schemas.openxmlformats.org/drawingml/2006/main" w="38100">
            <a:solidFill>
              <a:srgbClr val="2F6B63"/>
            </a:solidFill>
            <a:prstDash val="solid"/>
            <a:tailEnd type="none"/>
          </a:ln>
        </p:spPr>
      </p:sp>
      <p:sp>
        <p:nvSpPr>
          <p:cNvPr id="30" name="STC-17-atlas-body-2">
            <a:extLst xmlns:a="http://schemas.openxmlformats.org/drawingml/2006/main">
              <a:ext uri="{FF2B5EF4-FFF2-40B4-BE49-F238E27FC236}">
                <a16:creationId xmlns:a16="http://schemas.microsoft.com/office/drawing/2014/main" id="{ED8666E7-DF2A-4D85-9EB9-7BFAEFE25FBB}"/>
              </a:ext>
            </a:extLst>
          </p:cNvPr>
          <p:cNvSpPr>
            <a:spLocks xmlns:a="http://schemas.openxmlformats.org/drawingml/2006/main" noGrp="1"/>
          </p:cNvSpPr>
          <p:nvPr/>
        </p:nvSpPr>
        <p:spPr>
          <a:xfrm xmlns:a="http://schemas.openxmlformats.org/drawingml/2006/main">
            <a:off x="8979408" y="3255264"/>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여유가 크지만 문맥이 비는 인스턴스 포함</a:t>
            </a:r>
            <a:endParaRPr sz="1550"/>
          </a:p>
        </p:txBody>
      </p:sp>
      <p:sp>
        <p:nvSpPr>
          <p:cNvPr id="31" name="STC-17-atlas-label-3">
            <a:extLst xmlns:a="http://schemas.openxmlformats.org/drawingml/2006/main">
              <a:ext uri="{FF2B5EF4-FFF2-40B4-BE49-F238E27FC236}">
                <a16:creationId xmlns:a16="http://schemas.microsoft.com/office/drawing/2014/main" id="{C22D209C-8F5F-4D75-9BCF-C8C2E6E5DB33}"/>
              </a:ext>
            </a:extLst>
          </p:cNvPr>
          <p:cNvSpPr>
            <a:spLocks xmlns:a="http://schemas.openxmlformats.org/drawingml/2006/main" noGrp="1"/>
          </p:cNvSpPr>
          <p:nvPr/>
        </p:nvSpPr>
        <p:spPr>
          <a:xfrm xmlns:a="http://schemas.openxmlformats.org/drawingml/2006/main">
            <a:off x="6473952" y="4069080"/>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SWE-Feat</a:t>
            </a:r>
            <a:endParaRPr sz="1050"/>
          </a:p>
        </p:txBody>
      </p:sp>
      <p:sp>
        <p:nvSpPr>
          <p:cNvPr id="32" name="STC-17-atlas-rule-3">
            <a:extLst xmlns:a="http://schemas.openxmlformats.org/drawingml/2006/main">
              <a:ext uri="{FF2B5EF4-FFF2-40B4-BE49-F238E27FC236}">
                <a16:creationId xmlns:a16="http://schemas.microsoft.com/office/drawing/2014/main" id="{6413883D-F716-4E60-A3EA-294B9FF31579}"/>
              </a:ext>
            </a:extLst>
          </p:cNvPr>
          <p:cNvSpPr>
            <a:spLocks xmlns:a="http://schemas.openxmlformats.org/drawingml/2006/main" noGrp="1"/>
          </p:cNvSpPr>
          <p:nvPr/>
        </p:nvSpPr>
        <p:spPr>
          <a:xfrm xmlns:a="http://schemas.openxmlformats.org/drawingml/2006/main">
            <a:off x="8284464" y="4178808"/>
            <a:ext cx="502920" cy="0"/>
          </a:xfrm>
          <a:prstGeom xmlns:a="http://schemas.openxmlformats.org/drawingml/2006/main" prst="line">
            <a:avLst/>
          </a:prstGeom>
          <a:noFill xmlns:a="http://schemas.openxmlformats.org/drawingml/2006/main"/>
          <a:ln xmlns:a="http://schemas.openxmlformats.org/drawingml/2006/main" w="38100">
            <a:solidFill>
              <a:srgbClr val="9A442D"/>
            </a:solidFill>
            <a:prstDash val="solid"/>
            <a:tailEnd type="none"/>
          </a:ln>
        </p:spPr>
      </p:sp>
      <p:sp>
        <p:nvSpPr>
          <p:cNvPr id="33" name="STC-17-atlas-body-3">
            <a:extLst xmlns:a="http://schemas.openxmlformats.org/drawingml/2006/main">
              <a:ext uri="{FF2B5EF4-FFF2-40B4-BE49-F238E27FC236}">
                <a16:creationId xmlns:a16="http://schemas.microsoft.com/office/drawing/2014/main" id="{3690E37F-97C1-44E1-9B22-261955C76526}"/>
              </a:ext>
            </a:extLst>
          </p:cNvPr>
          <p:cNvSpPr>
            <a:spLocks xmlns:a="http://schemas.openxmlformats.org/drawingml/2006/main" noGrp="1"/>
          </p:cNvSpPr>
          <p:nvPr/>
        </p:nvSpPr>
        <p:spPr>
          <a:xfrm xmlns:a="http://schemas.openxmlformats.org/drawingml/2006/main">
            <a:off x="8979408" y="4041648"/>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κ∥=10이면 문맥의 0.42배까지 좁아진다</a:t>
            </a:r>
            <a:endParaRPr sz="1550"/>
          </a:p>
        </p:txBody>
      </p:sp>
      <p:sp>
        <p:nvSpPr>
          <p:cNvPr id="34" name="STC-17-atlas-label-4">
            <a:extLst xmlns:a="http://schemas.openxmlformats.org/drawingml/2006/main">
              <a:ext uri="{FF2B5EF4-FFF2-40B4-BE49-F238E27FC236}">
                <a16:creationId xmlns:a16="http://schemas.microsoft.com/office/drawing/2014/main" id="{4E09BD89-2B39-4380-8908-5D98AB0C13FF}"/>
              </a:ext>
            </a:extLst>
          </p:cNvPr>
          <p:cNvSpPr>
            <a:spLocks xmlns:a="http://schemas.openxmlformats.org/drawingml/2006/main" noGrp="1"/>
          </p:cNvSpPr>
          <p:nvPr/>
        </p:nvSpPr>
        <p:spPr>
          <a:xfrm xmlns:a="http://schemas.openxmlformats.org/drawingml/2006/main">
            <a:off x="6473952" y="4855464"/>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단정</a:t>
            </a:r>
            <a:endParaRPr sz="1050"/>
          </a:p>
        </p:txBody>
      </p:sp>
      <p:sp>
        <p:nvSpPr>
          <p:cNvPr id="35" name="STC-17-atlas-rule-4">
            <a:extLst xmlns:a="http://schemas.openxmlformats.org/drawingml/2006/main">
              <a:ext uri="{FF2B5EF4-FFF2-40B4-BE49-F238E27FC236}">
                <a16:creationId xmlns:a16="http://schemas.microsoft.com/office/drawing/2014/main" id="{6F85C4F8-DEE9-43E4-B953-A1AA93F5F878}"/>
              </a:ext>
            </a:extLst>
          </p:cNvPr>
          <p:cNvSpPr>
            <a:spLocks xmlns:a="http://schemas.openxmlformats.org/drawingml/2006/main" noGrp="1"/>
          </p:cNvSpPr>
          <p:nvPr/>
        </p:nvSpPr>
        <p:spPr>
          <a:xfrm xmlns:a="http://schemas.openxmlformats.org/drawingml/2006/main">
            <a:off x="8284464" y="4965192"/>
            <a:ext cx="502920" cy="0"/>
          </a:xfrm>
          <a:prstGeom xmlns:a="http://schemas.openxmlformats.org/drawingml/2006/main" prst="line">
            <a:avLst/>
          </a:prstGeom>
          <a:noFill xmlns:a="http://schemas.openxmlformats.org/drawingml/2006/main"/>
          <a:ln xmlns:a="http://schemas.openxmlformats.org/drawingml/2006/main" w="38100">
            <a:solidFill>
              <a:srgbClr val="59616A"/>
            </a:solidFill>
            <a:prstDash val="solid"/>
            <a:tailEnd type="none"/>
          </a:ln>
        </p:spPr>
      </p:sp>
      <p:sp>
        <p:nvSpPr>
          <p:cNvPr id="36" name="STC-17-atlas-body-4">
            <a:extLst xmlns:a="http://schemas.openxmlformats.org/drawingml/2006/main">
              <a:ext uri="{FF2B5EF4-FFF2-40B4-BE49-F238E27FC236}">
                <a16:creationId xmlns:a16="http://schemas.microsoft.com/office/drawing/2014/main" id="{E742DFC6-454B-4514-81D0-A19D043EF25B}"/>
              </a:ext>
            </a:extLst>
          </p:cNvPr>
          <p:cNvSpPr>
            <a:spLocks xmlns:a="http://schemas.openxmlformats.org/drawingml/2006/main" noGrp="1"/>
          </p:cNvSpPr>
          <p:nvPr/>
        </p:nvSpPr>
        <p:spPr>
          <a:xfrm xmlns:a="http://schemas.openxmlformats.org/drawingml/2006/main">
            <a:off x="8979408" y="4828032"/>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순서만. 두 방향으로 결정되어 둔감하다</a:t>
            </a:r>
            <a:endParaRPr sz="1550"/>
          </a:p>
        </p:txBody>
      </p:sp>
      <p:sp>
        <p:nvSpPr>
          <p:cNvPr id="37" name="STC-17-scale-nonresult">
            <a:extLst xmlns:a="http://schemas.openxmlformats.org/drawingml/2006/main">
              <a:ext uri="{FF2B5EF4-FFF2-40B4-BE49-F238E27FC236}">
                <a16:creationId xmlns:a16="http://schemas.microsoft.com/office/drawing/2014/main" id="{0DBC12A9-4F5B-4978-9410-2294970708B3}"/>
              </a:ext>
            </a:extLst>
          </p:cNvPr>
          <p:cNvSpPr>
            <a:spLocks xmlns:a="http://schemas.openxmlformats.org/drawingml/2006/main" noGrp="1"/>
          </p:cNvSpPr>
          <p:nvPr/>
        </p:nvSpPr>
        <p:spPr>
          <a:xfrm xmlns:a="http://schemas.openxmlformats.org/drawingml/2006/main">
            <a:off x="8183880" y="5715000"/>
            <a:ext cx="2971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b="1">
                <a:solidFill>
                  <a:srgbClr val="9A442D"/>
                </a:solidFill>
                <a:latin typeface="Noto Sans Mono CJK KR"/>
                <a:ea typeface="Noto Sans Mono CJK KR"/>
                <a:cs typeface="Noto Sans Mono CJK KR"/>
              </a:rPr>
              <a:t>SWE-Features가 모든 회계 변종, 모든 κ_∥에서 최하위다. 절대 임계치는 판정 근거가 아니다</a:t>
            </a:r>
            <a:endParaRPr sz="1000"/>
          </a:p>
        </p:txBody>
      </p:sp>
    </p:spTree>
    <p:extLst>
      <p:ext uri="{BB962C8B-B14F-4D97-AF65-F5344CB8AC3E}">
        <p14:creationId xmlns:p14="http://schemas.microsoft.com/office/powerpoint/2010/main" val="814754748"/>
      </p:ext>
    </p:extLst>
  </p:cSld>
</p:sld>
</file>

<file path=ppt/slides/slide8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8-section">
            <a:extLst xmlns:a="http://schemas.openxmlformats.org/drawingml/2006/main">
              <a:ext uri="{FF2B5EF4-FFF2-40B4-BE49-F238E27FC236}">
                <a16:creationId xmlns:a16="http://schemas.microsoft.com/office/drawing/2014/main" id="{7B2F2BEC-3602-48B7-8AE5-82606691E202}"/>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EXPERIMENTS</a:t>
            </a:r>
            <a:endParaRPr sz="950"/>
          </a:p>
        </p:txBody>
      </p:sp>
      <p:sp>
        <p:nvSpPr>
          <p:cNvPr id="3" name="STC-18-slide-id">
            <a:extLst xmlns:a="http://schemas.openxmlformats.org/drawingml/2006/main">
              <a:ext uri="{FF2B5EF4-FFF2-40B4-BE49-F238E27FC236}">
                <a16:creationId xmlns:a16="http://schemas.microsoft.com/office/drawing/2014/main" id="{9AE62136-189D-4710-BD84-EAC5632E1659}"/>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STC-084</a:t>
            </a:r>
            <a:endParaRPr sz="950"/>
          </a:p>
        </p:txBody>
      </p:sp>
      <p:sp>
        <p:nvSpPr>
          <p:cNvPr id="4" name="STC-18-headline">
            <a:extLst xmlns:a="http://schemas.openxmlformats.org/drawingml/2006/main">
              <a:ext uri="{FF2B5EF4-FFF2-40B4-BE49-F238E27FC236}">
                <a16:creationId xmlns:a16="http://schemas.microsoft.com/office/drawing/2014/main" id="{D266D2F1-778B-4F2E-AC6F-D10EF836FA1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X1 민감도 — 회계를 지탱하는 가장 무거운 상수가 가장 근거가 얇다</a:t>
            </a:r>
            <a:endParaRPr sz="3000"/>
          </a:p>
        </p:txBody>
      </p:sp>
      <p:sp>
        <p:nvSpPr>
          <p:cNvPr id="5" name="STC-18-status-label">
            <a:extLst xmlns:a="http://schemas.openxmlformats.org/drawingml/2006/main">
              <a:ext uri="{FF2B5EF4-FFF2-40B4-BE49-F238E27FC236}">
                <a16:creationId xmlns:a16="http://schemas.microsoft.com/office/drawing/2014/main" id="{79C701E9-D174-4EFD-A18F-4DC89E642FD4}"/>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9A442D"/>
                </a:solidFill>
                <a:latin typeface="Noto Sans Mono CJK KR"/>
                <a:ea typeface="Noto Sans Mono CJK KR"/>
                <a:cs typeface="Noto Sans Mono CJK KR"/>
              </a:rPr>
              <a:t>회계 · 비례만</a:t>
            </a:r>
            <a:endParaRPr sz="1000"/>
          </a:p>
        </p:txBody>
      </p:sp>
      <p:sp>
        <p:nvSpPr>
          <p:cNvPr id="6" name="STC-18-status-rule">
            <a:extLst xmlns:a="http://schemas.openxmlformats.org/drawingml/2006/main">
              <a:ext uri="{FF2B5EF4-FFF2-40B4-BE49-F238E27FC236}">
                <a16:creationId xmlns:a16="http://schemas.microsoft.com/office/drawing/2014/main" id="{529715C2-F602-473A-947A-5FCB9DCC7AF8}"/>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9A442D"/>
            </a:solidFill>
            <a:prstDash val="solid"/>
            <a:tailEnd type="none"/>
          </a:ln>
        </p:spPr>
      </p:sp>
      <p:sp>
        <p:nvSpPr>
          <p:cNvPr id="7" name="STC-18-footer-rule">
            <a:extLst xmlns:a="http://schemas.openxmlformats.org/drawingml/2006/main">
              <a:ext uri="{FF2B5EF4-FFF2-40B4-BE49-F238E27FC236}">
                <a16:creationId xmlns:a16="http://schemas.microsoft.com/office/drawing/2014/main" id="{403A9EAC-FF66-416C-A329-C6EC95571F21}"/>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8-source-footer">
            <a:extLst xmlns:a="http://schemas.openxmlformats.org/drawingml/2006/main">
              <a:ext uri="{FF2B5EF4-FFF2-40B4-BE49-F238E27FC236}">
                <a16:creationId xmlns:a16="http://schemas.microsoft.com/office/drawing/2014/main" id="{4E420FB2-E8CE-4EDD-9FDC-7CA418F767F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ch25 §25.3.4 · experiments/stc/X1 Q4</a:t>
            </a:r>
            <a:endParaRPr sz="850"/>
          </a:p>
        </p:txBody>
      </p:sp>
      <p:sp>
        <p:nvSpPr>
          <p:cNvPr id="9" name="STC-18-page-number">
            <a:extLst xmlns:a="http://schemas.openxmlformats.org/drawingml/2006/main">
              <a:ext uri="{FF2B5EF4-FFF2-40B4-BE49-F238E27FC236}">
                <a16:creationId xmlns:a16="http://schemas.microsoft.com/office/drawing/2014/main" id="{4FE270B3-F1A6-4BCA-B282-FDF212DC78F7}"/>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84</a:t>
            </a:r>
            <a:endParaRPr sz="850"/>
          </a:p>
        </p:txBody>
      </p:sp>
      <p:sp>
        <p:nvSpPr>
          <p:cNvPr id="11" name="STC-18-knee-axis-x">
            <a:extLst xmlns:a="http://schemas.openxmlformats.org/drawingml/2006/main">
              <a:ext uri="{FF2B5EF4-FFF2-40B4-BE49-F238E27FC236}">
                <a16:creationId xmlns:a16="http://schemas.microsoft.com/office/drawing/2014/main" id="{C81452CC-D40C-4DD0-AE1A-B0381E5804B5}"/>
              </a:ext>
            </a:extLst>
          </p:cNvPr>
          <p:cNvSpPr>
            <a:spLocks xmlns:a="http://schemas.openxmlformats.org/drawingml/2006/main" noGrp="1"/>
          </p:cNvSpPr>
          <p:nvPr/>
        </p:nvSpPr>
        <p:spPr>
          <a:xfrm xmlns:a="http://schemas.openxmlformats.org/drawingml/2006/main">
            <a:off x="1143000" y="5669280"/>
            <a:ext cx="644652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2" name="STC-18-knee-axis-y">
            <a:extLst xmlns:a="http://schemas.openxmlformats.org/drawingml/2006/main">
              <a:ext uri="{FF2B5EF4-FFF2-40B4-BE49-F238E27FC236}">
                <a16:creationId xmlns:a16="http://schemas.microsoft.com/office/drawing/2014/main" id="{E1F7C2CF-4433-4C4B-8A34-B94592ECA104}"/>
              </a:ext>
            </a:extLst>
          </p:cNvPr>
          <p:cNvSpPr>
            <a:spLocks xmlns:a="http://schemas.openxmlformats.org/drawingml/2006/main" noGrp="1"/>
          </p:cNvSpPr>
          <p:nvPr/>
        </p:nvSpPr>
        <p:spPr>
          <a:xfrm xmlns:a="http://schemas.openxmlformats.org/drawingml/2006/main" flipH="0" flipV="1">
            <a:off x="1143000" y="1691640"/>
            <a:ext cx="0" cy="397764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3" name="STC-18-knee-axis-xlabel">
            <a:extLst xmlns:a="http://schemas.openxmlformats.org/drawingml/2006/main">
              <a:ext uri="{FF2B5EF4-FFF2-40B4-BE49-F238E27FC236}">
                <a16:creationId xmlns:a16="http://schemas.microsoft.com/office/drawing/2014/main" id="{EDAFD2D4-0676-4B50-9F78-4EFC185B7F17}"/>
              </a:ext>
            </a:extLst>
          </p:cNvPr>
          <p:cNvSpPr>
            <a:spLocks xmlns:a="http://schemas.openxmlformats.org/drawingml/2006/main" noGrp="1"/>
          </p:cNvSpPr>
          <p:nvPr/>
        </p:nvSpPr>
        <p:spPr>
          <a:xfrm xmlns:a="http://schemas.openxmlformats.org/drawingml/2006/main">
            <a:off x="6126480" y="5815584"/>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a:solidFill>
                  <a:srgbClr val="59616A"/>
                </a:solidFill>
                <a:latin typeface="Noto Sans CJK KR"/>
                <a:ea typeface="Noto Sans CJK KR"/>
                <a:cs typeface="Noto Sans CJK KR"/>
              </a:rPr>
              <a:t>κ_cost</a:t>
            </a:r>
            <a:endParaRPr sz="1100"/>
          </a:p>
        </p:txBody>
      </p:sp>
      <p:sp>
        <p:nvSpPr>
          <p:cNvPr id="14" name="STC-18-knee-axis-ylabel">
            <a:extLst xmlns:a="http://schemas.openxmlformats.org/drawingml/2006/main">
              <a:ext uri="{FF2B5EF4-FFF2-40B4-BE49-F238E27FC236}">
                <a16:creationId xmlns:a16="http://schemas.microsoft.com/office/drawing/2014/main" id="{9B0E0507-09BE-4BC6-95FC-188BF218F1D0}"/>
              </a:ext>
            </a:extLst>
          </p:cNvPr>
          <p:cNvSpPr>
            <a:spLocks xmlns:a="http://schemas.openxmlformats.org/drawingml/2006/main" noGrp="1"/>
          </p:cNvSpPr>
          <p:nvPr/>
        </p:nvSpPr>
        <p:spPr>
          <a:xfrm xmlns:a="http://schemas.openxmlformats.org/drawingml/2006/main" rot="16200000">
            <a:off x="731520" y="1581912"/>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9616A"/>
                </a:solidFill>
                <a:latin typeface="Noto Sans CJK KR"/>
                <a:ea typeface="Noto Sans CJK KR"/>
                <a:cs typeface="Noto Sans CJK KR"/>
              </a:rPr>
              <a:t>L*/|c|</a:t>
            </a:r>
            <a:endParaRPr sz="1100"/>
          </a:p>
        </p:txBody>
      </p:sp>
      <p:sp>
        <p:nvSpPr>
          <p:cNvPr id="15" name="STC-18-knee-seg-1">
            <a:extLst xmlns:a="http://schemas.openxmlformats.org/drawingml/2006/main">
              <a:ext uri="{FF2B5EF4-FFF2-40B4-BE49-F238E27FC236}">
                <a16:creationId xmlns:a16="http://schemas.microsoft.com/office/drawing/2014/main" id="{003F0C5F-F595-422E-8FDF-066640D7D432}"/>
              </a:ext>
            </a:extLst>
          </p:cNvPr>
          <p:cNvSpPr>
            <a:spLocks xmlns:a="http://schemas.openxmlformats.org/drawingml/2006/main" noGrp="1"/>
          </p:cNvSpPr>
          <p:nvPr/>
        </p:nvSpPr>
        <p:spPr>
          <a:xfrm xmlns:a="http://schemas.openxmlformats.org/drawingml/2006/main">
            <a:off x="1298448" y="2148840"/>
            <a:ext cx="1005840" cy="27432"/>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6" name="STC-18-knee-seg-2">
            <a:extLst xmlns:a="http://schemas.openxmlformats.org/drawingml/2006/main">
              <a:ext uri="{FF2B5EF4-FFF2-40B4-BE49-F238E27FC236}">
                <a16:creationId xmlns:a16="http://schemas.microsoft.com/office/drawing/2014/main" id="{2F93FE18-0F04-40C0-9893-2A149CE61627}"/>
              </a:ext>
            </a:extLst>
          </p:cNvPr>
          <p:cNvSpPr>
            <a:spLocks xmlns:a="http://schemas.openxmlformats.org/drawingml/2006/main" noGrp="1"/>
          </p:cNvSpPr>
          <p:nvPr/>
        </p:nvSpPr>
        <p:spPr>
          <a:xfrm xmlns:a="http://schemas.openxmlformats.org/drawingml/2006/main">
            <a:off x="2304288" y="2176272"/>
            <a:ext cx="1005840" cy="109728"/>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7" name="STC-18-knee-seg-3">
            <a:extLst xmlns:a="http://schemas.openxmlformats.org/drawingml/2006/main">
              <a:ext uri="{FF2B5EF4-FFF2-40B4-BE49-F238E27FC236}">
                <a16:creationId xmlns:a16="http://schemas.microsoft.com/office/drawing/2014/main" id="{F6FEFA14-7856-41AC-9C31-FD11A3798DEF}"/>
              </a:ext>
            </a:extLst>
          </p:cNvPr>
          <p:cNvSpPr>
            <a:spLocks xmlns:a="http://schemas.openxmlformats.org/drawingml/2006/main" noGrp="1"/>
          </p:cNvSpPr>
          <p:nvPr/>
        </p:nvSpPr>
        <p:spPr>
          <a:xfrm xmlns:a="http://schemas.openxmlformats.org/drawingml/2006/main">
            <a:off x="3310128" y="2286000"/>
            <a:ext cx="1005840" cy="384048"/>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8" name="STC-18-knee-seg-4">
            <a:extLst xmlns:a="http://schemas.openxmlformats.org/drawingml/2006/main">
              <a:ext uri="{FF2B5EF4-FFF2-40B4-BE49-F238E27FC236}">
                <a16:creationId xmlns:a16="http://schemas.microsoft.com/office/drawing/2014/main" id="{6763C838-9134-475E-ACDA-446F8E1614D8}"/>
              </a:ext>
            </a:extLst>
          </p:cNvPr>
          <p:cNvSpPr>
            <a:spLocks xmlns:a="http://schemas.openxmlformats.org/drawingml/2006/main" noGrp="1"/>
          </p:cNvSpPr>
          <p:nvPr/>
        </p:nvSpPr>
        <p:spPr>
          <a:xfrm xmlns:a="http://schemas.openxmlformats.org/drawingml/2006/main">
            <a:off x="4315968" y="2670048"/>
            <a:ext cx="1005840" cy="1024128"/>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19" name="STC-18-knee-seg-5">
            <a:extLst xmlns:a="http://schemas.openxmlformats.org/drawingml/2006/main">
              <a:ext uri="{FF2B5EF4-FFF2-40B4-BE49-F238E27FC236}">
                <a16:creationId xmlns:a16="http://schemas.microsoft.com/office/drawing/2014/main" id="{0972766A-6EEF-47F5-A54A-3BD977CCF7A8}"/>
              </a:ext>
            </a:extLst>
          </p:cNvPr>
          <p:cNvSpPr>
            <a:spLocks xmlns:a="http://schemas.openxmlformats.org/drawingml/2006/main" noGrp="1"/>
          </p:cNvSpPr>
          <p:nvPr/>
        </p:nvSpPr>
        <p:spPr>
          <a:xfrm xmlns:a="http://schemas.openxmlformats.org/drawingml/2006/main">
            <a:off x="5321808" y="3694176"/>
            <a:ext cx="1005840" cy="1298448"/>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20" name="STC-18-knee-seg-6">
            <a:extLst xmlns:a="http://schemas.openxmlformats.org/drawingml/2006/main">
              <a:ext uri="{FF2B5EF4-FFF2-40B4-BE49-F238E27FC236}">
                <a16:creationId xmlns:a16="http://schemas.microsoft.com/office/drawing/2014/main" id="{4DFF07AF-0006-44B9-8763-71C943AA66F4}"/>
              </a:ext>
            </a:extLst>
          </p:cNvPr>
          <p:cNvSpPr>
            <a:spLocks xmlns:a="http://schemas.openxmlformats.org/drawingml/2006/main" noGrp="1"/>
          </p:cNvSpPr>
          <p:nvPr/>
        </p:nvSpPr>
        <p:spPr>
          <a:xfrm xmlns:a="http://schemas.openxmlformats.org/drawingml/2006/main">
            <a:off x="6327648" y="4992624"/>
            <a:ext cx="822960" cy="164592"/>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21" name="STC-18-knee-threshold">
            <a:extLst xmlns:a="http://schemas.openxmlformats.org/drawingml/2006/main">
              <a:ext uri="{FF2B5EF4-FFF2-40B4-BE49-F238E27FC236}">
                <a16:creationId xmlns:a16="http://schemas.microsoft.com/office/drawing/2014/main" id="{E0D27FC3-1406-4DDF-9A5F-FCD6BD706F18}"/>
              </a:ext>
            </a:extLst>
          </p:cNvPr>
          <p:cNvSpPr>
            <a:spLocks xmlns:a="http://schemas.openxmlformats.org/drawingml/2006/main" noGrp="1"/>
          </p:cNvSpPr>
          <p:nvPr/>
        </p:nvSpPr>
        <p:spPr>
          <a:xfrm xmlns:a="http://schemas.openxmlformats.org/drawingml/2006/main">
            <a:off x="1143000" y="2944368"/>
            <a:ext cx="6446520" cy="0"/>
          </a:xfrm>
          <a:prstGeom xmlns:a="http://schemas.openxmlformats.org/drawingml/2006/main" prst="line">
            <a:avLst/>
          </a:prstGeom>
          <a:noFill xmlns:a="http://schemas.openxmlformats.org/drawingml/2006/main"/>
          <a:ln xmlns:a="http://schemas.openxmlformats.org/drawingml/2006/main" w="12700">
            <a:solidFill>
              <a:srgbClr val="59616A"/>
            </a:solidFill>
            <a:prstDash val="solid"/>
            <a:tailEnd type="none"/>
          </a:ln>
        </p:spPr>
      </p:sp>
      <p:sp>
        <p:nvSpPr>
          <p:cNvPr id="22" name="STC-18-knee-threshold-label">
            <a:extLst xmlns:a="http://schemas.openxmlformats.org/drawingml/2006/main">
              <a:ext uri="{FF2B5EF4-FFF2-40B4-BE49-F238E27FC236}">
                <a16:creationId xmlns:a16="http://schemas.microsoft.com/office/drawing/2014/main" id="{C84DFF8C-E003-4B2D-8344-300CD8D0E8BA}"/>
              </a:ext>
            </a:extLst>
          </p:cNvPr>
          <p:cNvSpPr>
            <a:spLocks xmlns:a="http://schemas.openxmlformats.org/drawingml/2006/main" noGrp="1"/>
          </p:cNvSpPr>
          <p:nvPr/>
        </p:nvSpPr>
        <p:spPr>
          <a:xfrm xmlns:a="http://schemas.openxmlformats.org/drawingml/2006/main">
            <a:off x="1325880" y="2761488"/>
            <a:ext cx="11430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9616A"/>
                </a:solidFill>
                <a:latin typeface="Noto Sans Mono CJK KR"/>
                <a:ea typeface="Noto Sans Mono CJK KR"/>
                <a:cs typeface="Noto Sans Mono CJK KR"/>
              </a:rPr>
              <a:t>정비례</a:t>
            </a:r>
            <a:endParaRPr sz="1050"/>
          </a:p>
        </p:txBody>
      </p:sp>
      <p:sp>
        <p:nvSpPr>
          <p:cNvPr id="23" name="STC-18-knee-marker">
            <a:extLst xmlns:a="http://schemas.openxmlformats.org/drawingml/2006/main">
              <a:ext uri="{FF2B5EF4-FFF2-40B4-BE49-F238E27FC236}">
                <a16:creationId xmlns:a16="http://schemas.microsoft.com/office/drawing/2014/main" id="{B7796550-C739-4C12-AB34-728E99CD5A5C}"/>
              </a:ext>
            </a:extLst>
          </p:cNvPr>
          <p:cNvSpPr>
            <a:spLocks xmlns:a="http://schemas.openxmlformats.org/drawingml/2006/main" noGrp="1"/>
          </p:cNvSpPr>
          <p:nvPr/>
        </p:nvSpPr>
        <p:spPr>
          <a:xfrm xmlns:a="http://schemas.openxmlformats.org/drawingml/2006/main">
            <a:off x="4709160" y="2889504"/>
            <a:ext cx="0" cy="2505456"/>
          </a:xfrm>
          <a:prstGeom xmlns:a="http://schemas.openxmlformats.org/drawingml/2006/main" prst="line">
            <a:avLst/>
          </a:prstGeom>
          <a:noFill xmlns:a="http://schemas.openxmlformats.org/drawingml/2006/main"/>
          <a:ln xmlns:a="http://schemas.openxmlformats.org/drawingml/2006/main" w="17780">
            <a:solidFill>
              <a:srgbClr val="9A442D"/>
            </a:solidFill>
            <a:prstDash val="solid"/>
            <a:tailEnd type="none"/>
          </a:ln>
        </p:spPr>
      </p:sp>
      <p:sp>
        <p:nvSpPr>
          <p:cNvPr id="24" name="STC-18-knee-keff">
            <a:extLst xmlns:a="http://schemas.openxmlformats.org/drawingml/2006/main">
              <a:ext uri="{FF2B5EF4-FFF2-40B4-BE49-F238E27FC236}">
                <a16:creationId xmlns:a16="http://schemas.microsoft.com/office/drawing/2014/main" id="{560C924C-F866-4087-B484-42FE73811586}"/>
              </a:ext>
            </a:extLst>
          </p:cNvPr>
          <p:cNvSpPr>
            <a:spLocks xmlns:a="http://schemas.openxmlformats.org/drawingml/2006/main" noGrp="1"/>
          </p:cNvSpPr>
          <p:nvPr/>
        </p:nvSpPr>
        <p:spPr>
          <a:xfrm xmlns:a="http://schemas.openxmlformats.org/drawingml/2006/main">
            <a:off x="4379976" y="5394960"/>
            <a:ext cx="685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erif CJK KR"/>
                <a:ea typeface="Noto Serif CJK KR"/>
                <a:cs typeface="Noto Serif CJK KR"/>
              </a:rPr>
              <a:t>10×</a:t>
            </a:r>
            <a:endParaRPr sz="1800"/>
          </a:p>
        </p:txBody>
      </p:sp>
      <p:sp>
        <p:nvSpPr>
          <p:cNvPr id="25" name="STC-18-knee-check-title">
            <a:extLst xmlns:a="http://schemas.openxmlformats.org/drawingml/2006/main">
              <a:ext uri="{FF2B5EF4-FFF2-40B4-BE49-F238E27FC236}">
                <a16:creationId xmlns:a16="http://schemas.microsoft.com/office/drawing/2014/main" id="{240D967C-B047-4CCF-991D-75A295890503}"/>
              </a:ext>
            </a:extLst>
          </p:cNvPr>
          <p:cNvSpPr>
            <a:spLocks xmlns:a="http://schemas.openxmlformats.org/drawingml/2006/main" noGrp="1"/>
          </p:cNvSpPr>
          <p:nvPr/>
        </p:nvSpPr>
        <p:spPr>
          <a:xfrm xmlns:a="http://schemas.openxmlformats.org/drawingml/2006/main">
            <a:off x="8247888" y="1783080"/>
            <a:ext cx="25603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9A442D"/>
                </a:solidFill>
                <a:latin typeface="Noto Sans Mono CJK KR"/>
                <a:ea typeface="Noto Sans Mono CJK KR"/>
                <a:cs typeface="Noto Sans Mono CJK KR"/>
              </a:rPr>
              <a:t>κ=1 → 0.42배</a:t>
            </a:r>
            <a:endParaRPr sz="1100"/>
          </a:p>
        </p:txBody>
      </p:sp>
      <p:sp>
        <p:nvSpPr>
          <p:cNvPr id="26" name="STC-18-knee-checks-dot-0">
            <a:extLst xmlns:a="http://schemas.openxmlformats.org/drawingml/2006/main">
              <a:ext uri="{FF2B5EF4-FFF2-40B4-BE49-F238E27FC236}">
                <a16:creationId xmlns:a16="http://schemas.microsoft.com/office/drawing/2014/main" id="{C65AB8EB-CD2A-4877-B277-753424C37722}"/>
              </a:ext>
            </a:extLst>
          </p:cNvPr>
          <p:cNvSpPr>
            <a:spLocks xmlns:a="http://schemas.openxmlformats.org/drawingml/2006/main" noGrp="1"/>
          </p:cNvSpPr>
          <p:nvPr/>
        </p:nvSpPr>
        <p:spPr>
          <a:xfrm xmlns:a="http://schemas.openxmlformats.org/drawingml/2006/main">
            <a:off x="8275320" y="2350008"/>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27" name="STC-18-knee-checks-item-0">
            <a:extLst xmlns:a="http://schemas.openxmlformats.org/drawingml/2006/main">
              <a:ext uri="{FF2B5EF4-FFF2-40B4-BE49-F238E27FC236}">
                <a16:creationId xmlns:a16="http://schemas.microsoft.com/office/drawing/2014/main" id="{FDC997E1-38D9-4520-B007-6663A6DF0934}"/>
              </a:ext>
            </a:extLst>
          </p:cNvPr>
          <p:cNvSpPr>
            <a:spLocks xmlns:a="http://schemas.openxmlformats.org/drawingml/2006/main" noGrp="1"/>
          </p:cNvSpPr>
          <p:nvPr/>
        </p:nvSpPr>
        <p:spPr>
          <a:xfrm xmlns:a="http://schemas.openxmlformats.org/drawingml/2006/main">
            <a:off x="8503920" y="2240280"/>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κ=1 → 0.42배</a:t>
            </a:r>
            <a:endParaRPr sz="1550"/>
          </a:p>
        </p:txBody>
      </p:sp>
      <p:sp>
        <p:nvSpPr>
          <p:cNvPr id="28" name="STC-18-knee-checks-dot-1">
            <a:extLst xmlns:a="http://schemas.openxmlformats.org/drawingml/2006/main">
              <a:ext uri="{FF2B5EF4-FFF2-40B4-BE49-F238E27FC236}">
                <a16:creationId xmlns:a16="http://schemas.microsoft.com/office/drawing/2014/main" id="{00BD0BBB-062E-4E7B-BBB4-C431B7E66222}"/>
              </a:ext>
            </a:extLst>
          </p:cNvPr>
          <p:cNvSpPr>
            <a:spLocks xmlns:a="http://schemas.openxmlformats.org/drawingml/2006/main" noGrp="1"/>
          </p:cNvSpPr>
          <p:nvPr/>
        </p:nvSpPr>
        <p:spPr>
          <a:xfrm xmlns:a="http://schemas.openxmlformats.org/drawingml/2006/main">
            <a:off x="8275320" y="2907792"/>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29" name="STC-18-knee-checks-item-1">
            <a:extLst xmlns:a="http://schemas.openxmlformats.org/drawingml/2006/main">
              <a:ext uri="{FF2B5EF4-FFF2-40B4-BE49-F238E27FC236}">
                <a16:creationId xmlns:a16="http://schemas.microsoft.com/office/drawing/2014/main" id="{1F595761-551F-4541-8F4F-785370299BEA}"/>
              </a:ext>
            </a:extLst>
          </p:cNvPr>
          <p:cNvSpPr>
            <a:spLocks xmlns:a="http://schemas.openxmlformats.org/drawingml/2006/main" noGrp="1"/>
          </p:cNvSpPr>
          <p:nvPr/>
        </p:nvSpPr>
        <p:spPr>
          <a:xfrm xmlns:a="http://schemas.openxmlformats.org/drawingml/2006/main">
            <a:off x="8503920" y="2798064"/>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κ=2 → 0.83배</a:t>
            </a:r>
            <a:endParaRPr sz="1550"/>
          </a:p>
        </p:txBody>
      </p:sp>
      <p:sp>
        <p:nvSpPr>
          <p:cNvPr id="30" name="STC-18-knee-checks-dot-2">
            <a:extLst xmlns:a="http://schemas.openxmlformats.org/drawingml/2006/main">
              <a:ext uri="{FF2B5EF4-FFF2-40B4-BE49-F238E27FC236}">
                <a16:creationId xmlns:a16="http://schemas.microsoft.com/office/drawing/2014/main" id="{B00D3C67-9E7B-416B-A50C-CD6FB683D1F6}"/>
              </a:ext>
            </a:extLst>
          </p:cNvPr>
          <p:cNvSpPr>
            <a:spLocks xmlns:a="http://schemas.openxmlformats.org/drawingml/2006/main" noGrp="1"/>
          </p:cNvSpPr>
          <p:nvPr/>
        </p:nvSpPr>
        <p:spPr>
          <a:xfrm xmlns:a="http://schemas.openxmlformats.org/drawingml/2006/main">
            <a:off x="8275320" y="3465576"/>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1" name="STC-18-knee-checks-item-2">
            <a:extLst xmlns:a="http://schemas.openxmlformats.org/drawingml/2006/main">
              <a:ext uri="{FF2B5EF4-FFF2-40B4-BE49-F238E27FC236}">
                <a16:creationId xmlns:a16="http://schemas.microsoft.com/office/drawing/2014/main" id="{A8AD6B50-1222-40F0-B872-FB02938FCA2A}"/>
              </a:ext>
            </a:extLst>
          </p:cNvPr>
          <p:cNvSpPr>
            <a:spLocks xmlns:a="http://schemas.openxmlformats.org/drawingml/2006/main" noGrp="1"/>
          </p:cNvSpPr>
          <p:nvPr/>
        </p:nvSpPr>
        <p:spPr>
          <a:xfrm xmlns:a="http://schemas.openxmlformats.org/drawingml/2006/main">
            <a:off x="8503920" y="3355848"/>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κ=5 → 2.08배</a:t>
            </a:r>
            <a:endParaRPr sz="1550"/>
          </a:p>
        </p:txBody>
      </p:sp>
      <p:sp>
        <p:nvSpPr>
          <p:cNvPr id="32" name="STC-18-knee-checks-dot-3">
            <a:extLst xmlns:a="http://schemas.openxmlformats.org/drawingml/2006/main">
              <a:ext uri="{FF2B5EF4-FFF2-40B4-BE49-F238E27FC236}">
                <a16:creationId xmlns:a16="http://schemas.microsoft.com/office/drawing/2014/main" id="{193D497B-83CE-4A7D-AB94-EF7C0D144494}"/>
              </a:ext>
            </a:extLst>
          </p:cNvPr>
          <p:cNvSpPr>
            <a:spLocks xmlns:a="http://schemas.openxmlformats.org/drawingml/2006/main" noGrp="1"/>
          </p:cNvSpPr>
          <p:nvPr/>
        </p:nvSpPr>
        <p:spPr>
          <a:xfrm xmlns:a="http://schemas.openxmlformats.org/drawingml/2006/main">
            <a:off x="8275320" y="4023360"/>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3" name="STC-18-knee-checks-item-3">
            <a:extLst xmlns:a="http://schemas.openxmlformats.org/drawingml/2006/main">
              <a:ext uri="{FF2B5EF4-FFF2-40B4-BE49-F238E27FC236}">
                <a16:creationId xmlns:a16="http://schemas.microsoft.com/office/drawing/2014/main" id="{54E8D5AD-5943-4DD5-A8F6-1C16D270C65A}"/>
              </a:ext>
            </a:extLst>
          </p:cNvPr>
          <p:cNvSpPr>
            <a:spLocks xmlns:a="http://schemas.openxmlformats.org/drawingml/2006/main" noGrp="1"/>
          </p:cNvSpPr>
          <p:nvPr/>
        </p:nvSpPr>
        <p:spPr>
          <a:xfrm xmlns:a="http://schemas.openxmlformats.org/drawingml/2006/main">
            <a:off x="8503920" y="3913632"/>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κ=10 → 4.17배</a:t>
            </a:r>
            <a:endParaRPr sz="1550"/>
          </a:p>
        </p:txBody>
      </p:sp>
      <p:sp>
        <p:nvSpPr>
          <p:cNvPr id="34" name="STC-18-knee-checks-dot-4">
            <a:extLst xmlns:a="http://schemas.openxmlformats.org/drawingml/2006/main">
              <a:ext uri="{FF2B5EF4-FFF2-40B4-BE49-F238E27FC236}">
                <a16:creationId xmlns:a16="http://schemas.microsoft.com/office/drawing/2014/main" id="{5D751B45-D75A-4C29-86C3-1A10CDA2ACFD}"/>
              </a:ext>
            </a:extLst>
          </p:cNvPr>
          <p:cNvSpPr>
            <a:spLocks xmlns:a="http://schemas.openxmlformats.org/drawingml/2006/main" noGrp="1"/>
          </p:cNvSpPr>
          <p:nvPr/>
        </p:nvSpPr>
        <p:spPr>
          <a:xfrm xmlns:a="http://schemas.openxmlformats.org/drawingml/2006/main">
            <a:off x="8275320" y="4581144"/>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5" name="STC-18-knee-checks-item-4">
            <a:extLst xmlns:a="http://schemas.openxmlformats.org/drawingml/2006/main">
              <a:ext uri="{FF2B5EF4-FFF2-40B4-BE49-F238E27FC236}">
                <a16:creationId xmlns:a16="http://schemas.microsoft.com/office/drawing/2014/main" id="{3E5A4F76-5BB5-4E5A-A1D9-42BC1A8E5C0F}"/>
              </a:ext>
            </a:extLst>
          </p:cNvPr>
          <p:cNvSpPr>
            <a:spLocks xmlns:a="http://schemas.openxmlformats.org/drawingml/2006/main" noGrp="1"/>
          </p:cNvSpPr>
          <p:nvPr/>
        </p:nvSpPr>
        <p:spPr>
          <a:xfrm xmlns:a="http://schemas.openxmlformats.org/drawingml/2006/main">
            <a:off x="8503920" y="4471416"/>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κ=20 → 8.33배</a:t>
            </a:r>
            <a:endParaRPr sz="1550"/>
          </a:p>
        </p:txBody>
      </p:sp>
      <p:sp>
        <p:nvSpPr>
          <p:cNvPr id="36" name="STC-18-knee-unidentified">
            <a:extLst xmlns:a="http://schemas.openxmlformats.org/drawingml/2006/main">
              <a:ext uri="{FF2B5EF4-FFF2-40B4-BE49-F238E27FC236}">
                <a16:creationId xmlns:a16="http://schemas.microsoft.com/office/drawing/2014/main" id="{180F873B-5C68-4872-B82F-6C6C0ED74CC8}"/>
              </a:ext>
            </a:extLst>
          </p:cNvPr>
          <p:cNvSpPr>
            <a:spLocks xmlns:a="http://schemas.openxmlformats.org/drawingml/2006/main" noGrp="1"/>
          </p:cNvSpPr>
          <p:nvPr/>
        </p:nvSpPr>
        <p:spPr>
          <a:xfrm xmlns:a="http://schemas.openxmlformats.org/drawingml/2006/main">
            <a:off x="8211312" y="5230368"/>
            <a:ext cx="2706624" cy="52120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37" name="STC-18-knee-unidentified-text">
            <a:extLst xmlns:a="http://schemas.openxmlformats.org/drawingml/2006/main">
              <a:ext uri="{FF2B5EF4-FFF2-40B4-BE49-F238E27FC236}">
                <a16:creationId xmlns:a16="http://schemas.microsoft.com/office/drawing/2014/main" id="{39151F30-D5D2-4D64-B766-810DF4EFE62A}"/>
              </a:ext>
            </a:extLst>
          </p:cNvPr>
          <p:cNvSpPr>
            <a:spLocks xmlns:a="http://schemas.openxmlformats.org/drawingml/2006/main" noGrp="1"/>
          </p:cNvSpPr>
          <p:nvPr/>
        </p:nvSpPr>
        <p:spPr>
          <a:xfrm xmlns:a="http://schemas.openxmlformats.org/drawingml/2006/main">
            <a:off x="8348472" y="5404104"/>
            <a:ext cx="243230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b="1">
                <a:solidFill>
                  <a:srgbClr val="FFFFFF"/>
                </a:solidFill>
                <a:latin typeface="Noto Sans Mono CJK KR"/>
                <a:ea typeface="Noto Sans Mono CJK KR"/>
                <a:cs typeface="Noto Sans Mono CJK KR"/>
              </a:rPr>
              <a:t>κ_cost가 1에 가까워지면 임계가 10분의 1</a:t>
            </a:r>
            <a:endParaRPr sz="1050"/>
          </a:p>
        </p:txBody>
      </p:sp>
    </p:spTree>
    <p:extLst>
      <p:ext uri="{BB962C8B-B14F-4D97-AF65-F5344CB8AC3E}">
        <p14:creationId xmlns:p14="http://schemas.microsoft.com/office/powerpoint/2010/main" val="1452305100"/>
      </p:ext>
    </p:extLst>
  </p:cSld>
</p:sld>
</file>

<file path=ppt/slides/slide8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EXPERIMENTS</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STC-085</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X2 설계 — 아무도 바이트로 보고하지 않은 값을 복원한다</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회계(측정 아님)</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experiments/stc/X2 meta · study-kr-stc ch26 §26.2</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85</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앵커</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1.3B와 dense-8B</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Θ delta</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구성에서 정확</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E 저장</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토큰 → 바이트 가정</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W 상태</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dense 행은 반사실</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분자</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하한 · 외삽</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분모</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dtype · 정확</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corpus 전체에서 상태 용량을 바이트로</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보고한 논문이 0편이다. 그 사실 자체가 첫 결과다</a:t>
            </a:r>
            <a:endParaRPr sz="1500"/>
          </a:p>
        </p:txBody>
      </p:sp>
    </p:spTree>
    <p:extLst>
      <p:ext uri="{BB962C8B-B14F-4D97-AF65-F5344CB8AC3E}">
        <p14:creationId xmlns:p14="http://schemas.microsoft.com/office/powerpoint/2010/main" val="931853972"/>
      </p:ext>
    </p:extLst>
  </p:cSld>
</p:sld>
</file>

<file path=ppt/slides/slide8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3-section">
            <a:extLst xmlns:a="http://schemas.openxmlformats.org/drawingml/2006/main">
              <a:ext uri="{FF2B5EF4-FFF2-40B4-BE49-F238E27FC236}">
                <a16:creationId xmlns:a16="http://schemas.microsoft.com/office/drawing/2014/main" id="{DEF75E10-FC43-4F90-A29D-73D1CBC1DCC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EXPERIMENTS</a:t>
            </a:r>
            <a:endParaRPr sz="950"/>
          </a:p>
        </p:txBody>
      </p:sp>
      <p:sp>
        <p:nvSpPr>
          <p:cNvPr id="3" name="STC-13-slide-id">
            <a:extLst xmlns:a="http://schemas.openxmlformats.org/drawingml/2006/main">
              <a:ext uri="{FF2B5EF4-FFF2-40B4-BE49-F238E27FC236}">
                <a16:creationId xmlns:a16="http://schemas.microsoft.com/office/drawing/2014/main" id="{207357D7-4303-4447-A61C-4C79283F663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STC-086</a:t>
            </a:r>
            <a:endParaRPr sz="950"/>
          </a:p>
        </p:txBody>
      </p:sp>
      <p:sp>
        <p:nvSpPr>
          <p:cNvPr id="4" name="STC-13-headline">
            <a:extLst xmlns:a="http://schemas.openxmlformats.org/drawingml/2006/main">
              <a:ext uri="{FF2B5EF4-FFF2-40B4-BE49-F238E27FC236}">
                <a16:creationId xmlns:a16="http://schemas.microsoft.com/office/drawing/2014/main" id="{8E260E54-4985-4C50-817D-C85BDF65F5D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X2 결과 ① — 세 경로의 상태가 약 5.5 자릿수 벌어진다</a:t>
            </a:r>
            <a:endParaRPr sz="3000"/>
          </a:p>
        </p:txBody>
      </p:sp>
      <p:sp>
        <p:nvSpPr>
          <p:cNvPr id="5" name="STC-13-status-label">
            <a:extLst xmlns:a="http://schemas.openxmlformats.org/drawingml/2006/main">
              <a:ext uri="{FF2B5EF4-FFF2-40B4-BE49-F238E27FC236}">
                <a16:creationId xmlns:a16="http://schemas.microsoft.com/office/drawing/2014/main" id="{76CEFCAB-90F8-4FF1-91A9-495F4B23416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회계 · 자릿수만</a:t>
            </a:r>
            <a:endParaRPr sz="1000"/>
          </a:p>
        </p:txBody>
      </p:sp>
      <p:sp>
        <p:nvSpPr>
          <p:cNvPr id="6" name="STC-13-status-rule">
            <a:extLst xmlns:a="http://schemas.openxmlformats.org/drawingml/2006/main">
              <a:ext uri="{FF2B5EF4-FFF2-40B4-BE49-F238E27FC236}">
                <a16:creationId xmlns:a16="http://schemas.microsoft.com/office/drawing/2014/main" id="{07360112-59F1-4B26-BA92-7088E3FD40C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13-footer-rule">
            <a:extLst xmlns:a="http://schemas.openxmlformats.org/drawingml/2006/main">
              <a:ext uri="{FF2B5EF4-FFF2-40B4-BE49-F238E27FC236}">
                <a16:creationId xmlns:a16="http://schemas.microsoft.com/office/drawing/2014/main" id="{26DC731C-F3A6-48D1-B411-9B2CD636969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3-source-footer">
            <a:extLst xmlns:a="http://schemas.openxmlformats.org/drawingml/2006/main">
              <a:ext uri="{FF2B5EF4-FFF2-40B4-BE49-F238E27FC236}">
                <a16:creationId xmlns:a16="http://schemas.microsoft.com/office/drawing/2014/main" id="{F8DE0C07-9BB3-4619-B392-5FCFC17ACBE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ch26 표 26-2 · experiments/stc/X2 Q1</a:t>
            </a:r>
            <a:endParaRPr sz="850"/>
          </a:p>
        </p:txBody>
      </p:sp>
      <p:sp>
        <p:nvSpPr>
          <p:cNvPr id="9" name="STC-13-page-number">
            <a:extLst xmlns:a="http://schemas.openxmlformats.org/drawingml/2006/main">
              <a:ext uri="{FF2B5EF4-FFF2-40B4-BE49-F238E27FC236}">
                <a16:creationId xmlns:a16="http://schemas.microsoft.com/office/drawing/2014/main" id="{77A42865-7B64-4DDF-99E9-C4F94EB652F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86</a:t>
            </a:r>
            <a:endParaRPr sz="850"/>
          </a:p>
        </p:txBody>
      </p:sp>
      <p:sp>
        <p:nvSpPr>
          <p:cNvPr id="11" name="STC-13-data-layer-0">
            <a:extLst xmlns:a="http://schemas.openxmlformats.org/drawingml/2006/main">
              <a:ext uri="{FF2B5EF4-FFF2-40B4-BE49-F238E27FC236}">
                <a16:creationId xmlns:a16="http://schemas.microsoft.com/office/drawing/2014/main" id="{E5BBE619-AB19-42FA-8122-D61948B604E8}"/>
              </a:ext>
            </a:extLst>
          </p:cNvPr>
          <p:cNvSpPr>
            <a:spLocks xmlns:a="http://schemas.openxmlformats.org/drawingml/2006/main" noGrp="1"/>
          </p:cNvSpPr>
          <p:nvPr/>
        </p:nvSpPr>
        <p:spPr>
          <a:xfrm xmlns:a="http://schemas.openxmlformats.org/drawingml/2006/main">
            <a:off x="1618488" y="1664208"/>
            <a:ext cx="8961120" cy="56692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12" name="STC-13-data-label-0">
            <a:extLst xmlns:a="http://schemas.openxmlformats.org/drawingml/2006/main">
              <a:ext uri="{FF2B5EF4-FFF2-40B4-BE49-F238E27FC236}">
                <a16:creationId xmlns:a16="http://schemas.microsoft.com/office/drawing/2014/main" id="{FDF9C9BA-3329-45E9-ABC4-2B36508291DA}"/>
              </a:ext>
            </a:extLst>
          </p:cNvPr>
          <p:cNvSpPr>
            <a:spLocks xmlns:a="http://schemas.openxmlformats.org/drawingml/2006/main" noGrp="1"/>
          </p:cNvSpPr>
          <p:nvPr/>
        </p:nvSpPr>
        <p:spPr>
          <a:xfrm xmlns:a="http://schemas.openxmlformats.org/drawingml/2006/main">
            <a:off x="1783080" y="1828800"/>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FFFFFF"/>
                </a:solidFill>
                <a:latin typeface="Noto Sans Mono CJK KR"/>
                <a:ea typeface="Noto Sans Mono CJK KR"/>
                <a:cs typeface="Noto Sans Mono CJK KR"/>
              </a:rPr>
              <a:t>E 텍스트</a:t>
            </a:r>
            <a:endParaRPr sz="1050"/>
          </a:p>
        </p:txBody>
      </p:sp>
      <p:sp>
        <p:nvSpPr>
          <p:cNvPr id="13" name="STC-13-data-body-0">
            <a:extLst xmlns:a="http://schemas.openxmlformats.org/drawingml/2006/main">
              <a:ext uri="{FF2B5EF4-FFF2-40B4-BE49-F238E27FC236}">
                <a16:creationId xmlns:a16="http://schemas.microsoft.com/office/drawing/2014/main" id="{34676F1F-A035-47A9-9C53-7C294D97CEF1}"/>
              </a:ext>
            </a:extLst>
          </p:cNvPr>
          <p:cNvSpPr>
            <a:spLocks xmlns:a="http://schemas.openxmlformats.org/drawingml/2006/main" noGrp="1"/>
          </p:cNvSpPr>
          <p:nvPr/>
        </p:nvSpPr>
        <p:spPr>
          <a:xfrm xmlns:a="http://schemas.openxmlformats.org/drawingml/2006/main">
            <a:off x="3401568" y="1755648"/>
            <a:ext cx="6995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FFFFFF"/>
                </a:solidFill>
                <a:latin typeface="Noto Sans CJK KR"/>
                <a:ea typeface="Noto Sans CJK KR"/>
                <a:cs typeface="Noto Sans CJK KR"/>
              </a:rPr>
              <a:t>56.0 KB · 콜드 · 세션~사용자 (가정)</a:t>
            </a:r>
            <a:endParaRPr sz="1450"/>
          </a:p>
        </p:txBody>
      </p:sp>
      <p:sp>
        <p:nvSpPr>
          <p:cNvPr id="14" name="STC-13-data-layer-1">
            <a:extLst xmlns:a="http://schemas.openxmlformats.org/drawingml/2006/main">
              <a:ext uri="{FF2B5EF4-FFF2-40B4-BE49-F238E27FC236}">
                <a16:creationId xmlns:a16="http://schemas.microsoft.com/office/drawing/2014/main" id="{2C7AD258-BAEB-4994-96A5-F1AB29FB68DF}"/>
              </a:ext>
            </a:extLst>
          </p:cNvPr>
          <p:cNvSpPr>
            <a:spLocks xmlns:a="http://schemas.openxmlformats.org/drawingml/2006/main" noGrp="1"/>
          </p:cNvSpPr>
          <p:nvPr/>
        </p:nvSpPr>
        <p:spPr>
          <a:xfrm xmlns:a="http://schemas.openxmlformats.org/drawingml/2006/main">
            <a:off x="2258568" y="2450592"/>
            <a:ext cx="7680960" cy="566928"/>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3-data-label-1">
            <a:extLst xmlns:a="http://schemas.openxmlformats.org/drawingml/2006/main">
              <a:ext uri="{FF2B5EF4-FFF2-40B4-BE49-F238E27FC236}">
                <a16:creationId xmlns:a16="http://schemas.microsoft.com/office/drawing/2014/main" id="{02CDF8C0-80BF-43B8-B0F1-3E7D91CAE3C2}"/>
              </a:ext>
            </a:extLst>
          </p:cNvPr>
          <p:cNvSpPr>
            <a:spLocks xmlns:a="http://schemas.openxmlformats.org/drawingml/2006/main" noGrp="1"/>
          </p:cNvSpPr>
          <p:nvPr/>
        </p:nvSpPr>
        <p:spPr>
          <a:xfrm xmlns:a="http://schemas.openxmlformats.org/drawingml/2006/main">
            <a:off x="2423160" y="2615184"/>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Θ delta</a:t>
            </a:r>
            <a:endParaRPr sz="1050"/>
          </a:p>
        </p:txBody>
      </p:sp>
      <p:sp>
        <p:nvSpPr>
          <p:cNvPr id="16" name="STC-13-data-body-1">
            <a:extLst xmlns:a="http://schemas.openxmlformats.org/drawingml/2006/main">
              <a:ext uri="{FF2B5EF4-FFF2-40B4-BE49-F238E27FC236}">
                <a16:creationId xmlns:a16="http://schemas.microsoft.com/office/drawing/2014/main" id="{BC62C31C-D212-42ED-AE30-842B56196CD1}"/>
              </a:ext>
            </a:extLst>
          </p:cNvPr>
          <p:cNvSpPr>
            <a:spLocks xmlns:a="http://schemas.openxmlformats.org/drawingml/2006/main" noGrp="1"/>
          </p:cNvSpPr>
          <p:nvPr/>
        </p:nvSpPr>
        <p:spPr>
          <a:xfrm xmlns:a="http://schemas.openxmlformats.org/drawingml/2006/main">
            <a:off x="4041648" y="2542032"/>
            <a:ext cx="5715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17191C"/>
                </a:solidFill>
                <a:latin typeface="Noto Sans CJK KR"/>
                <a:ea typeface="Noto Sans CJK KR"/>
                <a:cs typeface="Noto Sans CJK KR"/>
              </a:rPr>
              <a:t>16.78 MB · 웜 · 사용자 영속 (구성에서 정확)</a:t>
            </a:r>
            <a:endParaRPr sz="1450"/>
          </a:p>
        </p:txBody>
      </p:sp>
      <p:sp>
        <p:nvSpPr>
          <p:cNvPr id="17" name="STC-13-data-layer-2">
            <a:extLst xmlns:a="http://schemas.openxmlformats.org/drawingml/2006/main">
              <a:ext uri="{FF2B5EF4-FFF2-40B4-BE49-F238E27FC236}">
                <a16:creationId xmlns:a16="http://schemas.microsoft.com/office/drawing/2014/main" id="{D6FAD0EE-091C-49BC-AC96-FF7C3FD7BF30}"/>
              </a:ext>
            </a:extLst>
          </p:cNvPr>
          <p:cNvSpPr>
            <a:spLocks xmlns:a="http://schemas.openxmlformats.org/drawingml/2006/main" noGrp="1"/>
          </p:cNvSpPr>
          <p:nvPr/>
        </p:nvSpPr>
        <p:spPr>
          <a:xfrm xmlns:a="http://schemas.openxmlformats.org/drawingml/2006/main">
            <a:off x="2898648" y="3236976"/>
            <a:ext cx="6400800" cy="566928"/>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8" name="STC-13-data-label-2">
            <a:extLst xmlns:a="http://schemas.openxmlformats.org/drawingml/2006/main">
              <a:ext uri="{FF2B5EF4-FFF2-40B4-BE49-F238E27FC236}">
                <a16:creationId xmlns:a16="http://schemas.microsoft.com/office/drawing/2014/main" id="{AA018C36-C849-429F-A2CB-A09888ED5181}"/>
              </a:ext>
            </a:extLst>
          </p:cNvPr>
          <p:cNvSpPr>
            <a:spLocks xmlns:a="http://schemas.openxmlformats.org/drawingml/2006/main" noGrp="1"/>
          </p:cNvSpPr>
          <p:nvPr/>
        </p:nvSpPr>
        <p:spPr>
          <a:xfrm xmlns:a="http://schemas.openxmlformats.org/drawingml/2006/main">
            <a:off x="3063240" y="3401568"/>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Θ 직접 편집</a:t>
            </a:r>
            <a:endParaRPr sz="1050"/>
          </a:p>
        </p:txBody>
      </p:sp>
      <p:sp>
        <p:nvSpPr>
          <p:cNvPr id="19" name="STC-13-data-body-2">
            <a:extLst xmlns:a="http://schemas.openxmlformats.org/drawingml/2006/main">
              <a:ext uri="{FF2B5EF4-FFF2-40B4-BE49-F238E27FC236}">
                <a16:creationId xmlns:a16="http://schemas.microsoft.com/office/drawing/2014/main" id="{41815879-EDCF-477A-A120-7092A00F5988}"/>
              </a:ext>
            </a:extLst>
          </p:cNvPr>
          <p:cNvSpPr>
            <a:spLocks xmlns:a="http://schemas.openxmlformats.org/drawingml/2006/main" noGrp="1"/>
          </p:cNvSpPr>
          <p:nvPr/>
        </p:nvSpPr>
        <p:spPr>
          <a:xfrm xmlns:a="http://schemas.openxmlformats.org/drawingml/2006/main">
            <a:off x="4681728" y="3328416"/>
            <a:ext cx="4434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delta 0 · 개인화하면 16.0 GB</a:t>
            </a:r>
            <a:endParaRPr sz="1350"/>
          </a:p>
        </p:txBody>
      </p:sp>
      <p:sp>
        <p:nvSpPr>
          <p:cNvPr id="20" name="STC-13-data-layer-3">
            <a:extLst xmlns:a="http://schemas.openxmlformats.org/drawingml/2006/main">
              <a:ext uri="{FF2B5EF4-FFF2-40B4-BE49-F238E27FC236}">
                <a16:creationId xmlns:a16="http://schemas.microsoft.com/office/drawing/2014/main" id="{FBD0C7D7-10DE-463B-9217-97D247B03C72}"/>
              </a:ext>
            </a:extLst>
          </p:cNvPr>
          <p:cNvSpPr>
            <a:spLocks xmlns:a="http://schemas.openxmlformats.org/drawingml/2006/main" noGrp="1"/>
          </p:cNvSpPr>
          <p:nvPr/>
        </p:nvSpPr>
        <p:spPr>
          <a:xfrm xmlns:a="http://schemas.openxmlformats.org/drawingml/2006/main">
            <a:off x="3538728" y="4023360"/>
            <a:ext cx="5120640" cy="566928"/>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13-data-label-3">
            <a:extLst xmlns:a="http://schemas.openxmlformats.org/drawingml/2006/main">
              <a:ext uri="{FF2B5EF4-FFF2-40B4-BE49-F238E27FC236}">
                <a16:creationId xmlns:a16="http://schemas.microsoft.com/office/drawing/2014/main" id="{8DA5B66F-AB6C-424C-B38E-EC87549B7458}"/>
              </a:ext>
            </a:extLst>
          </p:cNvPr>
          <p:cNvSpPr>
            <a:spLocks xmlns:a="http://schemas.openxmlformats.org/drawingml/2006/main" noGrp="1"/>
          </p:cNvSpPr>
          <p:nvPr/>
        </p:nvSpPr>
        <p:spPr>
          <a:xfrm xmlns:a="http://schemas.openxmlformats.org/drawingml/2006/main">
            <a:off x="3703320" y="4187952"/>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W fast weights</a:t>
            </a:r>
            <a:endParaRPr sz="1050"/>
          </a:p>
        </p:txBody>
      </p:sp>
      <p:sp>
        <p:nvSpPr>
          <p:cNvPr id="22" name="STC-13-data-body-3">
            <a:extLst xmlns:a="http://schemas.openxmlformats.org/drawingml/2006/main">
              <a:ext uri="{FF2B5EF4-FFF2-40B4-BE49-F238E27FC236}">
                <a16:creationId xmlns:a16="http://schemas.microsoft.com/office/drawing/2014/main" id="{B07BDB02-D4B0-48AF-8A53-11814C8CDC53}"/>
              </a:ext>
            </a:extLst>
          </p:cNvPr>
          <p:cNvSpPr>
            <a:spLocks xmlns:a="http://schemas.openxmlformats.org/drawingml/2006/main" noGrp="1"/>
          </p:cNvSpPr>
          <p:nvPr/>
        </p:nvSpPr>
        <p:spPr>
          <a:xfrm xmlns:a="http://schemas.openxmlformats.org/drawingml/2006/main">
            <a:off x="5321808" y="41148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17.18 GB · 핫 · 세션 (dense 행은 반사실)</a:t>
            </a:r>
            <a:endParaRPr sz="1350"/>
          </a:p>
        </p:txBody>
      </p:sp>
      <p:sp>
        <p:nvSpPr>
          <p:cNvPr id="23" name="STC-13-data-layer-4">
            <a:extLst xmlns:a="http://schemas.openxmlformats.org/drawingml/2006/main">
              <a:ext uri="{FF2B5EF4-FFF2-40B4-BE49-F238E27FC236}">
                <a16:creationId xmlns:a16="http://schemas.microsoft.com/office/drawing/2014/main" id="{E60963C1-8D59-4CC2-B99B-C4EA44523D22}"/>
              </a:ext>
            </a:extLst>
          </p:cNvPr>
          <p:cNvSpPr>
            <a:spLocks xmlns:a="http://schemas.openxmlformats.org/drawingml/2006/main" noGrp="1"/>
          </p:cNvSpPr>
          <p:nvPr/>
        </p:nvSpPr>
        <p:spPr>
          <a:xfrm xmlns:a="http://schemas.openxmlformats.org/drawingml/2006/main">
            <a:off x="4178808" y="4809744"/>
            <a:ext cx="3840480" cy="566928"/>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24" name="STC-13-data-label-4">
            <a:extLst xmlns:a="http://schemas.openxmlformats.org/drawingml/2006/main">
              <a:ext uri="{FF2B5EF4-FFF2-40B4-BE49-F238E27FC236}">
                <a16:creationId xmlns:a16="http://schemas.microsoft.com/office/drawing/2014/main" id="{94E567B2-40CF-45FA-B9F9-A1B39A99C7FF}"/>
              </a:ext>
            </a:extLst>
          </p:cNvPr>
          <p:cNvSpPr>
            <a:spLocks xmlns:a="http://schemas.openxmlformats.org/drawingml/2006/main" noGrp="1"/>
          </p:cNvSpPr>
          <p:nvPr/>
        </p:nvSpPr>
        <p:spPr>
          <a:xfrm xmlns:a="http://schemas.openxmlformats.org/drawingml/2006/main">
            <a:off x="4343400" y="4974336"/>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지수</a:t>
            </a:r>
            <a:endParaRPr sz="1050"/>
          </a:p>
        </p:txBody>
      </p:sp>
      <p:sp>
        <p:nvSpPr>
          <p:cNvPr id="25" name="STC-13-data-body-4">
            <a:extLst xmlns:a="http://schemas.openxmlformats.org/drawingml/2006/main">
              <a:ext uri="{FF2B5EF4-FFF2-40B4-BE49-F238E27FC236}">
                <a16:creationId xmlns:a16="http://schemas.microsoft.com/office/drawing/2014/main" id="{2C57AF49-F2CA-4C91-AE9F-A85EF45878C8}"/>
              </a:ext>
            </a:extLst>
          </p:cNvPr>
          <p:cNvSpPr>
            <a:spLocks xmlns:a="http://schemas.openxmlformats.org/drawingml/2006/main" noGrp="1"/>
          </p:cNvSpPr>
          <p:nvPr/>
        </p:nvSpPr>
        <p:spPr>
          <a:xfrm xmlns:a="http://schemas.openxmlformats.org/drawingml/2006/main">
            <a:off x="5961888" y="4901184"/>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E∝n · Θ∝r·d·L · W∝d²·L</a:t>
            </a:r>
            <a:endParaRPr sz="1350"/>
          </a:p>
        </p:txBody>
      </p:sp>
      <p:sp>
        <p:nvSpPr>
          <p:cNvPr id="26" name="STC-13-data-warning">
            <a:extLst xmlns:a="http://schemas.openxmlformats.org/drawingml/2006/main">
              <a:ext uri="{FF2B5EF4-FFF2-40B4-BE49-F238E27FC236}">
                <a16:creationId xmlns:a16="http://schemas.microsoft.com/office/drawing/2014/main" id="{FE09EF05-9A9A-4209-946A-2FFD878EDF5A}"/>
              </a:ext>
            </a:extLst>
          </p:cNvPr>
          <p:cNvSpPr>
            <a:spLocks xmlns:a="http://schemas.openxmlformats.org/drawingml/2006/main" noGrp="1"/>
          </p:cNvSpPr>
          <p:nvPr/>
        </p:nvSpPr>
        <p:spPr>
          <a:xfrm xmlns:a="http://schemas.openxmlformats.org/drawingml/2006/main">
            <a:off x="2286000" y="5623560"/>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ans CJK KR"/>
                <a:ea typeface="Noto Sans CJK KR"/>
                <a:cs typeface="Noto Sans CJK KR"/>
              </a:rPr>
              <a:t>56.0 KB · 콜드 · 세션~사용자 (가정)</a:t>
            </a:r>
            <a:endParaRPr sz="1800"/>
          </a:p>
        </p:txBody>
      </p:sp>
    </p:spTree>
    <p:extLst>
      <p:ext uri="{BB962C8B-B14F-4D97-AF65-F5344CB8AC3E}">
        <p14:creationId xmlns:p14="http://schemas.microsoft.com/office/powerpoint/2010/main" val="877466157"/>
      </p:ext>
    </p:extLst>
  </p:cSld>
</p:sld>
</file>

<file path=ppt/slides/slide8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7-section">
            <a:extLst xmlns:a="http://schemas.openxmlformats.org/drawingml/2006/main">
              <a:ext uri="{FF2B5EF4-FFF2-40B4-BE49-F238E27FC236}">
                <a16:creationId xmlns:a16="http://schemas.microsoft.com/office/drawing/2014/main" id="{1D137726-4914-48A2-85D5-224A1CBB8B83}"/>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EXPERIMENTS</a:t>
            </a:r>
            <a:endParaRPr sz="950"/>
          </a:p>
        </p:txBody>
      </p:sp>
      <p:sp>
        <p:nvSpPr>
          <p:cNvPr id="3" name="STC-07-slide-id">
            <a:extLst xmlns:a="http://schemas.openxmlformats.org/drawingml/2006/main">
              <a:ext uri="{FF2B5EF4-FFF2-40B4-BE49-F238E27FC236}">
                <a16:creationId xmlns:a16="http://schemas.microsoft.com/office/drawing/2014/main" id="{135B4B6A-3B89-487A-9CEA-E5C7E5EED204}"/>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STC-087</a:t>
            </a:r>
            <a:endParaRPr sz="950"/>
          </a:p>
        </p:txBody>
      </p:sp>
      <p:sp>
        <p:nvSpPr>
          <p:cNvPr id="4" name="STC-07-headline">
            <a:extLst xmlns:a="http://schemas.openxmlformats.org/drawingml/2006/main">
              <a:ext uri="{FF2B5EF4-FFF2-40B4-BE49-F238E27FC236}">
                <a16:creationId xmlns:a16="http://schemas.microsoft.com/office/drawing/2014/main" id="{69C310FD-1BA7-40DE-9467-2AA541CBC7D3}"/>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X2 결과 ② — 정보 밀도를 정하는 것은 dtype이다</a:t>
            </a:r>
            <a:endParaRPr sz="3000"/>
          </a:p>
        </p:txBody>
      </p:sp>
      <p:sp>
        <p:nvSpPr>
          <p:cNvPr id="5" name="STC-07-status-label">
            <a:extLst xmlns:a="http://schemas.openxmlformats.org/drawingml/2006/main">
              <a:ext uri="{FF2B5EF4-FFF2-40B4-BE49-F238E27FC236}">
                <a16:creationId xmlns:a16="http://schemas.microsoft.com/office/drawing/2014/main" id="{C89B1737-53E3-4487-92D3-B61B00B58CF8}"/>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44E8A"/>
                </a:solidFill>
                <a:latin typeface="Noto Sans Mono CJK KR"/>
                <a:ea typeface="Noto Sans Mono CJK KR"/>
                <a:cs typeface="Noto Sans Mono CJK KR"/>
              </a:rPr>
              <a:t>회계 · 배수만</a:t>
            </a:r>
            <a:endParaRPr sz="1000"/>
          </a:p>
        </p:txBody>
      </p:sp>
      <p:sp>
        <p:nvSpPr>
          <p:cNvPr id="6" name="STC-07-status-rule">
            <a:extLst xmlns:a="http://schemas.openxmlformats.org/drawingml/2006/main">
              <a:ext uri="{FF2B5EF4-FFF2-40B4-BE49-F238E27FC236}">
                <a16:creationId xmlns:a16="http://schemas.microsoft.com/office/drawing/2014/main" id="{FE4EEA0D-83FB-4682-B1D0-5F89638A4EC7}"/>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44E8A"/>
            </a:solidFill>
            <a:prstDash val="solid"/>
            <a:tailEnd type="none"/>
          </a:ln>
        </p:spPr>
      </p:sp>
      <p:sp>
        <p:nvSpPr>
          <p:cNvPr id="7" name="STC-07-footer-rule">
            <a:extLst xmlns:a="http://schemas.openxmlformats.org/drawingml/2006/main">
              <a:ext uri="{FF2B5EF4-FFF2-40B4-BE49-F238E27FC236}">
                <a16:creationId xmlns:a16="http://schemas.microsoft.com/office/drawing/2014/main" id="{D3C2358E-59CE-49F9-AE83-ECA23B717C4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7-source-footer">
            <a:extLst xmlns:a="http://schemas.openxmlformats.org/drawingml/2006/main">
              <a:ext uri="{FF2B5EF4-FFF2-40B4-BE49-F238E27FC236}">
                <a16:creationId xmlns:a16="http://schemas.microsoft.com/office/drawing/2014/main" id="{774D1206-5E02-4221-B3F8-331F3E1E6580}"/>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ch26 표 26-3 · experiments/stc/X2 Q2</a:t>
            </a:r>
            <a:endParaRPr sz="850"/>
          </a:p>
        </p:txBody>
      </p:sp>
      <p:sp>
        <p:nvSpPr>
          <p:cNvPr id="9" name="STC-07-page-number">
            <a:extLst xmlns:a="http://schemas.openxmlformats.org/drawingml/2006/main">
              <a:ext uri="{FF2B5EF4-FFF2-40B4-BE49-F238E27FC236}">
                <a16:creationId xmlns:a16="http://schemas.microsoft.com/office/drawing/2014/main" id="{78A83FEE-1D5C-4FCE-B710-C3DA562A624A}"/>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87</a:t>
            </a:r>
            <a:endParaRPr sz="850"/>
          </a:p>
        </p:txBody>
      </p:sp>
      <p:sp>
        <p:nvSpPr>
          <p:cNvPr id="11" name="STC-07-plos-tag-0">
            <a:extLst xmlns:a="http://schemas.openxmlformats.org/drawingml/2006/main">
              <a:ext uri="{FF2B5EF4-FFF2-40B4-BE49-F238E27FC236}">
                <a16:creationId xmlns:a16="http://schemas.microsoft.com/office/drawing/2014/main" id="{477BEE9E-30E4-43A7-AEF5-0D10E930A967}"/>
              </a:ext>
            </a:extLst>
          </p:cNvPr>
          <p:cNvSpPr>
            <a:spLocks xmlns:a="http://schemas.openxmlformats.org/drawingml/2006/main" noGrp="1"/>
          </p:cNvSpPr>
          <p:nvPr/>
        </p:nvSpPr>
        <p:spPr>
          <a:xfrm xmlns:a="http://schemas.openxmlformats.org/drawingml/2006/main">
            <a:off x="841248" y="1764792"/>
            <a:ext cx="1691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bf16</a:t>
            </a:r>
            <a:endParaRPr sz="1050"/>
          </a:p>
        </p:txBody>
      </p:sp>
      <p:sp>
        <p:nvSpPr>
          <p:cNvPr id="12" name="STC-07-plos-node-0">
            <a:extLst xmlns:a="http://schemas.openxmlformats.org/drawingml/2006/main">
              <a:ext uri="{FF2B5EF4-FFF2-40B4-BE49-F238E27FC236}">
                <a16:creationId xmlns:a16="http://schemas.microsoft.com/office/drawing/2014/main" id="{711415C9-6053-4EFA-8A88-19702F34B04B}"/>
              </a:ext>
            </a:extLst>
          </p:cNvPr>
          <p:cNvSpPr>
            <a:spLocks xmlns:a="http://schemas.openxmlformats.org/drawingml/2006/main" noGrp="1"/>
          </p:cNvSpPr>
          <p:nvPr/>
        </p:nvSpPr>
        <p:spPr>
          <a:xfrm xmlns:a="http://schemas.openxmlformats.org/drawingml/2006/main">
            <a:off x="841248" y="2084832"/>
            <a:ext cx="1737360" cy="1143000"/>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3" name="STC-07-plos-body-0">
            <a:extLst xmlns:a="http://schemas.openxmlformats.org/drawingml/2006/main">
              <a:ext uri="{FF2B5EF4-FFF2-40B4-BE49-F238E27FC236}">
                <a16:creationId xmlns:a16="http://schemas.microsoft.com/office/drawing/2014/main" id="{935994DA-E088-4574-AD6F-A8C3F1588EA3}"/>
              </a:ext>
            </a:extLst>
          </p:cNvPr>
          <p:cNvSpPr>
            <a:spLocks xmlns:a="http://schemas.openxmlformats.org/drawingml/2006/main" noGrp="1"/>
          </p:cNvSpPr>
          <p:nvPr/>
        </p:nvSpPr>
        <p:spPr>
          <a:xfrm xmlns:a="http://schemas.openxmlformats.org/drawingml/2006/main">
            <a:off x="978408" y="2350008"/>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16.78 MB ·</a:t>
            </a:r>
            <a:endParaRPr sz="1700"/>
          </a:p>
          <a:p xmlns:a="http://schemas.openxmlformats.org/drawingml/2006/main">
            <a:pPr marL="0" indent="0" algn="ctr">
              <a:buNone/>
            </a:pPr>
            <a:r>
              <a:rPr sz="1700" b="1">
                <a:solidFill>
                  <a:srgbClr val="17191C"/>
                </a:solidFill>
                <a:latin typeface="Noto Sans CJK KR"/>
                <a:ea typeface="Noto Sans CJK KR"/>
                <a:cs typeface="Noto Sans CJK KR"/>
              </a:rPr>
              <a:t>1.82 bits per byte</a:t>
            </a:r>
            <a:endParaRPr sz="1700"/>
          </a:p>
        </p:txBody>
      </p:sp>
      <p:sp>
        <p:nvSpPr>
          <p:cNvPr id="14" name="STC-07-plos-arrow-0">
            <a:extLst xmlns:a="http://schemas.openxmlformats.org/drawingml/2006/main">
              <a:ext uri="{FF2B5EF4-FFF2-40B4-BE49-F238E27FC236}">
                <a16:creationId xmlns:a16="http://schemas.microsoft.com/office/drawing/2014/main" id="{DDFC7402-063F-4686-91B0-5B1DAACFD850}"/>
              </a:ext>
            </a:extLst>
          </p:cNvPr>
          <p:cNvSpPr>
            <a:spLocks xmlns:a="http://schemas.openxmlformats.org/drawingml/2006/main" noGrp="1"/>
          </p:cNvSpPr>
          <p:nvPr/>
        </p:nvSpPr>
        <p:spPr>
          <a:xfrm xmlns:a="http://schemas.openxmlformats.org/drawingml/2006/main">
            <a:off x="2642616" y="2651760"/>
            <a:ext cx="86868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5" name="STC-07-plos-tag-1">
            <a:extLst xmlns:a="http://schemas.openxmlformats.org/drawingml/2006/main">
              <a:ext uri="{FF2B5EF4-FFF2-40B4-BE49-F238E27FC236}">
                <a16:creationId xmlns:a16="http://schemas.microsoft.com/office/drawing/2014/main" id="{4F0CBE47-41DD-4036-8542-A439DC04CE5E}"/>
              </a:ext>
            </a:extLst>
          </p:cNvPr>
          <p:cNvSpPr>
            <a:spLocks xmlns:a="http://schemas.openxmlformats.org/drawingml/2006/main" noGrp="1"/>
          </p:cNvSpPr>
          <p:nvPr/>
        </p:nvSpPr>
        <p:spPr>
          <a:xfrm xmlns:a="http://schemas.openxmlformats.org/drawingml/2006/main">
            <a:off x="3017520" y="1764792"/>
            <a:ext cx="1691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int8</a:t>
            </a:r>
            <a:endParaRPr sz="1050"/>
          </a:p>
        </p:txBody>
      </p:sp>
      <p:sp>
        <p:nvSpPr>
          <p:cNvPr id="16" name="STC-07-plos-node-1">
            <a:extLst xmlns:a="http://schemas.openxmlformats.org/drawingml/2006/main">
              <a:ext uri="{FF2B5EF4-FFF2-40B4-BE49-F238E27FC236}">
                <a16:creationId xmlns:a16="http://schemas.microsoft.com/office/drawing/2014/main" id="{C161CFB9-271D-42F0-9370-7CE4447E08BB}"/>
              </a:ext>
            </a:extLst>
          </p:cNvPr>
          <p:cNvSpPr>
            <a:spLocks xmlns:a="http://schemas.openxmlformats.org/drawingml/2006/main" noGrp="1"/>
          </p:cNvSpPr>
          <p:nvPr/>
        </p:nvSpPr>
        <p:spPr>
          <a:xfrm xmlns:a="http://schemas.openxmlformats.org/drawingml/2006/main">
            <a:off x="3017520" y="2084832"/>
            <a:ext cx="1737360" cy="1143000"/>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7" name="STC-07-plos-body-1">
            <a:extLst xmlns:a="http://schemas.openxmlformats.org/drawingml/2006/main">
              <a:ext uri="{FF2B5EF4-FFF2-40B4-BE49-F238E27FC236}">
                <a16:creationId xmlns:a16="http://schemas.microsoft.com/office/drawing/2014/main" id="{3253C665-58CC-44A3-9B85-5E619532AC5F}"/>
              </a:ext>
            </a:extLst>
          </p:cNvPr>
          <p:cNvSpPr>
            <a:spLocks xmlns:a="http://schemas.openxmlformats.org/drawingml/2006/main" noGrp="1"/>
          </p:cNvSpPr>
          <p:nvPr/>
        </p:nvSpPr>
        <p:spPr>
          <a:xfrm xmlns:a="http://schemas.openxmlformats.org/drawingml/2006/main">
            <a:off x="3154680" y="2350008"/>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8.39</a:t>
            </a:r>
            <a:endParaRPr sz="1700"/>
          </a:p>
          <a:p xmlns:a="http://schemas.openxmlformats.org/drawingml/2006/main">
            <a:pPr marL="0" indent="0" algn="ctr">
              <a:buNone/>
            </a:pPr>
            <a:r>
              <a:rPr sz="1700" b="1">
                <a:solidFill>
                  <a:srgbClr val="17191C"/>
                </a:solidFill>
                <a:latin typeface="Noto Sans CJK KR"/>
                <a:ea typeface="Noto Sans CJK KR"/>
                <a:cs typeface="Noto Sans CJK KR"/>
              </a:rPr>
              <a:t>MB · 3.64</a:t>
            </a:r>
            <a:endParaRPr sz="1700"/>
          </a:p>
        </p:txBody>
      </p:sp>
      <p:sp>
        <p:nvSpPr>
          <p:cNvPr id="18" name="STC-07-plos-arrow-1">
            <a:extLst xmlns:a="http://schemas.openxmlformats.org/drawingml/2006/main">
              <a:ext uri="{FF2B5EF4-FFF2-40B4-BE49-F238E27FC236}">
                <a16:creationId xmlns:a16="http://schemas.microsoft.com/office/drawing/2014/main" id="{FCCDF2E8-B001-493B-A9BA-96C7A42636DF}"/>
              </a:ext>
            </a:extLst>
          </p:cNvPr>
          <p:cNvSpPr>
            <a:spLocks xmlns:a="http://schemas.openxmlformats.org/drawingml/2006/main" noGrp="1"/>
          </p:cNvSpPr>
          <p:nvPr/>
        </p:nvSpPr>
        <p:spPr>
          <a:xfrm xmlns:a="http://schemas.openxmlformats.org/drawingml/2006/main">
            <a:off x="4818888" y="2651760"/>
            <a:ext cx="86868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9" name="STC-07-plos-tag-2">
            <a:extLst xmlns:a="http://schemas.openxmlformats.org/drawingml/2006/main">
              <a:ext uri="{FF2B5EF4-FFF2-40B4-BE49-F238E27FC236}">
                <a16:creationId xmlns:a16="http://schemas.microsoft.com/office/drawing/2014/main" id="{15EFF682-7D6E-41A3-A7F6-F9DA2E4C87AE}"/>
              </a:ext>
            </a:extLst>
          </p:cNvPr>
          <p:cNvSpPr>
            <a:spLocks xmlns:a="http://schemas.openxmlformats.org/drawingml/2006/main" noGrp="1"/>
          </p:cNvSpPr>
          <p:nvPr/>
        </p:nvSpPr>
        <p:spPr>
          <a:xfrm xmlns:a="http://schemas.openxmlformats.org/drawingml/2006/main">
            <a:off x="5193792" y="1764792"/>
            <a:ext cx="1691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int4</a:t>
            </a:r>
            <a:endParaRPr sz="1050"/>
          </a:p>
        </p:txBody>
      </p:sp>
      <p:sp>
        <p:nvSpPr>
          <p:cNvPr id="20" name="STC-07-plos-node-2">
            <a:extLst xmlns:a="http://schemas.openxmlformats.org/drawingml/2006/main">
              <a:ext uri="{FF2B5EF4-FFF2-40B4-BE49-F238E27FC236}">
                <a16:creationId xmlns:a16="http://schemas.microsoft.com/office/drawing/2014/main" id="{6444BC29-B709-411A-B01C-AAC85CD1C90A}"/>
              </a:ext>
            </a:extLst>
          </p:cNvPr>
          <p:cNvSpPr>
            <a:spLocks xmlns:a="http://schemas.openxmlformats.org/drawingml/2006/main" noGrp="1"/>
          </p:cNvSpPr>
          <p:nvPr/>
        </p:nvSpPr>
        <p:spPr>
          <a:xfrm xmlns:a="http://schemas.openxmlformats.org/drawingml/2006/main">
            <a:off x="5193792" y="2084832"/>
            <a:ext cx="1737360" cy="1143000"/>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21" name="STC-07-plos-body-2">
            <a:extLst xmlns:a="http://schemas.openxmlformats.org/drawingml/2006/main">
              <a:ext uri="{FF2B5EF4-FFF2-40B4-BE49-F238E27FC236}">
                <a16:creationId xmlns:a16="http://schemas.microsoft.com/office/drawing/2014/main" id="{DFC24F49-F232-4EB7-96A7-E3FCE01CF0EF}"/>
              </a:ext>
            </a:extLst>
          </p:cNvPr>
          <p:cNvSpPr>
            <a:spLocks xmlns:a="http://schemas.openxmlformats.org/drawingml/2006/main" noGrp="1"/>
          </p:cNvSpPr>
          <p:nvPr/>
        </p:nvSpPr>
        <p:spPr>
          <a:xfrm xmlns:a="http://schemas.openxmlformats.org/drawingml/2006/main">
            <a:off x="5330952" y="2350008"/>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4.19</a:t>
            </a:r>
            <a:endParaRPr sz="1700"/>
          </a:p>
          <a:p xmlns:a="http://schemas.openxmlformats.org/drawingml/2006/main">
            <a:pPr marL="0" indent="0" algn="ctr">
              <a:buNone/>
            </a:pPr>
            <a:r>
              <a:rPr sz="1700" b="1">
                <a:solidFill>
                  <a:srgbClr val="17191C"/>
                </a:solidFill>
                <a:latin typeface="Noto Sans CJK KR"/>
                <a:ea typeface="Noto Sans CJK KR"/>
                <a:cs typeface="Noto Sans CJK KR"/>
              </a:rPr>
              <a:t>MB · 7.28</a:t>
            </a:r>
            <a:endParaRPr sz="1700"/>
          </a:p>
        </p:txBody>
      </p:sp>
      <p:sp>
        <p:nvSpPr>
          <p:cNvPr id="22" name="STC-07-plos-arrow-2">
            <a:extLst xmlns:a="http://schemas.openxmlformats.org/drawingml/2006/main">
              <a:ext uri="{FF2B5EF4-FFF2-40B4-BE49-F238E27FC236}">
                <a16:creationId xmlns:a16="http://schemas.microsoft.com/office/drawing/2014/main" id="{DEA9420B-E88D-45C2-A54B-51FF0C7D3E7B}"/>
              </a:ext>
            </a:extLst>
          </p:cNvPr>
          <p:cNvSpPr>
            <a:spLocks xmlns:a="http://schemas.openxmlformats.org/drawingml/2006/main" noGrp="1"/>
          </p:cNvSpPr>
          <p:nvPr/>
        </p:nvSpPr>
        <p:spPr>
          <a:xfrm xmlns:a="http://schemas.openxmlformats.org/drawingml/2006/main">
            <a:off x="6995160" y="2651760"/>
            <a:ext cx="86868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23" name="STC-07-plos-tag-3">
            <a:extLst xmlns:a="http://schemas.openxmlformats.org/drawingml/2006/main">
              <a:ext uri="{FF2B5EF4-FFF2-40B4-BE49-F238E27FC236}">
                <a16:creationId xmlns:a16="http://schemas.microsoft.com/office/drawing/2014/main" id="{BC7C8B99-61D6-427D-B2B7-39B11F56BBCF}"/>
              </a:ext>
            </a:extLst>
          </p:cNvPr>
          <p:cNvSpPr>
            <a:spLocks xmlns:a="http://schemas.openxmlformats.org/drawingml/2006/main" noGrp="1"/>
          </p:cNvSpPr>
          <p:nvPr/>
        </p:nvSpPr>
        <p:spPr>
          <a:xfrm xmlns:a="http://schemas.openxmlformats.org/drawingml/2006/main">
            <a:off x="7818120" y="1764792"/>
            <a:ext cx="1691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유보</a:t>
            </a:r>
            <a:endParaRPr sz="1050"/>
          </a:p>
        </p:txBody>
      </p:sp>
      <p:sp>
        <p:nvSpPr>
          <p:cNvPr id="24" name="STC-07-plos-node-3">
            <a:extLst xmlns:a="http://schemas.openxmlformats.org/drawingml/2006/main">
              <a:ext uri="{FF2B5EF4-FFF2-40B4-BE49-F238E27FC236}">
                <a16:creationId xmlns:a16="http://schemas.microsoft.com/office/drawing/2014/main" id="{7E2767A4-30EB-4666-A59C-FABEDD16407C}"/>
              </a:ext>
            </a:extLst>
          </p:cNvPr>
          <p:cNvSpPr>
            <a:spLocks xmlns:a="http://schemas.openxmlformats.org/drawingml/2006/main" noGrp="1"/>
          </p:cNvSpPr>
          <p:nvPr/>
        </p:nvSpPr>
        <p:spPr>
          <a:xfrm xmlns:a="http://schemas.openxmlformats.org/drawingml/2006/main">
            <a:off x="7818120" y="2084832"/>
            <a:ext cx="1737360" cy="1143000"/>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25" name="STC-07-plos-body-3">
            <a:extLst xmlns:a="http://schemas.openxmlformats.org/drawingml/2006/main">
              <a:ext uri="{FF2B5EF4-FFF2-40B4-BE49-F238E27FC236}">
                <a16:creationId xmlns:a16="http://schemas.microsoft.com/office/drawing/2014/main" id="{809257DE-5F16-4363-A566-4CF9FDC204D6}"/>
              </a:ext>
            </a:extLst>
          </p:cNvPr>
          <p:cNvSpPr>
            <a:spLocks xmlns:a="http://schemas.openxmlformats.org/drawingml/2006/main" noGrp="1"/>
          </p:cNvSpPr>
          <p:nvPr/>
        </p:nvSpPr>
        <p:spPr>
          <a:xfrm xmlns:a="http://schemas.openxmlformats.org/drawingml/2006/main">
            <a:off x="7955280" y="2350008"/>
            <a:ext cx="14630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세 값 전부</a:t>
            </a:r>
            <a:endParaRPr sz="1700"/>
          </a:p>
          <a:p xmlns:a="http://schemas.openxmlformats.org/drawingml/2006/main">
            <a:pPr marL="0" indent="0" algn="ctr">
              <a:buNone/>
            </a:pPr>
            <a:r>
              <a:rPr sz="1700" b="1">
                <a:solidFill>
                  <a:srgbClr val="17191C"/>
                </a:solidFill>
                <a:latin typeface="Noto Sans CJK KR"/>
                <a:ea typeface="Noto Sans CJK KR"/>
                <a:cs typeface="Noto Sans CJK KR"/>
              </a:rPr>
              <a:t>외삽된 양의 하한이다</a:t>
            </a:r>
            <a:endParaRPr sz="1700"/>
          </a:p>
        </p:txBody>
      </p:sp>
      <p:sp>
        <p:nvSpPr>
          <p:cNvPr id="26" name="STC-07-plos-number-field">
            <a:extLst xmlns:a="http://schemas.openxmlformats.org/drawingml/2006/main">
              <a:ext uri="{FF2B5EF4-FFF2-40B4-BE49-F238E27FC236}">
                <a16:creationId xmlns:a16="http://schemas.microsoft.com/office/drawing/2014/main" id="{4E2978AC-8368-4EA8-8B79-F7C178E60D71}"/>
              </a:ext>
            </a:extLst>
          </p:cNvPr>
          <p:cNvSpPr>
            <a:spLocks xmlns:a="http://schemas.openxmlformats.org/drawingml/2006/main" noGrp="1"/>
          </p:cNvSpPr>
          <p:nvPr/>
        </p:nvSpPr>
        <p:spPr>
          <a:xfrm xmlns:a="http://schemas.openxmlformats.org/drawingml/2006/main">
            <a:off x="10012680" y="1664208"/>
            <a:ext cx="1325880" cy="2011680"/>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7" name="STC-07-plos-842">
            <a:extLst xmlns:a="http://schemas.openxmlformats.org/drawingml/2006/main">
              <a:ext uri="{FF2B5EF4-FFF2-40B4-BE49-F238E27FC236}">
                <a16:creationId xmlns:a16="http://schemas.microsoft.com/office/drawing/2014/main" id="{392FC100-A9FD-4309-8FA8-1363DDE8985D}"/>
              </a:ext>
            </a:extLst>
          </p:cNvPr>
          <p:cNvSpPr>
            <a:spLocks xmlns:a="http://schemas.openxmlformats.org/drawingml/2006/main" noGrp="1"/>
          </p:cNvSpPr>
          <p:nvPr/>
        </p:nvSpPr>
        <p:spPr>
          <a:xfrm xmlns:a="http://schemas.openxmlformats.org/drawingml/2006/main">
            <a:off x="10131552" y="1938528"/>
            <a:ext cx="10972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3200" b="1">
                <a:solidFill>
                  <a:srgbClr val="FFFFFF"/>
                </a:solidFill>
                <a:latin typeface="Noto Serif CJK KR"/>
                <a:ea typeface="Noto Serif CJK KR"/>
                <a:cs typeface="Noto Serif CJK KR"/>
              </a:rPr>
              <a:t>2×</a:t>
            </a:r>
            <a:endParaRPr sz="3200"/>
          </a:p>
        </p:txBody>
      </p:sp>
      <p:sp>
        <p:nvSpPr>
          <p:cNvPr id="28" name="STC-07-plos-scope">
            <a:extLst xmlns:a="http://schemas.openxmlformats.org/drawingml/2006/main">
              <a:ext uri="{FF2B5EF4-FFF2-40B4-BE49-F238E27FC236}">
                <a16:creationId xmlns:a16="http://schemas.microsoft.com/office/drawing/2014/main" id="{A640C846-8ED3-4E78-B2F8-34C98733D95E}"/>
              </a:ext>
            </a:extLst>
          </p:cNvPr>
          <p:cNvSpPr>
            <a:spLocks xmlns:a="http://schemas.openxmlformats.org/drawingml/2006/main" noGrp="1"/>
          </p:cNvSpPr>
          <p:nvPr/>
        </p:nvSpPr>
        <p:spPr>
          <a:xfrm xmlns:a="http://schemas.openxmlformats.org/drawingml/2006/main">
            <a:off x="10131552" y="2578608"/>
            <a:ext cx="10972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FFFFFF"/>
                </a:solidFill>
                <a:latin typeface="Noto Sans CJK KR"/>
                <a:ea typeface="Noto Sans CJK KR"/>
                <a:cs typeface="Noto Sans CJK KR"/>
              </a:rPr>
              <a:t>4</a:t>
            </a:r>
            <a:endParaRPr sz="1300"/>
          </a:p>
          <a:p xmlns:a="http://schemas.openxmlformats.org/drawingml/2006/main">
            <a:pPr marL="0" indent="0" algn="ctr">
              <a:buNone/>
            </a:pPr>
            <a:r>
              <a:rPr sz="1300">
                <a:solidFill>
                  <a:srgbClr val="FFFFFF"/>
                </a:solidFill>
                <a:latin typeface="Noto Sans CJK KR"/>
                <a:ea typeface="Noto Sans CJK KR"/>
                <a:cs typeface="Noto Sans CJK KR"/>
              </a:rPr>
              <a:t>stages</a:t>
            </a:r>
            <a:endParaRPr sz="1300"/>
          </a:p>
          <a:p xmlns:a="http://schemas.openxmlformats.org/drawingml/2006/main">
            <a:pPr marL="0" indent="0" algn="ctr">
              <a:buNone/>
            </a:pPr>
            <a:r>
              <a:rPr sz="1300">
                <a:solidFill>
                  <a:srgbClr val="FFFFFF"/>
                </a:solidFill>
                <a:latin typeface="Noto Sans CJK KR"/>
                <a:ea typeface="Noto Sans CJK KR"/>
                <a:cs typeface="Noto Sans CJK KR"/>
              </a:rPr>
              <a:t>2 refs</a:t>
            </a:r>
            <a:endParaRPr sz="1300"/>
          </a:p>
        </p:txBody>
      </p:sp>
      <p:sp>
        <p:nvSpPr>
          <p:cNvPr id="29" name="STC-07-plos-seq-label">
            <a:extLst xmlns:a="http://schemas.openxmlformats.org/drawingml/2006/main">
              <a:ext uri="{FF2B5EF4-FFF2-40B4-BE49-F238E27FC236}">
                <a16:creationId xmlns:a16="http://schemas.microsoft.com/office/drawing/2014/main" id="{4B5003AB-D62F-4D2E-A7CC-C087E5B60099}"/>
              </a:ext>
            </a:extLst>
          </p:cNvPr>
          <p:cNvSpPr>
            <a:spLocks xmlns:a="http://schemas.openxmlformats.org/drawingml/2006/main" noGrp="1"/>
          </p:cNvSpPr>
          <p:nvPr/>
        </p:nvSpPr>
        <p:spPr>
          <a:xfrm xmlns:a="http://schemas.openxmlformats.org/drawingml/2006/main">
            <a:off x="914400" y="4142232"/>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9A442D"/>
                </a:solidFill>
                <a:latin typeface="Noto Sans CJK KR"/>
                <a:ea typeface="Noto Sans CJK KR"/>
                <a:cs typeface="Noto Sans CJK KR"/>
              </a:rPr>
              <a:t>bf16</a:t>
            </a:r>
            <a:endParaRPr sz="1300"/>
          </a:p>
        </p:txBody>
      </p:sp>
      <p:sp>
        <p:nvSpPr>
          <p:cNvPr id="30" name="STC-07-plos-seq-num">
            <a:extLst xmlns:a="http://schemas.openxmlformats.org/drawingml/2006/main">
              <a:ext uri="{FF2B5EF4-FFF2-40B4-BE49-F238E27FC236}">
                <a16:creationId xmlns:a16="http://schemas.microsoft.com/office/drawing/2014/main" id="{4EC59591-8190-4C07-BE77-B1C069C16F76}"/>
              </a:ext>
            </a:extLst>
          </p:cNvPr>
          <p:cNvSpPr>
            <a:spLocks xmlns:a="http://schemas.openxmlformats.org/drawingml/2006/main" noGrp="1"/>
          </p:cNvSpPr>
          <p:nvPr/>
        </p:nvSpPr>
        <p:spPr>
          <a:xfrm xmlns:a="http://schemas.openxmlformats.org/drawingml/2006/main">
            <a:off x="2148840" y="4078224"/>
            <a:ext cx="23957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7191C"/>
                </a:solidFill>
                <a:latin typeface="Noto Sans Mono CJK KR"/>
                <a:ea typeface="Noto Sans Mono CJK KR"/>
                <a:cs typeface="Noto Sans Mono CJK KR"/>
              </a:rPr>
              <a:t>bf16 1.82</a:t>
            </a:r>
            <a:endParaRPr sz="1600"/>
          </a:p>
        </p:txBody>
      </p:sp>
      <p:sp>
        <p:nvSpPr>
          <p:cNvPr id="31" name="STC-07-plos-sleep-label">
            <a:extLst xmlns:a="http://schemas.openxmlformats.org/drawingml/2006/main">
              <a:ext uri="{FF2B5EF4-FFF2-40B4-BE49-F238E27FC236}">
                <a16:creationId xmlns:a16="http://schemas.microsoft.com/office/drawing/2014/main" id="{3C05A67A-CD6F-48DD-8144-46159D32367E}"/>
              </a:ext>
            </a:extLst>
          </p:cNvPr>
          <p:cNvSpPr>
            <a:spLocks xmlns:a="http://schemas.openxmlformats.org/drawingml/2006/main" noGrp="1"/>
          </p:cNvSpPr>
          <p:nvPr/>
        </p:nvSpPr>
        <p:spPr>
          <a:xfrm xmlns:a="http://schemas.openxmlformats.org/drawingml/2006/main">
            <a:off x="914400" y="4773168"/>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2F6B63"/>
                </a:solidFill>
                <a:latin typeface="Noto Sans CJK KR"/>
                <a:ea typeface="Noto Sans CJK KR"/>
                <a:cs typeface="Noto Sans CJK KR"/>
              </a:rPr>
              <a:t>int8</a:t>
            </a:r>
            <a:endParaRPr sz="1300"/>
          </a:p>
        </p:txBody>
      </p:sp>
      <p:sp>
        <p:nvSpPr>
          <p:cNvPr id="32" name="STC-07-plos-sleep-num">
            <a:extLst xmlns:a="http://schemas.openxmlformats.org/drawingml/2006/main">
              <a:ext uri="{FF2B5EF4-FFF2-40B4-BE49-F238E27FC236}">
                <a16:creationId xmlns:a16="http://schemas.microsoft.com/office/drawing/2014/main" id="{4B364966-9FB8-4AFF-B214-9B719ABB159C}"/>
              </a:ext>
            </a:extLst>
          </p:cNvPr>
          <p:cNvSpPr>
            <a:spLocks xmlns:a="http://schemas.openxmlformats.org/drawingml/2006/main" noGrp="1"/>
          </p:cNvSpPr>
          <p:nvPr/>
        </p:nvSpPr>
        <p:spPr>
          <a:xfrm xmlns:a="http://schemas.openxmlformats.org/drawingml/2006/main">
            <a:off x="2148840" y="4709160"/>
            <a:ext cx="42245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7191C"/>
                </a:solidFill>
                <a:latin typeface="Noto Sans Mono CJK KR"/>
                <a:ea typeface="Noto Sans Mono CJK KR"/>
                <a:cs typeface="Noto Sans Mono CJK KR"/>
              </a:rPr>
              <a:t>int8 3.64 · int4 7.28 bits/…</a:t>
            </a:r>
            <a:endParaRPr sz="1600"/>
          </a:p>
        </p:txBody>
      </p:sp>
      <p:sp>
        <p:nvSpPr>
          <p:cNvPr id="33" name="STC-07-plos-limit-divider">
            <a:extLst xmlns:a="http://schemas.openxmlformats.org/drawingml/2006/main">
              <a:ext uri="{FF2B5EF4-FFF2-40B4-BE49-F238E27FC236}">
                <a16:creationId xmlns:a16="http://schemas.microsoft.com/office/drawing/2014/main" id="{C0D35C19-DF22-49BB-AB20-03C3F56DFA2F}"/>
              </a:ext>
            </a:extLst>
          </p:cNvPr>
          <p:cNvSpPr>
            <a:spLocks xmlns:a="http://schemas.openxmlformats.org/drawingml/2006/main" noGrp="1"/>
          </p:cNvSpPr>
          <p:nvPr/>
        </p:nvSpPr>
        <p:spPr>
          <a:xfrm xmlns:a="http://schemas.openxmlformats.org/drawingml/2006/main">
            <a:off x="6675120" y="4005072"/>
            <a:ext cx="0" cy="1426464"/>
          </a:xfrm>
          <a:prstGeom xmlns:a="http://schemas.openxmlformats.org/drawingml/2006/main" prst="line">
            <a:avLst/>
          </a:prstGeom>
          <a:noFill xmlns:a="http://schemas.openxmlformats.org/drawingml/2006/main"/>
          <a:ln xmlns:a="http://schemas.openxmlformats.org/drawingml/2006/main" w="15240">
            <a:solidFill>
              <a:srgbClr val="C9C4B8"/>
            </a:solidFill>
            <a:prstDash val="solid"/>
            <a:tailEnd type="none"/>
          </a:ln>
        </p:spPr>
      </p:sp>
      <p:sp>
        <p:nvSpPr>
          <p:cNvPr id="34" name="STC-07-plos-limit">
            <a:extLst xmlns:a="http://schemas.openxmlformats.org/drawingml/2006/main">
              <a:ext uri="{FF2B5EF4-FFF2-40B4-BE49-F238E27FC236}">
                <a16:creationId xmlns:a16="http://schemas.microsoft.com/office/drawing/2014/main" id="{477B7D5E-675D-4036-A0EA-4A37A50D4B3D}"/>
              </a:ext>
            </a:extLst>
          </p:cNvPr>
          <p:cNvSpPr>
            <a:spLocks xmlns:a="http://schemas.openxmlformats.org/drawingml/2006/main" noGrp="1"/>
          </p:cNvSpPr>
          <p:nvPr/>
        </p:nvSpPr>
        <p:spPr>
          <a:xfrm xmlns:a="http://schemas.openxmlformats.org/drawingml/2006/main">
            <a:off x="7022592" y="4059936"/>
            <a:ext cx="594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9A442D"/>
                </a:solidFill>
                <a:latin typeface="Noto Serif CJK KR"/>
                <a:ea typeface="Noto Serif CJK KR"/>
                <a:cs typeface="Noto Serif CJK KR"/>
              </a:rPr>
              <a:t>LIMIT</a:t>
            </a:r>
            <a:endParaRPr sz="1800"/>
          </a:p>
        </p:txBody>
      </p:sp>
      <p:sp>
        <p:nvSpPr>
          <p:cNvPr id="35" name="STC-07-plos-limit-text">
            <a:extLst xmlns:a="http://schemas.openxmlformats.org/drawingml/2006/main">
              <a:ext uri="{FF2B5EF4-FFF2-40B4-BE49-F238E27FC236}">
                <a16:creationId xmlns:a16="http://schemas.microsoft.com/office/drawing/2014/main" id="{506AA01B-FB2F-4186-90CA-3CA39B51D9A0}"/>
              </a:ext>
            </a:extLst>
          </p:cNvPr>
          <p:cNvSpPr>
            <a:spLocks xmlns:a="http://schemas.openxmlformats.org/drawingml/2006/main" noGrp="1"/>
          </p:cNvSpPr>
          <p:nvPr/>
        </p:nvSpPr>
        <p:spPr>
          <a:xfrm xmlns:a="http://schemas.openxmlformats.org/drawingml/2006/main">
            <a:off x="7726680" y="4014216"/>
            <a:ext cx="3438144" cy="960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a:solidFill>
                  <a:srgbClr val="17191C"/>
                </a:solidFill>
                <a:latin typeface="Noto Sans CJK KR"/>
                <a:ea typeface="Noto Sans CJK KR"/>
                <a:cs typeface="Noto Sans CJK KR"/>
              </a:rPr>
              <a:t>저장 폭을 절반으로 내리면 밀도가 정확히 두 배가</a:t>
            </a:r>
            <a:endParaRPr sz="1700"/>
          </a:p>
          <a:p xmlns:a="http://schemas.openxmlformats.org/drawingml/2006/main">
            <a:pPr marL="0" indent="0">
              <a:buNone/>
            </a:pPr>
            <a:r>
              <a:rPr sz="1700">
                <a:solidFill>
                  <a:srgbClr val="17191C"/>
                </a:solidFill>
                <a:latin typeface="Noto Sans CJK KR"/>
                <a:ea typeface="Noto Sans CJK KR"/>
                <a:cs typeface="Noto Sans CJK KR"/>
              </a:rPr>
              <a:t>된다. 이 진술은 분자의 지위와 무관하게 성립한다</a:t>
            </a:r>
            <a:endParaRPr sz="1700"/>
          </a:p>
        </p:txBody>
      </p:sp>
    </p:spTree>
    <p:extLst>
      <p:ext uri="{BB962C8B-B14F-4D97-AF65-F5344CB8AC3E}">
        <p14:creationId xmlns:p14="http://schemas.microsoft.com/office/powerpoint/2010/main" val="1190465356"/>
      </p:ext>
    </p:extLst>
  </p:cSld>
</p:sld>
</file>

<file path=ppt/slides/slide8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8-section">
            <a:extLst xmlns:a="http://schemas.openxmlformats.org/drawingml/2006/main">
              <a:ext uri="{FF2B5EF4-FFF2-40B4-BE49-F238E27FC236}">
                <a16:creationId xmlns:a16="http://schemas.microsoft.com/office/drawing/2014/main" id="{7B2F2BEC-3602-48B7-8AE5-82606691E202}"/>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EXPERIMENTS</a:t>
            </a:r>
            <a:endParaRPr sz="950"/>
          </a:p>
        </p:txBody>
      </p:sp>
      <p:sp>
        <p:nvSpPr>
          <p:cNvPr id="3" name="STC-18-slide-id">
            <a:extLst xmlns:a="http://schemas.openxmlformats.org/drawingml/2006/main">
              <a:ext uri="{FF2B5EF4-FFF2-40B4-BE49-F238E27FC236}">
                <a16:creationId xmlns:a16="http://schemas.microsoft.com/office/drawing/2014/main" id="{9AE62136-189D-4710-BD84-EAC5632E1659}"/>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STC-088</a:t>
            </a:r>
            <a:endParaRPr sz="950"/>
          </a:p>
        </p:txBody>
      </p:sp>
      <p:sp>
        <p:nvSpPr>
          <p:cNvPr id="4" name="STC-18-headline">
            <a:extLst xmlns:a="http://schemas.openxmlformats.org/drawingml/2006/main">
              <a:ext uri="{FF2B5EF4-FFF2-40B4-BE49-F238E27FC236}">
                <a16:creationId xmlns:a16="http://schemas.microsoft.com/office/drawing/2014/main" id="{D266D2F1-778B-4F2E-AC6F-D10EF836FA1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X2 결과 ③ — 사용자 수를 곱하면 어느 계층이 문제가 되는가</a:t>
            </a:r>
            <a:endParaRPr sz="3000"/>
          </a:p>
        </p:txBody>
      </p:sp>
      <p:sp>
        <p:nvSpPr>
          <p:cNvPr id="5" name="STC-18-status-label">
            <a:extLst xmlns:a="http://schemas.openxmlformats.org/drawingml/2006/main">
              <a:ext uri="{FF2B5EF4-FFF2-40B4-BE49-F238E27FC236}">
                <a16:creationId xmlns:a16="http://schemas.microsoft.com/office/drawing/2014/main" id="{79C701E9-D174-4EFD-A18F-4DC89E642FD4}"/>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9A442D"/>
                </a:solidFill>
                <a:latin typeface="Noto Sans Mono CJK KR"/>
                <a:ea typeface="Noto Sans Mono CJK KR"/>
                <a:cs typeface="Noto Sans Mono CJK KR"/>
              </a:rPr>
              <a:t>회계 · 모양만</a:t>
            </a:r>
            <a:endParaRPr sz="1000"/>
          </a:p>
        </p:txBody>
      </p:sp>
      <p:sp>
        <p:nvSpPr>
          <p:cNvPr id="6" name="STC-18-status-rule">
            <a:extLst xmlns:a="http://schemas.openxmlformats.org/drawingml/2006/main">
              <a:ext uri="{FF2B5EF4-FFF2-40B4-BE49-F238E27FC236}">
                <a16:creationId xmlns:a16="http://schemas.microsoft.com/office/drawing/2014/main" id="{529715C2-F602-473A-947A-5FCB9DCC7AF8}"/>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9A442D"/>
            </a:solidFill>
            <a:prstDash val="solid"/>
            <a:tailEnd type="none"/>
          </a:ln>
        </p:spPr>
      </p:sp>
      <p:sp>
        <p:nvSpPr>
          <p:cNvPr id="7" name="STC-18-footer-rule">
            <a:extLst xmlns:a="http://schemas.openxmlformats.org/drawingml/2006/main">
              <a:ext uri="{FF2B5EF4-FFF2-40B4-BE49-F238E27FC236}">
                <a16:creationId xmlns:a16="http://schemas.microsoft.com/office/drawing/2014/main" id="{403A9EAC-FF66-416C-A329-C6EC95571F21}"/>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8-source-footer">
            <a:extLst xmlns:a="http://schemas.openxmlformats.org/drawingml/2006/main">
              <a:ext uri="{FF2B5EF4-FFF2-40B4-BE49-F238E27FC236}">
                <a16:creationId xmlns:a16="http://schemas.microsoft.com/office/drawing/2014/main" id="{4E420FB2-E8CE-4EDD-9FDC-7CA418F767F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표 26-4 · experiments/stc/X2 Q3</a:t>
            </a:r>
            <a:endParaRPr sz="850"/>
          </a:p>
        </p:txBody>
      </p:sp>
      <p:sp>
        <p:nvSpPr>
          <p:cNvPr id="9" name="STC-18-page-number">
            <a:extLst xmlns:a="http://schemas.openxmlformats.org/drawingml/2006/main">
              <a:ext uri="{FF2B5EF4-FFF2-40B4-BE49-F238E27FC236}">
                <a16:creationId xmlns:a16="http://schemas.microsoft.com/office/drawing/2014/main" id="{4FE270B3-F1A6-4BCA-B282-FDF212DC78F7}"/>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88</a:t>
            </a:r>
            <a:endParaRPr sz="850"/>
          </a:p>
        </p:txBody>
      </p:sp>
      <p:sp>
        <p:nvSpPr>
          <p:cNvPr id="11" name="STC-18-knee-axis-x">
            <a:extLst xmlns:a="http://schemas.openxmlformats.org/drawingml/2006/main">
              <a:ext uri="{FF2B5EF4-FFF2-40B4-BE49-F238E27FC236}">
                <a16:creationId xmlns:a16="http://schemas.microsoft.com/office/drawing/2014/main" id="{C81452CC-D40C-4DD0-AE1A-B0381E5804B5}"/>
              </a:ext>
            </a:extLst>
          </p:cNvPr>
          <p:cNvSpPr>
            <a:spLocks xmlns:a="http://schemas.openxmlformats.org/drawingml/2006/main" noGrp="1"/>
          </p:cNvSpPr>
          <p:nvPr/>
        </p:nvSpPr>
        <p:spPr>
          <a:xfrm xmlns:a="http://schemas.openxmlformats.org/drawingml/2006/main">
            <a:off x="1143000" y="5669280"/>
            <a:ext cx="644652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2" name="STC-18-knee-axis-y">
            <a:extLst xmlns:a="http://schemas.openxmlformats.org/drawingml/2006/main">
              <a:ext uri="{FF2B5EF4-FFF2-40B4-BE49-F238E27FC236}">
                <a16:creationId xmlns:a16="http://schemas.microsoft.com/office/drawing/2014/main" id="{E1F7C2CF-4433-4C4B-8A34-B94592ECA104}"/>
              </a:ext>
            </a:extLst>
          </p:cNvPr>
          <p:cNvSpPr>
            <a:spLocks xmlns:a="http://schemas.openxmlformats.org/drawingml/2006/main" noGrp="1"/>
          </p:cNvSpPr>
          <p:nvPr/>
        </p:nvSpPr>
        <p:spPr>
          <a:xfrm xmlns:a="http://schemas.openxmlformats.org/drawingml/2006/main" flipH="0" flipV="1">
            <a:off x="1143000" y="1691640"/>
            <a:ext cx="0" cy="397764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3" name="STC-18-knee-axis-xlabel">
            <a:extLst xmlns:a="http://schemas.openxmlformats.org/drawingml/2006/main">
              <a:ext uri="{FF2B5EF4-FFF2-40B4-BE49-F238E27FC236}">
                <a16:creationId xmlns:a16="http://schemas.microsoft.com/office/drawing/2014/main" id="{EDAFD2D4-0676-4B50-9F78-4EFC185B7F17}"/>
              </a:ext>
            </a:extLst>
          </p:cNvPr>
          <p:cNvSpPr>
            <a:spLocks xmlns:a="http://schemas.openxmlformats.org/drawingml/2006/main" noGrp="1"/>
          </p:cNvSpPr>
          <p:nvPr/>
        </p:nvSpPr>
        <p:spPr>
          <a:xfrm xmlns:a="http://schemas.openxmlformats.org/drawingml/2006/main">
            <a:off x="6126480" y="5815584"/>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a:solidFill>
                  <a:srgbClr val="59616A"/>
                </a:solidFill>
                <a:latin typeface="Noto Sans CJK KR"/>
                <a:ea typeface="Noto Sans CJK KR"/>
                <a:cs typeface="Noto Sans CJK KR"/>
              </a:rPr>
              <a:t>사용자 수</a:t>
            </a:r>
            <a:endParaRPr sz="1100"/>
          </a:p>
        </p:txBody>
      </p:sp>
      <p:sp>
        <p:nvSpPr>
          <p:cNvPr id="14" name="STC-18-knee-axis-ylabel">
            <a:extLst xmlns:a="http://schemas.openxmlformats.org/drawingml/2006/main">
              <a:ext uri="{FF2B5EF4-FFF2-40B4-BE49-F238E27FC236}">
                <a16:creationId xmlns:a16="http://schemas.microsoft.com/office/drawing/2014/main" id="{9B0E0507-09BE-4BC6-95FC-188BF218F1D0}"/>
              </a:ext>
            </a:extLst>
          </p:cNvPr>
          <p:cNvSpPr>
            <a:spLocks xmlns:a="http://schemas.openxmlformats.org/drawingml/2006/main" noGrp="1"/>
          </p:cNvSpPr>
          <p:nvPr/>
        </p:nvSpPr>
        <p:spPr>
          <a:xfrm xmlns:a="http://schemas.openxmlformats.org/drawingml/2006/main" rot="16200000">
            <a:off x="731520" y="1581912"/>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9616A"/>
                </a:solidFill>
                <a:latin typeface="Noto Sans CJK KR"/>
                <a:ea typeface="Noto Sans CJK KR"/>
                <a:cs typeface="Noto Sans CJK KR"/>
              </a:rPr>
              <a:t>웜 스토리지 TB</a:t>
            </a:r>
            <a:endParaRPr sz="1100"/>
          </a:p>
        </p:txBody>
      </p:sp>
      <p:sp>
        <p:nvSpPr>
          <p:cNvPr id="15" name="STC-18-knee-seg-1">
            <a:extLst xmlns:a="http://schemas.openxmlformats.org/drawingml/2006/main">
              <a:ext uri="{FF2B5EF4-FFF2-40B4-BE49-F238E27FC236}">
                <a16:creationId xmlns:a16="http://schemas.microsoft.com/office/drawing/2014/main" id="{003F0C5F-F595-422E-8FDF-066640D7D432}"/>
              </a:ext>
            </a:extLst>
          </p:cNvPr>
          <p:cNvSpPr>
            <a:spLocks xmlns:a="http://schemas.openxmlformats.org/drawingml/2006/main" noGrp="1"/>
          </p:cNvSpPr>
          <p:nvPr/>
        </p:nvSpPr>
        <p:spPr>
          <a:xfrm xmlns:a="http://schemas.openxmlformats.org/drawingml/2006/main">
            <a:off x="1298448" y="2148840"/>
            <a:ext cx="1005840" cy="27432"/>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6" name="STC-18-knee-seg-2">
            <a:extLst xmlns:a="http://schemas.openxmlformats.org/drawingml/2006/main">
              <a:ext uri="{FF2B5EF4-FFF2-40B4-BE49-F238E27FC236}">
                <a16:creationId xmlns:a16="http://schemas.microsoft.com/office/drawing/2014/main" id="{2F93FE18-0F04-40C0-9893-2A149CE61627}"/>
              </a:ext>
            </a:extLst>
          </p:cNvPr>
          <p:cNvSpPr>
            <a:spLocks xmlns:a="http://schemas.openxmlformats.org/drawingml/2006/main" noGrp="1"/>
          </p:cNvSpPr>
          <p:nvPr/>
        </p:nvSpPr>
        <p:spPr>
          <a:xfrm xmlns:a="http://schemas.openxmlformats.org/drawingml/2006/main">
            <a:off x="2304288" y="2176272"/>
            <a:ext cx="1005840" cy="109728"/>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7" name="STC-18-knee-seg-3">
            <a:extLst xmlns:a="http://schemas.openxmlformats.org/drawingml/2006/main">
              <a:ext uri="{FF2B5EF4-FFF2-40B4-BE49-F238E27FC236}">
                <a16:creationId xmlns:a16="http://schemas.microsoft.com/office/drawing/2014/main" id="{F6FEFA14-7856-41AC-9C31-FD11A3798DEF}"/>
              </a:ext>
            </a:extLst>
          </p:cNvPr>
          <p:cNvSpPr>
            <a:spLocks xmlns:a="http://schemas.openxmlformats.org/drawingml/2006/main" noGrp="1"/>
          </p:cNvSpPr>
          <p:nvPr/>
        </p:nvSpPr>
        <p:spPr>
          <a:xfrm xmlns:a="http://schemas.openxmlformats.org/drawingml/2006/main">
            <a:off x="3310128" y="2286000"/>
            <a:ext cx="1005840" cy="384048"/>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8" name="STC-18-knee-seg-4">
            <a:extLst xmlns:a="http://schemas.openxmlformats.org/drawingml/2006/main">
              <a:ext uri="{FF2B5EF4-FFF2-40B4-BE49-F238E27FC236}">
                <a16:creationId xmlns:a16="http://schemas.microsoft.com/office/drawing/2014/main" id="{6763C838-9134-475E-ACDA-446F8E1614D8}"/>
              </a:ext>
            </a:extLst>
          </p:cNvPr>
          <p:cNvSpPr>
            <a:spLocks xmlns:a="http://schemas.openxmlformats.org/drawingml/2006/main" noGrp="1"/>
          </p:cNvSpPr>
          <p:nvPr/>
        </p:nvSpPr>
        <p:spPr>
          <a:xfrm xmlns:a="http://schemas.openxmlformats.org/drawingml/2006/main">
            <a:off x="4315968" y="2670048"/>
            <a:ext cx="1005840" cy="1024128"/>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19" name="STC-18-knee-seg-5">
            <a:extLst xmlns:a="http://schemas.openxmlformats.org/drawingml/2006/main">
              <a:ext uri="{FF2B5EF4-FFF2-40B4-BE49-F238E27FC236}">
                <a16:creationId xmlns:a16="http://schemas.microsoft.com/office/drawing/2014/main" id="{0972766A-6EEF-47F5-A54A-3BD977CCF7A8}"/>
              </a:ext>
            </a:extLst>
          </p:cNvPr>
          <p:cNvSpPr>
            <a:spLocks xmlns:a="http://schemas.openxmlformats.org/drawingml/2006/main" noGrp="1"/>
          </p:cNvSpPr>
          <p:nvPr/>
        </p:nvSpPr>
        <p:spPr>
          <a:xfrm xmlns:a="http://schemas.openxmlformats.org/drawingml/2006/main">
            <a:off x="5321808" y="3694176"/>
            <a:ext cx="1005840" cy="1298448"/>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20" name="STC-18-knee-seg-6">
            <a:extLst xmlns:a="http://schemas.openxmlformats.org/drawingml/2006/main">
              <a:ext uri="{FF2B5EF4-FFF2-40B4-BE49-F238E27FC236}">
                <a16:creationId xmlns:a16="http://schemas.microsoft.com/office/drawing/2014/main" id="{4DFF07AF-0006-44B9-8763-71C943AA66F4}"/>
              </a:ext>
            </a:extLst>
          </p:cNvPr>
          <p:cNvSpPr>
            <a:spLocks xmlns:a="http://schemas.openxmlformats.org/drawingml/2006/main" noGrp="1"/>
          </p:cNvSpPr>
          <p:nvPr/>
        </p:nvSpPr>
        <p:spPr>
          <a:xfrm xmlns:a="http://schemas.openxmlformats.org/drawingml/2006/main">
            <a:off x="6327648" y="4992624"/>
            <a:ext cx="822960" cy="164592"/>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21" name="STC-18-knee-threshold">
            <a:extLst xmlns:a="http://schemas.openxmlformats.org/drawingml/2006/main">
              <a:ext uri="{FF2B5EF4-FFF2-40B4-BE49-F238E27FC236}">
                <a16:creationId xmlns:a16="http://schemas.microsoft.com/office/drawing/2014/main" id="{E0D27FC3-1406-4DDF-9A5F-FCD6BD706F18}"/>
              </a:ext>
            </a:extLst>
          </p:cNvPr>
          <p:cNvSpPr>
            <a:spLocks xmlns:a="http://schemas.openxmlformats.org/drawingml/2006/main" noGrp="1"/>
          </p:cNvSpPr>
          <p:nvPr/>
        </p:nvSpPr>
        <p:spPr>
          <a:xfrm xmlns:a="http://schemas.openxmlformats.org/drawingml/2006/main">
            <a:off x="1143000" y="2944368"/>
            <a:ext cx="6446520" cy="0"/>
          </a:xfrm>
          <a:prstGeom xmlns:a="http://schemas.openxmlformats.org/drawingml/2006/main" prst="line">
            <a:avLst/>
          </a:prstGeom>
          <a:noFill xmlns:a="http://schemas.openxmlformats.org/drawingml/2006/main"/>
          <a:ln xmlns:a="http://schemas.openxmlformats.org/drawingml/2006/main" w="12700">
            <a:solidFill>
              <a:srgbClr val="59616A"/>
            </a:solidFill>
            <a:prstDash val="solid"/>
            <a:tailEnd type="none"/>
          </a:ln>
        </p:spPr>
      </p:sp>
      <p:sp>
        <p:nvSpPr>
          <p:cNvPr id="22" name="STC-18-knee-threshold-label">
            <a:extLst xmlns:a="http://schemas.openxmlformats.org/drawingml/2006/main">
              <a:ext uri="{FF2B5EF4-FFF2-40B4-BE49-F238E27FC236}">
                <a16:creationId xmlns:a16="http://schemas.microsoft.com/office/drawing/2014/main" id="{C84DFF8C-E003-4B2D-8344-300CD8D0E8BA}"/>
              </a:ext>
            </a:extLst>
          </p:cNvPr>
          <p:cNvSpPr>
            <a:spLocks xmlns:a="http://schemas.openxmlformats.org/drawingml/2006/main" noGrp="1"/>
          </p:cNvSpPr>
          <p:nvPr/>
        </p:nvSpPr>
        <p:spPr>
          <a:xfrm xmlns:a="http://schemas.openxmlformats.org/drawingml/2006/main">
            <a:off x="1325880" y="2761488"/>
            <a:ext cx="11430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9616A"/>
                </a:solidFill>
                <a:latin typeface="Noto Sans Mono CJK KR"/>
                <a:ea typeface="Noto Sans Mono CJK KR"/>
                <a:cs typeface="Noto Sans Mono CJK KR"/>
              </a:rPr>
              <a:t>선형</a:t>
            </a:r>
            <a:endParaRPr sz="1050"/>
          </a:p>
        </p:txBody>
      </p:sp>
      <p:sp>
        <p:nvSpPr>
          <p:cNvPr id="23" name="STC-18-knee-marker">
            <a:extLst xmlns:a="http://schemas.openxmlformats.org/drawingml/2006/main">
              <a:ext uri="{FF2B5EF4-FFF2-40B4-BE49-F238E27FC236}">
                <a16:creationId xmlns:a16="http://schemas.microsoft.com/office/drawing/2014/main" id="{B7796550-C739-4C12-AB34-728E99CD5A5C}"/>
              </a:ext>
            </a:extLst>
          </p:cNvPr>
          <p:cNvSpPr>
            <a:spLocks xmlns:a="http://schemas.openxmlformats.org/drawingml/2006/main" noGrp="1"/>
          </p:cNvSpPr>
          <p:nvPr/>
        </p:nvSpPr>
        <p:spPr>
          <a:xfrm xmlns:a="http://schemas.openxmlformats.org/drawingml/2006/main">
            <a:off x="4709160" y="2889504"/>
            <a:ext cx="0" cy="2505456"/>
          </a:xfrm>
          <a:prstGeom xmlns:a="http://schemas.openxmlformats.org/drawingml/2006/main" prst="line">
            <a:avLst/>
          </a:prstGeom>
          <a:noFill xmlns:a="http://schemas.openxmlformats.org/drawingml/2006/main"/>
          <a:ln xmlns:a="http://schemas.openxmlformats.org/drawingml/2006/main" w="17780">
            <a:solidFill>
              <a:srgbClr val="9A442D"/>
            </a:solidFill>
            <a:prstDash val="solid"/>
            <a:tailEnd type="none"/>
          </a:ln>
        </p:spPr>
      </p:sp>
      <p:sp>
        <p:nvSpPr>
          <p:cNvPr id="24" name="STC-18-knee-keff">
            <a:extLst xmlns:a="http://schemas.openxmlformats.org/drawingml/2006/main">
              <a:ext uri="{FF2B5EF4-FFF2-40B4-BE49-F238E27FC236}">
                <a16:creationId xmlns:a16="http://schemas.microsoft.com/office/drawing/2014/main" id="{560C924C-F866-4087-B484-42FE73811586}"/>
              </a:ext>
            </a:extLst>
          </p:cNvPr>
          <p:cNvSpPr>
            <a:spLocks xmlns:a="http://schemas.openxmlformats.org/drawingml/2006/main" noGrp="1"/>
          </p:cNvSpPr>
          <p:nvPr/>
        </p:nvSpPr>
        <p:spPr>
          <a:xfrm xmlns:a="http://schemas.openxmlformats.org/drawingml/2006/main">
            <a:off x="4379976" y="5394960"/>
            <a:ext cx="685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erif CJK KR"/>
                <a:ea typeface="Noto Serif CJK KR"/>
                <a:cs typeface="Noto Serif CJK KR"/>
              </a:rPr>
              <a:t>10⁶</a:t>
            </a:r>
            <a:endParaRPr sz="1800"/>
          </a:p>
        </p:txBody>
      </p:sp>
      <p:sp>
        <p:nvSpPr>
          <p:cNvPr id="25" name="STC-18-knee-check-title">
            <a:extLst xmlns:a="http://schemas.openxmlformats.org/drawingml/2006/main">
              <a:ext uri="{FF2B5EF4-FFF2-40B4-BE49-F238E27FC236}">
                <a16:creationId xmlns:a16="http://schemas.microsoft.com/office/drawing/2014/main" id="{240D967C-B047-4CCF-991D-75A295890503}"/>
              </a:ext>
            </a:extLst>
          </p:cNvPr>
          <p:cNvSpPr>
            <a:spLocks xmlns:a="http://schemas.openxmlformats.org/drawingml/2006/main" noGrp="1"/>
          </p:cNvSpPr>
          <p:nvPr/>
        </p:nvSpPr>
        <p:spPr>
          <a:xfrm xmlns:a="http://schemas.openxmlformats.org/drawingml/2006/main">
            <a:off x="8247888" y="1783080"/>
            <a:ext cx="25603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9A442D"/>
                </a:solidFill>
                <a:latin typeface="Noto Sans Mono CJK KR"/>
                <a:ea typeface="Noto Sans Mono CJK KR"/>
                <a:cs typeface="Noto Sans Mono CJK KR"/>
              </a:rPr>
              <a:t>r=16 bf16 16.8 TB</a:t>
            </a:r>
            <a:endParaRPr sz="1100"/>
          </a:p>
        </p:txBody>
      </p:sp>
      <p:sp>
        <p:nvSpPr>
          <p:cNvPr id="26" name="STC-18-knee-checks-dot-0">
            <a:extLst xmlns:a="http://schemas.openxmlformats.org/drawingml/2006/main">
              <a:ext uri="{FF2B5EF4-FFF2-40B4-BE49-F238E27FC236}">
                <a16:creationId xmlns:a16="http://schemas.microsoft.com/office/drawing/2014/main" id="{C65AB8EB-CD2A-4877-B277-753424C37722}"/>
              </a:ext>
            </a:extLst>
          </p:cNvPr>
          <p:cNvSpPr>
            <a:spLocks xmlns:a="http://schemas.openxmlformats.org/drawingml/2006/main" noGrp="1"/>
          </p:cNvSpPr>
          <p:nvPr/>
        </p:nvSpPr>
        <p:spPr>
          <a:xfrm xmlns:a="http://schemas.openxmlformats.org/drawingml/2006/main">
            <a:off x="8275320" y="2350008"/>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27" name="STC-18-knee-checks-item-0">
            <a:extLst xmlns:a="http://schemas.openxmlformats.org/drawingml/2006/main">
              <a:ext uri="{FF2B5EF4-FFF2-40B4-BE49-F238E27FC236}">
                <a16:creationId xmlns:a16="http://schemas.microsoft.com/office/drawing/2014/main" id="{FDC997E1-38D9-4520-B007-6663A6DF0934}"/>
              </a:ext>
            </a:extLst>
          </p:cNvPr>
          <p:cNvSpPr>
            <a:spLocks xmlns:a="http://schemas.openxmlformats.org/drawingml/2006/main" noGrp="1"/>
          </p:cNvSpPr>
          <p:nvPr/>
        </p:nvSpPr>
        <p:spPr>
          <a:xfrm xmlns:a="http://schemas.openxmlformats.org/drawingml/2006/main">
            <a:off x="8503920" y="2240280"/>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r=16 bf16 16.8 TB</a:t>
            </a:r>
            <a:endParaRPr sz="1550"/>
          </a:p>
        </p:txBody>
      </p:sp>
      <p:sp>
        <p:nvSpPr>
          <p:cNvPr id="28" name="STC-18-knee-checks-dot-1">
            <a:extLst xmlns:a="http://schemas.openxmlformats.org/drawingml/2006/main">
              <a:ext uri="{FF2B5EF4-FFF2-40B4-BE49-F238E27FC236}">
                <a16:creationId xmlns:a16="http://schemas.microsoft.com/office/drawing/2014/main" id="{00BD0BBB-062E-4E7B-BBB4-C431B7E66222}"/>
              </a:ext>
            </a:extLst>
          </p:cNvPr>
          <p:cNvSpPr>
            <a:spLocks xmlns:a="http://schemas.openxmlformats.org/drawingml/2006/main" noGrp="1"/>
          </p:cNvSpPr>
          <p:nvPr/>
        </p:nvSpPr>
        <p:spPr>
          <a:xfrm xmlns:a="http://schemas.openxmlformats.org/drawingml/2006/main">
            <a:off x="8275320" y="2907792"/>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29" name="STC-18-knee-checks-item-1">
            <a:extLst xmlns:a="http://schemas.openxmlformats.org/drawingml/2006/main">
              <a:ext uri="{FF2B5EF4-FFF2-40B4-BE49-F238E27FC236}">
                <a16:creationId xmlns:a16="http://schemas.microsoft.com/office/drawing/2014/main" id="{1F595761-551F-4541-8F4F-785370299BEA}"/>
              </a:ext>
            </a:extLst>
          </p:cNvPr>
          <p:cNvSpPr>
            <a:spLocks xmlns:a="http://schemas.openxmlformats.org/drawingml/2006/main" noGrp="1"/>
          </p:cNvSpPr>
          <p:nvPr/>
        </p:nvSpPr>
        <p:spPr>
          <a:xfrm xmlns:a="http://schemas.openxmlformats.org/drawingml/2006/main">
            <a:off x="8503920" y="2798064"/>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r=16 int4 4.2 TB</a:t>
            </a:r>
            <a:endParaRPr sz="1550"/>
          </a:p>
        </p:txBody>
      </p:sp>
      <p:sp>
        <p:nvSpPr>
          <p:cNvPr id="30" name="STC-18-knee-checks-dot-2">
            <a:extLst xmlns:a="http://schemas.openxmlformats.org/drawingml/2006/main">
              <a:ext uri="{FF2B5EF4-FFF2-40B4-BE49-F238E27FC236}">
                <a16:creationId xmlns:a16="http://schemas.microsoft.com/office/drawing/2014/main" id="{B00D3C67-9E7B-416B-A50C-CD6FB683D1F6}"/>
              </a:ext>
            </a:extLst>
          </p:cNvPr>
          <p:cNvSpPr>
            <a:spLocks xmlns:a="http://schemas.openxmlformats.org/drawingml/2006/main" noGrp="1"/>
          </p:cNvSpPr>
          <p:nvPr/>
        </p:nvSpPr>
        <p:spPr>
          <a:xfrm xmlns:a="http://schemas.openxmlformats.org/drawingml/2006/main">
            <a:off x="8275320" y="3465576"/>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1" name="STC-18-knee-checks-item-2">
            <a:extLst xmlns:a="http://schemas.openxmlformats.org/drawingml/2006/main">
              <a:ext uri="{FF2B5EF4-FFF2-40B4-BE49-F238E27FC236}">
                <a16:creationId xmlns:a16="http://schemas.microsoft.com/office/drawing/2014/main" id="{A8AD6B50-1222-40F0-B872-FB02938FCA2A}"/>
              </a:ext>
            </a:extLst>
          </p:cNvPr>
          <p:cNvSpPr>
            <a:spLocks xmlns:a="http://schemas.openxmlformats.org/drawingml/2006/main" noGrp="1"/>
          </p:cNvSpPr>
          <p:nvPr/>
        </p:nvSpPr>
        <p:spPr>
          <a:xfrm xmlns:a="http://schemas.openxmlformats.org/drawingml/2006/main">
            <a:off x="8503920" y="3355848"/>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r=64 bf16 67 TB</a:t>
            </a:r>
            <a:endParaRPr sz="1550"/>
          </a:p>
        </p:txBody>
      </p:sp>
      <p:sp>
        <p:nvSpPr>
          <p:cNvPr id="32" name="STC-18-knee-checks-dot-3">
            <a:extLst xmlns:a="http://schemas.openxmlformats.org/drawingml/2006/main">
              <a:ext uri="{FF2B5EF4-FFF2-40B4-BE49-F238E27FC236}">
                <a16:creationId xmlns:a16="http://schemas.microsoft.com/office/drawing/2014/main" id="{193D497B-83CE-4A7D-AB94-EF7C0D144494}"/>
              </a:ext>
            </a:extLst>
          </p:cNvPr>
          <p:cNvSpPr>
            <a:spLocks xmlns:a="http://schemas.openxmlformats.org/drawingml/2006/main" noGrp="1"/>
          </p:cNvSpPr>
          <p:nvPr/>
        </p:nvSpPr>
        <p:spPr>
          <a:xfrm xmlns:a="http://schemas.openxmlformats.org/drawingml/2006/main">
            <a:off x="8275320" y="4023360"/>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3" name="STC-18-knee-checks-item-3">
            <a:extLst xmlns:a="http://schemas.openxmlformats.org/drawingml/2006/main">
              <a:ext uri="{FF2B5EF4-FFF2-40B4-BE49-F238E27FC236}">
                <a16:creationId xmlns:a16="http://schemas.microsoft.com/office/drawing/2014/main" id="{54E8D5AD-5943-4DD5-A8F6-1C16D270C65A}"/>
              </a:ext>
            </a:extLst>
          </p:cNvPr>
          <p:cNvSpPr>
            <a:spLocks xmlns:a="http://schemas.openxmlformats.org/drawingml/2006/main" noGrp="1"/>
          </p:cNvSpPr>
          <p:nvPr/>
        </p:nvSpPr>
        <p:spPr>
          <a:xfrm xmlns:a="http://schemas.openxmlformats.org/drawingml/2006/main">
            <a:off x="8503920" y="3913632"/>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직접 편집 16,000 TB</a:t>
            </a:r>
            <a:endParaRPr sz="1550"/>
          </a:p>
        </p:txBody>
      </p:sp>
      <p:sp>
        <p:nvSpPr>
          <p:cNvPr id="34" name="STC-18-knee-checks-dot-4">
            <a:extLst xmlns:a="http://schemas.openxmlformats.org/drawingml/2006/main">
              <a:ext uri="{FF2B5EF4-FFF2-40B4-BE49-F238E27FC236}">
                <a16:creationId xmlns:a16="http://schemas.microsoft.com/office/drawing/2014/main" id="{5D751B45-D75A-4C29-86C3-1A10CDA2ACFD}"/>
              </a:ext>
            </a:extLst>
          </p:cNvPr>
          <p:cNvSpPr>
            <a:spLocks xmlns:a="http://schemas.openxmlformats.org/drawingml/2006/main" noGrp="1"/>
          </p:cNvSpPr>
          <p:nvPr/>
        </p:nvSpPr>
        <p:spPr>
          <a:xfrm xmlns:a="http://schemas.openxmlformats.org/drawingml/2006/main">
            <a:off x="8275320" y="4581144"/>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5" name="STC-18-knee-checks-item-4">
            <a:extLst xmlns:a="http://schemas.openxmlformats.org/drawingml/2006/main">
              <a:ext uri="{FF2B5EF4-FFF2-40B4-BE49-F238E27FC236}">
                <a16:creationId xmlns:a16="http://schemas.microsoft.com/office/drawing/2014/main" id="{3E5A4F76-5BB5-4E5A-A1D9-42BC1A8E5C0F}"/>
              </a:ext>
            </a:extLst>
          </p:cNvPr>
          <p:cNvSpPr>
            <a:spLocks xmlns:a="http://schemas.openxmlformats.org/drawingml/2006/main" noGrp="1"/>
          </p:cNvSpPr>
          <p:nvPr/>
        </p:nvSpPr>
        <p:spPr>
          <a:xfrm xmlns:a="http://schemas.openxmlformats.org/drawingml/2006/main">
            <a:off x="8503920" y="4471416"/>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E 텍스트 0.056 TB</a:t>
            </a:r>
            <a:endParaRPr sz="1550"/>
          </a:p>
        </p:txBody>
      </p:sp>
      <p:sp>
        <p:nvSpPr>
          <p:cNvPr id="36" name="STC-18-knee-unidentified">
            <a:extLst xmlns:a="http://schemas.openxmlformats.org/drawingml/2006/main">
              <a:ext uri="{FF2B5EF4-FFF2-40B4-BE49-F238E27FC236}">
                <a16:creationId xmlns:a16="http://schemas.microsoft.com/office/drawing/2014/main" id="{180F873B-5C68-4872-B82F-6C6C0ED74CC8}"/>
              </a:ext>
            </a:extLst>
          </p:cNvPr>
          <p:cNvSpPr>
            <a:spLocks xmlns:a="http://schemas.openxmlformats.org/drawingml/2006/main" noGrp="1"/>
          </p:cNvSpPr>
          <p:nvPr/>
        </p:nvSpPr>
        <p:spPr>
          <a:xfrm xmlns:a="http://schemas.openxmlformats.org/drawingml/2006/main">
            <a:off x="8211312" y="5230368"/>
            <a:ext cx="2706624" cy="52120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37" name="STC-18-knee-unidentified-text">
            <a:extLst xmlns:a="http://schemas.openxmlformats.org/drawingml/2006/main">
              <a:ext uri="{FF2B5EF4-FFF2-40B4-BE49-F238E27FC236}">
                <a16:creationId xmlns:a16="http://schemas.microsoft.com/office/drawing/2014/main" id="{39151F30-D5D2-4D64-B766-810DF4EFE62A}"/>
              </a:ext>
            </a:extLst>
          </p:cNvPr>
          <p:cNvSpPr>
            <a:spLocks xmlns:a="http://schemas.openxmlformats.org/drawingml/2006/main" noGrp="1"/>
          </p:cNvSpPr>
          <p:nvPr/>
        </p:nvSpPr>
        <p:spPr>
          <a:xfrm xmlns:a="http://schemas.openxmlformats.org/drawingml/2006/main">
            <a:off x="8348472" y="5404104"/>
            <a:ext cx="243230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b="1">
                <a:solidFill>
                  <a:srgbClr val="FFFFFF"/>
                </a:solidFill>
                <a:latin typeface="Noto Sans Mono CJK KR"/>
                <a:ea typeface="Noto Sans Mono CJK KR"/>
                <a:cs typeface="Noto Sans Mono CJK KR"/>
              </a:rPr>
              <a:t>직접 편집 개인화는 세 자릿수가 뛴다</a:t>
            </a:r>
            <a:endParaRPr sz="1050"/>
          </a:p>
        </p:txBody>
      </p:sp>
    </p:spTree>
    <p:extLst>
      <p:ext uri="{BB962C8B-B14F-4D97-AF65-F5344CB8AC3E}">
        <p14:creationId xmlns:p14="http://schemas.microsoft.com/office/powerpoint/2010/main" val="1452305100"/>
      </p:ext>
    </p:extLst>
  </p:cSld>
</p:sld>
</file>

<file path=ppt/slides/slide8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EXPERIMENTS</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STC-089</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X3 설계 — B_s가 어떻게 보고되는지를 규칙으로 전수 감사한다</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감사(측정 아님)</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experiments/stc/X3 meta · study-kr-stc ch28 §28.2</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89</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대상</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노트 29편</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여섯 칸</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절대 → 없음</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규칙</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키워드 + 부정</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결정론</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sha256 동일</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한계 ①</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노트 매개</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한계 ②</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문자/4 근사</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1차 감사 대상은 원문이 아니라 deep-read</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노트다. 노트가 놓친 값은 이 감사도 놓친다</a:t>
            </a:r>
            <a:endParaRPr sz="1500"/>
          </a:p>
        </p:txBody>
      </p:sp>
    </p:spTree>
    <p:extLst>
      <p:ext uri="{BB962C8B-B14F-4D97-AF65-F5344CB8AC3E}">
        <p14:creationId xmlns:p14="http://schemas.microsoft.com/office/powerpoint/2010/main" val="931853972"/>
      </p:ext>
    </p:extLst>
  </p:cSld>
</p:sld>
</file>

<file path=ppt/slides/slide90.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4-section">
            <a:extLst xmlns:a="http://schemas.openxmlformats.org/drawingml/2006/main">
              <a:ext uri="{FF2B5EF4-FFF2-40B4-BE49-F238E27FC236}">
                <a16:creationId xmlns:a16="http://schemas.microsoft.com/office/drawing/2014/main" id="{7616A92F-78D4-4389-9E54-208FF8DEBDB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EXPERIMENTS</a:t>
            </a:r>
            <a:endParaRPr sz="950"/>
          </a:p>
        </p:txBody>
      </p:sp>
      <p:sp>
        <p:nvSpPr>
          <p:cNvPr id="3" name="STC-24-slide-id">
            <a:extLst xmlns:a="http://schemas.openxmlformats.org/drawingml/2006/main">
              <a:ext uri="{FF2B5EF4-FFF2-40B4-BE49-F238E27FC236}">
                <a16:creationId xmlns:a16="http://schemas.microsoft.com/office/drawing/2014/main" id="{28DDB8DD-ED59-4F7A-ABD4-0014B78D57D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STC-090</a:t>
            </a:r>
            <a:endParaRPr sz="950"/>
          </a:p>
        </p:txBody>
      </p:sp>
      <p:sp>
        <p:nvSpPr>
          <p:cNvPr id="4" name="STC-24-headline">
            <a:extLst xmlns:a="http://schemas.openxmlformats.org/drawingml/2006/main">
              <a:ext uri="{FF2B5EF4-FFF2-40B4-BE49-F238E27FC236}">
                <a16:creationId xmlns:a16="http://schemas.microsoft.com/office/drawing/2014/main" id="{E96ED2A6-D5EC-48B5-A06B-512DF4A0B043}"/>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X3 결과 — B_s는 이 corpus에서 축이 아니라 각주다</a:t>
            </a:r>
            <a:endParaRPr sz="3000"/>
          </a:p>
        </p:txBody>
      </p:sp>
      <p:sp>
        <p:nvSpPr>
          <p:cNvPr id="5" name="STC-24-status-label">
            <a:extLst xmlns:a="http://schemas.openxmlformats.org/drawingml/2006/main">
              <a:ext uri="{FF2B5EF4-FFF2-40B4-BE49-F238E27FC236}">
                <a16:creationId xmlns:a16="http://schemas.microsoft.com/office/drawing/2014/main" id="{DCDB577D-97D2-4F2A-B310-ED51E3EE9C5E}"/>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감사 · 편수만</a:t>
            </a:r>
            <a:endParaRPr sz="1000"/>
          </a:p>
        </p:txBody>
      </p:sp>
      <p:sp>
        <p:nvSpPr>
          <p:cNvPr id="6" name="STC-24-status-rule">
            <a:extLst xmlns:a="http://schemas.openxmlformats.org/drawingml/2006/main">
              <a:ext uri="{FF2B5EF4-FFF2-40B4-BE49-F238E27FC236}">
                <a16:creationId xmlns:a16="http://schemas.microsoft.com/office/drawing/2014/main" id="{3683B797-60B5-480C-A301-49F30A60F273}"/>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24-footer-rule">
            <a:extLst xmlns:a="http://schemas.openxmlformats.org/drawingml/2006/main">
              <a:ext uri="{FF2B5EF4-FFF2-40B4-BE49-F238E27FC236}">
                <a16:creationId xmlns:a16="http://schemas.microsoft.com/office/drawing/2014/main" id="{6FA1EBBA-FD67-4ED0-A852-5338FC5CEF6C}"/>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4-source-footer">
            <a:extLst xmlns:a="http://schemas.openxmlformats.org/drawingml/2006/main">
              <a:ext uri="{FF2B5EF4-FFF2-40B4-BE49-F238E27FC236}">
                <a16:creationId xmlns:a16="http://schemas.microsoft.com/office/drawing/2014/main" id="{F4A5A94F-69E7-42F7-82C3-28BCCACC0D45}"/>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표 28-2 · experiments/stc/X3 Q1</a:t>
            </a:r>
            <a:endParaRPr sz="850"/>
          </a:p>
        </p:txBody>
      </p:sp>
      <p:sp>
        <p:nvSpPr>
          <p:cNvPr id="9" name="STC-24-page-number">
            <a:extLst xmlns:a="http://schemas.openxmlformats.org/drawingml/2006/main">
              <a:ext uri="{FF2B5EF4-FFF2-40B4-BE49-F238E27FC236}">
                <a16:creationId xmlns:a16="http://schemas.microsoft.com/office/drawing/2014/main" id="{0C67EAB4-410A-4712-B528-F9C4ACC0942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90</a:t>
            </a:r>
            <a:endParaRPr sz="850"/>
          </a:p>
        </p:txBody>
      </p:sp>
      <p:sp>
        <p:nvSpPr>
          <p:cNvPr id="11" name="STC-24-redteam-field">
            <a:extLst xmlns:a="http://schemas.openxmlformats.org/drawingml/2006/main">
              <a:ext uri="{FF2B5EF4-FFF2-40B4-BE49-F238E27FC236}">
                <a16:creationId xmlns:a16="http://schemas.microsoft.com/office/drawing/2014/main" id="{FE89799F-71D7-489E-B1FE-5C8044029419}"/>
              </a:ext>
            </a:extLst>
          </p:cNvPr>
          <p:cNvSpPr>
            <a:spLocks xmlns:a="http://schemas.openxmlformats.org/drawingml/2006/main" noGrp="1"/>
          </p:cNvSpPr>
          <p:nvPr/>
        </p:nvSpPr>
        <p:spPr>
          <a:xfrm xmlns:a="http://schemas.openxmlformats.org/drawingml/2006/main">
            <a:off x="777240" y="1581912"/>
            <a:ext cx="2852928" cy="4315968"/>
          </a:xfrm>
          <a:prstGeom xmlns:a="http://schemas.openxmlformats.org/drawingml/2006/main" prst="rect">
            <a:avLst/>
          </a:prstGeom>
          <a:solidFill xmlns:a="http://schemas.openxmlformats.org/drawingml/2006/main">
            <a:srgbClr val="9A442D"/>
          </a:solidFill>
          <a:ln xmlns:a="http://schemas.openxmlformats.org/drawingml/2006/main" w="12700">
            <a:solidFill>
              <a:srgbClr val="9A442D"/>
            </a:solidFill>
            <a:prstDash val="solid"/>
          </a:ln>
        </p:spPr>
      </p:sp>
      <p:sp>
        <p:nvSpPr>
          <p:cNvPr id="12" name="STC-24-redteam-31">
            <a:extLst xmlns:a="http://schemas.openxmlformats.org/drawingml/2006/main">
              <a:ext uri="{FF2B5EF4-FFF2-40B4-BE49-F238E27FC236}">
                <a16:creationId xmlns:a16="http://schemas.microsoft.com/office/drawing/2014/main" id="{76C36925-BB6F-431A-99F4-812FC8CEE5F1}"/>
              </a:ext>
            </a:extLst>
          </p:cNvPr>
          <p:cNvSpPr>
            <a:spLocks xmlns:a="http://schemas.openxmlformats.org/drawingml/2006/main" noGrp="1"/>
          </p:cNvSpPr>
          <p:nvPr/>
        </p:nvSpPr>
        <p:spPr>
          <a:xfrm xmlns:a="http://schemas.openxmlformats.org/drawingml/2006/main">
            <a:off x="1097280" y="1901952"/>
            <a:ext cx="2212848"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5200" b="1">
                <a:solidFill>
                  <a:srgbClr val="FFFFFF"/>
                </a:solidFill>
                <a:latin typeface="Noto Serif CJK KR"/>
                <a:ea typeface="Noto Serif CJK KR"/>
                <a:cs typeface="Noto Serif CJK KR"/>
              </a:rPr>
              <a:t>05</a:t>
            </a:r>
            <a:endParaRPr sz="5200"/>
          </a:p>
        </p:txBody>
      </p:sp>
      <p:sp>
        <p:nvSpPr>
          <p:cNvPr id="13" name="STC-24-redteam-findings">
            <a:extLst xmlns:a="http://schemas.openxmlformats.org/drawingml/2006/main">
              <a:ext uri="{FF2B5EF4-FFF2-40B4-BE49-F238E27FC236}">
                <a16:creationId xmlns:a16="http://schemas.microsoft.com/office/drawing/2014/main" id="{D5F13EAE-2C00-4FDE-BBDA-A4F17E21B35E}"/>
              </a:ext>
            </a:extLst>
          </p:cNvPr>
          <p:cNvSpPr>
            <a:spLocks xmlns:a="http://schemas.openxmlformats.org/drawingml/2006/main" noGrp="1"/>
          </p:cNvSpPr>
          <p:nvPr/>
        </p:nvSpPr>
        <p:spPr>
          <a:xfrm xmlns:a="http://schemas.openxmlformats.org/drawingml/2006/main">
            <a:off x="1097280" y="2816352"/>
            <a:ext cx="2212848"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000" b="1">
                <a:solidFill>
                  <a:srgbClr val="FFFFFF"/>
                </a:solidFill>
                <a:latin typeface="Noto Sans CJK KR"/>
                <a:ea typeface="Noto Sans CJK KR"/>
                <a:cs typeface="Noto Sans CJK KR"/>
              </a:rPr>
              <a:t>감사 ·</a:t>
            </a:r>
            <a:endParaRPr sz="2000"/>
          </a:p>
          <a:p xmlns:a="http://schemas.openxmlformats.org/drawingml/2006/main">
            <a:pPr marL="0" indent="0" algn="ctr">
              <a:buNone/>
            </a:pPr>
            <a:r>
              <a:rPr sz="2000" b="1">
                <a:solidFill>
                  <a:srgbClr val="FFFFFF"/>
                </a:solidFill>
                <a:latin typeface="Noto Sans CJK KR"/>
                <a:ea typeface="Noto Sans CJK KR"/>
                <a:cs typeface="Noto Sans CJK KR"/>
              </a:rPr>
              <a:t>편수만 FINDINGS</a:t>
            </a:r>
            <a:endParaRPr sz="2000"/>
          </a:p>
        </p:txBody>
      </p:sp>
      <p:sp>
        <p:nvSpPr>
          <p:cNvPr id="14" name="STC-24-redteam-rule">
            <a:extLst xmlns:a="http://schemas.openxmlformats.org/drawingml/2006/main">
              <a:ext uri="{FF2B5EF4-FFF2-40B4-BE49-F238E27FC236}">
                <a16:creationId xmlns:a16="http://schemas.microsoft.com/office/drawing/2014/main" id="{193B6418-9D2D-496E-BF27-2DF8AE1D1CED}"/>
              </a:ext>
            </a:extLst>
          </p:cNvPr>
          <p:cNvSpPr>
            <a:spLocks xmlns:a="http://schemas.openxmlformats.org/drawingml/2006/main" noGrp="1"/>
          </p:cNvSpPr>
          <p:nvPr/>
        </p:nvSpPr>
        <p:spPr>
          <a:xfrm xmlns:a="http://schemas.openxmlformats.org/drawingml/2006/main">
            <a:off x="1188720" y="3730752"/>
            <a:ext cx="2029968" cy="0"/>
          </a:xfrm>
          <a:prstGeom xmlns:a="http://schemas.openxmlformats.org/drawingml/2006/main" prst="line">
            <a:avLst/>
          </a:prstGeom>
          <a:noFill xmlns:a="http://schemas.openxmlformats.org/drawingml/2006/main"/>
          <a:ln xmlns:a="http://schemas.openxmlformats.org/drawingml/2006/main" w="12700">
            <a:solidFill>
              <a:srgbClr val="FFFFFF"/>
            </a:solidFill>
            <a:prstDash val="solid"/>
            <a:tailEnd type="none"/>
          </a:ln>
        </p:spPr>
      </p:sp>
      <p:sp>
        <p:nvSpPr>
          <p:cNvPr id="15" name="STC-24-redteam-domains">
            <a:extLst xmlns:a="http://schemas.openxmlformats.org/drawingml/2006/main">
              <a:ext uri="{FF2B5EF4-FFF2-40B4-BE49-F238E27FC236}">
                <a16:creationId xmlns:a16="http://schemas.microsoft.com/office/drawing/2014/main" id="{94EAAA44-BDF2-4DC5-83AA-ED7CFE049D6C}"/>
              </a:ext>
            </a:extLst>
          </p:cNvPr>
          <p:cNvSpPr>
            <a:spLocks xmlns:a="http://schemas.openxmlformats.org/drawingml/2006/main" noGrp="1"/>
          </p:cNvSpPr>
          <p:nvPr/>
        </p:nvSpPr>
        <p:spPr>
          <a:xfrm xmlns:a="http://schemas.openxmlformats.org/drawingml/2006/main">
            <a:off x="1188720" y="4005072"/>
            <a:ext cx="2029968"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a:solidFill>
                  <a:srgbClr val="FFFFFF"/>
                </a:solidFill>
                <a:latin typeface="Noto Sans Mono CJK KR"/>
                <a:ea typeface="Noto Sans Mono CJK KR"/>
                <a:cs typeface="Noto Sans Mono CJK KR"/>
              </a:rPr>
              <a:t>절대 1편</a:t>
            </a:r>
            <a:endParaRPr sz="1250"/>
          </a:p>
          <a:p xmlns:a="http://schemas.openxmlformats.org/drawingml/2006/main">
            <a:pPr marL="0" indent="0" algn="ctr">
              <a:buNone/>
            </a:pPr>
            <a:r>
              <a:rPr sz="1250">
                <a:solidFill>
                  <a:srgbClr val="FFFFFF"/>
                </a:solidFill>
                <a:latin typeface="Noto Sans Mono CJK KR"/>
                <a:ea typeface="Noto Sans Mono CJK KR"/>
                <a:cs typeface="Noto Sans Mono CJK KR"/>
              </a:rPr>
              <a:t>step 5편</a:t>
            </a:r>
            <a:endParaRPr sz="1250"/>
          </a:p>
          <a:p xmlns:a="http://schemas.openxmlformats.org/drawingml/2006/main">
            <a:pPr marL="0" indent="0" algn="ctr">
              <a:buNone/>
            </a:pPr>
            <a:r>
              <a:rPr sz="1250">
                <a:solidFill>
                  <a:srgbClr val="FFFFFF"/>
                </a:solidFill>
                <a:latin typeface="Noto Sans Mono CJK KR"/>
                <a:ea typeface="Noto Sans Mono CJK KR"/>
                <a:cs typeface="Noto Sans Mono CJK KR"/>
              </a:rPr>
              <a:t>벽시계</a:t>
            </a:r>
            <a:endParaRPr sz="1250"/>
          </a:p>
          <a:p xmlns:a="http://schemas.openxmlformats.org/drawingml/2006/main">
            <a:pPr marL="0" indent="0" algn="ctr">
              <a:buNone/>
            </a:pPr>
            <a:r>
              <a:rPr sz="1250">
                <a:solidFill>
                  <a:srgbClr val="FFFFFF"/>
                </a:solidFill>
                <a:latin typeface="Noto Sans Mono CJK KR"/>
                <a:ea typeface="Noto Sans Mono CJK KR"/>
                <a:cs typeface="Noto Sans Mono CJK KR"/>
              </a:rPr>
              <a:t>2편 knob 2편</a:t>
            </a:r>
            <a:endParaRPr sz="1250"/>
          </a:p>
        </p:txBody>
      </p:sp>
      <p:sp>
        <p:nvSpPr>
          <p:cNvPr id="16" name="STC-24-redteam-condition-0">
            <a:extLst xmlns:a="http://schemas.openxmlformats.org/drawingml/2006/main">
              <a:ext uri="{FF2B5EF4-FFF2-40B4-BE49-F238E27FC236}">
                <a16:creationId xmlns:a16="http://schemas.microsoft.com/office/drawing/2014/main" id="{49FB02AA-6A7B-4109-B1CE-AAFDD4B95126}"/>
              </a:ext>
            </a:extLst>
          </p:cNvPr>
          <p:cNvSpPr>
            <a:spLocks xmlns:a="http://schemas.openxmlformats.org/drawingml/2006/main" noGrp="1"/>
          </p:cNvSpPr>
          <p:nvPr/>
        </p:nvSpPr>
        <p:spPr>
          <a:xfrm xmlns:a="http://schemas.openxmlformats.org/drawingml/2006/main">
            <a:off x="4096512" y="1636776"/>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절대 1편</a:t>
            </a:r>
            <a:endParaRPr sz="1050"/>
          </a:p>
        </p:txBody>
      </p:sp>
      <p:sp>
        <p:nvSpPr>
          <p:cNvPr id="17" name="STC-24-redteam-arrow-0">
            <a:extLst xmlns:a="http://schemas.openxmlformats.org/drawingml/2006/main">
              <a:ext uri="{FF2B5EF4-FFF2-40B4-BE49-F238E27FC236}">
                <a16:creationId xmlns:a16="http://schemas.microsoft.com/office/drawing/2014/main" id="{ECFD658B-F414-4945-8A22-4E8FA91012AB}"/>
              </a:ext>
            </a:extLst>
          </p:cNvPr>
          <p:cNvSpPr>
            <a:spLocks xmlns:a="http://schemas.openxmlformats.org/drawingml/2006/main" noGrp="1"/>
          </p:cNvSpPr>
          <p:nvPr/>
        </p:nvSpPr>
        <p:spPr>
          <a:xfrm xmlns:a="http://schemas.openxmlformats.org/drawingml/2006/main">
            <a:off x="6547104" y="1746504"/>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18" name="STC-24-redteam-action-0">
            <a:extLst xmlns:a="http://schemas.openxmlformats.org/drawingml/2006/main">
              <a:ext uri="{FF2B5EF4-FFF2-40B4-BE49-F238E27FC236}">
                <a16:creationId xmlns:a16="http://schemas.microsoft.com/office/drawing/2014/main" id="{25845292-03ED-4596-A305-80A67767FF5E}"/>
              </a:ext>
            </a:extLst>
          </p:cNvPr>
          <p:cNvSpPr>
            <a:spLocks xmlns:a="http://schemas.openxmlformats.org/drawingml/2006/main" noGrp="1"/>
          </p:cNvSpPr>
          <p:nvPr/>
        </p:nvSpPr>
        <p:spPr>
          <a:xfrm xmlns:a="http://schemas.openxmlformats.org/drawingml/2006/main">
            <a:off x="7315200" y="1600200"/>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ReasoningBank 과제당 3748.4토큰. 상각 주장 안 함</a:t>
            </a:r>
            <a:endParaRPr sz="1700"/>
          </a:p>
        </p:txBody>
      </p:sp>
      <p:sp>
        <p:nvSpPr>
          <p:cNvPr id="19" name="STC-24-redteam-condition-1">
            <a:extLst xmlns:a="http://schemas.openxmlformats.org/drawingml/2006/main">
              <a:ext uri="{FF2B5EF4-FFF2-40B4-BE49-F238E27FC236}">
                <a16:creationId xmlns:a16="http://schemas.microsoft.com/office/drawing/2014/main" id="{C8B7593A-7FC2-429B-B521-B510492237D9}"/>
              </a:ext>
            </a:extLst>
          </p:cNvPr>
          <p:cNvSpPr>
            <a:spLocks xmlns:a="http://schemas.openxmlformats.org/drawingml/2006/main" noGrp="1"/>
          </p:cNvSpPr>
          <p:nvPr/>
        </p:nvSpPr>
        <p:spPr>
          <a:xfrm xmlns:a="http://schemas.openxmlformats.org/drawingml/2006/main">
            <a:off x="4096512" y="2468880"/>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STEP 5편</a:t>
            </a:r>
            <a:endParaRPr sz="1050"/>
          </a:p>
        </p:txBody>
      </p:sp>
      <p:sp>
        <p:nvSpPr>
          <p:cNvPr id="20" name="STC-24-redteam-arrow-1">
            <a:extLst xmlns:a="http://schemas.openxmlformats.org/drawingml/2006/main">
              <a:ext uri="{FF2B5EF4-FFF2-40B4-BE49-F238E27FC236}">
                <a16:creationId xmlns:a16="http://schemas.microsoft.com/office/drawing/2014/main" id="{F092DC91-30E1-437A-B05C-4E92179650B8}"/>
              </a:ext>
            </a:extLst>
          </p:cNvPr>
          <p:cNvSpPr>
            <a:spLocks xmlns:a="http://schemas.openxmlformats.org/drawingml/2006/main" noGrp="1"/>
          </p:cNvSpPr>
          <p:nvPr/>
        </p:nvSpPr>
        <p:spPr>
          <a:xfrm xmlns:a="http://schemas.openxmlformats.org/drawingml/2006/main">
            <a:off x="6547104" y="2578608"/>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21" name="STC-24-redteam-action-1">
            <a:extLst xmlns:a="http://schemas.openxmlformats.org/drawingml/2006/main">
              <a:ext uri="{FF2B5EF4-FFF2-40B4-BE49-F238E27FC236}">
                <a16:creationId xmlns:a16="http://schemas.microsoft.com/office/drawing/2014/main" id="{AAB4C558-8F92-4BB0-B8E0-D28983C0BA46}"/>
              </a:ext>
            </a:extLst>
          </p:cNvPr>
          <p:cNvSpPr>
            <a:spLocks xmlns:a="http://schemas.openxmlformats.org/drawingml/2006/main" noGrp="1"/>
          </p:cNvSpPr>
          <p:nvPr/>
        </p:nvSpPr>
        <p:spPr>
          <a:xfrm xmlns:a="http://schemas.openxmlformats.org/drawingml/2006/main">
            <a:off x="7315200" y="2432304"/>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학습 논문의 서식을 물려받은 경로들</a:t>
            </a:r>
            <a:endParaRPr sz="1700"/>
          </a:p>
        </p:txBody>
      </p:sp>
      <p:sp>
        <p:nvSpPr>
          <p:cNvPr id="22" name="STC-24-redteam-condition-2">
            <a:extLst xmlns:a="http://schemas.openxmlformats.org/drawingml/2006/main">
              <a:ext uri="{FF2B5EF4-FFF2-40B4-BE49-F238E27FC236}">
                <a16:creationId xmlns:a16="http://schemas.microsoft.com/office/drawing/2014/main" id="{49D0C450-50F7-478F-8F31-2E93A9AA5685}"/>
              </a:ext>
            </a:extLst>
          </p:cNvPr>
          <p:cNvSpPr>
            <a:spLocks xmlns:a="http://schemas.openxmlformats.org/drawingml/2006/main" noGrp="1"/>
          </p:cNvSpPr>
          <p:nvPr/>
        </p:nvSpPr>
        <p:spPr>
          <a:xfrm xmlns:a="http://schemas.openxmlformats.org/drawingml/2006/main">
            <a:off x="4096512" y="3300984"/>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벽시계 2편</a:t>
            </a:r>
            <a:endParaRPr sz="1050"/>
          </a:p>
        </p:txBody>
      </p:sp>
      <p:sp>
        <p:nvSpPr>
          <p:cNvPr id="23" name="STC-24-redteam-arrow-2">
            <a:extLst xmlns:a="http://schemas.openxmlformats.org/drawingml/2006/main">
              <a:ext uri="{FF2B5EF4-FFF2-40B4-BE49-F238E27FC236}">
                <a16:creationId xmlns:a16="http://schemas.microsoft.com/office/drawing/2014/main" id="{F1BFD9F8-5311-48DD-82AC-FC91409C398F}"/>
              </a:ext>
            </a:extLst>
          </p:cNvPr>
          <p:cNvSpPr>
            <a:spLocks xmlns:a="http://schemas.openxmlformats.org/drawingml/2006/main" noGrp="1"/>
          </p:cNvSpPr>
          <p:nvPr/>
        </p:nvSpPr>
        <p:spPr>
          <a:xfrm xmlns:a="http://schemas.openxmlformats.org/drawingml/2006/main">
            <a:off x="6547104" y="3410712"/>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24" name="STC-24-redteam-action-2">
            <a:extLst xmlns:a="http://schemas.openxmlformats.org/drawingml/2006/main">
              <a:ext uri="{FF2B5EF4-FFF2-40B4-BE49-F238E27FC236}">
                <a16:creationId xmlns:a16="http://schemas.microsoft.com/office/drawing/2014/main" id="{53B6400F-21E7-48B9-B878-73AC3E062630}"/>
              </a:ext>
            </a:extLst>
          </p:cNvPr>
          <p:cNvSpPr>
            <a:spLocks xmlns:a="http://schemas.openxmlformats.org/drawingml/2006/main" noGrp="1"/>
          </p:cNvSpPr>
          <p:nvPr/>
        </p:nvSpPr>
        <p:spPr>
          <a:xfrm xmlns:a="http://schemas.openxmlformats.org/drawingml/2006/main">
            <a:off x="7315200" y="3264408"/>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MFU 보고가 1편이라 FLOPs로 옮길 다리가 없다</a:t>
            </a:r>
            <a:endParaRPr sz="1700"/>
          </a:p>
        </p:txBody>
      </p:sp>
      <p:sp>
        <p:nvSpPr>
          <p:cNvPr id="25" name="STC-24-redteam-condition-3">
            <a:extLst xmlns:a="http://schemas.openxmlformats.org/drawingml/2006/main">
              <a:ext uri="{FF2B5EF4-FFF2-40B4-BE49-F238E27FC236}">
                <a16:creationId xmlns:a16="http://schemas.microsoft.com/office/drawing/2014/main" id="{54B2E66F-F1FD-43FB-BE43-6557E3F79FBF}"/>
              </a:ext>
            </a:extLst>
          </p:cNvPr>
          <p:cNvSpPr>
            <a:spLocks xmlns:a="http://schemas.openxmlformats.org/drawingml/2006/main" noGrp="1"/>
          </p:cNvSpPr>
          <p:nvPr/>
        </p:nvSpPr>
        <p:spPr>
          <a:xfrm xmlns:a="http://schemas.openxmlformats.org/drawingml/2006/main">
            <a:off x="4096512" y="4133088"/>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KNOB 2편</a:t>
            </a:r>
            <a:endParaRPr sz="1050"/>
          </a:p>
        </p:txBody>
      </p:sp>
      <p:sp>
        <p:nvSpPr>
          <p:cNvPr id="26" name="STC-24-redteam-arrow-3">
            <a:extLst xmlns:a="http://schemas.openxmlformats.org/drawingml/2006/main">
              <a:ext uri="{FF2B5EF4-FFF2-40B4-BE49-F238E27FC236}">
                <a16:creationId xmlns:a16="http://schemas.microsoft.com/office/drawing/2014/main" id="{142A7955-B5F4-4C94-BF7C-59CB9CABC9A9}"/>
              </a:ext>
            </a:extLst>
          </p:cNvPr>
          <p:cNvSpPr>
            <a:spLocks xmlns:a="http://schemas.openxmlformats.org/drawingml/2006/main" noGrp="1"/>
          </p:cNvSpPr>
          <p:nvPr/>
        </p:nvSpPr>
        <p:spPr>
          <a:xfrm xmlns:a="http://schemas.openxmlformats.org/drawingml/2006/main">
            <a:off x="6547104" y="4242816"/>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27" name="STC-24-redteam-action-3">
            <a:extLst xmlns:a="http://schemas.openxmlformats.org/drawingml/2006/main">
              <a:ext uri="{FF2B5EF4-FFF2-40B4-BE49-F238E27FC236}">
                <a16:creationId xmlns:a16="http://schemas.microsoft.com/office/drawing/2014/main" id="{509CB230-3F0C-4279-A9DF-0AED1E3597D6}"/>
              </a:ext>
            </a:extLst>
          </p:cNvPr>
          <p:cNvSpPr>
            <a:spLocks xmlns:a="http://schemas.openxmlformats.org/drawingml/2006/main" noGrp="1"/>
          </p:cNvSpPr>
          <p:nvPr/>
        </p:nvSpPr>
        <p:spPr>
          <a:xfrm xmlns:a="http://schemas.openxmlformats.org/drawingml/2006/main">
            <a:off x="7315200" y="4096512"/>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눈금 없는 비례 손잡이만. Letta STC가 여기</a:t>
            </a:r>
            <a:endParaRPr sz="1700"/>
          </a:p>
        </p:txBody>
      </p:sp>
      <p:sp>
        <p:nvSpPr>
          <p:cNvPr id="28" name="STC-24-redteam-condition-4">
            <a:extLst xmlns:a="http://schemas.openxmlformats.org/drawingml/2006/main">
              <a:ext uri="{FF2B5EF4-FFF2-40B4-BE49-F238E27FC236}">
                <a16:creationId xmlns:a16="http://schemas.microsoft.com/office/drawing/2014/main" id="{446D537E-ADDE-43CB-9B24-A4F46A7882F5}"/>
              </a:ext>
            </a:extLst>
          </p:cNvPr>
          <p:cNvSpPr>
            <a:spLocks xmlns:a="http://schemas.openxmlformats.org/drawingml/2006/main" noGrp="1"/>
          </p:cNvSpPr>
          <p:nvPr/>
        </p:nvSpPr>
        <p:spPr>
          <a:xfrm xmlns:a="http://schemas.openxmlformats.org/drawingml/2006/main">
            <a:off x="4096512" y="4965192"/>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없음 19편</a:t>
            </a:r>
            <a:endParaRPr sz="1050"/>
          </a:p>
        </p:txBody>
      </p:sp>
      <p:sp>
        <p:nvSpPr>
          <p:cNvPr id="29" name="STC-24-redteam-arrow-4">
            <a:extLst xmlns:a="http://schemas.openxmlformats.org/drawingml/2006/main">
              <a:ext uri="{FF2B5EF4-FFF2-40B4-BE49-F238E27FC236}">
                <a16:creationId xmlns:a16="http://schemas.microsoft.com/office/drawing/2014/main" id="{2F284B3B-3811-4BF7-8991-CD6D21C10D0E}"/>
              </a:ext>
            </a:extLst>
          </p:cNvPr>
          <p:cNvSpPr>
            <a:spLocks xmlns:a="http://schemas.openxmlformats.org/drawingml/2006/main" noGrp="1"/>
          </p:cNvSpPr>
          <p:nvPr/>
        </p:nvSpPr>
        <p:spPr>
          <a:xfrm xmlns:a="http://schemas.openxmlformats.org/drawingml/2006/main">
            <a:off x="6547104" y="5074920"/>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30" name="STC-24-redteam-action-4">
            <a:extLst xmlns:a="http://schemas.openxmlformats.org/drawingml/2006/main">
              <a:ext uri="{FF2B5EF4-FFF2-40B4-BE49-F238E27FC236}">
                <a16:creationId xmlns:a16="http://schemas.microsoft.com/office/drawing/2014/main" id="{0C0BE6BA-1227-4317-8CCB-047039F8A580}"/>
              </a:ext>
            </a:extLst>
          </p:cNvPr>
          <p:cNvSpPr>
            <a:spLocks xmlns:a="http://schemas.openxmlformats.org/drawingml/2006/main" noGrp="1"/>
          </p:cNvSpPr>
          <p:nvPr/>
        </p:nvSpPr>
        <p:spPr>
          <a:xfrm xmlns:a="http://schemas.openxmlformats.org/drawingml/2006/main">
            <a:off x="7315200" y="4928616"/>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그중 9편은 애초에 B_s가 정의되지 않는다</a:t>
            </a:r>
            <a:endParaRPr sz="1700"/>
          </a:p>
        </p:txBody>
      </p:sp>
      <p:sp>
        <p:nvSpPr>
          <p:cNvPr id="31" name="STC-24-redteam-bottom">
            <a:extLst xmlns:a="http://schemas.openxmlformats.org/drawingml/2006/main">
              <a:ext uri="{FF2B5EF4-FFF2-40B4-BE49-F238E27FC236}">
                <a16:creationId xmlns:a16="http://schemas.microsoft.com/office/drawing/2014/main" id="{3BD5330B-ECE0-40DD-92FE-09B0B3E352BD}"/>
              </a:ext>
            </a:extLst>
          </p:cNvPr>
          <p:cNvSpPr>
            <a:spLocks xmlns:a="http://schemas.openxmlformats.org/drawingml/2006/main" noGrp="1"/>
          </p:cNvSpPr>
          <p:nvPr/>
        </p:nvSpPr>
        <p:spPr>
          <a:xfrm xmlns:a="http://schemas.openxmlformats.org/drawingml/2006/main">
            <a:off x="5074920" y="5596128"/>
            <a:ext cx="532180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b="1">
                <a:solidFill>
                  <a:srgbClr val="2F6B63"/>
                </a:solidFill>
                <a:latin typeface="Noto Sans Mono CJK KR"/>
                <a:ea typeface="Noto Sans Mono CJK KR"/>
                <a:cs typeface="Noto Sans Mono CJK KR"/>
              </a:rPr>
              <a:t>그 19편 중 9편은 '보고 안 함'이 아니라 오프라인 패스 자체가 없어 B_s가 정의되지 않는 경우다</a:t>
            </a:r>
            <a:endParaRPr sz="1100"/>
          </a:p>
        </p:txBody>
      </p:sp>
    </p:spTree>
    <p:extLst>
      <p:ext uri="{BB962C8B-B14F-4D97-AF65-F5344CB8AC3E}">
        <p14:creationId xmlns:p14="http://schemas.microsoft.com/office/powerpoint/2010/main" val="777900829"/>
      </p:ext>
    </p:extLst>
  </p:cSld>
</p:sld>
</file>

<file path=ppt/slides/slide91.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EXPERIMENTS</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STC-091</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X4 설계 — 반복 (U-Θ)를 최소 모형에서 K라운드 돌린다</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최소모형 · LLM 아님</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experiments/stc/X4 meta · study-kr-stc ch29 §29.2</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91</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PART A</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가우시안 위치</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PART B</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선형 연상기억</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왜</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설계행렬 없이 재유도</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예산</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항목 · step 고정</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못 함</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합성 · 함의</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금지</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절대치 전부</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이송 가능한 것은 함수형·부호·조건 간</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순서·crossover의 존재와 이동 방향뿐이다</a:t>
            </a:r>
            <a:endParaRPr sz="1500"/>
          </a:p>
        </p:txBody>
      </p:sp>
    </p:spTree>
    <p:extLst>
      <p:ext uri="{BB962C8B-B14F-4D97-AF65-F5344CB8AC3E}">
        <p14:creationId xmlns:p14="http://schemas.microsoft.com/office/powerpoint/2010/main" val="931853972"/>
      </p:ext>
    </p:extLst>
  </p:cSld>
</p:sld>
</file>

<file path=ppt/slides/slide9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7-section">
            <a:extLst xmlns:a="http://schemas.openxmlformats.org/drawingml/2006/main">
              <a:ext uri="{FF2B5EF4-FFF2-40B4-BE49-F238E27FC236}">
                <a16:creationId xmlns:a16="http://schemas.microsoft.com/office/drawing/2014/main" id="{92E4F8C4-5B7E-4BA3-B695-B6837EACCBA5}"/>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EXPERIMENTS</a:t>
            </a:r>
            <a:endParaRPr sz="950"/>
          </a:p>
        </p:txBody>
      </p:sp>
      <p:sp>
        <p:nvSpPr>
          <p:cNvPr id="3" name="STC-17-slide-id">
            <a:extLst xmlns:a="http://schemas.openxmlformats.org/drawingml/2006/main">
              <a:ext uri="{FF2B5EF4-FFF2-40B4-BE49-F238E27FC236}">
                <a16:creationId xmlns:a16="http://schemas.microsoft.com/office/drawing/2014/main" id="{90F0654A-6500-4A13-AE0F-92E29E9E7142}"/>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STC-092</a:t>
            </a:r>
            <a:endParaRPr sz="950"/>
          </a:p>
        </p:txBody>
      </p:sp>
      <p:sp>
        <p:nvSpPr>
          <p:cNvPr id="4" name="STC-17-headline">
            <a:extLst xmlns:a="http://schemas.openxmlformats.org/drawingml/2006/main">
              <a:ext uri="{FF2B5EF4-FFF2-40B4-BE49-F238E27FC236}">
                <a16:creationId xmlns:a16="http://schemas.microsoft.com/office/drawing/2014/main" id="{36BE495C-0276-48C5-8763-B49A07942DC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X4 결과 — 이송해야 할 양은 ρ가 아니라 crossover다</a:t>
            </a:r>
            <a:endParaRPr sz="3000"/>
          </a:p>
        </p:txBody>
      </p:sp>
      <p:sp>
        <p:nvSpPr>
          <p:cNvPr id="5" name="STC-17-status-label">
            <a:extLst xmlns:a="http://schemas.openxmlformats.org/drawingml/2006/main">
              <a:ext uri="{FF2B5EF4-FFF2-40B4-BE49-F238E27FC236}">
                <a16:creationId xmlns:a16="http://schemas.microsoft.com/office/drawing/2014/main" id="{3085FB04-162B-4BDC-9971-7067E8D465E9}"/>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9A442D"/>
                </a:solidFill>
                <a:latin typeface="Noto Sans Mono CJK KR"/>
                <a:ea typeface="Noto Sans Mono CJK KR"/>
                <a:cs typeface="Noto Sans Mono CJK KR"/>
              </a:rPr>
              <a:t>최소모형 · 부호만</a:t>
            </a:r>
            <a:endParaRPr sz="1000"/>
          </a:p>
        </p:txBody>
      </p:sp>
      <p:sp>
        <p:nvSpPr>
          <p:cNvPr id="6" name="STC-17-status-rule">
            <a:extLst xmlns:a="http://schemas.openxmlformats.org/drawingml/2006/main">
              <a:ext uri="{FF2B5EF4-FFF2-40B4-BE49-F238E27FC236}">
                <a16:creationId xmlns:a16="http://schemas.microsoft.com/office/drawing/2014/main" id="{578ADC5E-51EB-404F-BC45-37C9D6CD7CD7}"/>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9A442D"/>
            </a:solidFill>
            <a:prstDash val="solid"/>
            <a:tailEnd type="none"/>
          </a:ln>
        </p:spPr>
      </p:sp>
      <p:sp>
        <p:nvSpPr>
          <p:cNvPr id="7" name="STC-17-footer-rule">
            <a:extLst xmlns:a="http://schemas.openxmlformats.org/drawingml/2006/main">
              <a:ext uri="{FF2B5EF4-FFF2-40B4-BE49-F238E27FC236}">
                <a16:creationId xmlns:a16="http://schemas.microsoft.com/office/drawing/2014/main" id="{E08768A2-4454-4B40-89F4-7D7CB0E43EDC}"/>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7-source-footer">
            <a:extLst xmlns:a="http://schemas.openxmlformats.org/drawingml/2006/main">
              <a:ext uri="{FF2B5EF4-FFF2-40B4-BE49-F238E27FC236}">
                <a16:creationId xmlns:a16="http://schemas.microsoft.com/office/drawing/2014/main" id="{AD1D9E5D-8963-4E36-885F-E265EF98368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experiments/stc/X4 findings F3–F8 · study-kr-stc ch29 §29.3.5</a:t>
            </a:r>
            <a:endParaRPr sz="850"/>
          </a:p>
        </p:txBody>
      </p:sp>
      <p:sp>
        <p:nvSpPr>
          <p:cNvPr id="9" name="STC-17-page-number">
            <a:extLst xmlns:a="http://schemas.openxmlformats.org/drawingml/2006/main">
              <a:ext uri="{FF2B5EF4-FFF2-40B4-BE49-F238E27FC236}">
                <a16:creationId xmlns:a16="http://schemas.microsoft.com/office/drawing/2014/main" id="{D9D3A1E4-D8BE-40ED-87D8-2EA53AA60732}"/>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92</a:t>
            </a:r>
            <a:endParaRPr sz="850"/>
          </a:p>
        </p:txBody>
      </p:sp>
      <p:sp>
        <p:nvSpPr>
          <p:cNvPr id="11" name="STC-17-scale-left-x">
            <a:extLst xmlns:a="http://schemas.openxmlformats.org/drawingml/2006/main">
              <a:ext uri="{FF2B5EF4-FFF2-40B4-BE49-F238E27FC236}">
                <a16:creationId xmlns:a16="http://schemas.microsoft.com/office/drawing/2014/main" id="{F38B9EA2-0669-4C35-A757-D44B42B288FA}"/>
              </a:ext>
            </a:extLst>
          </p:cNvPr>
          <p:cNvSpPr>
            <a:spLocks xmlns:a="http://schemas.openxmlformats.org/drawingml/2006/main" noGrp="1"/>
          </p:cNvSpPr>
          <p:nvPr/>
        </p:nvSpPr>
        <p:spPr>
          <a:xfrm xmlns:a="http://schemas.openxmlformats.org/drawingml/2006/main">
            <a:off x="1005840" y="5120640"/>
            <a:ext cx="425196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2" name="STC-17-scale-left-y">
            <a:extLst xmlns:a="http://schemas.openxmlformats.org/drawingml/2006/main">
              <a:ext uri="{FF2B5EF4-FFF2-40B4-BE49-F238E27FC236}">
                <a16:creationId xmlns:a16="http://schemas.microsoft.com/office/drawing/2014/main" id="{127EAC0F-7538-48D2-9845-E50816FBC5B6}"/>
              </a:ext>
            </a:extLst>
          </p:cNvPr>
          <p:cNvSpPr>
            <a:spLocks xmlns:a="http://schemas.openxmlformats.org/drawingml/2006/main" noGrp="1"/>
          </p:cNvSpPr>
          <p:nvPr/>
        </p:nvSpPr>
        <p:spPr>
          <a:xfrm xmlns:a="http://schemas.openxmlformats.org/drawingml/2006/main" flipH="0" flipV="1">
            <a:off x="1005840" y="1874520"/>
            <a:ext cx="0" cy="324612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3" name="STC-17-scale-left-xlabel">
            <a:extLst xmlns:a="http://schemas.openxmlformats.org/drawingml/2006/main">
              <a:ext uri="{FF2B5EF4-FFF2-40B4-BE49-F238E27FC236}">
                <a16:creationId xmlns:a16="http://schemas.microsoft.com/office/drawing/2014/main" id="{CC1A6B04-2FA6-4A11-9502-96D6C06C0406}"/>
              </a:ext>
            </a:extLst>
          </p:cNvPr>
          <p:cNvSpPr>
            <a:spLocks xmlns:a="http://schemas.openxmlformats.org/drawingml/2006/main" noGrp="1"/>
          </p:cNvSpPr>
          <p:nvPr/>
        </p:nvSpPr>
        <p:spPr>
          <a:xfrm xmlns:a="http://schemas.openxmlformats.org/drawingml/2006/main">
            <a:off x="3794760" y="5266944"/>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a:solidFill>
                  <a:srgbClr val="59616A"/>
                </a:solidFill>
                <a:latin typeface="Noto Sans CJK KR"/>
                <a:ea typeface="Noto Sans CJK KR"/>
                <a:cs typeface="Noto Sans CJK KR"/>
              </a:rPr>
              <a:t>라운드 k</a:t>
            </a:r>
            <a:endParaRPr sz="1100"/>
          </a:p>
        </p:txBody>
      </p:sp>
      <p:sp>
        <p:nvSpPr>
          <p:cNvPr id="14" name="STC-17-scale-left-ylabel">
            <a:extLst xmlns:a="http://schemas.openxmlformats.org/drawingml/2006/main">
              <a:ext uri="{FF2B5EF4-FFF2-40B4-BE49-F238E27FC236}">
                <a16:creationId xmlns:a16="http://schemas.microsoft.com/office/drawing/2014/main" id="{3FECF62E-F154-4266-9F86-FA8AD5DD6D5B}"/>
              </a:ext>
            </a:extLst>
          </p:cNvPr>
          <p:cNvSpPr>
            <a:spLocks xmlns:a="http://schemas.openxmlformats.org/drawingml/2006/main" noGrp="1"/>
          </p:cNvSpPr>
          <p:nvPr/>
        </p:nvSpPr>
        <p:spPr>
          <a:xfrm xmlns:a="http://schemas.openxmlformats.org/drawingml/2006/main" rot="16200000">
            <a:off x="594360" y="1764792"/>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9616A"/>
                </a:solidFill>
                <a:latin typeface="Noto Sans CJK KR"/>
                <a:ea typeface="Noto Sans CJK KR"/>
                <a:cs typeface="Noto Sans CJK KR"/>
              </a:rPr>
              <a:t>지표</a:t>
            </a:r>
            <a:endParaRPr sz="1100"/>
          </a:p>
        </p:txBody>
      </p:sp>
      <p:sp>
        <p:nvSpPr>
          <p:cNvPr id="15" name="STC-17-scale-external">
            <a:extLst xmlns:a="http://schemas.openxmlformats.org/drawingml/2006/main">
              <a:ext uri="{FF2B5EF4-FFF2-40B4-BE49-F238E27FC236}">
                <a16:creationId xmlns:a16="http://schemas.microsoft.com/office/drawing/2014/main" id="{2D86127B-2D39-4C68-9E49-E6517B6F9AD8}"/>
              </a:ext>
            </a:extLst>
          </p:cNvPr>
          <p:cNvSpPr>
            <a:spLocks xmlns:a="http://schemas.openxmlformats.org/drawingml/2006/main" noGrp="1"/>
          </p:cNvSpPr>
          <p:nvPr/>
        </p:nvSpPr>
        <p:spPr>
          <a:xfrm xmlns:a="http://schemas.openxmlformats.org/drawingml/2006/main" flipH="0" flipV="1">
            <a:off x="1188720" y="2606040"/>
            <a:ext cx="3520440" cy="1874520"/>
          </a:xfrm>
          <a:prstGeom xmlns:a="http://schemas.openxmlformats.org/drawingml/2006/main" prst="line">
            <a:avLst/>
          </a:prstGeom>
          <a:noFill xmlns:a="http://schemas.openxmlformats.org/drawingml/2006/main"/>
          <a:ln xmlns:a="http://schemas.openxmlformats.org/drawingml/2006/main" w="27940">
            <a:solidFill>
              <a:srgbClr val="244E8A"/>
            </a:solidFill>
            <a:prstDash val="solid"/>
            <a:tailEnd type="none"/>
          </a:ln>
        </p:spPr>
      </p:sp>
      <p:sp>
        <p:nvSpPr>
          <p:cNvPr id="16" name="STC-17-scale-parametric">
            <a:extLst xmlns:a="http://schemas.openxmlformats.org/drawingml/2006/main">
              <a:ext uri="{FF2B5EF4-FFF2-40B4-BE49-F238E27FC236}">
                <a16:creationId xmlns:a16="http://schemas.microsoft.com/office/drawing/2014/main" id="{DFC59353-7D50-4688-AA06-2224C35349DE}"/>
              </a:ext>
            </a:extLst>
          </p:cNvPr>
          <p:cNvSpPr>
            <a:spLocks xmlns:a="http://schemas.openxmlformats.org/drawingml/2006/main" noGrp="1"/>
          </p:cNvSpPr>
          <p:nvPr/>
        </p:nvSpPr>
        <p:spPr>
          <a:xfrm xmlns:a="http://schemas.openxmlformats.org/drawingml/2006/main">
            <a:off x="1188720" y="2514600"/>
            <a:ext cx="3520440" cy="1965960"/>
          </a:xfrm>
          <a:prstGeom xmlns:a="http://schemas.openxmlformats.org/drawingml/2006/main" prst="line">
            <a:avLst/>
          </a:prstGeom>
          <a:noFill xmlns:a="http://schemas.openxmlformats.org/drawingml/2006/main"/>
          <a:ln xmlns:a="http://schemas.openxmlformats.org/drawingml/2006/main" w="27940">
            <a:solidFill>
              <a:srgbClr val="9A442D"/>
            </a:solidFill>
            <a:prstDash val="solid"/>
            <a:tailEnd type="none"/>
          </a:ln>
        </p:spPr>
      </p:sp>
      <p:sp>
        <p:nvSpPr>
          <p:cNvPr id="17" name="STC-17-scale-cross">
            <a:extLst xmlns:a="http://schemas.openxmlformats.org/drawingml/2006/main">
              <a:ext uri="{FF2B5EF4-FFF2-40B4-BE49-F238E27FC236}">
                <a16:creationId xmlns:a16="http://schemas.microsoft.com/office/drawing/2014/main" id="{38C2475A-C01B-48D1-B5C2-52F03E134CC7}"/>
              </a:ext>
            </a:extLst>
          </p:cNvPr>
          <p:cNvSpPr>
            <a:spLocks xmlns:a="http://schemas.openxmlformats.org/drawingml/2006/main" noGrp="1"/>
          </p:cNvSpPr>
          <p:nvPr/>
        </p:nvSpPr>
        <p:spPr>
          <a:xfrm xmlns:a="http://schemas.openxmlformats.org/drawingml/2006/main">
            <a:off x="2971800" y="3438144"/>
            <a:ext cx="219456" cy="219456"/>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18" name="STC-17-scale-cross-label">
            <a:extLst xmlns:a="http://schemas.openxmlformats.org/drawingml/2006/main">
              <a:ext uri="{FF2B5EF4-FFF2-40B4-BE49-F238E27FC236}">
                <a16:creationId xmlns:a16="http://schemas.microsoft.com/office/drawing/2014/main" id="{5361373B-8A27-4C3F-BCAB-13880DD0432B}"/>
              </a:ext>
            </a:extLst>
          </p:cNvPr>
          <p:cNvSpPr>
            <a:spLocks xmlns:a="http://schemas.openxmlformats.org/drawingml/2006/main" noGrp="1"/>
          </p:cNvSpPr>
          <p:nvPr/>
        </p:nvSpPr>
        <p:spPr>
          <a:xfrm xmlns:a="http://schemas.openxmlformats.org/drawingml/2006/main">
            <a:off x="3200400" y="3209544"/>
            <a:ext cx="1600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7191C"/>
                </a:solidFill>
                <a:latin typeface="Noto Sans CJK KR"/>
                <a:ea typeface="Noto Sans CJK KR"/>
                <a:cs typeface="Noto Sans CJK KR"/>
              </a:rPr>
              <a:t>K*</a:t>
            </a:r>
            <a:endParaRPr sz="1300"/>
          </a:p>
        </p:txBody>
      </p:sp>
      <p:sp>
        <p:nvSpPr>
          <p:cNvPr id="19" name="STC-17-scale-external-label">
            <a:extLst xmlns:a="http://schemas.openxmlformats.org/drawingml/2006/main">
              <a:ext uri="{FF2B5EF4-FFF2-40B4-BE49-F238E27FC236}">
                <a16:creationId xmlns:a16="http://schemas.microsoft.com/office/drawing/2014/main" id="{5A0E898B-D650-4683-929F-FC5564799CA5}"/>
              </a:ext>
            </a:extLst>
          </p:cNvPr>
          <p:cNvSpPr>
            <a:spLocks xmlns:a="http://schemas.openxmlformats.org/drawingml/2006/main" noGrp="1"/>
          </p:cNvSpPr>
          <p:nvPr/>
        </p:nvSpPr>
        <p:spPr>
          <a:xfrm xmlns:a="http://schemas.openxmlformats.org/drawingml/2006/main">
            <a:off x="1554480" y="4096512"/>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244E8A"/>
                </a:solidFill>
                <a:latin typeface="Noto Sans CJK KR"/>
                <a:ea typeface="Noto Sans CJK KR"/>
                <a:cs typeface="Noto Sans CJK KR"/>
              </a:rPr>
              <a:t>모양</a:t>
            </a:r>
            <a:endParaRPr sz="1200"/>
          </a:p>
        </p:txBody>
      </p:sp>
      <p:sp>
        <p:nvSpPr>
          <p:cNvPr id="20" name="STC-17-scale-parametric-label">
            <a:extLst xmlns:a="http://schemas.openxmlformats.org/drawingml/2006/main">
              <a:ext uri="{FF2B5EF4-FFF2-40B4-BE49-F238E27FC236}">
                <a16:creationId xmlns:a16="http://schemas.microsoft.com/office/drawing/2014/main" id="{9314D827-DE51-4522-BD7E-BDF397FFDFC8}"/>
              </a:ext>
            </a:extLst>
          </p:cNvPr>
          <p:cNvSpPr>
            <a:spLocks xmlns:a="http://schemas.openxmlformats.org/drawingml/2006/main" noGrp="1"/>
          </p:cNvSpPr>
          <p:nvPr/>
        </p:nvSpPr>
        <p:spPr>
          <a:xfrm xmlns:a="http://schemas.openxmlformats.org/drawingml/2006/main">
            <a:off x="3986784" y="4114800"/>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9A442D"/>
                </a:solidFill>
                <a:latin typeface="Noto Sans CJK KR"/>
                <a:ea typeface="Noto Sans CJK KR"/>
                <a:cs typeface="Noto Sans CJK KR"/>
              </a:rPr>
              <a:t>K*</a:t>
            </a:r>
            <a:endParaRPr sz="1200"/>
          </a:p>
        </p:txBody>
      </p:sp>
      <p:sp>
        <p:nvSpPr>
          <p:cNvPr id="21" name="STC-17-scale-divider">
            <a:extLst xmlns:a="http://schemas.openxmlformats.org/drawingml/2006/main">
              <a:ext uri="{FF2B5EF4-FFF2-40B4-BE49-F238E27FC236}">
                <a16:creationId xmlns:a16="http://schemas.microsoft.com/office/drawing/2014/main" id="{EED8261B-448F-4417-9C3F-674EDAAAD962}"/>
              </a:ext>
            </a:extLst>
          </p:cNvPr>
          <p:cNvSpPr>
            <a:spLocks xmlns:a="http://schemas.openxmlformats.org/drawingml/2006/main" noGrp="1"/>
          </p:cNvSpPr>
          <p:nvPr/>
        </p:nvSpPr>
        <p:spPr>
          <a:xfrm xmlns:a="http://schemas.openxmlformats.org/drawingml/2006/main">
            <a:off x="5989320" y="1755648"/>
            <a:ext cx="0" cy="3886200"/>
          </a:xfrm>
          <a:prstGeom xmlns:a="http://schemas.openxmlformats.org/drawingml/2006/main" prst="line">
            <a:avLst/>
          </a:prstGeom>
          <a:noFill xmlns:a="http://schemas.openxmlformats.org/drawingml/2006/main"/>
          <a:ln xmlns:a="http://schemas.openxmlformats.org/drawingml/2006/main" w="15240">
            <a:solidFill>
              <a:srgbClr val="C9C4B8"/>
            </a:solidFill>
            <a:prstDash val="solid"/>
            <a:tailEnd type="none"/>
          </a:ln>
        </p:spPr>
      </p:sp>
      <p:sp>
        <p:nvSpPr>
          <p:cNvPr id="22" name="STC-17-atlas-label-0">
            <a:extLst xmlns:a="http://schemas.openxmlformats.org/drawingml/2006/main">
              <a:ext uri="{FF2B5EF4-FFF2-40B4-BE49-F238E27FC236}">
                <a16:creationId xmlns:a16="http://schemas.microsoft.com/office/drawing/2014/main" id="{38500024-C3E5-449E-9177-C70AC65318D7}"/>
              </a:ext>
            </a:extLst>
          </p:cNvPr>
          <p:cNvSpPr>
            <a:spLocks xmlns:a="http://schemas.openxmlformats.org/drawingml/2006/main" noGrp="1"/>
          </p:cNvSpPr>
          <p:nvPr/>
        </p:nvSpPr>
        <p:spPr>
          <a:xfrm xmlns:a="http://schemas.openxmlformats.org/drawingml/2006/main">
            <a:off x="6473952" y="1709928"/>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모양</a:t>
            </a:r>
            <a:endParaRPr sz="1050"/>
          </a:p>
        </p:txBody>
      </p:sp>
      <p:sp>
        <p:nvSpPr>
          <p:cNvPr id="23" name="STC-17-atlas-rule-0">
            <a:extLst xmlns:a="http://schemas.openxmlformats.org/drawingml/2006/main">
              <a:ext uri="{FF2B5EF4-FFF2-40B4-BE49-F238E27FC236}">
                <a16:creationId xmlns:a16="http://schemas.microsoft.com/office/drawing/2014/main" id="{740662E4-4426-481A-AD86-7B8414E58A82}"/>
              </a:ext>
            </a:extLst>
          </p:cNvPr>
          <p:cNvSpPr>
            <a:spLocks xmlns:a="http://schemas.openxmlformats.org/drawingml/2006/main" noGrp="1"/>
          </p:cNvSpPr>
          <p:nvPr/>
        </p:nvSpPr>
        <p:spPr>
          <a:xfrm xmlns:a="http://schemas.openxmlformats.org/drawingml/2006/main">
            <a:off x="8284464" y="1819656"/>
            <a:ext cx="502920" cy="0"/>
          </a:xfrm>
          <a:prstGeom xmlns:a="http://schemas.openxmlformats.org/drawingml/2006/main" prst="line">
            <a:avLst/>
          </a:prstGeom>
          <a:noFill xmlns:a="http://schemas.openxmlformats.org/drawingml/2006/main"/>
          <a:ln xmlns:a="http://schemas.openxmlformats.org/drawingml/2006/main" w="38100">
            <a:solidFill>
              <a:srgbClr val="9A442D"/>
            </a:solidFill>
            <a:prstDash val="solid"/>
            <a:tailEnd type="none"/>
          </a:ln>
        </p:spPr>
      </p:sp>
      <p:sp>
        <p:nvSpPr>
          <p:cNvPr id="24" name="STC-17-atlas-body-0">
            <a:extLst xmlns:a="http://schemas.openxmlformats.org/drawingml/2006/main">
              <a:ext uri="{FF2B5EF4-FFF2-40B4-BE49-F238E27FC236}">
                <a16:creationId xmlns:a16="http://schemas.microsoft.com/office/drawing/2014/main" id="{1B446C46-BC66-41F9-B60B-A7B63A5C03DC}"/>
              </a:ext>
            </a:extLst>
          </p:cNvPr>
          <p:cNvSpPr>
            <a:spLocks xmlns:a="http://schemas.openxmlformats.org/drawingml/2006/main" noGrp="1"/>
          </p:cNvSpPr>
          <p:nvPr/>
        </p:nvSpPr>
        <p:spPr>
          <a:xfrm xmlns:a="http://schemas.openxmlformats.org/drawingml/2006/main">
            <a:off x="8979408" y="1682496"/>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과제 지표는 절벽, 연속 신호는 매끄럽게</a:t>
            </a:r>
            <a:endParaRPr sz="1550"/>
          </a:p>
        </p:txBody>
      </p:sp>
      <p:sp>
        <p:nvSpPr>
          <p:cNvPr id="25" name="STC-17-atlas-label-1">
            <a:extLst xmlns:a="http://schemas.openxmlformats.org/drawingml/2006/main">
              <a:ext uri="{FF2B5EF4-FFF2-40B4-BE49-F238E27FC236}">
                <a16:creationId xmlns:a16="http://schemas.microsoft.com/office/drawing/2014/main" id="{A1AD9682-CB19-4CC3-B24A-465331B8B9E9}"/>
              </a:ext>
            </a:extLst>
          </p:cNvPr>
          <p:cNvSpPr>
            <a:spLocks xmlns:a="http://schemas.openxmlformats.org/drawingml/2006/main" noGrp="1"/>
          </p:cNvSpPr>
          <p:nvPr/>
        </p:nvSpPr>
        <p:spPr>
          <a:xfrm xmlns:a="http://schemas.openxmlformats.org/drawingml/2006/main">
            <a:off x="6473952" y="2496312"/>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이송량</a:t>
            </a:r>
            <a:endParaRPr sz="1050"/>
          </a:p>
        </p:txBody>
      </p:sp>
      <p:sp>
        <p:nvSpPr>
          <p:cNvPr id="26" name="STC-17-atlas-rule-1">
            <a:extLst xmlns:a="http://schemas.openxmlformats.org/drawingml/2006/main">
              <a:ext uri="{FF2B5EF4-FFF2-40B4-BE49-F238E27FC236}">
                <a16:creationId xmlns:a16="http://schemas.microsoft.com/office/drawing/2014/main" id="{9C753F1A-0E9B-4F34-8439-061056C7176A}"/>
              </a:ext>
            </a:extLst>
          </p:cNvPr>
          <p:cNvSpPr>
            <a:spLocks xmlns:a="http://schemas.openxmlformats.org/drawingml/2006/main" noGrp="1"/>
          </p:cNvSpPr>
          <p:nvPr/>
        </p:nvSpPr>
        <p:spPr>
          <a:xfrm xmlns:a="http://schemas.openxmlformats.org/drawingml/2006/main">
            <a:off x="8284464" y="2606040"/>
            <a:ext cx="502920" cy="0"/>
          </a:xfrm>
          <a:prstGeom xmlns:a="http://schemas.openxmlformats.org/drawingml/2006/main" prst="line">
            <a:avLst/>
          </a:prstGeom>
          <a:noFill xmlns:a="http://schemas.openxmlformats.org/drawingml/2006/main"/>
          <a:ln xmlns:a="http://schemas.openxmlformats.org/drawingml/2006/main" w="38100">
            <a:solidFill>
              <a:srgbClr val="244E8A"/>
            </a:solidFill>
            <a:prstDash val="solid"/>
            <a:tailEnd type="none"/>
          </a:ln>
        </p:spPr>
      </p:sp>
      <p:sp>
        <p:nvSpPr>
          <p:cNvPr id="27" name="STC-17-atlas-body-1">
            <a:extLst xmlns:a="http://schemas.openxmlformats.org/drawingml/2006/main">
              <a:ext uri="{FF2B5EF4-FFF2-40B4-BE49-F238E27FC236}">
                <a16:creationId xmlns:a16="http://schemas.microsoft.com/office/drawing/2014/main" id="{1A33A49B-1D5D-4C8F-8664-0C37F5C18102}"/>
              </a:ext>
            </a:extLst>
          </p:cNvPr>
          <p:cNvSpPr>
            <a:spLocks xmlns:a="http://schemas.openxmlformats.org/drawingml/2006/main" noGrp="1"/>
          </p:cNvSpPr>
          <p:nvPr/>
        </p:nvSpPr>
        <p:spPr>
          <a:xfrm xmlns:a="http://schemas.openxmlformats.org/drawingml/2006/main">
            <a:off x="8979408" y="2468880"/>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라운드당 비율이 아니라 마지막 라운드 K*</a:t>
            </a:r>
            <a:endParaRPr sz="1550"/>
          </a:p>
        </p:txBody>
      </p:sp>
      <p:sp>
        <p:nvSpPr>
          <p:cNvPr id="28" name="STC-17-atlas-label-2">
            <a:extLst xmlns:a="http://schemas.openxmlformats.org/drawingml/2006/main">
              <a:ext uri="{FF2B5EF4-FFF2-40B4-BE49-F238E27FC236}">
                <a16:creationId xmlns:a16="http://schemas.microsoft.com/office/drawing/2014/main" id="{4B5B8C07-BC12-46CD-813B-3AF219E12202}"/>
              </a:ext>
            </a:extLst>
          </p:cNvPr>
          <p:cNvSpPr>
            <a:spLocks xmlns:a="http://schemas.openxmlformats.org/drawingml/2006/main" noGrp="1"/>
          </p:cNvSpPr>
          <p:nvPr/>
        </p:nvSpPr>
        <p:spPr>
          <a:xfrm xmlns:a="http://schemas.openxmlformats.org/drawingml/2006/main">
            <a:off x="6473952" y="3282696"/>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앵커</a:t>
            </a:r>
            <a:endParaRPr sz="1050"/>
          </a:p>
        </p:txBody>
      </p:sp>
      <p:sp>
        <p:nvSpPr>
          <p:cNvPr id="29" name="STC-17-atlas-rule-2">
            <a:extLst xmlns:a="http://schemas.openxmlformats.org/drawingml/2006/main">
              <a:ext uri="{FF2B5EF4-FFF2-40B4-BE49-F238E27FC236}">
                <a16:creationId xmlns:a16="http://schemas.microsoft.com/office/drawing/2014/main" id="{5B2A6C3E-8059-4CE9-9C3B-70976103A271}"/>
              </a:ext>
            </a:extLst>
          </p:cNvPr>
          <p:cNvSpPr>
            <a:spLocks xmlns:a="http://schemas.openxmlformats.org/drawingml/2006/main" noGrp="1"/>
          </p:cNvSpPr>
          <p:nvPr/>
        </p:nvSpPr>
        <p:spPr>
          <a:xfrm xmlns:a="http://schemas.openxmlformats.org/drawingml/2006/main">
            <a:off x="8284464" y="3392424"/>
            <a:ext cx="502920" cy="0"/>
          </a:xfrm>
          <a:prstGeom xmlns:a="http://schemas.openxmlformats.org/drawingml/2006/main" prst="line">
            <a:avLst/>
          </a:prstGeom>
          <a:noFill xmlns:a="http://schemas.openxmlformats.org/drawingml/2006/main"/>
          <a:ln xmlns:a="http://schemas.openxmlformats.org/drawingml/2006/main" w="38100">
            <a:solidFill>
              <a:srgbClr val="2F6B63"/>
            </a:solidFill>
            <a:prstDash val="solid"/>
            <a:tailEnd type="none"/>
          </a:ln>
        </p:spPr>
      </p:sp>
      <p:sp>
        <p:nvSpPr>
          <p:cNvPr id="30" name="STC-17-atlas-body-2">
            <a:extLst xmlns:a="http://schemas.openxmlformats.org/drawingml/2006/main">
              <a:ext uri="{FF2B5EF4-FFF2-40B4-BE49-F238E27FC236}">
                <a16:creationId xmlns:a16="http://schemas.microsoft.com/office/drawing/2014/main" id="{ED8666E7-DF2A-4D85-9EB9-7BFAEFE25FBB}"/>
              </a:ext>
            </a:extLst>
          </p:cNvPr>
          <p:cNvSpPr>
            <a:spLocks xmlns:a="http://schemas.openxmlformats.org/drawingml/2006/main" noGrp="1"/>
          </p:cNvSpPr>
          <p:nvPr/>
        </p:nvSpPr>
        <p:spPr>
          <a:xfrm xmlns:a="http://schemas.openxmlformats.org/drawingml/2006/main">
            <a:off x="8979408" y="3255264"/>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gold replay가 모든 혼합비에서 오래 버틴다</a:t>
            </a:r>
            <a:endParaRPr sz="1550"/>
          </a:p>
        </p:txBody>
      </p:sp>
      <p:sp>
        <p:nvSpPr>
          <p:cNvPr id="31" name="STC-17-atlas-label-3">
            <a:extLst xmlns:a="http://schemas.openxmlformats.org/drawingml/2006/main">
              <a:ext uri="{FF2B5EF4-FFF2-40B4-BE49-F238E27FC236}">
                <a16:creationId xmlns:a16="http://schemas.microsoft.com/office/drawing/2014/main" id="{C22D209C-8F5F-4D75-9BCF-C8C2E6E5DB33}"/>
              </a:ext>
            </a:extLst>
          </p:cNvPr>
          <p:cNvSpPr>
            <a:spLocks xmlns:a="http://schemas.openxmlformats.org/drawingml/2006/main" noGrp="1"/>
          </p:cNvSpPr>
          <p:nvPr/>
        </p:nvSpPr>
        <p:spPr>
          <a:xfrm xmlns:a="http://schemas.openxmlformats.org/drawingml/2006/main">
            <a:off x="6473952" y="4069080"/>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이중 해리</a:t>
            </a:r>
            <a:endParaRPr sz="1050"/>
          </a:p>
        </p:txBody>
      </p:sp>
      <p:sp>
        <p:nvSpPr>
          <p:cNvPr id="32" name="STC-17-atlas-rule-3">
            <a:extLst xmlns:a="http://schemas.openxmlformats.org/drawingml/2006/main">
              <a:ext uri="{FF2B5EF4-FFF2-40B4-BE49-F238E27FC236}">
                <a16:creationId xmlns:a16="http://schemas.microsoft.com/office/drawing/2014/main" id="{6413883D-F716-4E60-A3EA-294B9FF31579}"/>
              </a:ext>
            </a:extLst>
          </p:cNvPr>
          <p:cNvSpPr>
            <a:spLocks xmlns:a="http://schemas.openxmlformats.org/drawingml/2006/main" noGrp="1"/>
          </p:cNvSpPr>
          <p:nvPr/>
        </p:nvSpPr>
        <p:spPr>
          <a:xfrm xmlns:a="http://schemas.openxmlformats.org/drawingml/2006/main">
            <a:off x="8284464" y="4178808"/>
            <a:ext cx="502920" cy="0"/>
          </a:xfrm>
          <a:prstGeom xmlns:a="http://schemas.openxmlformats.org/drawingml/2006/main" prst="line">
            <a:avLst/>
          </a:prstGeom>
          <a:noFill xmlns:a="http://schemas.openxmlformats.org/drawingml/2006/main"/>
          <a:ln xmlns:a="http://schemas.openxmlformats.org/drawingml/2006/main" w="38100">
            <a:solidFill>
              <a:srgbClr val="9A442D"/>
            </a:solidFill>
            <a:prstDash val="solid"/>
            <a:tailEnd type="none"/>
          </a:ln>
        </p:spPr>
      </p:sp>
      <p:sp>
        <p:nvSpPr>
          <p:cNvPr id="33" name="STC-17-atlas-body-3">
            <a:extLst xmlns:a="http://schemas.openxmlformats.org/drawingml/2006/main">
              <a:ext uri="{FF2B5EF4-FFF2-40B4-BE49-F238E27FC236}">
                <a16:creationId xmlns:a16="http://schemas.microsoft.com/office/drawing/2014/main" id="{3690E37F-97C1-44E1-9B22-261955C76526}"/>
              </a:ext>
            </a:extLst>
          </p:cNvPr>
          <p:cNvSpPr>
            <a:spLocks xmlns:a="http://schemas.openxmlformats.org/drawingml/2006/main" noGrp="1"/>
          </p:cNvSpPr>
          <p:nvPr/>
        </p:nvSpPr>
        <p:spPr>
          <a:xfrm xmlns:a="http://schemas.openxmlformats.org/drawingml/2006/main">
            <a:off x="8979408" y="4041648"/>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gold는 유지를, self는 역량을 산다</a:t>
            </a:r>
            <a:endParaRPr sz="1550"/>
          </a:p>
        </p:txBody>
      </p:sp>
      <p:sp>
        <p:nvSpPr>
          <p:cNvPr id="34" name="STC-17-atlas-label-4">
            <a:extLst xmlns:a="http://schemas.openxmlformats.org/drawingml/2006/main">
              <a:ext uri="{FF2B5EF4-FFF2-40B4-BE49-F238E27FC236}">
                <a16:creationId xmlns:a16="http://schemas.microsoft.com/office/drawing/2014/main" id="{4E09BD89-2B39-4380-8908-5D98AB0C13FF}"/>
              </a:ext>
            </a:extLst>
          </p:cNvPr>
          <p:cNvSpPr>
            <a:spLocks xmlns:a="http://schemas.openxmlformats.org/drawingml/2006/main" noGrp="1"/>
          </p:cNvSpPr>
          <p:nvPr/>
        </p:nvSpPr>
        <p:spPr>
          <a:xfrm xmlns:a="http://schemas.openxmlformats.org/drawingml/2006/main">
            <a:off x="6473952" y="4855464"/>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1차 모멘트</a:t>
            </a:r>
            <a:endParaRPr sz="1050"/>
          </a:p>
        </p:txBody>
      </p:sp>
      <p:sp>
        <p:nvSpPr>
          <p:cNvPr id="35" name="STC-17-atlas-rule-4">
            <a:extLst xmlns:a="http://schemas.openxmlformats.org/drawingml/2006/main">
              <a:ext uri="{FF2B5EF4-FFF2-40B4-BE49-F238E27FC236}">
                <a16:creationId xmlns:a16="http://schemas.microsoft.com/office/drawing/2014/main" id="{6F85C4F8-DEE9-43E4-B953-A1AA93F5F878}"/>
              </a:ext>
            </a:extLst>
          </p:cNvPr>
          <p:cNvSpPr>
            <a:spLocks xmlns:a="http://schemas.openxmlformats.org/drawingml/2006/main" noGrp="1"/>
          </p:cNvSpPr>
          <p:nvPr/>
        </p:nvSpPr>
        <p:spPr>
          <a:xfrm xmlns:a="http://schemas.openxmlformats.org/drawingml/2006/main">
            <a:off x="8284464" y="4965192"/>
            <a:ext cx="502920" cy="0"/>
          </a:xfrm>
          <a:prstGeom xmlns:a="http://schemas.openxmlformats.org/drawingml/2006/main" prst="line">
            <a:avLst/>
          </a:prstGeom>
          <a:noFill xmlns:a="http://schemas.openxmlformats.org/drawingml/2006/main"/>
          <a:ln xmlns:a="http://schemas.openxmlformats.org/drawingml/2006/main" w="38100">
            <a:solidFill>
              <a:srgbClr val="59616A"/>
            </a:solidFill>
            <a:prstDash val="solid"/>
            <a:tailEnd type="none"/>
          </a:ln>
        </p:spPr>
      </p:sp>
      <p:sp>
        <p:nvSpPr>
          <p:cNvPr id="36" name="STC-17-atlas-body-4">
            <a:extLst xmlns:a="http://schemas.openxmlformats.org/drawingml/2006/main">
              <a:ext uri="{FF2B5EF4-FFF2-40B4-BE49-F238E27FC236}">
                <a16:creationId xmlns:a16="http://schemas.microsoft.com/office/drawing/2014/main" id="{E742DFC6-454B-4514-81D0-A19D043EF25B}"/>
              </a:ext>
            </a:extLst>
          </p:cNvPr>
          <p:cNvSpPr>
            <a:spLocks xmlns:a="http://schemas.openxmlformats.org/drawingml/2006/main" noGrp="1"/>
          </p:cNvSpPr>
          <p:nvPr/>
        </p:nvSpPr>
        <p:spPr>
          <a:xfrm xmlns:a="http://schemas.openxmlformats.org/drawingml/2006/main">
            <a:off x="8979408" y="4828032"/>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평평한 손실 곡선은 안정의 증거가 아니다</a:t>
            </a:r>
            <a:endParaRPr sz="1550"/>
          </a:p>
        </p:txBody>
      </p:sp>
      <p:sp>
        <p:nvSpPr>
          <p:cNvPr id="37" name="STC-17-scale-nonresult">
            <a:extLst xmlns:a="http://schemas.openxmlformats.org/drawingml/2006/main">
              <a:ext uri="{FF2B5EF4-FFF2-40B4-BE49-F238E27FC236}">
                <a16:creationId xmlns:a16="http://schemas.microsoft.com/office/drawing/2014/main" id="{0DBC12A9-4F5B-4978-9410-2294970708B3}"/>
              </a:ext>
            </a:extLst>
          </p:cNvPr>
          <p:cNvSpPr>
            <a:spLocks xmlns:a="http://schemas.openxmlformats.org/drawingml/2006/main" noGrp="1"/>
          </p:cNvSpPr>
          <p:nvPr/>
        </p:nvSpPr>
        <p:spPr>
          <a:xfrm xmlns:a="http://schemas.openxmlformats.org/drawingml/2006/main">
            <a:off x="8183880" y="5715000"/>
            <a:ext cx="2971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b="1">
                <a:solidFill>
                  <a:srgbClr val="9A442D"/>
                </a:solidFill>
                <a:latin typeface="Noto Sans Mono CJK KR"/>
                <a:ea typeface="Noto Sans Mono CJK KR"/>
                <a:cs typeface="Noto Sans Mono CJK KR"/>
              </a:rPr>
              <a:t>replay는 보존된 원본에 앵커되어야 한다. 이 부호는 세 곳에서 독립적으로 나온다</a:t>
            </a:r>
            <a:endParaRPr sz="1000"/>
          </a:p>
        </p:txBody>
      </p:sp>
    </p:spTree>
    <p:extLst>
      <p:ext uri="{BB962C8B-B14F-4D97-AF65-F5344CB8AC3E}">
        <p14:creationId xmlns:p14="http://schemas.microsoft.com/office/powerpoint/2010/main" val="814754748"/>
      </p:ext>
    </p:extLst>
  </p:cSld>
</p:sld>
</file>

<file path=ppt/slides/slide9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4-section">
            <a:extLst xmlns:a="http://schemas.openxmlformats.org/drawingml/2006/main">
              <a:ext uri="{FF2B5EF4-FFF2-40B4-BE49-F238E27FC236}">
                <a16:creationId xmlns:a16="http://schemas.microsoft.com/office/drawing/2014/main" id="{A0075D85-B234-44C8-902E-101F0A3CC31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VERDICT</a:t>
            </a:r>
            <a:endParaRPr sz="950"/>
          </a:p>
        </p:txBody>
      </p:sp>
      <p:sp>
        <p:nvSpPr>
          <p:cNvPr id="3" name="STC-04-slide-id">
            <a:extLst xmlns:a="http://schemas.openxmlformats.org/drawingml/2006/main">
              <a:ext uri="{FF2B5EF4-FFF2-40B4-BE49-F238E27FC236}">
                <a16:creationId xmlns:a16="http://schemas.microsoft.com/office/drawing/2014/main" id="{B14D52AE-8297-468B-A77A-23EAE8342583}"/>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STC-093</a:t>
            </a:r>
            <a:endParaRPr sz="950"/>
          </a:p>
        </p:txBody>
      </p:sp>
      <p:sp>
        <p:nvSpPr>
          <p:cNvPr id="4" name="STC-04-headline">
            <a:extLst xmlns:a="http://schemas.openxmlformats.org/drawingml/2006/main">
              <a:ext uri="{FF2B5EF4-FFF2-40B4-BE49-F238E27FC236}">
                <a16:creationId xmlns:a16="http://schemas.microsoft.com/office/drawing/2014/main" id="{3630F132-02F2-4CE1-9E25-749167C75A9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판정 ① — 이 범주는 A군 아홉 편이다</a:t>
            </a:r>
            <a:endParaRPr sz="3000"/>
          </a:p>
        </p:txBody>
      </p:sp>
      <p:sp>
        <p:nvSpPr>
          <p:cNvPr id="5" name="STC-04-status-label">
            <a:extLst xmlns:a="http://schemas.openxmlformats.org/drawingml/2006/main">
              <a:ext uri="{FF2B5EF4-FFF2-40B4-BE49-F238E27FC236}">
                <a16:creationId xmlns:a16="http://schemas.microsoft.com/office/drawing/2014/main" id="{A7ACBE27-EC77-4521-8202-C2F79CB3B4F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본서 판정</a:t>
            </a:r>
            <a:endParaRPr sz="1000"/>
          </a:p>
        </p:txBody>
      </p:sp>
      <p:sp>
        <p:nvSpPr>
          <p:cNvPr id="6" name="STC-04-status-rule">
            <a:extLst xmlns:a="http://schemas.openxmlformats.org/drawingml/2006/main">
              <a:ext uri="{FF2B5EF4-FFF2-40B4-BE49-F238E27FC236}">
                <a16:creationId xmlns:a16="http://schemas.microsoft.com/office/drawing/2014/main" id="{168F3EE0-A99E-4D46-9138-97123A1B2E0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4-footer-rule">
            <a:extLst xmlns:a="http://schemas.openxmlformats.org/drawingml/2006/main">
              <a:ext uri="{FF2B5EF4-FFF2-40B4-BE49-F238E27FC236}">
                <a16:creationId xmlns:a16="http://schemas.microsoft.com/office/drawing/2014/main" id="{283A436D-9734-4A07-90CD-F35CB55E5AB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4-source-footer">
            <a:extLst xmlns:a="http://schemas.openxmlformats.org/drawingml/2006/main">
              <a:ext uri="{FF2B5EF4-FFF2-40B4-BE49-F238E27FC236}">
                <a16:creationId xmlns:a16="http://schemas.microsoft.com/office/drawing/2014/main" id="{883AB35B-5226-4881-AC75-8BEB5E56E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ch24 §24.4 판정 1</a:t>
            </a:r>
            <a:endParaRPr sz="850"/>
          </a:p>
        </p:txBody>
      </p:sp>
      <p:sp>
        <p:nvSpPr>
          <p:cNvPr id="9" name="STC-04-page-number">
            <a:extLst xmlns:a="http://schemas.openxmlformats.org/drawingml/2006/main">
              <a:ext uri="{FF2B5EF4-FFF2-40B4-BE49-F238E27FC236}">
                <a16:creationId xmlns:a16="http://schemas.microsoft.com/office/drawing/2014/main" id="{EFF36FC2-57B0-4E0D-A22C-A663CD6EDD60}"/>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93</a:t>
            </a:r>
            <a:endParaRPr sz="850"/>
          </a:p>
        </p:txBody>
      </p:sp>
      <p:sp>
        <p:nvSpPr>
          <p:cNvPr id="11" name="STC-04-phase-tag-0">
            <a:extLst xmlns:a="http://schemas.openxmlformats.org/drawingml/2006/main">
              <a:ext uri="{FF2B5EF4-FFF2-40B4-BE49-F238E27FC236}">
                <a16:creationId xmlns:a16="http://schemas.microsoft.com/office/drawing/2014/main" id="{BA1F2F65-E6CA-4586-80AC-30666A36C48F}"/>
              </a:ext>
            </a:extLst>
          </p:cNvPr>
          <p:cNvSpPr>
            <a:spLocks xmlns:a="http://schemas.openxmlformats.org/drawingml/2006/main" noGrp="1"/>
          </p:cNvSpPr>
          <p:nvPr/>
        </p:nvSpPr>
        <p:spPr>
          <a:xfrm xmlns:a="http://schemas.openxmlformats.org/drawingml/2006/main">
            <a:off x="768096"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59616A"/>
                </a:solidFill>
                <a:latin typeface="Noto Sans Mono CJK KR"/>
                <a:ea typeface="Noto Sans Mono CJK KR"/>
                <a:cs typeface="Noto Sans Mono CJK KR"/>
              </a:rPr>
              <a:t>통과 9편</a:t>
            </a:r>
            <a:endParaRPr sz="1200"/>
          </a:p>
        </p:txBody>
      </p:sp>
      <p:sp>
        <p:nvSpPr>
          <p:cNvPr id="12" name="STC-04-phase-ko-0">
            <a:extLst xmlns:a="http://schemas.openxmlformats.org/drawingml/2006/main">
              <a:ext uri="{FF2B5EF4-FFF2-40B4-BE49-F238E27FC236}">
                <a16:creationId xmlns:a16="http://schemas.microsoft.com/office/drawing/2014/main" id="{71B78324-C8F8-4909-82A4-E5B94A3ECF3B}"/>
              </a:ext>
            </a:extLst>
          </p:cNvPr>
          <p:cNvSpPr>
            <a:spLocks xmlns:a="http://schemas.openxmlformats.org/drawingml/2006/main" noGrp="1"/>
          </p:cNvSpPr>
          <p:nvPr/>
        </p:nvSpPr>
        <p:spPr>
          <a:xfrm xmlns:a="http://schemas.openxmlformats.org/drawingml/2006/main">
            <a:off x="768096"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확정</a:t>
            </a:r>
            <a:endParaRPr sz="2300"/>
          </a:p>
        </p:txBody>
      </p:sp>
      <p:sp>
        <p:nvSpPr>
          <p:cNvPr id="13" name="STC-04-phase-rule-0">
            <a:extLst xmlns:a="http://schemas.openxmlformats.org/drawingml/2006/main">
              <a:ext uri="{FF2B5EF4-FFF2-40B4-BE49-F238E27FC236}">
                <a16:creationId xmlns:a16="http://schemas.microsoft.com/office/drawing/2014/main" id="{7764BB8A-B05F-4718-BC24-4AD789913DE0}"/>
              </a:ext>
            </a:extLst>
          </p:cNvPr>
          <p:cNvSpPr>
            <a:spLocks xmlns:a="http://schemas.openxmlformats.org/drawingml/2006/main" noGrp="1"/>
          </p:cNvSpPr>
          <p:nvPr/>
        </p:nvSpPr>
        <p:spPr>
          <a:xfrm xmlns:a="http://schemas.openxmlformats.org/drawingml/2006/main">
            <a:off x="768096" y="2642616"/>
            <a:ext cx="2011680" cy="0"/>
          </a:xfrm>
          <a:prstGeom xmlns:a="http://schemas.openxmlformats.org/drawingml/2006/main" prst="line">
            <a:avLst/>
          </a:prstGeom>
          <a:noFill xmlns:a="http://schemas.openxmlformats.org/drawingml/2006/main"/>
          <a:ln xmlns:a="http://schemas.openxmlformats.org/drawingml/2006/main" w="50800">
            <a:solidFill>
              <a:srgbClr val="59616A"/>
            </a:solidFill>
            <a:prstDash val="solid"/>
            <a:tailEnd type="none"/>
          </a:ln>
        </p:spPr>
      </p:sp>
      <p:sp>
        <p:nvSpPr>
          <p:cNvPr id="14" name="STC-04-phase-body-0">
            <a:extLst xmlns:a="http://schemas.openxmlformats.org/drawingml/2006/main">
              <a:ext uri="{FF2B5EF4-FFF2-40B4-BE49-F238E27FC236}">
                <a16:creationId xmlns:a16="http://schemas.microsoft.com/office/drawing/2014/main" id="{D3EDF87F-330E-402B-BED1-949CABA05E93}"/>
              </a:ext>
            </a:extLst>
          </p:cNvPr>
          <p:cNvSpPr>
            <a:spLocks xmlns:a="http://schemas.openxmlformats.org/drawingml/2006/main" noGrp="1"/>
          </p:cNvSpPr>
          <p:nvPr/>
        </p:nvSpPr>
        <p:spPr>
          <a:xfrm xmlns:a="http://schemas.openxmlformats.org/drawingml/2006/main">
            <a:off x="768096"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확정 · 네 조건을</a:t>
            </a:r>
            <a:endParaRPr sz="1800"/>
          </a:p>
          <a:p xmlns:a="http://schemas.openxmlformats.org/drawingml/2006/main">
            <a:pPr marL="0" indent="0">
              <a:buNone/>
            </a:pPr>
            <a:r>
              <a:rPr sz="1800">
                <a:solidFill>
                  <a:srgbClr val="17191C"/>
                </a:solidFill>
                <a:latin typeface="Noto Sans CJK KR"/>
                <a:ea typeface="Noto Sans CJK KR"/>
                <a:cs typeface="Noto Sans CJK KR"/>
              </a:rPr>
              <a:t>모두 만족한 절차만</a:t>
            </a:r>
            <a:endParaRPr sz="1800"/>
          </a:p>
        </p:txBody>
      </p:sp>
      <p:sp>
        <p:nvSpPr>
          <p:cNvPr id="15" name="STC-04-phase-arrow-0">
            <a:extLst xmlns:a="http://schemas.openxmlformats.org/drawingml/2006/main">
              <a:ext uri="{FF2B5EF4-FFF2-40B4-BE49-F238E27FC236}">
                <a16:creationId xmlns:a16="http://schemas.microsoft.com/office/drawing/2014/main" id="{783D597A-ACCC-4F6B-94A9-392B971E7A96}"/>
              </a:ext>
            </a:extLst>
          </p:cNvPr>
          <p:cNvSpPr>
            <a:spLocks xmlns:a="http://schemas.openxmlformats.org/drawingml/2006/main" noGrp="1"/>
          </p:cNvSpPr>
          <p:nvPr/>
        </p:nvSpPr>
        <p:spPr>
          <a:xfrm xmlns:a="http://schemas.openxmlformats.org/drawingml/2006/main">
            <a:off x="2962656"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16" name="STC-04-phase-tag-1">
            <a:extLst xmlns:a="http://schemas.openxmlformats.org/drawingml/2006/main">
              <a:ext uri="{FF2B5EF4-FFF2-40B4-BE49-F238E27FC236}">
                <a16:creationId xmlns:a16="http://schemas.microsoft.com/office/drawing/2014/main" id="{DF120A6C-83FF-4F70-8A23-21607B85C1A0}"/>
              </a:ext>
            </a:extLst>
          </p:cNvPr>
          <p:cNvSpPr>
            <a:spLocks xmlns:a="http://schemas.openxmlformats.org/drawingml/2006/main" noGrp="1"/>
          </p:cNvSpPr>
          <p:nvPr/>
        </p:nvSpPr>
        <p:spPr>
          <a:xfrm xmlns:a="http://schemas.openxmlformats.org/drawingml/2006/main">
            <a:off x="3593592"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경계 1편</a:t>
            </a:r>
            <a:endParaRPr sz="1200"/>
          </a:p>
        </p:txBody>
      </p:sp>
      <p:sp>
        <p:nvSpPr>
          <p:cNvPr id="17" name="STC-04-phase-ko-1">
            <a:extLst xmlns:a="http://schemas.openxmlformats.org/drawingml/2006/main">
              <a:ext uri="{FF2B5EF4-FFF2-40B4-BE49-F238E27FC236}">
                <a16:creationId xmlns:a16="http://schemas.microsoft.com/office/drawing/2014/main" id="{EC71ADFB-45C0-4738-8C38-F10FAB21F33F}"/>
              </a:ext>
            </a:extLst>
          </p:cNvPr>
          <p:cNvSpPr>
            <a:spLocks xmlns:a="http://schemas.openxmlformats.org/drawingml/2006/main" noGrp="1"/>
          </p:cNvSpPr>
          <p:nvPr/>
        </p:nvSpPr>
        <p:spPr>
          <a:xfrm xmlns:a="http://schemas.openxmlformats.org/drawingml/2006/main">
            <a:off x="3593592"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서술</a:t>
            </a:r>
            <a:endParaRPr sz="2300"/>
          </a:p>
        </p:txBody>
      </p:sp>
      <p:sp>
        <p:nvSpPr>
          <p:cNvPr id="18" name="STC-04-phase-rule-1">
            <a:extLst xmlns:a="http://schemas.openxmlformats.org/drawingml/2006/main">
              <a:ext uri="{FF2B5EF4-FFF2-40B4-BE49-F238E27FC236}">
                <a16:creationId xmlns:a16="http://schemas.microsoft.com/office/drawing/2014/main" id="{CD51B805-650E-4380-9B3A-E873D1907749}"/>
              </a:ext>
            </a:extLst>
          </p:cNvPr>
          <p:cNvSpPr>
            <a:spLocks xmlns:a="http://schemas.openxmlformats.org/drawingml/2006/main" noGrp="1"/>
          </p:cNvSpPr>
          <p:nvPr/>
        </p:nvSpPr>
        <p:spPr>
          <a:xfrm xmlns:a="http://schemas.openxmlformats.org/drawingml/2006/main">
            <a:off x="3593592" y="2642616"/>
            <a:ext cx="2011680" cy="0"/>
          </a:xfrm>
          <a:prstGeom xmlns:a="http://schemas.openxmlformats.org/drawingml/2006/main" prst="line">
            <a:avLst/>
          </a:prstGeom>
          <a:noFill xmlns:a="http://schemas.openxmlformats.org/drawingml/2006/main"/>
          <a:ln xmlns:a="http://schemas.openxmlformats.org/drawingml/2006/main" w="50800">
            <a:solidFill>
              <a:srgbClr val="244E8A"/>
            </a:solidFill>
            <a:prstDash val="solid"/>
            <a:tailEnd type="none"/>
          </a:ln>
        </p:spPr>
      </p:sp>
      <p:sp>
        <p:nvSpPr>
          <p:cNvPr id="19" name="STC-04-phase-body-1">
            <a:extLst xmlns:a="http://schemas.openxmlformats.org/drawingml/2006/main">
              <a:ext uri="{FF2B5EF4-FFF2-40B4-BE49-F238E27FC236}">
                <a16:creationId xmlns:a16="http://schemas.microsoft.com/office/drawing/2014/main" id="{CA6AC282-8658-4035-A58F-484C6AC4BB0A}"/>
              </a:ext>
            </a:extLst>
          </p:cNvPr>
          <p:cNvSpPr>
            <a:spLocks xmlns:a="http://schemas.openxmlformats.org/drawingml/2006/main" noGrp="1"/>
          </p:cNvSpPr>
          <p:nvPr/>
        </p:nvSpPr>
        <p:spPr>
          <a:xfrm xmlns:a="http://schemas.openxmlformats.org/drawingml/2006/main">
            <a:off x="3593592"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서술 · 출발점으로</a:t>
            </a:r>
            <a:endParaRPr sz="1800"/>
          </a:p>
          <a:p xmlns:a="http://schemas.openxmlformats.org/drawingml/2006/main">
            <a:pPr marL="0" indent="0">
              <a:buNone/>
            </a:pPr>
            <a:r>
              <a:rPr sz="1800">
                <a:solidFill>
                  <a:srgbClr val="17191C"/>
                </a:solidFill>
                <a:latin typeface="Noto Sans CJK KR"/>
                <a:ea typeface="Noto Sans CJK KR"/>
                <a:cs typeface="Noto Sans CJK KR"/>
              </a:rPr>
              <a:t>쓰되 통과군에 안 센다</a:t>
            </a:r>
            <a:endParaRPr sz="1800"/>
          </a:p>
        </p:txBody>
      </p:sp>
      <p:sp>
        <p:nvSpPr>
          <p:cNvPr id="20" name="STC-04-phase-arrow-1">
            <a:extLst xmlns:a="http://schemas.openxmlformats.org/drawingml/2006/main">
              <a:ext uri="{FF2B5EF4-FFF2-40B4-BE49-F238E27FC236}">
                <a16:creationId xmlns:a16="http://schemas.microsoft.com/office/drawing/2014/main" id="{78036B2A-3081-4A46-8C23-82C208923D54}"/>
              </a:ext>
            </a:extLst>
          </p:cNvPr>
          <p:cNvSpPr>
            <a:spLocks xmlns:a="http://schemas.openxmlformats.org/drawingml/2006/main" noGrp="1"/>
          </p:cNvSpPr>
          <p:nvPr/>
        </p:nvSpPr>
        <p:spPr>
          <a:xfrm xmlns:a="http://schemas.openxmlformats.org/drawingml/2006/main">
            <a:off x="5788152"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1" name="STC-04-phase-tag-2">
            <a:extLst xmlns:a="http://schemas.openxmlformats.org/drawingml/2006/main">
              <a:ext uri="{FF2B5EF4-FFF2-40B4-BE49-F238E27FC236}">
                <a16:creationId xmlns:a16="http://schemas.microsoft.com/office/drawing/2014/main" id="{14A86847-A229-4A53-8F2A-E51A71B0A175}"/>
              </a:ext>
            </a:extLst>
          </p:cNvPr>
          <p:cNvSpPr>
            <a:spLocks xmlns:a="http://schemas.openxmlformats.org/drawingml/2006/main" noGrp="1"/>
          </p:cNvSpPr>
          <p:nvPr/>
        </p:nvSpPr>
        <p:spPr>
          <a:xfrm xmlns:a="http://schemas.openxmlformats.org/drawingml/2006/main">
            <a:off x="6419088"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인접 9편</a:t>
            </a:r>
            <a:endParaRPr sz="1200"/>
          </a:p>
        </p:txBody>
      </p:sp>
      <p:sp>
        <p:nvSpPr>
          <p:cNvPr id="22" name="STC-04-phase-ko-2">
            <a:extLst xmlns:a="http://schemas.openxmlformats.org/drawingml/2006/main">
              <a:ext uri="{FF2B5EF4-FFF2-40B4-BE49-F238E27FC236}">
                <a16:creationId xmlns:a16="http://schemas.microsoft.com/office/drawing/2014/main" id="{582DA535-C347-498A-B2F9-C40BAE20CE4F}"/>
              </a:ext>
            </a:extLst>
          </p:cNvPr>
          <p:cNvSpPr>
            <a:spLocks xmlns:a="http://schemas.openxmlformats.org/drawingml/2006/main" noGrp="1"/>
          </p:cNvSpPr>
          <p:nvPr/>
        </p:nvSpPr>
        <p:spPr>
          <a:xfrm xmlns:a="http://schemas.openxmlformats.org/drawingml/2006/main">
            <a:off x="6419088"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이동</a:t>
            </a:r>
            <a:endParaRPr sz="2300"/>
          </a:p>
        </p:txBody>
      </p:sp>
      <p:sp>
        <p:nvSpPr>
          <p:cNvPr id="23" name="STC-04-phase-rule-2">
            <a:extLst xmlns:a="http://schemas.openxmlformats.org/drawingml/2006/main">
              <a:ext uri="{FF2B5EF4-FFF2-40B4-BE49-F238E27FC236}">
                <a16:creationId xmlns:a16="http://schemas.microsoft.com/office/drawing/2014/main" id="{604E16CE-5100-4FC5-8DB9-7A23B695EE76}"/>
              </a:ext>
            </a:extLst>
          </p:cNvPr>
          <p:cNvSpPr>
            <a:spLocks xmlns:a="http://schemas.openxmlformats.org/drawingml/2006/main" noGrp="1"/>
          </p:cNvSpPr>
          <p:nvPr/>
        </p:nvSpPr>
        <p:spPr>
          <a:xfrm xmlns:a="http://schemas.openxmlformats.org/drawingml/2006/main">
            <a:off x="6419088" y="2642616"/>
            <a:ext cx="2011680" cy="0"/>
          </a:xfrm>
          <a:prstGeom xmlns:a="http://schemas.openxmlformats.org/drawingml/2006/main" prst="line">
            <a:avLst/>
          </a:prstGeom>
          <a:noFill xmlns:a="http://schemas.openxmlformats.org/drawingml/2006/main"/>
          <a:ln xmlns:a="http://schemas.openxmlformats.org/drawingml/2006/main" w="50800">
            <a:solidFill>
              <a:srgbClr val="9A442D"/>
            </a:solidFill>
            <a:prstDash val="solid"/>
            <a:tailEnd type="none"/>
          </a:ln>
        </p:spPr>
      </p:sp>
      <p:sp>
        <p:nvSpPr>
          <p:cNvPr id="24" name="STC-04-phase-body-2">
            <a:extLst xmlns:a="http://schemas.openxmlformats.org/drawingml/2006/main">
              <a:ext uri="{FF2B5EF4-FFF2-40B4-BE49-F238E27FC236}">
                <a16:creationId xmlns:a16="http://schemas.microsoft.com/office/drawing/2014/main" id="{5BF3497A-374B-4090-AF18-46EDBA191D7C}"/>
              </a:ext>
            </a:extLst>
          </p:cNvPr>
          <p:cNvSpPr>
            <a:spLocks xmlns:a="http://schemas.openxmlformats.org/drawingml/2006/main" noGrp="1"/>
          </p:cNvSpPr>
          <p:nvPr/>
        </p:nvSpPr>
        <p:spPr>
          <a:xfrm xmlns:a="http://schemas.openxmlformats.org/drawingml/2006/main">
            <a:off x="6419088"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이동 · 배제가</a:t>
            </a:r>
            <a:endParaRPr sz="1800"/>
          </a:p>
          <a:p xmlns:a="http://schemas.openxmlformats.org/drawingml/2006/main">
            <a:pPr marL="0" indent="0">
              <a:buNone/>
            </a:pPr>
            <a:r>
              <a:rPr sz="1800">
                <a:solidFill>
                  <a:srgbClr val="17191C"/>
                </a:solidFill>
                <a:latin typeface="Noto Sans CJK KR"/>
                <a:ea typeface="Noto Sans CJK KR"/>
                <a:cs typeface="Noto Sans CJK KR"/>
              </a:rPr>
              <a:t>아니라 증거로 자리를 옮긴다</a:t>
            </a:r>
            <a:endParaRPr sz="1800"/>
          </a:p>
        </p:txBody>
      </p:sp>
      <p:sp>
        <p:nvSpPr>
          <p:cNvPr id="25" name="STC-04-phase-arrow-2">
            <a:extLst xmlns:a="http://schemas.openxmlformats.org/drawingml/2006/main">
              <a:ext uri="{FF2B5EF4-FFF2-40B4-BE49-F238E27FC236}">
                <a16:creationId xmlns:a16="http://schemas.microsoft.com/office/drawing/2014/main" id="{4E7BA787-51DD-48C2-90C7-E4BC25DA526D}"/>
              </a:ext>
            </a:extLst>
          </p:cNvPr>
          <p:cNvSpPr>
            <a:spLocks xmlns:a="http://schemas.openxmlformats.org/drawingml/2006/main" noGrp="1"/>
          </p:cNvSpPr>
          <p:nvPr/>
        </p:nvSpPr>
        <p:spPr>
          <a:xfrm xmlns:a="http://schemas.openxmlformats.org/drawingml/2006/main">
            <a:off x="8613648"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04-phase-tag-3">
            <a:extLst xmlns:a="http://schemas.openxmlformats.org/drawingml/2006/main">
              <a:ext uri="{FF2B5EF4-FFF2-40B4-BE49-F238E27FC236}">
                <a16:creationId xmlns:a16="http://schemas.microsoft.com/office/drawing/2014/main" id="{3D317DA2-F326-4299-B8BF-54ACE3EE2AA9}"/>
              </a:ext>
            </a:extLst>
          </p:cNvPr>
          <p:cNvSpPr>
            <a:spLocks xmlns:a="http://schemas.openxmlformats.org/drawingml/2006/main" noGrp="1"/>
          </p:cNvSpPr>
          <p:nvPr/>
        </p:nvSpPr>
        <p:spPr>
          <a:xfrm xmlns:a="http://schemas.openxmlformats.org/drawingml/2006/main">
            <a:off x="9244584"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조건 없음</a:t>
            </a:r>
            <a:endParaRPr sz="1200"/>
          </a:p>
        </p:txBody>
      </p:sp>
      <p:sp>
        <p:nvSpPr>
          <p:cNvPr id="27" name="STC-04-phase-ko-3">
            <a:extLst xmlns:a="http://schemas.openxmlformats.org/drawingml/2006/main">
              <a:ext uri="{FF2B5EF4-FFF2-40B4-BE49-F238E27FC236}">
                <a16:creationId xmlns:a16="http://schemas.microsoft.com/office/drawing/2014/main" id="{F5446ADD-A14C-416D-B2F4-1A4E119F4329}"/>
              </a:ext>
            </a:extLst>
          </p:cNvPr>
          <p:cNvSpPr>
            <a:spLocks xmlns:a="http://schemas.openxmlformats.org/drawingml/2006/main" noGrp="1"/>
          </p:cNvSpPr>
          <p:nvPr/>
        </p:nvSpPr>
        <p:spPr>
          <a:xfrm xmlns:a="http://schemas.openxmlformats.org/drawingml/2006/main">
            <a:off x="9244584"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확정</a:t>
            </a:r>
            <a:endParaRPr sz="2300"/>
          </a:p>
        </p:txBody>
      </p:sp>
      <p:sp>
        <p:nvSpPr>
          <p:cNvPr id="28" name="STC-04-phase-rule-3">
            <a:extLst xmlns:a="http://schemas.openxmlformats.org/drawingml/2006/main">
              <a:ext uri="{FF2B5EF4-FFF2-40B4-BE49-F238E27FC236}">
                <a16:creationId xmlns:a16="http://schemas.microsoft.com/office/drawing/2014/main" id="{4455D656-930A-404D-BF54-7ED24B2942EA}"/>
              </a:ext>
            </a:extLst>
          </p:cNvPr>
          <p:cNvSpPr>
            <a:spLocks xmlns:a="http://schemas.openxmlformats.org/drawingml/2006/main" noGrp="1"/>
          </p:cNvSpPr>
          <p:nvPr/>
        </p:nvSpPr>
        <p:spPr>
          <a:xfrm xmlns:a="http://schemas.openxmlformats.org/drawingml/2006/main">
            <a:off x="9244584" y="2642616"/>
            <a:ext cx="2011680" cy="0"/>
          </a:xfrm>
          <a:prstGeom xmlns:a="http://schemas.openxmlformats.org/drawingml/2006/main" prst="line">
            <a:avLst/>
          </a:prstGeom>
          <a:noFill xmlns:a="http://schemas.openxmlformats.org/drawingml/2006/main"/>
          <a:ln xmlns:a="http://schemas.openxmlformats.org/drawingml/2006/main" w="50800">
            <a:solidFill>
              <a:srgbClr val="2F6B63"/>
            </a:solidFill>
            <a:prstDash val="solid"/>
            <a:tailEnd type="none"/>
          </a:ln>
        </p:spPr>
      </p:sp>
      <p:sp>
        <p:nvSpPr>
          <p:cNvPr id="29" name="STC-04-phase-body-3">
            <a:extLst xmlns:a="http://schemas.openxmlformats.org/drawingml/2006/main">
              <a:ext uri="{FF2B5EF4-FFF2-40B4-BE49-F238E27FC236}">
                <a16:creationId xmlns:a16="http://schemas.microsoft.com/office/drawing/2014/main" id="{FE89CD84-AEBE-4991-983F-DACD28BF3807}"/>
              </a:ext>
            </a:extLst>
          </p:cNvPr>
          <p:cNvSpPr>
            <a:spLocks xmlns:a="http://schemas.openxmlformats.org/drawingml/2006/main" noGrp="1"/>
          </p:cNvSpPr>
          <p:nvPr/>
        </p:nvSpPr>
        <p:spPr>
          <a:xfrm xmlns:a="http://schemas.openxmlformats.org/drawingml/2006/main">
            <a:off x="9244584"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확정 · 이</a:t>
            </a:r>
            <a:endParaRPr sz="1800"/>
          </a:p>
          <a:p xmlns:a="http://schemas.openxmlformats.org/drawingml/2006/main">
            <a:pPr marL="0" indent="0">
              <a:buNone/>
            </a:pPr>
            <a:r>
              <a:rPr sz="1800">
                <a:solidFill>
                  <a:srgbClr val="17191C"/>
                </a:solidFill>
                <a:latin typeface="Noto Sans CJK KR"/>
                <a:ea typeface="Noto Sans CJK KR"/>
                <a:cs typeface="Noto Sans CJK KR"/>
              </a:rPr>
              <a:t>판정은 조건부가 아니다</a:t>
            </a:r>
            <a:endParaRPr sz="1800"/>
          </a:p>
        </p:txBody>
      </p:sp>
      <p:sp>
        <p:nvSpPr>
          <p:cNvPr id="30" name="STC-04-phase-invariant">
            <a:extLst xmlns:a="http://schemas.openxmlformats.org/drawingml/2006/main">
              <a:ext uri="{FF2B5EF4-FFF2-40B4-BE49-F238E27FC236}">
                <a16:creationId xmlns:a16="http://schemas.microsoft.com/office/drawing/2014/main" id="{03288DCF-E840-4104-9A86-10724C88811D}"/>
              </a:ext>
            </a:extLst>
          </p:cNvPr>
          <p:cNvSpPr>
            <a:spLocks xmlns:a="http://schemas.openxmlformats.org/drawingml/2006/main" noGrp="1"/>
          </p:cNvSpPr>
          <p:nvPr/>
        </p:nvSpPr>
        <p:spPr>
          <a:xfrm xmlns:a="http://schemas.openxmlformats.org/drawingml/2006/main">
            <a:off x="1188720" y="4736592"/>
            <a:ext cx="9811512" cy="6035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31" name="STC-04-phase-invariant-text">
            <a:extLst xmlns:a="http://schemas.openxmlformats.org/drawingml/2006/main">
              <a:ext uri="{FF2B5EF4-FFF2-40B4-BE49-F238E27FC236}">
                <a16:creationId xmlns:a16="http://schemas.microsoft.com/office/drawing/2014/main" id="{F965FB3E-3D1D-4CF8-8579-F6405F044BA3}"/>
              </a:ext>
            </a:extLst>
          </p:cNvPr>
          <p:cNvSpPr>
            <a:spLocks xmlns:a="http://schemas.openxmlformats.org/drawingml/2006/main" noGrp="1"/>
          </p:cNvSpPr>
          <p:nvPr/>
        </p:nvSpPr>
        <p:spPr>
          <a:xfrm xmlns:a="http://schemas.openxmlformats.org/drawingml/2006/main">
            <a:off x="1435608" y="4919472"/>
            <a:ext cx="93268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논문의 자기 규정과 어긋나는 자리가 여럿 있고, 어긋나는 자리에서는 이 발표의 판정을 따른다</a:t>
            </a:r>
            <a:endParaRPr sz="1700"/>
          </a:p>
        </p:txBody>
      </p:sp>
    </p:spTree>
    <p:extLst>
      <p:ext uri="{BB962C8B-B14F-4D97-AF65-F5344CB8AC3E}">
        <p14:creationId xmlns:p14="http://schemas.microsoft.com/office/powerpoint/2010/main" val="37494492"/>
      </p:ext>
    </p:extLst>
  </p:cSld>
</p:sld>
</file>

<file path=ppt/slides/slide9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3-section">
            <a:extLst xmlns:a="http://schemas.openxmlformats.org/drawingml/2006/main">
              <a:ext uri="{FF2B5EF4-FFF2-40B4-BE49-F238E27FC236}">
                <a16:creationId xmlns:a16="http://schemas.microsoft.com/office/drawing/2014/main" id="{DEF75E10-FC43-4F90-A29D-73D1CBC1DCC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VERDICT</a:t>
            </a:r>
            <a:endParaRPr sz="950"/>
          </a:p>
        </p:txBody>
      </p:sp>
      <p:sp>
        <p:nvSpPr>
          <p:cNvPr id="3" name="STC-13-slide-id">
            <a:extLst xmlns:a="http://schemas.openxmlformats.org/drawingml/2006/main">
              <a:ext uri="{FF2B5EF4-FFF2-40B4-BE49-F238E27FC236}">
                <a16:creationId xmlns:a16="http://schemas.microsoft.com/office/drawing/2014/main" id="{207357D7-4303-4447-A61C-4C79283F663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STC-094</a:t>
            </a:r>
            <a:endParaRPr sz="950"/>
          </a:p>
        </p:txBody>
      </p:sp>
      <p:sp>
        <p:nvSpPr>
          <p:cNvPr id="4" name="STC-13-headline">
            <a:extLst xmlns:a="http://schemas.openxmlformats.org/drawingml/2006/main">
              <a:ext uri="{FF2B5EF4-FFF2-40B4-BE49-F238E27FC236}">
                <a16:creationId xmlns:a16="http://schemas.microsoft.com/office/drawing/2014/main" id="{8E260E54-4985-4C50-817D-C85BDF65F5D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판정 ② — 간격은 구조적이다, 세 공동체가 각자의 서식을 쓴다</a:t>
            </a:r>
            <a:endParaRPr sz="3000"/>
          </a:p>
        </p:txBody>
      </p:sp>
      <p:sp>
        <p:nvSpPr>
          <p:cNvPr id="5" name="STC-13-status-label">
            <a:extLst xmlns:a="http://schemas.openxmlformats.org/drawingml/2006/main">
              <a:ext uri="{FF2B5EF4-FFF2-40B4-BE49-F238E27FC236}">
                <a16:creationId xmlns:a16="http://schemas.microsoft.com/office/drawing/2014/main" id="{76CEFCAB-90F8-4FF1-91A9-495F4B23416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본서 판정</a:t>
            </a:r>
            <a:endParaRPr sz="1000"/>
          </a:p>
        </p:txBody>
      </p:sp>
      <p:sp>
        <p:nvSpPr>
          <p:cNvPr id="6" name="STC-13-status-rule">
            <a:extLst xmlns:a="http://schemas.openxmlformats.org/drawingml/2006/main">
              <a:ext uri="{FF2B5EF4-FFF2-40B4-BE49-F238E27FC236}">
                <a16:creationId xmlns:a16="http://schemas.microsoft.com/office/drawing/2014/main" id="{07360112-59F1-4B26-BA92-7088E3FD40C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13-footer-rule">
            <a:extLst xmlns:a="http://schemas.openxmlformats.org/drawingml/2006/main">
              <a:ext uri="{FF2B5EF4-FFF2-40B4-BE49-F238E27FC236}">
                <a16:creationId xmlns:a16="http://schemas.microsoft.com/office/drawing/2014/main" id="{26DC731C-F3A6-48D1-B411-9B2CD636969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3-source-footer">
            <a:extLst xmlns:a="http://schemas.openxmlformats.org/drawingml/2006/main">
              <a:ext uri="{FF2B5EF4-FFF2-40B4-BE49-F238E27FC236}">
                <a16:creationId xmlns:a16="http://schemas.microsoft.com/office/drawing/2014/main" id="{F8DE0C07-9BB3-4619-B392-5FCFC17ACBE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ch24 §24.3.1 표 24-2 · 판정 2</a:t>
            </a:r>
            <a:endParaRPr sz="850"/>
          </a:p>
        </p:txBody>
      </p:sp>
      <p:sp>
        <p:nvSpPr>
          <p:cNvPr id="9" name="STC-13-page-number">
            <a:extLst xmlns:a="http://schemas.openxmlformats.org/drawingml/2006/main">
              <a:ext uri="{FF2B5EF4-FFF2-40B4-BE49-F238E27FC236}">
                <a16:creationId xmlns:a16="http://schemas.microsoft.com/office/drawing/2014/main" id="{77A42865-7B64-4DDF-99E9-C4F94EB652F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94</a:t>
            </a:r>
            <a:endParaRPr sz="850"/>
          </a:p>
        </p:txBody>
      </p:sp>
      <p:sp>
        <p:nvSpPr>
          <p:cNvPr id="11" name="STC-13-data-layer-0">
            <a:extLst xmlns:a="http://schemas.openxmlformats.org/drawingml/2006/main">
              <a:ext uri="{FF2B5EF4-FFF2-40B4-BE49-F238E27FC236}">
                <a16:creationId xmlns:a16="http://schemas.microsoft.com/office/drawing/2014/main" id="{E5BBE619-AB19-42FA-8122-D61948B604E8}"/>
              </a:ext>
            </a:extLst>
          </p:cNvPr>
          <p:cNvSpPr>
            <a:spLocks xmlns:a="http://schemas.openxmlformats.org/drawingml/2006/main" noGrp="1"/>
          </p:cNvSpPr>
          <p:nvPr/>
        </p:nvSpPr>
        <p:spPr>
          <a:xfrm xmlns:a="http://schemas.openxmlformats.org/drawingml/2006/main">
            <a:off x="1618488" y="1664208"/>
            <a:ext cx="8961120" cy="56692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12" name="STC-13-data-label-0">
            <a:extLst xmlns:a="http://schemas.openxmlformats.org/drawingml/2006/main">
              <a:ext uri="{FF2B5EF4-FFF2-40B4-BE49-F238E27FC236}">
                <a16:creationId xmlns:a16="http://schemas.microsoft.com/office/drawing/2014/main" id="{FDF9C9BA-3329-45E9-ABC4-2B36508291DA}"/>
              </a:ext>
            </a:extLst>
          </p:cNvPr>
          <p:cNvSpPr>
            <a:spLocks xmlns:a="http://schemas.openxmlformats.org/drawingml/2006/main" noGrp="1"/>
          </p:cNvSpPr>
          <p:nvPr/>
        </p:nvSpPr>
        <p:spPr>
          <a:xfrm xmlns:a="http://schemas.openxmlformats.org/drawingml/2006/main">
            <a:off x="1783080" y="1828800"/>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FFFFFF"/>
                </a:solidFill>
                <a:latin typeface="Noto Sans Mono CJK KR"/>
                <a:ea typeface="Noto Sans Mono CJK KR"/>
                <a:cs typeface="Noto Sans Mono CJK KR"/>
              </a:rPr>
              <a:t>E의 대화 상대</a:t>
            </a:r>
            <a:endParaRPr sz="1050"/>
          </a:p>
        </p:txBody>
      </p:sp>
      <p:sp>
        <p:nvSpPr>
          <p:cNvPr id="13" name="STC-13-data-body-0">
            <a:extLst xmlns:a="http://schemas.openxmlformats.org/drawingml/2006/main">
              <a:ext uri="{FF2B5EF4-FFF2-40B4-BE49-F238E27FC236}">
                <a16:creationId xmlns:a16="http://schemas.microsoft.com/office/drawing/2014/main" id="{34676F1F-A035-47A9-9C53-7C294D97CEF1}"/>
              </a:ext>
            </a:extLst>
          </p:cNvPr>
          <p:cNvSpPr>
            <a:spLocks xmlns:a="http://schemas.openxmlformats.org/drawingml/2006/main" noGrp="1"/>
          </p:cNvSpPr>
          <p:nvPr/>
        </p:nvSpPr>
        <p:spPr>
          <a:xfrm xmlns:a="http://schemas.openxmlformats.org/drawingml/2006/main">
            <a:off x="3401568" y="1755648"/>
            <a:ext cx="6995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FFFFFF"/>
                </a:solidFill>
                <a:latin typeface="Noto Sans CJK KR"/>
                <a:ea typeface="Noto Sans CJK KR"/>
                <a:cs typeface="Noto Sans CJK KR"/>
              </a:rPr>
              <a:t>에이전트 기억 — 경쟁 제품, 지연, 정확도</a:t>
            </a:r>
            <a:endParaRPr sz="1450"/>
          </a:p>
        </p:txBody>
      </p:sp>
      <p:sp>
        <p:nvSpPr>
          <p:cNvPr id="14" name="STC-13-data-layer-1">
            <a:extLst xmlns:a="http://schemas.openxmlformats.org/drawingml/2006/main">
              <a:ext uri="{FF2B5EF4-FFF2-40B4-BE49-F238E27FC236}">
                <a16:creationId xmlns:a16="http://schemas.microsoft.com/office/drawing/2014/main" id="{2C7AD258-BAEB-4994-96A5-F1AB29FB68DF}"/>
              </a:ext>
            </a:extLst>
          </p:cNvPr>
          <p:cNvSpPr>
            <a:spLocks xmlns:a="http://schemas.openxmlformats.org/drawingml/2006/main" noGrp="1"/>
          </p:cNvSpPr>
          <p:nvPr/>
        </p:nvSpPr>
        <p:spPr>
          <a:xfrm xmlns:a="http://schemas.openxmlformats.org/drawingml/2006/main">
            <a:off x="2258568" y="2450592"/>
            <a:ext cx="7680960" cy="566928"/>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3-data-label-1">
            <a:extLst xmlns:a="http://schemas.openxmlformats.org/drawingml/2006/main">
              <a:ext uri="{FF2B5EF4-FFF2-40B4-BE49-F238E27FC236}">
                <a16:creationId xmlns:a16="http://schemas.microsoft.com/office/drawing/2014/main" id="{02CDF8C0-80BF-43B8-B0F1-3E7D91CAE3C2}"/>
              </a:ext>
            </a:extLst>
          </p:cNvPr>
          <p:cNvSpPr>
            <a:spLocks xmlns:a="http://schemas.openxmlformats.org/drawingml/2006/main" noGrp="1"/>
          </p:cNvSpPr>
          <p:nvPr/>
        </p:nvSpPr>
        <p:spPr>
          <a:xfrm xmlns:a="http://schemas.openxmlformats.org/drawingml/2006/main">
            <a:off x="2423160" y="2615184"/>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W의 대화 상대</a:t>
            </a:r>
            <a:endParaRPr sz="1050"/>
          </a:p>
        </p:txBody>
      </p:sp>
      <p:sp>
        <p:nvSpPr>
          <p:cNvPr id="16" name="STC-13-data-body-1">
            <a:extLst xmlns:a="http://schemas.openxmlformats.org/drawingml/2006/main">
              <a:ext uri="{FF2B5EF4-FFF2-40B4-BE49-F238E27FC236}">
                <a16:creationId xmlns:a16="http://schemas.microsoft.com/office/drawing/2014/main" id="{BC62C31C-D212-42ED-AE30-842B56196CD1}"/>
              </a:ext>
            </a:extLst>
          </p:cNvPr>
          <p:cNvSpPr>
            <a:spLocks xmlns:a="http://schemas.openxmlformats.org/drawingml/2006/main" noGrp="1"/>
          </p:cNvSpPr>
          <p:nvPr/>
        </p:nvSpPr>
        <p:spPr>
          <a:xfrm xmlns:a="http://schemas.openxmlformats.org/drawingml/2006/main">
            <a:off x="4041648" y="2542032"/>
            <a:ext cx="5715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17191C"/>
                </a:solidFill>
                <a:latin typeface="Noto Sans CJK KR"/>
                <a:ea typeface="Noto Sans CJK KR"/>
                <a:cs typeface="Noto Sans CJK KR"/>
              </a:rPr>
              <a:t>test-time learning — 고정 상태, recall</a:t>
            </a:r>
            <a:endParaRPr sz="1450"/>
          </a:p>
        </p:txBody>
      </p:sp>
      <p:sp>
        <p:nvSpPr>
          <p:cNvPr id="17" name="STC-13-data-layer-2">
            <a:extLst xmlns:a="http://schemas.openxmlformats.org/drawingml/2006/main">
              <a:ext uri="{FF2B5EF4-FFF2-40B4-BE49-F238E27FC236}">
                <a16:creationId xmlns:a16="http://schemas.microsoft.com/office/drawing/2014/main" id="{D6FAD0EE-091C-49BC-AC96-FF7C3FD7BF30}"/>
              </a:ext>
            </a:extLst>
          </p:cNvPr>
          <p:cNvSpPr>
            <a:spLocks xmlns:a="http://schemas.openxmlformats.org/drawingml/2006/main" noGrp="1"/>
          </p:cNvSpPr>
          <p:nvPr/>
        </p:nvSpPr>
        <p:spPr>
          <a:xfrm xmlns:a="http://schemas.openxmlformats.org/drawingml/2006/main">
            <a:off x="2898648" y="3236976"/>
            <a:ext cx="6400800" cy="566928"/>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8" name="STC-13-data-label-2">
            <a:extLst xmlns:a="http://schemas.openxmlformats.org/drawingml/2006/main">
              <a:ext uri="{FF2B5EF4-FFF2-40B4-BE49-F238E27FC236}">
                <a16:creationId xmlns:a16="http://schemas.microsoft.com/office/drawing/2014/main" id="{AA018C36-C849-429F-A2CB-A09888ED5181}"/>
              </a:ext>
            </a:extLst>
          </p:cNvPr>
          <p:cNvSpPr>
            <a:spLocks xmlns:a="http://schemas.openxmlformats.org/drawingml/2006/main" noGrp="1"/>
          </p:cNvSpPr>
          <p:nvPr/>
        </p:nvSpPr>
        <p:spPr>
          <a:xfrm xmlns:a="http://schemas.openxmlformats.org/drawingml/2006/main">
            <a:off x="3063240" y="3401568"/>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Θ의 대화 상대</a:t>
            </a:r>
            <a:endParaRPr sz="1050"/>
          </a:p>
        </p:txBody>
      </p:sp>
      <p:sp>
        <p:nvSpPr>
          <p:cNvPr id="19" name="STC-13-data-body-2">
            <a:extLst xmlns:a="http://schemas.openxmlformats.org/drawingml/2006/main">
              <a:ext uri="{FF2B5EF4-FFF2-40B4-BE49-F238E27FC236}">
                <a16:creationId xmlns:a16="http://schemas.microsoft.com/office/drawing/2014/main" id="{41815879-EDCF-477A-A120-7092A00F5988}"/>
              </a:ext>
            </a:extLst>
          </p:cNvPr>
          <p:cNvSpPr>
            <a:spLocks xmlns:a="http://schemas.openxmlformats.org/drawingml/2006/main" noGrp="1"/>
          </p:cNvSpPr>
          <p:nvPr/>
        </p:nvSpPr>
        <p:spPr>
          <a:xfrm xmlns:a="http://schemas.openxmlformats.org/drawingml/2006/main">
            <a:off x="4681728" y="3328416"/>
            <a:ext cx="4434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지속학습 — 망각, replay, step, 성능행렬</a:t>
            </a:r>
            <a:endParaRPr sz="1350"/>
          </a:p>
        </p:txBody>
      </p:sp>
      <p:sp>
        <p:nvSpPr>
          <p:cNvPr id="20" name="STC-13-data-layer-3">
            <a:extLst xmlns:a="http://schemas.openxmlformats.org/drawingml/2006/main">
              <a:ext uri="{FF2B5EF4-FFF2-40B4-BE49-F238E27FC236}">
                <a16:creationId xmlns:a16="http://schemas.microsoft.com/office/drawing/2014/main" id="{FBD0C7D7-10DE-463B-9217-97D247B03C72}"/>
              </a:ext>
            </a:extLst>
          </p:cNvPr>
          <p:cNvSpPr>
            <a:spLocks xmlns:a="http://schemas.openxmlformats.org/drawingml/2006/main" noGrp="1"/>
          </p:cNvSpPr>
          <p:nvPr/>
        </p:nvSpPr>
        <p:spPr>
          <a:xfrm xmlns:a="http://schemas.openxmlformats.org/drawingml/2006/main">
            <a:off x="3538728" y="4023360"/>
            <a:ext cx="5120640" cy="566928"/>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13-data-label-3">
            <a:extLst xmlns:a="http://schemas.openxmlformats.org/drawingml/2006/main">
              <a:ext uri="{FF2B5EF4-FFF2-40B4-BE49-F238E27FC236}">
                <a16:creationId xmlns:a16="http://schemas.microsoft.com/office/drawing/2014/main" id="{8DA5B66F-AB6C-424C-B38E-EC87549B7458}"/>
              </a:ext>
            </a:extLst>
          </p:cNvPr>
          <p:cNvSpPr>
            <a:spLocks xmlns:a="http://schemas.openxmlformats.org/drawingml/2006/main" noGrp="1"/>
          </p:cNvSpPr>
          <p:nvPr/>
        </p:nvSpPr>
        <p:spPr>
          <a:xfrm xmlns:a="http://schemas.openxmlformats.org/drawingml/2006/main">
            <a:off x="3703320" y="4187952"/>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서식의 상속</a:t>
            </a:r>
            <a:endParaRPr sz="1050"/>
          </a:p>
        </p:txBody>
      </p:sp>
      <p:sp>
        <p:nvSpPr>
          <p:cNvPr id="22" name="STC-13-data-body-3">
            <a:extLst xmlns:a="http://schemas.openxmlformats.org/drawingml/2006/main">
              <a:ext uri="{FF2B5EF4-FFF2-40B4-BE49-F238E27FC236}">
                <a16:creationId xmlns:a16="http://schemas.microsoft.com/office/drawing/2014/main" id="{B07BDB02-D4B0-48AF-8A53-11814C8CDC53}"/>
              </a:ext>
            </a:extLst>
          </p:cNvPr>
          <p:cNvSpPr>
            <a:spLocks xmlns:a="http://schemas.openxmlformats.org/drawingml/2006/main" noGrp="1"/>
          </p:cNvSpPr>
          <p:nvPr/>
        </p:nvSpPr>
        <p:spPr>
          <a:xfrm xmlns:a="http://schemas.openxmlformats.org/drawingml/2006/main">
            <a:off x="5321808" y="41148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E의 서식에는 쓰기 비용 칸이 아예 없다</a:t>
            </a:r>
            <a:endParaRPr sz="1350"/>
          </a:p>
        </p:txBody>
      </p:sp>
      <p:sp>
        <p:nvSpPr>
          <p:cNvPr id="23" name="STC-13-data-layer-4">
            <a:extLst xmlns:a="http://schemas.openxmlformats.org/drawingml/2006/main">
              <a:ext uri="{FF2B5EF4-FFF2-40B4-BE49-F238E27FC236}">
                <a16:creationId xmlns:a16="http://schemas.microsoft.com/office/drawing/2014/main" id="{E60963C1-8D59-4CC2-B99B-C4EA44523D22}"/>
              </a:ext>
            </a:extLst>
          </p:cNvPr>
          <p:cNvSpPr>
            <a:spLocks xmlns:a="http://schemas.openxmlformats.org/drawingml/2006/main" noGrp="1"/>
          </p:cNvSpPr>
          <p:nvPr/>
        </p:nvSpPr>
        <p:spPr>
          <a:xfrm xmlns:a="http://schemas.openxmlformats.org/drawingml/2006/main">
            <a:off x="4178808" y="4809744"/>
            <a:ext cx="3840480" cy="566928"/>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24" name="STC-13-data-label-4">
            <a:extLst xmlns:a="http://schemas.openxmlformats.org/drawingml/2006/main">
              <a:ext uri="{FF2B5EF4-FFF2-40B4-BE49-F238E27FC236}">
                <a16:creationId xmlns:a16="http://schemas.microsoft.com/office/drawing/2014/main" id="{94E567B2-40CF-45FA-B9F9-A1B39A99C7FF}"/>
              </a:ext>
            </a:extLst>
          </p:cNvPr>
          <p:cNvSpPr>
            <a:spLocks xmlns:a="http://schemas.openxmlformats.org/drawingml/2006/main" noGrp="1"/>
          </p:cNvSpPr>
          <p:nvPr/>
        </p:nvSpPr>
        <p:spPr>
          <a:xfrm xmlns:a="http://schemas.openxmlformats.org/drawingml/2006/main">
            <a:off x="4343400" y="4974336"/>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통로 부재</a:t>
            </a:r>
            <a:endParaRPr sz="1050"/>
          </a:p>
        </p:txBody>
      </p:sp>
      <p:sp>
        <p:nvSpPr>
          <p:cNvPr id="25" name="STC-13-data-body-4">
            <a:extLst xmlns:a="http://schemas.openxmlformats.org/drawingml/2006/main">
              <a:ext uri="{FF2B5EF4-FFF2-40B4-BE49-F238E27FC236}">
                <a16:creationId xmlns:a16="http://schemas.microsoft.com/office/drawing/2014/main" id="{2C57AF49-F2CA-4C91-AE9F-A85EF45878C8}"/>
              </a:ext>
            </a:extLst>
          </p:cNvPr>
          <p:cNvSpPr>
            <a:spLocks xmlns:a="http://schemas.openxmlformats.org/drawingml/2006/main" noGrp="1"/>
          </p:cNvSpPr>
          <p:nvPr/>
        </p:nvSpPr>
        <p:spPr>
          <a:xfrm xmlns:a="http://schemas.openxmlformats.org/drawingml/2006/main">
            <a:off x="5961888" y="4901184"/>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공유 벤치 교집합이 공집합, 바이트 0편</a:t>
            </a:r>
            <a:endParaRPr sz="1350"/>
          </a:p>
        </p:txBody>
      </p:sp>
      <p:sp>
        <p:nvSpPr>
          <p:cNvPr id="26" name="STC-13-data-warning">
            <a:extLst xmlns:a="http://schemas.openxmlformats.org/drawingml/2006/main">
              <a:ext uri="{FF2B5EF4-FFF2-40B4-BE49-F238E27FC236}">
                <a16:creationId xmlns:a16="http://schemas.microsoft.com/office/drawing/2014/main" id="{FE09EF05-9A9A-4209-946A-2FFD878EDF5A}"/>
              </a:ext>
            </a:extLst>
          </p:cNvPr>
          <p:cNvSpPr>
            <a:spLocks xmlns:a="http://schemas.openxmlformats.org/drawingml/2006/main" noGrp="1"/>
          </p:cNvSpPr>
          <p:nvPr/>
        </p:nvSpPr>
        <p:spPr>
          <a:xfrm xmlns:a="http://schemas.openxmlformats.org/drawingml/2006/main">
            <a:off x="2286000" y="5623560"/>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ans CJK KR"/>
                <a:ea typeface="Noto Sans CJK KR"/>
                <a:cs typeface="Noto Sans CJK KR"/>
              </a:rPr>
              <a:t>에이전트 기억 — 경쟁 제품, 지연, 정확도</a:t>
            </a:r>
            <a:endParaRPr sz="1800"/>
          </a:p>
        </p:txBody>
      </p:sp>
    </p:spTree>
    <p:extLst>
      <p:ext uri="{BB962C8B-B14F-4D97-AF65-F5344CB8AC3E}">
        <p14:creationId xmlns:p14="http://schemas.microsoft.com/office/powerpoint/2010/main" val="877466157"/>
      </p:ext>
    </p:extLst>
  </p:cSld>
</p:sld>
</file>

<file path=ppt/slides/slide9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0-section">
            <a:extLst xmlns:a="http://schemas.openxmlformats.org/drawingml/2006/main">
              <a:ext uri="{FF2B5EF4-FFF2-40B4-BE49-F238E27FC236}">
                <a16:creationId xmlns:a16="http://schemas.microsoft.com/office/drawing/2014/main" id="{EF3FC378-6B44-4B49-B1BB-4667473BF88D}"/>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VERDICT</a:t>
            </a:r>
            <a:endParaRPr sz="950"/>
          </a:p>
        </p:txBody>
      </p:sp>
      <p:sp>
        <p:nvSpPr>
          <p:cNvPr id="3" name="STC-20-slide-id">
            <a:extLst xmlns:a="http://schemas.openxmlformats.org/drawingml/2006/main">
              <a:ext uri="{FF2B5EF4-FFF2-40B4-BE49-F238E27FC236}">
                <a16:creationId xmlns:a16="http://schemas.microsoft.com/office/drawing/2014/main" id="{CC20B574-D2C0-4046-9A1A-25ADE22F8D1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STC-095</a:t>
            </a:r>
            <a:endParaRPr sz="950"/>
          </a:p>
        </p:txBody>
      </p:sp>
      <p:sp>
        <p:nvSpPr>
          <p:cNvPr id="4" name="STC-20-headline">
            <a:extLst xmlns:a="http://schemas.openxmlformats.org/drawingml/2006/main">
              <a:ext uri="{FF2B5EF4-FFF2-40B4-BE49-F238E27FC236}">
                <a16:creationId xmlns:a16="http://schemas.microsoft.com/office/drawing/2014/main" id="{81422673-09A9-4801-94A9-13C70E66A3C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간격을 방치하면 세 가지 판단이 틀린다</a:t>
            </a:r>
            <a:endParaRPr sz="3000"/>
          </a:p>
        </p:txBody>
      </p:sp>
      <p:sp>
        <p:nvSpPr>
          <p:cNvPr id="5" name="STC-20-status-label">
            <a:extLst xmlns:a="http://schemas.openxmlformats.org/drawingml/2006/main">
              <a:ext uri="{FF2B5EF4-FFF2-40B4-BE49-F238E27FC236}">
                <a16:creationId xmlns:a16="http://schemas.microsoft.com/office/drawing/2014/main" id="{14A8D44A-E47B-4BF7-8A5A-F78858804A15}"/>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본서 판정</a:t>
            </a:r>
            <a:endParaRPr sz="1000"/>
          </a:p>
        </p:txBody>
      </p:sp>
      <p:sp>
        <p:nvSpPr>
          <p:cNvPr id="6" name="STC-20-status-rule">
            <a:extLst xmlns:a="http://schemas.openxmlformats.org/drawingml/2006/main">
              <a:ext uri="{FF2B5EF4-FFF2-40B4-BE49-F238E27FC236}">
                <a16:creationId xmlns:a16="http://schemas.microsoft.com/office/drawing/2014/main" id="{9111AC13-7AC9-486F-A35E-14918CB2FAEA}"/>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20-footer-rule">
            <a:extLst xmlns:a="http://schemas.openxmlformats.org/drawingml/2006/main">
              <a:ext uri="{FF2B5EF4-FFF2-40B4-BE49-F238E27FC236}">
                <a16:creationId xmlns:a16="http://schemas.microsoft.com/office/drawing/2014/main" id="{99AB930A-93F8-4C3C-B1B2-60A6CD2FD70F}"/>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0-source-footer">
            <a:extLst xmlns:a="http://schemas.openxmlformats.org/drawingml/2006/main">
              <a:ext uri="{FF2B5EF4-FFF2-40B4-BE49-F238E27FC236}">
                <a16:creationId xmlns:a16="http://schemas.microsoft.com/office/drawing/2014/main" id="{ACA61175-AD4B-4248-BD6E-1C9E5F3D48A1}"/>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ch24 §24.3.2</a:t>
            </a:r>
            <a:endParaRPr sz="850"/>
          </a:p>
        </p:txBody>
      </p:sp>
      <p:sp>
        <p:nvSpPr>
          <p:cNvPr id="9" name="STC-20-page-number">
            <a:extLst xmlns:a="http://schemas.openxmlformats.org/drawingml/2006/main">
              <a:ext uri="{FF2B5EF4-FFF2-40B4-BE49-F238E27FC236}">
                <a16:creationId xmlns:a16="http://schemas.microsoft.com/office/drawing/2014/main" id="{BFF20DF2-5531-4220-9167-36B66397782A}"/>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95</a:t>
            </a:r>
            <a:endParaRPr sz="850"/>
          </a:p>
        </p:txBody>
      </p:sp>
      <p:sp>
        <p:nvSpPr>
          <p:cNvPr id="11" name="STC-20-infra-plane-0">
            <a:extLst xmlns:a="http://schemas.openxmlformats.org/drawingml/2006/main">
              <a:ext uri="{FF2B5EF4-FFF2-40B4-BE49-F238E27FC236}">
                <a16:creationId xmlns:a16="http://schemas.microsoft.com/office/drawing/2014/main" id="{C8220505-B492-4023-B70A-A2232E14F70E}"/>
              </a:ext>
            </a:extLst>
          </p:cNvPr>
          <p:cNvSpPr>
            <a:spLocks xmlns:a="http://schemas.openxmlformats.org/drawingml/2006/main" noGrp="1"/>
          </p:cNvSpPr>
          <p:nvPr/>
        </p:nvSpPr>
        <p:spPr>
          <a:xfrm xmlns:a="http://schemas.openxmlformats.org/drawingml/2006/main">
            <a:off x="749808" y="2633472"/>
            <a:ext cx="2514600" cy="2057400"/>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2" name="STC-20-infra-label-0">
            <a:extLst xmlns:a="http://schemas.openxmlformats.org/drawingml/2006/main">
              <a:ext uri="{FF2B5EF4-FFF2-40B4-BE49-F238E27FC236}">
                <a16:creationId xmlns:a16="http://schemas.microsoft.com/office/drawing/2014/main" id="{874AE9C7-25F3-4D96-A818-0C8E56EBC16F}"/>
              </a:ext>
            </a:extLst>
          </p:cNvPr>
          <p:cNvSpPr>
            <a:spLocks xmlns:a="http://schemas.openxmlformats.org/drawingml/2006/main" noGrp="1"/>
          </p:cNvSpPr>
          <p:nvPr/>
        </p:nvSpPr>
        <p:spPr>
          <a:xfrm xmlns:a="http://schemas.openxmlformats.org/drawingml/2006/main">
            <a:off x="932688"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244E8A"/>
                </a:solidFill>
                <a:latin typeface="Noto Sans Mono CJK KR"/>
                <a:ea typeface="Noto Sans Mono CJK KR"/>
                <a:cs typeface="Noto Sans Mono CJK KR"/>
              </a:rPr>
              <a:t>잘못된 비교</a:t>
            </a:r>
            <a:endParaRPr sz="1150"/>
          </a:p>
        </p:txBody>
      </p:sp>
      <p:sp>
        <p:nvSpPr>
          <p:cNvPr id="13" name="STC-20-infra-body-0">
            <a:extLst xmlns:a="http://schemas.openxmlformats.org/drawingml/2006/main">
              <a:ext uri="{FF2B5EF4-FFF2-40B4-BE49-F238E27FC236}">
                <a16:creationId xmlns:a16="http://schemas.microsoft.com/office/drawing/2014/main" id="{EAA62413-4D3B-461E-A878-B0FEC894A515}"/>
              </a:ext>
            </a:extLst>
          </p:cNvPr>
          <p:cNvSpPr>
            <a:spLocks xmlns:a="http://schemas.openxmlformats.org/drawingml/2006/main" noGrp="1"/>
          </p:cNvSpPr>
          <p:nvPr/>
        </p:nvSpPr>
        <p:spPr>
          <a:xfrm xmlns:a="http://schemas.openxmlformats.org/drawingml/2006/main">
            <a:off x="978408"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회계의 자리가 다른</a:t>
            </a:r>
            <a:endParaRPr sz="1800"/>
          </a:p>
          <a:p xmlns:a="http://schemas.openxmlformats.org/drawingml/2006/main">
            <a:pPr marL="0" indent="0" algn="ctr">
              <a:buNone/>
            </a:pPr>
            <a:r>
              <a:rPr sz="1800" b="1">
                <a:solidFill>
                  <a:srgbClr val="17191C"/>
                </a:solidFill>
                <a:latin typeface="Noto Sans CJK KR"/>
                <a:ea typeface="Noto Sans CJK KR"/>
                <a:cs typeface="Noto Sans CJK KR"/>
              </a:rPr>
              <a:t>수치를 나란히 놓는다</a:t>
            </a:r>
            <a:endParaRPr sz="1800"/>
          </a:p>
        </p:txBody>
      </p:sp>
      <p:sp>
        <p:nvSpPr>
          <p:cNvPr id="14" name="STC-20-infra-arrow-0">
            <a:extLst xmlns:a="http://schemas.openxmlformats.org/drawingml/2006/main">
              <a:ext uri="{FF2B5EF4-FFF2-40B4-BE49-F238E27FC236}">
                <a16:creationId xmlns:a16="http://schemas.microsoft.com/office/drawing/2014/main" id="{B8F31725-8432-4D1D-9A1E-34BAF08A8290}"/>
              </a:ext>
            </a:extLst>
          </p:cNvPr>
          <p:cNvSpPr>
            <a:spLocks xmlns:a="http://schemas.openxmlformats.org/drawingml/2006/main" noGrp="1"/>
          </p:cNvSpPr>
          <p:nvPr/>
        </p:nvSpPr>
        <p:spPr>
          <a:xfrm xmlns:a="http://schemas.openxmlformats.org/drawingml/2006/main">
            <a:off x="3346704" y="3657600"/>
            <a:ext cx="530352"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5" name="STC-20-infra-plane-1">
            <a:extLst xmlns:a="http://schemas.openxmlformats.org/drawingml/2006/main">
              <a:ext uri="{FF2B5EF4-FFF2-40B4-BE49-F238E27FC236}">
                <a16:creationId xmlns:a16="http://schemas.microsoft.com/office/drawing/2014/main" id="{383116CD-3E34-4394-B8A0-C315F75F29F2}"/>
              </a:ext>
            </a:extLst>
          </p:cNvPr>
          <p:cNvSpPr>
            <a:spLocks xmlns:a="http://schemas.openxmlformats.org/drawingml/2006/main" noGrp="1"/>
          </p:cNvSpPr>
          <p:nvPr/>
        </p:nvSpPr>
        <p:spPr>
          <a:xfrm xmlns:a="http://schemas.openxmlformats.org/drawingml/2006/main">
            <a:off x="3977640" y="2633472"/>
            <a:ext cx="2514600" cy="2057400"/>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6" name="STC-20-infra-label-1">
            <a:extLst xmlns:a="http://schemas.openxmlformats.org/drawingml/2006/main">
              <a:ext uri="{FF2B5EF4-FFF2-40B4-BE49-F238E27FC236}">
                <a16:creationId xmlns:a16="http://schemas.microsoft.com/office/drawing/2014/main" id="{AB17AEA0-6CEA-4C76-B857-1E4165564301}"/>
              </a:ext>
            </a:extLst>
          </p:cNvPr>
          <p:cNvSpPr>
            <a:spLocks xmlns:a="http://schemas.openxmlformats.org/drawingml/2006/main" noGrp="1"/>
          </p:cNvSpPr>
          <p:nvPr/>
        </p:nvSpPr>
        <p:spPr>
          <a:xfrm xmlns:a="http://schemas.openxmlformats.org/drawingml/2006/main">
            <a:off x="4160520"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9A442D"/>
                </a:solidFill>
                <a:latin typeface="Noto Sans Mono CJK KR"/>
                <a:ea typeface="Noto Sans Mono CJK KR"/>
                <a:cs typeface="Noto Sans Mono CJK KR"/>
              </a:rPr>
              <a:t>잘못된 기대</a:t>
            </a:r>
            <a:endParaRPr sz="1150"/>
          </a:p>
        </p:txBody>
      </p:sp>
      <p:sp>
        <p:nvSpPr>
          <p:cNvPr id="17" name="STC-20-infra-body-1">
            <a:extLst xmlns:a="http://schemas.openxmlformats.org/drawingml/2006/main">
              <a:ext uri="{FF2B5EF4-FFF2-40B4-BE49-F238E27FC236}">
                <a16:creationId xmlns:a16="http://schemas.microsoft.com/office/drawing/2014/main" id="{8BC9875E-56D1-4FE2-AFA5-6CD36FDD67BD}"/>
              </a:ext>
            </a:extLst>
          </p:cNvPr>
          <p:cNvSpPr>
            <a:spLocks xmlns:a="http://schemas.openxmlformats.org/drawingml/2006/main" noGrp="1"/>
          </p:cNvSpPr>
          <p:nvPr/>
        </p:nvSpPr>
        <p:spPr>
          <a:xfrm xmlns:a="http://schemas.openxmlformats.org/drawingml/2006/main">
            <a:off x="4206240"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라운드를</a:t>
            </a:r>
            <a:endParaRPr sz="1800"/>
          </a:p>
          <a:p xmlns:a="http://schemas.openxmlformats.org/drawingml/2006/main">
            <a:pPr marL="0" indent="0" algn="ctr">
              <a:buNone/>
            </a:pPr>
            <a:r>
              <a:rPr sz="1800" b="1">
                <a:solidFill>
                  <a:srgbClr val="17191C"/>
                </a:solidFill>
                <a:latin typeface="Noto Sans CJK KR"/>
                <a:ea typeface="Noto Sans CJK KR"/>
                <a:cs typeface="Noto Sans CJK KR"/>
              </a:rPr>
              <a:t>늘릴수록 좋아진다는 기대</a:t>
            </a:r>
            <a:endParaRPr sz="1800"/>
          </a:p>
        </p:txBody>
      </p:sp>
      <p:sp>
        <p:nvSpPr>
          <p:cNvPr id="18" name="STC-20-infra-arrow-1">
            <a:extLst xmlns:a="http://schemas.openxmlformats.org/drawingml/2006/main">
              <a:ext uri="{FF2B5EF4-FFF2-40B4-BE49-F238E27FC236}">
                <a16:creationId xmlns:a16="http://schemas.microsoft.com/office/drawing/2014/main" id="{48A1470C-A87D-49C1-AD06-0A2A05BC7D9B}"/>
              </a:ext>
            </a:extLst>
          </p:cNvPr>
          <p:cNvSpPr>
            <a:spLocks xmlns:a="http://schemas.openxmlformats.org/drawingml/2006/main" noGrp="1"/>
          </p:cNvSpPr>
          <p:nvPr/>
        </p:nvSpPr>
        <p:spPr>
          <a:xfrm xmlns:a="http://schemas.openxmlformats.org/drawingml/2006/main">
            <a:off x="6574536" y="3657600"/>
            <a:ext cx="530352"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9" name="STC-20-infra-plane-2">
            <a:extLst xmlns:a="http://schemas.openxmlformats.org/drawingml/2006/main">
              <a:ext uri="{FF2B5EF4-FFF2-40B4-BE49-F238E27FC236}">
                <a16:creationId xmlns:a16="http://schemas.microsoft.com/office/drawing/2014/main" id="{56548C3C-0562-4527-B7A6-9AAEEE6E1179}"/>
              </a:ext>
            </a:extLst>
          </p:cNvPr>
          <p:cNvSpPr>
            <a:spLocks xmlns:a="http://schemas.openxmlformats.org/drawingml/2006/main" noGrp="1"/>
          </p:cNvSpPr>
          <p:nvPr/>
        </p:nvSpPr>
        <p:spPr>
          <a:xfrm xmlns:a="http://schemas.openxmlformats.org/drawingml/2006/main">
            <a:off x="7205472" y="2633472"/>
            <a:ext cx="2514600" cy="2057400"/>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20" name="STC-20-infra-label-2">
            <a:extLst xmlns:a="http://schemas.openxmlformats.org/drawingml/2006/main">
              <a:ext uri="{FF2B5EF4-FFF2-40B4-BE49-F238E27FC236}">
                <a16:creationId xmlns:a16="http://schemas.microsoft.com/office/drawing/2014/main" id="{7D68313E-B396-49BB-9026-C73B3F9CE439}"/>
              </a:ext>
            </a:extLst>
          </p:cNvPr>
          <p:cNvSpPr>
            <a:spLocks xmlns:a="http://schemas.openxmlformats.org/drawingml/2006/main" noGrp="1"/>
          </p:cNvSpPr>
          <p:nvPr/>
        </p:nvSpPr>
        <p:spPr>
          <a:xfrm xmlns:a="http://schemas.openxmlformats.org/drawingml/2006/main">
            <a:off x="7388352"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2F6B63"/>
                </a:solidFill>
                <a:latin typeface="Noto Sans Mono CJK KR"/>
                <a:ea typeface="Noto Sans Mono CJK KR"/>
                <a:cs typeface="Noto Sans Mono CJK KR"/>
              </a:rPr>
              <a:t>잘못된 투자</a:t>
            </a:r>
            <a:endParaRPr sz="1150"/>
          </a:p>
        </p:txBody>
      </p:sp>
      <p:sp>
        <p:nvSpPr>
          <p:cNvPr id="21" name="STC-20-infra-body-2">
            <a:extLst xmlns:a="http://schemas.openxmlformats.org/drawingml/2006/main">
              <a:ext uri="{FF2B5EF4-FFF2-40B4-BE49-F238E27FC236}">
                <a16:creationId xmlns:a16="http://schemas.microsoft.com/office/drawing/2014/main" id="{FA77EDB7-C1A2-4EE1-AB98-FF52014EEADC}"/>
              </a:ext>
            </a:extLst>
          </p:cNvPr>
          <p:cNvSpPr>
            <a:spLocks xmlns:a="http://schemas.openxmlformats.org/drawingml/2006/main" noGrp="1"/>
          </p:cNvSpPr>
          <p:nvPr/>
        </p:nvSpPr>
        <p:spPr>
          <a:xfrm xmlns:a="http://schemas.openxmlformats.org/drawingml/2006/main">
            <a:off x="7434072"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세 인프라 결정을</a:t>
            </a:r>
            <a:endParaRPr sz="1800"/>
          </a:p>
          <a:p xmlns:a="http://schemas.openxmlformats.org/drawingml/2006/main">
            <a:pPr marL="0" indent="0" algn="ctr">
              <a:buNone/>
            </a:pPr>
            <a:r>
              <a:rPr sz="1800" b="1">
                <a:solidFill>
                  <a:srgbClr val="17191C"/>
                </a:solidFill>
                <a:latin typeface="Noto Sans CJK KR"/>
                <a:ea typeface="Noto Sans CJK KR"/>
                <a:cs typeface="Noto Sans CJK KR"/>
              </a:rPr>
              <a:t>한 문장으로 뭉갠다</a:t>
            </a:r>
            <a:endParaRPr sz="1800"/>
          </a:p>
        </p:txBody>
      </p:sp>
      <p:sp>
        <p:nvSpPr>
          <p:cNvPr id="22" name="STC-20-infra-control">
            <a:extLst xmlns:a="http://schemas.openxmlformats.org/drawingml/2006/main">
              <a:ext uri="{FF2B5EF4-FFF2-40B4-BE49-F238E27FC236}">
                <a16:creationId xmlns:a16="http://schemas.microsoft.com/office/drawing/2014/main" id="{29BE5495-BD82-4477-88F7-D6AF498D154C}"/>
              </a:ext>
            </a:extLst>
          </p:cNvPr>
          <p:cNvSpPr>
            <a:spLocks xmlns:a="http://schemas.openxmlformats.org/drawingml/2006/main" noGrp="1"/>
          </p:cNvSpPr>
          <p:nvPr/>
        </p:nvSpPr>
        <p:spPr>
          <a:xfrm xmlns:a="http://schemas.openxmlformats.org/drawingml/2006/main">
            <a:off x="1481328" y="1435608"/>
            <a:ext cx="8183880" cy="65836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3" name="STC-20-infra-control-text">
            <a:extLst xmlns:a="http://schemas.openxmlformats.org/drawingml/2006/main">
              <a:ext uri="{FF2B5EF4-FFF2-40B4-BE49-F238E27FC236}">
                <a16:creationId xmlns:a16="http://schemas.microsoft.com/office/drawing/2014/main" id="{DD79965F-265D-40C2-AEAD-EB1FC8BA1267}"/>
              </a:ext>
            </a:extLst>
          </p:cNvPr>
          <p:cNvSpPr>
            <a:spLocks xmlns:a="http://schemas.openxmlformats.org/drawingml/2006/main" noGrp="1"/>
          </p:cNvSpPr>
          <p:nvPr/>
        </p:nvSpPr>
        <p:spPr>
          <a:xfrm xmlns:a="http://schemas.openxmlformats.org/drawingml/2006/main">
            <a:off x="1773936" y="1655064"/>
            <a:ext cx="76078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b="1">
                <a:solidFill>
                  <a:srgbClr val="FFFFFF"/>
                </a:solidFill>
                <a:latin typeface="Noto Sans Mono CJK KR"/>
                <a:ea typeface="Noto Sans Mono CJK KR"/>
                <a:cs typeface="Noto Sans Mono CJK KR"/>
              </a:rPr>
              <a:t>셋 다 문헌의 결함이 아니라 문헌을 읽는 쪽의 결함이다</a:t>
            </a:r>
            <a:endParaRPr sz="1250"/>
          </a:p>
        </p:txBody>
      </p:sp>
      <p:sp>
        <p:nvSpPr>
          <p:cNvPr id="24" name="STC-20-infra-control-wake">
            <a:extLst xmlns:a="http://schemas.openxmlformats.org/drawingml/2006/main">
              <a:ext uri="{FF2B5EF4-FFF2-40B4-BE49-F238E27FC236}">
                <a16:creationId xmlns:a16="http://schemas.microsoft.com/office/drawing/2014/main" id="{43E7917B-51C1-450C-A277-0741EFA35A12}"/>
              </a:ext>
            </a:extLst>
          </p:cNvPr>
          <p:cNvSpPr>
            <a:spLocks xmlns:a="http://schemas.openxmlformats.org/drawingml/2006/main" noGrp="1"/>
          </p:cNvSpPr>
          <p:nvPr/>
        </p:nvSpPr>
        <p:spPr>
          <a:xfrm xmlns:a="http://schemas.openxmlformats.org/drawingml/2006/main">
            <a:off x="2816352"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5" name="STC-20-infra-control-sleep">
            <a:extLst xmlns:a="http://schemas.openxmlformats.org/drawingml/2006/main">
              <a:ext uri="{FF2B5EF4-FFF2-40B4-BE49-F238E27FC236}">
                <a16:creationId xmlns:a16="http://schemas.microsoft.com/office/drawing/2014/main" id="{3A660823-14F6-4B6B-B118-257913111373}"/>
              </a:ext>
            </a:extLst>
          </p:cNvPr>
          <p:cNvSpPr>
            <a:spLocks xmlns:a="http://schemas.openxmlformats.org/drawingml/2006/main" noGrp="1"/>
          </p:cNvSpPr>
          <p:nvPr/>
        </p:nvSpPr>
        <p:spPr>
          <a:xfrm xmlns:a="http://schemas.openxmlformats.org/drawingml/2006/main">
            <a:off x="6044184"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20-infra-control-memory">
            <a:extLst xmlns:a="http://schemas.openxmlformats.org/drawingml/2006/main">
              <a:ext uri="{FF2B5EF4-FFF2-40B4-BE49-F238E27FC236}">
                <a16:creationId xmlns:a16="http://schemas.microsoft.com/office/drawing/2014/main" id="{C059216D-6C86-4256-B827-B6F048815B09}"/>
              </a:ext>
            </a:extLst>
          </p:cNvPr>
          <p:cNvSpPr>
            <a:spLocks xmlns:a="http://schemas.openxmlformats.org/drawingml/2006/main" noGrp="1"/>
          </p:cNvSpPr>
          <p:nvPr/>
        </p:nvSpPr>
        <p:spPr>
          <a:xfrm xmlns:a="http://schemas.openxmlformats.org/drawingml/2006/main">
            <a:off x="9272016"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7" name="STC-20-infra-ledger">
            <a:extLst xmlns:a="http://schemas.openxmlformats.org/drawingml/2006/main">
              <a:ext uri="{FF2B5EF4-FFF2-40B4-BE49-F238E27FC236}">
                <a16:creationId xmlns:a16="http://schemas.microsoft.com/office/drawing/2014/main" id="{FD304FC3-39EC-4FAD-A3A7-9CFE6AD014A3}"/>
              </a:ext>
            </a:extLst>
          </p:cNvPr>
          <p:cNvSpPr>
            <a:spLocks xmlns:a="http://schemas.openxmlformats.org/drawingml/2006/main" noGrp="1"/>
          </p:cNvSpPr>
          <p:nvPr/>
        </p:nvSpPr>
        <p:spPr>
          <a:xfrm xmlns:a="http://schemas.openxmlformats.org/drawingml/2006/main">
            <a:off x="10268712" y="1435608"/>
            <a:ext cx="941832" cy="325526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28" name="STC-20-infra-ledger-text">
            <a:extLst xmlns:a="http://schemas.openxmlformats.org/drawingml/2006/main">
              <a:ext uri="{FF2B5EF4-FFF2-40B4-BE49-F238E27FC236}">
                <a16:creationId xmlns:a16="http://schemas.microsoft.com/office/drawing/2014/main" id="{1F693BD4-3AF9-4EE0-8CB6-7A83368EE3F9}"/>
              </a:ext>
            </a:extLst>
          </p:cNvPr>
          <p:cNvSpPr>
            <a:spLocks xmlns:a="http://schemas.openxmlformats.org/drawingml/2006/main" noGrp="1"/>
          </p:cNvSpPr>
          <p:nvPr/>
        </p:nvSpPr>
        <p:spPr>
          <a:xfrm xmlns:a="http://schemas.openxmlformats.org/drawingml/2006/main" rot="16200000">
            <a:off x="10405872" y="2487168"/>
            <a:ext cx="66751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59616A"/>
                </a:solidFill>
                <a:latin typeface="Noto Sans Mono CJK KR"/>
                <a:ea typeface="Noto Sans Mono CJK KR"/>
                <a:cs typeface="Noto Sans Mono CJK KR"/>
              </a:rPr>
              <a:t>잘못된</a:t>
            </a:r>
            <a:endParaRPr sz="1100"/>
          </a:p>
          <a:p xmlns:a="http://schemas.openxmlformats.org/drawingml/2006/main">
            <a:pPr marL="0" indent="0" algn="ctr">
              <a:buNone/>
            </a:pPr>
            <a:r>
              <a:rPr sz="1100" b="1">
                <a:solidFill>
                  <a:srgbClr val="59616A"/>
                </a:solidFill>
                <a:latin typeface="Noto Sans Mono CJK KR"/>
                <a:ea typeface="Noto Sans Mono CJK KR"/>
                <a:cs typeface="Noto Sans Mono CJK KR"/>
              </a:rPr>
              <a:t>비교</a:t>
            </a:r>
            <a:endParaRPr sz="1100"/>
          </a:p>
        </p:txBody>
      </p:sp>
      <p:sp>
        <p:nvSpPr>
          <p:cNvPr id="29" name="STC-20-infra-latency">
            <a:extLst xmlns:a="http://schemas.openxmlformats.org/drawingml/2006/main">
              <a:ext uri="{FF2B5EF4-FFF2-40B4-BE49-F238E27FC236}">
                <a16:creationId xmlns:a16="http://schemas.microsoft.com/office/drawing/2014/main" id="{3D41E0D1-4347-465C-AE68-23FB7C1267CF}"/>
              </a:ext>
            </a:extLst>
          </p:cNvPr>
          <p:cNvSpPr>
            <a:spLocks xmlns:a="http://schemas.openxmlformats.org/drawingml/2006/main" noGrp="1"/>
          </p:cNvSpPr>
          <p:nvPr/>
        </p:nvSpPr>
        <p:spPr>
          <a:xfrm xmlns:a="http://schemas.openxmlformats.org/drawingml/2006/main">
            <a:off x="868680"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244E8A"/>
                </a:solidFill>
                <a:latin typeface="Noto Sans CJK KR"/>
                <a:ea typeface="Noto Sans CJK KR"/>
                <a:cs typeface="Noto Sans CJK KR"/>
              </a:rPr>
              <a:t>세 실패</a:t>
            </a:r>
            <a:endParaRPr sz="1300"/>
          </a:p>
        </p:txBody>
      </p:sp>
      <p:sp>
        <p:nvSpPr>
          <p:cNvPr id="30" name="STC-20-infra-throughput">
            <a:extLst xmlns:a="http://schemas.openxmlformats.org/drawingml/2006/main">
              <a:ext uri="{FF2B5EF4-FFF2-40B4-BE49-F238E27FC236}">
                <a16:creationId xmlns:a16="http://schemas.microsoft.com/office/drawing/2014/main" id="{C8A7806F-FA6A-439E-9271-2F787EB29C92}"/>
              </a:ext>
            </a:extLst>
          </p:cNvPr>
          <p:cNvSpPr>
            <a:spLocks xmlns:a="http://schemas.openxmlformats.org/drawingml/2006/main" noGrp="1"/>
          </p:cNvSpPr>
          <p:nvPr/>
        </p:nvSpPr>
        <p:spPr>
          <a:xfrm xmlns:a="http://schemas.openxmlformats.org/drawingml/2006/main">
            <a:off x="4133088"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9A442D"/>
                </a:solidFill>
                <a:latin typeface="Noto Sans CJK KR"/>
                <a:ea typeface="Noto Sans CJK KR"/>
                <a:cs typeface="Noto Sans CJK KR"/>
              </a:rPr>
              <a:t>잘못된 기대</a:t>
            </a:r>
            <a:endParaRPr sz="1300"/>
          </a:p>
        </p:txBody>
      </p:sp>
      <p:sp>
        <p:nvSpPr>
          <p:cNvPr id="31" name="STC-20-infra-tiered">
            <a:extLst xmlns:a="http://schemas.openxmlformats.org/drawingml/2006/main">
              <a:ext uri="{FF2B5EF4-FFF2-40B4-BE49-F238E27FC236}">
                <a16:creationId xmlns:a16="http://schemas.microsoft.com/office/drawing/2014/main" id="{EFFD8688-A736-46D2-AA52-97BFFC250E90}"/>
              </a:ext>
            </a:extLst>
          </p:cNvPr>
          <p:cNvSpPr>
            <a:spLocks xmlns:a="http://schemas.openxmlformats.org/drawingml/2006/main" noGrp="1"/>
          </p:cNvSpPr>
          <p:nvPr/>
        </p:nvSpPr>
        <p:spPr>
          <a:xfrm xmlns:a="http://schemas.openxmlformats.org/drawingml/2006/main">
            <a:off x="7333488"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2F6B63"/>
                </a:solidFill>
                <a:latin typeface="Noto Sans CJK KR"/>
                <a:ea typeface="Noto Sans CJK KR"/>
                <a:cs typeface="Noto Sans CJK KR"/>
              </a:rPr>
              <a:t>잘못된 투자</a:t>
            </a:r>
            <a:endParaRPr sz="1300"/>
          </a:p>
        </p:txBody>
      </p:sp>
    </p:spTree>
    <p:extLst>
      <p:ext uri="{BB962C8B-B14F-4D97-AF65-F5344CB8AC3E}">
        <p14:creationId xmlns:p14="http://schemas.microsoft.com/office/powerpoint/2010/main" val="1555086896"/>
      </p:ext>
    </p:extLst>
  </p:cSld>
</p:sld>
</file>

<file path=ppt/slides/slide9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2-section">
            <a:extLst xmlns:a="http://schemas.openxmlformats.org/drawingml/2006/main">
              <a:ext uri="{FF2B5EF4-FFF2-40B4-BE49-F238E27FC236}">
                <a16:creationId xmlns:a16="http://schemas.microsoft.com/office/drawing/2014/main" id="{B3AE04B8-8245-44A2-8AD4-9A767BB156F4}"/>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VERDICT</a:t>
            </a:r>
            <a:endParaRPr sz="950"/>
          </a:p>
        </p:txBody>
      </p:sp>
      <p:sp>
        <p:nvSpPr>
          <p:cNvPr id="3" name="STC-02-slide-id">
            <a:extLst xmlns:a="http://schemas.openxmlformats.org/drawingml/2006/main">
              <a:ext uri="{FF2B5EF4-FFF2-40B4-BE49-F238E27FC236}">
                <a16:creationId xmlns:a16="http://schemas.microsoft.com/office/drawing/2014/main" id="{BE855689-E691-4D5A-A176-FA0CC6C672AC}"/>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STC-096</a:t>
            </a:r>
            <a:endParaRPr sz="950"/>
          </a:p>
        </p:txBody>
      </p:sp>
      <p:sp>
        <p:nvSpPr>
          <p:cNvPr id="4" name="STC-02-headline">
            <a:extLst xmlns:a="http://schemas.openxmlformats.org/drawingml/2006/main">
              <a:ext uri="{FF2B5EF4-FFF2-40B4-BE49-F238E27FC236}">
                <a16:creationId xmlns:a16="http://schemas.microsoft.com/office/drawing/2014/main" id="{9F4BA35A-C084-4820-A869-3F58338107FA}"/>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판정 ③ — 세 경로는 지금 같은 자로 잴 수 없다, 두 층위로</a:t>
            </a:r>
            <a:endParaRPr sz="3000"/>
          </a:p>
        </p:txBody>
      </p:sp>
      <p:sp>
        <p:nvSpPr>
          <p:cNvPr id="5" name="STC-02-status-label">
            <a:extLst xmlns:a="http://schemas.openxmlformats.org/drawingml/2006/main">
              <a:ext uri="{FF2B5EF4-FFF2-40B4-BE49-F238E27FC236}">
                <a16:creationId xmlns:a16="http://schemas.microsoft.com/office/drawing/2014/main" id="{1B872D46-D4B1-425B-A362-8822456881AC}"/>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본서 판정</a:t>
            </a:r>
            <a:endParaRPr sz="1000"/>
          </a:p>
        </p:txBody>
      </p:sp>
      <p:sp>
        <p:nvSpPr>
          <p:cNvPr id="6" name="STC-02-status-rule">
            <a:extLst xmlns:a="http://schemas.openxmlformats.org/drawingml/2006/main">
              <a:ext uri="{FF2B5EF4-FFF2-40B4-BE49-F238E27FC236}">
                <a16:creationId xmlns:a16="http://schemas.microsoft.com/office/drawing/2014/main" id="{AAA2BDB5-9AB1-43CC-81F2-726033A947FE}"/>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2-footer-rule">
            <a:extLst xmlns:a="http://schemas.openxmlformats.org/drawingml/2006/main">
              <a:ext uri="{FF2B5EF4-FFF2-40B4-BE49-F238E27FC236}">
                <a16:creationId xmlns:a16="http://schemas.microsoft.com/office/drawing/2014/main" id="{90EAC1C3-0B28-440F-82C3-430CFCB7A87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2-source-footer">
            <a:extLst xmlns:a="http://schemas.openxmlformats.org/drawingml/2006/main">
              <a:ext uri="{FF2B5EF4-FFF2-40B4-BE49-F238E27FC236}">
                <a16:creationId xmlns:a16="http://schemas.microsoft.com/office/drawing/2014/main" id="{793D87D7-D04F-48E5-B4E6-8B70035D63C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ch25 §25.4 판정 1 · 표 25-1</a:t>
            </a:r>
            <a:endParaRPr sz="850"/>
          </a:p>
        </p:txBody>
      </p:sp>
      <p:sp>
        <p:nvSpPr>
          <p:cNvPr id="9" name="STC-02-page-number">
            <a:extLst xmlns:a="http://schemas.openxmlformats.org/drawingml/2006/main">
              <a:ext uri="{FF2B5EF4-FFF2-40B4-BE49-F238E27FC236}">
                <a16:creationId xmlns:a16="http://schemas.microsoft.com/office/drawing/2014/main" id="{9B82730B-5BA4-40C1-BB36-231F3E2F81B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96</a:t>
            </a:r>
            <a:endParaRPr sz="850"/>
          </a:p>
        </p:txBody>
      </p:sp>
      <p:sp>
        <p:nvSpPr>
          <p:cNvPr id="11" name="STC-02-when">
            <a:extLst xmlns:a="http://schemas.openxmlformats.org/drawingml/2006/main">
              <a:ext uri="{FF2B5EF4-FFF2-40B4-BE49-F238E27FC236}">
                <a16:creationId xmlns:a16="http://schemas.microsoft.com/office/drawing/2014/main" id="{16BCA9BF-B6CB-412C-9306-FDAB2AE1F9FD}"/>
              </a:ext>
            </a:extLst>
          </p:cNvPr>
          <p:cNvSpPr>
            <a:spLocks xmlns:a="http://schemas.openxmlformats.org/drawingml/2006/main" noGrp="1"/>
          </p:cNvSpPr>
          <p:nvPr/>
        </p:nvSpPr>
        <p:spPr>
          <a:xfrm xmlns:a="http://schemas.openxmlformats.org/drawingml/2006/main">
            <a:off x="731520" y="1673352"/>
            <a:ext cx="9601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44E8A"/>
                </a:solidFill>
                <a:latin typeface="Noto Serif CJK KR"/>
                <a:ea typeface="Noto Serif CJK KR"/>
                <a:cs typeface="Noto Serif CJK KR"/>
              </a:rPr>
              <a:t>인쇄된 칸</a:t>
            </a:r>
            <a:endParaRPr sz="2800"/>
          </a:p>
        </p:txBody>
      </p:sp>
      <p:sp>
        <p:nvSpPr>
          <p:cNvPr id="12" name="STC-02-what">
            <a:extLst xmlns:a="http://schemas.openxmlformats.org/drawingml/2006/main">
              <a:ext uri="{FF2B5EF4-FFF2-40B4-BE49-F238E27FC236}">
                <a16:creationId xmlns:a16="http://schemas.microsoft.com/office/drawing/2014/main" id="{4D549EF3-5805-4997-88E2-74654ACC4A4F}"/>
              </a:ext>
            </a:extLst>
          </p:cNvPr>
          <p:cNvSpPr>
            <a:spLocks xmlns:a="http://schemas.openxmlformats.org/drawingml/2006/main" noGrp="1"/>
          </p:cNvSpPr>
          <p:nvPr/>
        </p:nvSpPr>
        <p:spPr>
          <a:xfrm xmlns:a="http://schemas.openxmlformats.org/drawingml/2006/main">
            <a:off x="731520" y="2761488"/>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9A442D"/>
                </a:solidFill>
                <a:latin typeface="Noto Serif CJK KR"/>
                <a:ea typeface="Noto Serif CJK KR"/>
                <a:cs typeface="Noto Serif CJK KR"/>
              </a:rPr>
              <a:t>층위 ①</a:t>
            </a:r>
            <a:endParaRPr sz="2800"/>
          </a:p>
        </p:txBody>
      </p:sp>
      <p:sp>
        <p:nvSpPr>
          <p:cNvPr id="13" name="STC-02-where">
            <a:extLst xmlns:a="http://schemas.openxmlformats.org/drawingml/2006/main">
              <a:ext uri="{FF2B5EF4-FFF2-40B4-BE49-F238E27FC236}">
                <a16:creationId xmlns:a16="http://schemas.microsoft.com/office/drawing/2014/main" id="{F2ABEEFC-09C0-4ED9-A436-4F6FF445EF5A}"/>
              </a:ext>
            </a:extLst>
          </p:cNvPr>
          <p:cNvSpPr>
            <a:spLocks xmlns:a="http://schemas.openxmlformats.org/drawingml/2006/main" noGrp="1"/>
          </p:cNvSpPr>
          <p:nvPr/>
        </p:nvSpPr>
        <p:spPr>
          <a:xfrm xmlns:a="http://schemas.openxmlformats.org/drawingml/2006/main">
            <a:off x="731520" y="3849624"/>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F6B63"/>
                </a:solidFill>
                <a:latin typeface="Noto Serif CJK KR"/>
                <a:ea typeface="Noto Serif CJK KR"/>
                <a:cs typeface="Noto Serif CJK KR"/>
              </a:rPr>
              <a:t>층위 ②</a:t>
            </a:r>
            <a:endParaRPr sz="2800"/>
          </a:p>
        </p:txBody>
      </p:sp>
      <p:sp>
        <p:nvSpPr>
          <p:cNvPr id="14" name="STC-02-when-line">
            <a:extLst xmlns:a="http://schemas.openxmlformats.org/drawingml/2006/main">
              <a:ext uri="{FF2B5EF4-FFF2-40B4-BE49-F238E27FC236}">
                <a16:creationId xmlns:a16="http://schemas.microsoft.com/office/drawing/2014/main" id="{A0043737-4272-4C17-86C1-34866CB1C145}"/>
              </a:ext>
            </a:extLst>
          </p:cNvPr>
          <p:cNvSpPr>
            <a:spLocks xmlns:a="http://schemas.openxmlformats.org/drawingml/2006/main" noGrp="1"/>
          </p:cNvSpPr>
          <p:nvPr/>
        </p:nvSpPr>
        <p:spPr>
          <a:xfrm xmlns:a="http://schemas.openxmlformats.org/drawingml/2006/main">
            <a:off x="2148840" y="1865376"/>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5" name="STC-02-what-line">
            <a:extLst xmlns:a="http://schemas.openxmlformats.org/drawingml/2006/main">
              <a:ext uri="{FF2B5EF4-FFF2-40B4-BE49-F238E27FC236}">
                <a16:creationId xmlns:a16="http://schemas.microsoft.com/office/drawing/2014/main" id="{19984047-E359-40E7-B1A0-D045178C217D}"/>
              </a:ext>
            </a:extLst>
          </p:cNvPr>
          <p:cNvSpPr>
            <a:spLocks xmlns:a="http://schemas.openxmlformats.org/drawingml/2006/main" noGrp="1"/>
          </p:cNvSpPr>
          <p:nvPr/>
        </p:nvSpPr>
        <p:spPr>
          <a:xfrm xmlns:a="http://schemas.openxmlformats.org/drawingml/2006/main">
            <a:off x="2148840" y="2953512"/>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6" name="STC-02-where-line">
            <a:extLst xmlns:a="http://schemas.openxmlformats.org/drawingml/2006/main">
              <a:ext uri="{FF2B5EF4-FFF2-40B4-BE49-F238E27FC236}">
                <a16:creationId xmlns:a16="http://schemas.microsoft.com/office/drawing/2014/main" id="{AC3FBBFF-8861-47FA-A523-B7B08374B29E}"/>
              </a:ext>
            </a:extLst>
          </p:cNvPr>
          <p:cNvSpPr>
            <a:spLocks xmlns:a="http://schemas.openxmlformats.org/drawingml/2006/main" noGrp="1"/>
          </p:cNvSpPr>
          <p:nvPr/>
        </p:nvSpPr>
        <p:spPr>
          <a:xfrm xmlns:a="http://schemas.openxmlformats.org/drawingml/2006/main">
            <a:off x="2148840" y="4041648"/>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7" name="STC-02-when-answer">
            <a:extLst xmlns:a="http://schemas.openxmlformats.org/drawingml/2006/main">
              <a:ext uri="{FF2B5EF4-FFF2-40B4-BE49-F238E27FC236}">
                <a16:creationId xmlns:a16="http://schemas.microsoft.com/office/drawing/2014/main" id="{DE30F009-38B4-4744-A843-3338330F9296}"/>
              </a:ext>
            </a:extLst>
          </p:cNvPr>
          <p:cNvSpPr>
            <a:spLocks xmlns:a="http://schemas.openxmlformats.org/drawingml/2006/main" noGrp="1"/>
          </p:cNvSpPr>
          <p:nvPr/>
        </p:nvSpPr>
        <p:spPr>
          <a:xfrm xmlns:a="http://schemas.openxmlformats.org/drawingml/2006/main">
            <a:off x="2377440" y="1618488"/>
            <a:ext cx="7269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B_s 1편, L_w·C_cap·ρ 각각 0편 (21편 기준)</a:t>
            </a:r>
            <a:endParaRPr sz="2100"/>
          </a:p>
        </p:txBody>
      </p:sp>
      <p:sp>
        <p:nvSpPr>
          <p:cNvPr id="18" name="STC-02-what-answer">
            <a:extLst xmlns:a="http://schemas.openxmlformats.org/drawingml/2006/main">
              <a:ext uri="{FF2B5EF4-FFF2-40B4-BE49-F238E27FC236}">
                <a16:creationId xmlns:a16="http://schemas.microsoft.com/office/drawing/2014/main" id="{31F10D90-9E59-4017-AAB6-C5184B790324}"/>
              </a:ext>
            </a:extLst>
          </p:cNvPr>
          <p:cNvSpPr>
            <a:spLocks xmlns:a="http://schemas.openxmlformats.org/drawingml/2006/main" noGrp="1"/>
          </p:cNvSpPr>
          <p:nvPr/>
        </p:nvSpPr>
        <p:spPr>
          <a:xfrm xmlns:a="http://schemas.openxmlformats.org/drawingml/2006/main">
            <a:off x="2377440" y="2706624"/>
            <a:ext cx="78638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보고 관행 — 저자가 인쇄하면 즉시 해소된다</a:t>
            </a:r>
            <a:endParaRPr sz="2100"/>
          </a:p>
        </p:txBody>
      </p:sp>
      <p:sp>
        <p:nvSpPr>
          <p:cNvPr id="19" name="STC-02-where-answer">
            <a:extLst xmlns:a="http://schemas.openxmlformats.org/drawingml/2006/main">
              <a:ext uri="{FF2B5EF4-FFF2-40B4-BE49-F238E27FC236}">
                <a16:creationId xmlns:a16="http://schemas.microsoft.com/office/drawing/2014/main" id="{7B9DAECE-395E-4C23-8BFF-9AE8A0ABEE81}"/>
              </a:ext>
            </a:extLst>
          </p:cNvPr>
          <p:cNvSpPr>
            <a:spLocks xmlns:a="http://schemas.openxmlformats.org/drawingml/2006/main" noGrp="1"/>
          </p:cNvSpPr>
          <p:nvPr/>
        </p:nvSpPr>
        <p:spPr>
          <a:xfrm xmlns:a="http://schemas.openxmlformats.org/drawingml/2006/main">
            <a:off x="2377440" y="3794760"/>
            <a:ext cx="8458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회계 틀 — 값을 인쇄해도 해소되지 않는다</a:t>
            </a:r>
            <a:endParaRPr sz="2100"/>
          </a:p>
        </p:txBody>
      </p:sp>
      <p:sp>
        <p:nvSpPr>
          <p:cNvPr id="20" name="STC-02-thesis-bar">
            <a:extLst xmlns:a="http://schemas.openxmlformats.org/drawingml/2006/main">
              <a:ext uri="{FF2B5EF4-FFF2-40B4-BE49-F238E27FC236}">
                <a16:creationId xmlns:a16="http://schemas.microsoft.com/office/drawing/2014/main" id="{307CCCCF-FC4F-496A-AFFE-4544A0437B9F}"/>
              </a:ext>
            </a:extLst>
          </p:cNvPr>
          <p:cNvSpPr>
            <a:spLocks xmlns:a="http://schemas.openxmlformats.org/drawingml/2006/main" noGrp="1"/>
          </p:cNvSpPr>
          <p:nvPr/>
        </p:nvSpPr>
        <p:spPr>
          <a:xfrm xmlns:a="http://schemas.openxmlformats.org/drawingml/2006/main">
            <a:off x="2359152" y="4791456"/>
            <a:ext cx="8174736" cy="731520"/>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02-thesis-bar-text">
            <a:extLst xmlns:a="http://schemas.openxmlformats.org/drawingml/2006/main">
              <a:ext uri="{FF2B5EF4-FFF2-40B4-BE49-F238E27FC236}">
                <a16:creationId xmlns:a16="http://schemas.microsoft.com/office/drawing/2014/main" id="{A739DA4E-B679-406F-8823-36B5720A9DC8}"/>
              </a:ext>
            </a:extLst>
          </p:cNvPr>
          <p:cNvSpPr>
            <a:spLocks xmlns:a="http://schemas.openxmlformats.org/drawingml/2006/main" noGrp="1"/>
          </p:cNvSpPr>
          <p:nvPr/>
        </p:nvSpPr>
        <p:spPr>
          <a:xfrm xmlns:a="http://schemas.openxmlformats.org/drawingml/2006/main">
            <a:off x="2606040" y="5001768"/>
            <a:ext cx="7680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900" b="1">
                <a:solidFill>
                  <a:srgbClr val="FFFFFF"/>
                </a:solidFill>
                <a:latin typeface="Noto Sans CJK KR"/>
                <a:ea typeface="Noto Sans CJK KR"/>
                <a:cs typeface="Noto Sans CJK KR"/>
              </a:rPr>
              <a:t>그래서 'sleep-time compute이 싼가'는 현재 문헌 상태에서 검증도 반증도 되지 않는다</a:t>
            </a:r>
            <a:endParaRPr sz="1900"/>
          </a:p>
        </p:txBody>
      </p:sp>
    </p:spTree>
    <p:extLst>
      <p:ext uri="{BB962C8B-B14F-4D97-AF65-F5344CB8AC3E}">
        <p14:creationId xmlns:p14="http://schemas.microsoft.com/office/powerpoint/2010/main" val="1716489855"/>
      </p:ext>
    </p:extLst>
  </p:cSld>
</p:sld>
</file>

<file path=ppt/slides/slide9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6-section">
            <a:extLst xmlns:a="http://schemas.openxmlformats.org/drawingml/2006/main">
              <a:ext uri="{FF2B5EF4-FFF2-40B4-BE49-F238E27FC236}">
                <a16:creationId xmlns:a16="http://schemas.microsoft.com/office/drawing/2014/main" id="{1EAEABEC-DD0D-4D7C-AA45-BE33B2388F81}"/>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VERDICT</a:t>
            </a:r>
            <a:endParaRPr sz="950"/>
          </a:p>
        </p:txBody>
      </p:sp>
      <p:sp>
        <p:nvSpPr>
          <p:cNvPr id="3" name="STC-16-slide-id">
            <a:extLst xmlns:a="http://schemas.openxmlformats.org/drawingml/2006/main">
              <a:ext uri="{FF2B5EF4-FFF2-40B4-BE49-F238E27FC236}">
                <a16:creationId xmlns:a16="http://schemas.microsoft.com/office/drawing/2014/main" id="{148035CD-3605-4EDB-8925-9EAAD53CDD1E}"/>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STC-097</a:t>
            </a:r>
            <a:endParaRPr sz="950"/>
          </a:p>
        </p:txBody>
      </p:sp>
      <p:sp>
        <p:nvSpPr>
          <p:cNvPr id="4" name="STC-16-headline">
            <a:extLst xmlns:a="http://schemas.openxmlformats.org/drawingml/2006/main">
              <a:ext uri="{FF2B5EF4-FFF2-40B4-BE49-F238E27FC236}">
                <a16:creationId xmlns:a16="http://schemas.microsoft.com/office/drawing/2014/main" id="{31F39839-5A4F-4AB6-A314-6FCD6EBB293B}"/>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판정 ④ — 상각 논증에는 구조적 결함이 있다</a:t>
            </a:r>
            <a:endParaRPr sz="3000"/>
          </a:p>
        </p:txBody>
      </p:sp>
      <p:sp>
        <p:nvSpPr>
          <p:cNvPr id="5" name="STC-16-status-label">
            <a:extLst xmlns:a="http://schemas.openxmlformats.org/drawingml/2006/main">
              <a:ext uri="{FF2B5EF4-FFF2-40B4-BE49-F238E27FC236}">
                <a16:creationId xmlns:a16="http://schemas.microsoft.com/office/drawing/2014/main" id="{85F97C6D-2152-4166-9EF2-FB1A30075CA5}"/>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조건 없이 단정</a:t>
            </a:r>
            <a:endParaRPr sz="1000"/>
          </a:p>
        </p:txBody>
      </p:sp>
      <p:sp>
        <p:nvSpPr>
          <p:cNvPr id="6" name="STC-16-status-rule">
            <a:extLst xmlns:a="http://schemas.openxmlformats.org/drawingml/2006/main">
              <a:ext uri="{FF2B5EF4-FFF2-40B4-BE49-F238E27FC236}">
                <a16:creationId xmlns:a16="http://schemas.microsoft.com/office/drawing/2014/main" id="{92B0A0F6-E926-46D4-AABF-CD6F912C19B5}"/>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6-footer-rule">
            <a:extLst xmlns:a="http://schemas.openxmlformats.org/drawingml/2006/main">
              <a:ext uri="{FF2B5EF4-FFF2-40B4-BE49-F238E27FC236}">
                <a16:creationId xmlns:a16="http://schemas.microsoft.com/office/drawing/2014/main" id="{78479DB6-1C83-41B6-931F-D82AA487E2AF}"/>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6-source-footer">
            <a:extLst xmlns:a="http://schemas.openxmlformats.org/drawingml/2006/main">
              <a:ext uri="{FF2B5EF4-FFF2-40B4-BE49-F238E27FC236}">
                <a16:creationId xmlns:a16="http://schemas.microsoft.com/office/drawing/2014/main" id="{CCF7D512-F8C3-424D-AAC0-0F61432BB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ch25 §25.4 판정 2</a:t>
            </a:r>
            <a:endParaRPr sz="850"/>
          </a:p>
        </p:txBody>
      </p:sp>
      <p:sp>
        <p:nvSpPr>
          <p:cNvPr id="9" name="STC-16-page-number">
            <a:extLst xmlns:a="http://schemas.openxmlformats.org/drawingml/2006/main">
              <a:ext uri="{FF2B5EF4-FFF2-40B4-BE49-F238E27FC236}">
                <a16:creationId xmlns:a16="http://schemas.microsoft.com/office/drawing/2014/main" id="{CB3F831C-0E59-4B32-AF78-33BF4F5C4D2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97</a:t>
            </a:r>
            <a:endParaRPr sz="850"/>
          </a:p>
        </p:txBody>
      </p:sp>
      <p:sp>
        <p:nvSpPr>
          <p:cNvPr id="11" name="STC-16-nfr-stage-0">
            <a:extLst xmlns:a="http://schemas.openxmlformats.org/drawingml/2006/main">
              <a:ext uri="{FF2B5EF4-FFF2-40B4-BE49-F238E27FC236}">
                <a16:creationId xmlns:a16="http://schemas.microsoft.com/office/drawing/2014/main" id="{BD7BCBEA-7D7C-45F9-940D-B9D49D82B0A9}"/>
              </a:ext>
            </a:extLst>
          </p:cNvPr>
          <p:cNvSpPr>
            <a:spLocks xmlns:a="http://schemas.openxmlformats.org/drawingml/2006/main" noGrp="1"/>
          </p:cNvSpPr>
          <p:nvPr/>
        </p:nvSpPr>
        <p:spPr>
          <a:xfrm xmlns:a="http://schemas.openxmlformats.org/drawingml/2006/main">
            <a:off x="868680" y="2240280"/>
            <a:ext cx="1874520" cy="713232"/>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2" name="STC-16-nfr-label-0">
            <a:extLst xmlns:a="http://schemas.openxmlformats.org/drawingml/2006/main">
              <a:ext uri="{FF2B5EF4-FFF2-40B4-BE49-F238E27FC236}">
                <a16:creationId xmlns:a16="http://schemas.microsoft.com/office/drawing/2014/main" id="{C63A95E6-8E06-4CF9-97A4-DA00A0F19370}"/>
              </a:ext>
            </a:extLst>
          </p:cNvPr>
          <p:cNvSpPr>
            <a:spLocks xmlns:a="http://schemas.openxmlformats.org/drawingml/2006/main" noGrp="1"/>
          </p:cNvSpPr>
          <p:nvPr/>
        </p:nvSpPr>
        <p:spPr>
          <a:xfrm xmlns:a="http://schemas.openxmlformats.org/drawingml/2006/main">
            <a:off x="9784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44E8A"/>
                </a:solidFill>
                <a:latin typeface="Noto Sans Mono CJK KR"/>
                <a:ea typeface="Noto Sans Mono CJK KR"/>
                <a:cs typeface="Noto Sans Mono CJK KR"/>
              </a:rPr>
              <a:t>나뉘는 항</a:t>
            </a:r>
            <a:endParaRPr sz="1200"/>
          </a:p>
        </p:txBody>
      </p:sp>
      <p:sp>
        <p:nvSpPr>
          <p:cNvPr id="13" name="STC-16-nfr-arrow-0">
            <a:extLst xmlns:a="http://schemas.openxmlformats.org/drawingml/2006/main">
              <a:ext uri="{FF2B5EF4-FFF2-40B4-BE49-F238E27FC236}">
                <a16:creationId xmlns:a16="http://schemas.microsoft.com/office/drawing/2014/main" id="{93F6E238-5933-4840-8DE8-81F14BF46719}"/>
              </a:ext>
            </a:extLst>
          </p:cNvPr>
          <p:cNvSpPr>
            <a:spLocks xmlns:a="http://schemas.openxmlformats.org/drawingml/2006/main" noGrp="1"/>
          </p:cNvSpPr>
          <p:nvPr/>
        </p:nvSpPr>
        <p:spPr>
          <a:xfrm xmlns:a="http://schemas.openxmlformats.org/drawingml/2006/main">
            <a:off x="28437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4" name="STC-16-nfr-stage-1">
            <a:extLst xmlns:a="http://schemas.openxmlformats.org/drawingml/2006/main">
              <a:ext uri="{FF2B5EF4-FFF2-40B4-BE49-F238E27FC236}">
                <a16:creationId xmlns:a16="http://schemas.microsoft.com/office/drawing/2014/main" id="{6E375C46-F347-452D-B530-0C46A84896AE}"/>
              </a:ext>
            </a:extLst>
          </p:cNvPr>
          <p:cNvSpPr>
            <a:spLocks xmlns:a="http://schemas.openxmlformats.org/drawingml/2006/main" noGrp="1"/>
          </p:cNvSpPr>
          <p:nvPr/>
        </p:nvSpPr>
        <p:spPr>
          <a:xfrm xmlns:a="http://schemas.openxmlformats.org/drawingml/2006/main">
            <a:off x="2926080" y="2240280"/>
            <a:ext cx="1874520" cy="713232"/>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6-nfr-label-1">
            <a:extLst xmlns:a="http://schemas.openxmlformats.org/drawingml/2006/main">
              <a:ext uri="{FF2B5EF4-FFF2-40B4-BE49-F238E27FC236}">
                <a16:creationId xmlns:a16="http://schemas.microsoft.com/office/drawing/2014/main" id="{EE98E794-C92B-4BCD-9AA0-C007E2C3A901}"/>
              </a:ext>
            </a:extLst>
          </p:cNvPr>
          <p:cNvSpPr>
            <a:spLocks xmlns:a="http://schemas.openxmlformats.org/drawingml/2006/main" noGrp="1"/>
          </p:cNvSpPr>
          <p:nvPr/>
        </p:nvSpPr>
        <p:spPr>
          <a:xfrm xmlns:a="http://schemas.openxmlformats.org/drawingml/2006/main">
            <a:off x="30358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F6B63"/>
                </a:solidFill>
                <a:latin typeface="Noto Sans Mono CJK KR"/>
                <a:ea typeface="Noto Sans Mono CJK KR"/>
                <a:cs typeface="Noto Sans Mono CJK KR"/>
              </a:rPr>
              <a:t>안 나뉘는 항</a:t>
            </a:r>
            <a:endParaRPr sz="1200"/>
          </a:p>
        </p:txBody>
      </p:sp>
      <p:sp>
        <p:nvSpPr>
          <p:cNvPr id="16" name="STC-16-nfr-arrow-1">
            <a:extLst xmlns:a="http://schemas.openxmlformats.org/drawingml/2006/main">
              <a:ext uri="{FF2B5EF4-FFF2-40B4-BE49-F238E27FC236}">
                <a16:creationId xmlns:a16="http://schemas.microsoft.com/office/drawing/2014/main" id="{9C699781-3533-4C0E-A37B-9441C305C79A}"/>
              </a:ext>
            </a:extLst>
          </p:cNvPr>
          <p:cNvSpPr>
            <a:spLocks xmlns:a="http://schemas.openxmlformats.org/drawingml/2006/main" noGrp="1"/>
          </p:cNvSpPr>
          <p:nvPr/>
        </p:nvSpPr>
        <p:spPr>
          <a:xfrm xmlns:a="http://schemas.openxmlformats.org/drawingml/2006/main">
            <a:off x="49011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7" name="STC-16-nfr-stage-2">
            <a:extLst xmlns:a="http://schemas.openxmlformats.org/drawingml/2006/main">
              <a:ext uri="{FF2B5EF4-FFF2-40B4-BE49-F238E27FC236}">
                <a16:creationId xmlns:a16="http://schemas.microsoft.com/office/drawing/2014/main" id="{F770F86E-4C00-4545-A7D5-B4D15AB17334}"/>
              </a:ext>
            </a:extLst>
          </p:cNvPr>
          <p:cNvSpPr>
            <a:spLocks xmlns:a="http://schemas.openxmlformats.org/drawingml/2006/main" noGrp="1"/>
          </p:cNvSpPr>
          <p:nvPr/>
        </p:nvSpPr>
        <p:spPr>
          <a:xfrm xmlns:a="http://schemas.openxmlformats.org/drawingml/2006/main">
            <a:off x="5532120" y="2240280"/>
            <a:ext cx="1874520" cy="713232"/>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8" name="STC-16-nfr-label-2">
            <a:extLst xmlns:a="http://schemas.openxmlformats.org/drawingml/2006/main">
              <a:ext uri="{FF2B5EF4-FFF2-40B4-BE49-F238E27FC236}">
                <a16:creationId xmlns:a16="http://schemas.microsoft.com/office/drawing/2014/main" id="{0CA58183-872F-423D-A5A2-DC11CA73C438}"/>
              </a:ext>
            </a:extLst>
          </p:cNvPr>
          <p:cNvSpPr>
            <a:spLocks xmlns:a="http://schemas.openxmlformats.org/drawingml/2006/main" noGrp="1"/>
          </p:cNvSpPr>
          <p:nvPr/>
        </p:nvSpPr>
        <p:spPr>
          <a:xfrm xmlns:a="http://schemas.openxmlformats.org/drawingml/2006/main">
            <a:off x="564184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9A442D"/>
                </a:solidFill>
                <a:latin typeface="Noto Sans Mono CJK KR"/>
                <a:ea typeface="Noto Sans Mono CJK KR"/>
                <a:cs typeface="Noto Sans Mono CJK KR"/>
              </a:rPr>
              <a:t>논문의 식</a:t>
            </a:r>
            <a:endParaRPr sz="1200"/>
          </a:p>
        </p:txBody>
      </p:sp>
      <p:sp>
        <p:nvSpPr>
          <p:cNvPr id="19" name="STC-16-nfr-arrow-2">
            <a:extLst xmlns:a="http://schemas.openxmlformats.org/drawingml/2006/main">
              <a:ext uri="{FF2B5EF4-FFF2-40B4-BE49-F238E27FC236}">
                <a16:creationId xmlns:a16="http://schemas.microsoft.com/office/drawing/2014/main" id="{05297B78-DEE0-4182-9A5E-3E5A7CD7F4DA}"/>
              </a:ext>
            </a:extLst>
          </p:cNvPr>
          <p:cNvSpPr>
            <a:spLocks xmlns:a="http://schemas.openxmlformats.org/drawingml/2006/main" noGrp="1"/>
          </p:cNvSpPr>
          <p:nvPr/>
        </p:nvSpPr>
        <p:spPr>
          <a:xfrm xmlns:a="http://schemas.openxmlformats.org/drawingml/2006/main">
            <a:off x="750722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20" name="STC-16-nfr-stage-3">
            <a:extLst xmlns:a="http://schemas.openxmlformats.org/drawingml/2006/main">
              <a:ext uri="{FF2B5EF4-FFF2-40B4-BE49-F238E27FC236}">
                <a16:creationId xmlns:a16="http://schemas.microsoft.com/office/drawing/2014/main" id="{39A20466-7E4D-40E4-A7D7-42F469ECC895}"/>
              </a:ext>
            </a:extLst>
          </p:cNvPr>
          <p:cNvSpPr>
            <a:spLocks xmlns:a="http://schemas.openxmlformats.org/drawingml/2006/main" noGrp="1"/>
          </p:cNvSpPr>
          <p:nvPr/>
        </p:nvSpPr>
        <p:spPr>
          <a:xfrm xmlns:a="http://schemas.openxmlformats.org/drawingml/2006/main">
            <a:off x="8366760" y="2240280"/>
            <a:ext cx="1874520" cy="71323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16-nfr-label-3">
            <a:extLst xmlns:a="http://schemas.openxmlformats.org/drawingml/2006/main">
              <a:ext uri="{FF2B5EF4-FFF2-40B4-BE49-F238E27FC236}">
                <a16:creationId xmlns:a16="http://schemas.microsoft.com/office/drawing/2014/main" id="{C3585ECC-6437-4548-BCD2-77F576045CDC}"/>
              </a:ext>
            </a:extLst>
          </p:cNvPr>
          <p:cNvSpPr>
            <a:spLocks xmlns:a="http://schemas.openxmlformats.org/drawingml/2006/main" noGrp="1"/>
          </p:cNvSpPr>
          <p:nvPr/>
        </p:nvSpPr>
        <p:spPr>
          <a:xfrm xmlns:a="http://schemas.openxmlformats.org/drawingml/2006/main">
            <a:off x="847648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Noto Sans Mono CJK KR"/>
                <a:ea typeface="Noto Sans Mono CJK KR"/>
                <a:cs typeface="Noto Sans Mono CJK KR"/>
              </a:rPr>
              <a:t>경계</a:t>
            </a:r>
            <a:endParaRPr sz="1200"/>
          </a:p>
        </p:txBody>
      </p:sp>
      <p:sp>
        <p:nvSpPr>
          <p:cNvPr id="22" name="STC-16-nfr-equation">
            <a:extLst xmlns:a="http://schemas.openxmlformats.org/drawingml/2006/main">
              <a:ext uri="{FF2B5EF4-FFF2-40B4-BE49-F238E27FC236}">
                <a16:creationId xmlns:a16="http://schemas.microsoft.com/office/drawing/2014/main" id="{BE0CB8F9-6DA2-4314-B150-9934237AD497}"/>
              </a:ext>
            </a:extLst>
          </p:cNvPr>
          <p:cNvSpPr>
            <a:spLocks xmlns:a="http://schemas.openxmlformats.org/drawingml/2006/main" noGrp="1"/>
          </p:cNvSpPr>
          <p:nvPr/>
        </p:nvSpPr>
        <p:spPr>
          <a:xfrm xmlns:a="http://schemas.openxmlformats.org/drawingml/2006/main">
            <a:off x="2898648" y="3310128"/>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Cs/Nq + w·ĉ</a:t>
            </a:r>
            <a:endParaRPr sz="2300"/>
          </a:p>
        </p:txBody>
      </p:sp>
      <p:sp>
        <p:nvSpPr>
          <p:cNvPr id="23" name="STC-16-nfr-result">
            <a:extLst xmlns:a="http://schemas.openxmlformats.org/drawingml/2006/main">
              <a:ext uri="{FF2B5EF4-FFF2-40B4-BE49-F238E27FC236}">
                <a16:creationId xmlns:a16="http://schemas.microsoft.com/office/drawing/2014/main" id="{C4A2FE2B-A37D-47CC-9BE0-490EB409D23D}"/>
              </a:ext>
            </a:extLst>
          </p:cNvPr>
          <p:cNvSpPr>
            <a:spLocks xmlns:a="http://schemas.openxmlformats.org/drawingml/2006/main" noGrp="1"/>
          </p:cNvSpPr>
          <p:nvPr/>
        </p:nvSpPr>
        <p:spPr>
          <a:xfrm xmlns:a="http://schemas.openxmlformats.org/drawingml/2006/main">
            <a:off x="5669280" y="3310128"/>
            <a:ext cx="22402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한 번</a:t>
            </a:r>
            <a:endParaRPr sz="2300"/>
          </a:p>
        </p:txBody>
      </p:sp>
      <p:sp>
        <p:nvSpPr>
          <p:cNvPr id="24" name="STC-16-nfr-result-arrow">
            <a:extLst xmlns:a="http://schemas.openxmlformats.org/drawingml/2006/main">
              <a:ext uri="{FF2B5EF4-FFF2-40B4-BE49-F238E27FC236}">
                <a16:creationId xmlns:a16="http://schemas.microsoft.com/office/drawing/2014/main" id="{1E4EFA29-21C2-4F8C-B607-F96D778A8A44}"/>
              </a:ext>
            </a:extLst>
          </p:cNvPr>
          <p:cNvSpPr>
            <a:spLocks xmlns:a="http://schemas.openxmlformats.org/drawingml/2006/main" noGrp="1"/>
          </p:cNvSpPr>
          <p:nvPr/>
        </p:nvSpPr>
        <p:spPr>
          <a:xfrm xmlns:a="http://schemas.openxmlformats.org/drawingml/2006/main">
            <a:off x="4937760" y="3493008"/>
            <a:ext cx="658368" cy="0"/>
          </a:xfrm>
          <a:prstGeom xmlns:a="http://schemas.openxmlformats.org/drawingml/2006/main" prst="line">
            <a:avLst/>
          </a:prstGeom>
          <a:noFill xmlns:a="http://schemas.openxmlformats.org/drawingml/2006/main"/>
          <a:ln xmlns:a="http://schemas.openxmlformats.org/drawingml/2006/main" w="19050">
            <a:solidFill>
              <a:srgbClr val="9A442D"/>
            </a:solidFill>
            <a:prstDash val="solid"/>
            <a:tailEnd type="triangle"/>
          </a:ln>
        </p:spPr>
      </p:sp>
      <p:sp>
        <p:nvSpPr>
          <p:cNvPr id="25" name="STC-16-nfr-carriers">
            <a:extLst xmlns:a="http://schemas.openxmlformats.org/drawingml/2006/main">
              <a:ext uri="{FF2B5EF4-FFF2-40B4-BE49-F238E27FC236}">
                <a16:creationId xmlns:a16="http://schemas.microsoft.com/office/drawing/2014/main" id="{2D5BB60A-9D8E-40F6-B3BC-8D23ECC75064}"/>
              </a:ext>
            </a:extLst>
          </p:cNvPr>
          <p:cNvSpPr>
            <a:spLocks xmlns:a="http://schemas.openxmlformats.org/drawingml/2006/main" noGrp="1"/>
          </p:cNvSpPr>
          <p:nvPr/>
        </p:nvSpPr>
        <p:spPr>
          <a:xfrm xmlns:a="http://schemas.openxmlformats.org/drawingml/2006/main">
            <a:off x="1143000" y="4261104"/>
            <a:ext cx="9838944" cy="10607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26" name="STC-16-nfr-carriers-label">
            <a:extLst xmlns:a="http://schemas.openxmlformats.org/drawingml/2006/main">
              <a:ext uri="{FF2B5EF4-FFF2-40B4-BE49-F238E27FC236}">
                <a16:creationId xmlns:a16="http://schemas.microsoft.com/office/drawing/2014/main" id="{5C382C2E-7982-40CC-9D71-4AFD2B2B295F}"/>
              </a:ext>
            </a:extLst>
          </p:cNvPr>
          <p:cNvSpPr>
            <a:spLocks xmlns:a="http://schemas.openxmlformats.org/drawingml/2006/main" noGrp="1"/>
          </p:cNvSpPr>
          <p:nvPr/>
        </p:nvSpPr>
        <p:spPr>
          <a:xfrm xmlns:a="http://schemas.openxmlformats.org/drawingml/2006/main">
            <a:off x="1389888" y="4526280"/>
            <a:ext cx="1234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2F6B63"/>
                </a:solidFill>
                <a:latin typeface="Noto Sans CJK KR"/>
                <a:ea typeface="Noto Sans CJK KR"/>
                <a:cs typeface="Noto Sans CJK KR"/>
              </a:rPr>
              <a:t>나뉘는 항</a:t>
            </a:r>
            <a:endParaRPr sz="1700"/>
          </a:p>
        </p:txBody>
      </p:sp>
      <p:sp>
        <p:nvSpPr>
          <p:cNvPr id="27" name="STC-16-nfr-carriers-text">
            <a:extLst xmlns:a="http://schemas.openxmlformats.org/drawingml/2006/main">
              <a:ext uri="{FF2B5EF4-FFF2-40B4-BE49-F238E27FC236}">
                <a16:creationId xmlns:a16="http://schemas.microsoft.com/office/drawing/2014/main" id="{5AA006B0-54B0-4040-95FB-9C38FC9F5627}"/>
              </a:ext>
            </a:extLst>
          </p:cNvPr>
          <p:cNvSpPr>
            <a:spLocks xmlns:a="http://schemas.openxmlformats.org/drawingml/2006/main" noGrp="1"/>
          </p:cNvSpPr>
          <p:nvPr/>
        </p:nvSpPr>
        <p:spPr>
          <a:xfrm xmlns:a="http://schemas.openxmlformats.org/drawingml/2006/main">
            <a:off x="2788920" y="4434840"/>
            <a:ext cx="7818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50" b="1">
                <a:solidFill>
                  <a:srgbClr val="17191C"/>
                </a:solidFill>
                <a:latin typeface="Noto Sans CJK KR"/>
                <a:ea typeface="Noto Sans CJK KR"/>
                <a:cs typeface="Noto Sans CJK KR"/>
              </a:rPr>
              <a:t>실험적 반례가 아니라 식의 성질이며, 미보고 값의 선택과 무관하다</a:t>
            </a:r>
            <a:endParaRPr sz="1750"/>
          </a:p>
        </p:txBody>
      </p:sp>
      <p:sp>
        <p:nvSpPr>
          <p:cNvPr id="28" name="STC-16-nfr-carriers-note">
            <a:extLst xmlns:a="http://schemas.openxmlformats.org/drawingml/2006/main">
              <a:ext uri="{FF2B5EF4-FFF2-40B4-BE49-F238E27FC236}">
                <a16:creationId xmlns:a16="http://schemas.microsoft.com/office/drawing/2014/main" id="{61EA9E4F-60C4-4072-BF50-77434A086591}"/>
              </a:ext>
            </a:extLst>
          </p:cNvPr>
          <p:cNvSpPr>
            <a:spLocks xmlns:a="http://schemas.openxmlformats.org/drawingml/2006/main" noGrp="1"/>
          </p:cNvSpPr>
          <p:nvPr/>
        </p:nvSpPr>
        <p:spPr>
          <a:xfrm xmlns:a="http://schemas.openxmlformats.org/drawingml/2006/main">
            <a:off x="2788920" y="4974336"/>
            <a:ext cx="781812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a:solidFill>
                  <a:srgbClr val="59616A"/>
                </a:solidFill>
                <a:latin typeface="Noto Sans CJK KR"/>
                <a:ea typeface="Noto Sans CJK KR"/>
                <a:cs typeface="Noto Sans CJK KR"/>
              </a:rPr>
              <a:t>식의 성질이지 실험적 반례가 아니다</a:t>
            </a:r>
            <a:endParaRPr sz="1400"/>
          </a:p>
        </p:txBody>
      </p:sp>
    </p:spTree>
    <p:extLst>
      <p:ext uri="{BB962C8B-B14F-4D97-AF65-F5344CB8AC3E}">
        <p14:creationId xmlns:p14="http://schemas.microsoft.com/office/powerpoint/2010/main" val="13243900"/>
      </p:ext>
    </p:extLst>
  </p:cSld>
</p:sld>
</file>

<file path=ppt/slides/slide9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6-section">
            <a:extLst xmlns:a="http://schemas.openxmlformats.org/drawingml/2006/main">
              <a:ext uri="{FF2B5EF4-FFF2-40B4-BE49-F238E27FC236}">
                <a16:creationId xmlns:a16="http://schemas.microsoft.com/office/drawing/2014/main" id="{C6CFE6F9-30C3-4ACE-B77D-C99D68BA58F5}"/>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VERDICT</a:t>
            </a:r>
            <a:endParaRPr sz="950"/>
          </a:p>
        </p:txBody>
      </p:sp>
      <p:sp>
        <p:nvSpPr>
          <p:cNvPr id="3" name="STC-26-slide-id">
            <a:extLst xmlns:a="http://schemas.openxmlformats.org/drawingml/2006/main">
              <a:ext uri="{FF2B5EF4-FFF2-40B4-BE49-F238E27FC236}">
                <a16:creationId xmlns:a16="http://schemas.microsoft.com/office/drawing/2014/main" id="{FBF29D78-508E-4E7A-988A-2935AC88B6A1}"/>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STC-098</a:t>
            </a:r>
            <a:endParaRPr sz="950"/>
          </a:p>
        </p:txBody>
      </p:sp>
      <p:sp>
        <p:nvSpPr>
          <p:cNvPr id="4" name="STC-26-headline">
            <a:extLst xmlns:a="http://schemas.openxmlformats.org/drawingml/2006/main">
              <a:ext uri="{FF2B5EF4-FFF2-40B4-BE49-F238E27FC236}">
                <a16:creationId xmlns:a16="http://schemas.microsoft.com/office/drawing/2014/main" id="{732EBE89-199D-4FA8-A127-19E537ABF3B3}"/>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판정 ⑤ — 그러나 5×는 반박되지 않는다</a:t>
            </a:r>
            <a:endParaRPr sz="3000"/>
          </a:p>
        </p:txBody>
      </p:sp>
      <p:sp>
        <p:nvSpPr>
          <p:cNvPr id="5" name="STC-26-status-label">
            <a:extLst xmlns:a="http://schemas.openxmlformats.org/drawingml/2006/main">
              <a:ext uri="{FF2B5EF4-FFF2-40B4-BE49-F238E27FC236}">
                <a16:creationId xmlns:a16="http://schemas.microsoft.com/office/drawing/2014/main" id="{DFBC3A45-EA4A-4C81-847B-98DDEA347603}"/>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조건부 판정</a:t>
            </a:r>
            <a:endParaRPr sz="1000"/>
          </a:p>
        </p:txBody>
      </p:sp>
      <p:sp>
        <p:nvSpPr>
          <p:cNvPr id="6" name="STC-26-status-rule">
            <a:extLst xmlns:a="http://schemas.openxmlformats.org/drawingml/2006/main">
              <a:ext uri="{FF2B5EF4-FFF2-40B4-BE49-F238E27FC236}">
                <a16:creationId xmlns:a16="http://schemas.microsoft.com/office/drawing/2014/main" id="{D4374441-A440-47AE-BAFC-C99186B9EF6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26-footer-rule">
            <a:extLst xmlns:a="http://schemas.openxmlformats.org/drawingml/2006/main">
              <a:ext uri="{FF2B5EF4-FFF2-40B4-BE49-F238E27FC236}">
                <a16:creationId xmlns:a16="http://schemas.microsoft.com/office/drawing/2014/main" id="{D17054CE-E03B-4746-9386-8812E6B0F9F5}"/>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6-source-footer">
            <a:extLst xmlns:a="http://schemas.openxmlformats.org/drawingml/2006/main">
              <a:ext uri="{FF2B5EF4-FFF2-40B4-BE49-F238E27FC236}">
                <a16:creationId xmlns:a16="http://schemas.microsoft.com/office/drawing/2014/main" id="{27C2276F-F54F-4D86-9622-75C6D85DAA50}"/>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ch25 §25.3.5 · 판정 3</a:t>
            </a:r>
            <a:endParaRPr sz="850"/>
          </a:p>
        </p:txBody>
      </p:sp>
      <p:sp>
        <p:nvSpPr>
          <p:cNvPr id="9" name="STC-26-page-number">
            <a:extLst xmlns:a="http://schemas.openxmlformats.org/drawingml/2006/main">
              <a:ext uri="{FF2B5EF4-FFF2-40B4-BE49-F238E27FC236}">
                <a16:creationId xmlns:a16="http://schemas.microsoft.com/office/drawing/2014/main" id="{514099CF-2FF1-439D-8114-7438C7271AB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98</a:t>
            </a:r>
            <a:endParaRPr sz="850"/>
          </a:p>
        </p:txBody>
      </p:sp>
      <p:sp>
        <p:nvSpPr>
          <p:cNvPr id="11" name="STC-26-con-capture">
            <a:extLst xmlns:a="http://schemas.openxmlformats.org/drawingml/2006/main">
              <a:ext uri="{FF2B5EF4-FFF2-40B4-BE49-F238E27FC236}">
                <a16:creationId xmlns:a16="http://schemas.microsoft.com/office/drawing/2014/main" id="{DD5D5F7C-59BF-4487-95AC-7D7853786246}"/>
              </a:ext>
            </a:extLst>
          </p:cNvPr>
          <p:cNvSpPr>
            <a:spLocks xmlns:a="http://schemas.openxmlformats.org/drawingml/2006/main" noGrp="1"/>
          </p:cNvSpPr>
          <p:nvPr/>
        </p:nvSpPr>
        <p:spPr>
          <a:xfrm xmlns:a="http://schemas.openxmlformats.org/drawingml/2006/main">
            <a:off x="822960" y="1828800"/>
            <a:ext cx="13258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조건 ①</a:t>
            </a:r>
            <a:endParaRPr sz="1200"/>
          </a:p>
        </p:txBody>
      </p:sp>
      <p:sp>
        <p:nvSpPr>
          <p:cNvPr id="12" name="STC-26-con-transform">
            <a:extLst xmlns:a="http://schemas.openxmlformats.org/drawingml/2006/main">
              <a:ext uri="{FF2B5EF4-FFF2-40B4-BE49-F238E27FC236}">
                <a16:creationId xmlns:a16="http://schemas.microsoft.com/office/drawing/2014/main" id="{AD254F05-8266-4B86-A230-70C8E0018E50}"/>
              </a:ext>
            </a:extLst>
          </p:cNvPr>
          <p:cNvSpPr>
            <a:spLocks xmlns:a="http://schemas.openxmlformats.org/drawingml/2006/main" noGrp="1"/>
          </p:cNvSpPr>
          <p:nvPr/>
        </p:nvSpPr>
        <p:spPr>
          <a:xfrm xmlns:a="http://schemas.openxmlformats.org/drawingml/2006/main">
            <a:off x="3273552" y="1828800"/>
            <a:ext cx="15544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조건 ②</a:t>
            </a:r>
            <a:endParaRPr sz="1200"/>
          </a:p>
        </p:txBody>
      </p:sp>
      <p:sp>
        <p:nvSpPr>
          <p:cNvPr id="13" name="STC-26-con-verify">
            <a:extLst xmlns:a="http://schemas.openxmlformats.org/drawingml/2006/main">
              <a:ext uri="{FF2B5EF4-FFF2-40B4-BE49-F238E27FC236}">
                <a16:creationId xmlns:a16="http://schemas.microsoft.com/office/drawing/2014/main" id="{8E44B935-058D-4160-A101-3846F7FE6B11}"/>
              </a:ext>
            </a:extLst>
          </p:cNvPr>
          <p:cNvSpPr>
            <a:spLocks xmlns:a="http://schemas.openxmlformats.org/drawingml/2006/main" noGrp="1"/>
          </p:cNvSpPr>
          <p:nvPr/>
        </p:nvSpPr>
        <p:spPr>
          <a:xfrm xmlns:a="http://schemas.openxmlformats.org/drawingml/2006/main">
            <a:off x="6016752" y="1828800"/>
            <a:ext cx="11887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그러면</a:t>
            </a:r>
            <a:endParaRPr sz="1200"/>
          </a:p>
        </p:txBody>
      </p:sp>
      <p:sp>
        <p:nvSpPr>
          <p:cNvPr id="14" name="STC-26-con-reuse">
            <a:extLst xmlns:a="http://schemas.openxmlformats.org/drawingml/2006/main">
              <a:ext uri="{FF2B5EF4-FFF2-40B4-BE49-F238E27FC236}">
                <a16:creationId xmlns:a16="http://schemas.microsoft.com/office/drawing/2014/main" id="{FE44A74D-7473-4EAE-B64F-7D1B198738BB}"/>
              </a:ext>
            </a:extLst>
          </p:cNvPr>
          <p:cNvSpPr>
            <a:spLocks xmlns:a="http://schemas.openxmlformats.org/drawingml/2006/main" noGrp="1"/>
          </p:cNvSpPr>
          <p:nvPr/>
        </p:nvSpPr>
        <p:spPr>
          <a:xfrm xmlns:a="http://schemas.openxmlformats.org/drawingml/2006/main">
            <a:off x="8503920" y="1828800"/>
            <a:ext cx="1965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7191C"/>
                </a:solidFill>
                <a:latin typeface="Noto Sans Mono CJK KR"/>
                <a:ea typeface="Noto Sans Mono CJK KR"/>
                <a:cs typeface="Noto Sans Mono CJK KR"/>
              </a:rPr>
              <a:t>반박 대상</a:t>
            </a:r>
            <a:endParaRPr sz="1200"/>
          </a:p>
        </p:txBody>
      </p:sp>
      <p:sp>
        <p:nvSpPr>
          <p:cNvPr id="15" name="STC-26-con-line">
            <a:extLst xmlns:a="http://schemas.openxmlformats.org/drawingml/2006/main">
              <a:ext uri="{FF2B5EF4-FFF2-40B4-BE49-F238E27FC236}">
                <a16:creationId xmlns:a16="http://schemas.microsoft.com/office/drawing/2014/main" id="{6B9F33DC-455B-43F8-B927-A5FEE8FB6298}"/>
              </a:ext>
            </a:extLst>
          </p:cNvPr>
          <p:cNvSpPr>
            <a:spLocks xmlns:a="http://schemas.openxmlformats.org/drawingml/2006/main" noGrp="1"/>
          </p:cNvSpPr>
          <p:nvPr/>
        </p:nvSpPr>
        <p:spPr>
          <a:xfrm xmlns:a="http://schemas.openxmlformats.org/drawingml/2006/main">
            <a:off x="1051560" y="2487168"/>
            <a:ext cx="9281160" cy="0"/>
          </a:xfrm>
          <a:prstGeom xmlns:a="http://schemas.openxmlformats.org/drawingml/2006/main" prst="line">
            <a:avLst/>
          </a:prstGeom>
          <a:noFill xmlns:a="http://schemas.openxmlformats.org/drawingml/2006/main"/>
          <a:ln xmlns:a="http://schemas.openxmlformats.org/drawingml/2006/main" w="25400">
            <a:solidFill>
              <a:srgbClr val="17191C"/>
            </a:solidFill>
            <a:prstDash val="solid"/>
            <a:tailEnd type="triangle"/>
          </a:ln>
        </p:spPr>
      </p:sp>
      <p:sp>
        <p:nvSpPr>
          <p:cNvPr id="16" name="STC-26-con-dot-0">
            <a:extLst xmlns:a="http://schemas.openxmlformats.org/drawingml/2006/main">
              <a:ext uri="{FF2B5EF4-FFF2-40B4-BE49-F238E27FC236}">
                <a16:creationId xmlns:a16="http://schemas.microsoft.com/office/drawing/2014/main" id="{18E9E8A9-F67A-4463-9047-709E74A28F43}"/>
              </a:ext>
            </a:extLst>
          </p:cNvPr>
          <p:cNvSpPr>
            <a:spLocks xmlns:a="http://schemas.openxmlformats.org/drawingml/2006/main" noGrp="1"/>
          </p:cNvSpPr>
          <p:nvPr/>
        </p:nvSpPr>
        <p:spPr>
          <a:xfrm xmlns:a="http://schemas.openxmlformats.org/drawingml/2006/main">
            <a:off x="1143000" y="2267712"/>
            <a:ext cx="438912" cy="438912"/>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7" name="STC-26-con-dot-1">
            <a:extLst xmlns:a="http://schemas.openxmlformats.org/drawingml/2006/main">
              <a:ext uri="{FF2B5EF4-FFF2-40B4-BE49-F238E27FC236}">
                <a16:creationId xmlns:a16="http://schemas.microsoft.com/office/drawing/2014/main" id="{47DAFBCE-CC13-44DF-BE97-33289CD5FCA2}"/>
              </a:ext>
            </a:extLst>
          </p:cNvPr>
          <p:cNvSpPr>
            <a:spLocks xmlns:a="http://schemas.openxmlformats.org/drawingml/2006/main" noGrp="1"/>
          </p:cNvSpPr>
          <p:nvPr/>
        </p:nvSpPr>
        <p:spPr>
          <a:xfrm xmlns:a="http://schemas.openxmlformats.org/drawingml/2006/main">
            <a:off x="3749040" y="2267712"/>
            <a:ext cx="438912" cy="438912"/>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8" name="STC-26-con-dot-2">
            <a:extLst xmlns:a="http://schemas.openxmlformats.org/drawingml/2006/main">
              <a:ext uri="{FF2B5EF4-FFF2-40B4-BE49-F238E27FC236}">
                <a16:creationId xmlns:a16="http://schemas.microsoft.com/office/drawing/2014/main" id="{DA396941-490E-4E1D-8092-36FE24F9034E}"/>
              </a:ext>
            </a:extLst>
          </p:cNvPr>
          <p:cNvSpPr>
            <a:spLocks xmlns:a="http://schemas.openxmlformats.org/drawingml/2006/main" noGrp="1"/>
          </p:cNvSpPr>
          <p:nvPr/>
        </p:nvSpPr>
        <p:spPr>
          <a:xfrm xmlns:a="http://schemas.openxmlformats.org/drawingml/2006/main">
            <a:off x="6400800" y="2267712"/>
            <a:ext cx="438912" cy="438912"/>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19" name="STC-26-con-dot-3">
            <a:extLst xmlns:a="http://schemas.openxmlformats.org/drawingml/2006/main">
              <a:ext uri="{FF2B5EF4-FFF2-40B4-BE49-F238E27FC236}">
                <a16:creationId xmlns:a16="http://schemas.microsoft.com/office/drawing/2014/main" id="{29D6F485-EAC6-4AD2-9692-7D423798FC2C}"/>
              </a:ext>
            </a:extLst>
          </p:cNvPr>
          <p:cNvSpPr>
            <a:spLocks xmlns:a="http://schemas.openxmlformats.org/drawingml/2006/main" noGrp="1"/>
          </p:cNvSpPr>
          <p:nvPr/>
        </p:nvSpPr>
        <p:spPr>
          <a:xfrm xmlns:a="http://schemas.openxmlformats.org/drawingml/2006/main">
            <a:off x="9144000" y="2267712"/>
            <a:ext cx="438912" cy="438912"/>
          </a:xfrm>
          <a:prstGeom xmlns:a="http://schemas.openxmlformats.org/drawingml/2006/main" prst="ellipse">
            <a:avLst/>
          </a:prstGeom>
          <a:solidFill xmlns:a="http://schemas.openxmlformats.org/drawingml/2006/main">
            <a:srgbClr val="17191C"/>
          </a:solidFill>
          <a:ln xmlns:a="http://schemas.openxmlformats.org/drawingml/2006/main" w="12700">
            <a:solidFill>
              <a:srgbClr val="F6F3EC"/>
            </a:solidFill>
            <a:prstDash val="solid"/>
          </a:ln>
        </p:spPr>
      </p:sp>
      <p:sp>
        <p:nvSpPr>
          <p:cNvPr id="20" name="STC-26-con-statement">
            <a:extLst xmlns:a="http://schemas.openxmlformats.org/drawingml/2006/main">
              <a:ext uri="{FF2B5EF4-FFF2-40B4-BE49-F238E27FC236}">
                <a16:creationId xmlns:a16="http://schemas.microsoft.com/office/drawing/2014/main" id="{9A706B15-F426-428F-BAE5-6F17F9D955EC}"/>
              </a:ext>
            </a:extLst>
          </p:cNvPr>
          <p:cNvSpPr>
            <a:spLocks xmlns:a="http://schemas.openxmlformats.org/drawingml/2006/main" noGrp="1"/>
          </p:cNvSpPr>
          <p:nvPr/>
        </p:nvSpPr>
        <p:spPr>
          <a:xfrm xmlns:a="http://schemas.openxmlformats.org/drawingml/2006/main">
            <a:off x="1024128" y="3163824"/>
            <a:ext cx="9829800" cy="1508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17191C"/>
                </a:solidFill>
                <a:latin typeface="Noto Serif CJK KR"/>
                <a:ea typeface="Noto Serif CJK KR"/>
                <a:cs typeface="Noto Serif CJK KR"/>
              </a:rPr>
              <a:t>5×는</a:t>
            </a:r>
            <a:endParaRPr sz="2500"/>
          </a:p>
          <a:p xmlns:a="http://schemas.openxmlformats.org/drawingml/2006/main">
            <a:pPr marL="0" indent="0" algn="ctr">
              <a:buNone/>
            </a:pPr>
            <a:r>
              <a:rPr sz="2500" b="1">
                <a:solidFill>
                  <a:srgbClr val="17191C"/>
                </a:solidFill>
                <a:latin typeface="Noto Serif CJK KR"/>
                <a:ea typeface="Noto Serif CJK KR"/>
                <a:cs typeface="Noto Serif CJK KR"/>
              </a:rPr>
              <a:t>생성</a:t>
            </a:r>
            <a:endParaRPr sz="2500"/>
          </a:p>
          <a:p xmlns:a="http://schemas.openxmlformats.org/drawingml/2006/main">
            <a:pPr marL="0" indent="0" algn="ctr">
              <a:buNone/>
            </a:pPr>
            <a:r>
              <a:rPr sz="2500" b="1">
                <a:solidFill>
                  <a:srgbClr val="17191C"/>
                </a:solidFill>
                <a:latin typeface="Noto Serif CJK KR"/>
                <a:ea typeface="Noto Serif CJK KR"/>
                <a:cs typeface="Noto Serif CJK KR"/>
              </a:rPr>
              <a:t>토큰</a:t>
            </a:r>
            <a:endParaRPr sz="2500"/>
          </a:p>
          <a:p xmlns:a="http://schemas.openxmlformats.org/drawingml/2006/main">
            <a:pPr marL="0" indent="0" algn="ctr">
              <a:buNone/>
            </a:pPr>
            <a:r>
              <a:rPr sz="2500" b="1">
                <a:solidFill>
                  <a:srgbClr val="17191C"/>
                </a:solidFill>
                <a:latin typeface="Noto Serif CJK KR"/>
                <a:ea typeface="Noto Serif CJK KR"/>
                <a:cs typeface="Noto Serif CJK KR"/>
              </a:rPr>
              <a:t>축에서 관측된 사실이…</a:t>
            </a:r>
            <a:endParaRPr sz="2500"/>
          </a:p>
        </p:txBody>
      </p:sp>
      <p:sp>
        <p:nvSpPr>
          <p:cNvPr id="21" name="STC-26-con-final">
            <a:extLst xmlns:a="http://schemas.openxmlformats.org/drawingml/2006/main">
              <a:ext uri="{FF2B5EF4-FFF2-40B4-BE49-F238E27FC236}">
                <a16:creationId xmlns:a16="http://schemas.microsoft.com/office/drawing/2014/main" id="{4ABA2515-68B2-48DF-B47D-A037DB747EDD}"/>
              </a:ext>
            </a:extLst>
          </p:cNvPr>
          <p:cNvSpPr>
            <a:spLocks xmlns:a="http://schemas.openxmlformats.org/drawingml/2006/main" noGrp="1"/>
          </p:cNvSpPr>
          <p:nvPr/>
        </p:nvSpPr>
        <p:spPr>
          <a:xfrm xmlns:a="http://schemas.openxmlformats.org/drawingml/2006/main">
            <a:off x="1965960" y="5175504"/>
            <a:ext cx="8229600" cy="502920"/>
          </a:xfrm>
          <a:prstGeom xmlns:a="http://schemas.openxmlformats.org/drawingml/2006/main" prst="rect">
            <a:avLst/>
          </a:prstGeom>
          <a:solidFill xmlns:a="http://schemas.openxmlformats.org/drawingml/2006/main">
            <a:srgbClr val="2F6B63"/>
          </a:solidFill>
          <a:ln xmlns:a="http://schemas.openxmlformats.org/drawingml/2006/main" w="12700">
            <a:solidFill>
              <a:srgbClr val="2F6B63"/>
            </a:solidFill>
            <a:prstDash val="solid"/>
          </a:ln>
        </p:spPr>
      </p:sp>
      <p:sp>
        <p:nvSpPr>
          <p:cNvPr id="22" name="STC-26-con-final-text">
            <a:extLst xmlns:a="http://schemas.openxmlformats.org/drawingml/2006/main">
              <a:ext uri="{FF2B5EF4-FFF2-40B4-BE49-F238E27FC236}">
                <a16:creationId xmlns:a16="http://schemas.microsoft.com/office/drawing/2014/main" id="{F8188F55-E068-4676-A7D0-1CF459C08858}"/>
              </a:ext>
            </a:extLst>
          </p:cNvPr>
          <p:cNvSpPr>
            <a:spLocks xmlns:a="http://schemas.openxmlformats.org/drawingml/2006/main" noGrp="1"/>
          </p:cNvSpPr>
          <p:nvPr/>
        </p:nvSpPr>
        <p:spPr>
          <a:xfrm xmlns:a="http://schemas.openxmlformats.org/drawingml/2006/main">
            <a:off x="2194560" y="5340096"/>
            <a:ext cx="77724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FFFFFF"/>
                </a:solidFill>
                <a:latin typeface="Noto Sans CJK KR"/>
                <a:ea typeface="Noto Sans CJK KR"/>
                <a:cs typeface="Noto Sans CJK KR"/>
              </a:rPr>
              <a:t>원 문맥이 짧다</a:t>
            </a:r>
            <a:endParaRPr sz="1700"/>
          </a:p>
        </p:txBody>
      </p:sp>
    </p:spTree>
    <p:extLst>
      <p:ext uri="{BB962C8B-B14F-4D97-AF65-F5344CB8AC3E}">
        <p14:creationId xmlns:p14="http://schemas.microsoft.com/office/powerpoint/2010/main" val="557935940"/>
      </p:ext>
    </p:extLst>
  </p:cSld>
</p:sld>
</file>

<file path=ppt/slides/slide9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VERDICT</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STC-099</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판정 ⑥ — '상태 용량'은 하나의 수가 아니다</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본서 판정</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ch26 §26.4 판정 1·2</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99</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세는 대상</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n · rdL · d²L</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수명</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세션 대 사용자</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제약</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동시성 · 지연 · 총량</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범주 오류</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한 숫자 비교</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최악 조합</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큰 지수 + 긴 수명</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드문 정렬</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작은 rank가 유리</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답할 수 있는 질문은 '어느 경로가</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어느 계층에 얼마를 얼마 동안 두는가'다</a:t>
            </a:r>
            <a:endParaRPr sz="1500"/>
          </a:p>
        </p:txBody>
      </p:sp>
    </p:spTree>
    <p:extLst>
      <p:ext uri="{BB962C8B-B14F-4D97-AF65-F5344CB8AC3E}">
        <p14:creationId xmlns:p14="http://schemas.microsoft.com/office/powerpoint/2010/main" val="931853972"/>
      </p:ext>
    </p:extLst>
  </p:cSld>
</p:sld>
</file>

<file path=ppt/slides/slide100.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7-section">
            <a:extLst xmlns:a="http://schemas.openxmlformats.org/drawingml/2006/main">
              <a:ext uri="{FF2B5EF4-FFF2-40B4-BE49-F238E27FC236}">
                <a16:creationId xmlns:a16="http://schemas.microsoft.com/office/drawing/2014/main" id="{92E4F8C4-5B7E-4BA3-B695-B6837EACCBA5}"/>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VERDICT</a:t>
            </a:r>
            <a:endParaRPr sz="950"/>
          </a:p>
        </p:txBody>
      </p:sp>
      <p:sp>
        <p:nvSpPr>
          <p:cNvPr id="3" name="STC-17-slide-id">
            <a:extLst xmlns:a="http://schemas.openxmlformats.org/drawingml/2006/main">
              <a:ext uri="{FF2B5EF4-FFF2-40B4-BE49-F238E27FC236}">
                <a16:creationId xmlns:a16="http://schemas.microsoft.com/office/drawing/2014/main" id="{90F0654A-6500-4A13-AE0F-92E29E9E7142}"/>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STC-100</a:t>
            </a:r>
            <a:endParaRPr sz="950"/>
          </a:p>
        </p:txBody>
      </p:sp>
      <p:sp>
        <p:nvSpPr>
          <p:cNvPr id="4" name="STC-17-headline">
            <a:extLst xmlns:a="http://schemas.openxmlformats.org/drawingml/2006/main">
              <a:ext uri="{FF2B5EF4-FFF2-40B4-BE49-F238E27FC236}">
                <a16:creationId xmlns:a16="http://schemas.microsoft.com/office/drawing/2014/main" id="{36BE495C-0276-48C5-8763-B49A07942DC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판정 ⑦ — 경로 선택은 곧 메모리 계층 선택이다</a:t>
            </a:r>
            <a:endParaRPr sz="3000"/>
          </a:p>
        </p:txBody>
      </p:sp>
      <p:sp>
        <p:nvSpPr>
          <p:cNvPr id="5" name="STC-17-status-label">
            <a:extLst xmlns:a="http://schemas.openxmlformats.org/drawingml/2006/main">
              <a:ext uri="{FF2B5EF4-FFF2-40B4-BE49-F238E27FC236}">
                <a16:creationId xmlns:a16="http://schemas.microsoft.com/office/drawing/2014/main" id="{3085FB04-162B-4BDC-9971-7067E8D465E9}"/>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9A442D"/>
                </a:solidFill>
                <a:latin typeface="Noto Sans Mono CJK KR"/>
                <a:ea typeface="Noto Sans Mono CJK KR"/>
                <a:cs typeface="Noto Sans Mono CJK KR"/>
              </a:rPr>
              <a:t>본서 판정</a:t>
            </a:r>
            <a:endParaRPr sz="1000"/>
          </a:p>
        </p:txBody>
      </p:sp>
      <p:sp>
        <p:nvSpPr>
          <p:cNvPr id="6" name="STC-17-status-rule">
            <a:extLst xmlns:a="http://schemas.openxmlformats.org/drawingml/2006/main">
              <a:ext uri="{FF2B5EF4-FFF2-40B4-BE49-F238E27FC236}">
                <a16:creationId xmlns:a16="http://schemas.microsoft.com/office/drawing/2014/main" id="{578ADC5E-51EB-404F-BC45-37C9D6CD7CD7}"/>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9A442D"/>
            </a:solidFill>
            <a:prstDash val="solid"/>
            <a:tailEnd type="none"/>
          </a:ln>
        </p:spPr>
      </p:sp>
      <p:sp>
        <p:nvSpPr>
          <p:cNvPr id="7" name="STC-17-footer-rule">
            <a:extLst xmlns:a="http://schemas.openxmlformats.org/drawingml/2006/main">
              <a:ext uri="{FF2B5EF4-FFF2-40B4-BE49-F238E27FC236}">
                <a16:creationId xmlns:a16="http://schemas.microsoft.com/office/drawing/2014/main" id="{E08768A2-4454-4B40-89F4-7D7CB0E43EDC}"/>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7-source-footer">
            <a:extLst xmlns:a="http://schemas.openxmlformats.org/drawingml/2006/main">
              <a:ext uri="{FF2B5EF4-FFF2-40B4-BE49-F238E27FC236}">
                <a16:creationId xmlns:a16="http://schemas.microsoft.com/office/drawing/2014/main" id="{AD1D9E5D-8963-4E36-885F-E265EF98368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ch26 §26.4 판정 2</a:t>
            </a:r>
            <a:endParaRPr sz="850"/>
          </a:p>
        </p:txBody>
      </p:sp>
      <p:sp>
        <p:nvSpPr>
          <p:cNvPr id="9" name="STC-17-page-number">
            <a:extLst xmlns:a="http://schemas.openxmlformats.org/drawingml/2006/main">
              <a:ext uri="{FF2B5EF4-FFF2-40B4-BE49-F238E27FC236}">
                <a16:creationId xmlns:a16="http://schemas.microsoft.com/office/drawing/2014/main" id="{D9D3A1E4-D8BE-40ED-87D8-2EA53AA60732}"/>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100</a:t>
            </a:r>
            <a:endParaRPr sz="850"/>
          </a:p>
        </p:txBody>
      </p:sp>
      <p:sp>
        <p:nvSpPr>
          <p:cNvPr id="11" name="STC-17-scale-left-x">
            <a:extLst xmlns:a="http://schemas.openxmlformats.org/drawingml/2006/main">
              <a:ext uri="{FF2B5EF4-FFF2-40B4-BE49-F238E27FC236}">
                <a16:creationId xmlns:a16="http://schemas.microsoft.com/office/drawing/2014/main" id="{F38B9EA2-0669-4C35-A757-D44B42B288FA}"/>
              </a:ext>
            </a:extLst>
          </p:cNvPr>
          <p:cNvSpPr>
            <a:spLocks xmlns:a="http://schemas.openxmlformats.org/drawingml/2006/main" noGrp="1"/>
          </p:cNvSpPr>
          <p:nvPr/>
        </p:nvSpPr>
        <p:spPr>
          <a:xfrm xmlns:a="http://schemas.openxmlformats.org/drawingml/2006/main">
            <a:off x="1005840" y="5120640"/>
            <a:ext cx="425196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2" name="STC-17-scale-left-y">
            <a:extLst xmlns:a="http://schemas.openxmlformats.org/drawingml/2006/main">
              <a:ext uri="{FF2B5EF4-FFF2-40B4-BE49-F238E27FC236}">
                <a16:creationId xmlns:a16="http://schemas.microsoft.com/office/drawing/2014/main" id="{127EAC0F-7538-48D2-9845-E50816FBC5B6}"/>
              </a:ext>
            </a:extLst>
          </p:cNvPr>
          <p:cNvSpPr>
            <a:spLocks xmlns:a="http://schemas.openxmlformats.org/drawingml/2006/main" noGrp="1"/>
          </p:cNvSpPr>
          <p:nvPr/>
        </p:nvSpPr>
        <p:spPr>
          <a:xfrm xmlns:a="http://schemas.openxmlformats.org/drawingml/2006/main" flipH="0" flipV="1">
            <a:off x="1005840" y="1874520"/>
            <a:ext cx="0" cy="324612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3" name="STC-17-scale-left-xlabel">
            <a:extLst xmlns:a="http://schemas.openxmlformats.org/drawingml/2006/main">
              <a:ext uri="{FF2B5EF4-FFF2-40B4-BE49-F238E27FC236}">
                <a16:creationId xmlns:a16="http://schemas.microsoft.com/office/drawing/2014/main" id="{CC1A6B04-2FA6-4A11-9502-96D6C06C0406}"/>
              </a:ext>
            </a:extLst>
          </p:cNvPr>
          <p:cNvSpPr>
            <a:spLocks xmlns:a="http://schemas.openxmlformats.org/drawingml/2006/main" noGrp="1"/>
          </p:cNvSpPr>
          <p:nvPr/>
        </p:nvSpPr>
        <p:spPr>
          <a:xfrm xmlns:a="http://schemas.openxmlformats.org/drawingml/2006/main">
            <a:off x="3794760" y="5266944"/>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a:solidFill>
                  <a:srgbClr val="59616A"/>
                </a:solidFill>
                <a:latin typeface="Noto Sans CJK KR"/>
                <a:ea typeface="Noto Sans CJK KR"/>
                <a:cs typeface="Noto Sans CJK KR"/>
              </a:rPr>
              <a:t>상태 바이트</a:t>
            </a:r>
            <a:endParaRPr sz="1100"/>
          </a:p>
        </p:txBody>
      </p:sp>
      <p:sp>
        <p:nvSpPr>
          <p:cNvPr id="14" name="STC-17-scale-left-ylabel">
            <a:extLst xmlns:a="http://schemas.openxmlformats.org/drawingml/2006/main">
              <a:ext uri="{FF2B5EF4-FFF2-40B4-BE49-F238E27FC236}">
                <a16:creationId xmlns:a16="http://schemas.microsoft.com/office/drawing/2014/main" id="{3FECF62E-F154-4266-9F86-FA8AD5DD6D5B}"/>
              </a:ext>
            </a:extLst>
          </p:cNvPr>
          <p:cNvSpPr>
            <a:spLocks xmlns:a="http://schemas.openxmlformats.org/drawingml/2006/main" noGrp="1"/>
          </p:cNvSpPr>
          <p:nvPr/>
        </p:nvSpPr>
        <p:spPr>
          <a:xfrm xmlns:a="http://schemas.openxmlformats.org/drawingml/2006/main" rot="16200000">
            <a:off x="594360" y="1764792"/>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9616A"/>
                </a:solidFill>
                <a:latin typeface="Noto Sans CJK KR"/>
                <a:ea typeface="Noto Sans CJK KR"/>
                <a:cs typeface="Noto Sans CJK KR"/>
              </a:rPr>
              <a:t>접근 빈도</a:t>
            </a:r>
            <a:endParaRPr sz="1100"/>
          </a:p>
        </p:txBody>
      </p:sp>
      <p:sp>
        <p:nvSpPr>
          <p:cNvPr id="15" name="STC-17-scale-external">
            <a:extLst xmlns:a="http://schemas.openxmlformats.org/drawingml/2006/main">
              <a:ext uri="{FF2B5EF4-FFF2-40B4-BE49-F238E27FC236}">
                <a16:creationId xmlns:a16="http://schemas.microsoft.com/office/drawing/2014/main" id="{2D86127B-2D39-4C68-9E49-E6517B6F9AD8}"/>
              </a:ext>
            </a:extLst>
          </p:cNvPr>
          <p:cNvSpPr>
            <a:spLocks xmlns:a="http://schemas.openxmlformats.org/drawingml/2006/main" noGrp="1"/>
          </p:cNvSpPr>
          <p:nvPr/>
        </p:nvSpPr>
        <p:spPr>
          <a:xfrm xmlns:a="http://schemas.openxmlformats.org/drawingml/2006/main" flipH="0" flipV="1">
            <a:off x="1188720" y="2606040"/>
            <a:ext cx="3520440" cy="1874520"/>
          </a:xfrm>
          <a:prstGeom xmlns:a="http://schemas.openxmlformats.org/drawingml/2006/main" prst="line">
            <a:avLst/>
          </a:prstGeom>
          <a:noFill xmlns:a="http://schemas.openxmlformats.org/drawingml/2006/main"/>
          <a:ln xmlns:a="http://schemas.openxmlformats.org/drawingml/2006/main" w="27940">
            <a:solidFill>
              <a:srgbClr val="244E8A"/>
            </a:solidFill>
            <a:prstDash val="solid"/>
            <a:tailEnd type="none"/>
          </a:ln>
        </p:spPr>
      </p:sp>
      <p:sp>
        <p:nvSpPr>
          <p:cNvPr id="16" name="STC-17-scale-parametric">
            <a:extLst xmlns:a="http://schemas.openxmlformats.org/drawingml/2006/main">
              <a:ext uri="{FF2B5EF4-FFF2-40B4-BE49-F238E27FC236}">
                <a16:creationId xmlns:a16="http://schemas.microsoft.com/office/drawing/2014/main" id="{DFC59353-7D50-4688-AA06-2224C35349DE}"/>
              </a:ext>
            </a:extLst>
          </p:cNvPr>
          <p:cNvSpPr>
            <a:spLocks xmlns:a="http://schemas.openxmlformats.org/drawingml/2006/main" noGrp="1"/>
          </p:cNvSpPr>
          <p:nvPr/>
        </p:nvSpPr>
        <p:spPr>
          <a:xfrm xmlns:a="http://schemas.openxmlformats.org/drawingml/2006/main">
            <a:off x="1188720" y="2514600"/>
            <a:ext cx="3520440" cy="1965960"/>
          </a:xfrm>
          <a:prstGeom xmlns:a="http://schemas.openxmlformats.org/drawingml/2006/main" prst="line">
            <a:avLst/>
          </a:prstGeom>
          <a:noFill xmlns:a="http://schemas.openxmlformats.org/drawingml/2006/main"/>
          <a:ln xmlns:a="http://schemas.openxmlformats.org/drawingml/2006/main" w="27940">
            <a:solidFill>
              <a:srgbClr val="9A442D"/>
            </a:solidFill>
            <a:prstDash val="solid"/>
            <a:tailEnd type="none"/>
          </a:ln>
        </p:spPr>
      </p:sp>
      <p:sp>
        <p:nvSpPr>
          <p:cNvPr id="17" name="STC-17-scale-cross">
            <a:extLst xmlns:a="http://schemas.openxmlformats.org/drawingml/2006/main">
              <a:ext uri="{FF2B5EF4-FFF2-40B4-BE49-F238E27FC236}">
                <a16:creationId xmlns:a16="http://schemas.microsoft.com/office/drawing/2014/main" id="{38C2475A-C01B-48D1-B5C2-52F03E134CC7}"/>
              </a:ext>
            </a:extLst>
          </p:cNvPr>
          <p:cNvSpPr>
            <a:spLocks xmlns:a="http://schemas.openxmlformats.org/drawingml/2006/main" noGrp="1"/>
          </p:cNvSpPr>
          <p:nvPr/>
        </p:nvSpPr>
        <p:spPr>
          <a:xfrm xmlns:a="http://schemas.openxmlformats.org/drawingml/2006/main">
            <a:off x="2971800" y="3438144"/>
            <a:ext cx="219456" cy="219456"/>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18" name="STC-17-scale-cross-label">
            <a:extLst xmlns:a="http://schemas.openxmlformats.org/drawingml/2006/main">
              <a:ext uri="{FF2B5EF4-FFF2-40B4-BE49-F238E27FC236}">
                <a16:creationId xmlns:a16="http://schemas.microsoft.com/office/drawing/2014/main" id="{5361373B-8A27-4C3F-BCAB-13880DD0432B}"/>
              </a:ext>
            </a:extLst>
          </p:cNvPr>
          <p:cNvSpPr>
            <a:spLocks xmlns:a="http://schemas.openxmlformats.org/drawingml/2006/main" noGrp="1"/>
          </p:cNvSpPr>
          <p:nvPr/>
        </p:nvSpPr>
        <p:spPr>
          <a:xfrm xmlns:a="http://schemas.openxmlformats.org/drawingml/2006/main">
            <a:off x="3200400" y="3209544"/>
            <a:ext cx="1600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7191C"/>
                </a:solidFill>
                <a:latin typeface="Noto Sans CJK KR"/>
                <a:ea typeface="Noto Sans CJK KR"/>
                <a:cs typeface="Noto Sans CJK KR"/>
              </a:rPr>
              <a:t>계층</a:t>
            </a:r>
            <a:endParaRPr sz="1300"/>
          </a:p>
        </p:txBody>
      </p:sp>
      <p:sp>
        <p:nvSpPr>
          <p:cNvPr id="19" name="STC-17-scale-external-label">
            <a:extLst xmlns:a="http://schemas.openxmlformats.org/drawingml/2006/main">
              <a:ext uri="{FF2B5EF4-FFF2-40B4-BE49-F238E27FC236}">
                <a16:creationId xmlns:a16="http://schemas.microsoft.com/office/drawing/2014/main" id="{5A0E898B-D650-4683-929F-FC5564799CA5}"/>
              </a:ext>
            </a:extLst>
          </p:cNvPr>
          <p:cNvSpPr>
            <a:spLocks xmlns:a="http://schemas.openxmlformats.org/drawingml/2006/main" noGrp="1"/>
          </p:cNvSpPr>
          <p:nvPr/>
        </p:nvSpPr>
        <p:spPr>
          <a:xfrm xmlns:a="http://schemas.openxmlformats.org/drawingml/2006/main">
            <a:off x="1554480" y="4096512"/>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244E8A"/>
                </a:solidFill>
                <a:latin typeface="Noto Sans CJK KR"/>
                <a:ea typeface="Noto Sans CJK KR"/>
                <a:cs typeface="Noto Sans CJK KR"/>
              </a:rPr>
              <a:t>W = 핫</a:t>
            </a:r>
            <a:endParaRPr sz="1200"/>
          </a:p>
        </p:txBody>
      </p:sp>
      <p:sp>
        <p:nvSpPr>
          <p:cNvPr id="20" name="STC-17-scale-parametric-label">
            <a:extLst xmlns:a="http://schemas.openxmlformats.org/drawingml/2006/main">
              <a:ext uri="{FF2B5EF4-FFF2-40B4-BE49-F238E27FC236}">
                <a16:creationId xmlns:a16="http://schemas.microsoft.com/office/drawing/2014/main" id="{9314D827-DE51-4522-BD7E-BDF397FFDFC8}"/>
              </a:ext>
            </a:extLst>
          </p:cNvPr>
          <p:cNvSpPr>
            <a:spLocks xmlns:a="http://schemas.openxmlformats.org/drawingml/2006/main" noGrp="1"/>
          </p:cNvSpPr>
          <p:nvPr/>
        </p:nvSpPr>
        <p:spPr>
          <a:xfrm xmlns:a="http://schemas.openxmlformats.org/drawingml/2006/main">
            <a:off x="3986784" y="4114800"/>
            <a:ext cx="10058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9A442D"/>
                </a:solidFill>
                <a:latin typeface="Noto Sans CJK KR"/>
                <a:ea typeface="Noto Sans CJK KR"/>
                <a:cs typeface="Noto Sans CJK KR"/>
              </a:rPr>
              <a:t>3층</a:t>
            </a:r>
            <a:endParaRPr sz="1200"/>
          </a:p>
        </p:txBody>
      </p:sp>
      <p:sp>
        <p:nvSpPr>
          <p:cNvPr id="21" name="STC-17-scale-divider">
            <a:extLst xmlns:a="http://schemas.openxmlformats.org/drawingml/2006/main">
              <a:ext uri="{FF2B5EF4-FFF2-40B4-BE49-F238E27FC236}">
                <a16:creationId xmlns:a16="http://schemas.microsoft.com/office/drawing/2014/main" id="{EED8261B-448F-4417-9C3F-674EDAAAD962}"/>
              </a:ext>
            </a:extLst>
          </p:cNvPr>
          <p:cNvSpPr>
            <a:spLocks xmlns:a="http://schemas.openxmlformats.org/drawingml/2006/main" noGrp="1"/>
          </p:cNvSpPr>
          <p:nvPr/>
        </p:nvSpPr>
        <p:spPr>
          <a:xfrm xmlns:a="http://schemas.openxmlformats.org/drawingml/2006/main">
            <a:off x="5989320" y="1755648"/>
            <a:ext cx="0" cy="3886200"/>
          </a:xfrm>
          <a:prstGeom xmlns:a="http://schemas.openxmlformats.org/drawingml/2006/main" prst="line">
            <a:avLst/>
          </a:prstGeom>
          <a:noFill xmlns:a="http://schemas.openxmlformats.org/drawingml/2006/main"/>
          <a:ln xmlns:a="http://schemas.openxmlformats.org/drawingml/2006/main" w="15240">
            <a:solidFill>
              <a:srgbClr val="C9C4B8"/>
            </a:solidFill>
            <a:prstDash val="solid"/>
            <a:tailEnd type="none"/>
          </a:ln>
        </p:spPr>
      </p:sp>
      <p:sp>
        <p:nvSpPr>
          <p:cNvPr id="22" name="STC-17-atlas-label-0">
            <a:extLst xmlns:a="http://schemas.openxmlformats.org/drawingml/2006/main">
              <a:ext uri="{FF2B5EF4-FFF2-40B4-BE49-F238E27FC236}">
                <a16:creationId xmlns:a16="http://schemas.microsoft.com/office/drawing/2014/main" id="{38500024-C3E5-449E-9177-C70AC65318D7}"/>
              </a:ext>
            </a:extLst>
          </p:cNvPr>
          <p:cNvSpPr>
            <a:spLocks xmlns:a="http://schemas.openxmlformats.org/drawingml/2006/main" noGrp="1"/>
          </p:cNvSpPr>
          <p:nvPr/>
        </p:nvSpPr>
        <p:spPr>
          <a:xfrm xmlns:a="http://schemas.openxmlformats.org/drawingml/2006/main">
            <a:off x="6473952" y="1709928"/>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W = 핫</a:t>
            </a:r>
            <a:endParaRPr sz="1050"/>
          </a:p>
        </p:txBody>
      </p:sp>
      <p:sp>
        <p:nvSpPr>
          <p:cNvPr id="23" name="STC-17-atlas-rule-0">
            <a:extLst xmlns:a="http://schemas.openxmlformats.org/drawingml/2006/main">
              <a:ext uri="{FF2B5EF4-FFF2-40B4-BE49-F238E27FC236}">
                <a16:creationId xmlns:a16="http://schemas.microsoft.com/office/drawing/2014/main" id="{740662E4-4426-481A-AD86-7B8414E58A82}"/>
              </a:ext>
            </a:extLst>
          </p:cNvPr>
          <p:cNvSpPr>
            <a:spLocks xmlns:a="http://schemas.openxmlformats.org/drawingml/2006/main" noGrp="1"/>
          </p:cNvSpPr>
          <p:nvPr/>
        </p:nvSpPr>
        <p:spPr>
          <a:xfrm xmlns:a="http://schemas.openxmlformats.org/drawingml/2006/main">
            <a:off x="8284464" y="1819656"/>
            <a:ext cx="502920" cy="0"/>
          </a:xfrm>
          <a:prstGeom xmlns:a="http://schemas.openxmlformats.org/drawingml/2006/main" prst="line">
            <a:avLst/>
          </a:prstGeom>
          <a:noFill xmlns:a="http://schemas.openxmlformats.org/drawingml/2006/main"/>
          <a:ln xmlns:a="http://schemas.openxmlformats.org/drawingml/2006/main" w="38100">
            <a:solidFill>
              <a:srgbClr val="9A442D"/>
            </a:solidFill>
            <a:prstDash val="solid"/>
            <a:tailEnd type="none"/>
          </a:ln>
        </p:spPr>
      </p:sp>
      <p:sp>
        <p:nvSpPr>
          <p:cNvPr id="24" name="STC-17-atlas-body-0">
            <a:extLst xmlns:a="http://schemas.openxmlformats.org/drawingml/2006/main">
              <a:ext uri="{FF2B5EF4-FFF2-40B4-BE49-F238E27FC236}">
                <a16:creationId xmlns:a16="http://schemas.microsoft.com/office/drawing/2014/main" id="{1B446C46-BC66-41F9-B60B-A7B63A5C03DC}"/>
              </a:ext>
            </a:extLst>
          </p:cNvPr>
          <p:cNvSpPr>
            <a:spLocks xmlns:a="http://schemas.openxmlformats.org/drawingml/2006/main" noGrp="1"/>
          </p:cNvSpPr>
          <p:nvPr/>
        </p:nvSpPr>
        <p:spPr>
          <a:xfrm xmlns:a="http://schemas.openxmlformats.org/drawingml/2006/main">
            <a:off x="8979408" y="1682496"/>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세션당 GB. 토큰마다 RMW라 HBM 밖에 못 둔다</a:t>
            </a:r>
            <a:endParaRPr sz="1550"/>
          </a:p>
        </p:txBody>
      </p:sp>
      <p:sp>
        <p:nvSpPr>
          <p:cNvPr id="25" name="STC-17-atlas-label-1">
            <a:extLst xmlns:a="http://schemas.openxmlformats.org/drawingml/2006/main">
              <a:ext uri="{FF2B5EF4-FFF2-40B4-BE49-F238E27FC236}">
                <a16:creationId xmlns:a16="http://schemas.microsoft.com/office/drawing/2014/main" id="{A1AD9682-CB19-4CC3-B24A-465331B8B9E9}"/>
              </a:ext>
            </a:extLst>
          </p:cNvPr>
          <p:cNvSpPr>
            <a:spLocks xmlns:a="http://schemas.openxmlformats.org/drawingml/2006/main" noGrp="1"/>
          </p:cNvSpPr>
          <p:nvPr/>
        </p:nvSpPr>
        <p:spPr>
          <a:xfrm xmlns:a="http://schemas.openxmlformats.org/drawingml/2006/main">
            <a:off x="6473952" y="2496312"/>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Θ = 웜</a:t>
            </a:r>
            <a:endParaRPr sz="1050"/>
          </a:p>
        </p:txBody>
      </p:sp>
      <p:sp>
        <p:nvSpPr>
          <p:cNvPr id="26" name="STC-17-atlas-rule-1">
            <a:extLst xmlns:a="http://schemas.openxmlformats.org/drawingml/2006/main">
              <a:ext uri="{FF2B5EF4-FFF2-40B4-BE49-F238E27FC236}">
                <a16:creationId xmlns:a16="http://schemas.microsoft.com/office/drawing/2014/main" id="{9C753F1A-0E9B-4F34-8439-061056C7176A}"/>
              </a:ext>
            </a:extLst>
          </p:cNvPr>
          <p:cNvSpPr>
            <a:spLocks xmlns:a="http://schemas.openxmlformats.org/drawingml/2006/main" noGrp="1"/>
          </p:cNvSpPr>
          <p:nvPr/>
        </p:nvSpPr>
        <p:spPr>
          <a:xfrm xmlns:a="http://schemas.openxmlformats.org/drawingml/2006/main">
            <a:off x="8284464" y="2606040"/>
            <a:ext cx="502920" cy="0"/>
          </a:xfrm>
          <a:prstGeom xmlns:a="http://schemas.openxmlformats.org/drawingml/2006/main" prst="line">
            <a:avLst/>
          </a:prstGeom>
          <a:noFill xmlns:a="http://schemas.openxmlformats.org/drawingml/2006/main"/>
          <a:ln xmlns:a="http://schemas.openxmlformats.org/drawingml/2006/main" w="38100">
            <a:solidFill>
              <a:srgbClr val="244E8A"/>
            </a:solidFill>
            <a:prstDash val="solid"/>
            <a:tailEnd type="none"/>
          </a:ln>
        </p:spPr>
      </p:sp>
      <p:sp>
        <p:nvSpPr>
          <p:cNvPr id="27" name="STC-17-atlas-body-1">
            <a:extLst xmlns:a="http://schemas.openxmlformats.org/drawingml/2006/main">
              <a:ext uri="{FF2B5EF4-FFF2-40B4-BE49-F238E27FC236}">
                <a16:creationId xmlns:a16="http://schemas.microsoft.com/office/drawing/2014/main" id="{1A33A49B-1D5D-4C8F-8664-0C37F5C18102}"/>
              </a:ext>
            </a:extLst>
          </p:cNvPr>
          <p:cNvSpPr>
            <a:spLocks xmlns:a="http://schemas.openxmlformats.org/drawingml/2006/main" noGrp="1"/>
          </p:cNvSpPr>
          <p:nvPr/>
        </p:nvSpPr>
        <p:spPr>
          <a:xfrm xmlns:a="http://schemas.openxmlformats.org/drawingml/2006/main">
            <a:off x="8979408" y="2468880"/>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사용자당 MB. 요청당 한 번 스테이징</a:t>
            </a:r>
            <a:endParaRPr sz="1550"/>
          </a:p>
        </p:txBody>
      </p:sp>
      <p:sp>
        <p:nvSpPr>
          <p:cNvPr id="28" name="STC-17-atlas-label-2">
            <a:extLst xmlns:a="http://schemas.openxmlformats.org/drawingml/2006/main">
              <a:ext uri="{FF2B5EF4-FFF2-40B4-BE49-F238E27FC236}">
                <a16:creationId xmlns:a16="http://schemas.microsoft.com/office/drawing/2014/main" id="{4B5B8C07-BC12-46CD-813B-3AF219E12202}"/>
              </a:ext>
            </a:extLst>
          </p:cNvPr>
          <p:cNvSpPr>
            <a:spLocks xmlns:a="http://schemas.openxmlformats.org/drawingml/2006/main" noGrp="1"/>
          </p:cNvSpPr>
          <p:nvPr/>
        </p:nvSpPr>
        <p:spPr>
          <a:xfrm xmlns:a="http://schemas.openxmlformats.org/drawingml/2006/main">
            <a:off x="6473952" y="3282696"/>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E = 콜드</a:t>
            </a:r>
            <a:endParaRPr sz="1050"/>
          </a:p>
        </p:txBody>
      </p:sp>
      <p:sp>
        <p:nvSpPr>
          <p:cNvPr id="29" name="STC-17-atlas-rule-2">
            <a:extLst xmlns:a="http://schemas.openxmlformats.org/drawingml/2006/main">
              <a:ext uri="{FF2B5EF4-FFF2-40B4-BE49-F238E27FC236}">
                <a16:creationId xmlns:a16="http://schemas.microsoft.com/office/drawing/2014/main" id="{5B2A6C3E-8059-4CE9-9C3B-70976103A271}"/>
              </a:ext>
            </a:extLst>
          </p:cNvPr>
          <p:cNvSpPr>
            <a:spLocks xmlns:a="http://schemas.openxmlformats.org/drawingml/2006/main" noGrp="1"/>
          </p:cNvSpPr>
          <p:nvPr/>
        </p:nvSpPr>
        <p:spPr>
          <a:xfrm xmlns:a="http://schemas.openxmlformats.org/drawingml/2006/main">
            <a:off x="8284464" y="3392424"/>
            <a:ext cx="502920" cy="0"/>
          </a:xfrm>
          <a:prstGeom xmlns:a="http://schemas.openxmlformats.org/drawingml/2006/main" prst="line">
            <a:avLst/>
          </a:prstGeom>
          <a:noFill xmlns:a="http://schemas.openxmlformats.org/drawingml/2006/main"/>
          <a:ln xmlns:a="http://schemas.openxmlformats.org/drawingml/2006/main" w="38100">
            <a:solidFill>
              <a:srgbClr val="2F6B63"/>
            </a:solidFill>
            <a:prstDash val="solid"/>
            <a:tailEnd type="none"/>
          </a:ln>
        </p:spPr>
      </p:sp>
      <p:sp>
        <p:nvSpPr>
          <p:cNvPr id="30" name="STC-17-atlas-body-2">
            <a:extLst xmlns:a="http://schemas.openxmlformats.org/drawingml/2006/main">
              <a:ext uri="{FF2B5EF4-FFF2-40B4-BE49-F238E27FC236}">
                <a16:creationId xmlns:a16="http://schemas.microsoft.com/office/drawing/2014/main" id="{ED8666E7-DF2A-4D85-9EB9-7BFAEFE25FBB}"/>
              </a:ext>
            </a:extLst>
          </p:cNvPr>
          <p:cNvSpPr>
            <a:spLocks xmlns:a="http://schemas.openxmlformats.org/drawingml/2006/main" noGrp="1"/>
          </p:cNvSpPr>
          <p:nvPr/>
        </p:nvSpPr>
        <p:spPr>
          <a:xfrm xmlns:a="http://schemas.openxmlformats.org/drawingml/2006/main">
            <a:off x="8979408" y="3255264"/>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사용자당 KB. 질의당 한 번 읽힌다</a:t>
            </a:r>
            <a:endParaRPr sz="1550"/>
          </a:p>
        </p:txBody>
      </p:sp>
      <p:sp>
        <p:nvSpPr>
          <p:cNvPr id="31" name="STC-17-atlas-label-3">
            <a:extLst xmlns:a="http://schemas.openxmlformats.org/drawingml/2006/main">
              <a:ext uri="{FF2B5EF4-FFF2-40B4-BE49-F238E27FC236}">
                <a16:creationId xmlns:a16="http://schemas.microsoft.com/office/drawing/2014/main" id="{C22D209C-8F5F-4D75-9BCF-C8C2E6E5DB33}"/>
              </a:ext>
            </a:extLst>
          </p:cNvPr>
          <p:cNvSpPr>
            <a:spLocks xmlns:a="http://schemas.openxmlformats.org/drawingml/2006/main" noGrp="1"/>
          </p:cNvSpPr>
          <p:nvPr/>
        </p:nvSpPr>
        <p:spPr>
          <a:xfrm xmlns:a="http://schemas.openxmlformats.org/drawingml/2006/main">
            <a:off x="6473952" y="4069080"/>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조건</a:t>
            </a:r>
            <a:endParaRPr sz="1050"/>
          </a:p>
        </p:txBody>
      </p:sp>
      <p:sp>
        <p:nvSpPr>
          <p:cNvPr id="32" name="STC-17-atlas-rule-3">
            <a:extLst xmlns:a="http://schemas.openxmlformats.org/drawingml/2006/main">
              <a:ext uri="{FF2B5EF4-FFF2-40B4-BE49-F238E27FC236}">
                <a16:creationId xmlns:a16="http://schemas.microsoft.com/office/drawing/2014/main" id="{6413883D-F716-4E60-A3EA-294B9FF31579}"/>
              </a:ext>
            </a:extLst>
          </p:cNvPr>
          <p:cNvSpPr>
            <a:spLocks xmlns:a="http://schemas.openxmlformats.org/drawingml/2006/main" noGrp="1"/>
          </p:cNvSpPr>
          <p:nvPr/>
        </p:nvSpPr>
        <p:spPr>
          <a:xfrm xmlns:a="http://schemas.openxmlformats.org/drawingml/2006/main">
            <a:off x="8284464" y="4178808"/>
            <a:ext cx="502920" cy="0"/>
          </a:xfrm>
          <a:prstGeom xmlns:a="http://schemas.openxmlformats.org/drawingml/2006/main" prst="line">
            <a:avLst/>
          </a:prstGeom>
          <a:noFill xmlns:a="http://schemas.openxmlformats.org/drawingml/2006/main"/>
          <a:ln xmlns:a="http://schemas.openxmlformats.org/drawingml/2006/main" w="38100">
            <a:solidFill>
              <a:srgbClr val="9A442D"/>
            </a:solidFill>
            <a:prstDash val="solid"/>
            <a:tailEnd type="none"/>
          </a:ln>
        </p:spPr>
      </p:sp>
      <p:sp>
        <p:nvSpPr>
          <p:cNvPr id="33" name="STC-17-atlas-body-3">
            <a:extLst xmlns:a="http://schemas.openxmlformats.org/drawingml/2006/main">
              <a:ext uri="{FF2B5EF4-FFF2-40B4-BE49-F238E27FC236}">
                <a16:creationId xmlns:a16="http://schemas.microsoft.com/office/drawing/2014/main" id="{3690E37F-97C1-44E1-9B22-261955C76526}"/>
              </a:ext>
            </a:extLst>
          </p:cNvPr>
          <p:cNvSpPr>
            <a:spLocks xmlns:a="http://schemas.openxmlformats.org/drawingml/2006/main" noGrp="1"/>
          </p:cNvSpPr>
          <p:nvPr/>
        </p:nvSpPr>
        <p:spPr>
          <a:xfrm xmlns:a="http://schemas.openxmlformats.org/drawingml/2006/main">
            <a:off x="8979408" y="4041648"/>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W가 고정 크기를 유지한다는 전제 위에 선다</a:t>
            </a:r>
            <a:endParaRPr sz="1550"/>
          </a:p>
        </p:txBody>
      </p:sp>
      <p:sp>
        <p:nvSpPr>
          <p:cNvPr id="34" name="STC-17-atlas-label-4">
            <a:extLst xmlns:a="http://schemas.openxmlformats.org/drawingml/2006/main">
              <a:ext uri="{FF2B5EF4-FFF2-40B4-BE49-F238E27FC236}">
                <a16:creationId xmlns:a16="http://schemas.microsoft.com/office/drawing/2014/main" id="{4E09BD89-2B39-4380-8908-5D98AB0C13FF}"/>
              </a:ext>
            </a:extLst>
          </p:cNvPr>
          <p:cNvSpPr>
            <a:spLocks xmlns:a="http://schemas.openxmlformats.org/drawingml/2006/main" noGrp="1"/>
          </p:cNvSpPr>
          <p:nvPr/>
        </p:nvSpPr>
        <p:spPr>
          <a:xfrm xmlns:a="http://schemas.openxmlformats.org/drawingml/2006/main">
            <a:off x="6473952" y="4855464"/>
            <a:ext cx="16642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반례</a:t>
            </a:r>
            <a:endParaRPr sz="1050"/>
          </a:p>
        </p:txBody>
      </p:sp>
      <p:sp>
        <p:nvSpPr>
          <p:cNvPr id="35" name="STC-17-atlas-rule-4">
            <a:extLst xmlns:a="http://schemas.openxmlformats.org/drawingml/2006/main">
              <a:ext uri="{FF2B5EF4-FFF2-40B4-BE49-F238E27FC236}">
                <a16:creationId xmlns:a16="http://schemas.microsoft.com/office/drawing/2014/main" id="{6F85C4F8-DEE9-43E4-B953-A1AA93F5F878}"/>
              </a:ext>
            </a:extLst>
          </p:cNvPr>
          <p:cNvSpPr>
            <a:spLocks xmlns:a="http://schemas.openxmlformats.org/drawingml/2006/main" noGrp="1"/>
          </p:cNvSpPr>
          <p:nvPr/>
        </p:nvSpPr>
        <p:spPr>
          <a:xfrm xmlns:a="http://schemas.openxmlformats.org/drawingml/2006/main">
            <a:off x="8284464" y="4965192"/>
            <a:ext cx="502920" cy="0"/>
          </a:xfrm>
          <a:prstGeom xmlns:a="http://schemas.openxmlformats.org/drawingml/2006/main" prst="line">
            <a:avLst/>
          </a:prstGeom>
          <a:noFill xmlns:a="http://schemas.openxmlformats.org/drawingml/2006/main"/>
          <a:ln xmlns:a="http://schemas.openxmlformats.org/drawingml/2006/main" w="38100">
            <a:solidFill>
              <a:srgbClr val="59616A"/>
            </a:solidFill>
            <a:prstDash val="solid"/>
            <a:tailEnd type="none"/>
          </a:ln>
        </p:spPr>
      </p:sp>
      <p:sp>
        <p:nvSpPr>
          <p:cNvPr id="36" name="STC-17-atlas-body-4">
            <a:extLst xmlns:a="http://schemas.openxmlformats.org/drawingml/2006/main">
              <a:ext uri="{FF2B5EF4-FFF2-40B4-BE49-F238E27FC236}">
                <a16:creationId xmlns:a16="http://schemas.microsoft.com/office/drawing/2014/main" id="{E742DFC6-454B-4514-81D0-A19D043EF25B}"/>
              </a:ext>
            </a:extLst>
          </p:cNvPr>
          <p:cNvSpPr>
            <a:spLocks xmlns:a="http://schemas.openxmlformats.org/drawingml/2006/main" noGrp="1"/>
          </p:cNvSpPr>
          <p:nvPr/>
        </p:nvSpPr>
        <p:spPr>
          <a:xfrm xmlns:a="http://schemas.openxmlformats.org/drawingml/2006/main">
            <a:off x="8979408" y="4828032"/>
            <a:ext cx="21671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50" b="1">
                <a:solidFill>
                  <a:srgbClr val="17191C"/>
                </a:solidFill>
                <a:latin typeface="Noto Sans CJK KR"/>
                <a:ea typeface="Noto Sans CJK KR"/>
                <a:cs typeface="Noto Sans CJK KR"/>
              </a:rPr>
              <a:t>recall을 얻으려면 상태가 문맥에 선형으로 큰다</a:t>
            </a:r>
            <a:endParaRPr sz="1550"/>
          </a:p>
        </p:txBody>
      </p:sp>
      <p:sp>
        <p:nvSpPr>
          <p:cNvPr id="37" name="STC-17-scale-nonresult">
            <a:extLst xmlns:a="http://schemas.openxmlformats.org/drawingml/2006/main">
              <a:ext uri="{FF2B5EF4-FFF2-40B4-BE49-F238E27FC236}">
                <a16:creationId xmlns:a16="http://schemas.microsoft.com/office/drawing/2014/main" id="{0DBC12A9-4F5B-4978-9410-2294970708B3}"/>
              </a:ext>
            </a:extLst>
          </p:cNvPr>
          <p:cNvSpPr>
            <a:spLocks xmlns:a="http://schemas.openxmlformats.org/drawingml/2006/main" noGrp="1"/>
          </p:cNvSpPr>
          <p:nvPr/>
        </p:nvSpPr>
        <p:spPr>
          <a:xfrm xmlns:a="http://schemas.openxmlformats.org/drawingml/2006/main">
            <a:off x="8183880" y="5715000"/>
            <a:ext cx="2971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000" b="1">
                <a:solidFill>
                  <a:srgbClr val="9A442D"/>
                </a:solidFill>
                <a:latin typeface="Noto Sans Mono CJK KR"/>
                <a:ea typeface="Noto Sans Mono CJK KR"/>
                <a:cs typeface="Noto Sans Mono CJK KR"/>
              </a:rPr>
              <a:t>배치를 정하는 것은 알고리즘이 아니라 세 성장 지수가 서로 다른 변수라는 구조적 사실이다</a:t>
            </a:r>
            <a:endParaRPr sz="1000"/>
          </a:p>
        </p:txBody>
      </p:sp>
    </p:spTree>
    <p:extLst>
      <p:ext uri="{BB962C8B-B14F-4D97-AF65-F5344CB8AC3E}">
        <p14:creationId xmlns:p14="http://schemas.microsoft.com/office/powerpoint/2010/main" val="814754748"/>
      </p:ext>
    </p:extLst>
  </p:cSld>
</p:sld>
</file>

<file path=ppt/slides/slide101.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4-section">
            <a:extLst xmlns:a="http://schemas.openxmlformats.org/drawingml/2006/main">
              <a:ext uri="{FF2B5EF4-FFF2-40B4-BE49-F238E27FC236}">
                <a16:creationId xmlns:a16="http://schemas.microsoft.com/office/drawing/2014/main" id="{7616A92F-78D4-4389-9E54-208FF8DEBDB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VERDICT</a:t>
            </a:r>
            <a:endParaRPr sz="950"/>
          </a:p>
        </p:txBody>
      </p:sp>
      <p:sp>
        <p:nvSpPr>
          <p:cNvPr id="3" name="STC-24-slide-id">
            <a:extLst xmlns:a="http://schemas.openxmlformats.org/drawingml/2006/main">
              <a:ext uri="{FF2B5EF4-FFF2-40B4-BE49-F238E27FC236}">
                <a16:creationId xmlns:a16="http://schemas.microsoft.com/office/drawing/2014/main" id="{28DDB8DD-ED59-4F7A-ABD4-0014B78D57D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STC-101</a:t>
            </a:r>
            <a:endParaRPr sz="950"/>
          </a:p>
        </p:txBody>
      </p:sp>
      <p:sp>
        <p:nvSpPr>
          <p:cNvPr id="4" name="STC-24-headline">
            <a:extLst xmlns:a="http://schemas.openxmlformats.org/drawingml/2006/main">
              <a:ext uri="{FF2B5EF4-FFF2-40B4-BE49-F238E27FC236}">
                <a16:creationId xmlns:a16="http://schemas.microsoft.com/office/drawing/2014/main" id="{E96ED2A6-D5EC-48B5-A06B-512DF4A0B043}"/>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판정 ⑧ — E-경로는 유망하다, 단 비용 방법으로서</a:t>
            </a:r>
            <a:endParaRPr sz="3000"/>
          </a:p>
        </p:txBody>
      </p:sp>
      <p:sp>
        <p:nvSpPr>
          <p:cNvPr id="5" name="STC-24-status-label">
            <a:extLst xmlns:a="http://schemas.openxmlformats.org/drawingml/2006/main">
              <a:ext uri="{FF2B5EF4-FFF2-40B4-BE49-F238E27FC236}">
                <a16:creationId xmlns:a16="http://schemas.microsoft.com/office/drawing/2014/main" id="{DCDB577D-97D2-4F2A-B310-ED51E3EE9C5E}"/>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본서 판정</a:t>
            </a:r>
            <a:endParaRPr sz="1000"/>
          </a:p>
        </p:txBody>
      </p:sp>
      <p:sp>
        <p:nvSpPr>
          <p:cNvPr id="6" name="STC-24-status-rule">
            <a:extLst xmlns:a="http://schemas.openxmlformats.org/drawingml/2006/main">
              <a:ext uri="{FF2B5EF4-FFF2-40B4-BE49-F238E27FC236}">
                <a16:creationId xmlns:a16="http://schemas.microsoft.com/office/drawing/2014/main" id="{3683B797-60B5-480C-A301-49F30A60F273}"/>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24-footer-rule">
            <a:extLst xmlns:a="http://schemas.openxmlformats.org/drawingml/2006/main">
              <a:ext uri="{FF2B5EF4-FFF2-40B4-BE49-F238E27FC236}">
                <a16:creationId xmlns:a16="http://schemas.microsoft.com/office/drawing/2014/main" id="{6FA1EBBA-FD67-4ED0-A852-5338FC5CEF6C}"/>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4-source-footer">
            <a:extLst xmlns:a="http://schemas.openxmlformats.org/drawingml/2006/main">
              <a:ext uri="{FF2B5EF4-FFF2-40B4-BE49-F238E27FC236}">
                <a16:creationId xmlns:a16="http://schemas.microsoft.com/office/drawing/2014/main" id="{F4A5A94F-69E7-42F7-82C3-28BCCACC0D45}"/>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ch27 §27.4 판정 2 · §27.3.2</a:t>
            </a:r>
            <a:endParaRPr sz="850"/>
          </a:p>
        </p:txBody>
      </p:sp>
      <p:sp>
        <p:nvSpPr>
          <p:cNvPr id="9" name="STC-24-page-number">
            <a:extLst xmlns:a="http://schemas.openxmlformats.org/drawingml/2006/main">
              <a:ext uri="{FF2B5EF4-FFF2-40B4-BE49-F238E27FC236}">
                <a16:creationId xmlns:a16="http://schemas.microsoft.com/office/drawing/2014/main" id="{0C67EAB4-410A-4712-B528-F9C4ACC0942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101</a:t>
            </a:r>
            <a:endParaRPr sz="850"/>
          </a:p>
        </p:txBody>
      </p:sp>
      <p:sp>
        <p:nvSpPr>
          <p:cNvPr id="11" name="STC-24-redteam-field">
            <a:extLst xmlns:a="http://schemas.openxmlformats.org/drawingml/2006/main">
              <a:ext uri="{FF2B5EF4-FFF2-40B4-BE49-F238E27FC236}">
                <a16:creationId xmlns:a16="http://schemas.microsoft.com/office/drawing/2014/main" id="{FE89799F-71D7-489E-B1FE-5C8044029419}"/>
              </a:ext>
            </a:extLst>
          </p:cNvPr>
          <p:cNvSpPr>
            <a:spLocks xmlns:a="http://schemas.openxmlformats.org/drawingml/2006/main" noGrp="1"/>
          </p:cNvSpPr>
          <p:nvPr/>
        </p:nvSpPr>
        <p:spPr>
          <a:xfrm xmlns:a="http://schemas.openxmlformats.org/drawingml/2006/main">
            <a:off x="777240" y="1581912"/>
            <a:ext cx="2852928" cy="4315968"/>
          </a:xfrm>
          <a:prstGeom xmlns:a="http://schemas.openxmlformats.org/drawingml/2006/main" prst="rect">
            <a:avLst/>
          </a:prstGeom>
          <a:solidFill xmlns:a="http://schemas.openxmlformats.org/drawingml/2006/main">
            <a:srgbClr val="9A442D"/>
          </a:solidFill>
          <a:ln xmlns:a="http://schemas.openxmlformats.org/drawingml/2006/main" w="12700">
            <a:solidFill>
              <a:srgbClr val="9A442D"/>
            </a:solidFill>
            <a:prstDash val="solid"/>
          </a:ln>
        </p:spPr>
      </p:sp>
      <p:sp>
        <p:nvSpPr>
          <p:cNvPr id="12" name="STC-24-redteam-31">
            <a:extLst xmlns:a="http://schemas.openxmlformats.org/drawingml/2006/main">
              <a:ext uri="{FF2B5EF4-FFF2-40B4-BE49-F238E27FC236}">
                <a16:creationId xmlns:a16="http://schemas.microsoft.com/office/drawing/2014/main" id="{76C36925-BB6F-431A-99F4-812FC8CEE5F1}"/>
              </a:ext>
            </a:extLst>
          </p:cNvPr>
          <p:cNvSpPr>
            <a:spLocks xmlns:a="http://schemas.openxmlformats.org/drawingml/2006/main" noGrp="1"/>
          </p:cNvSpPr>
          <p:nvPr/>
        </p:nvSpPr>
        <p:spPr>
          <a:xfrm xmlns:a="http://schemas.openxmlformats.org/drawingml/2006/main">
            <a:off x="1097280" y="1901952"/>
            <a:ext cx="2212848"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5200" b="1">
                <a:solidFill>
                  <a:srgbClr val="FFFFFF"/>
                </a:solidFill>
                <a:latin typeface="Noto Serif CJK KR"/>
                <a:ea typeface="Noto Serif CJK KR"/>
                <a:cs typeface="Noto Serif CJK KR"/>
              </a:rPr>
              <a:t>05</a:t>
            </a:r>
            <a:endParaRPr sz="5200"/>
          </a:p>
        </p:txBody>
      </p:sp>
      <p:sp>
        <p:nvSpPr>
          <p:cNvPr id="13" name="STC-24-redteam-findings">
            <a:extLst xmlns:a="http://schemas.openxmlformats.org/drawingml/2006/main">
              <a:ext uri="{FF2B5EF4-FFF2-40B4-BE49-F238E27FC236}">
                <a16:creationId xmlns:a16="http://schemas.microsoft.com/office/drawing/2014/main" id="{D5F13EAE-2C00-4FDE-BBDA-A4F17E21B35E}"/>
              </a:ext>
            </a:extLst>
          </p:cNvPr>
          <p:cNvSpPr>
            <a:spLocks xmlns:a="http://schemas.openxmlformats.org/drawingml/2006/main" noGrp="1"/>
          </p:cNvSpPr>
          <p:nvPr/>
        </p:nvSpPr>
        <p:spPr>
          <a:xfrm xmlns:a="http://schemas.openxmlformats.org/drawingml/2006/main">
            <a:off x="1097280" y="2816352"/>
            <a:ext cx="2212848"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000" b="1">
                <a:solidFill>
                  <a:srgbClr val="FFFFFF"/>
                </a:solidFill>
                <a:latin typeface="Noto Sans CJK KR"/>
                <a:ea typeface="Noto Sans CJK KR"/>
                <a:cs typeface="Noto Sans CJK KR"/>
              </a:rPr>
              <a:t>본서</a:t>
            </a:r>
            <a:endParaRPr sz="2000"/>
          </a:p>
          <a:p xmlns:a="http://schemas.openxmlformats.org/drawingml/2006/main">
            <a:pPr marL="0" indent="0" algn="ctr">
              <a:buNone/>
            </a:pPr>
            <a:r>
              <a:rPr sz="2000" b="1">
                <a:solidFill>
                  <a:srgbClr val="FFFFFF"/>
                </a:solidFill>
                <a:latin typeface="Noto Sans CJK KR"/>
                <a:ea typeface="Noto Sans CJK KR"/>
                <a:cs typeface="Noto Sans CJK KR"/>
              </a:rPr>
              <a:t>판정 FINDINGS</a:t>
            </a:r>
            <a:endParaRPr sz="2000"/>
          </a:p>
        </p:txBody>
      </p:sp>
      <p:sp>
        <p:nvSpPr>
          <p:cNvPr id="14" name="STC-24-redteam-rule">
            <a:extLst xmlns:a="http://schemas.openxmlformats.org/drawingml/2006/main">
              <a:ext uri="{FF2B5EF4-FFF2-40B4-BE49-F238E27FC236}">
                <a16:creationId xmlns:a16="http://schemas.microsoft.com/office/drawing/2014/main" id="{193B6418-9D2D-496E-BF27-2DF8AE1D1CED}"/>
              </a:ext>
            </a:extLst>
          </p:cNvPr>
          <p:cNvSpPr>
            <a:spLocks xmlns:a="http://schemas.openxmlformats.org/drawingml/2006/main" noGrp="1"/>
          </p:cNvSpPr>
          <p:nvPr/>
        </p:nvSpPr>
        <p:spPr>
          <a:xfrm xmlns:a="http://schemas.openxmlformats.org/drawingml/2006/main">
            <a:off x="1188720" y="3730752"/>
            <a:ext cx="2029968" cy="0"/>
          </a:xfrm>
          <a:prstGeom xmlns:a="http://schemas.openxmlformats.org/drawingml/2006/main" prst="line">
            <a:avLst/>
          </a:prstGeom>
          <a:noFill xmlns:a="http://schemas.openxmlformats.org/drawingml/2006/main"/>
          <a:ln xmlns:a="http://schemas.openxmlformats.org/drawingml/2006/main" w="12700">
            <a:solidFill>
              <a:srgbClr val="FFFFFF"/>
            </a:solidFill>
            <a:prstDash val="solid"/>
            <a:tailEnd type="none"/>
          </a:ln>
        </p:spPr>
      </p:sp>
      <p:sp>
        <p:nvSpPr>
          <p:cNvPr id="15" name="STC-24-redteam-domains">
            <a:extLst xmlns:a="http://schemas.openxmlformats.org/drawingml/2006/main">
              <a:ext uri="{FF2B5EF4-FFF2-40B4-BE49-F238E27FC236}">
                <a16:creationId xmlns:a16="http://schemas.microsoft.com/office/drawing/2014/main" id="{94EAAA44-BDF2-4DC5-83AA-ED7CFE049D6C}"/>
              </a:ext>
            </a:extLst>
          </p:cNvPr>
          <p:cNvSpPr>
            <a:spLocks xmlns:a="http://schemas.openxmlformats.org/drawingml/2006/main" noGrp="1"/>
          </p:cNvSpPr>
          <p:nvPr/>
        </p:nvSpPr>
        <p:spPr>
          <a:xfrm xmlns:a="http://schemas.openxmlformats.org/drawingml/2006/main">
            <a:off x="1188720" y="4005072"/>
            <a:ext cx="2029968"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a:solidFill>
                  <a:srgbClr val="FFFFFF"/>
                </a:solidFill>
                <a:latin typeface="Noto Sans Mono CJK KR"/>
                <a:ea typeface="Noto Sans Mono CJK KR"/>
                <a:cs typeface="Noto Sans Mono CJK KR"/>
              </a:rPr>
              <a:t>품질 축</a:t>
            </a:r>
            <a:endParaRPr sz="1250"/>
          </a:p>
          <a:p xmlns:a="http://schemas.openxmlformats.org/drawingml/2006/main">
            <a:pPr marL="0" indent="0" algn="ctr">
              <a:buNone/>
            </a:pPr>
            <a:r>
              <a:rPr sz="1250">
                <a:solidFill>
                  <a:srgbClr val="FFFFFF"/>
                </a:solidFill>
                <a:latin typeface="Noto Sans Mono CJK KR"/>
                <a:ea typeface="Noto Sans Mono CJK KR"/>
                <a:cs typeface="Noto Sans Mono CJK KR"/>
              </a:rPr>
              <a:t>비용</a:t>
            </a:r>
            <a:endParaRPr sz="1250"/>
          </a:p>
          <a:p xmlns:a="http://schemas.openxmlformats.org/drawingml/2006/main">
            <a:pPr marL="0" indent="0" algn="ctr">
              <a:buNone/>
            </a:pPr>
            <a:r>
              <a:rPr sz="1250">
                <a:solidFill>
                  <a:srgbClr val="FFFFFF"/>
                </a:solidFill>
                <a:latin typeface="Noto Sans Mono CJK KR"/>
                <a:ea typeface="Noto Sans Mono CJK KR"/>
                <a:cs typeface="Noto Sans Mono CJK KR"/>
              </a:rPr>
              <a:t>방향</a:t>
            </a:r>
            <a:endParaRPr sz="1250"/>
          </a:p>
          <a:p xmlns:a="http://schemas.openxmlformats.org/drawingml/2006/main">
            <a:pPr marL="0" indent="0" algn="ctr">
              <a:buNone/>
            </a:pPr>
            <a:r>
              <a:rPr sz="1250">
                <a:solidFill>
                  <a:srgbClr val="FFFFFF"/>
                </a:solidFill>
                <a:latin typeface="Noto Sans Mono CJK KR"/>
                <a:ea typeface="Noto Sans Mono CJK KR"/>
                <a:cs typeface="Noto Sans Mono CJK KR"/>
              </a:rPr>
              <a:t>비용 크기 총비용</a:t>
            </a:r>
            <a:endParaRPr sz="1250"/>
          </a:p>
        </p:txBody>
      </p:sp>
      <p:sp>
        <p:nvSpPr>
          <p:cNvPr id="16" name="STC-24-redteam-condition-0">
            <a:extLst xmlns:a="http://schemas.openxmlformats.org/drawingml/2006/main">
              <a:ext uri="{FF2B5EF4-FFF2-40B4-BE49-F238E27FC236}">
                <a16:creationId xmlns:a16="http://schemas.microsoft.com/office/drawing/2014/main" id="{49FB02AA-6A7B-4109-B1CE-AAFDD4B95126}"/>
              </a:ext>
            </a:extLst>
          </p:cNvPr>
          <p:cNvSpPr>
            <a:spLocks xmlns:a="http://schemas.openxmlformats.org/drawingml/2006/main" noGrp="1"/>
          </p:cNvSpPr>
          <p:nvPr/>
        </p:nvSpPr>
        <p:spPr>
          <a:xfrm xmlns:a="http://schemas.openxmlformats.org/drawingml/2006/main">
            <a:off x="4096512" y="1636776"/>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품질 축</a:t>
            </a:r>
            <a:endParaRPr sz="1050"/>
          </a:p>
        </p:txBody>
      </p:sp>
      <p:sp>
        <p:nvSpPr>
          <p:cNvPr id="17" name="STC-24-redteam-arrow-0">
            <a:extLst xmlns:a="http://schemas.openxmlformats.org/drawingml/2006/main">
              <a:ext uri="{FF2B5EF4-FFF2-40B4-BE49-F238E27FC236}">
                <a16:creationId xmlns:a16="http://schemas.microsoft.com/office/drawing/2014/main" id="{ECFD658B-F414-4945-8A22-4E8FA91012AB}"/>
              </a:ext>
            </a:extLst>
          </p:cNvPr>
          <p:cNvSpPr>
            <a:spLocks xmlns:a="http://schemas.openxmlformats.org/drawingml/2006/main" noGrp="1"/>
          </p:cNvSpPr>
          <p:nvPr/>
        </p:nvSpPr>
        <p:spPr>
          <a:xfrm xmlns:a="http://schemas.openxmlformats.org/drawingml/2006/main">
            <a:off x="6547104" y="1746504"/>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18" name="STC-24-redteam-action-0">
            <a:extLst xmlns:a="http://schemas.openxmlformats.org/drawingml/2006/main">
              <a:ext uri="{FF2B5EF4-FFF2-40B4-BE49-F238E27FC236}">
                <a16:creationId xmlns:a16="http://schemas.microsoft.com/office/drawing/2014/main" id="{25845292-03ED-4596-A305-80A67767FF5E}"/>
              </a:ext>
            </a:extLst>
          </p:cNvPr>
          <p:cNvSpPr>
            <a:spLocks xmlns:a="http://schemas.openxmlformats.org/drawingml/2006/main" noGrp="1"/>
          </p:cNvSpPr>
          <p:nvPr/>
        </p:nvSpPr>
        <p:spPr>
          <a:xfrm xmlns:a="http://schemas.openxmlformats.org/drawingml/2006/main">
            <a:off x="7315200" y="1600200"/>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네 시스템에서 같은 방향 — 기억 없음이 이긴다</a:t>
            </a:r>
            <a:endParaRPr sz="1700"/>
          </a:p>
        </p:txBody>
      </p:sp>
      <p:sp>
        <p:nvSpPr>
          <p:cNvPr id="19" name="STC-24-redteam-condition-1">
            <a:extLst xmlns:a="http://schemas.openxmlformats.org/drawingml/2006/main">
              <a:ext uri="{FF2B5EF4-FFF2-40B4-BE49-F238E27FC236}">
                <a16:creationId xmlns:a16="http://schemas.microsoft.com/office/drawing/2014/main" id="{C8B7593A-7FC2-429B-B521-B510492237D9}"/>
              </a:ext>
            </a:extLst>
          </p:cNvPr>
          <p:cNvSpPr>
            <a:spLocks xmlns:a="http://schemas.openxmlformats.org/drawingml/2006/main" noGrp="1"/>
          </p:cNvSpPr>
          <p:nvPr/>
        </p:nvSpPr>
        <p:spPr>
          <a:xfrm xmlns:a="http://schemas.openxmlformats.org/drawingml/2006/main">
            <a:off x="4096512" y="2468880"/>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비용 방향</a:t>
            </a:r>
            <a:endParaRPr sz="1050"/>
          </a:p>
        </p:txBody>
      </p:sp>
      <p:sp>
        <p:nvSpPr>
          <p:cNvPr id="20" name="STC-24-redteam-arrow-1">
            <a:extLst xmlns:a="http://schemas.openxmlformats.org/drawingml/2006/main">
              <a:ext uri="{FF2B5EF4-FFF2-40B4-BE49-F238E27FC236}">
                <a16:creationId xmlns:a16="http://schemas.microsoft.com/office/drawing/2014/main" id="{F092DC91-30E1-437A-B05C-4E92179650B8}"/>
              </a:ext>
            </a:extLst>
          </p:cNvPr>
          <p:cNvSpPr>
            <a:spLocks xmlns:a="http://schemas.openxmlformats.org/drawingml/2006/main" noGrp="1"/>
          </p:cNvSpPr>
          <p:nvPr/>
        </p:nvSpPr>
        <p:spPr>
          <a:xfrm xmlns:a="http://schemas.openxmlformats.org/drawingml/2006/main">
            <a:off x="6547104" y="2578608"/>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21" name="STC-24-redteam-action-1">
            <a:extLst xmlns:a="http://schemas.openxmlformats.org/drawingml/2006/main">
              <a:ext uri="{FF2B5EF4-FFF2-40B4-BE49-F238E27FC236}">
                <a16:creationId xmlns:a16="http://schemas.microsoft.com/office/drawing/2014/main" id="{AAB4C558-8F92-4BB0-B8E0-D28983C0BA46}"/>
              </a:ext>
            </a:extLst>
          </p:cNvPr>
          <p:cNvSpPr>
            <a:spLocks xmlns:a="http://schemas.openxmlformats.org/drawingml/2006/main" noGrp="1"/>
          </p:cNvSpPr>
          <p:nvPr/>
        </p:nvSpPr>
        <p:spPr>
          <a:xfrm xmlns:a="http://schemas.openxmlformats.org/drawingml/2006/main">
            <a:off x="7315200" y="2432304"/>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구조적으로 참. 프롬프트가 짧아지면 prefill이 준다</a:t>
            </a:r>
            <a:endParaRPr sz="1700"/>
          </a:p>
        </p:txBody>
      </p:sp>
      <p:sp>
        <p:nvSpPr>
          <p:cNvPr id="22" name="STC-24-redteam-condition-2">
            <a:extLst xmlns:a="http://schemas.openxmlformats.org/drawingml/2006/main">
              <a:ext uri="{FF2B5EF4-FFF2-40B4-BE49-F238E27FC236}">
                <a16:creationId xmlns:a16="http://schemas.microsoft.com/office/drawing/2014/main" id="{49D0C450-50F7-478F-8F31-2E93A9AA5685}"/>
              </a:ext>
            </a:extLst>
          </p:cNvPr>
          <p:cNvSpPr>
            <a:spLocks xmlns:a="http://schemas.openxmlformats.org/drawingml/2006/main" noGrp="1"/>
          </p:cNvSpPr>
          <p:nvPr/>
        </p:nvSpPr>
        <p:spPr>
          <a:xfrm xmlns:a="http://schemas.openxmlformats.org/drawingml/2006/main">
            <a:off x="4096512" y="3300984"/>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비용 크기</a:t>
            </a:r>
            <a:endParaRPr sz="1050"/>
          </a:p>
        </p:txBody>
      </p:sp>
      <p:sp>
        <p:nvSpPr>
          <p:cNvPr id="23" name="STC-24-redteam-arrow-2">
            <a:extLst xmlns:a="http://schemas.openxmlformats.org/drawingml/2006/main">
              <a:ext uri="{FF2B5EF4-FFF2-40B4-BE49-F238E27FC236}">
                <a16:creationId xmlns:a16="http://schemas.microsoft.com/office/drawing/2014/main" id="{F1BFD9F8-5311-48DD-82AC-FC91409C398F}"/>
              </a:ext>
            </a:extLst>
          </p:cNvPr>
          <p:cNvSpPr>
            <a:spLocks xmlns:a="http://schemas.openxmlformats.org/drawingml/2006/main" noGrp="1"/>
          </p:cNvSpPr>
          <p:nvPr/>
        </p:nvSpPr>
        <p:spPr>
          <a:xfrm xmlns:a="http://schemas.openxmlformats.org/drawingml/2006/main">
            <a:off x="6547104" y="3410712"/>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24" name="STC-24-redteam-action-2">
            <a:extLst xmlns:a="http://schemas.openxmlformats.org/drawingml/2006/main">
              <a:ext uri="{FF2B5EF4-FFF2-40B4-BE49-F238E27FC236}">
                <a16:creationId xmlns:a16="http://schemas.microsoft.com/office/drawing/2014/main" id="{53B6400F-21E7-48B9-B878-73AC3E062630}"/>
              </a:ext>
            </a:extLst>
          </p:cNvPr>
          <p:cNvSpPr>
            <a:spLocks xmlns:a="http://schemas.openxmlformats.org/drawingml/2006/main" noGrp="1"/>
          </p:cNvSpPr>
          <p:nvPr/>
        </p:nvSpPr>
        <p:spPr>
          <a:xfrm xmlns:a="http://schemas.openxmlformats.org/drawingml/2006/main">
            <a:off x="7315200" y="3264408"/>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미확정. 상대편에 prefix cache를 켜지 않았다</a:t>
            </a:r>
            <a:endParaRPr sz="1700"/>
          </a:p>
        </p:txBody>
      </p:sp>
      <p:sp>
        <p:nvSpPr>
          <p:cNvPr id="25" name="STC-24-redteam-condition-3">
            <a:extLst xmlns:a="http://schemas.openxmlformats.org/drawingml/2006/main">
              <a:ext uri="{FF2B5EF4-FFF2-40B4-BE49-F238E27FC236}">
                <a16:creationId xmlns:a16="http://schemas.microsoft.com/office/drawing/2014/main" id="{54B2E66F-F1FD-43FB-BE43-6557E3F79FBF}"/>
              </a:ext>
            </a:extLst>
          </p:cNvPr>
          <p:cNvSpPr>
            <a:spLocks xmlns:a="http://schemas.openxmlformats.org/drawingml/2006/main" noGrp="1"/>
          </p:cNvSpPr>
          <p:nvPr/>
        </p:nvSpPr>
        <p:spPr>
          <a:xfrm xmlns:a="http://schemas.openxmlformats.org/drawingml/2006/main">
            <a:off x="4096512" y="4133088"/>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총비용</a:t>
            </a:r>
            <a:endParaRPr sz="1050"/>
          </a:p>
        </p:txBody>
      </p:sp>
      <p:sp>
        <p:nvSpPr>
          <p:cNvPr id="26" name="STC-24-redteam-arrow-3">
            <a:extLst xmlns:a="http://schemas.openxmlformats.org/drawingml/2006/main">
              <a:ext uri="{FF2B5EF4-FFF2-40B4-BE49-F238E27FC236}">
                <a16:creationId xmlns:a16="http://schemas.microsoft.com/office/drawing/2014/main" id="{142A7955-B5F4-4C94-BF7C-59CB9CABC9A9}"/>
              </a:ext>
            </a:extLst>
          </p:cNvPr>
          <p:cNvSpPr>
            <a:spLocks xmlns:a="http://schemas.openxmlformats.org/drawingml/2006/main" noGrp="1"/>
          </p:cNvSpPr>
          <p:nvPr/>
        </p:nvSpPr>
        <p:spPr>
          <a:xfrm xmlns:a="http://schemas.openxmlformats.org/drawingml/2006/main">
            <a:off x="6547104" y="4242816"/>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27" name="STC-24-redteam-action-3">
            <a:extLst xmlns:a="http://schemas.openxmlformats.org/drawingml/2006/main">
              <a:ext uri="{FF2B5EF4-FFF2-40B4-BE49-F238E27FC236}">
                <a16:creationId xmlns:a16="http://schemas.microsoft.com/office/drawing/2014/main" id="{509CB230-3F0C-4279-A9DF-0AED1E3597D6}"/>
              </a:ext>
            </a:extLst>
          </p:cNvPr>
          <p:cNvSpPr>
            <a:spLocks xmlns:a="http://schemas.openxmlformats.org/drawingml/2006/main" noGrp="1"/>
          </p:cNvSpPr>
          <p:nvPr/>
        </p:nvSpPr>
        <p:spPr>
          <a:xfrm xmlns:a="http://schemas.openxmlformats.org/drawingml/2006/main">
            <a:off x="7315200" y="4096512"/>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분자 B_s가 이 경로에서 가장 비어 있는 칸이다</a:t>
            </a:r>
            <a:endParaRPr sz="1700"/>
          </a:p>
        </p:txBody>
      </p:sp>
      <p:sp>
        <p:nvSpPr>
          <p:cNvPr id="28" name="STC-24-redteam-condition-4">
            <a:extLst xmlns:a="http://schemas.openxmlformats.org/drawingml/2006/main">
              <a:ext uri="{FF2B5EF4-FFF2-40B4-BE49-F238E27FC236}">
                <a16:creationId xmlns:a16="http://schemas.microsoft.com/office/drawing/2014/main" id="{446D537E-ADDE-43CB-9B24-A4F46A7882F5}"/>
              </a:ext>
            </a:extLst>
          </p:cNvPr>
          <p:cNvSpPr>
            <a:spLocks xmlns:a="http://schemas.openxmlformats.org/drawingml/2006/main" noGrp="1"/>
          </p:cNvSpPr>
          <p:nvPr/>
        </p:nvSpPr>
        <p:spPr>
          <a:xfrm xmlns:a="http://schemas.openxmlformats.org/drawingml/2006/main">
            <a:off x="4096512" y="4965192"/>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안 쓴 논거</a:t>
            </a:r>
            <a:endParaRPr sz="1050"/>
          </a:p>
        </p:txBody>
      </p:sp>
      <p:sp>
        <p:nvSpPr>
          <p:cNvPr id="29" name="STC-24-redteam-arrow-4">
            <a:extLst xmlns:a="http://schemas.openxmlformats.org/drawingml/2006/main">
              <a:ext uri="{FF2B5EF4-FFF2-40B4-BE49-F238E27FC236}">
                <a16:creationId xmlns:a16="http://schemas.microsoft.com/office/drawing/2014/main" id="{2F284B3B-3811-4BF7-8991-CD6D21C10D0E}"/>
              </a:ext>
            </a:extLst>
          </p:cNvPr>
          <p:cNvSpPr>
            <a:spLocks xmlns:a="http://schemas.openxmlformats.org/drawingml/2006/main" noGrp="1"/>
          </p:cNvSpPr>
          <p:nvPr/>
        </p:nvSpPr>
        <p:spPr>
          <a:xfrm xmlns:a="http://schemas.openxmlformats.org/drawingml/2006/main">
            <a:off x="6547104" y="5074920"/>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30" name="STC-24-redteam-action-4">
            <a:extLst xmlns:a="http://schemas.openxmlformats.org/drawingml/2006/main">
              <a:ext uri="{FF2B5EF4-FFF2-40B4-BE49-F238E27FC236}">
                <a16:creationId xmlns:a16="http://schemas.microsoft.com/office/drawing/2014/main" id="{0C0BE6BA-1227-4317-8CCB-047039F8A580}"/>
              </a:ext>
            </a:extLst>
          </p:cNvPr>
          <p:cNvSpPr>
            <a:spLocks xmlns:a="http://schemas.openxmlformats.org/drawingml/2006/main" noGrp="1"/>
          </p:cNvSpPr>
          <p:nvPr/>
        </p:nvSpPr>
        <p:spPr>
          <a:xfrm xmlns:a="http://schemas.openxmlformats.org/drawingml/2006/main">
            <a:off x="7315200" y="4928616"/>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batching 보존을 주장한 논문이 다섯 중 0편</a:t>
            </a:r>
            <a:endParaRPr sz="1700"/>
          </a:p>
        </p:txBody>
      </p:sp>
      <p:sp>
        <p:nvSpPr>
          <p:cNvPr id="31" name="STC-24-redteam-bottom">
            <a:extLst xmlns:a="http://schemas.openxmlformats.org/drawingml/2006/main">
              <a:ext uri="{FF2B5EF4-FFF2-40B4-BE49-F238E27FC236}">
                <a16:creationId xmlns:a16="http://schemas.microsoft.com/office/drawing/2014/main" id="{3BD5330B-ECE0-40DD-92FE-09B0B3E352BD}"/>
              </a:ext>
            </a:extLst>
          </p:cNvPr>
          <p:cNvSpPr>
            <a:spLocks xmlns:a="http://schemas.openxmlformats.org/drawingml/2006/main" noGrp="1"/>
          </p:cNvSpPr>
          <p:nvPr/>
        </p:nvSpPr>
        <p:spPr>
          <a:xfrm xmlns:a="http://schemas.openxmlformats.org/drawingml/2006/main">
            <a:off x="5074920" y="5596128"/>
            <a:ext cx="532180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b="1">
                <a:solidFill>
                  <a:srgbClr val="2F6B63"/>
                </a:solidFill>
                <a:latin typeface="Noto Sans Mono CJK KR"/>
                <a:ea typeface="Noto Sans Mono CJK KR"/>
                <a:cs typeface="Noto Sans Mono CJK KR"/>
              </a:rPr>
              <a:t>품질 방법으로서는 지지되지 않으며, 그 반증은 이 발표가 아니라 논문들 자신의 표에서 나온다</a:t>
            </a:r>
            <a:endParaRPr sz="1100"/>
          </a:p>
        </p:txBody>
      </p:sp>
    </p:spTree>
    <p:extLst>
      <p:ext uri="{BB962C8B-B14F-4D97-AF65-F5344CB8AC3E}">
        <p14:creationId xmlns:p14="http://schemas.microsoft.com/office/powerpoint/2010/main" val="777900829"/>
      </p:ext>
    </p:extLst>
  </p:cSld>
</p:sld>
</file>

<file path=ppt/slides/slide10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3-section">
            <a:extLst xmlns:a="http://schemas.openxmlformats.org/drawingml/2006/main">
              <a:ext uri="{FF2B5EF4-FFF2-40B4-BE49-F238E27FC236}">
                <a16:creationId xmlns:a16="http://schemas.microsoft.com/office/drawing/2014/main" id="{DEF75E10-FC43-4F90-A29D-73D1CBC1DCC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VERDICT</a:t>
            </a:r>
            <a:endParaRPr sz="950"/>
          </a:p>
        </p:txBody>
      </p:sp>
      <p:sp>
        <p:nvSpPr>
          <p:cNvPr id="3" name="STC-13-slide-id">
            <a:extLst xmlns:a="http://schemas.openxmlformats.org/drawingml/2006/main">
              <a:ext uri="{FF2B5EF4-FFF2-40B4-BE49-F238E27FC236}">
                <a16:creationId xmlns:a16="http://schemas.microsoft.com/office/drawing/2014/main" id="{207357D7-4303-4447-A61C-4C79283F663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STC-102</a:t>
            </a:r>
            <a:endParaRPr sz="950"/>
          </a:p>
        </p:txBody>
      </p:sp>
      <p:sp>
        <p:nvSpPr>
          <p:cNvPr id="4" name="STC-13-headline">
            <a:extLst xmlns:a="http://schemas.openxmlformats.org/drawingml/2006/main">
              <a:ext uri="{FF2B5EF4-FFF2-40B4-BE49-F238E27FC236}">
                <a16:creationId xmlns:a16="http://schemas.microsoft.com/office/drawing/2014/main" id="{8E260E54-4985-4C50-817D-C85BDF65F5D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판정 ⑨ — W-경로는 판정 불가이고, 그 판정 불가가 결과다</a:t>
            </a:r>
            <a:endParaRPr sz="3000"/>
          </a:p>
        </p:txBody>
      </p:sp>
      <p:sp>
        <p:nvSpPr>
          <p:cNvPr id="5" name="STC-13-status-label">
            <a:extLst xmlns:a="http://schemas.openxmlformats.org/drawingml/2006/main">
              <a:ext uri="{FF2B5EF4-FFF2-40B4-BE49-F238E27FC236}">
                <a16:creationId xmlns:a16="http://schemas.microsoft.com/office/drawing/2014/main" id="{76CEFCAB-90F8-4FF1-91A9-495F4B23416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판정 불가</a:t>
            </a:r>
            <a:endParaRPr sz="1000"/>
          </a:p>
        </p:txBody>
      </p:sp>
      <p:sp>
        <p:nvSpPr>
          <p:cNvPr id="6" name="STC-13-status-rule">
            <a:extLst xmlns:a="http://schemas.openxmlformats.org/drawingml/2006/main">
              <a:ext uri="{FF2B5EF4-FFF2-40B4-BE49-F238E27FC236}">
                <a16:creationId xmlns:a16="http://schemas.microsoft.com/office/drawing/2014/main" id="{07360112-59F1-4B26-BA92-7088E3FD40C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13-footer-rule">
            <a:extLst xmlns:a="http://schemas.openxmlformats.org/drawingml/2006/main">
              <a:ext uri="{FF2B5EF4-FFF2-40B4-BE49-F238E27FC236}">
                <a16:creationId xmlns:a16="http://schemas.microsoft.com/office/drawing/2014/main" id="{26DC731C-F3A6-48D1-B411-9B2CD636969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3-source-footer">
            <a:extLst xmlns:a="http://schemas.openxmlformats.org/drawingml/2006/main">
              <a:ext uri="{FF2B5EF4-FFF2-40B4-BE49-F238E27FC236}">
                <a16:creationId xmlns:a16="http://schemas.microsoft.com/office/drawing/2014/main" id="{F8DE0C07-9BB3-4619-B392-5FCFC17ACBE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ch27 §27.4 판정 3</a:t>
            </a:r>
            <a:endParaRPr sz="850"/>
          </a:p>
        </p:txBody>
      </p:sp>
      <p:sp>
        <p:nvSpPr>
          <p:cNvPr id="9" name="STC-13-page-number">
            <a:extLst xmlns:a="http://schemas.openxmlformats.org/drawingml/2006/main">
              <a:ext uri="{FF2B5EF4-FFF2-40B4-BE49-F238E27FC236}">
                <a16:creationId xmlns:a16="http://schemas.microsoft.com/office/drawing/2014/main" id="{77A42865-7B64-4DDF-99E9-C4F94EB652F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102</a:t>
            </a:r>
            <a:endParaRPr sz="850"/>
          </a:p>
        </p:txBody>
      </p:sp>
      <p:sp>
        <p:nvSpPr>
          <p:cNvPr id="11" name="STC-13-data-layer-0">
            <a:extLst xmlns:a="http://schemas.openxmlformats.org/drawingml/2006/main">
              <a:ext uri="{FF2B5EF4-FFF2-40B4-BE49-F238E27FC236}">
                <a16:creationId xmlns:a16="http://schemas.microsoft.com/office/drawing/2014/main" id="{E5BBE619-AB19-42FA-8122-D61948B604E8}"/>
              </a:ext>
            </a:extLst>
          </p:cNvPr>
          <p:cNvSpPr>
            <a:spLocks xmlns:a="http://schemas.openxmlformats.org/drawingml/2006/main" noGrp="1"/>
          </p:cNvSpPr>
          <p:nvPr/>
        </p:nvSpPr>
        <p:spPr>
          <a:xfrm xmlns:a="http://schemas.openxmlformats.org/drawingml/2006/main">
            <a:off x="1618488" y="1664208"/>
            <a:ext cx="8961120" cy="56692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12" name="STC-13-data-label-0">
            <a:extLst xmlns:a="http://schemas.openxmlformats.org/drawingml/2006/main">
              <a:ext uri="{FF2B5EF4-FFF2-40B4-BE49-F238E27FC236}">
                <a16:creationId xmlns:a16="http://schemas.microsoft.com/office/drawing/2014/main" id="{FDF9C9BA-3329-45E9-ABC4-2B36508291DA}"/>
              </a:ext>
            </a:extLst>
          </p:cNvPr>
          <p:cNvSpPr>
            <a:spLocks xmlns:a="http://schemas.openxmlformats.org/drawingml/2006/main" noGrp="1"/>
          </p:cNvSpPr>
          <p:nvPr/>
        </p:nvSpPr>
        <p:spPr>
          <a:xfrm xmlns:a="http://schemas.openxmlformats.org/drawingml/2006/main">
            <a:off x="1783080" y="1828800"/>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FFFFFF"/>
                </a:solidFill>
                <a:latin typeface="Noto Sans Mono CJK KR"/>
                <a:ea typeface="Noto Sans Mono CJK KR"/>
                <a:cs typeface="Noto Sans Mono CJK KR"/>
              </a:rPr>
              <a:t>표본</a:t>
            </a:r>
            <a:endParaRPr sz="1050"/>
          </a:p>
        </p:txBody>
      </p:sp>
      <p:sp>
        <p:nvSpPr>
          <p:cNvPr id="13" name="STC-13-data-body-0">
            <a:extLst xmlns:a="http://schemas.openxmlformats.org/drawingml/2006/main">
              <a:ext uri="{FF2B5EF4-FFF2-40B4-BE49-F238E27FC236}">
                <a16:creationId xmlns:a16="http://schemas.microsoft.com/office/drawing/2014/main" id="{34676F1F-A035-47A9-9C53-7C294D97CEF1}"/>
              </a:ext>
            </a:extLst>
          </p:cNvPr>
          <p:cNvSpPr>
            <a:spLocks xmlns:a="http://schemas.openxmlformats.org/drawingml/2006/main" noGrp="1"/>
          </p:cNvSpPr>
          <p:nvPr/>
        </p:nvSpPr>
        <p:spPr>
          <a:xfrm xmlns:a="http://schemas.openxmlformats.org/drawingml/2006/main">
            <a:off x="3401568" y="1755648"/>
            <a:ext cx="6995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FFFFFF"/>
                </a:solidFill>
                <a:latin typeface="Noto Sans CJK KR"/>
                <a:ea typeface="Noto Sans CJK KR"/>
                <a:cs typeface="Noto Sans CJK KR"/>
              </a:rPr>
              <a:t>A군 논문이 1편이다</a:t>
            </a:r>
            <a:endParaRPr sz="1450"/>
          </a:p>
        </p:txBody>
      </p:sp>
      <p:sp>
        <p:nvSpPr>
          <p:cNvPr id="14" name="STC-13-data-layer-1">
            <a:extLst xmlns:a="http://schemas.openxmlformats.org/drawingml/2006/main">
              <a:ext uri="{FF2B5EF4-FFF2-40B4-BE49-F238E27FC236}">
                <a16:creationId xmlns:a16="http://schemas.microsoft.com/office/drawing/2014/main" id="{2C7AD258-BAEB-4994-96A5-F1AB29FB68DF}"/>
              </a:ext>
            </a:extLst>
          </p:cNvPr>
          <p:cNvSpPr>
            <a:spLocks xmlns:a="http://schemas.openxmlformats.org/drawingml/2006/main" noGrp="1"/>
          </p:cNvSpPr>
          <p:nvPr/>
        </p:nvSpPr>
        <p:spPr>
          <a:xfrm xmlns:a="http://schemas.openxmlformats.org/drawingml/2006/main">
            <a:off x="2258568" y="2450592"/>
            <a:ext cx="7680960" cy="566928"/>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3-data-label-1">
            <a:extLst xmlns:a="http://schemas.openxmlformats.org/drawingml/2006/main">
              <a:ext uri="{FF2B5EF4-FFF2-40B4-BE49-F238E27FC236}">
                <a16:creationId xmlns:a16="http://schemas.microsoft.com/office/drawing/2014/main" id="{02CDF8C0-80BF-43B8-B0F1-3E7D91CAE3C2}"/>
              </a:ext>
            </a:extLst>
          </p:cNvPr>
          <p:cNvSpPr>
            <a:spLocks xmlns:a="http://schemas.openxmlformats.org/drawingml/2006/main" noGrp="1"/>
          </p:cNvSpPr>
          <p:nvPr/>
        </p:nvSpPr>
        <p:spPr>
          <a:xfrm xmlns:a="http://schemas.openxmlformats.org/drawingml/2006/main">
            <a:off x="2423160" y="2615184"/>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비용</a:t>
            </a:r>
            <a:endParaRPr sz="1050"/>
          </a:p>
        </p:txBody>
      </p:sp>
      <p:sp>
        <p:nvSpPr>
          <p:cNvPr id="16" name="STC-13-data-body-1">
            <a:extLst xmlns:a="http://schemas.openxmlformats.org/drawingml/2006/main">
              <a:ext uri="{FF2B5EF4-FFF2-40B4-BE49-F238E27FC236}">
                <a16:creationId xmlns:a16="http://schemas.microsoft.com/office/drawing/2014/main" id="{BC62C31C-D212-42ED-AE30-842B56196CD1}"/>
              </a:ext>
            </a:extLst>
          </p:cNvPr>
          <p:cNvSpPr>
            <a:spLocks xmlns:a="http://schemas.openxmlformats.org/drawingml/2006/main" noGrp="1"/>
          </p:cNvSpPr>
          <p:nvPr/>
        </p:nvSpPr>
        <p:spPr>
          <a:xfrm xmlns:a="http://schemas.openxmlformats.org/drawingml/2006/main">
            <a:off x="4041648" y="2542032"/>
            <a:ext cx="5715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17191C"/>
                </a:solidFill>
                <a:latin typeface="Noto Sans CJK KR"/>
                <a:ea typeface="Noto Sans CJK KR"/>
                <a:cs typeface="Noto Sans CJK KR"/>
              </a:rPr>
              <a:t>그 1편의 네 칸이 전부 비어 있다</a:t>
            </a:r>
            <a:endParaRPr sz="1450"/>
          </a:p>
        </p:txBody>
      </p:sp>
      <p:sp>
        <p:nvSpPr>
          <p:cNvPr id="17" name="STC-13-data-layer-2">
            <a:extLst xmlns:a="http://schemas.openxmlformats.org/drawingml/2006/main">
              <a:ext uri="{FF2B5EF4-FFF2-40B4-BE49-F238E27FC236}">
                <a16:creationId xmlns:a16="http://schemas.microsoft.com/office/drawing/2014/main" id="{D6FAD0EE-091C-49BC-AC96-FF7C3FD7BF30}"/>
              </a:ext>
            </a:extLst>
          </p:cNvPr>
          <p:cNvSpPr>
            <a:spLocks xmlns:a="http://schemas.openxmlformats.org/drawingml/2006/main" noGrp="1"/>
          </p:cNvSpPr>
          <p:nvPr/>
        </p:nvSpPr>
        <p:spPr>
          <a:xfrm xmlns:a="http://schemas.openxmlformats.org/drawingml/2006/main">
            <a:off x="2898648" y="3236976"/>
            <a:ext cx="6400800" cy="566928"/>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8" name="STC-13-data-label-2">
            <a:extLst xmlns:a="http://schemas.openxmlformats.org/drawingml/2006/main">
              <a:ext uri="{FF2B5EF4-FFF2-40B4-BE49-F238E27FC236}">
                <a16:creationId xmlns:a16="http://schemas.microsoft.com/office/drawing/2014/main" id="{AA018C36-C849-429F-A2CB-A09888ED5181}"/>
              </a:ext>
            </a:extLst>
          </p:cNvPr>
          <p:cNvSpPr>
            <a:spLocks xmlns:a="http://schemas.openxmlformats.org/drawingml/2006/main" noGrp="1"/>
          </p:cNvSpPr>
          <p:nvPr/>
        </p:nvSpPr>
        <p:spPr>
          <a:xfrm xmlns:a="http://schemas.openxmlformats.org/drawingml/2006/main">
            <a:off x="3063240" y="3401568"/>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대조군</a:t>
            </a:r>
            <a:endParaRPr sz="1050"/>
          </a:p>
        </p:txBody>
      </p:sp>
      <p:sp>
        <p:nvSpPr>
          <p:cNvPr id="19" name="STC-13-data-body-2">
            <a:extLst xmlns:a="http://schemas.openxmlformats.org/drawingml/2006/main">
              <a:ext uri="{FF2B5EF4-FFF2-40B4-BE49-F238E27FC236}">
                <a16:creationId xmlns:a16="http://schemas.microsoft.com/office/drawing/2014/main" id="{41815879-EDCF-477A-A120-7092A00F5988}"/>
              </a:ext>
            </a:extLst>
          </p:cNvPr>
          <p:cNvSpPr>
            <a:spLocks xmlns:a="http://schemas.openxmlformats.org/drawingml/2006/main" noGrp="1"/>
          </p:cNvSpPr>
          <p:nvPr/>
        </p:nvSpPr>
        <p:spPr>
          <a:xfrm xmlns:a="http://schemas.openxmlformats.org/drawingml/2006/main">
            <a:off x="4681728" y="3328416"/>
            <a:ext cx="4434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계산량을 맞춘 baseline이 없다</a:t>
            </a:r>
            <a:endParaRPr sz="1350"/>
          </a:p>
        </p:txBody>
      </p:sp>
      <p:sp>
        <p:nvSpPr>
          <p:cNvPr id="20" name="STC-13-data-layer-3">
            <a:extLst xmlns:a="http://schemas.openxmlformats.org/drawingml/2006/main">
              <a:ext uri="{FF2B5EF4-FFF2-40B4-BE49-F238E27FC236}">
                <a16:creationId xmlns:a16="http://schemas.microsoft.com/office/drawing/2014/main" id="{FBD0C7D7-10DE-463B-9217-97D247B03C72}"/>
              </a:ext>
            </a:extLst>
          </p:cNvPr>
          <p:cNvSpPr>
            <a:spLocks xmlns:a="http://schemas.openxmlformats.org/drawingml/2006/main" noGrp="1"/>
          </p:cNvSpPr>
          <p:nvPr/>
        </p:nvSpPr>
        <p:spPr>
          <a:xfrm xmlns:a="http://schemas.openxmlformats.org/drawingml/2006/main">
            <a:off x="3538728" y="4023360"/>
            <a:ext cx="5120640" cy="566928"/>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13-data-label-3">
            <a:extLst xmlns:a="http://schemas.openxmlformats.org/drawingml/2006/main">
              <a:ext uri="{FF2B5EF4-FFF2-40B4-BE49-F238E27FC236}">
                <a16:creationId xmlns:a16="http://schemas.microsoft.com/office/drawing/2014/main" id="{8DA5B66F-AB6C-424C-B38E-EC87549B7458}"/>
              </a:ext>
            </a:extLst>
          </p:cNvPr>
          <p:cNvSpPr>
            <a:spLocks xmlns:a="http://schemas.openxmlformats.org/drawingml/2006/main" noGrp="1"/>
          </p:cNvSpPr>
          <p:nvPr/>
        </p:nvSpPr>
        <p:spPr>
          <a:xfrm xmlns:a="http://schemas.openxmlformats.org/drawingml/2006/main">
            <a:off x="3703320" y="4187952"/>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설정 의존</a:t>
            </a:r>
            <a:endParaRPr sz="1050"/>
          </a:p>
        </p:txBody>
      </p:sp>
      <p:sp>
        <p:nvSpPr>
          <p:cNvPr id="22" name="STC-13-data-body-3">
            <a:extLst xmlns:a="http://schemas.openxmlformats.org/drawingml/2006/main">
              <a:ext uri="{FF2B5EF4-FFF2-40B4-BE49-F238E27FC236}">
                <a16:creationId xmlns:a16="http://schemas.microsoft.com/office/drawing/2014/main" id="{B07BDB02-D4B0-48AF-8A53-11814C8CDC53}"/>
              </a:ext>
            </a:extLst>
          </p:cNvPr>
          <p:cNvSpPr>
            <a:spLocks xmlns:a="http://schemas.openxmlformats.org/drawingml/2006/main" noGrp="1"/>
          </p:cNvSpPr>
          <p:nvPr/>
        </p:nvSpPr>
        <p:spPr>
          <a:xfrm xmlns:a="http://schemas.openxmlformats.org/drawingml/2006/main">
            <a:off x="5321808" y="41148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판별식 통과가 두 설정 중 하나에서만 성립</a:t>
            </a:r>
            <a:endParaRPr sz="1350"/>
          </a:p>
        </p:txBody>
      </p:sp>
      <p:sp>
        <p:nvSpPr>
          <p:cNvPr id="23" name="STC-13-data-layer-4">
            <a:extLst xmlns:a="http://schemas.openxmlformats.org/drawingml/2006/main">
              <a:ext uri="{FF2B5EF4-FFF2-40B4-BE49-F238E27FC236}">
                <a16:creationId xmlns:a16="http://schemas.microsoft.com/office/drawing/2014/main" id="{E60963C1-8D59-4CC2-B99B-C4EA44523D22}"/>
              </a:ext>
            </a:extLst>
          </p:cNvPr>
          <p:cNvSpPr>
            <a:spLocks xmlns:a="http://schemas.openxmlformats.org/drawingml/2006/main" noGrp="1"/>
          </p:cNvSpPr>
          <p:nvPr/>
        </p:nvSpPr>
        <p:spPr>
          <a:xfrm xmlns:a="http://schemas.openxmlformats.org/drawingml/2006/main">
            <a:off x="4178808" y="4809744"/>
            <a:ext cx="3840480" cy="566928"/>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24" name="STC-13-data-label-4">
            <a:extLst xmlns:a="http://schemas.openxmlformats.org/drawingml/2006/main">
              <a:ext uri="{FF2B5EF4-FFF2-40B4-BE49-F238E27FC236}">
                <a16:creationId xmlns:a16="http://schemas.microsoft.com/office/drawing/2014/main" id="{94E567B2-40CF-45FA-B9F9-A1B39A99C7FF}"/>
              </a:ext>
            </a:extLst>
          </p:cNvPr>
          <p:cNvSpPr>
            <a:spLocks xmlns:a="http://schemas.openxmlformats.org/drawingml/2006/main" noGrp="1"/>
          </p:cNvSpPr>
          <p:nvPr/>
        </p:nvSpPr>
        <p:spPr>
          <a:xfrm xmlns:a="http://schemas.openxmlformats.org/drawingml/2006/main">
            <a:off x="4343400" y="4974336"/>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그럼에도</a:t>
            </a:r>
            <a:endParaRPr sz="1050"/>
          </a:p>
        </p:txBody>
      </p:sp>
      <p:sp>
        <p:nvSpPr>
          <p:cNvPr id="25" name="STC-13-data-body-4">
            <a:extLst xmlns:a="http://schemas.openxmlformats.org/drawingml/2006/main">
              <a:ext uri="{FF2B5EF4-FFF2-40B4-BE49-F238E27FC236}">
                <a16:creationId xmlns:a16="http://schemas.microsoft.com/office/drawing/2014/main" id="{2C57AF49-F2CA-4C91-AE9F-A85EF45878C8}"/>
              </a:ext>
            </a:extLst>
          </p:cNvPr>
          <p:cNvSpPr>
            <a:spLocks xmlns:a="http://schemas.openxmlformats.org/drawingml/2006/main" noGrp="1"/>
          </p:cNvSpPr>
          <p:nvPr/>
        </p:nvSpPr>
        <p:spPr>
          <a:xfrm xmlns:a="http://schemas.openxmlformats.org/drawingml/2006/main">
            <a:off x="5961888" y="4901184"/>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원 문맥을 버리는 설계가 결함의 탈출구다</a:t>
            </a:r>
            <a:endParaRPr sz="1350"/>
          </a:p>
        </p:txBody>
      </p:sp>
      <p:sp>
        <p:nvSpPr>
          <p:cNvPr id="26" name="STC-13-data-warning">
            <a:extLst xmlns:a="http://schemas.openxmlformats.org/drawingml/2006/main">
              <a:ext uri="{FF2B5EF4-FFF2-40B4-BE49-F238E27FC236}">
                <a16:creationId xmlns:a16="http://schemas.microsoft.com/office/drawing/2014/main" id="{FE09EF05-9A9A-4209-946A-2FFD878EDF5A}"/>
              </a:ext>
            </a:extLst>
          </p:cNvPr>
          <p:cNvSpPr>
            <a:spLocks xmlns:a="http://schemas.openxmlformats.org/drawingml/2006/main" noGrp="1"/>
          </p:cNvSpPr>
          <p:nvPr/>
        </p:nvSpPr>
        <p:spPr>
          <a:xfrm xmlns:a="http://schemas.openxmlformats.org/drawingml/2006/main">
            <a:off x="2286000" y="5623560"/>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ans CJK KR"/>
                <a:ea typeface="Noto Sans CJK KR"/>
                <a:cs typeface="Noto Sans CJK KR"/>
              </a:rPr>
              <a:t>A군 논문이 1편이다</a:t>
            </a:r>
            <a:endParaRPr sz="1800"/>
          </a:p>
        </p:txBody>
      </p:sp>
    </p:spTree>
    <p:extLst>
      <p:ext uri="{BB962C8B-B14F-4D97-AF65-F5344CB8AC3E}">
        <p14:creationId xmlns:p14="http://schemas.microsoft.com/office/powerpoint/2010/main" val="877466157"/>
      </p:ext>
    </p:extLst>
  </p:cSld>
</p:sld>
</file>

<file path=ppt/slides/slide10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VERDICT</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STC-103</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판정 ⑩ — Θ-경로는 조건부로 유망하다, 조건 셋과 함께</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조건부 판정</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ch27 §27.4 판정 4</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103</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용량 축</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통과 · 한계 비용 0</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반복 축</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미검증 · 실험 0편</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유일 증거</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반증 축에서 나온다</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조건 (i)</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K* &gt; 서비스 K</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조건 (ii)</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int8 회수율 유지</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조건 (iii)</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라벨 없는 검증</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세 조건이 충족되지 않은 상태에서 '유망하다'고</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쓰는 것은 이 발표가 논문들에 금지한 서술 방식이다</a:t>
            </a:r>
            <a:endParaRPr sz="1500"/>
          </a:p>
        </p:txBody>
      </p:sp>
    </p:spTree>
    <p:extLst>
      <p:ext uri="{BB962C8B-B14F-4D97-AF65-F5344CB8AC3E}">
        <p14:creationId xmlns:p14="http://schemas.microsoft.com/office/powerpoint/2010/main" val="931853972"/>
      </p:ext>
    </p:extLst>
  </p:cSld>
</p:sld>
</file>

<file path=ppt/slides/slide10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7-section">
            <a:extLst xmlns:a="http://schemas.openxmlformats.org/drawingml/2006/main">
              <a:ext uri="{FF2B5EF4-FFF2-40B4-BE49-F238E27FC236}">
                <a16:creationId xmlns:a16="http://schemas.microsoft.com/office/drawing/2014/main" id="{7385C310-AB33-4F53-AA02-6351BE546D8D}"/>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VERDICT</a:t>
            </a:r>
            <a:endParaRPr sz="950"/>
          </a:p>
        </p:txBody>
      </p:sp>
      <p:sp>
        <p:nvSpPr>
          <p:cNvPr id="3" name="STC-27-slide-id">
            <a:extLst xmlns:a="http://schemas.openxmlformats.org/drawingml/2006/main">
              <a:ext uri="{FF2B5EF4-FFF2-40B4-BE49-F238E27FC236}">
                <a16:creationId xmlns:a16="http://schemas.microsoft.com/office/drawing/2014/main" id="{A62D30FD-D0DE-406A-AEDE-4AA35074F91C}"/>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STC-104</a:t>
            </a:r>
            <a:endParaRPr sz="950"/>
          </a:p>
        </p:txBody>
      </p:sp>
      <p:sp>
        <p:nvSpPr>
          <p:cNvPr id="4" name="STC-27-headline">
            <a:extLst xmlns:a="http://schemas.openxmlformats.org/drawingml/2006/main">
              <a:ext uri="{FF2B5EF4-FFF2-40B4-BE49-F238E27FC236}">
                <a16:creationId xmlns:a16="http://schemas.microsoft.com/office/drawing/2014/main" id="{8FCF2712-593D-425A-8EF4-E1D041C0E6D0}"/>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17191C"/>
                </a:solidFill>
                <a:latin typeface="Noto Sans CJK KR"/>
                <a:ea typeface="Noto Sans CJK KR"/>
                <a:cs typeface="Noto Sans CJK KR"/>
              </a:rPr>
              <a:t>판정 ⑪ — '최선인가'와 '우월한가'는 어디서도 판정되지 않는다</a:t>
            </a:r>
            <a:endParaRPr sz="2800"/>
          </a:p>
        </p:txBody>
      </p:sp>
      <p:sp>
        <p:nvSpPr>
          <p:cNvPr id="5" name="STC-27-status-label">
            <a:extLst xmlns:a="http://schemas.openxmlformats.org/drawingml/2006/main">
              <a:ext uri="{FF2B5EF4-FFF2-40B4-BE49-F238E27FC236}">
                <a16:creationId xmlns:a16="http://schemas.microsoft.com/office/drawing/2014/main" id="{13FFAE0E-5D8F-4108-9CA4-9ECCA2BD5C21}"/>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44E8A"/>
                </a:solidFill>
                <a:latin typeface="Noto Sans Mono CJK KR"/>
                <a:ea typeface="Noto Sans Mono CJK KR"/>
                <a:cs typeface="Noto Sans Mono CJK KR"/>
              </a:rPr>
              <a:t>판정 불가</a:t>
            </a:r>
            <a:endParaRPr sz="1000"/>
          </a:p>
        </p:txBody>
      </p:sp>
      <p:sp>
        <p:nvSpPr>
          <p:cNvPr id="6" name="STC-27-status-rule">
            <a:extLst xmlns:a="http://schemas.openxmlformats.org/drawingml/2006/main">
              <a:ext uri="{FF2B5EF4-FFF2-40B4-BE49-F238E27FC236}">
                <a16:creationId xmlns:a16="http://schemas.microsoft.com/office/drawing/2014/main" id="{561BD90D-848D-430E-BBAB-EE52DF2A1DD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44E8A"/>
            </a:solidFill>
            <a:prstDash val="solid"/>
            <a:tailEnd type="none"/>
          </a:ln>
        </p:spPr>
      </p:sp>
      <p:sp>
        <p:nvSpPr>
          <p:cNvPr id="7" name="STC-27-footer-rule">
            <a:extLst xmlns:a="http://schemas.openxmlformats.org/drawingml/2006/main">
              <a:ext uri="{FF2B5EF4-FFF2-40B4-BE49-F238E27FC236}">
                <a16:creationId xmlns:a16="http://schemas.microsoft.com/office/drawing/2014/main" id="{D505BA78-3471-4BBD-912B-BD6109CC9FC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7-source-footer">
            <a:extLst xmlns:a="http://schemas.openxmlformats.org/drawingml/2006/main">
              <a:ext uri="{FF2B5EF4-FFF2-40B4-BE49-F238E27FC236}">
                <a16:creationId xmlns:a16="http://schemas.microsoft.com/office/drawing/2014/main" id="{E99DBCAF-2804-412F-A1FC-D287D4C15657}"/>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ch27 표 27-4 · §27.4 판정 5</a:t>
            </a:r>
            <a:endParaRPr sz="850"/>
          </a:p>
        </p:txBody>
      </p:sp>
      <p:sp>
        <p:nvSpPr>
          <p:cNvPr id="9" name="STC-27-page-number">
            <a:extLst xmlns:a="http://schemas.openxmlformats.org/drawingml/2006/main">
              <a:ext uri="{FF2B5EF4-FFF2-40B4-BE49-F238E27FC236}">
                <a16:creationId xmlns:a16="http://schemas.microsoft.com/office/drawing/2014/main" id="{AF0F969D-856E-456F-AB63-D26607331E1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104</a:t>
            </a:r>
            <a:endParaRPr sz="850"/>
          </a:p>
        </p:txBody>
      </p:sp>
      <p:sp>
        <p:nvSpPr>
          <p:cNvPr id="11" name="STC-27-refa-num-0">
            <a:extLst xmlns:a="http://schemas.openxmlformats.org/drawingml/2006/main">
              <a:ext uri="{FF2B5EF4-FFF2-40B4-BE49-F238E27FC236}">
                <a16:creationId xmlns:a16="http://schemas.microsoft.com/office/drawing/2014/main" id="{0858B0FA-3B18-427D-9025-6A23BE3B0367}"/>
              </a:ext>
            </a:extLst>
          </p:cNvPr>
          <p:cNvSpPr>
            <a:spLocks xmlns:a="http://schemas.openxmlformats.org/drawingml/2006/main" noGrp="1"/>
          </p:cNvSpPr>
          <p:nvPr/>
        </p:nvSpPr>
        <p:spPr>
          <a:xfrm xmlns:a="http://schemas.openxmlformats.org/drawingml/2006/main">
            <a:off x="841248"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01</a:t>
            </a:r>
            <a:endParaRPr sz="950"/>
          </a:p>
        </p:txBody>
      </p:sp>
      <p:sp>
        <p:nvSpPr>
          <p:cNvPr id="12" name="STC-27-refa-text-0">
            <a:extLst xmlns:a="http://schemas.openxmlformats.org/drawingml/2006/main">
              <a:ext uri="{FF2B5EF4-FFF2-40B4-BE49-F238E27FC236}">
                <a16:creationId xmlns:a16="http://schemas.microsoft.com/office/drawing/2014/main" id="{062155EC-D1E1-4A6A-BED2-F6AC33A3C656}"/>
              </a:ext>
            </a:extLst>
          </p:cNvPr>
          <p:cNvSpPr>
            <a:spLocks xmlns:a="http://schemas.openxmlformats.org/drawingml/2006/main" noGrp="1"/>
          </p:cNvSpPr>
          <p:nvPr/>
        </p:nvSpPr>
        <p:spPr>
          <a:xfrm xmlns:a="http://schemas.openxmlformats.org/drawingml/2006/main">
            <a:off x="1353312"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E vs full-context 품질 · 실행되었고 방법이 졌다</a:t>
            </a:r>
            <a:endParaRPr sz="1450"/>
          </a:p>
        </p:txBody>
      </p:sp>
      <p:sp>
        <p:nvSpPr>
          <p:cNvPr id="13" name="STC-27-refa-num-1">
            <a:extLst xmlns:a="http://schemas.openxmlformats.org/drawingml/2006/main">
              <a:ext uri="{FF2B5EF4-FFF2-40B4-BE49-F238E27FC236}">
                <a16:creationId xmlns:a16="http://schemas.microsoft.com/office/drawing/2014/main" id="{51CBF520-8ECD-44AE-B98F-1387ECEB6536}"/>
              </a:ext>
            </a:extLst>
          </p:cNvPr>
          <p:cNvSpPr>
            <a:spLocks xmlns:a="http://schemas.openxmlformats.org/drawingml/2006/main" noGrp="1"/>
          </p:cNvSpPr>
          <p:nvPr/>
        </p:nvSpPr>
        <p:spPr>
          <a:xfrm xmlns:a="http://schemas.openxmlformats.org/drawingml/2006/main">
            <a:off x="841248"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02</a:t>
            </a:r>
            <a:endParaRPr sz="950"/>
          </a:p>
        </p:txBody>
      </p:sp>
      <p:sp>
        <p:nvSpPr>
          <p:cNvPr id="14" name="STC-27-refa-text-1">
            <a:extLst xmlns:a="http://schemas.openxmlformats.org/drawingml/2006/main">
              <a:ext uri="{FF2B5EF4-FFF2-40B4-BE49-F238E27FC236}">
                <a16:creationId xmlns:a16="http://schemas.microsoft.com/office/drawing/2014/main" id="{A11ED546-4FD3-4619-BBDA-F1E89500025A}"/>
              </a:ext>
            </a:extLst>
          </p:cNvPr>
          <p:cNvSpPr>
            <a:spLocks xmlns:a="http://schemas.openxmlformats.org/drawingml/2006/main" noGrp="1"/>
          </p:cNvSpPr>
          <p:nvPr/>
        </p:nvSpPr>
        <p:spPr>
          <a:xfrm xmlns:a="http://schemas.openxmlformats.org/drawingml/2006/main">
            <a:off x="1353312"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E vs full+prefix cache · 실행되지 않았다 — 비용 축 판정 불가</a:t>
            </a:r>
            <a:endParaRPr sz="1450"/>
          </a:p>
        </p:txBody>
      </p:sp>
      <p:sp>
        <p:nvSpPr>
          <p:cNvPr id="15" name="STC-27-refa-num-2">
            <a:extLst xmlns:a="http://schemas.openxmlformats.org/drawingml/2006/main">
              <a:ext uri="{FF2B5EF4-FFF2-40B4-BE49-F238E27FC236}">
                <a16:creationId xmlns:a16="http://schemas.microsoft.com/office/drawing/2014/main" id="{35A20116-4261-4BEF-8F20-7E111311BA48}"/>
              </a:ext>
            </a:extLst>
          </p:cNvPr>
          <p:cNvSpPr>
            <a:spLocks xmlns:a="http://schemas.openxmlformats.org/drawingml/2006/main" noGrp="1"/>
          </p:cNvSpPr>
          <p:nvPr/>
        </p:nvSpPr>
        <p:spPr>
          <a:xfrm xmlns:a="http://schemas.openxmlformats.org/drawingml/2006/main">
            <a:off x="841248"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03</a:t>
            </a:r>
            <a:endParaRPr sz="950"/>
          </a:p>
        </p:txBody>
      </p:sp>
      <p:sp>
        <p:nvSpPr>
          <p:cNvPr id="16" name="STC-27-refa-text-2">
            <a:extLst xmlns:a="http://schemas.openxmlformats.org/drawingml/2006/main">
              <a:ext uri="{FF2B5EF4-FFF2-40B4-BE49-F238E27FC236}">
                <a16:creationId xmlns:a16="http://schemas.microsoft.com/office/drawing/2014/main" id="{6702771D-ADC3-4D74-B59D-4D478F02E873}"/>
              </a:ext>
            </a:extLst>
          </p:cNvPr>
          <p:cNvSpPr>
            <a:spLocks xmlns:a="http://schemas.openxmlformats.org/drawingml/2006/main" noGrp="1"/>
          </p:cNvSpPr>
          <p:nvPr/>
        </p:nvSpPr>
        <p:spPr>
          <a:xfrm xmlns:a="http://schemas.openxmlformats.org/drawingml/2006/main">
            <a:off x="1353312"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E vs 순수 검색 · 부분 실행이되 스윕이 baseline에만 걸림</a:t>
            </a:r>
            <a:endParaRPr sz="1450"/>
          </a:p>
        </p:txBody>
      </p:sp>
      <p:sp>
        <p:nvSpPr>
          <p:cNvPr id="17" name="STC-27-refa-num-3">
            <a:extLst xmlns:a="http://schemas.openxmlformats.org/drawingml/2006/main">
              <a:ext uri="{FF2B5EF4-FFF2-40B4-BE49-F238E27FC236}">
                <a16:creationId xmlns:a16="http://schemas.microsoft.com/office/drawing/2014/main" id="{55E8554F-18B5-482A-A521-0409C4939A68}"/>
              </a:ext>
            </a:extLst>
          </p:cNvPr>
          <p:cNvSpPr>
            <a:spLocks xmlns:a="http://schemas.openxmlformats.org/drawingml/2006/main" noGrp="1"/>
          </p:cNvSpPr>
          <p:nvPr/>
        </p:nvSpPr>
        <p:spPr>
          <a:xfrm xmlns:a="http://schemas.openxmlformats.org/drawingml/2006/main">
            <a:off x="841248"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04</a:t>
            </a:r>
            <a:endParaRPr sz="950"/>
          </a:p>
        </p:txBody>
      </p:sp>
      <p:sp>
        <p:nvSpPr>
          <p:cNvPr id="18" name="STC-27-refa-text-3">
            <a:extLst xmlns:a="http://schemas.openxmlformats.org/drawingml/2006/main">
              <a:ext uri="{FF2B5EF4-FFF2-40B4-BE49-F238E27FC236}">
                <a16:creationId xmlns:a16="http://schemas.microsoft.com/office/drawing/2014/main" id="{6643F56C-6A56-4F80-BDD8-C4233A3CAC95}"/>
              </a:ext>
            </a:extLst>
          </p:cNvPr>
          <p:cNvSpPr>
            <a:spLocks xmlns:a="http://schemas.openxmlformats.org/drawingml/2006/main" noGrp="1"/>
          </p:cNvSpPr>
          <p:nvPr/>
        </p:nvSpPr>
        <p:spPr>
          <a:xfrm xmlns:a="http://schemas.openxmlformats.org/drawingml/2006/main">
            <a:off x="1353312"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W vs 계산량 정합 · 실행되지 않았다 — 판정 불가</a:t>
            </a:r>
            <a:endParaRPr sz="1450"/>
          </a:p>
        </p:txBody>
      </p:sp>
      <p:sp>
        <p:nvSpPr>
          <p:cNvPr id="19" name="STC-27-refa-num-4">
            <a:extLst xmlns:a="http://schemas.openxmlformats.org/drawingml/2006/main">
              <a:ext uri="{FF2B5EF4-FFF2-40B4-BE49-F238E27FC236}">
                <a16:creationId xmlns:a16="http://schemas.microsoft.com/office/drawing/2014/main" id="{FD11CDBD-DFE9-45A7-B011-896A803064F0}"/>
              </a:ext>
            </a:extLst>
          </p:cNvPr>
          <p:cNvSpPr>
            <a:spLocks xmlns:a="http://schemas.openxmlformats.org/drawingml/2006/main" noGrp="1"/>
          </p:cNvSpPr>
          <p:nvPr/>
        </p:nvSpPr>
        <p:spPr>
          <a:xfrm xmlns:a="http://schemas.openxmlformats.org/drawingml/2006/main">
            <a:off x="841248"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05</a:t>
            </a:r>
            <a:endParaRPr sz="950"/>
          </a:p>
        </p:txBody>
      </p:sp>
      <p:sp>
        <p:nvSpPr>
          <p:cNvPr id="20" name="STC-27-refa-text-4">
            <a:extLst xmlns:a="http://schemas.openxmlformats.org/drawingml/2006/main">
              <a:ext uri="{FF2B5EF4-FFF2-40B4-BE49-F238E27FC236}">
                <a16:creationId xmlns:a16="http://schemas.microsoft.com/office/drawing/2014/main" id="{675DB14E-5738-4DE9-95BF-1BC22BFAB9F4}"/>
              </a:ext>
            </a:extLst>
          </p:cNvPr>
          <p:cNvSpPr>
            <a:spLocks xmlns:a="http://schemas.openxmlformats.org/drawingml/2006/main" noGrp="1"/>
          </p:cNvSpPr>
          <p:nvPr/>
        </p:nvSpPr>
        <p:spPr>
          <a:xfrm xmlns:a="http://schemas.openxmlformats.org/drawingml/2006/main">
            <a:off x="1353312"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Θ vs in-context · 실행되었으나 레짐이 어긋난다</a:t>
            </a:r>
            <a:endParaRPr sz="1450"/>
          </a:p>
        </p:txBody>
      </p:sp>
      <p:sp>
        <p:nvSpPr>
          <p:cNvPr id="21" name="STC-27-refa-num-5">
            <a:extLst xmlns:a="http://schemas.openxmlformats.org/drawingml/2006/main">
              <a:ext uri="{FF2B5EF4-FFF2-40B4-BE49-F238E27FC236}">
                <a16:creationId xmlns:a16="http://schemas.microsoft.com/office/drawing/2014/main" id="{1B33F735-F839-4244-A292-08A9268BD28E}"/>
              </a:ext>
            </a:extLst>
          </p:cNvPr>
          <p:cNvSpPr>
            <a:spLocks xmlns:a="http://schemas.openxmlformats.org/drawingml/2006/main" noGrp="1"/>
          </p:cNvSpPr>
          <p:nvPr/>
        </p:nvSpPr>
        <p:spPr>
          <a:xfrm xmlns:a="http://schemas.openxmlformats.org/drawingml/2006/main">
            <a:off x="841248"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06</a:t>
            </a:r>
            <a:endParaRPr sz="950"/>
          </a:p>
        </p:txBody>
      </p:sp>
      <p:sp>
        <p:nvSpPr>
          <p:cNvPr id="22" name="STC-27-refa-text-5">
            <a:extLst xmlns:a="http://schemas.openxmlformats.org/drawingml/2006/main">
              <a:ext uri="{FF2B5EF4-FFF2-40B4-BE49-F238E27FC236}">
                <a16:creationId xmlns:a16="http://schemas.microsoft.com/office/drawing/2014/main" id="{A304B551-576C-403B-AE3F-FB6BA309B549}"/>
              </a:ext>
            </a:extLst>
          </p:cNvPr>
          <p:cNvSpPr>
            <a:spLocks xmlns:a="http://schemas.openxmlformats.org/drawingml/2006/main" noGrp="1"/>
          </p:cNvSpPr>
          <p:nvPr/>
        </p:nvSpPr>
        <p:spPr>
          <a:xfrm xmlns:a="http://schemas.openxmlformats.org/drawingml/2006/main">
            <a:off x="1353312"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Θ vs 검색 · 두 문장의 기각으로 대신했다 — 판정 불가</a:t>
            </a:r>
            <a:endParaRPr sz="1450"/>
          </a:p>
        </p:txBody>
      </p:sp>
      <p:sp>
        <p:nvSpPr>
          <p:cNvPr id="23" name="STC-27-refa-num-6">
            <a:extLst xmlns:a="http://schemas.openxmlformats.org/drawingml/2006/main">
              <a:ext uri="{FF2B5EF4-FFF2-40B4-BE49-F238E27FC236}">
                <a16:creationId xmlns:a16="http://schemas.microsoft.com/office/drawing/2014/main" id="{C17BF4F3-BA5F-477A-AE3A-926274B15069}"/>
              </a:ext>
            </a:extLst>
          </p:cNvPr>
          <p:cNvSpPr>
            <a:spLocks xmlns:a="http://schemas.openxmlformats.org/drawingml/2006/main" noGrp="1"/>
          </p:cNvSpPr>
          <p:nvPr/>
        </p:nvSpPr>
        <p:spPr>
          <a:xfrm xmlns:a="http://schemas.openxmlformats.org/drawingml/2006/main">
            <a:off x="841248"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07</a:t>
            </a:r>
            <a:endParaRPr sz="950"/>
          </a:p>
        </p:txBody>
      </p:sp>
      <p:sp>
        <p:nvSpPr>
          <p:cNvPr id="24" name="STC-27-refa-text-6">
            <a:extLst xmlns:a="http://schemas.openxmlformats.org/drawingml/2006/main">
              <a:ext uri="{FF2B5EF4-FFF2-40B4-BE49-F238E27FC236}">
                <a16:creationId xmlns:a16="http://schemas.microsoft.com/office/drawing/2014/main" id="{289E9CA6-462B-4C66-89E4-717652A321F6}"/>
              </a:ext>
            </a:extLst>
          </p:cNvPr>
          <p:cNvSpPr>
            <a:spLocks xmlns:a="http://schemas.openxmlformats.org/drawingml/2006/main" noGrp="1"/>
          </p:cNvSpPr>
          <p:nvPr/>
        </p:nvSpPr>
        <p:spPr>
          <a:xfrm xmlns:a="http://schemas.openxmlformats.org/drawingml/2006/main">
            <a:off x="1353312"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빠진 대조군의 공통점 · 가장 싸고 가장 자명한 baseline이다</a:t>
            </a:r>
            <a:endParaRPr sz="1450"/>
          </a:p>
        </p:txBody>
      </p:sp>
      <p:sp>
        <p:nvSpPr>
          <p:cNvPr id="25" name="STC-27-refa-num-7">
            <a:extLst xmlns:a="http://schemas.openxmlformats.org/drawingml/2006/main">
              <a:ext uri="{FF2B5EF4-FFF2-40B4-BE49-F238E27FC236}">
                <a16:creationId xmlns:a16="http://schemas.microsoft.com/office/drawing/2014/main" id="{39B669A8-E06B-4878-A925-504530F51F2E}"/>
              </a:ext>
            </a:extLst>
          </p:cNvPr>
          <p:cNvSpPr>
            <a:spLocks xmlns:a="http://schemas.openxmlformats.org/drawingml/2006/main" noGrp="1"/>
          </p:cNvSpPr>
          <p:nvPr/>
        </p:nvSpPr>
        <p:spPr>
          <a:xfrm xmlns:a="http://schemas.openxmlformats.org/drawingml/2006/main">
            <a:off x="6172200"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08</a:t>
            </a:r>
            <a:endParaRPr sz="950"/>
          </a:p>
        </p:txBody>
      </p:sp>
      <p:sp>
        <p:nvSpPr>
          <p:cNvPr id="26" name="STC-27-refa-text-7">
            <a:extLst xmlns:a="http://schemas.openxmlformats.org/drawingml/2006/main">
              <a:ext uri="{FF2B5EF4-FFF2-40B4-BE49-F238E27FC236}">
                <a16:creationId xmlns:a16="http://schemas.microsoft.com/office/drawing/2014/main" id="{5CA2803E-8191-41D8-A69E-C8DE26EBBBD5}"/>
              </a:ext>
            </a:extLst>
          </p:cNvPr>
          <p:cNvSpPr>
            <a:spLocks xmlns:a="http://schemas.openxmlformats.org/drawingml/2006/main" noGrp="1"/>
          </p:cNvSpPr>
          <p:nvPr/>
        </p:nvSpPr>
        <p:spPr>
          <a:xfrm xmlns:a="http://schemas.openxmlformats.org/drawingml/2006/main">
            <a:off x="6684264"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그래서 판정은 · 세 경로 어디에서도 '판정 불가'로 남긴다</a:t>
            </a:r>
            <a:endParaRPr sz="1450"/>
          </a:p>
        </p:txBody>
      </p:sp>
      <p:sp>
        <p:nvSpPr>
          <p:cNvPr id="27" name="STC-27-refa-num-8">
            <a:extLst xmlns:a="http://schemas.openxmlformats.org/drawingml/2006/main">
              <a:ext uri="{FF2B5EF4-FFF2-40B4-BE49-F238E27FC236}">
                <a16:creationId xmlns:a16="http://schemas.microsoft.com/office/drawing/2014/main" id="{EB76E28F-3249-436F-BDC8-CC3B36B33971}"/>
              </a:ext>
            </a:extLst>
          </p:cNvPr>
          <p:cNvSpPr>
            <a:spLocks xmlns:a="http://schemas.openxmlformats.org/drawingml/2006/main" noGrp="1"/>
          </p:cNvSpPr>
          <p:nvPr/>
        </p:nvSpPr>
        <p:spPr>
          <a:xfrm xmlns:a="http://schemas.openxmlformats.org/drawingml/2006/main">
            <a:off x="6172200"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09</a:t>
            </a:r>
            <a:endParaRPr sz="950"/>
          </a:p>
        </p:txBody>
      </p:sp>
      <p:sp>
        <p:nvSpPr>
          <p:cNvPr id="28" name="STC-27-refa-text-8">
            <a:extLst xmlns:a="http://schemas.openxmlformats.org/drawingml/2006/main">
              <a:ext uri="{FF2B5EF4-FFF2-40B4-BE49-F238E27FC236}">
                <a16:creationId xmlns:a16="http://schemas.microsoft.com/office/drawing/2014/main" id="{42432C31-97C0-4DB4-A828-17F58B1C006C}"/>
              </a:ext>
            </a:extLst>
          </p:cNvPr>
          <p:cNvSpPr>
            <a:spLocks xmlns:a="http://schemas.openxmlformats.org/drawingml/2006/main" noGrp="1"/>
          </p:cNvSpPr>
          <p:nvPr/>
        </p:nvSpPr>
        <p:spPr>
          <a:xfrm xmlns:a="http://schemas.openxmlformats.org/drawingml/2006/main">
            <a:off x="6684264"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왜 회피가 아닌가 · 없는 표를 지어내는 것이 회피다</a:t>
            </a:r>
            <a:endParaRPr sz="1450"/>
          </a:p>
        </p:txBody>
      </p:sp>
      <p:sp>
        <p:nvSpPr>
          <p:cNvPr id="29" name="STC-27-refa-num-9">
            <a:extLst xmlns:a="http://schemas.openxmlformats.org/drawingml/2006/main">
              <a:ext uri="{FF2B5EF4-FFF2-40B4-BE49-F238E27FC236}">
                <a16:creationId xmlns:a16="http://schemas.microsoft.com/office/drawing/2014/main" id="{7AE894C5-A4E3-431D-BBCB-B84488812967}"/>
              </a:ext>
            </a:extLst>
          </p:cNvPr>
          <p:cNvSpPr>
            <a:spLocks xmlns:a="http://schemas.openxmlformats.org/drawingml/2006/main" noGrp="1"/>
          </p:cNvSpPr>
          <p:nvPr/>
        </p:nvSpPr>
        <p:spPr>
          <a:xfrm xmlns:a="http://schemas.openxmlformats.org/drawingml/2006/main">
            <a:off x="6172200"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10</a:t>
            </a:r>
            <a:endParaRPr sz="950"/>
          </a:p>
        </p:txBody>
      </p:sp>
      <p:sp>
        <p:nvSpPr>
          <p:cNvPr id="30" name="STC-27-refa-text-9">
            <a:extLst xmlns:a="http://schemas.openxmlformats.org/drawingml/2006/main">
              <a:ext uri="{FF2B5EF4-FFF2-40B4-BE49-F238E27FC236}">
                <a16:creationId xmlns:a16="http://schemas.microsoft.com/office/drawing/2014/main" id="{5BD284A8-2458-487D-8B9E-370C7411385B}"/>
              </a:ext>
            </a:extLst>
          </p:cNvPr>
          <p:cNvSpPr>
            <a:spLocks xmlns:a="http://schemas.openxmlformats.org/drawingml/2006/main" noGrp="1"/>
          </p:cNvSpPr>
          <p:nvPr/>
        </p:nvSpPr>
        <p:spPr>
          <a:xfrm xmlns:a="http://schemas.openxmlformats.org/drawingml/2006/main">
            <a:off x="6684264"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무엇이 필요한가 · 새 수치가 아니라 새 표다</a:t>
            </a:r>
            <a:endParaRPr sz="1450"/>
          </a:p>
        </p:txBody>
      </p:sp>
      <p:sp>
        <p:nvSpPr>
          <p:cNvPr id="31" name="STC-27-refa-num-10">
            <a:extLst xmlns:a="http://schemas.openxmlformats.org/drawingml/2006/main">
              <a:ext uri="{FF2B5EF4-FFF2-40B4-BE49-F238E27FC236}">
                <a16:creationId xmlns:a16="http://schemas.microsoft.com/office/drawing/2014/main" id="{D8683AB3-30A2-418E-8C2F-785C7D981B49}"/>
              </a:ext>
            </a:extLst>
          </p:cNvPr>
          <p:cNvSpPr>
            <a:spLocks xmlns:a="http://schemas.openxmlformats.org/drawingml/2006/main" noGrp="1"/>
          </p:cNvSpPr>
          <p:nvPr/>
        </p:nvSpPr>
        <p:spPr>
          <a:xfrm xmlns:a="http://schemas.openxmlformats.org/drawingml/2006/main">
            <a:off x="6172200"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11</a:t>
            </a:r>
            <a:endParaRPr sz="950"/>
          </a:p>
        </p:txBody>
      </p:sp>
      <p:sp>
        <p:nvSpPr>
          <p:cNvPr id="32" name="STC-27-refa-text-10">
            <a:extLst xmlns:a="http://schemas.openxmlformats.org/drawingml/2006/main">
              <a:ext uri="{FF2B5EF4-FFF2-40B4-BE49-F238E27FC236}">
                <a16:creationId xmlns:a16="http://schemas.microsoft.com/office/drawing/2014/main" id="{D6BD7EA0-A2A2-4970-982A-7FB8848D707D}"/>
              </a:ext>
            </a:extLst>
          </p:cNvPr>
          <p:cNvSpPr>
            <a:spLocks xmlns:a="http://schemas.openxmlformats.org/drawingml/2006/main" noGrp="1"/>
          </p:cNvSpPr>
          <p:nvPr/>
        </p:nvSpPr>
        <p:spPr>
          <a:xfrm xmlns:a="http://schemas.openxmlformats.org/drawingml/2006/main">
            <a:off x="6684264"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반증 FQ1 · 빈칸 하나가 채워지면 그 행이 해소된다</a:t>
            </a:r>
            <a:endParaRPr sz="1450"/>
          </a:p>
        </p:txBody>
      </p:sp>
      <p:sp>
        <p:nvSpPr>
          <p:cNvPr id="33" name="STC-27-refa-num-11">
            <a:extLst xmlns:a="http://schemas.openxmlformats.org/drawingml/2006/main">
              <a:ext uri="{FF2B5EF4-FFF2-40B4-BE49-F238E27FC236}">
                <a16:creationId xmlns:a16="http://schemas.microsoft.com/office/drawing/2014/main" id="{460613C2-7751-43C8-A2FB-0D5F9B0DBECB}"/>
              </a:ext>
            </a:extLst>
          </p:cNvPr>
          <p:cNvSpPr>
            <a:spLocks xmlns:a="http://schemas.openxmlformats.org/drawingml/2006/main" noGrp="1"/>
          </p:cNvSpPr>
          <p:nvPr/>
        </p:nvSpPr>
        <p:spPr>
          <a:xfrm xmlns:a="http://schemas.openxmlformats.org/drawingml/2006/main">
            <a:off x="6172200"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12</a:t>
            </a:r>
            <a:endParaRPr sz="950"/>
          </a:p>
        </p:txBody>
      </p:sp>
      <p:sp>
        <p:nvSpPr>
          <p:cNvPr id="34" name="STC-27-refa-text-11">
            <a:extLst xmlns:a="http://schemas.openxmlformats.org/drawingml/2006/main">
              <a:ext uri="{FF2B5EF4-FFF2-40B4-BE49-F238E27FC236}">
                <a16:creationId xmlns:a16="http://schemas.microsoft.com/office/drawing/2014/main" id="{6585AB7C-DE90-41AD-82F9-96F612B0B13A}"/>
              </a:ext>
            </a:extLst>
          </p:cNvPr>
          <p:cNvSpPr>
            <a:spLocks xmlns:a="http://schemas.openxmlformats.org/drawingml/2006/main" noGrp="1"/>
          </p:cNvSpPr>
          <p:nvPr/>
        </p:nvSpPr>
        <p:spPr>
          <a:xfrm xmlns:a="http://schemas.openxmlformats.org/drawingml/2006/main">
            <a:off x="6684264"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반증 FQ2 · 부재 판정이 틀렸다면 baseline 열을 세면 된다</a:t>
            </a:r>
            <a:endParaRPr sz="1450"/>
          </a:p>
        </p:txBody>
      </p:sp>
      <p:sp>
        <p:nvSpPr>
          <p:cNvPr id="35" name="STC-27-refa-num-12">
            <a:extLst xmlns:a="http://schemas.openxmlformats.org/drawingml/2006/main">
              <a:ext uri="{FF2B5EF4-FFF2-40B4-BE49-F238E27FC236}">
                <a16:creationId xmlns:a16="http://schemas.microsoft.com/office/drawing/2014/main" id="{3BF3AFD4-5BFF-4F64-8958-1E971CEA8E77}"/>
              </a:ext>
            </a:extLst>
          </p:cNvPr>
          <p:cNvSpPr>
            <a:spLocks xmlns:a="http://schemas.openxmlformats.org/drawingml/2006/main" noGrp="1"/>
          </p:cNvSpPr>
          <p:nvPr/>
        </p:nvSpPr>
        <p:spPr>
          <a:xfrm xmlns:a="http://schemas.openxmlformats.org/drawingml/2006/main">
            <a:off x="6172200"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13</a:t>
            </a:r>
            <a:endParaRPr sz="950"/>
          </a:p>
        </p:txBody>
      </p:sp>
      <p:sp>
        <p:nvSpPr>
          <p:cNvPr id="36" name="STC-27-refa-text-12">
            <a:extLst xmlns:a="http://schemas.openxmlformats.org/drawingml/2006/main">
              <a:ext uri="{FF2B5EF4-FFF2-40B4-BE49-F238E27FC236}">
                <a16:creationId xmlns:a16="http://schemas.microsoft.com/office/drawing/2014/main" id="{A6CE689B-DBF7-4ACD-BBBF-ABB01DFF849C}"/>
              </a:ext>
            </a:extLst>
          </p:cNvPr>
          <p:cNvSpPr>
            <a:spLocks xmlns:a="http://schemas.openxmlformats.org/drawingml/2006/main" noGrp="1"/>
          </p:cNvSpPr>
          <p:nvPr/>
        </p:nvSpPr>
        <p:spPr>
          <a:xfrm xmlns:a="http://schemas.openxmlformats.org/drawingml/2006/main">
            <a:off x="6684264"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비용 · 빠진 대조는 전부 실행 비용이 낮다</a:t>
            </a:r>
            <a:endParaRPr sz="1450"/>
          </a:p>
        </p:txBody>
      </p:sp>
      <p:sp>
        <p:nvSpPr>
          <p:cNvPr id="37" name="STC-27-refa-num-13">
            <a:extLst xmlns:a="http://schemas.openxmlformats.org/drawingml/2006/main">
              <a:ext uri="{FF2B5EF4-FFF2-40B4-BE49-F238E27FC236}">
                <a16:creationId xmlns:a16="http://schemas.microsoft.com/office/drawing/2014/main" id="{2CBC69DB-9A99-46EA-A59F-BF77F82CD6C1}"/>
              </a:ext>
            </a:extLst>
          </p:cNvPr>
          <p:cNvSpPr>
            <a:spLocks xmlns:a="http://schemas.openxmlformats.org/drawingml/2006/main" noGrp="1"/>
          </p:cNvSpPr>
          <p:nvPr/>
        </p:nvSpPr>
        <p:spPr>
          <a:xfrm xmlns:a="http://schemas.openxmlformats.org/drawingml/2006/main">
            <a:off x="6172200"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14</a:t>
            </a:r>
            <a:endParaRPr sz="950"/>
          </a:p>
        </p:txBody>
      </p:sp>
      <p:sp>
        <p:nvSpPr>
          <p:cNvPr id="38" name="STC-27-refa-text-13">
            <a:extLst xmlns:a="http://schemas.openxmlformats.org/drawingml/2006/main">
              <a:ext uri="{FF2B5EF4-FFF2-40B4-BE49-F238E27FC236}">
                <a16:creationId xmlns:a16="http://schemas.microsoft.com/office/drawing/2014/main" id="{0E347A02-8998-4EC3-8A05-EF92986A2024}"/>
              </a:ext>
            </a:extLst>
          </p:cNvPr>
          <p:cNvSpPr>
            <a:spLocks xmlns:a="http://schemas.openxmlformats.org/drawingml/2006/main" noGrp="1"/>
          </p:cNvSpPr>
          <p:nvPr/>
        </p:nvSpPr>
        <p:spPr>
          <a:xfrm xmlns:a="http://schemas.openxmlformats.org/drawingml/2006/main">
            <a:off x="6684264"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재채점 · corpus가 커질 때마다 같은 절차로 다시 센다</a:t>
            </a:r>
            <a:endParaRPr sz="1450"/>
          </a:p>
        </p:txBody>
      </p:sp>
      <p:sp>
        <p:nvSpPr>
          <p:cNvPr id="39" name="STC-27-refa-note">
            <a:extLst xmlns:a="http://schemas.openxmlformats.org/drawingml/2006/main">
              <a:ext uri="{FF2B5EF4-FFF2-40B4-BE49-F238E27FC236}">
                <a16:creationId xmlns:a16="http://schemas.microsoft.com/office/drawing/2014/main" id="{CD24E568-17B2-4E37-89AF-FBA238DDA767}"/>
              </a:ext>
            </a:extLst>
          </p:cNvPr>
          <p:cNvSpPr>
            <a:spLocks xmlns:a="http://schemas.openxmlformats.org/drawingml/2006/main" noGrp="1"/>
          </p:cNvSpPr>
          <p:nvPr/>
        </p:nvSpPr>
        <p:spPr>
          <a:xfrm xmlns:a="http://schemas.openxmlformats.org/drawingml/2006/main">
            <a:off x="2212848" y="5870448"/>
            <a:ext cx="77724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50">
                <a:solidFill>
                  <a:srgbClr val="59616A"/>
                </a:solidFill>
                <a:latin typeface="Noto Sans CJK KR"/>
                <a:ea typeface="Noto Sans CJK KR"/>
                <a:cs typeface="Noto Sans CJK KR"/>
              </a:rPr>
              <a:t>실행되었고 방법이 졌다</a:t>
            </a:r>
            <a:endParaRPr sz="1350"/>
          </a:p>
        </p:txBody>
      </p:sp>
    </p:spTree>
    <p:extLst>
      <p:ext uri="{BB962C8B-B14F-4D97-AF65-F5344CB8AC3E}">
        <p14:creationId xmlns:p14="http://schemas.microsoft.com/office/powerpoint/2010/main" val="1964283889"/>
      </p:ext>
    </p:extLst>
  </p:cSld>
</p:sld>
</file>

<file path=ppt/slides/slide10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8-section">
            <a:extLst xmlns:a="http://schemas.openxmlformats.org/drawingml/2006/main">
              <a:ext uri="{FF2B5EF4-FFF2-40B4-BE49-F238E27FC236}">
                <a16:creationId xmlns:a16="http://schemas.microsoft.com/office/drawing/2014/main" id="{7B2F2BEC-3602-48B7-8AE5-82606691E202}"/>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VERDICT</a:t>
            </a:r>
            <a:endParaRPr sz="950"/>
          </a:p>
        </p:txBody>
      </p:sp>
      <p:sp>
        <p:nvSpPr>
          <p:cNvPr id="3" name="STC-18-slide-id">
            <a:extLst xmlns:a="http://schemas.openxmlformats.org/drawingml/2006/main">
              <a:ext uri="{FF2B5EF4-FFF2-40B4-BE49-F238E27FC236}">
                <a16:creationId xmlns:a16="http://schemas.microsoft.com/office/drawing/2014/main" id="{9AE62136-189D-4710-BD84-EAC5632E1659}"/>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STC-105</a:t>
            </a:r>
            <a:endParaRPr sz="950"/>
          </a:p>
        </p:txBody>
      </p:sp>
      <p:sp>
        <p:nvSpPr>
          <p:cNvPr id="4" name="STC-18-headline">
            <a:extLst xmlns:a="http://schemas.openxmlformats.org/drawingml/2006/main">
              <a:ext uri="{FF2B5EF4-FFF2-40B4-BE49-F238E27FC236}">
                <a16:creationId xmlns:a16="http://schemas.microsoft.com/office/drawing/2014/main" id="{D266D2F1-778B-4F2E-AC6F-D10EF836FA1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판정 ⑫ — 현재 문헌으로 B_s–품질 곡선은 그릴 수 없다</a:t>
            </a:r>
            <a:endParaRPr sz="3000"/>
          </a:p>
        </p:txBody>
      </p:sp>
      <p:sp>
        <p:nvSpPr>
          <p:cNvPr id="5" name="STC-18-status-label">
            <a:extLst xmlns:a="http://schemas.openxmlformats.org/drawingml/2006/main">
              <a:ext uri="{FF2B5EF4-FFF2-40B4-BE49-F238E27FC236}">
                <a16:creationId xmlns:a16="http://schemas.microsoft.com/office/drawing/2014/main" id="{79C701E9-D174-4EFD-A18F-4DC89E642FD4}"/>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9A442D"/>
                </a:solidFill>
                <a:latin typeface="Noto Sans Mono CJK KR"/>
                <a:ea typeface="Noto Sans Mono CJK KR"/>
                <a:cs typeface="Noto Sans Mono CJK KR"/>
              </a:rPr>
              <a:t>감사 · 조건 없음</a:t>
            </a:r>
            <a:endParaRPr sz="1000"/>
          </a:p>
        </p:txBody>
      </p:sp>
      <p:sp>
        <p:nvSpPr>
          <p:cNvPr id="6" name="STC-18-status-rule">
            <a:extLst xmlns:a="http://schemas.openxmlformats.org/drawingml/2006/main">
              <a:ext uri="{FF2B5EF4-FFF2-40B4-BE49-F238E27FC236}">
                <a16:creationId xmlns:a16="http://schemas.microsoft.com/office/drawing/2014/main" id="{529715C2-F602-473A-947A-5FCB9DCC7AF8}"/>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9A442D"/>
            </a:solidFill>
            <a:prstDash val="solid"/>
            <a:tailEnd type="none"/>
          </a:ln>
        </p:spPr>
      </p:sp>
      <p:sp>
        <p:nvSpPr>
          <p:cNvPr id="7" name="STC-18-footer-rule">
            <a:extLst xmlns:a="http://schemas.openxmlformats.org/drawingml/2006/main">
              <a:ext uri="{FF2B5EF4-FFF2-40B4-BE49-F238E27FC236}">
                <a16:creationId xmlns:a16="http://schemas.microsoft.com/office/drawing/2014/main" id="{403A9EAC-FF66-416C-A329-C6EC95571F21}"/>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8-source-footer">
            <a:extLst xmlns:a="http://schemas.openxmlformats.org/drawingml/2006/main">
              <a:ext uri="{FF2B5EF4-FFF2-40B4-BE49-F238E27FC236}">
                <a16:creationId xmlns:a16="http://schemas.microsoft.com/office/drawing/2014/main" id="{4E420FB2-E8CE-4EDD-9FDC-7CA418F767F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ch28 §28.4 판정 1 · experiments/stc/X3 Q3, Q4</a:t>
            </a:r>
            <a:endParaRPr sz="850"/>
          </a:p>
        </p:txBody>
      </p:sp>
      <p:sp>
        <p:nvSpPr>
          <p:cNvPr id="9" name="STC-18-page-number">
            <a:extLst xmlns:a="http://schemas.openxmlformats.org/drawingml/2006/main">
              <a:ext uri="{FF2B5EF4-FFF2-40B4-BE49-F238E27FC236}">
                <a16:creationId xmlns:a16="http://schemas.microsoft.com/office/drawing/2014/main" id="{4FE270B3-F1A6-4BCA-B282-FDF212DC78F7}"/>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105</a:t>
            </a:r>
            <a:endParaRPr sz="850"/>
          </a:p>
        </p:txBody>
      </p:sp>
      <p:sp>
        <p:nvSpPr>
          <p:cNvPr id="11" name="STC-18-knee-axis-x">
            <a:extLst xmlns:a="http://schemas.openxmlformats.org/drawingml/2006/main">
              <a:ext uri="{FF2B5EF4-FFF2-40B4-BE49-F238E27FC236}">
                <a16:creationId xmlns:a16="http://schemas.microsoft.com/office/drawing/2014/main" id="{C81452CC-D40C-4DD0-AE1A-B0381E5804B5}"/>
              </a:ext>
            </a:extLst>
          </p:cNvPr>
          <p:cNvSpPr>
            <a:spLocks xmlns:a="http://schemas.openxmlformats.org/drawingml/2006/main" noGrp="1"/>
          </p:cNvSpPr>
          <p:nvPr/>
        </p:nvSpPr>
        <p:spPr>
          <a:xfrm xmlns:a="http://schemas.openxmlformats.org/drawingml/2006/main">
            <a:off x="1143000" y="5669280"/>
            <a:ext cx="6446520"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2" name="STC-18-knee-axis-y">
            <a:extLst xmlns:a="http://schemas.openxmlformats.org/drawingml/2006/main">
              <a:ext uri="{FF2B5EF4-FFF2-40B4-BE49-F238E27FC236}">
                <a16:creationId xmlns:a16="http://schemas.microsoft.com/office/drawing/2014/main" id="{E1F7C2CF-4433-4C4B-8A34-B94592ECA104}"/>
              </a:ext>
            </a:extLst>
          </p:cNvPr>
          <p:cNvSpPr>
            <a:spLocks xmlns:a="http://schemas.openxmlformats.org/drawingml/2006/main" noGrp="1"/>
          </p:cNvSpPr>
          <p:nvPr/>
        </p:nvSpPr>
        <p:spPr>
          <a:xfrm xmlns:a="http://schemas.openxmlformats.org/drawingml/2006/main" flipH="0" flipV="1">
            <a:off x="1143000" y="1691640"/>
            <a:ext cx="0" cy="397764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3" name="STC-18-knee-axis-xlabel">
            <a:extLst xmlns:a="http://schemas.openxmlformats.org/drawingml/2006/main">
              <a:ext uri="{FF2B5EF4-FFF2-40B4-BE49-F238E27FC236}">
                <a16:creationId xmlns:a16="http://schemas.microsoft.com/office/drawing/2014/main" id="{EDAFD2D4-0676-4B50-9F78-4EFC185B7F17}"/>
              </a:ext>
            </a:extLst>
          </p:cNvPr>
          <p:cNvSpPr>
            <a:spLocks xmlns:a="http://schemas.openxmlformats.org/drawingml/2006/main" noGrp="1"/>
          </p:cNvSpPr>
          <p:nvPr/>
        </p:nvSpPr>
        <p:spPr>
          <a:xfrm xmlns:a="http://schemas.openxmlformats.org/drawingml/2006/main">
            <a:off x="6126480" y="5815584"/>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a:solidFill>
                  <a:srgbClr val="59616A"/>
                </a:solidFill>
                <a:latin typeface="Noto Sans CJK KR"/>
                <a:ea typeface="Noto Sans CJK KR"/>
                <a:cs typeface="Noto Sans CJK KR"/>
              </a:rPr>
              <a:t>B_s</a:t>
            </a:r>
            <a:endParaRPr sz="1100"/>
          </a:p>
        </p:txBody>
      </p:sp>
      <p:sp>
        <p:nvSpPr>
          <p:cNvPr id="14" name="STC-18-knee-axis-ylabel">
            <a:extLst xmlns:a="http://schemas.openxmlformats.org/drawingml/2006/main">
              <a:ext uri="{FF2B5EF4-FFF2-40B4-BE49-F238E27FC236}">
                <a16:creationId xmlns:a16="http://schemas.microsoft.com/office/drawing/2014/main" id="{9B0E0507-09BE-4BC6-95FC-188BF218F1D0}"/>
              </a:ext>
            </a:extLst>
          </p:cNvPr>
          <p:cNvSpPr>
            <a:spLocks xmlns:a="http://schemas.openxmlformats.org/drawingml/2006/main" noGrp="1"/>
          </p:cNvSpPr>
          <p:nvPr/>
        </p:nvSpPr>
        <p:spPr>
          <a:xfrm xmlns:a="http://schemas.openxmlformats.org/drawingml/2006/main" rot="16200000">
            <a:off x="731520" y="1581912"/>
            <a:ext cx="14630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9616A"/>
                </a:solidFill>
                <a:latin typeface="Noto Sans CJK KR"/>
                <a:ea typeface="Noto Sans CJK KR"/>
                <a:cs typeface="Noto Sans CJK KR"/>
              </a:rPr>
              <a:t>품질</a:t>
            </a:r>
            <a:endParaRPr sz="1100"/>
          </a:p>
        </p:txBody>
      </p:sp>
      <p:sp>
        <p:nvSpPr>
          <p:cNvPr id="15" name="STC-18-knee-seg-1">
            <a:extLst xmlns:a="http://schemas.openxmlformats.org/drawingml/2006/main">
              <a:ext uri="{FF2B5EF4-FFF2-40B4-BE49-F238E27FC236}">
                <a16:creationId xmlns:a16="http://schemas.microsoft.com/office/drawing/2014/main" id="{003F0C5F-F595-422E-8FDF-066640D7D432}"/>
              </a:ext>
            </a:extLst>
          </p:cNvPr>
          <p:cNvSpPr>
            <a:spLocks xmlns:a="http://schemas.openxmlformats.org/drawingml/2006/main" noGrp="1"/>
          </p:cNvSpPr>
          <p:nvPr/>
        </p:nvSpPr>
        <p:spPr>
          <a:xfrm xmlns:a="http://schemas.openxmlformats.org/drawingml/2006/main">
            <a:off x="1298448" y="2148840"/>
            <a:ext cx="1005840" cy="27432"/>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6" name="STC-18-knee-seg-2">
            <a:extLst xmlns:a="http://schemas.openxmlformats.org/drawingml/2006/main">
              <a:ext uri="{FF2B5EF4-FFF2-40B4-BE49-F238E27FC236}">
                <a16:creationId xmlns:a16="http://schemas.microsoft.com/office/drawing/2014/main" id="{2F93FE18-0F04-40C0-9893-2A149CE61627}"/>
              </a:ext>
            </a:extLst>
          </p:cNvPr>
          <p:cNvSpPr>
            <a:spLocks xmlns:a="http://schemas.openxmlformats.org/drawingml/2006/main" noGrp="1"/>
          </p:cNvSpPr>
          <p:nvPr/>
        </p:nvSpPr>
        <p:spPr>
          <a:xfrm xmlns:a="http://schemas.openxmlformats.org/drawingml/2006/main">
            <a:off x="2304288" y="2176272"/>
            <a:ext cx="1005840" cy="109728"/>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7" name="STC-18-knee-seg-3">
            <a:extLst xmlns:a="http://schemas.openxmlformats.org/drawingml/2006/main">
              <a:ext uri="{FF2B5EF4-FFF2-40B4-BE49-F238E27FC236}">
                <a16:creationId xmlns:a16="http://schemas.microsoft.com/office/drawing/2014/main" id="{F6FEFA14-7856-41AC-9C31-FD11A3798DEF}"/>
              </a:ext>
            </a:extLst>
          </p:cNvPr>
          <p:cNvSpPr>
            <a:spLocks xmlns:a="http://schemas.openxmlformats.org/drawingml/2006/main" noGrp="1"/>
          </p:cNvSpPr>
          <p:nvPr/>
        </p:nvSpPr>
        <p:spPr>
          <a:xfrm xmlns:a="http://schemas.openxmlformats.org/drawingml/2006/main">
            <a:off x="3310128" y="2286000"/>
            <a:ext cx="1005840" cy="384048"/>
          </a:xfrm>
          <a:prstGeom xmlns:a="http://schemas.openxmlformats.org/drawingml/2006/main" prst="line">
            <a:avLst/>
          </a:prstGeom>
          <a:noFill xmlns:a="http://schemas.openxmlformats.org/drawingml/2006/main"/>
          <a:ln xmlns:a="http://schemas.openxmlformats.org/drawingml/2006/main" w="31750">
            <a:solidFill>
              <a:srgbClr val="244E8A"/>
            </a:solidFill>
            <a:prstDash val="solid"/>
            <a:tailEnd type="none"/>
          </a:ln>
        </p:spPr>
      </p:sp>
      <p:sp>
        <p:nvSpPr>
          <p:cNvPr id="18" name="STC-18-knee-seg-4">
            <a:extLst xmlns:a="http://schemas.openxmlformats.org/drawingml/2006/main">
              <a:ext uri="{FF2B5EF4-FFF2-40B4-BE49-F238E27FC236}">
                <a16:creationId xmlns:a16="http://schemas.microsoft.com/office/drawing/2014/main" id="{6763C838-9134-475E-ACDA-446F8E1614D8}"/>
              </a:ext>
            </a:extLst>
          </p:cNvPr>
          <p:cNvSpPr>
            <a:spLocks xmlns:a="http://schemas.openxmlformats.org/drawingml/2006/main" noGrp="1"/>
          </p:cNvSpPr>
          <p:nvPr/>
        </p:nvSpPr>
        <p:spPr>
          <a:xfrm xmlns:a="http://schemas.openxmlformats.org/drawingml/2006/main">
            <a:off x="4315968" y="2670048"/>
            <a:ext cx="1005840" cy="1024128"/>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19" name="STC-18-knee-seg-5">
            <a:extLst xmlns:a="http://schemas.openxmlformats.org/drawingml/2006/main">
              <a:ext uri="{FF2B5EF4-FFF2-40B4-BE49-F238E27FC236}">
                <a16:creationId xmlns:a16="http://schemas.microsoft.com/office/drawing/2014/main" id="{0972766A-6EEF-47F5-A54A-3BD977CCF7A8}"/>
              </a:ext>
            </a:extLst>
          </p:cNvPr>
          <p:cNvSpPr>
            <a:spLocks xmlns:a="http://schemas.openxmlformats.org/drawingml/2006/main" noGrp="1"/>
          </p:cNvSpPr>
          <p:nvPr/>
        </p:nvSpPr>
        <p:spPr>
          <a:xfrm xmlns:a="http://schemas.openxmlformats.org/drawingml/2006/main">
            <a:off x="5321808" y="3694176"/>
            <a:ext cx="1005840" cy="1298448"/>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20" name="STC-18-knee-seg-6">
            <a:extLst xmlns:a="http://schemas.openxmlformats.org/drawingml/2006/main">
              <a:ext uri="{FF2B5EF4-FFF2-40B4-BE49-F238E27FC236}">
                <a16:creationId xmlns:a16="http://schemas.microsoft.com/office/drawing/2014/main" id="{4DFF07AF-0006-44B9-8763-71C943AA66F4}"/>
              </a:ext>
            </a:extLst>
          </p:cNvPr>
          <p:cNvSpPr>
            <a:spLocks xmlns:a="http://schemas.openxmlformats.org/drawingml/2006/main" noGrp="1"/>
          </p:cNvSpPr>
          <p:nvPr/>
        </p:nvSpPr>
        <p:spPr>
          <a:xfrm xmlns:a="http://schemas.openxmlformats.org/drawingml/2006/main">
            <a:off x="6327648" y="4992624"/>
            <a:ext cx="822960" cy="164592"/>
          </a:xfrm>
          <a:prstGeom xmlns:a="http://schemas.openxmlformats.org/drawingml/2006/main" prst="line">
            <a:avLst/>
          </a:prstGeom>
          <a:noFill xmlns:a="http://schemas.openxmlformats.org/drawingml/2006/main"/>
          <a:ln xmlns:a="http://schemas.openxmlformats.org/drawingml/2006/main" w="31750">
            <a:solidFill>
              <a:srgbClr val="9A442D"/>
            </a:solidFill>
            <a:prstDash val="solid"/>
            <a:tailEnd type="none"/>
          </a:ln>
        </p:spPr>
      </p:sp>
      <p:sp>
        <p:nvSpPr>
          <p:cNvPr id="21" name="STC-18-knee-threshold">
            <a:extLst xmlns:a="http://schemas.openxmlformats.org/drawingml/2006/main">
              <a:ext uri="{FF2B5EF4-FFF2-40B4-BE49-F238E27FC236}">
                <a16:creationId xmlns:a16="http://schemas.microsoft.com/office/drawing/2014/main" id="{E0D27FC3-1406-4DDF-9A5F-FCD6BD706F18}"/>
              </a:ext>
            </a:extLst>
          </p:cNvPr>
          <p:cNvSpPr>
            <a:spLocks xmlns:a="http://schemas.openxmlformats.org/drawingml/2006/main" noGrp="1"/>
          </p:cNvSpPr>
          <p:nvPr/>
        </p:nvSpPr>
        <p:spPr>
          <a:xfrm xmlns:a="http://schemas.openxmlformats.org/drawingml/2006/main">
            <a:off x="1143000" y="2944368"/>
            <a:ext cx="6446520" cy="0"/>
          </a:xfrm>
          <a:prstGeom xmlns:a="http://schemas.openxmlformats.org/drawingml/2006/main" prst="line">
            <a:avLst/>
          </a:prstGeom>
          <a:noFill xmlns:a="http://schemas.openxmlformats.org/drawingml/2006/main"/>
          <a:ln xmlns:a="http://schemas.openxmlformats.org/drawingml/2006/main" w="12700">
            <a:solidFill>
              <a:srgbClr val="59616A"/>
            </a:solidFill>
            <a:prstDash val="solid"/>
            <a:tailEnd type="none"/>
          </a:ln>
        </p:spPr>
      </p:sp>
      <p:sp>
        <p:nvSpPr>
          <p:cNvPr id="22" name="STC-18-knee-threshold-label">
            <a:extLst xmlns:a="http://schemas.openxmlformats.org/drawingml/2006/main">
              <a:ext uri="{FF2B5EF4-FFF2-40B4-BE49-F238E27FC236}">
                <a16:creationId xmlns:a16="http://schemas.microsoft.com/office/drawing/2014/main" id="{C84DFF8C-E003-4B2D-8344-300CD8D0E8BA}"/>
              </a:ext>
            </a:extLst>
          </p:cNvPr>
          <p:cNvSpPr>
            <a:spLocks xmlns:a="http://schemas.openxmlformats.org/drawingml/2006/main" noGrp="1"/>
          </p:cNvSpPr>
          <p:nvPr/>
        </p:nvSpPr>
        <p:spPr>
          <a:xfrm xmlns:a="http://schemas.openxmlformats.org/drawingml/2006/main">
            <a:off x="1325880" y="2761488"/>
            <a:ext cx="11430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59616A"/>
                </a:solidFill>
                <a:latin typeface="Noto Sans Mono CJK KR"/>
                <a:ea typeface="Noto Sans Mono CJK KR"/>
                <a:cs typeface="Noto Sans Mono CJK KR"/>
              </a:rPr>
              <a:t>교집합 = ∅</a:t>
            </a:r>
            <a:endParaRPr sz="1050"/>
          </a:p>
        </p:txBody>
      </p:sp>
      <p:sp>
        <p:nvSpPr>
          <p:cNvPr id="23" name="STC-18-knee-marker">
            <a:extLst xmlns:a="http://schemas.openxmlformats.org/drawingml/2006/main">
              <a:ext uri="{FF2B5EF4-FFF2-40B4-BE49-F238E27FC236}">
                <a16:creationId xmlns:a16="http://schemas.microsoft.com/office/drawing/2014/main" id="{B7796550-C739-4C12-AB34-728E99CD5A5C}"/>
              </a:ext>
            </a:extLst>
          </p:cNvPr>
          <p:cNvSpPr>
            <a:spLocks xmlns:a="http://schemas.openxmlformats.org/drawingml/2006/main" noGrp="1"/>
          </p:cNvSpPr>
          <p:nvPr/>
        </p:nvSpPr>
        <p:spPr>
          <a:xfrm xmlns:a="http://schemas.openxmlformats.org/drawingml/2006/main">
            <a:off x="4709160" y="2889504"/>
            <a:ext cx="0" cy="2505456"/>
          </a:xfrm>
          <a:prstGeom xmlns:a="http://schemas.openxmlformats.org/drawingml/2006/main" prst="line">
            <a:avLst/>
          </a:prstGeom>
          <a:noFill xmlns:a="http://schemas.openxmlformats.org/drawingml/2006/main"/>
          <a:ln xmlns:a="http://schemas.openxmlformats.org/drawingml/2006/main" w="17780">
            <a:solidFill>
              <a:srgbClr val="9A442D"/>
            </a:solidFill>
            <a:prstDash val="solid"/>
            <a:tailEnd type="none"/>
          </a:ln>
        </p:spPr>
      </p:sp>
      <p:sp>
        <p:nvSpPr>
          <p:cNvPr id="24" name="STC-18-knee-keff">
            <a:extLst xmlns:a="http://schemas.openxmlformats.org/drawingml/2006/main">
              <a:ext uri="{FF2B5EF4-FFF2-40B4-BE49-F238E27FC236}">
                <a16:creationId xmlns:a16="http://schemas.microsoft.com/office/drawing/2014/main" id="{560C924C-F866-4087-B484-42FE73811586}"/>
              </a:ext>
            </a:extLst>
          </p:cNvPr>
          <p:cNvSpPr>
            <a:spLocks xmlns:a="http://schemas.openxmlformats.org/drawingml/2006/main" noGrp="1"/>
          </p:cNvSpPr>
          <p:nvPr/>
        </p:nvSpPr>
        <p:spPr>
          <a:xfrm xmlns:a="http://schemas.openxmlformats.org/drawingml/2006/main">
            <a:off x="4379976" y="5394960"/>
            <a:ext cx="685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erif CJK KR"/>
                <a:ea typeface="Noto Serif CJK KR"/>
                <a:cs typeface="Noto Serif CJK KR"/>
              </a:rPr>
              <a:t>∅</a:t>
            </a:r>
            <a:endParaRPr sz="1800"/>
          </a:p>
        </p:txBody>
      </p:sp>
      <p:sp>
        <p:nvSpPr>
          <p:cNvPr id="25" name="STC-18-knee-check-title">
            <a:extLst xmlns:a="http://schemas.openxmlformats.org/drawingml/2006/main">
              <a:ext uri="{FF2B5EF4-FFF2-40B4-BE49-F238E27FC236}">
                <a16:creationId xmlns:a16="http://schemas.microsoft.com/office/drawing/2014/main" id="{240D967C-B047-4CCF-991D-75A295890503}"/>
              </a:ext>
            </a:extLst>
          </p:cNvPr>
          <p:cNvSpPr>
            <a:spLocks xmlns:a="http://schemas.openxmlformats.org/drawingml/2006/main" noGrp="1"/>
          </p:cNvSpPr>
          <p:nvPr/>
        </p:nvSpPr>
        <p:spPr>
          <a:xfrm xmlns:a="http://schemas.openxmlformats.org/drawingml/2006/main">
            <a:off x="8247888" y="1783080"/>
            <a:ext cx="25603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9A442D"/>
                </a:solidFill>
                <a:latin typeface="Noto Sans Mono CJK KR"/>
                <a:ea typeface="Noto Sans Mono CJK KR"/>
                <a:cs typeface="Noto Sans Mono CJK KR"/>
              </a:rPr>
              <a:t>절대 단위 1편</a:t>
            </a:r>
            <a:endParaRPr sz="1100"/>
          </a:p>
        </p:txBody>
      </p:sp>
      <p:sp>
        <p:nvSpPr>
          <p:cNvPr id="26" name="STC-18-knee-checks-dot-0">
            <a:extLst xmlns:a="http://schemas.openxmlformats.org/drawingml/2006/main">
              <a:ext uri="{FF2B5EF4-FFF2-40B4-BE49-F238E27FC236}">
                <a16:creationId xmlns:a16="http://schemas.microsoft.com/office/drawing/2014/main" id="{C65AB8EB-CD2A-4877-B277-753424C37722}"/>
              </a:ext>
            </a:extLst>
          </p:cNvPr>
          <p:cNvSpPr>
            <a:spLocks xmlns:a="http://schemas.openxmlformats.org/drawingml/2006/main" noGrp="1"/>
          </p:cNvSpPr>
          <p:nvPr/>
        </p:nvSpPr>
        <p:spPr>
          <a:xfrm xmlns:a="http://schemas.openxmlformats.org/drawingml/2006/main">
            <a:off x="8275320" y="2350008"/>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27" name="STC-18-knee-checks-item-0">
            <a:extLst xmlns:a="http://schemas.openxmlformats.org/drawingml/2006/main">
              <a:ext uri="{FF2B5EF4-FFF2-40B4-BE49-F238E27FC236}">
                <a16:creationId xmlns:a16="http://schemas.microsoft.com/office/drawing/2014/main" id="{FDC997E1-38D9-4520-B007-6663A6DF0934}"/>
              </a:ext>
            </a:extLst>
          </p:cNvPr>
          <p:cNvSpPr>
            <a:spLocks xmlns:a="http://schemas.openxmlformats.org/drawingml/2006/main" noGrp="1"/>
          </p:cNvSpPr>
          <p:nvPr/>
        </p:nvSpPr>
        <p:spPr>
          <a:xfrm xmlns:a="http://schemas.openxmlformats.org/drawingml/2006/main">
            <a:off x="8503920" y="2240280"/>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절대 단위 1편</a:t>
            </a:r>
            <a:endParaRPr sz="1550"/>
          </a:p>
        </p:txBody>
      </p:sp>
      <p:sp>
        <p:nvSpPr>
          <p:cNvPr id="28" name="STC-18-knee-checks-dot-1">
            <a:extLst xmlns:a="http://schemas.openxmlformats.org/drawingml/2006/main">
              <a:ext uri="{FF2B5EF4-FFF2-40B4-BE49-F238E27FC236}">
                <a16:creationId xmlns:a16="http://schemas.microsoft.com/office/drawing/2014/main" id="{00BD0BBB-062E-4E7B-BBB4-C431B7E66222}"/>
              </a:ext>
            </a:extLst>
          </p:cNvPr>
          <p:cNvSpPr>
            <a:spLocks xmlns:a="http://schemas.openxmlformats.org/drawingml/2006/main" noGrp="1"/>
          </p:cNvSpPr>
          <p:nvPr/>
        </p:nvSpPr>
        <p:spPr>
          <a:xfrm xmlns:a="http://schemas.openxmlformats.org/drawingml/2006/main">
            <a:off x="8275320" y="2907792"/>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29" name="STC-18-knee-checks-item-1">
            <a:extLst xmlns:a="http://schemas.openxmlformats.org/drawingml/2006/main">
              <a:ext uri="{FF2B5EF4-FFF2-40B4-BE49-F238E27FC236}">
                <a16:creationId xmlns:a16="http://schemas.microsoft.com/office/drawing/2014/main" id="{1F595761-551F-4541-8F4F-785370299BEA}"/>
              </a:ext>
            </a:extLst>
          </p:cNvPr>
          <p:cNvSpPr>
            <a:spLocks xmlns:a="http://schemas.openxmlformats.org/drawingml/2006/main" noGrp="1"/>
          </p:cNvSpPr>
          <p:nvPr/>
        </p:nvSpPr>
        <p:spPr>
          <a:xfrm xmlns:a="http://schemas.openxmlformats.org/drawingml/2006/main">
            <a:off x="8503920" y="2798064"/>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3점 이상 4편</a:t>
            </a:r>
            <a:endParaRPr sz="1550"/>
          </a:p>
        </p:txBody>
      </p:sp>
      <p:sp>
        <p:nvSpPr>
          <p:cNvPr id="30" name="STC-18-knee-checks-dot-2">
            <a:extLst xmlns:a="http://schemas.openxmlformats.org/drawingml/2006/main">
              <a:ext uri="{FF2B5EF4-FFF2-40B4-BE49-F238E27FC236}">
                <a16:creationId xmlns:a16="http://schemas.microsoft.com/office/drawing/2014/main" id="{B00D3C67-9E7B-416B-A50C-CD6FB683D1F6}"/>
              </a:ext>
            </a:extLst>
          </p:cNvPr>
          <p:cNvSpPr>
            <a:spLocks xmlns:a="http://schemas.openxmlformats.org/drawingml/2006/main" noGrp="1"/>
          </p:cNvSpPr>
          <p:nvPr/>
        </p:nvSpPr>
        <p:spPr>
          <a:xfrm xmlns:a="http://schemas.openxmlformats.org/drawingml/2006/main">
            <a:off x="8275320" y="3465576"/>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1" name="STC-18-knee-checks-item-2">
            <a:extLst xmlns:a="http://schemas.openxmlformats.org/drawingml/2006/main">
              <a:ext uri="{FF2B5EF4-FFF2-40B4-BE49-F238E27FC236}">
                <a16:creationId xmlns:a16="http://schemas.microsoft.com/office/drawing/2014/main" id="{A8AD6B50-1222-40F0-B872-FB02938FCA2A}"/>
              </a:ext>
            </a:extLst>
          </p:cNvPr>
          <p:cNvSpPr>
            <a:spLocks xmlns:a="http://schemas.openxmlformats.org/drawingml/2006/main" noGrp="1"/>
          </p:cNvSpPr>
          <p:nvPr/>
        </p:nvSpPr>
        <p:spPr>
          <a:xfrm xmlns:a="http://schemas.openxmlformats.org/drawingml/2006/main">
            <a:off x="8503920" y="3355848"/>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그중 절대 2편</a:t>
            </a:r>
            <a:endParaRPr sz="1550"/>
          </a:p>
        </p:txBody>
      </p:sp>
      <p:sp>
        <p:nvSpPr>
          <p:cNvPr id="32" name="STC-18-knee-checks-dot-3">
            <a:extLst xmlns:a="http://schemas.openxmlformats.org/drawingml/2006/main">
              <a:ext uri="{FF2B5EF4-FFF2-40B4-BE49-F238E27FC236}">
                <a16:creationId xmlns:a16="http://schemas.microsoft.com/office/drawing/2014/main" id="{193D497B-83CE-4A7D-AB94-EF7C0D144494}"/>
              </a:ext>
            </a:extLst>
          </p:cNvPr>
          <p:cNvSpPr>
            <a:spLocks xmlns:a="http://schemas.openxmlformats.org/drawingml/2006/main" noGrp="1"/>
          </p:cNvSpPr>
          <p:nvPr/>
        </p:nvSpPr>
        <p:spPr>
          <a:xfrm xmlns:a="http://schemas.openxmlformats.org/drawingml/2006/main">
            <a:off x="8275320" y="4023360"/>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3" name="STC-18-knee-checks-item-3">
            <a:extLst xmlns:a="http://schemas.openxmlformats.org/drawingml/2006/main">
              <a:ext uri="{FF2B5EF4-FFF2-40B4-BE49-F238E27FC236}">
                <a16:creationId xmlns:a16="http://schemas.microsoft.com/office/drawing/2014/main" id="{54E8D5AD-5943-4DD5-A8F6-1C16D270C65A}"/>
              </a:ext>
            </a:extLst>
          </p:cNvPr>
          <p:cNvSpPr>
            <a:spLocks xmlns:a="http://schemas.openxmlformats.org/drawingml/2006/main" noGrp="1"/>
          </p:cNvSpPr>
          <p:nvPr/>
        </p:nvSpPr>
        <p:spPr>
          <a:xfrm xmlns:a="http://schemas.openxmlformats.org/drawingml/2006/main">
            <a:off x="8503920" y="3913632"/>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공유 벤치 0건</a:t>
            </a:r>
            <a:endParaRPr sz="1550"/>
          </a:p>
        </p:txBody>
      </p:sp>
      <p:sp>
        <p:nvSpPr>
          <p:cNvPr id="34" name="STC-18-knee-checks-dot-4">
            <a:extLst xmlns:a="http://schemas.openxmlformats.org/drawingml/2006/main">
              <a:ext uri="{FF2B5EF4-FFF2-40B4-BE49-F238E27FC236}">
                <a16:creationId xmlns:a16="http://schemas.microsoft.com/office/drawing/2014/main" id="{5D751B45-D75A-4C29-86C3-1A10CDA2ACFD}"/>
              </a:ext>
            </a:extLst>
          </p:cNvPr>
          <p:cNvSpPr>
            <a:spLocks xmlns:a="http://schemas.openxmlformats.org/drawingml/2006/main" noGrp="1"/>
          </p:cNvSpPr>
          <p:nvPr/>
        </p:nvSpPr>
        <p:spPr>
          <a:xfrm xmlns:a="http://schemas.openxmlformats.org/drawingml/2006/main">
            <a:off x="8275320" y="4581144"/>
            <a:ext cx="82296" cy="82296"/>
          </a:xfrm>
          <a:prstGeom xmlns:a="http://schemas.openxmlformats.org/drawingml/2006/main" prst="ellipse">
            <a:avLst/>
          </a:prstGeom>
          <a:solidFill xmlns:a="http://schemas.openxmlformats.org/drawingml/2006/main">
            <a:srgbClr val="9A442D"/>
          </a:solidFill>
          <a:ln xmlns:a="http://schemas.openxmlformats.org/drawingml/2006/main" w="12700">
            <a:solidFill>
              <a:srgbClr val="9A442D"/>
            </a:solidFill>
            <a:prstDash val="solid"/>
          </a:ln>
        </p:spPr>
      </p:sp>
      <p:sp>
        <p:nvSpPr>
          <p:cNvPr id="35" name="STC-18-knee-checks-item-4">
            <a:extLst xmlns:a="http://schemas.openxmlformats.org/drawingml/2006/main">
              <a:ext uri="{FF2B5EF4-FFF2-40B4-BE49-F238E27FC236}">
                <a16:creationId xmlns:a16="http://schemas.microsoft.com/office/drawing/2014/main" id="{3E5A4F76-5BB5-4E5A-A1D9-42BC1A8E5C0F}"/>
              </a:ext>
            </a:extLst>
          </p:cNvPr>
          <p:cNvSpPr>
            <a:spLocks xmlns:a="http://schemas.openxmlformats.org/drawingml/2006/main" noGrp="1"/>
          </p:cNvSpPr>
          <p:nvPr/>
        </p:nvSpPr>
        <p:spPr>
          <a:xfrm xmlns:a="http://schemas.openxmlformats.org/drawingml/2006/main">
            <a:off x="8503920" y="4471416"/>
            <a:ext cx="231343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a:solidFill>
                  <a:srgbClr val="17191C"/>
                </a:solidFill>
                <a:latin typeface="Noto Sans CJK KR"/>
                <a:ea typeface="Noto Sans CJK KR"/>
                <a:cs typeface="Noto Sans CJK KR"/>
              </a:rPr>
              <a:t>A군 중 0편</a:t>
            </a:r>
            <a:endParaRPr sz="1550"/>
          </a:p>
        </p:txBody>
      </p:sp>
      <p:sp>
        <p:nvSpPr>
          <p:cNvPr id="36" name="STC-18-knee-unidentified">
            <a:extLst xmlns:a="http://schemas.openxmlformats.org/drawingml/2006/main">
              <a:ext uri="{FF2B5EF4-FFF2-40B4-BE49-F238E27FC236}">
                <a16:creationId xmlns:a16="http://schemas.microsoft.com/office/drawing/2014/main" id="{180F873B-5C68-4872-B82F-6C6C0ED74CC8}"/>
              </a:ext>
            </a:extLst>
          </p:cNvPr>
          <p:cNvSpPr>
            <a:spLocks xmlns:a="http://schemas.openxmlformats.org/drawingml/2006/main" noGrp="1"/>
          </p:cNvSpPr>
          <p:nvPr/>
        </p:nvSpPr>
        <p:spPr>
          <a:xfrm xmlns:a="http://schemas.openxmlformats.org/drawingml/2006/main">
            <a:off x="8211312" y="5230368"/>
            <a:ext cx="2706624" cy="52120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37" name="STC-18-knee-unidentified-text">
            <a:extLst xmlns:a="http://schemas.openxmlformats.org/drawingml/2006/main">
              <a:ext uri="{FF2B5EF4-FFF2-40B4-BE49-F238E27FC236}">
                <a16:creationId xmlns:a16="http://schemas.microsoft.com/office/drawing/2014/main" id="{39151F30-D5D2-4D64-B766-810DF4EFE62A}"/>
              </a:ext>
            </a:extLst>
          </p:cNvPr>
          <p:cNvSpPr>
            <a:spLocks xmlns:a="http://schemas.openxmlformats.org/drawingml/2006/main" noGrp="1"/>
          </p:cNvSpPr>
          <p:nvPr/>
        </p:nvSpPr>
        <p:spPr>
          <a:xfrm xmlns:a="http://schemas.openxmlformats.org/drawingml/2006/main">
            <a:off x="8348472" y="5404104"/>
            <a:ext cx="243230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b="1">
                <a:solidFill>
                  <a:srgbClr val="FFFFFF"/>
                </a:solidFill>
                <a:latin typeface="Noto Sans Mono CJK KR"/>
                <a:ea typeface="Noto Sans Mono CJK KR"/>
                <a:cs typeface="Noto Sans Mono CJK KR"/>
              </a:rPr>
              <a:t>x축과 y축이 동시에 깨져 있다</a:t>
            </a:r>
            <a:endParaRPr sz="1050"/>
          </a:p>
        </p:txBody>
      </p:sp>
    </p:spTree>
    <p:extLst>
      <p:ext uri="{BB962C8B-B14F-4D97-AF65-F5344CB8AC3E}">
        <p14:creationId xmlns:p14="http://schemas.microsoft.com/office/powerpoint/2010/main" val="1452305100"/>
      </p:ext>
    </p:extLst>
  </p:cSld>
</p:sld>
</file>

<file path=ppt/slides/slide10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8-section">
            <a:extLst xmlns:a="http://schemas.openxmlformats.org/drawingml/2006/main">
              <a:ext uri="{FF2B5EF4-FFF2-40B4-BE49-F238E27FC236}">
                <a16:creationId xmlns:a16="http://schemas.microsoft.com/office/drawing/2014/main" id="{38FCD26C-6C12-44CF-8CD7-4267D96F198F}"/>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VERDICT</a:t>
            </a:r>
            <a:endParaRPr sz="950"/>
          </a:p>
        </p:txBody>
      </p:sp>
      <p:sp>
        <p:nvSpPr>
          <p:cNvPr id="3" name="STC-28-slide-id">
            <a:extLst xmlns:a="http://schemas.openxmlformats.org/drawingml/2006/main">
              <a:ext uri="{FF2B5EF4-FFF2-40B4-BE49-F238E27FC236}">
                <a16:creationId xmlns:a16="http://schemas.microsoft.com/office/drawing/2014/main" id="{6A71C3FC-3B13-4A28-97D6-67C2759E91C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STC-106</a:t>
            </a:r>
            <a:endParaRPr sz="950"/>
          </a:p>
        </p:txBody>
      </p:sp>
      <p:sp>
        <p:nvSpPr>
          <p:cNvPr id="4" name="STC-28-headline">
            <a:extLst xmlns:a="http://schemas.openxmlformats.org/drawingml/2006/main">
              <a:ext uri="{FF2B5EF4-FFF2-40B4-BE49-F238E27FC236}">
                <a16:creationId xmlns:a16="http://schemas.microsoft.com/office/drawing/2014/main" id="{5A71EE62-05C8-4CE0-91E4-63D515E2CB75}"/>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17191C"/>
                </a:solidFill>
                <a:latin typeface="Noto Sans CJK KR"/>
                <a:ea typeface="Noto Sans CJK KR"/>
                <a:cs typeface="Noto Sans CJK KR"/>
              </a:rPr>
              <a:t>그래서 무엇을 인쇄해야 하는가 — 최소 보고 요구 R1–R9</a:t>
            </a:r>
            <a:endParaRPr sz="2800"/>
          </a:p>
        </p:txBody>
      </p:sp>
      <p:sp>
        <p:nvSpPr>
          <p:cNvPr id="5" name="STC-28-status-label">
            <a:extLst xmlns:a="http://schemas.openxmlformats.org/drawingml/2006/main">
              <a:ext uri="{FF2B5EF4-FFF2-40B4-BE49-F238E27FC236}">
                <a16:creationId xmlns:a16="http://schemas.microsoft.com/office/drawing/2014/main" id="{6E72FC80-4CD3-46F0-9E39-2D524CABE32C}"/>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44E8A"/>
                </a:solidFill>
                <a:latin typeface="Noto Sans Mono CJK KR"/>
                <a:ea typeface="Noto Sans Mono CJK KR"/>
                <a:cs typeface="Noto Sans Mono CJK KR"/>
              </a:rPr>
              <a:t>제안</a:t>
            </a:r>
            <a:endParaRPr sz="1000"/>
          </a:p>
        </p:txBody>
      </p:sp>
      <p:sp>
        <p:nvSpPr>
          <p:cNvPr id="6" name="STC-28-status-rule">
            <a:extLst xmlns:a="http://schemas.openxmlformats.org/drawingml/2006/main">
              <a:ext uri="{FF2B5EF4-FFF2-40B4-BE49-F238E27FC236}">
                <a16:creationId xmlns:a16="http://schemas.microsoft.com/office/drawing/2014/main" id="{381AABF8-3E35-422A-9B66-BD2E60850212}"/>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44E8A"/>
            </a:solidFill>
            <a:prstDash val="solid"/>
            <a:tailEnd type="none"/>
          </a:ln>
        </p:spPr>
      </p:sp>
      <p:sp>
        <p:nvSpPr>
          <p:cNvPr id="7" name="STC-28-footer-rule">
            <a:extLst xmlns:a="http://schemas.openxmlformats.org/drawingml/2006/main">
              <a:ext uri="{FF2B5EF4-FFF2-40B4-BE49-F238E27FC236}">
                <a16:creationId xmlns:a16="http://schemas.microsoft.com/office/drawing/2014/main" id="{15C701C2-A052-4584-B4CD-2B50899B0C87}"/>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8-source-footer">
            <a:extLst xmlns:a="http://schemas.openxmlformats.org/drawingml/2006/main">
              <a:ext uri="{FF2B5EF4-FFF2-40B4-BE49-F238E27FC236}">
                <a16:creationId xmlns:a16="http://schemas.microsoft.com/office/drawing/2014/main" id="{DFB90BE2-907D-4C66-A463-DE17189AD77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표 28-5 · experiments/stc/X3 Q4</a:t>
            </a:r>
            <a:endParaRPr sz="850"/>
          </a:p>
        </p:txBody>
      </p:sp>
      <p:sp>
        <p:nvSpPr>
          <p:cNvPr id="9" name="STC-28-page-number">
            <a:extLst xmlns:a="http://schemas.openxmlformats.org/drawingml/2006/main">
              <a:ext uri="{FF2B5EF4-FFF2-40B4-BE49-F238E27FC236}">
                <a16:creationId xmlns:a16="http://schemas.microsoft.com/office/drawing/2014/main" id="{83FCB4BE-56BD-44FC-B01A-FE557431420A}"/>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106</a:t>
            </a:r>
            <a:endParaRPr sz="850"/>
          </a:p>
        </p:txBody>
      </p:sp>
      <p:sp>
        <p:nvSpPr>
          <p:cNvPr id="11" name="STC-28-refb-num-0">
            <a:extLst xmlns:a="http://schemas.openxmlformats.org/drawingml/2006/main">
              <a:ext uri="{FF2B5EF4-FFF2-40B4-BE49-F238E27FC236}">
                <a16:creationId xmlns:a16="http://schemas.microsoft.com/office/drawing/2014/main" id="{A9E3672A-22B8-4FD1-AF0A-CD6431C1CDF5}"/>
              </a:ext>
            </a:extLst>
          </p:cNvPr>
          <p:cNvSpPr>
            <a:spLocks xmlns:a="http://schemas.openxmlformats.org/drawingml/2006/main" noGrp="1"/>
          </p:cNvSpPr>
          <p:nvPr/>
        </p:nvSpPr>
        <p:spPr>
          <a:xfrm xmlns:a="http://schemas.openxmlformats.org/drawingml/2006/main">
            <a:off x="841248"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01</a:t>
            </a:r>
            <a:endParaRPr sz="950"/>
          </a:p>
        </p:txBody>
      </p:sp>
      <p:sp>
        <p:nvSpPr>
          <p:cNvPr id="12" name="STC-28-refb-text-0">
            <a:extLst xmlns:a="http://schemas.openxmlformats.org/drawingml/2006/main">
              <a:ext uri="{FF2B5EF4-FFF2-40B4-BE49-F238E27FC236}">
                <a16:creationId xmlns:a16="http://schemas.microsoft.com/office/drawing/2014/main" id="{73D96B02-EBDC-4045-B33F-7D0B788D5032}"/>
              </a:ext>
            </a:extLst>
          </p:cNvPr>
          <p:cNvSpPr>
            <a:spLocks xmlns:a="http://schemas.openxmlformats.org/drawingml/2006/main" noGrp="1"/>
          </p:cNvSpPr>
          <p:nvPr/>
        </p:nvSpPr>
        <p:spPr>
          <a:xfrm xmlns:a="http://schemas.openxmlformats.org/drawingml/2006/main">
            <a:off x="1353312"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R1 · B_s를 절대 FLOPs로. 못 하면 환산 입력을 함께</a:t>
            </a:r>
            <a:endParaRPr sz="1450"/>
          </a:p>
        </p:txBody>
      </p:sp>
      <p:sp>
        <p:nvSpPr>
          <p:cNvPr id="13" name="STC-28-refb-num-1">
            <a:extLst xmlns:a="http://schemas.openxmlformats.org/drawingml/2006/main">
              <a:ext uri="{FF2B5EF4-FFF2-40B4-BE49-F238E27FC236}">
                <a16:creationId xmlns:a16="http://schemas.microsoft.com/office/drawing/2014/main" id="{592C164C-E030-4739-A0A1-E046FC00C259}"/>
              </a:ext>
            </a:extLst>
          </p:cNvPr>
          <p:cNvSpPr>
            <a:spLocks xmlns:a="http://schemas.openxmlformats.org/drawingml/2006/main" noGrp="1"/>
          </p:cNvSpPr>
          <p:nvPr/>
        </p:nvSpPr>
        <p:spPr>
          <a:xfrm xmlns:a="http://schemas.openxmlformats.org/drawingml/2006/main">
            <a:off x="841248"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02</a:t>
            </a:r>
            <a:endParaRPr sz="950"/>
          </a:p>
        </p:txBody>
      </p:sp>
      <p:sp>
        <p:nvSpPr>
          <p:cNvPr id="14" name="STC-28-refb-text-1">
            <a:extLst xmlns:a="http://schemas.openxmlformats.org/drawingml/2006/main">
              <a:ext uri="{FF2B5EF4-FFF2-40B4-BE49-F238E27FC236}">
                <a16:creationId xmlns:a16="http://schemas.microsoft.com/office/drawing/2014/main" id="{6827CF69-172C-4418-BA31-264E74CB0A71}"/>
              </a:ext>
            </a:extLst>
          </p:cNvPr>
          <p:cNvSpPr>
            <a:spLocks xmlns:a="http://schemas.openxmlformats.org/drawingml/2006/main" noGrp="1"/>
          </p:cNvSpPr>
          <p:nvPr/>
        </p:nvSpPr>
        <p:spPr>
          <a:xfrm xmlns:a="http://schemas.openxmlformats.org/drawingml/2006/main">
            <a:off x="1353312"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R2 · step·벽시계면 batch·길이·파라미터·MFU를 함께</a:t>
            </a:r>
            <a:endParaRPr sz="1450"/>
          </a:p>
        </p:txBody>
      </p:sp>
      <p:sp>
        <p:nvSpPr>
          <p:cNvPr id="15" name="STC-28-refb-num-2">
            <a:extLst xmlns:a="http://schemas.openxmlformats.org/drawingml/2006/main">
              <a:ext uri="{FF2B5EF4-FFF2-40B4-BE49-F238E27FC236}">
                <a16:creationId xmlns:a16="http://schemas.microsoft.com/office/drawing/2014/main" id="{46BAE1D1-9D98-472E-9618-BD4F36CBAB2C}"/>
              </a:ext>
            </a:extLst>
          </p:cNvPr>
          <p:cNvSpPr>
            <a:spLocks xmlns:a="http://schemas.openxmlformats.org/drawingml/2006/main" noGrp="1"/>
          </p:cNvSpPr>
          <p:nvPr/>
        </p:nvSpPr>
        <p:spPr>
          <a:xfrm xmlns:a="http://schemas.openxmlformats.org/drawingml/2006/main">
            <a:off x="841248"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03</a:t>
            </a:r>
            <a:endParaRPr sz="950"/>
          </a:p>
        </p:txBody>
      </p:sp>
      <p:sp>
        <p:nvSpPr>
          <p:cNvPr id="16" name="STC-28-refb-text-2">
            <a:extLst xmlns:a="http://schemas.openxmlformats.org/drawingml/2006/main">
              <a:ext uri="{FF2B5EF4-FFF2-40B4-BE49-F238E27FC236}">
                <a16:creationId xmlns:a16="http://schemas.microsoft.com/office/drawing/2014/main" id="{8AB23C3E-B51C-4DDD-AD70-656E2327298D}"/>
              </a:ext>
            </a:extLst>
          </p:cNvPr>
          <p:cNvSpPr>
            <a:spLocks xmlns:a="http://schemas.openxmlformats.org/drawingml/2006/main" noGrp="1"/>
          </p:cNvSpPr>
          <p:nvPr/>
        </p:nvSpPr>
        <p:spPr>
          <a:xfrm xmlns:a="http://schemas.openxmlformats.org/drawingml/2006/main">
            <a:off x="1353312"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R3 · 한 점이 아니라 최소 3점 sweep과 각 점의 품질</a:t>
            </a:r>
            <a:endParaRPr sz="1450"/>
          </a:p>
        </p:txBody>
      </p:sp>
      <p:sp>
        <p:nvSpPr>
          <p:cNvPr id="17" name="STC-28-refb-num-3">
            <a:extLst xmlns:a="http://schemas.openxmlformats.org/drawingml/2006/main">
              <a:ext uri="{FF2B5EF4-FFF2-40B4-BE49-F238E27FC236}">
                <a16:creationId xmlns:a16="http://schemas.microsoft.com/office/drawing/2014/main" id="{AD2C23C3-19B5-4931-8A2D-09E68901DA23}"/>
              </a:ext>
            </a:extLst>
          </p:cNvPr>
          <p:cNvSpPr>
            <a:spLocks xmlns:a="http://schemas.openxmlformats.org/drawingml/2006/main" noGrp="1"/>
          </p:cNvSpPr>
          <p:nvPr/>
        </p:nvSpPr>
        <p:spPr>
          <a:xfrm xmlns:a="http://schemas.openxmlformats.org/drawingml/2006/main">
            <a:off x="841248"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04</a:t>
            </a:r>
            <a:endParaRPr sz="950"/>
          </a:p>
        </p:txBody>
      </p:sp>
      <p:sp>
        <p:nvSpPr>
          <p:cNvPr id="18" name="STC-28-refb-text-3">
            <a:extLst xmlns:a="http://schemas.openxmlformats.org/drawingml/2006/main">
              <a:ext uri="{FF2B5EF4-FFF2-40B4-BE49-F238E27FC236}">
                <a16:creationId xmlns:a16="http://schemas.microsoft.com/office/drawing/2014/main" id="{9333E338-EF4B-4EEB-BCE8-8D680BD16B5D}"/>
              </a:ext>
            </a:extLst>
          </p:cNvPr>
          <p:cNvSpPr>
            <a:spLocks xmlns:a="http://schemas.openxmlformats.org/drawingml/2006/main" noGrp="1"/>
          </p:cNvSpPr>
          <p:nvPr/>
        </p:nvSpPr>
        <p:spPr>
          <a:xfrm xmlns:a="http://schemas.openxmlformats.org/drawingml/2006/main">
            <a:off x="1353312"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R4 · 공개 벤치에서 같은 지표·같은 baseline arm으로</a:t>
            </a:r>
            <a:endParaRPr sz="1450"/>
          </a:p>
        </p:txBody>
      </p:sp>
      <p:sp>
        <p:nvSpPr>
          <p:cNvPr id="19" name="STC-28-refb-num-4">
            <a:extLst xmlns:a="http://schemas.openxmlformats.org/drawingml/2006/main">
              <a:ext uri="{FF2B5EF4-FFF2-40B4-BE49-F238E27FC236}">
                <a16:creationId xmlns:a16="http://schemas.microsoft.com/office/drawing/2014/main" id="{1E15AAF6-4750-45EE-A03F-1DC59364D3E5}"/>
              </a:ext>
            </a:extLst>
          </p:cNvPr>
          <p:cNvSpPr>
            <a:spLocks xmlns:a="http://schemas.openxmlformats.org/drawingml/2006/main" noGrp="1"/>
          </p:cNvSpPr>
          <p:nvPr/>
        </p:nvSpPr>
        <p:spPr>
          <a:xfrm xmlns:a="http://schemas.openxmlformats.org/drawingml/2006/main">
            <a:off x="841248"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05</a:t>
            </a:r>
            <a:endParaRPr sz="950"/>
          </a:p>
        </p:txBody>
      </p:sp>
      <p:sp>
        <p:nvSpPr>
          <p:cNvPr id="20" name="STC-28-refb-text-4">
            <a:extLst xmlns:a="http://schemas.openxmlformats.org/drawingml/2006/main">
              <a:ext uri="{FF2B5EF4-FFF2-40B4-BE49-F238E27FC236}">
                <a16:creationId xmlns:a16="http://schemas.microsoft.com/office/drawing/2014/main" id="{BE166349-AC22-429E-9D14-CDAFE2AD676B}"/>
              </a:ext>
            </a:extLst>
          </p:cNvPr>
          <p:cNvSpPr>
            <a:spLocks xmlns:a="http://schemas.openxmlformats.org/drawingml/2006/main" noGrp="1"/>
          </p:cNvSpPr>
          <p:nvPr/>
        </p:nvSpPr>
        <p:spPr>
          <a:xfrm xmlns:a="http://schemas.openxmlformats.org/drawingml/2006/main">
            <a:off x="1353312"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R5 · B_s가 무엇당 예산인지와 N_q의 분포</a:t>
            </a:r>
            <a:endParaRPr sz="1450"/>
          </a:p>
        </p:txBody>
      </p:sp>
      <p:sp>
        <p:nvSpPr>
          <p:cNvPr id="21" name="STC-28-refb-num-5">
            <a:extLst xmlns:a="http://schemas.openxmlformats.org/drawingml/2006/main">
              <a:ext uri="{FF2B5EF4-FFF2-40B4-BE49-F238E27FC236}">
                <a16:creationId xmlns:a16="http://schemas.microsoft.com/office/drawing/2014/main" id="{14A1CF6F-F410-4DC0-A538-64E6E15DD425}"/>
              </a:ext>
            </a:extLst>
          </p:cNvPr>
          <p:cNvSpPr>
            <a:spLocks xmlns:a="http://schemas.openxmlformats.org/drawingml/2006/main" noGrp="1"/>
          </p:cNvSpPr>
          <p:nvPr/>
        </p:nvSpPr>
        <p:spPr>
          <a:xfrm xmlns:a="http://schemas.openxmlformats.org/drawingml/2006/main">
            <a:off x="841248"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06</a:t>
            </a:r>
            <a:endParaRPr sz="950"/>
          </a:p>
        </p:txBody>
      </p:sp>
      <p:sp>
        <p:nvSpPr>
          <p:cNvPr id="22" name="STC-28-refb-text-5">
            <a:extLst xmlns:a="http://schemas.openxmlformats.org/drawingml/2006/main">
              <a:ext uri="{FF2B5EF4-FFF2-40B4-BE49-F238E27FC236}">
                <a16:creationId xmlns:a16="http://schemas.microsoft.com/office/drawing/2014/main" id="{316DBB8F-0966-4178-AA42-3DCCAA57F4E8}"/>
              </a:ext>
            </a:extLst>
          </p:cNvPr>
          <p:cNvSpPr>
            <a:spLocks xmlns:a="http://schemas.openxmlformats.org/drawingml/2006/main" noGrp="1"/>
          </p:cNvSpPr>
          <p:nvPr/>
        </p:nvSpPr>
        <p:spPr>
          <a:xfrm xmlns:a="http://schemas.openxmlformats.org/drawingml/2006/main">
            <a:off x="1353312"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R6 · wake 쪽 델타 — |ĉ|와 |c|</a:t>
            </a:r>
            <a:endParaRPr sz="1450"/>
          </a:p>
        </p:txBody>
      </p:sp>
      <p:sp>
        <p:nvSpPr>
          <p:cNvPr id="23" name="STC-28-refb-num-6">
            <a:extLst xmlns:a="http://schemas.openxmlformats.org/drawingml/2006/main">
              <a:ext uri="{FF2B5EF4-FFF2-40B4-BE49-F238E27FC236}">
                <a16:creationId xmlns:a16="http://schemas.microsoft.com/office/drawing/2014/main" id="{127FECDE-8F42-43EB-9FE0-E111504E3910}"/>
              </a:ext>
            </a:extLst>
          </p:cNvPr>
          <p:cNvSpPr>
            <a:spLocks xmlns:a="http://schemas.openxmlformats.org/drawingml/2006/main" noGrp="1"/>
          </p:cNvSpPr>
          <p:nvPr/>
        </p:nvSpPr>
        <p:spPr>
          <a:xfrm xmlns:a="http://schemas.openxmlformats.org/drawingml/2006/main">
            <a:off x="841248"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07</a:t>
            </a:r>
            <a:endParaRPr sz="950"/>
          </a:p>
        </p:txBody>
      </p:sp>
      <p:sp>
        <p:nvSpPr>
          <p:cNvPr id="24" name="STC-28-refb-text-6">
            <a:extLst xmlns:a="http://schemas.openxmlformats.org/drawingml/2006/main">
              <a:ext uri="{FF2B5EF4-FFF2-40B4-BE49-F238E27FC236}">
                <a16:creationId xmlns:a16="http://schemas.microsoft.com/office/drawing/2014/main" id="{D1BB960C-E6DD-41C9-8486-7CE1BA7BF842}"/>
              </a:ext>
            </a:extLst>
          </p:cNvPr>
          <p:cNvSpPr>
            <a:spLocks xmlns:a="http://schemas.openxmlformats.org/drawingml/2006/main" noGrp="1"/>
          </p:cNvSpPr>
          <p:nvPr/>
        </p:nvSpPr>
        <p:spPr>
          <a:xfrm xmlns:a="http://schemas.openxmlformats.org/drawingml/2006/main">
            <a:off x="1353312"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R7 · 저장소 크기와 질의당 주입량을 분리해서</a:t>
            </a:r>
            <a:endParaRPr sz="1450"/>
          </a:p>
        </p:txBody>
      </p:sp>
      <p:sp>
        <p:nvSpPr>
          <p:cNvPr id="25" name="STC-28-refb-num-7">
            <a:extLst xmlns:a="http://schemas.openxmlformats.org/drawingml/2006/main">
              <a:ext uri="{FF2B5EF4-FFF2-40B4-BE49-F238E27FC236}">
                <a16:creationId xmlns:a16="http://schemas.microsoft.com/office/drawing/2014/main" id="{0C727DF6-D270-448C-962D-3F80CD90C1C1}"/>
              </a:ext>
            </a:extLst>
          </p:cNvPr>
          <p:cNvSpPr>
            <a:spLocks xmlns:a="http://schemas.openxmlformats.org/drawingml/2006/main" noGrp="1"/>
          </p:cNvSpPr>
          <p:nvPr/>
        </p:nvSpPr>
        <p:spPr>
          <a:xfrm xmlns:a="http://schemas.openxmlformats.org/drawingml/2006/main">
            <a:off x="6172200"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08</a:t>
            </a:r>
            <a:endParaRPr sz="950"/>
          </a:p>
        </p:txBody>
      </p:sp>
      <p:sp>
        <p:nvSpPr>
          <p:cNvPr id="26" name="STC-28-refb-text-7">
            <a:extLst xmlns:a="http://schemas.openxmlformats.org/drawingml/2006/main">
              <a:ext uri="{FF2B5EF4-FFF2-40B4-BE49-F238E27FC236}">
                <a16:creationId xmlns:a16="http://schemas.microsoft.com/office/drawing/2014/main" id="{6ABBC0D7-76E2-4001-AF28-E7845303A12C}"/>
              </a:ext>
            </a:extLst>
          </p:cNvPr>
          <p:cNvSpPr>
            <a:spLocks xmlns:a="http://schemas.openxmlformats.org/drawingml/2006/main" noGrp="1"/>
          </p:cNvSpPr>
          <p:nvPr/>
        </p:nvSpPr>
        <p:spPr>
          <a:xfrm xmlns:a="http://schemas.openxmlformats.org/drawingml/2006/main">
            <a:off x="6684264"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R8 · 라운드마다 내는지 한 번인지, 그리고 라운드 수</a:t>
            </a:r>
            <a:endParaRPr sz="1450"/>
          </a:p>
        </p:txBody>
      </p:sp>
      <p:sp>
        <p:nvSpPr>
          <p:cNvPr id="27" name="STC-28-refb-num-8">
            <a:extLst xmlns:a="http://schemas.openxmlformats.org/drawingml/2006/main">
              <a:ext uri="{FF2B5EF4-FFF2-40B4-BE49-F238E27FC236}">
                <a16:creationId xmlns:a16="http://schemas.microsoft.com/office/drawing/2014/main" id="{46D8B90C-45DB-42B5-9A1F-613BD1E09381}"/>
              </a:ext>
            </a:extLst>
          </p:cNvPr>
          <p:cNvSpPr>
            <a:spLocks xmlns:a="http://schemas.openxmlformats.org/drawingml/2006/main" noGrp="1"/>
          </p:cNvSpPr>
          <p:nvPr/>
        </p:nvSpPr>
        <p:spPr>
          <a:xfrm xmlns:a="http://schemas.openxmlformats.org/drawingml/2006/main">
            <a:off x="6172200"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09</a:t>
            </a:r>
            <a:endParaRPr sz="950"/>
          </a:p>
        </p:txBody>
      </p:sp>
      <p:sp>
        <p:nvSpPr>
          <p:cNvPr id="28" name="STC-28-refb-text-8">
            <a:extLst xmlns:a="http://schemas.openxmlformats.org/drawingml/2006/main">
              <a:ext uri="{FF2B5EF4-FFF2-40B4-BE49-F238E27FC236}">
                <a16:creationId xmlns:a16="http://schemas.microsoft.com/office/drawing/2014/main" id="{003CD728-1E52-42E5-9F36-C29B9239D4CC}"/>
              </a:ext>
            </a:extLst>
          </p:cNvPr>
          <p:cNvSpPr>
            <a:spLocks xmlns:a="http://schemas.openxmlformats.org/drawingml/2006/main" noGrp="1"/>
          </p:cNvSpPr>
          <p:nvPr/>
        </p:nvSpPr>
        <p:spPr>
          <a:xfrm xmlns:a="http://schemas.openxmlformats.org/drawingml/2006/main">
            <a:off x="6684264"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R9 · 그림 축이 아니라 표에 숫자로</a:t>
            </a:r>
            <a:endParaRPr sz="1450"/>
          </a:p>
        </p:txBody>
      </p:sp>
      <p:sp>
        <p:nvSpPr>
          <p:cNvPr id="29" name="STC-28-refb-num-9">
            <a:extLst xmlns:a="http://schemas.openxmlformats.org/drawingml/2006/main">
              <a:ext uri="{FF2B5EF4-FFF2-40B4-BE49-F238E27FC236}">
                <a16:creationId xmlns:a16="http://schemas.microsoft.com/office/drawing/2014/main" id="{E50879DA-7E54-4351-AAFB-A472A2D62D47}"/>
              </a:ext>
            </a:extLst>
          </p:cNvPr>
          <p:cNvSpPr>
            <a:spLocks xmlns:a="http://schemas.openxmlformats.org/drawingml/2006/main" noGrp="1"/>
          </p:cNvSpPr>
          <p:nvPr/>
        </p:nvSpPr>
        <p:spPr>
          <a:xfrm xmlns:a="http://schemas.openxmlformats.org/drawingml/2006/main">
            <a:off x="6172200"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10</a:t>
            </a:r>
            <a:endParaRPr sz="950"/>
          </a:p>
        </p:txBody>
      </p:sp>
      <p:sp>
        <p:nvSpPr>
          <p:cNvPr id="30" name="STC-28-refb-text-9">
            <a:extLst xmlns:a="http://schemas.openxmlformats.org/drawingml/2006/main">
              <a:ext uri="{FF2B5EF4-FFF2-40B4-BE49-F238E27FC236}">
                <a16:creationId xmlns:a16="http://schemas.microsoft.com/office/drawing/2014/main" id="{DD60628D-B747-4D5D-8801-DA792659E4A9}"/>
              </a:ext>
            </a:extLst>
          </p:cNvPr>
          <p:cNvSpPr>
            <a:spLocks xmlns:a="http://schemas.openxmlformats.org/drawingml/2006/main" noGrp="1"/>
          </p:cNvSpPr>
          <p:nvPr/>
        </p:nvSpPr>
        <p:spPr>
          <a:xfrm xmlns:a="http://schemas.openxmlformats.org/drawingml/2006/main">
            <a:off x="6684264"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최소 실행 집합 · R1(또는 R2) · R3 · R4 — 첫 곡선이 그려진다</a:t>
            </a:r>
            <a:endParaRPr sz="1450"/>
          </a:p>
        </p:txBody>
      </p:sp>
      <p:sp>
        <p:nvSpPr>
          <p:cNvPr id="31" name="STC-28-refb-num-10">
            <a:extLst xmlns:a="http://schemas.openxmlformats.org/drawingml/2006/main">
              <a:ext uri="{FF2B5EF4-FFF2-40B4-BE49-F238E27FC236}">
                <a16:creationId xmlns:a16="http://schemas.microsoft.com/office/drawing/2014/main" id="{621784A3-6CCA-4390-AAAE-DAE20BA4FC10}"/>
              </a:ext>
            </a:extLst>
          </p:cNvPr>
          <p:cNvSpPr>
            <a:spLocks xmlns:a="http://schemas.openxmlformats.org/drawingml/2006/main" noGrp="1"/>
          </p:cNvSpPr>
          <p:nvPr/>
        </p:nvSpPr>
        <p:spPr>
          <a:xfrm xmlns:a="http://schemas.openxmlformats.org/drawingml/2006/main">
            <a:off x="6172200"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11</a:t>
            </a:r>
            <a:endParaRPr sz="950"/>
          </a:p>
        </p:txBody>
      </p:sp>
      <p:sp>
        <p:nvSpPr>
          <p:cNvPr id="32" name="STC-28-refb-text-10">
            <a:extLst xmlns:a="http://schemas.openxmlformats.org/drawingml/2006/main">
              <a:ext uri="{FF2B5EF4-FFF2-40B4-BE49-F238E27FC236}">
                <a16:creationId xmlns:a16="http://schemas.microsoft.com/office/drawing/2014/main" id="{FABF21B0-6A68-4112-9368-A2454370B25E}"/>
              </a:ext>
            </a:extLst>
          </p:cNvPr>
          <p:cNvSpPr>
            <a:spLocks xmlns:a="http://schemas.openxmlformats.org/drawingml/2006/main" noGrp="1"/>
          </p:cNvSpPr>
          <p:nvPr/>
        </p:nvSpPr>
        <p:spPr>
          <a:xfrm xmlns:a="http://schemas.openxmlformats.org/drawingml/2006/main">
            <a:off x="6684264"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총비용으로 옮기려면 · R5 · R6이 더해져야 한다</a:t>
            </a:r>
            <a:endParaRPr sz="1450"/>
          </a:p>
        </p:txBody>
      </p:sp>
      <p:sp>
        <p:nvSpPr>
          <p:cNvPr id="33" name="STC-28-refb-num-11">
            <a:extLst xmlns:a="http://schemas.openxmlformats.org/drawingml/2006/main">
              <a:ext uri="{FF2B5EF4-FFF2-40B4-BE49-F238E27FC236}">
                <a16:creationId xmlns:a16="http://schemas.microsoft.com/office/drawing/2014/main" id="{423ABCE3-5695-4AB3-81A5-58F7E28EC50F}"/>
              </a:ext>
            </a:extLst>
          </p:cNvPr>
          <p:cNvSpPr>
            <a:spLocks xmlns:a="http://schemas.openxmlformats.org/drawingml/2006/main" noGrp="1"/>
          </p:cNvSpPr>
          <p:nvPr/>
        </p:nvSpPr>
        <p:spPr>
          <a:xfrm xmlns:a="http://schemas.openxmlformats.org/drawingml/2006/main">
            <a:off x="6172200"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12</a:t>
            </a:r>
            <a:endParaRPr sz="950"/>
          </a:p>
        </p:txBody>
      </p:sp>
      <p:sp>
        <p:nvSpPr>
          <p:cNvPr id="34" name="STC-28-refb-text-11">
            <a:extLst xmlns:a="http://schemas.openxmlformats.org/drawingml/2006/main">
              <a:ext uri="{FF2B5EF4-FFF2-40B4-BE49-F238E27FC236}">
                <a16:creationId xmlns:a16="http://schemas.microsoft.com/office/drawing/2014/main" id="{FA387B96-278D-49D2-8FD0-388CA7D54831}"/>
              </a:ext>
            </a:extLst>
          </p:cNvPr>
          <p:cNvSpPr>
            <a:spLocks xmlns:a="http://schemas.openxmlformats.org/drawingml/2006/main" noGrp="1"/>
          </p:cNvSpPr>
          <p:nvPr/>
        </p:nvSpPr>
        <p:spPr>
          <a:xfrm xmlns:a="http://schemas.openxmlformats.org/drawingml/2006/main">
            <a:off x="6684264"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포화 귀속 · R7이 빠지면 예산인지 그릇인지 못 가린다</a:t>
            </a:r>
            <a:endParaRPr sz="1450"/>
          </a:p>
        </p:txBody>
      </p:sp>
      <p:sp>
        <p:nvSpPr>
          <p:cNvPr id="35" name="STC-28-refb-num-12">
            <a:extLst xmlns:a="http://schemas.openxmlformats.org/drawingml/2006/main">
              <a:ext uri="{FF2B5EF4-FFF2-40B4-BE49-F238E27FC236}">
                <a16:creationId xmlns:a16="http://schemas.microsoft.com/office/drawing/2014/main" id="{7C5C649A-B264-49EE-9C56-322B681FB7B0}"/>
              </a:ext>
            </a:extLst>
          </p:cNvPr>
          <p:cNvSpPr>
            <a:spLocks xmlns:a="http://schemas.openxmlformats.org/drawingml/2006/main" noGrp="1"/>
          </p:cNvSpPr>
          <p:nvPr/>
        </p:nvSpPr>
        <p:spPr>
          <a:xfrm xmlns:a="http://schemas.openxmlformats.org/drawingml/2006/main">
            <a:off x="6172200"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13</a:t>
            </a:r>
            <a:endParaRPr sz="950"/>
          </a:p>
        </p:txBody>
      </p:sp>
      <p:sp>
        <p:nvSpPr>
          <p:cNvPr id="36" name="STC-28-refb-text-12">
            <a:extLst xmlns:a="http://schemas.openxmlformats.org/drawingml/2006/main">
              <a:ext uri="{FF2B5EF4-FFF2-40B4-BE49-F238E27FC236}">
                <a16:creationId xmlns:a16="http://schemas.microsoft.com/office/drawing/2014/main" id="{075599F4-BF6A-4D49-BD32-E54FFCC6CDF5}"/>
              </a:ext>
            </a:extLst>
          </p:cNvPr>
          <p:cNvSpPr>
            <a:spLocks xmlns:a="http://schemas.openxmlformats.org/drawingml/2006/main" noGrp="1"/>
          </p:cNvSpPr>
          <p:nvPr/>
        </p:nvSpPr>
        <p:spPr>
          <a:xfrm xmlns:a="http://schemas.openxmlformats.org/drawingml/2006/main">
            <a:off x="6684264"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총예산 정의 · R8이 빠지면 라운드 합이 정의되지 않는다</a:t>
            </a:r>
            <a:endParaRPr sz="1450"/>
          </a:p>
        </p:txBody>
      </p:sp>
      <p:sp>
        <p:nvSpPr>
          <p:cNvPr id="37" name="STC-28-refb-num-13">
            <a:extLst xmlns:a="http://schemas.openxmlformats.org/drawingml/2006/main">
              <a:ext uri="{FF2B5EF4-FFF2-40B4-BE49-F238E27FC236}">
                <a16:creationId xmlns:a16="http://schemas.microsoft.com/office/drawing/2014/main" id="{22F839F5-4574-40A5-8CD5-258A84D7F4AE}"/>
              </a:ext>
            </a:extLst>
          </p:cNvPr>
          <p:cNvSpPr>
            <a:spLocks xmlns:a="http://schemas.openxmlformats.org/drawingml/2006/main" noGrp="1"/>
          </p:cNvSpPr>
          <p:nvPr/>
        </p:nvSpPr>
        <p:spPr>
          <a:xfrm xmlns:a="http://schemas.openxmlformats.org/drawingml/2006/main">
            <a:off x="6172200"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14</a:t>
            </a:r>
            <a:endParaRPr sz="950"/>
          </a:p>
        </p:txBody>
      </p:sp>
      <p:sp>
        <p:nvSpPr>
          <p:cNvPr id="38" name="STC-28-refb-text-13">
            <a:extLst xmlns:a="http://schemas.openxmlformats.org/drawingml/2006/main">
              <a:ext uri="{FF2B5EF4-FFF2-40B4-BE49-F238E27FC236}">
                <a16:creationId xmlns:a16="http://schemas.microsoft.com/office/drawing/2014/main" id="{79E1BA22-9F12-45B8-AD2D-27DBAC767625}"/>
              </a:ext>
            </a:extLst>
          </p:cNvPr>
          <p:cNvSpPr>
            <a:spLocks xmlns:a="http://schemas.openxmlformats.org/drawingml/2006/main" noGrp="1"/>
          </p:cNvSpPr>
          <p:nvPr/>
        </p:nvSpPr>
        <p:spPr>
          <a:xfrm xmlns:a="http://schemas.openxmlformats.org/drawingml/2006/main">
            <a:off x="6684264"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실행 비용 · 새 실험은 R3 하나. 나머지 여덟은 인쇄다</a:t>
            </a:r>
            <a:endParaRPr sz="1450"/>
          </a:p>
        </p:txBody>
      </p:sp>
      <p:sp>
        <p:nvSpPr>
          <p:cNvPr id="39" name="STC-28-refb-boundary">
            <a:extLst xmlns:a="http://schemas.openxmlformats.org/drawingml/2006/main">
              <a:ext uri="{FF2B5EF4-FFF2-40B4-BE49-F238E27FC236}">
                <a16:creationId xmlns:a16="http://schemas.microsoft.com/office/drawing/2014/main" id="{6137E2DB-ECF3-4B65-A1BB-AF6F9CF09DA4}"/>
              </a:ext>
            </a:extLst>
          </p:cNvPr>
          <p:cNvSpPr>
            <a:spLocks xmlns:a="http://schemas.openxmlformats.org/drawingml/2006/main" noGrp="1"/>
          </p:cNvSpPr>
          <p:nvPr/>
        </p:nvSpPr>
        <p:spPr>
          <a:xfrm xmlns:a="http://schemas.openxmlformats.org/drawingml/2006/main">
            <a:off x="1664208" y="5650992"/>
            <a:ext cx="8869680" cy="39319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40" name="STC-28-refb-boundary-text">
            <a:extLst xmlns:a="http://schemas.openxmlformats.org/drawingml/2006/main">
              <a:ext uri="{FF2B5EF4-FFF2-40B4-BE49-F238E27FC236}">
                <a16:creationId xmlns:a16="http://schemas.microsoft.com/office/drawing/2014/main" id="{372D850E-B084-4BDF-B840-981137D83682}"/>
              </a:ext>
            </a:extLst>
          </p:cNvPr>
          <p:cNvSpPr>
            <a:spLocks xmlns:a="http://schemas.openxmlformats.org/drawingml/2006/main" noGrp="1"/>
          </p:cNvSpPr>
          <p:nvPr/>
        </p:nvSpPr>
        <p:spPr>
          <a:xfrm xmlns:a="http://schemas.openxmlformats.org/drawingml/2006/main">
            <a:off x="1901952" y="5769864"/>
            <a:ext cx="839419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b="1">
                <a:solidFill>
                  <a:srgbClr val="FFFFFF"/>
                </a:solidFill>
                <a:latin typeface="Noto Sans Mono CJK KR"/>
                <a:ea typeface="Noto Sans Mono CJK KR"/>
                <a:cs typeface="Noto Sans Mono CJK KR"/>
              </a:rPr>
              <a:t>B_s를 절대 FLOPs로. 못 하면 환산 입력을 함께</a:t>
            </a:r>
            <a:endParaRPr sz="1050"/>
          </a:p>
        </p:txBody>
      </p:sp>
    </p:spTree>
    <p:extLst>
      <p:ext uri="{BB962C8B-B14F-4D97-AF65-F5344CB8AC3E}">
        <p14:creationId xmlns:p14="http://schemas.microsoft.com/office/powerpoint/2010/main" val="2092040528"/>
      </p:ext>
    </p:extLst>
  </p:cSld>
</p:sld>
</file>

<file path=ppt/slides/slide10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3-section">
            <a:extLst xmlns:a="http://schemas.openxmlformats.org/drawingml/2006/main">
              <a:ext uri="{FF2B5EF4-FFF2-40B4-BE49-F238E27FC236}">
                <a16:creationId xmlns:a16="http://schemas.microsoft.com/office/drawing/2014/main" id="{DEF75E10-FC43-4F90-A29D-73D1CBC1DCC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VERDICT</a:t>
            </a:r>
            <a:endParaRPr sz="950"/>
          </a:p>
        </p:txBody>
      </p:sp>
      <p:sp>
        <p:nvSpPr>
          <p:cNvPr id="3" name="STC-13-slide-id">
            <a:extLst xmlns:a="http://schemas.openxmlformats.org/drawingml/2006/main">
              <a:ext uri="{FF2B5EF4-FFF2-40B4-BE49-F238E27FC236}">
                <a16:creationId xmlns:a16="http://schemas.microsoft.com/office/drawing/2014/main" id="{207357D7-4303-4447-A61C-4C79283F663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STC-107</a:t>
            </a:r>
            <a:endParaRPr sz="950"/>
          </a:p>
        </p:txBody>
      </p:sp>
      <p:sp>
        <p:nvSpPr>
          <p:cNvPr id="4" name="STC-13-headline">
            <a:extLst xmlns:a="http://schemas.openxmlformats.org/drawingml/2006/main">
              <a:ext uri="{FF2B5EF4-FFF2-40B4-BE49-F238E27FC236}">
                <a16:creationId xmlns:a16="http://schemas.microsoft.com/office/drawing/2014/main" id="{8E260E54-4985-4C50-817D-C85BDF65F5D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판정 ⑬ — device 기회는 웜 계층이지 HBM 대역폭이 아니다</a:t>
            </a:r>
            <a:endParaRPr sz="3000"/>
          </a:p>
        </p:txBody>
      </p:sp>
      <p:sp>
        <p:nvSpPr>
          <p:cNvPr id="5" name="STC-13-status-label">
            <a:extLst xmlns:a="http://schemas.openxmlformats.org/drawingml/2006/main">
              <a:ext uri="{FF2B5EF4-FFF2-40B4-BE49-F238E27FC236}">
                <a16:creationId xmlns:a16="http://schemas.microsoft.com/office/drawing/2014/main" id="{76CEFCAB-90F8-4FF1-91A9-495F4B23416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본서 판정</a:t>
            </a:r>
            <a:endParaRPr sz="1000"/>
          </a:p>
        </p:txBody>
      </p:sp>
      <p:sp>
        <p:nvSpPr>
          <p:cNvPr id="6" name="STC-13-status-rule">
            <a:extLst xmlns:a="http://schemas.openxmlformats.org/drawingml/2006/main">
              <a:ext uri="{FF2B5EF4-FFF2-40B4-BE49-F238E27FC236}">
                <a16:creationId xmlns:a16="http://schemas.microsoft.com/office/drawing/2014/main" id="{07360112-59F1-4B26-BA92-7088E3FD40C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13-footer-rule">
            <a:extLst xmlns:a="http://schemas.openxmlformats.org/drawingml/2006/main">
              <a:ext uri="{FF2B5EF4-FFF2-40B4-BE49-F238E27FC236}">
                <a16:creationId xmlns:a16="http://schemas.microsoft.com/office/drawing/2014/main" id="{26DC731C-F3A6-48D1-B411-9B2CD636969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3-source-footer">
            <a:extLst xmlns:a="http://schemas.openxmlformats.org/drawingml/2006/main">
              <a:ext uri="{FF2B5EF4-FFF2-40B4-BE49-F238E27FC236}">
                <a16:creationId xmlns:a16="http://schemas.microsoft.com/office/drawing/2014/main" id="{F8DE0C07-9BB3-4619-B392-5FCFC17ACBE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ch29 §29.3.1, §29.4 판정 1 · experiments/stc/X2 F4</a:t>
            </a:r>
            <a:endParaRPr sz="850"/>
          </a:p>
        </p:txBody>
      </p:sp>
      <p:sp>
        <p:nvSpPr>
          <p:cNvPr id="9" name="STC-13-page-number">
            <a:extLst xmlns:a="http://schemas.openxmlformats.org/drawingml/2006/main">
              <a:ext uri="{FF2B5EF4-FFF2-40B4-BE49-F238E27FC236}">
                <a16:creationId xmlns:a16="http://schemas.microsoft.com/office/drawing/2014/main" id="{77A42865-7B64-4DDF-99E9-C4F94EB652F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107</a:t>
            </a:r>
            <a:endParaRPr sz="850"/>
          </a:p>
        </p:txBody>
      </p:sp>
      <p:sp>
        <p:nvSpPr>
          <p:cNvPr id="11" name="STC-13-data-layer-0">
            <a:extLst xmlns:a="http://schemas.openxmlformats.org/drawingml/2006/main">
              <a:ext uri="{FF2B5EF4-FFF2-40B4-BE49-F238E27FC236}">
                <a16:creationId xmlns:a16="http://schemas.microsoft.com/office/drawing/2014/main" id="{E5BBE619-AB19-42FA-8122-D61948B604E8}"/>
              </a:ext>
            </a:extLst>
          </p:cNvPr>
          <p:cNvSpPr>
            <a:spLocks xmlns:a="http://schemas.openxmlformats.org/drawingml/2006/main" noGrp="1"/>
          </p:cNvSpPr>
          <p:nvPr/>
        </p:nvSpPr>
        <p:spPr>
          <a:xfrm xmlns:a="http://schemas.openxmlformats.org/drawingml/2006/main">
            <a:off x="1618488" y="1664208"/>
            <a:ext cx="8961120" cy="56692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12" name="STC-13-data-label-0">
            <a:extLst xmlns:a="http://schemas.openxmlformats.org/drawingml/2006/main">
              <a:ext uri="{FF2B5EF4-FFF2-40B4-BE49-F238E27FC236}">
                <a16:creationId xmlns:a16="http://schemas.microsoft.com/office/drawing/2014/main" id="{FDF9C9BA-3329-45E9-ABC4-2B36508291DA}"/>
              </a:ext>
            </a:extLst>
          </p:cNvPr>
          <p:cNvSpPr>
            <a:spLocks xmlns:a="http://schemas.openxmlformats.org/drawingml/2006/main" noGrp="1"/>
          </p:cNvSpPr>
          <p:nvPr/>
        </p:nvSpPr>
        <p:spPr>
          <a:xfrm xmlns:a="http://schemas.openxmlformats.org/drawingml/2006/main">
            <a:off x="1783080" y="1828800"/>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FFFFFF"/>
                </a:solidFill>
                <a:latin typeface="Noto Sans Mono CJK KR"/>
                <a:ea typeface="Noto Sans Mono CJK KR"/>
                <a:cs typeface="Noto Sans Mono CJK KR"/>
              </a:rPr>
              <a:t>읽기 입도</a:t>
            </a:r>
            <a:endParaRPr sz="1050"/>
          </a:p>
        </p:txBody>
      </p:sp>
      <p:sp>
        <p:nvSpPr>
          <p:cNvPr id="13" name="STC-13-data-body-0">
            <a:extLst xmlns:a="http://schemas.openxmlformats.org/drawingml/2006/main">
              <a:ext uri="{FF2B5EF4-FFF2-40B4-BE49-F238E27FC236}">
                <a16:creationId xmlns:a16="http://schemas.microsoft.com/office/drawing/2014/main" id="{34676F1F-A035-47A9-9C53-7C294D97CEF1}"/>
              </a:ext>
            </a:extLst>
          </p:cNvPr>
          <p:cNvSpPr>
            <a:spLocks xmlns:a="http://schemas.openxmlformats.org/drawingml/2006/main" noGrp="1"/>
          </p:cNvSpPr>
          <p:nvPr/>
        </p:nvSpPr>
        <p:spPr>
          <a:xfrm xmlns:a="http://schemas.openxmlformats.org/drawingml/2006/main">
            <a:off x="3401568" y="1755648"/>
            <a:ext cx="6995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FFFFFF"/>
                </a:solidFill>
                <a:latin typeface="Noto Sans CJK KR"/>
                <a:ea typeface="Noto Sans CJK KR"/>
                <a:cs typeface="Noto Sans CJK KR"/>
              </a:rPr>
              <a:t>사용자당 수 MB 객체 하나의 무작위 접근</a:t>
            </a:r>
            <a:endParaRPr sz="1450"/>
          </a:p>
        </p:txBody>
      </p:sp>
      <p:sp>
        <p:nvSpPr>
          <p:cNvPr id="14" name="STC-13-data-layer-1">
            <a:extLst xmlns:a="http://schemas.openxmlformats.org/drawingml/2006/main">
              <a:ext uri="{FF2B5EF4-FFF2-40B4-BE49-F238E27FC236}">
                <a16:creationId xmlns:a16="http://schemas.microsoft.com/office/drawing/2014/main" id="{2C7AD258-BAEB-4994-96A5-F1AB29FB68DF}"/>
              </a:ext>
            </a:extLst>
          </p:cNvPr>
          <p:cNvSpPr>
            <a:spLocks xmlns:a="http://schemas.openxmlformats.org/drawingml/2006/main" noGrp="1"/>
          </p:cNvSpPr>
          <p:nvPr/>
        </p:nvSpPr>
        <p:spPr>
          <a:xfrm xmlns:a="http://schemas.openxmlformats.org/drawingml/2006/main">
            <a:off x="2258568" y="2450592"/>
            <a:ext cx="7680960" cy="566928"/>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3-data-label-1">
            <a:extLst xmlns:a="http://schemas.openxmlformats.org/drawingml/2006/main">
              <a:ext uri="{FF2B5EF4-FFF2-40B4-BE49-F238E27FC236}">
                <a16:creationId xmlns:a16="http://schemas.microsoft.com/office/drawing/2014/main" id="{02CDF8C0-80BF-43B8-B0F1-3E7D91CAE3C2}"/>
              </a:ext>
            </a:extLst>
          </p:cNvPr>
          <p:cNvSpPr>
            <a:spLocks xmlns:a="http://schemas.openxmlformats.org/drawingml/2006/main" noGrp="1"/>
          </p:cNvSpPr>
          <p:nvPr/>
        </p:nvSpPr>
        <p:spPr>
          <a:xfrm xmlns:a="http://schemas.openxmlformats.org/drawingml/2006/main">
            <a:off x="2423160" y="2615184"/>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마감</a:t>
            </a:r>
            <a:endParaRPr sz="1050"/>
          </a:p>
        </p:txBody>
      </p:sp>
      <p:sp>
        <p:nvSpPr>
          <p:cNvPr id="16" name="STC-13-data-body-1">
            <a:extLst xmlns:a="http://schemas.openxmlformats.org/drawingml/2006/main">
              <a:ext uri="{FF2B5EF4-FFF2-40B4-BE49-F238E27FC236}">
                <a16:creationId xmlns:a16="http://schemas.microsoft.com/office/drawing/2014/main" id="{BC62C31C-D212-42ED-AE30-842B56196CD1}"/>
              </a:ext>
            </a:extLst>
          </p:cNvPr>
          <p:cNvSpPr>
            <a:spLocks xmlns:a="http://schemas.openxmlformats.org/drawingml/2006/main" noGrp="1"/>
          </p:cNvSpPr>
          <p:nvPr/>
        </p:nvSpPr>
        <p:spPr>
          <a:xfrm xmlns:a="http://schemas.openxmlformats.org/drawingml/2006/main">
            <a:off x="4041648" y="2542032"/>
            <a:ext cx="5715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17191C"/>
                </a:solidFill>
                <a:latin typeface="Noto Sans CJK KR"/>
                <a:ea typeface="Noto Sans CJK KR"/>
                <a:cs typeface="Noto Sans CJK KR"/>
              </a:rPr>
              <a:t>t_load + t_merge ≤ L_w. 좌변도 우변도 미보고</a:t>
            </a:r>
            <a:endParaRPr sz="1450"/>
          </a:p>
        </p:txBody>
      </p:sp>
      <p:sp>
        <p:nvSpPr>
          <p:cNvPr id="17" name="STC-13-data-layer-2">
            <a:extLst xmlns:a="http://schemas.openxmlformats.org/drawingml/2006/main">
              <a:ext uri="{FF2B5EF4-FFF2-40B4-BE49-F238E27FC236}">
                <a16:creationId xmlns:a16="http://schemas.microsoft.com/office/drawing/2014/main" id="{D6FAD0EE-091C-49BC-AC96-FF7C3FD7BF30}"/>
              </a:ext>
            </a:extLst>
          </p:cNvPr>
          <p:cNvSpPr>
            <a:spLocks xmlns:a="http://schemas.openxmlformats.org/drawingml/2006/main" noGrp="1"/>
          </p:cNvSpPr>
          <p:nvPr/>
        </p:nvSpPr>
        <p:spPr>
          <a:xfrm xmlns:a="http://schemas.openxmlformats.org/drawingml/2006/main">
            <a:off x="2898648" y="3236976"/>
            <a:ext cx="6400800" cy="566928"/>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8" name="STC-13-data-label-2">
            <a:extLst xmlns:a="http://schemas.openxmlformats.org/drawingml/2006/main">
              <a:ext uri="{FF2B5EF4-FFF2-40B4-BE49-F238E27FC236}">
                <a16:creationId xmlns:a16="http://schemas.microsoft.com/office/drawing/2014/main" id="{AA018C36-C849-429F-A2CB-A09888ED5181}"/>
              </a:ext>
            </a:extLst>
          </p:cNvPr>
          <p:cNvSpPr>
            <a:spLocks xmlns:a="http://schemas.openxmlformats.org/drawingml/2006/main" noGrp="1"/>
          </p:cNvSpPr>
          <p:nvPr/>
        </p:nvSpPr>
        <p:spPr>
          <a:xfrm xmlns:a="http://schemas.openxmlformats.org/drawingml/2006/main">
            <a:off x="3063240" y="3401568"/>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쓰기 주기</a:t>
            </a:r>
            <a:endParaRPr sz="1050"/>
          </a:p>
        </p:txBody>
      </p:sp>
      <p:sp>
        <p:nvSpPr>
          <p:cNvPr id="19" name="STC-13-data-body-2">
            <a:extLst xmlns:a="http://schemas.openxmlformats.org/drawingml/2006/main">
              <a:ext uri="{FF2B5EF4-FFF2-40B4-BE49-F238E27FC236}">
                <a16:creationId xmlns:a16="http://schemas.microsoft.com/office/drawing/2014/main" id="{41815879-EDCF-477A-A120-7092A00F5988}"/>
              </a:ext>
            </a:extLst>
          </p:cNvPr>
          <p:cNvSpPr>
            <a:spLocks xmlns:a="http://schemas.openxmlformats.org/drawingml/2006/main" noGrp="1"/>
          </p:cNvSpPr>
          <p:nvPr/>
        </p:nvSpPr>
        <p:spPr>
          <a:xfrm xmlns:a="http://schemas.openxmlformats.org/drawingml/2006/main">
            <a:off x="4681728" y="3328416"/>
            <a:ext cx="4434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라운드마다 전량 교체. N_u에 선형</a:t>
            </a:r>
            <a:endParaRPr sz="1350"/>
          </a:p>
        </p:txBody>
      </p:sp>
      <p:sp>
        <p:nvSpPr>
          <p:cNvPr id="20" name="STC-13-data-layer-3">
            <a:extLst xmlns:a="http://schemas.openxmlformats.org/drawingml/2006/main">
              <a:ext uri="{FF2B5EF4-FFF2-40B4-BE49-F238E27FC236}">
                <a16:creationId xmlns:a16="http://schemas.microsoft.com/office/drawing/2014/main" id="{FBD0C7D7-10DE-463B-9217-97D247B03C72}"/>
              </a:ext>
            </a:extLst>
          </p:cNvPr>
          <p:cNvSpPr>
            <a:spLocks xmlns:a="http://schemas.openxmlformats.org/drawingml/2006/main" noGrp="1"/>
          </p:cNvSpPr>
          <p:nvPr/>
        </p:nvSpPr>
        <p:spPr>
          <a:xfrm xmlns:a="http://schemas.openxmlformats.org/drawingml/2006/main">
            <a:off x="3538728" y="4023360"/>
            <a:ext cx="5120640" cy="566928"/>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13-data-label-3">
            <a:extLst xmlns:a="http://schemas.openxmlformats.org/drawingml/2006/main">
              <a:ext uri="{FF2B5EF4-FFF2-40B4-BE49-F238E27FC236}">
                <a16:creationId xmlns:a16="http://schemas.microsoft.com/office/drawing/2014/main" id="{8DA5B66F-AB6C-424C-B38E-EC87549B7458}"/>
              </a:ext>
            </a:extLst>
          </p:cNvPr>
          <p:cNvSpPr>
            <a:spLocks xmlns:a="http://schemas.openxmlformats.org/drawingml/2006/main" noGrp="1"/>
          </p:cNvSpPr>
          <p:nvPr/>
        </p:nvSpPr>
        <p:spPr>
          <a:xfrm xmlns:a="http://schemas.openxmlformats.org/drawingml/2006/main">
            <a:off x="3703320" y="4187952"/>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대역폭 아님</a:t>
            </a:r>
            <a:endParaRPr sz="1050"/>
          </a:p>
        </p:txBody>
      </p:sp>
      <p:sp>
        <p:nvSpPr>
          <p:cNvPr id="22" name="STC-13-data-body-3">
            <a:extLst xmlns:a="http://schemas.openxmlformats.org/drawingml/2006/main">
              <a:ext uri="{FF2B5EF4-FFF2-40B4-BE49-F238E27FC236}">
                <a16:creationId xmlns:a16="http://schemas.microsoft.com/office/drawing/2014/main" id="{B07BDB02-D4B0-48AF-8A53-11814C8CDC53}"/>
              </a:ext>
            </a:extLst>
          </p:cNvPr>
          <p:cNvSpPr>
            <a:spLocks xmlns:a="http://schemas.openxmlformats.org/drawingml/2006/main" noGrp="1"/>
          </p:cNvSpPr>
          <p:nvPr/>
        </p:nvSpPr>
        <p:spPr>
          <a:xfrm xmlns:a="http://schemas.openxmlformats.org/drawingml/2006/main">
            <a:off x="5321808" y="41148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base 가중치 읽기의 약 0.105%다</a:t>
            </a:r>
            <a:endParaRPr sz="1350"/>
          </a:p>
        </p:txBody>
      </p:sp>
      <p:sp>
        <p:nvSpPr>
          <p:cNvPr id="23" name="STC-13-data-layer-4">
            <a:extLst xmlns:a="http://schemas.openxmlformats.org/drawingml/2006/main">
              <a:ext uri="{FF2B5EF4-FFF2-40B4-BE49-F238E27FC236}">
                <a16:creationId xmlns:a16="http://schemas.microsoft.com/office/drawing/2014/main" id="{E60963C1-8D59-4CC2-B99B-C4EA44523D22}"/>
              </a:ext>
            </a:extLst>
          </p:cNvPr>
          <p:cNvSpPr>
            <a:spLocks xmlns:a="http://schemas.openxmlformats.org/drawingml/2006/main" noGrp="1"/>
          </p:cNvSpPr>
          <p:nvPr/>
        </p:nvSpPr>
        <p:spPr>
          <a:xfrm xmlns:a="http://schemas.openxmlformats.org/drawingml/2006/main">
            <a:off x="4178808" y="4809744"/>
            <a:ext cx="3840480" cy="566928"/>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24" name="STC-13-data-label-4">
            <a:extLst xmlns:a="http://schemas.openxmlformats.org/drawingml/2006/main">
              <a:ext uri="{FF2B5EF4-FFF2-40B4-BE49-F238E27FC236}">
                <a16:creationId xmlns:a16="http://schemas.microsoft.com/office/drawing/2014/main" id="{94E567B2-40CF-45FA-B9F9-A1B39A99C7FF}"/>
              </a:ext>
            </a:extLst>
          </p:cNvPr>
          <p:cNvSpPr>
            <a:spLocks xmlns:a="http://schemas.openxmlformats.org/drawingml/2006/main" noGrp="1"/>
          </p:cNvSpPr>
          <p:nvPr/>
        </p:nvSpPr>
        <p:spPr>
          <a:xfrm xmlns:a="http://schemas.openxmlformats.org/drawingml/2006/main">
            <a:off x="4343400" y="4974336"/>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조건</a:t>
            </a:r>
            <a:endParaRPr sz="1050"/>
          </a:p>
        </p:txBody>
      </p:sp>
      <p:sp>
        <p:nvSpPr>
          <p:cNvPr id="25" name="STC-13-data-body-4">
            <a:extLst xmlns:a="http://schemas.openxmlformats.org/drawingml/2006/main">
              <a:ext uri="{FF2B5EF4-FFF2-40B4-BE49-F238E27FC236}">
                <a16:creationId xmlns:a16="http://schemas.microsoft.com/office/drawing/2014/main" id="{2C57AF49-F2CA-4C91-AE9F-A85EF45878C8}"/>
              </a:ext>
            </a:extLst>
          </p:cNvPr>
          <p:cNvSpPr>
            <a:spLocks xmlns:a="http://schemas.openxmlformats.org/drawingml/2006/main" noGrp="1"/>
          </p:cNvSpPr>
          <p:nvPr/>
        </p:nvSpPr>
        <p:spPr>
          <a:xfrm xmlns:a="http://schemas.openxmlformats.org/drawingml/2006/main">
            <a:off x="5961888" y="4901184"/>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Θ-경로가 사용자 수준 개인화로 갈 때만 성립</a:t>
            </a:r>
            <a:endParaRPr sz="1350"/>
          </a:p>
        </p:txBody>
      </p:sp>
      <p:sp>
        <p:nvSpPr>
          <p:cNvPr id="26" name="STC-13-data-warning">
            <a:extLst xmlns:a="http://schemas.openxmlformats.org/drawingml/2006/main">
              <a:ext uri="{FF2B5EF4-FFF2-40B4-BE49-F238E27FC236}">
                <a16:creationId xmlns:a16="http://schemas.microsoft.com/office/drawing/2014/main" id="{FE09EF05-9A9A-4209-946A-2FFD878EDF5A}"/>
              </a:ext>
            </a:extLst>
          </p:cNvPr>
          <p:cNvSpPr>
            <a:spLocks xmlns:a="http://schemas.openxmlformats.org/drawingml/2006/main" noGrp="1"/>
          </p:cNvSpPr>
          <p:nvPr/>
        </p:nvSpPr>
        <p:spPr>
          <a:xfrm xmlns:a="http://schemas.openxmlformats.org/drawingml/2006/main">
            <a:off x="2286000" y="5623560"/>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ans CJK KR"/>
                <a:ea typeface="Noto Sans CJK KR"/>
                <a:cs typeface="Noto Sans CJK KR"/>
              </a:rPr>
              <a:t>사용자당 수 MB 객체 하나의 무작위 접근</a:t>
            </a:r>
            <a:endParaRPr sz="1800"/>
          </a:p>
        </p:txBody>
      </p:sp>
    </p:spTree>
    <p:extLst>
      <p:ext uri="{BB962C8B-B14F-4D97-AF65-F5344CB8AC3E}">
        <p14:creationId xmlns:p14="http://schemas.microsoft.com/office/powerpoint/2010/main" val="877466157"/>
      </p:ext>
    </p:extLst>
  </p:cSld>
</p:sld>
</file>

<file path=ppt/slides/slide10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6-section">
            <a:extLst xmlns:a="http://schemas.openxmlformats.org/drawingml/2006/main">
              <a:ext uri="{FF2B5EF4-FFF2-40B4-BE49-F238E27FC236}">
                <a16:creationId xmlns:a16="http://schemas.microsoft.com/office/drawing/2014/main" id="{1EAEABEC-DD0D-4D7C-AA45-BE33B2388F81}"/>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SYSTEMS</a:t>
            </a:r>
            <a:endParaRPr sz="950"/>
          </a:p>
        </p:txBody>
      </p:sp>
      <p:sp>
        <p:nvSpPr>
          <p:cNvPr id="3" name="STC-16-slide-id">
            <a:extLst xmlns:a="http://schemas.openxmlformats.org/drawingml/2006/main">
              <a:ext uri="{FF2B5EF4-FFF2-40B4-BE49-F238E27FC236}">
                <a16:creationId xmlns:a16="http://schemas.microsoft.com/office/drawing/2014/main" id="{148035CD-3605-4EDB-8925-9EAAD53CDD1E}"/>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STC-108</a:t>
            </a:r>
            <a:endParaRPr sz="950"/>
          </a:p>
        </p:txBody>
      </p:sp>
      <p:sp>
        <p:nvSpPr>
          <p:cNvPr id="4" name="STC-16-headline">
            <a:extLst xmlns:a="http://schemas.openxmlformats.org/drawingml/2006/main">
              <a:ext uri="{FF2B5EF4-FFF2-40B4-BE49-F238E27FC236}">
                <a16:creationId xmlns:a16="http://schemas.microsoft.com/office/drawing/2014/main" id="{31F39839-5A4F-4AB6-A314-6FCD6EBB293B}"/>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라운드 주기 하나가 소자의 수명 사양을 정한다</a:t>
            </a:r>
            <a:endParaRPr sz="3000"/>
          </a:p>
        </p:txBody>
      </p:sp>
      <p:sp>
        <p:nvSpPr>
          <p:cNvPr id="5" name="STC-16-status-label">
            <a:extLst xmlns:a="http://schemas.openxmlformats.org/drawingml/2006/main">
              <a:ext uri="{FF2B5EF4-FFF2-40B4-BE49-F238E27FC236}">
                <a16:creationId xmlns:a16="http://schemas.microsoft.com/office/drawing/2014/main" id="{85F97C6D-2152-4166-9EF2-FB1A30075CA5}"/>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본서 산술</a:t>
            </a:r>
            <a:endParaRPr sz="1000"/>
          </a:p>
        </p:txBody>
      </p:sp>
      <p:sp>
        <p:nvSpPr>
          <p:cNvPr id="6" name="STC-16-status-rule">
            <a:extLst xmlns:a="http://schemas.openxmlformats.org/drawingml/2006/main">
              <a:ext uri="{FF2B5EF4-FFF2-40B4-BE49-F238E27FC236}">
                <a16:creationId xmlns:a16="http://schemas.microsoft.com/office/drawing/2014/main" id="{92B0A0F6-E926-46D4-AABF-CD6F912C19B5}"/>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6-footer-rule">
            <a:extLst xmlns:a="http://schemas.openxmlformats.org/drawingml/2006/main">
              <a:ext uri="{FF2B5EF4-FFF2-40B4-BE49-F238E27FC236}">
                <a16:creationId xmlns:a16="http://schemas.microsoft.com/office/drawing/2014/main" id="{78479DB6-1C83-41B6-931F-D82AA487E2AF}"/>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6-source-footer">
            <a:extLst xmlns:a="http://schemas.openxmlformats.org/drawingml/2006/main">
              <a:ext uri="{FF2B5EF4-FFF2-40B4-BE49-F238E27FC236}">
                <a16:creationId xmlns:a16="http://schemas.microsoft.com/office/drawing/2014/main" id="{CCF7D512-F8C3-424D-AAC0-0F61432BB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ch29 §29.3.1 식 (29-2), (29-3) [본서 산술]</a:t>
            </a:r>
            <a:endParaRPr sz="850"/>
          </a:p>
        </p:txBody>
      </p:sp>
      <p:sp>
        <p:nvSpPr>
          <p:cNvPr id="9" name="STC-16-page-number">
            <a:extLst xmlns:a="http://schemas.openxmlformats.org/drawingml/2006/main">
              <a:ext uri="{FF2B5EF4-FFF2-40B4-BE49-F238E27FC236}">
                <a16:creationId xmlns:a16="http://schemas.microsoft.com/office/drawing/2014/main" id="{CB3F831C-0E59-4B32-AF78-33BF4F5C4D2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108</a:t>
            </a:r>
            <a:endParaRPr sz="850"/>
          </a:p>
        </p:txBody>
      </p:sp>
      <p:sp>
        <p:nvSpPr>
          <p:cNvPr id="11" name="STC-16-nfr-stage-0">
            <a:extLst xmlns:a="http://schemas.openxmlformats.org/drawingml/2006/main">
              <a:ext uri="{FF2B5EF4-FFF2-40B4-BE49-F238E27FC236}">
                <a16:creationId xmlns:a16="http://schemas.microsoft.com/office/drawing/2014/main" id="{BD7BCBEA-7D7C-45F9-940D-B9D49D82B0A9}"/>
              </a:ext>
            </a:extLst>
          </p:cNvPr>
          <p:cNvSpPr>
            <a:spLocks xmlns:a="http://schemas.openxmlformats.org/drawingml/2006/main" noGrp="1"/>
          </p:cNvSpPr>
          <p:nvPr/>
        </p:nvSpPr>
        <p:spPr>
          <a:xfrm xmlns:a="http://schemas.openxmlformats.org/drawingml/2006/main">
            <a:off x="868680" y="2240280"/>
            <a:ext cx="1874520" cy="713232"/>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2" name="STC-16-nfr-label-0">
            <a:extLst xmlns:a="http://schemas.openxmlformats.org/drawingml/2006/main">
              <a:ext uri="{FF2B5EF4-FFF2-40B4-BE49-F238E27FC236}">
                <a16:creationId xmlns:a16="http://schemas.microsoft.com/office/drawing/2014/main" id="{C63A95E6-8E06-4CF9-97A4-DA00A0F19370}"/>
              </a:ext>
            </a:extLst>
          </p:cNvPr>
          <p:cNvSpPr>
            <a:spLocks xmlns:a="http://schemas.openxmlformats.org/drawingml/2006/main" noGrp="1"/>
          </p:cNvSpPr>
          <p:nvPr/>
        </p:nvSpPr>
        <p:spPr>
          <a:xfrm xmlns:a="http://schemas.openxmlformats.org/drawingml/2006/main">
            <a:off x="9784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44E8A"/>
                </a:solidFill>
                <a:latin typeface="Noto Sans Mono CJK KR"/>
                <a:ea typeface="Noto Sans Mono CJK KR"/>
                <a:cs typeface="Noto Sans Mono CJK KR"/>
              </a:rPr>
              <a:t>쓰기율</a:t>
            </a:r>
            <a:endParaRPr sz="1200"/>
          </a:p>
        </p:txBody>
      </p:sp>
      <p:sp>
        <p:nvSpPr>
          <p:cNvPr id="13" name="STC-16-nfr-arrow-0">
            <a:extLst xmlns:a="http://schemas.openxmlformats.org/drawingml/2006/main">
              <a:ext uri="{FF2B5EF4-FFF2-40B4-BE49-F238E27FC236}">
                <a16:creationId xmlns:a16="http://schemas.microsoft.com/office/drawing/2014/main" id="{93F6E238-5933-4840-8DE8-81F14BF46719}"/>
              </a:ext>
            </a:extLst>
          </p:cNvPr>
          <p:cNvSpPr>
            <a:spLocks xmlns:a="http://schemas.openxmlformats.org/drawingml/2006/main" noGrp="1"/>
          </p:cNvSpPr>
          <p:nvPr/>
        </p:nvSpPr>
        <p:spPr>
          <a:xfrm xmlns:a="http://schemas.openxmlformats.org/drawingml/2006/main">
            <a:off x="28437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4" name="STC-16-nfr-stage-1">
            <a:extLst xmlns:a="http://schemas.openxmlformats.org/drawingml/2006/main">
              <a:ext uri="{FF2B5EF4-FFF2-40B4-BE49-F238E27FC236}">
                <a16:creationId xmlns:a16="http://schemas.microsoft.com/office/drawing/2014/main" id="{6E375C46-F347-452D-B530-0C46A84896AE}"/>
              </a:ext>
            </a:extLst>
          </p:cNvPr>
          <p:cNvSpPr>
            <a:spLocks xmlns:a="http://schemas.openxmlformats.org/drawingml/2006/main" noGrp="1"/>
          </p:cNvSpPr>
          <p:nvPr/>
        </p:nvSpPr>
        <p:spPr>
          <a:xfrm xmlns:a="http://schemas.openxmlformats.org/drawingml/2006/main">
            <a:off x="2926080" y="2240280"/>
            <a:ext cx="1874520" cy="713232"/>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6-nfr-label-1">
            <a:extLst xmlns:a="http://schemas.openxmlformats.org/drawingml/2006/main">
              <a:ext uri="{FF2B5EF4-FFF2-40B4-BE49-F238E27FC236}">
                <a16:creationId xmlns:a16="http://schemas.microsoft.com/office/drawing/2014/main" id="{EE98E794-C92B-4BCD-9AA0-C007E2C3A901}"/>
              </a:ext>
            </a:extLst>
          </p:cNvPr>
          <p:cNvSpPr>
            <a:spLocks xmlns:a="http://schemas.openxmlformats.org/drawingml/2006/main" noGrp="1"/>
          </p:cNvSpPr>
          <p:nvPr/>
        </p:nvSpPr>
        <p:spPr>
          <a:xfrm xmlns:a="http://schemas.openxmlformats.org/drawingml/2006/main">
            <a:off x="303580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2F6B63"/>
                </a:solidFill>
                <a:latin typeface="Noto Sans Mono CJK KR"/>
                <a:ea typeface="Noto Sans Mono CJK KR"/>
                <a:cs typeface="Noto Sans Mono CJK KR"/>
              </a:rPr>
              <a:t>전량 교체</a:t>
            </a:r>
            <a:endParaRPr sz="1200"/>
          </a:p>
        </p:txBody>
      </p:sp>
      <p:sp>
        <p:nvSpPr>
          <p:cNvPr id="16" name="STC-16-nfr-arrow-1">
            <a:extLst xmlns:a="http://schemas.openxmlformats.org/drawingml/2006/main">
              <a:ext uri="{FF2B5EF4-FFF2-40B4-BE49-F238E27FC236}">
                <a16:creationId xmlns:a16="http://schemas.microsoft.com/office/drawing/2014/main" id="{9C699781-3533-4C0E-A37B-9441C305C79A}"/>
              </a:ext>
            </a:extLst>
          </p:cNvPr>
          <p:cNvSpPr>
            <a:spLocks xmlns:a="http://schemas.openxmlformats.org/drawingml/2006/main" noGrp="1"/>
          </p:cNvSpPr>
          <p:nvPr/>
        </p:nvSpPr>
        <p:spPr>
          <a:xfrm xmlns:a="http://schemas.openxmlformats.org/drawingml/2006/main">
            <a:off x="490118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17" name="STC-16-nfr-stage-2">
            <a:extLst xmlns:a="http://schemas.openxmlformats.org/drawingml/2006/main">
              <a:ext uri="{FF2B5EF4-FFF2-40B4-BE49-F238E27FC236}">
                <a16:creationId xmlns:a16="http://schemas.microsoft.com/office/drawing/2014/main" id="{F770F86E-4C00-4545-A7D5-B4D15AB17334}"/>
              </a:ext>
            </a:extLst>
          </p:cNvPr>
          <p:cNvSpPr>
            <a:spLocks xmlns:a="http://schemas.openxmlformats.org/drawingml/2006/main" noGrp="1"/>
          </p:cNvSpPr>
          <p:nvPr/>
        </p:nvSpPr>
        <p:spPr>
          <a:xfrm xmlns:a="http://schemas.openxmlformats.org/drawingml/2006/main">
            <a:off x="5532120" y="2240280"/>
            <a:ext cx="1874520" cy="713232"/>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8" name="STC-16-nfr-label-2">
            <a:extLst xmlns:a="http://schemas.openxmlformats.org/drawingml/2006/main">
              <a:ext uri="{FF2B5EF4-FFF2-40B4-BE49-F238E27FC236}">
                <a16:creationId xmlns:a16="http://schemas.microsoft.com/office/drawing/2014/main" id="{0CA58183-872F-423D-A5A2-DC11CA73C438}"/>
              </a:ext>
            </a:extLst>
          </p:cNvPr>
          <p:cNvSpPr>
            <a:spLocks xmlns:a="http://schemas.openxmlformats.org/drawingml/2006/main" noGrp="1"/>
          </p:cNvSpPr>
          <p:nvPr/>
        </p:nvSpPr>
        <p:spPr>
          <a:xfrm xmlns:a="http://schemas.openxmlformats.org/drawingml/2006/main">
            <a:off x="564184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9A442D"/>
                </a:solidFill>
                <a:latin typeface="Noto Sans Mono CJK KR"/>
                <a:ea typeface="Noto Sans Mono CJK KR"/>
                <a:cs typeface="Noto Sans Mono CJK KR"/>
              </a:rPr>
              <a:t>약분</a:t>
            </a:r>
            <a:endParaRPr sz="1200"/>
          </a:p>
        </p:txBody>
      </p:sp>
      <p:sp>
        <p:nvSpPr>
          <p:cNvPr id="19" name="STC-16-nfr-arrow-2">
            <a:extLst xmlns:a="http://schemas.openxmlformats.org/drawingml/2006/main">
              <a:ext uri="{FF2B5EF4-FFF2-40B4-BE49-F238E27FC236}">
                <a16:creationId xmlns:a16="http://schemas.microsoft.com/office/drawing/2014/main" id="{05297B78-DEE0-4182-9A5E-3E5A7CD7F4DA}"/>
              </a:ext>
            </a:extLst>
          </p:cNvPr>
          <p:cNvSpPr>
            <a:spLocks xmlns:a="http://schemas.openxmlformats.org/drawingml/2006/main" noGrp="1"/>
          </p:cNvSpPr>
          <p:nvPr/>
        </p:nvSpPr>
        <p:spPr>
          <a:xfrm xmlns:a="http://schemas.openxmlformats.org/drawingml/2006/main">
            <a:off x="7507224" y="2587752"/>
            <a:ext cx="813816" cy="0"/>
          </a:xfrm>
          <a:prstGeom xmlns:a="http://schemas.openxmlformats.org/drawingml/2006/main" prst="line">
            <a:avLst/>
          </a:prstGeom>
          <a:noFill xmlns:a="http://schemas.openxmlformats.org/drawingml/2006/main"/>
          <a:ln xmlns:a="http://schemas.openxmlformats.org/drawingml/2006/main" w="16510">
            <a:solidFill>
              <a:srgbClr val="17191C"/>
            </a:solidFill>
            <a:prstDash val="solid"/>
            <a:tailEnd type="triangle"/>
          </a:ln>
        </p:spPr>
      </p:sp>
      <p:sp>
        <p:nvSpPr>
          <p:cNvPr id="20" name="STC-16-nfr-stage-3">
            <a:extLst xmlns:a="http://schemas.openxmlformats.org/drawingml/2006/main">
              <a:ext uri="{FF2B5EF4-FFF2-40B4-BE49-F238E27FC236}">
                <a16:creationId xmlns:a16="http://schemas.microsoft.com/office/drawing/2014/main" id="{39A20466-7E4D-40E4-A7D7-42F469ECC895}"/>
              </a:ext>
            </a:extLst>
          </p:cNvPr>
          <p:cNvSpPr>
            <a:spLocks xmlns:a="http://schemas.openxmlformats.org/drawingml/2006/main" noGrp="1"/>
          </p:cNvSpPr>
          <p:nvPr/>
        </p:nvSpPr>
        <p:spPr>
          <a:xfrm xmlns:a="http://schemas.openxmlformats.org/drawingml/2006/main">
            <a:off x="8366760" y="2240280"/>
            <a:ext cx="1874520" cy="71323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16-nfr-label-3">
            <a:extLst xmlns:a="http://schemas.openxmlformats.org/drawingml/2006/main">
              <a:ext uri="{FF2B5EF4-FFF2-40B4-BE49-F238E27FC236}">
                <a16:creationId xmlns:a16="http://schemas.microsoft.com/office/drawing/2014/main" id="{C3585ECC-6437-4548-BCD2-77F576045CDC}"/>
              </a:ext>
            </a:extLst>
          </p:cNvPr>
          <p:cNvSpPr>
            <a:spLocks xmlns:a="http://schemas.openxmlformats.org/drawingml/2006/main" noGrp="1"/>
          </p:cNvSpPr>
          <p:nvPr/>
        </p:nvSpPr>
        <p:spPr>
          <a:xfrm xmlns:a="http://schemas.openxmlformats.org/drawingml/2006/main">
            <a:off x="8476488" y="2478024"/>
            <a:ext cx="1655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FFFFFF"/>
                </a:solidFill>
                <a:latin typeface="Noto Sans Mono CJK KR"/>
                <a:ea typeface="Noto Sans Mono CJK KR"/>
                <a:cs typeface="Noto Sans Mono CJK KR"/>
              </a:rPr>
              <a:t>다이얼</a:t>
            </a:r>
            <a:endParaRPr sz="1200"/>
          </a:p>
        </p:txBody>
      </p:sp>
      <p:sp>
        <p:nvSpPr>
          <p:cNvPr id="22" name="STC-16-nfr-equation">
            <a:extLst xmlns:a="http://schemas.openxmlformats.org/drawingml/2006/main">
              <a:ext uri="{FF2B5EF4-FFF2-40B4-BE49-F238E27FC236}">
                <a16:creationId xmlns:a16="http://schemas.microsoft.com/office/drawing/2014/main" id="{BE0CB8F9-6DA2-4314-B150-9934237AD497}"/>
              </a:ext>
            </a:extLst>
          </p:cNvPr>
          <p:cNvSpPr>
            <a:spLocks xmlns:a="http://schemas.openxmlformats.org/drawingml/2006/main" noGrp="1"/>
          </p:cNvSpPr>
          <p:nvPr/>
        </p:nvSpPr>
        <p:spPr>
          <a:xfrm xmlns:a="http://schemas.openxmlformats.org/drawingml/2006/main">
            <a:off x="2898648" y="3310128"/>
            <a:ext cx="19659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DWPD=1day/T_k</a:t>
            </a:r>
            <a:endParaRPr sz="2300"/>
          </a:p>
        </p:txBody>
      </p:sp>
      <p:sp>
        <p:nvSpPr>
          <p:cNvPr id="23" name="STC-16-nfr-result">
            <a:extLst xmlns:a="http://schemas.openxmlformats.org/drawingml/2006/main">
              <a:ext uri="{FF2B5EF4-FFF2-40B4-BE49-F238E27FC236}">
                <a16:creationId xmlns:a16="http://schemas.microsoft.com/office/drawing/2014/main" id="{C4A2FE2B-A37D-47CC-9BE0-490EB409D23D}"/>
              </a:ext>
            </a:extLst>
          </p:cNvPr>
          <p:cNvSpPr>
            <a:spLocks xmlns:a="http://schemas.openxmlformats.org/drawingml/2006/main" noGrp="1"/>
          </p:cNvSpPr>
          <p:nvPr/>
        </p:nvSpPr>
        <p:spPr>
          <a:xfrm xmlns:a="http://schemas.openxmlformats.org/drawingml/2006/main">
            <a:off x="5669280" y="3310128"/>
            <a:ext cx="22402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300" b="1">
                <a:solidFill>
                  <a:srgbClr val="9A442D"/>
                </a:solidFill>
                <a:latin typeface="Noto Serif CJK KR"/>
                <a:ea typeface="Noto Serif CJK KR"/>
                <a:cs typeface="Noto Serif CJK KR"/>
              </a:rPr>
              <a:t>N·C/T</a:t>
            </a:r>
            <a:endParaRPr sz="2300"/>
          </a:p>
        </p:txBody>
      </p:sp>
      <p:sp>
        <p:nvSpPr>
          <p:cNvPr id="24" name="STC-16-nfr-result-arrow">
            <a:extLst xmlns:a="http://schemas.openxmlformats.org/drawingml/2006/main">
              <a:ext uri="{FF2B5EF4-FFF2-40B4-BE49-F238E27FC236}">
                <a16:creationId xmlns:a16="http://schemas.microsoft.com/office/drawing/2014/main" id="{1E4EFA29-21C2-4F8C-B607-F96D778A8A44}"/>
              </a:ext>
            </a:extLst>
          </p:cNvPr>
          <p:cNvSpPr>
            <a:spLocks xmlns:a="http://schemas.openxmlformats.org/drawingml/2006/main" noGrp="1"/>
          </p:cNvSpPr>
          <p:nvPr/>
        </p:nvSpPr>
        <p:spPr>
          <a:xfrm xmlns:a="http://schemas.openxmlformats.org/drawingml/2006/main">
            <a:off x="4937760" y="3493008"/>
            <a:ext cx="658368" cy="0"/>
          </a:xfrm>
          <a:prstGeom xmlns:a="http://schemas.openxmlformats.org/drawingml/2006/main" prst="line">
            <a:avLst/>
          </a:prstGeom>
          <a:noFill xmlns:a="http://schemas.openxmlformats.org/drawingml/2006/main"/>
          <a:ln xmlns:a="http://schemas.openxmlformats.org/drawingml/2006/main" w="19050">
            <a:solidFill>
              <a:srgbClr val="9A442D"/>
            </a:solidFill>
            <a:prstDash val="solid"/>
            <a:tailEnd type="triangle"/>
          </a:ln>
        </p:spPr>
      </p:sp>
      <p:sp>
        <p:nvSpPr>
          <p:cNvPr id="25" name="STC-16-nfr-carriers">
            <a:extLst xmlns:a="http://schemas.openxmlformats.org/drawingml/2006/main">
              <a:ext uri="{FF2B5EF4-FFF2-40B4-BE49-F238E27FC236}">
                <a16:creationId xmlns:a16="http://schemas.microsoft.com/office/drawing/2014/main" id="{2D5BB60A-9D8E-40F6-B3BC-8D23ECC75064}"/>
              </a:ext>
            </a:extLst>
          </p:cNvPr>
          <p:cNvSpPr>
            <a:spLocks xmlns:a="http://schemas.openxmlformats.org/drawingml/2006/main" noGrp="1"/>
          </p:cNvSpPr>
          <p:nvPr/>
        </p:nvSpPr>
        <p:spPr>
          <a:xfrm xmlns:a="http://schemas.openxmlformats.org/drawingml/2006/main">
            <a:off x="1143000" y="4261104"/>
            <a:ext cx="9838944" cy="10607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26" name="STC-16-nfr-carriers-label">
            <a:extLst xmlns:a="http://schemas.openxmlformats.org/drawingml/2006/main">
              <a:ext uri="{FF2B5EF4-FFF2-40B4-BE49-F238E27FC236}">
                <a16:creationId xmlns:a16="http://schemas.microsoft.com/office/drawing/2014/main" id="{5C382C2E-7982-40CC-9D71-4AFD2B2B295F}"/>
              </a:ext>
            </a:extLst>
          </p:cNvPr>
          <p:cNvSpPr>
            <a:spLocks xmlns:a="http://schemas.openxmlformats.org/drawingml/2006/main" noGrp="1"/>
          </p:cNvSpPr>
          <p:nvPr/>
        </p:nvSpPr>
        <p:spPr>
          <a:xfrm xmlns:a="http://schemas.openxmlformats.org/drawingml/2006/main">
            <a:off x="1389888" y="4526280"/>
            <a:ext cx="1234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2F6B63"/>
                </a:solidFill>
                <a:latin typeface="Noto Sans CJK KR"/>
                <a:ea typeface="Noto Sans CJK KR"/>
                <a:cs typeface="Noto Sans CJK KR"/>
              </a:rPr>
              <a:t>쓰기율</a:t>
            </a:r>
            <a:endParaRPr sz="1700"/>
          </a:p>
        </p:txBody>
      </p:sp>
      <p:sp>
        <p:nvSpPr>
          <p:cNvPr id="27" name="STC-16-nfr-carriers-text">
            <a:extLst xmlns:a="http://schemas.openxmlformats.org/drawingml/2006/main">
              <a:ext uri="{FF2B5EF4-FFF2-40B4-BE49-F238E27FC236}">
                <a16:creationId xmlns:a16="http://schemas.microsoft.com/office/drawing/2014/main" id="{5AA006B0-54B0-4040-95FB-9C38FC9F5627}"/>
              </a:ext>
            </a:extLst>
          </p:cNvPr>
          <p:cNvSpPr>
            <a:spLocks xmlns:a="http://schemas.openxmlformats.org/drawingml/2006/main" noGrp="1"/>
          </p:cNvSpPr>
          <p:nvPr/>
        </p:nvSpPr>
        <p:spPr>
          <a:xfrm xmlns:a="http://schemas.openxmlformats.org/drawingml/2006/main">
            <a:off x="2788920" y="4434840"/>
            <a:ext cx="7818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50" b="1">
                <a:solidFill>
                  <a:srgbClr val="17191C"/>
                </a:solidFill>
                <a:latin typeface="Noto Sans CJK KR"/>
                <a:ea typeface="Noto Sans CJK KR"/>
                <a:cs typeface="Noto Sans CJK KR"/>
              </a:rPr>
              <a:t>용량도 사용자 수도 dtype도 이 비에서 약분되어 사라지고 남는 것은 라운드 주기 하나다</a:t>
            </a:r>
            <a:endParaRPr sz="1750"/>
          </a:p>
        </p:txBody>
      </p:sp>
      <p:sp>
        <p:nvSpPr>
          <p:cNvPr id="28" name="STC-16-nfr-carriers-note">
            <a:extLst xmlns:a="http://schemas.openxmlformats.org/drawingml/2006/main">
              <a:ext uri="{FF2B5EF4-FFF2-40B4-BE49-F238E27FC236}">
                <a16:creationId xmlns:a16="http://schemas.microsoft.com/office/drawing/2014/main" id="{61EA9E4F-60C4-4072-BF50-77434A086591}"/>
              </a:ext>
            </a:extLst>
          </p:cNvPr>
          <p:cNvSpPr>
            <a:spLocks xmlns:a="http://schemas.openxmlformats.org/drawingml/2006/main" noGrp="1"/>
          </p:cNvSpPr>
          <p:nvPr/>
        </p:nvSpPr>
        <p:spPr>
          <a:xfrm xmlns:a="http://schemas.openxmlformats.org/drawingml/2006/main">
            <a:off x="2788920" y="4974336"/>
            <a:ext cx="781812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a:solidFill>
                  <a:srgbClr val="59616A"/>
                </a:solidFill>
                <a:latin typeface="Noto Sans CJK KR"/>
                <a:ea typeface="Noto Sans CJK KR"/>
                <a:cs typeface="Noto Sans CJK KR"/>
              </a:rPr>
              <a:t>용량·사용자 수·dtype이 약분되고 T_k만 남는다</a:t>
            </a:r>
            <a:endParaRPr sz="1400"/>
          </a:p>
        </p:txBody>
      </p:sp>
    </p:spTree>
    <p:extLst>
      <p:ext uri="{BB962C8B-B14F-4D97-AF65-F5344CB8AC3E}">
        <p14:creationId xmlns:p14="http://schemas.microsoft.com/office/powerpoint/2010/main" val="13243900"/>
      </p:ext>
    </p:extLst>
  </p:cSld>
</p:sld>
</file>

<file path=ppt/slides/slide10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3-section">
            <a:extLst xmlns:a="http://schemas.openxmlformats.org/drawingml/2006/main">
              <a:ext uri="{FF2B5EF4-FFF2-40B4-BE49-F238E27FC236}">
                <a16:creationId xmlns:a16="http://schemas.microsoft.com/office/drawing/2014/main" id="{DEF75E10-FC43-4F90-A29D-73D1CBC1DCC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SYSTEMS</a:t>
            </a:r>
            <a:endParaRPr sz="950"/>
          </a:p>
        </p:txBody>
      </p:sp>
      <p:sp>
        <p:nvSpPr>
          <p:cNvPr id="3" name="STC-13-slide-id">
            <a:extLst xmlns:a="http://schemas.openxmlformats.org/drawingml/2006/main">
              <a:ext uri="{FF2B5EF4-FFF2-40B4-BE49-F238E27FC236}">
                <a16:creationId xmlns:a16="http://schemas.microsoft.com/office/drawing/2014/main" id="{207357D7-4303-4447-A61C-4C79283F663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STC-109</a:t>
            </a:r>
            <a:endParaRPr sz="950"/>
          </a:p>
        </p:txBody>
      </p:sp>
      <p:sp>
        <p:nvSpPr>
          <p:cNvPr id="4" name="STC-13-headline">
            <a:extLst xmlns:a="http://schemas.openxmlformats.org/drawingml/2006/main">
              <a:ext uri="{FF2B5EF4-FFF2-40B4-BE49-F238E27FC236}">
                <a16:creationId xmlns:a16="http://schemas.microsoft.com/office/drawing/2014/main" id="{8E260E54-4985-4C50-817D-C85BDF65F5D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이 자리는 앞 모노그래프가 짚은 자리와 다르다</a:t>
            </a:r>
            <a:endParaRPr sz="3000"/>
          </a:p>
        </p:txBody>
      </p:sp>
      <p:sp>
        <p:nvSpPr>
          <p:cNvPr id="5" name="STC-13-status-label">
            <a:extLst xmlns:a="http://schemas.openxmlformats.org/drawingml/2006/main">
              <a:ext uri="{FF2B5EF4-FFF2-40B4-BE49-F238E27FC236}">
                <a16:creationId xmlns:a16="http://schemas.microsoft.com/office/drawing/2014/main" id="{76CEFCAB-90F8-4FF1-91A9-495F4B23416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조건 없이 단정</a:t>
            </a:r>
            <a:endParaRPr sz="1000"/>
          </a:p>
        </p:txBody>
      </p:sp>
      <p:sp>
        <p:nvSpPr>
          <p:cNvPr id="6" name="STC-13-status-rule">
            <a:extLst xmlns:a="http://schemas.openxmlformats.org/drawingml/2006/main">
              <a:ext uri="{FF2B5EF4-FFF2-40B4-BE49-F238E27FC236}">
                <a16:creationId xmlns:a16="http://schemas.microsoft.com/office/drawing/2014/main" id="{07360112-59F1-4B26-BA92-7088E3FD40C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13-footer-rule">
            <a:extLst xmlns:a="http://schemas.openxmlformats.org/drawingml/2006/main">
              <a:ext uri="{FF2B5EF4-FFF2-40B4-BE49-F238E27FC236}">
                <a16:creationId xmlns:a16="http://schemas.microsoft.com/office/drawing/2014/main" id="{26DC731C-F3A6-48D1-B411-9B2CD636969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3-source-footer">
            <a:extLst xmlns:a="http://schemas.openxmlformats.org/drawingml/2006/main">
              <a:ext uri="{FF2B5EF4-FFF2-40B4-BE49-F238E27FC236}">
                <a16:creationId xmlns:a16="http://schemas.microsoft.com/office/drawing/2014/main" id="{F8DE0C07-9BB3-4619-B392-5FCFC17ACBE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ch29 §29.3.2 표 29-2 · §29.4 판정 2</a:t>
            </a:r>
            <a:endParaRPr sz="850"/>
          </a:p>
        </p:txBody>
      </p:sp>
      <p:sp>
        <p:nvSpPr>
          <p:cNvPr id="9" name="STC-13-page-number">
            <a:extLst xmlns:a="http://schemas.openxmlformats.org/drawingml/2006/main">
              <a:ext uri="{FF2B5EF4-FFF2-40B4-BE49-F238E27FC236}">
                <a16:creationId xmlns:a16="http://schemas.microsoft.com/office/drawing/2014/main" id="{77A42865-7B64-4DDF-99E9-C4F94EB652F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109</a:t>
            </a:r>
            <a:endParaRPr sz="850"/>
          </a:p>
        </p:txBody>
      </p:sp>
      <p:sp>
        <p:nvSpPr>
          <p:cNvPr id="11" name="STC-13-data-layer-0">
            <a:extLst xmlns:a="http://schemas.openxmlformats.org/drawingml/2006/main">
              <a:ext uri="{FF2B5EF4-FFF2-40B4-BE49-F238E27FC236}">
                <a16:creationId xmlns:a16="http://schemas.microsoft.com/office/drawing/2014/main" id="{E5BBE619-AB19-42FA-8122-D61948B604E8}"/>
              </a:ext>
            </a:extLst>
          </p:cNvPr>
          <p:cNvSpPr>
            <a:spLocks xmlns:a="http://schemas.openxmlformats.org/drawingml/2006/main" noGrp="1"/>
          </p:cNvSpPr>
          <p:nvPr/>
        </p:nvSpPr>
        <p:spPr>
          <a:xfrm xmlns:a="http://schemas.openxmlformats.org/drawingml/2006/main">
            <a:off x="1618488" y="1664208"/>
            <a:ext cx="8961120" cy="56692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12" name="STC-13-data-label-0">
            <a:extLst xmlns:a="http://schemas.openxmlformats.org/drawingml/2006/main">
              <a:ext uri="{FF2B5EF4-FFF2-40B4-BE49-F238E27FC236}">
                <a16:creationId xmlns:a16="http://schemas.microsoft.com/office/drawing/2014/main" id="{FDF9C9BA-3329-45E9-ABC4-2B36508291DA}"/>
              </a:ext>
            </a:extLst>
          </p:cNvPr>
          <p:cNvSpPr>
            <a:spLocks xmlns:a="http://schemas.openxmlformats.org/drawingml/2006/main" noGrp="1"/>
          </p:cNvSpPr>
          <p:nvPr/>
        </p:nvSpPr>
        <p:spPr>
          <a:xfrm xmlns:a="http://schemas.openxmlformats.org/drawingml/2006/main">
            <a:off x="1783080" y="1828800"/>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FFFFFF"/>
                </a:solidFill>
                <a:latin typeface="Noto Sans Mono CJK KR"/>
                <a:ea typeface="Noto Sans Mono CJK KR"/>
                <a:cs typeface="Noto Sans Mono CJK KR"/>
              </a:rPr>
              <a:t>병목 자원</a:t>
            </a:r>
            <a:endParaRPr sz="1050"/>
          </a:p>
        </p:txBody>
      </p:sp>
      <p:sp>
        <p:nvSpPr>
          <p:cNvPr id="13" name="STC-13-data-body-0">
            <a:extLst xmlns:a="http://schemas.openxmlformats.org/drawingml/2006/main">
              <a:ext uri="{FF2B5EF4-FFF2-40B4-BE49-F238E27FC236}">
                <a16:creationId xmlns:a16="http://schemas.microsoft.com/office/drawing/2014/main" id="{34676F1F-A035-47A9-9C53-7C294D97CEF1}"/>
              </a:ext>
            </a:extLst>
          </p:cNvPr>
          <p:cNvSpPr>
            <a:spLocks xmlns:a="http://schemas.openxmlformats.org/drawingml/2006/main" noGrp="1"/>
          </p:cNvSpPr>
          <p:nvPr/>
        </p:nvSpPr>
        <p:spPr>
          <a:xfrm xmlns:a="http://schemas.openxmlformats.org/drawingml/2006/main">
            <a:off x="3401568" y="1755648"/>
            <a:ext cx="6995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FFFFFF"/>
                </a:solidFill>
                <a:latin typeface="Noto Sans CJK KR"/>
                <a:ea typeface="Noto Sans CJK KR"/>
                <a:cs typeface="Noto Sans CJK KR"/>
              </a:rPr>
              <a:t>HBM 대역폭 대 웜 계층의 마감과 내구성</a:t>
            </a:r>
            <a:endParaRPr sz="1450"/>
          </a:p>
        </p:txBody>
      </p:sp>
      <p:sp>
        <p:nvSpPr>
          <p:cNvPr id="14" name="STC-13-data-layer-1">
            <a:extLst xmlns:a="http://schemas.openxmlformats.org/drawingml/2006/main">
              <a:ext uri="{FF2B5EF4-FFF2-40B4-BE49-F238E27FC236}">
                <a16:creationId xmlns:a16="http://schemas.microsoft.com/office/drawing/2014/main" id="{2C7AD258-BAEB-4994-96A5-F1AB29FB68DF}"/>
              </a:ext>
            </a:extLst>
          </p:cNvPr>
          <p:cNvSpPr>
            <a:spLocks xmlns:a="http://schemas.openxmlformats.org/drawingml/2006/main" noGrp="1"/>
          </p:cNvSpPr>
          <p:nvPr/>
        </p:nvSpPr>
        <p:spPr>
          <a:xfrm xmlns:a="http://schemas.openxmlformats.org/drawingml/2006/main">
            <a:off x="2258568" y="2450592"/>
            <a:ext cx="7680960" cy="566928"/>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3-data-label-1">
            <a:extLst xmlns:a="http://schemas.openxmlformats.org/drawingml/2006/main">
              <a:ext uri="{FF2B5EF4-FFF2-40B4-BE49-F238E27FC236}">
                <a16:creationId xmlns:a16="http://schemas.microsoft.com/office/drawing/2014/main" id="{02CDF8C0-80BF-43B8-B0F1-3E7D91CAE3C2}"/>
              </a:ext>
            </a:extLst>
          </p:cNvPr>
          <p:cNvSpPr>
            <a:spLocks xmlns:a="http://schemas.openxmlformats.org/drawingml/2006/main" noGrp="1"/>
          </p:cNvSpPr>
          <p:nvPr/>
        </p:nvSpPr>
        <p:spPr>
          <a:xfrm xmlns:a="http://schemas.openxmlformats.org/drawingml/2006/main">
            <a:off x="2423160" y="2615184"/>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시간 입도</a:t>
            </a:r>
            <a:endParaRPr sz="1050"/>
          </a:p>
        </p:txBody>
      </p:sp>
      <p:sp>
        <p:nvSpPr>
          <p:cNvPr id="16" name="STC-13-data-body-1">
            <a:extLst xmlns:a="http://schemas.openxmlformats.org/drawingml/2006/main">
              <a:ext uri="{FF2B5EF4-FFF2-40B4-BE49-F238E27FC236}">
                <a16:creationId xmlns:a16="http://schemas.microsoft.com/office/drawing/2014/main" id="{BC62C31C-D212-42ED-AE30-842B56196CD1}"/>
              </a:ext>
            </a:extLst>
          </p:cNvPr>
          <p:cNvSpPr>
            <a:spLocks xmlns:a="http://schemas.openxmlformats.org/drawingml/2006/main" noGrp="1"/>
          </p:cNvSpPr>
          <p:nvPr/>
        </p:nvSpPr>
        <p:spPr>
          <a:xfrm xmlns:a="http://schemas.openxmlformats.org/drawingml/2006/main">
            <a:off x="4041648" y="2542032"/>
            <a:ext cx="5715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17191C"/>
                </a:solidFill>
                <a:latin typeface="Noto Sans CJK KR"/>
                <a:ea typeface="Noto Sans CJK KR"/>
                <a:cs typeface="Noto Sans CJK KR"/>
              </a:rPr>
              <a:t>토큰당 대 요청당·라운드당</a:t>
            </a:r>
            <a:endParaRPr sz="1450"/>
          </a:p>
        </p:txBody>
      </p:sp>
      <p:sp>
        <p:nvSpPr>
          <p:cNvPr id="17" name="STC-13-data-layer-2">
            <a:extLst xmlns:a="http://schemas.openxmlformats.org/drawingml/2006/main">
              <a:ext uri="{FF2B5EF4-FFF2-40B4-BE49-F238E27FC236}">
                <a16:creationId xmlns:a16="http://schemas.microsoft.com/office/drawing/2014/main" id="{D6FAD0EE-091C-49BC-AC96-FF7C3FD7BF30}"/>
              </a:ext>
            </a:extLst>
          </p:cNvPr>
          <p:cNvSpPr>
            <a:spLocks xmlns:a="http://schemas.openxmlformats.org/drawingml/2006/main" noGrp="1"/>
          </p:cNvSpPr>
          <p:nvPr/>
        </p:nvSpPr>
        <p:spPr>
          <a:xfrm xmlns:a="http://schemas.openxmlformats.org/drawingml/2006/main">
            <a:off x="2898648" y="3236976"/>
            <a:ext cx="6400800" cy="566928"/>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8" name="STC-13-data-label-2">
            <a:extLst xmlns:a="http://schemas.openxmlformats.org/drawingml/2006/main">
              <a:ext uri="{FF2B5EF4-FFF2-40B4-BE49-F238E27FC236}">
                <a16:creationId xmlns:a16="http://schemas.microsoft.com/office/drawing/2014/main" id="{AA018C36-C849-429F-A2CB-A09888ED5181}"/>
              </a:ext>
            </a:extLst>
          </p:cNvPr>
          <p:cNvSpPr>
            <a:spLocks xmlns:a="http://schemas.openxmlformats.org/drawingml/2006/main" noGrp="1"/>
          </p:cNvSpPr>
          <p:nvPr/>
        </p:nvSpPr>
        <p:spPr>
          <a:xfrm xmlns:a="http://schemas.openxmlformats.org/drawingml/2006/main">
            <a:off x="3063240" y="3401568"/>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상태 수명</a:t>
            </a:r>
            <a:endParaRPr sz="1050"/>
          </a:p>
        </p:txBody>
      </p:sp>
      <p:sp>
        <p:nvSpPr>
          <p:cNvPr id="19" name="STC-13-data-body-2">
            <a:extLst xmlns:a="http://schemas.openxmlformats.org/drawingml/2006/main">
              <a:ext uri="{FF2B5EF4-FFF2-40B4-BE49-F238E27FC236}">
                <a16:creationId xmlns:a16="http://schemas.microsoft.com/office/drawing/2014/main" id="{41815879-EDCF-477A-A120-7092A00F5988}"/>
              </a:ext>
            </a:extLst>
          </p:cNvPr>
          <p:cNvSpPr>
            <a:spLocks xmlns:a="http://schemas.openxmlformats.org/drawingml/2006/main" noGrp="1"/>
          </p:cNvSpPr>
          <p:nvPr/>
        </p:nvSpPr>
        <p:spPr>
          <a:xfrm xmlns:a="http://schemas.openxmlformats.org/drawingml/2006/main">
            <a:off x="4681728" y="3328416"/>
            <a:ext cx="4434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세션 transient 대 사용자 영속</a:t>
            </a:r>
            <a:endParaRPr sz="1350"/>
          </a:p>
        </p:txBody>
      </p:sp>
      <p:sp>
        <p:nvSpPr>
          <p:cNvPr id="20" name="STC-13-data-layer-3">
            <a:extLst xmlns:a="http://schemas.openxmlformats.org/drawingml/2006/main">
              <a:ext uri="{FF2B5EF4-FFF2-40B4-BE49-F238E27FC236}">
                <a16:creationId xmlns:a16="http://schemas.microsoft.com/office/drawing/2014/main" id="{FBD0C7D7-10DE-463B-9217-97D247B03C72}"/>
              </a:ext>
            </a:extLst>
          </p:cNvPr>
          <p:cNvSpPr>
            <a:spLocks xmlns:a="http://schemas.openxmlformats.org/drawingml/2006/main" noGrp="1"/>
          </p:cNvSpPr>
          <p:nvPr/>
        </p:nvSpPr>
        <p:spPr>
          <a:xfrm xmlns:a="http://schemas.openxmlformats.org/drawingml/2006/main">
            <a:off x="3538728" y="4023360"/>
            <a:ext cx="5120640" cy="566928"/>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13-data-label-3">
            <a:extLst xmlns:a="http://schemas.openxmlformats.org/drawingml/2006/main">
              <a:ext uri="{FF2B5EF4-FFF2-40B4-BE49-F238E27FC236}">
                <a16:creationId xmlns:a16="http://schemas.microsoft.com/office/drawing/2014/main" id="{8DA5B66F-AB6C-424C-B38E-EC87549B7458}"/>
              </a:ext>
            </a:extLst>
          </p:cNvPr>
          <p:cNvSpPr>
            <a:spLocks xmlns:a="http://schemas.openxmlformats.org/drawingml/2006/main" noGrp="1"/>
          </p:cNvSpPr>
          <p:nvPr/>
        </p:nvSpPr>
        <p:spPr>
          <a:xfrm xmlns:a="http://schemas.openxmlformats.org/drawingml/2006/main">
            <a:off x="3703320" y="4187952"/>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새 primitive</a:t>
            </a:r>
            <a:endParaRPr sz="1050"/>
          </a:p>
        </p:txBody>
      </p:sp>
      <p:sp>
        <p:nvSpPr>
          <p:cNvPr id="22" name="STC-13-data-body-3">
            <a:extLst xmlns:a="http://schemas.openxmlformats.org/drawingml/2006/main">
              <a:ext uri="{FF2B5EF4-FFF2-40B4-BE49-F238E27FC236}">
                <a16:creationId xmlns:a16="http://schemas.microsoft.com/office/drawing/2014/main" id="{B07BDB02-D4B0-48AF-8A53-11814C8CDC53}"/>
              </a:ext>
            </a:extLst>
          </p:cNvPr>
          <p:cNvSpPr>
            <a:spLocks xmlns:a="http://schemas.openxmlformats.org/drawingml/2006/main" noGrp="1"/>
          </p:cNvSpPr>
          <p:nvPr/>
        </p:nvSpPr>
        <p:spPr>
          <a:xfrm xmlns:a="http://schemas.openxmlformats.org/drawingml/2006/main">
            <a:off x="5321808" y="41148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decode 경로 위 RMW 대 delta 스테이징</a:t>
            </a:r>
            <a:endParaRPr sz="1350"/>
          </a:p>
        </p:txBody>
      </p:sp>
      <p:sp>
        <p:nvSpPr>
          <p:cNvPr id="23" name="STC-13-data-layer-4">
            <a:extLst xmlns:a="http://schemas.openxmlformats.org/drawingml/2006/main">
              <a:ext uri="{FF2B5EF4-FFF2-40B4-BE49-F238E27FC236}">
                <a16:creationId xmlns:a16="http://schemas.microsoft.com/office/drawing/2014/main" id="{E60963C1-8D59-4CC2-B99B-C4EA44523D22}"/>
              </a:ext>
            </a:extLst>
          </p:cNvPr>
          <p:cNvSpPr>
            <a:spLocks xmlns:a="http://schemas.openxmlformats.org/drawingml/2006/main" noGrp="1"/>
          </p:cNvSpPr>
          <p:nvPr/>
        </p:nvSpPr>
        <p:spPr>
          <a:xfrm xmlns:a="http://schemas.openxmlformats.org/drawingml/2006/main">
            <a:off x="4178808" y="4809744"/>
            <a:ext cx="3840480" cy="566928"/>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24" name="STC-13-data-label-4">
            <a:extLst xmlns:a="http://schemas.openxmlformats.org/drawingml/2006/main">
              <a:ext uri="{FF2B5EF4-FFF2-40B4-BE49-F238E27FC236}">
                <a16:creationId xmlns:a16="http://schemas.microsoft.com/office/drawing/2014/main" id="{94E567B2-40CF-45FA-B9F9-A1B39A99C7FF}"/>
              </a:ext>
            </a:extLst>
          </p:cNvPr>
          <p:cNvSpPr>
            <a:spLocks xmlns:a="http://schemas.openxmlformats.org/drawingml/2006/main" noGrp="1"/>
          </p:cNvSpPr>
          <p:nvPr/>
        </p:nvSpPr>
        <p:spPr>
          <a:xfrm xmlns:a="http://schemas.openxmlformats.org/drawingml/2006/main">
            <a:off x="4343400" y="4974336"/>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공존</a:t>
            </a:r>
            <a:endParaRPr sz="1050"/>
          </a:p>
        </p:txBody>
      </p:sp>
      <p:sp>
        <p:nvSpPr>
          <p:cNvPr id="25" name="STC-13-data-body-4">
            <a:extLst xmlns:a="http://schemas.openxmlformats.org/drawingml/2006/main">
              <a:ext uri="{FF2B5EF4-FFF2-40B4-BE49-F238E27FC236}">
                <a16:creationId xmlns:a16="http://schemas.microsoft.com/office/drawing/2014/main" id="{2C57AF49-F2CA-4C91-AE9F-A85EF45878C8}"/>
              </a:ext>
            </a:extLst>
          </p:cNvPr>
          <p:cNvSpPr>
            <a:spLocks xmlns:a="http://schemas.openxmlformats.org/drawingml/2006/main" noGrp="1"/>
          </p:cNvSpPr>
          <p:nvPr/>
        </p:nvSpPr>
        <p:spPr>
          <a:xfrm xmlns:a="http://schemas.openxmlformats.org/drawingml/2006/main">
            <a:off x="5961888" y="4901184"/>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HBM은 여전히 포화하고 그 위에 스테이징이 얹힌다</a:t>
            </a:r>
            <a:endParaRPr sz="1350"/>
          </a:p>
        </p:txBody>
      </p:sp>
      <p:sp>
        <p:nvSpPr>
          <p:cNvPr id="26" name="STC-13-data-warning">
            <a:extLst xmlns:a="http://schemas.openxmlformats.org/drawingml/2006/main">
              <a:ext uri="{FF2B5EF4-FFF2-40B4-BE49-F238E27FC236}">
                <a16:creationId xmlns:a16="http://schemas.microsoft.com/office/drawing/2014/main" id="{FE09EF05-9A9A-4209-946A-2FFD878EDF5A}"/>
              </a:ext>
            </a:extLst>
          </p:cNvPr>
          <p:cNvSpPr>
            <a:spLocks xmlns:a="http://schemas.openxmlformats.org/drawingml/2006/main" noGrp="1"/>
          </p:cNvSpPr>
          <p:nvPr/>
        </p:nvSpPr>
        <p:spPr>
          <a:xfrm xmlns:a="http://schemas.openxmlformats.org/drawingml/2006/main">
            <a:off x="2286000" y="5623560"/>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ans CJK KR"/>
                <a:ea typeface="Noto Sans CJK KR"/>
                <a:cs typeface="Noto Sans CJK KR"/>
              </a:rPr>
              <a:t>HBM 대역폭 대 웜 계층의 마감과 내구성</a:t>
            </a:r>
            <a:endParaRPr sz="1800"/>
          </a:p>
        </p:txBody>
      </p:sp>
    </p:spTree>
    <p:extLst>
      <p:ext uri="{BB962C8B-B14F-4D97-AF65-F5344CB8AC3E}">
        <p14:creationId xmlns:p14="http://schemas.microsoft.com/office/powerpoint/2010/main" val="877466157"/>
      </p:ext>
    </p:extLst>
  </p:cSld>
</p:sld>
</file>

<file path=ppt/slides/slide110.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3-section">
            <a:extLst xmlns:a="http://schemas.openxmlformats.org/drawingml/2006/main">
              <a:ext uri="{FF2B5EF4-FFF2-40B4-BE49-F238E27FC236}">
                <a16:creationId xmlns:a16="http://schemas.microsoft.com/office/drawing/2014/main" id="{DEF75E10-FC43-4F90-A29D-73D1CBC1DCC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SYSTEMS</a:t>
            </a:r>
            <a:endParaRPr sz="950"/>
          </a:p>
        </p:txBody>
      </p:sp>
      <p:sp>
        <p:nvSpPr>
          <p:cNvPr id="3" name="STC-13-slide-id">
            <a:extLst xmlns:a="http://schemas.openxmlformats.org/drawingml/2006/main">
              <a:ext uri="{FF2B5EF4-FFF2-40B4-BE49-F238E27FC236}">
                <a16:creationId xmlns:a16="http://schemas.microsoft.com/office/drawing/2014/main" id="{207357D7-4303-4447-A61C-4C79283F663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STC-110</a:t>
            </a:r>
            <a:endParaRPr sz="950"/>
          </a:p>
        </p:txBody>
      </p:sp>
      <p:sp>
        <p:nvSpPr>
          <p:cNvPr id="4" name="STC-13-headline">
            <a:extLst xmlns:a="http://schemas.openxmlformats.org/drawingml/2006/main">
              <a:ext uri="{FF2B5EF4-FFF2-40B4-BE49-F238E27FC236}">
                <a16:creationId xmlns:a16="http://schemas.microsoft.com/office/drawing/2014/main" id="{8E260E54-4985-4C50-817D-C85BDF65F5D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shared-weight batching은 이분법이 아니라 네 단계다</a:t>
            </a:r>
            <a:endParaRPr sz="3000"/>
          </a:p>
        </p:txBody>
      </p:sp>
      <p:sp>
        <p:nvSpPr>
          <p:cNvPr id="5" name="STC-13-status-label">
            <a:extLst xmlns:a="http://schemas.openxmlformats.org/drawingml/2006/main">
              <a:ext uri="{FF2B5EF4-FFF2-40B4-BE49-F238E27FC236}">
                <a16:creationId xmlns:a16="http://schemas.microsoft.com/office/drawing/2014/main" id="{76CEFCAB-90F8-4FF1-91A9-495F4B23416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구조 분류</a:t>
            </a:r>
            <a:endParaRPr sz="1000"/>
          </a:p>
        </p:txBody>
      </p:sp>
      <p:sp>
        <p:nvSpPr>
          <p:cNvPr id="6" name="STC-13-status-rule">
            <a:extLst xmlns:a="http://schemas.openxmlformats.org/drawingml/2006/main">
              <a:ext uri="{FF2B5EF4-FFF2-40B4-BE49-F238E27FC236}">
                <a16:creationId xmlns:a16="http://schemas.microsoft.com/office/drawing/2014/main" id="{07360112-59F1-4B26-BA92-7088E3FD40C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13-footer-rule">
            <a:extLst xmlns:a="http://schemas.openxmlformats.org/drawingml/2006/main">
              <a:ext uri="{FF2B5EF4-FFF2-40B4-BE49-F238E27FC236}">
                <a16:creationId xmlns:a16="http://schemas.microsoft.com/office/drawing/2014/main" id="{26DC731C-F3A6-48D1-B411-9B2CD636969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3-source-footer">
            <a:extLst xmlns:a="http://schemas.openxmlformats.org/drawingml/2006/main">
              <a:ext uri="{FF2B5EF4-FFF2-40B4-BE49-F238E27FC236}">
                <a16:creationId xmlns:a16="http://schemas.microsoft.com/office/drawing/2014/main" id="{F8DE0C07-9BB3-4619-B392-5FCFC17ACBE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ch29 §29.3.3 표 29-3 · experiments/stc/X2 Q4</a:t>
            </a:r>
            <a:endParaRPr sz="850"/>
          </a:p>
        </p:txBody>
      </p:sp>
      <p:sp>
        <p:nvSpPr>
          <p:cNvPr id="9" name="STC-13-page-number">
            <a:extLst xmlns:a="http://schemas.openxmlformats.org/drawingml/2006/main">
              <a:ext uri="{FF2B5EF4-FFF2-40B4-BE49-F238E27FC236}">
                <a16:creationId xmlns:a16="http://schemas.microsoft.com/office/drawing/2014/main" id="{77A42865-7B64-4DDF-99E9-C4F94EB652F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110</a:t>
            </a:r>
            <a:endParaRPr sz="850"/>
          </a:p>
        </p:txBody>
      </p:sp>
      <p:sp>
        <p:nvSpPr>
          <p:cNvPr id="11" name="STC-13-data-layer-0">
            <a:extLst xmlns:a="http://schemas.openxmlformats.org/drawingml/2006/main">
              <a:ext uri="{FF2B5EF4-FFF2-40B4-BE49-F238E27FC236}">
                <a16:creationId xmlns:a16="http://schemas.microsoft.com/office/drawing/2014/main" id="{E5BBE619-AB19-42FA-8122-D61948B604E8}"/>
              </a:ext>
            </a:extLst>
          </p:cNvPr>
          <p:cNvSpPr>
            <a:spLocks xmlns:a="http://schemas.openxmlformats.org/drawingml/2006/main" noGrp="1"/>
          </p:cNvSpPr>
          <p:nvPr/>
        </p:nvSpPr>
        <p:spPr>
          <a:xfrm xmlns:a="http://schemas.openxmlformats.org/drawingml/2006/main">
            <a:off x="1618488" y="1664208"/>
            <a:ext cx="8961120" cy="56692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12" name="STC-13-data-label-0">
            <a:extLst xmlns:a="http://schemas.openxmlformats.org/drawingml/2006/main">
              <a:ext uri="{FF2B5EF4-FFF2-40B4-BE49-F238E27FC236}">
                <a16:creationId xmlns:a16="http://schemas.microsoft.com/office/drawing/2014/main" id="{FDF9C9BA-3329-45E9-ABC4-2B36508291DA}"/>
              </a:ext>
            </a:extLst>
          </p:cNvPr>
          <p:cNvSpPr>
            <a:spLocks xmlns:a="http://schemas.openxmlformats.org/drawingml/2006/main" noGrp="1"/>
          </p:cNvSpPr>
          <p:nvPr/>
        </p:nvSpPr>
        <p:spPr>
          <a:xfrm xmlns:a="http://schemas.openxmlformats.org/drawingml/2006/main">
            <a:off x="1783080" y="1828800"/>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FFFFFF"/>
                </a:solidFill>
                <a:latin typeface="Noto Sans Mono CJK KR"/>
                <a:ea typeface="Noto Sans Mono CJK KR"/>
                <a:cs typeface="Noto Sans Mono CJK KR"/>
              </a:rPr>
              <a:t>E-경로</a:t>
            </a:r>
            <a:endParaRPr sz="1050"/>
          </a:p>
        </p:txBody>
      </p:sp>
      <p:sp>
        <p:nvSpPr>
          <p:cNvPr id="13" name="STC-13-data-body-0">
            <a:extLst xmlns:a="http://schemas.openxmlformats.org/drawingml/2006/main">
              <a:ext uri="{FF2B5EF4-FFF2-40B4-BE49-F238E27FC236}">
                <a16:creationId xmlns:a16="http://schemas.microsoft.com/office/drawing/2014/main" id="{34676F1F-A035-47A9-9C53-7C294D97CEF1}"/>
              </a:ext>
            </a:extLst>
          </p:cNvPr>
          <p:cNvSpPr>
            <a:spLocks xmlns:a="http://schemas.openxmlformats.org/drawingml/2006/main" noGrp="1"/>
          </p:cNvSpPr>
          <p:nvPr/>
        </p:nvSpPr>
        <p:spPr>
          <a:xfrm xmlns:a="http://schemas.openxmlformats.org/drawingml/2006/main">
            <a:off x="3401568" y="1755648"/>
            <a:ext cx="6995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FFFFFF"/>
                </a:solidFill>
                <a:latin typeface="Noto Sans CJK KR"/>
                <a:ea typeface="Noto Sans CJK KR"/>
                <a:cs typeface="Noto Sans CJK KR"/>
              </a:rPr>
              <a:t>유지 · 프롬프트 길이만 늘어난다</a:t>
            </a:r>
            <a:endParaRPr sz="1450"/>
          </a:p>
        </p:txBody>
      </p:sp>
      <p:sp>
        <p:nvSpPr>
          <p:cNvPr id="14" name="STC-13-data-layer-1">
            <a:extLst xmlns:a="http://schemas.openxmlformats.org/drawingml/2006/main">
              <a:ext uri="{FF2B5EF4-FFF2-40B4-BE49-F238E27FC236}">
                <a16:creationId xmlns:a16="http://schemas.microsoft.com/office/drawing/2014/main" id="{2C7AD258-BAEB-4994-96A5-F1AB29FB68DF}"/>
              </a:ext>
            </a:extLst>
          </p:cNvPr>
          <p:cNvSpPr>
            <a:spLocks xmlns:a="http://schemas.openxmlformats.org/drawingml/2006/main" noGrp="1"/>
          </p:cNvSpPr>
          <p:nvPr/>
        </p:nvSpPr>
        <p:spPr>
          <a:xfrm xmlns:a="http://schemas.openxmlformats.org/drawingml/2006/main">
            <a:off x="2258568" y="2450592"/>
            <a:ext cx="7680960" cy="566928"/>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3-data-label-1">
            <a:extLst xmlns:a="http://schemas.openxmlformats.org/drawingml/2006/main">
              <a:ext uri="{FF2B5EF4-FFF2-40B4-BE49-F238E27FC236}">
                <a16:creationId xmlns:a16="http://schemas.microsoft.com/office/drawing/2014/main" id="{02CDF8C0-80BF-43B8-B0F1-3E7D91CAE3C2}"/>
              </a:ext>
            </a:extLst>
          </p:cNvPr>
          <p:cNvSpPr>
            <a:spLocks xmlns:a="http://schemas.openxmlformats.org/drawingml/2006/main" noGrp="1"/>
          </p:cNvSpPr>
          <p:nvPr/>
        </p:nvSpPr>
        <p:spPr>
          <a:xfrm xmlns:a="http://schemas.openxmlformats.org/drawingml/2006/main">
            <a:off x="2423160" y="2615184"/>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W-경로</a:t>
            </a:r>
            <a:endParaRPr sz="1050"/>
          </a:p>
        </p:txBody>
      </p:sp>
      <p:sp>
        <p:nvSpPr>
          <p:cNvPr id="16" name="STC-13-data-body-1">
            <a:extLst xmlns:a="http://schemas.openxmlformats.org/drawingml/2006/main">
              <a:ext uri="{FF2B5EF4-FFF2-40B4-BE49-F238E27FC236}">
                <a16:creationId xmlns:a16="http://schemas.microsoft.com/office/drawing/2014/main" id="{BC62C31C-D212-42ED-AE30-842B56196CD1}"/>
              </a:ext>
            </a:extLst>
          </p:cNvPr>
          <p:cNvSpPr>
            <a:spLocks xmlns:a="http://schemas.openxmlformats.org/drawingml/2006/main" noGrp="1"/>
          </p:cNvSpPr>
          <p:nvPr/>
        </p:nvSpPr>
        <p:spPr>
          <a:xfrm xmlns:a="http://schemas.openxmlformats.org/drawingml/2006/main">
            <a:off x="4041648" y="2542032"/>
            <a:ext cx="5715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17191C"/>
                </a:solidFill>
                <a:latin typeface="Noto Sans CJK KR"/>
                <a:ea typeface="Noto Sans CJK KR"/>
                <a:cs typeface="Noto Sans CJK KR"/>
              </a:rPr>
              <a:t>세션 단위 부분 파손 · 동시 세션 수가 제한된다</a:t>
            </a:r>
            <a:endParaRPr sz="1450"/>
          </a:p>
        </p:txBody>
      </p:sp>
      <p:sp>
        <p:nvSpPr>
          <p:cNvPr id="17" name="STC-13-data-layer-2">
            <a:extLst xmlns:a="http://schemas.openxmlformats.org/drawingml/2006/main">
              <a:ext uri="{FF2B5EF4-FFF2-40B4-BE49-F238E27FC236}">
                <a16:creationId xmlns:a16="http://schemas.microsoft.com/office/drawing/2014/main" id="{D6FAD0EE-091C-49BC-AC96-FF7C3FD7BF30}"/>
              </a:ext>
            </a:extLst>
          </p:cNvPr>
          <p:cNvSpPr>
            <a:spLocks xmlns:a="http://schemas.openxmlformats.org/drawingml/2006/main" noGrp="1"/>
          </p:cNvSpPr>
          <p:nvPr/>
        </p:nvSpPr>
        <p:spPr>
          <a:xfrm xmlns:a="http://schemas.openxmlformats.org/drawingml/2006/main">
            <a:off x="2898648" y="3236976"/>
            <a:ext cx="6400800" cy="566928"/>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8" name="STC-13-data-label-2">
            <a:extLst xmlns:a="http://schemas.openxmlformats.org/drawingml/2006/main">
              <a:ext uri="{FF2B5EF4-FFF2-40B4-BE49-F238E27FC236}">
                <a16:creationId xmlns:a16="http://schemas.microsoft.com/office/drawing/2014/main" id="{AA018C36-C849-429F-A2CB-A09888ED5181}"/>
              </a:ext>
            </a:extLst>
          </p:cNvPr>
          <p:cNvSpPr>
            <a:spLocks xmlns:a="http://schemas.openxmlformats.org/drawingml/2006/main" noGrp="1"/>
          </p:cNvSpPr>
          <p:nvPr/>
        </p:nvSpPr>
        <p:spPr>
          <a:xfrm xmlns:a="http://schemas.openxmlformats.org/drawingml/2006/main">
            <a:off x="3063240" y="3401568"/>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Θ 사용자 수준</a:t>
            </a:r>
            <a:endParaRPr sz="1050"/>
          </a:p>
        </p:txBody>
      </p:sp>
      <p:sp>
        <p:nvSpPr>
          <p:cNvPr id="19" name="STC-13-data-body-2">
            <a:extLst xmlns:a="http://schemas.openxmlformats.org/drawingml/2006/main">
              <a:ext uri="{FF2B5EF4-FFF2-40B4-BE49-F238E27FC236}">
                <a16:creationId xmlns:a16="http://schemas.microsoft.com/office/drawing/2014/main" id="{41815879-EDCF-477A-A120-7092A00F5988}"/>
              </a:ext>
            </a:extLst>
          </p:cNvPr>
          <p:cNvSpPr>
            <a:spLocks xmlns:a="http://schemas.openxmlformats.org/drawingml/2006/main" noGrp="1"/>
          </p:cNvSpPr>
          <p:nvPr/>
        </p:nvSpPr>
        <p:spPr>
          <a:xfrm xmlns:a="http://schemas.openxmlformats.org/drawingml/2006/main">
            <a:off x="4681728" y="3328416"/>
            <a:ext cx="4434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delta 단위 파손 · 라우팅으로 완화 가능</a:t>
            </a:r>
            <a:endParaRPr sz="1350"/>
          </a:p>
        </p:txBody>
      </p:sp>
      <p:sp>
        <p:nvSpPr>
          <p:cNvPr id="20" name="STC-13-data-layer-3">
            <a:extLst xmlns:a="http://schemas.openxmlformats.org/drawingml/2006/main">
              <a:ext uri="{FF2B5EF4-FFF2-40B4-BE49-F238E27FC236}">
                <a16:creationId xmlns:a16="http://schemas.microsoft.com/office/drawing/2014/main" id="{FBD0C7D7-10DE-463B-9217-97D247B03C72}"/>
              </a:ext>
            </a:extLst>
          </p:cNvPr>
          <p:cNvSpPr>
            <a:spLocks xmlns:a="http://schemas.openxmlformats.org/drawingml/2006/main" noGrp="1"/>
          </p:cNvSpPr>
          <p:nvPr/>
        </p:nvSpPr>
        <p:spPr>
          <a:xfrm xmlns:a="http://schemas.openxmlformats.org/drawingml/2006/main">
            <a:off x="3538728" y="4023360"/>
            <a:ext cx="5120640" cy="566928"/>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13-data-label-3">
            <a:extLst xmlns:a="http://schemas.openxmlformats.org/drawingml/2006/main">
              <a:ext uri="{FF2B5EF4-FFF2-40B4-BE49-F238E27FC236}">
                <a16:creationId xmlns:a16="http://schemas.microsoft.com/office/drawing/2014/main" id="{8DA5B66F-AB6C-424C-B38E-EC87549B7458}"/>
              </a:ext>
            </a:extLst>
          </p:cNvPr>
          <p:cNvSpPr>
            <a:spLocks xmlns:a="http://schemas.openxmlformats.org/drawingml/2006/main" noGrp="1"/>
          </p:cNvSpPr>
          <p:nvPr/>
        </p:nvSpPr>
        <p:spPr>
          <a:xfrm xmlns:a="http://schemas.openxmlformats.org/drawingml/2006/main">
            <a:off x="3703320" y="4187952"/>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Θ 인구 수준</a:t>
            </a:r>
            <a:endParaRPr sz="1050"/>
          </a:p>
        </p:txBody>
      </p:sp>
      <p:sp>
        <p:nvSpPr>
          <p:cNvPr id="22" name="STC-13-data-body-3">
            <a:extLst xmlns:a="http://schemas.openxmlformats.org/drawingml/2006/main">
              <a:ext uri="{FF2B5EF4-FFF2-40B4-BE49-F238E27FC236}">
                <a16:creationId xmlns:a16="http://schemas.microsoft.com/office/drawing/2014/main" id="{B07BDB02-D4B0-48AF-8A53-11814C8CDC53}"/>
              </a:ext>
            </a:extLst>
          </p:cNvPr>
          <p:cNvSpPr>
            <a:spLocks xmlns:a="http://schemas.openxmlformats.org/drawingml/2006/main" noGrp="1"/>
          </p:cNvSpPr>
          <p:nvPr/>
        </p:nvSpPr>
        <p:spPr>
          <a:xfrm xmlns:a="http://schemas.openxmlformats.org/drawingml/2006/main">
            <a:off x="5321808" y="41148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유지 · 가중치 1벌. 이 기회를 만들지 않는다</a:t>
            </a:r>
            <a:endParaRPr sz="1350"/>
          </a:p>
        </p:txBody>
      </p:sp>
      <p:sp>
        <p:nvSpPr>
          <p:cNvPr id="23" name="STC-13-data-layer-4">
            <a:extLst xmlns:a="http://schemas.openxmlformats.org/drawingml/2006/main">
              <a:ext uri="{FF2B5EF4-FFF2-40B4-BE49-F238E27FC236}">
                <a16:creationId xmlns:a16="http://schemas.microsoft.com/office/drawing/2014/main" id="{E60963C1-8D59-4CC2-B99B-C4EA44523D22}"/>
              </a:ext>
            </a:extLst>
          </p:cNvPr>
          <p:cNvSpPr>
            <a:spLocks xmlns:a="http://schemas.openxmlformats.org/drawingml/2006/main" noGrp="1"/>
          </p:cNvSpPr>
          <p:nvPr/>
        </p:nvSpPr>
        <p:spPr>
          <a:xfrm xmlns:a="http://schemas.openxmlformats.org/drawingml/2006/main">
            <a:off x="4178808" y="4809744"/>
            <a:ext cx="3840480" cy="566928"/>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24" name="STC-13-data-label-4">
            <a:extLst xmlns:a="http://schemas.openxmlformats.org/drawingml/2006/main">
              <a:ext uri="{FF2B5EF4-FFF2-40B4-BE49-F238E27FC236}">
                <a16:creationId xmlns:a16="http://schemas.microsoft.com/office/drawing/2014/main" id="{94E567B2-40CF-45FA-B9F9-A1B39A99C7FF}"/>
              </a:ext>
            </a:extLst>
          </p:cNvPr>
          <p:cNvSpPr>
            <a:spLocks xmlns:a="http://schemas.openxmlformats.org/drawingml/2006/main" noGrp="1"/>
          </p:cNvSpPr>
          <p:nvPr/>
        </p:nvSpPr>
        <p:spPr>
          <a:xfrm xmlns:a="http://schemas.openxmlformats.org/drawingml/2006/main">
            <a:off x="4343400" y="4974336"/>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직접 편집 개인화</a:t>
            </a:r>
            <a:endParaRPr sz="1050"/>
          </a:p>
        </p:txBody>
      </p:sp>
      <p:sp>
        <p:nvSpPr>
          <p:cNvPr id="25" name="STC-13-data-body-4">
            <a:extLst xmlns:a="http://schemas.openxmlformats.org/drawingml/2006/main">
              <a:ext uri="{FF2B5EF4-FFF2-40B4-BE49-F238E27FC236}">
                <a16:creationId xmlns:a16="http://schemas.microsoft.com/office/drawing/2014/main" id="{2C57AF49-F2CA-4C91-AE9F-A85EF45878C8}"/>
              </a:ext>
            </a:extLst>
          </p:cNvPr>
          <p:cNvSpPr>
            <a:spLocks xmlns:a="http://schemas.openxmlformats.org/drawingml/2006/main" noGrp="1"/>
          </p:cNvSpPr>
          <p:nvPr/>
        </p:nvSpPr>
        <p:spPr>
          <a:xfrm xmlns:a="http://schemas.openxmlformats.org/drawingml/2006/main">
            <a:off x="5961888" y="4901184"/>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완전 파손 · 완화 수단이 구조적으로 없다</a:t>
            </a:r>
            <a:endParaRPr sz="1350"/>
          </a:p>
        </p:txBody>
      </p:sp>
      <p:sp>
        <p:nvSpPr>
          <p:cNvPr id="26" name="STC-13-data-warning">
            <a:extLst xmlns:a="http://schemas.openxmlformats.org/drawingml/2006/main">
              <a:ext uri="{FF2B5EF4-FFF2-40B4-BE49-F238E27FC236}">
                <a16:creationId xmlns:a16="http://schemas.microsoft.com/office/drawing/2014/main" id="{FE09EF05-9A9A-4209-946A-2FFD878EDF5A}"/>
              </a:ext>
            </a:extLst>
          </p:cNvPr>
          <p:cNvSpPr>
            <a:spLocks xmlns:a="http://schemas.openxmlformats.org/drawingml/2006/main" noGrp="1"/>
          </p:cNvSpPr>
          <p:nvPr/>
        </p:nvSpPr>
        <p:spPr>
          <a:xfrm xmlns:a="http://schemas.openxmlformats.org/drawingml/2006/main">
            <a:off x="2286000" y="5623560"/>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ans CJK KR"/>
                <a:ea typeface="Noto Sans CJK KR"/>
                <a:cs typeface="Noto Sans CJK KR"/>
              </a:rPr>
              <a:t>유지 · 프롬프트 길이만 늘어난다</a:t>
            </a:r>
            <a:endParaRPr sz="1800"/>
          </a:p>
        </p:txBody>
      </p:sp>
    </p:spTree>
    <p:extLst>
      <p:ext uri="{BB962C8B-B14F-4D97-AF65-F5344CB8AC3E}">
        <p14:creationId xmlns:p14="http://schemas.microsoft.com/office/powerpoint/2010/main" val="877466157"/>
      </p:ext>
    </p:extLst>
  </p:cSld>
</p:sld>
</file>

<file path=ppt/slides/slide111.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0-section">
            <a:extLst xmlns:a="http://schemas.openxmlformats.org/drawingml/2006/main">
              <a:ext uri="{FF2B5EF4-FFF2-40B4-BE49-F238E27FC236}">
                <a16:creationId xmlns:a16="http://schemas.microsoft.com/office/drawing/2014/main" id="{EF3FC378-6B44-4B49-B1BB-4667473BF88D}"/>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SYSTEMS</a:t>
            </a:r>
            <a:endParaRPr sz="950"/>
          </a:p>
        </p:txBody>
      </p:sp>
      <p:sp>
        <p:nvSpPr>
          <p:cNvPr id="3" name="STC-20-slide-id">
            <a:extLst xmlns:a="http://schemas.openxmlformats.org/drawingml/2006/main">
              <a:ext uri="{FF2B5EF4-FFF2-40B4-BE49-F238E27FC236}">
                <a16:creationId xmlns:a16="http://schemas.microsoft.com/office/drawing/2014/main" id="{CC20B574-D2C0-4046-9A1A-25ADE22F8D1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STC-111</a:t>
            </a:r>
            <a:endParaRPr sz="950"/>
          </a:p>
        </p:txBody>
      </p:sp>
      <p:sp>
        <p:nvSpPr>
          <p:cNvPr id="4" name="STC-20-headline">
            <a:extLst xmlns:a="http://schemas.openxmlformats.org/drawingml/2006/main">
              <a:ext uri="{FF2B5EF4-FFF2-40B4-BE49-F238E27FC236}">
                <a16:creationId xmlns:a16="http://schemas.microsoft.com/office/drawing/2014/main" id="{81422673-09A9-4801-94A9-13C70E66A3C2}"/>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이 기회를 사기 전에 필요한 것은 소자가 아니라 인쇄값 셋</a:t>
            </a:r>
            <a:endParaRPr sz="3000"/>
          </a:p>
        </p:txBody>
      </p:sp>
      <p:sp>
        <p:nvSpPr>
          <p:cNvPr id="5" name="STC-20-status-label">
            <a:extLst xmlns:a="http://schemas.openxmlformats.org/drawingml/2006/main">
              <a:ext uri="{FF2B5EF4-FFF2-40B4-BE49-F238E27FC236}">
                <a16:creationId xmlns:a16="http://schemas.microsoft.com/office/drawing/2014/main" id="{14A8D44A-E47B-4BF7-8A5A-F78858804A15}"/>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부재 확인</a:t>
            </a:r>
            <a:endParaRPr sz="1000"/>
          </a:p>
        </p:txBody>
      </p:sp>
      <p:sp>
        <p:nvSpPr>
          <p:cNvPr id="6" name="STC-20-status-rule">
            <a:extLst xmlns:a="http://schemas.openxmlformats.org/drawingml/2006/main">
              <a:ext uri="{FF2B5EF4-FFF2-40B4-BE49-F238E27FC236}">
                <a16:creationId xmlns:a16="http://schemas.microsoft.com/office/drawing/2014/main" id="{9111AC13-7AC9-486F-A35E-14918CB2FAEA}"/>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20-footer-rule">
            <a:extLst xmlns:a="http://schemas.openxmlformats.org/drawingml/2006/main">
              <a:ext uri="{FF2B5EF4-FFF2-40B4-BE49-F238E27FC236}">
                <a16:creationId xmlns:a16="http://schemas.microsoft.com/office/drawing/2014/main" id="{99AB930A-93F8-4C3C-B1B2-60A6CD2FD70F}"/>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0-source-footer">
            <a:extLst xmlns:a="http://schemas.openxmlformats.org/drawingml/2006/main">
              <a:ext uri="{FF2B5EF4-FFF2-40B4-BE49-F238E27FC236}">
                <a16:creationId xmlns:a16="http://schemas.microsoft.com/office/drawing/2014/main" id="{ACA61175-AD4B-4248-BD6E-1C9E5F3D48A1}"/>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ch29 §29.4 판정 6</a:t>
            </a:r>
            <a:endParaRPr sz="850"/>
          </a:p>
        </p:txBody>
      </p:sp>
      <p:sp>
        <p:nvSpPr>
          <p:cNvPr id="9" name="STC-20-page-number">
            <a:extLst xmlns:a="http://schemas.openxmlformats.org/drawingml/2006/main">
              <a:ext uri="{FF2B5EF4-FFF2-40B4-BE49-F238E27FC236}">
                <a16:creationId xmlns:a16="http://schemas.microsoft.com/office/drawing/2014/main" id="{BFF20DF2-5531-4220-9167-36B66397782A}"/>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111</a:t>
            </a:r>
            <a:endParaRPr sz="850"/>
          </a:p>
        </p:txBody>
      </p:sp>
      <p:sp>
        <p:nvSpPr>
          <p:cNvPr id="11" name="STC-20-infra-plane-0">
            <a:extLst xmlns:a="http://schemas.openxmlformats.org/drawingml/2006/main">
              <a:ext uri="{FF2B5EF4-FFF2-40B4-BE49-F238E27FC236}">
                <a16:creationId xmlns:a16="http://schemas.microsoft.com/office/drawing/2014/main" id="{C8220505-B492-4023-B70A-A2232E14F70E}"/>
              </a:ext>
            </a:extLst>
          </p:cNvPr>
          <p:cNvSpPr>
            <a:spLocks xmlns:a="http://schemas.openxmlformats.org/drawingml/2006/main" noGrp="1"/>
          </p:cNvSpPr>
          <p:nvPr/>
        </p:nvSpPr>
        <p:spPr>
          <a:xfrm xmlns:a="http://schemas.openxmlformats.org/drawingml/2006/main">
            <a:off x="749808" y="2633472"/>
            <a:ext cx="2514600" cy="2057400"/>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2" name="STC-20-infra-label-0">
            <a:extLst xmlns:a="http://schemas.openxmlformats.org/drawingml/2006/main">
              <a:ext uri="{FF2B5EF4-FFF2-40B4-BE49-F238E27FC236}">
                <a16:creationId xmlns:a16="http://schemas.microsoft.com/office/drawing/2014/main" id="{874AE9C7-25F3-4D96-A818-0C8E56EBC16F}"/>
              </a:ext>
            </a:extLst>
          </p:cNvPr>
          <p:cNvSpPr>
            <a:spLocks xmlns:a="http://schemas.openxmlformats.org/drawingml/2006/main" noGrp="1"/>
          </p:cNvSpPr>
          <p:nvPr/>
        </p:nvSpPr>
        <p:spPr>
          <a:xfrm xmlns:a="http://schemas.openxmlformats.org/drawingml/2006/main">
            <a:off x="932688"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244E8A"/>
                </a:solidFill>
                <a:latin typeface="Noto Sans Mono CJK KR"/>
                <a:ea typeface="Noto Sans Mono CJK KR"/>
                <a:cs typeface="Noto Sans Mono CJK KR"/>
              </a:rPr>
              <a:t>delta 스테이징</a:t>
            </a:r>
            <a:endParaRPr sz="1150"/>
          </a:p>
        </p:txBody>
      </p:sp>
      <p:sp>
        <p:nvSpPr>
          <p:cNvPr id="13" name="STC-20-infra-body-0">
            <a:extLst xmlns:a="http://schemas.openxmlformats.org/drawingml/2006/main">
              <a:ext uri="{FF2B5EF4-FFF2-40B4-BE49-F238E27FC236}">
                <a16:creationId xmlns:a16="http://schemas.microsoft.com/office/drawing/2014/main" id="{EAA62413-4D3B-461E-A878-B0FEC894A515}"/>
              </a:ext>
            </a:extLst>
          </p:cNvPr>
          <p:cNvSpPr>
            <a:spLocks xmlns:a="http://schemas.openxmlformats.org/drawingml/2006/main" noGrp="1"/>
          </p:cNvSpPr>
          <p:nvPr/>
        </p:nvSpPr>
        <p:spPr>
          <a:xfrm xmlns:a="http://schemas.openxmlformats.org/drawingml/2006/main">
            <a:off x="978408"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세 방식</a:t>
            </a:r>
            <a:endParaRPr sz="1800"/>
          </a:p>
          <a:p xmlns:a="http://schemas.openxmlformats.org/drawingml/2006/main">
            <a:pPr marL="0" indent="0" algn="ctr">
              <a:buNone/>
            </a:pPr>
            <a:r>
              <a:rPr sz="1800" b="1">
                <a:solidFill>
                  <a:srgbClr val="17191C"/>
                </a:solidFill>
                <a:latin typeface="Noto Sans CJK KR"/>
                <a:ea typeface="Noto Sans CJK KR"/>
                <a:cs typeface="Noto Sans CJK KR"/>
              </a:rPr>
              <a:t>어디에도 L_w 측정이 없다</a:t>
            </a:r>
            <a:endParaRPr sz="1800"/>
          </a:p>
        </p:txBody>
      </p:sp>
      <p:sp>
        <p:nvSpPr>
          <p:cNvPr id="14" name="STC-20-infra-arrow-0">
            <a:extLst xmlns:a="http://schemas.openxmlformats.org/drawingml/2006/main">
              <a:ext uri="{FF2B5EF4-FFF2-40B4-BE49-F238E27FC236}">
                <a16:creationId xmlns:a16="http://schemas.microsoft.com/office/drawing/2014/main" id="{B8F31725-8432-4D1D-9A1E-34BAF08A8290}"/>
              </a:ext>
            </a:extLst>
          </p:cNvPr>
          <p:cNvSpPr>
            <a:spLocks xmlns:a="http://schemas.openxmlformats.org/drawingml/2006/main" noGrp="1"/>
          </p:cNvSpPr>
          <p:nvPr/>
        </p:nvSpPr>
        <p:spPr>
          <a:xfrm xmlns:a="http://schemas.openxmlformats.org/drawingml/2006/main">
            <a:off x="3346704" y="3657600"/>
            <a:ext cx="530352"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5" name="STC-20-infra-plane-1">
            <a:extLst xmlns:a="http://schemas.openxmlformats.org/drawingml/2006/main">
              <a:ext uri="{FF2B5EF4-FFF2-40B4-BE49-F238E27FC236}">
                <a16:creationId xmlns:a16="http://schemas.microsoft.com/office/drawing/2014/main" id="{383116CD-3E34-4394-B8A0-C315F75F29F2}"/>
              </a:ext>
            </a:extLst>
          </p:cNvPr>
          <p:cNvSpPr>
            <a:spLocks xmlns:a="http://schemas.openxmlformats.org/drawingml/2006/main" noGrp="1"/>
          </p:cNvSpPr>
          <p:nvPr/>
        </p:nvSpPr>
        <p:spPr>
          <a:xfrm xmlns:a="http://schemas.openxmlformats.org/drawingml/2006/main">
            <a:off x="3977640" y="2633472"/>
            <a:ext cx="2514600" cy="2057400"/>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16" name="STC-20-infra-label-1">
            <a:extLst xmlns:a="http://schemas.openxmlformats.org/drawingml/2006/main">
              <a:ext uri="{FF2B5EF4-FFF2-40B4-BE49-F238E27FC236}">
                <a16:creationId xmlns:a16="http://schemas.microsoft.com/office/drawing/2014/main" id="{AB17AEA0-6CEA-4C76-B857-1E4165564301}"/>
              </a:ext>
            </a:extLst>
          </p:cNvPr>
          <p:cNvSpPr>
            <a:spLocks xmlns:a="http://schemas.openxmlformats.org/drawingml/2006/main" noGrp="1"/>
          </p:cNvSpPr>
          <p:nvPr/>
        </p:nvSpPr>
        <p:spPr>
          <a:xfrm xmlns:a="http://schemas.openxmlformats.org/drawingml/2006/main">
            <a:off x="4160520"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9A442D"/>
                </a:solidFill>
                <a:latin typeface="Noto Sans Mono CJK KR"/>
                <a:ea typeface="Noto Sans Mono CJK KR"/>
                <a:cs typeface="Noto Sans Mono CJK KR"/>
              </a:rPr>
              <a:t>양자화 회수율</a:t>
            </a:r>
            <a:endParaRPr sz="1150"/>
          </a:p>
        </p:txBody>
      </p:sp>
      <p:sp>
        <p:nvSpPr>
          <p:cNvPr id="17" name="STC-20-infra-body-1">
            <a:extLst xmlns:a="http://schemas.openxmlformats.org/drawingml/2006/main">
              <a:ext uri="{FF2B5EF4-FFF2-40B4-BE49-F238E27FC236}">
                <a16:creationId xmlns:a16="http://schemas.microsoft.com/office/drawing/2014/main" id="{8BC9875E-56D1-4FE2-AFA5-6CD36FDD67BD}"/>
              </a:ext>
            </a:extLst>
          </p:cNvPr>
          <p:cNvSpPr>
            <a:spLocks xmlns:a="http://schemas.openxmlformats.org/drawingml/2006/main" noGrp="1"/>
          </p:cNvSpPr>
          <p:nvPr/>
        </p:nvSpPr>
        <p:spPr>
          <a:xfrm xmlns:a="http://schemas.openxmlformats.org/drawingml/2006/main">
            <a:off x="4206240"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가장 큰</a:t>
            </a:r>
            <a:endParaRPr sz="1800"/>
          </a:p>
          <a:p xmlns:a="http://schemas.openxmlformats.org/drawingml/2006/main">
            <a:pPr marL="0" indent="0" algn="ctr">
              <a:buNone/>
            </a:pPr>
            <a:r>
              <a:rPr sz="1800" b="1">
                <a:solidFill>
                  <a:srgbClr val="17191C"/>
                </a:solidFill>
                <a:latin typeface="Noto Sans CJK KR"/>
                <a:ea typeface="Noto Sans CJK KR"/>
                <a:cs typeface="Noto Sans CJK KR"/>
              </a:rPr>
              <a:t>지렛대를 당긴 논문이 0편</a:t>
            </a:r>
            <a:endParaRPr sz="1800"/>
          </a:p>
        </p:txBody>
      </p:sp>
      <p:sp>
        <p:nvSpPr>
          <p:cNvPr id="18" name="STC-20-infra-arrow-1">
            <a:extLst xmlns:a="http://schemas.openxmlformats.org/drawingml/2006/main">
              <a:ext uri="{FF2B5EF4-FFF2-40B4-BE49-F238E27FC236}">
                <a16:creationId xmlns:a16="http://schemas.microsoft.com/office/drawing/2014/main" id="{48A1470C-A87D-49C1-AD06-0A2A05BC7D9B}"/>
              </a:ext>
            </a:extLst>
          </p:cNvPr>
          <p:cNvSpPr>
            <a:spLocks xmlns:a="http://schemas.openxmlformats.org/drawingml/2006/main" noGrp="1"/>
          </p:cNvSpPr>
          <p:nvPr/>
        </p:nvSpPr>
        <p:spPr>
          <a:xfrm xmlns:a="http://schemas.openxmlformats.org/drawingml/2006/main">
            <a:off x="6574536" y="3657600"/>
            <a:ext cx="530352"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9" name="STC-20-infra-plane-2">
            <a:extLst xmlns:a="http://schemas.openxmlformats.org/drawingml/2006/main">
              <a:ext uri="{FF2B5EF4-FFF2-40B4-BE49-F238E27FC236}">
                <a16:creationId xmlns:a16="http://schemas.microsoft.com/office/drawing/2014/main" id="{56548C3C-0562-4527-B7A6-9AAEEE6E1179}"/>
              </a:ext>
            </a:extLst>
          </p:cNvPr>
          <p:cNvSpPr>
            <a:spLocks xmlns:a="http://schemas.openxmlformats.org/drawingml/2006/main" noGrp="1"/>
          </p:cNvSpPr>
          <p:nvPr/>
        </p:nvSpPr>
        <p:spPr>
          <a:xfrm xmlns:a="http://schemas.openxmlformats.org/drawingml/2006/main">
            <a:off x="7205472" y="2633472"/>
            <a:ext cx="2514600" cy="2057400"/>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20" name="STC-20-infra-label-2">
            <a:extLst xmlns:a="http://schemas.openxmlformats.org/drawingml/2006/main">
              <a:ext uri="{FF2B5EF4-FFF2-40B4-BE49-F238E27FC236}">
                <a16:creationId xmlns:a16="http://schemas.microsoft.com/office/drawing/2014/main" id="{7D68313E-B396-49BB-9026-C73B3F9CE439}"/>
              </a:ext>
            </a:extLst>
          </p:cNvPr>
          <p:cNvSpPr>
            <a:spLocks xmlns:a="http://schemas.openxmlformats.org/drawingml/2006/main" noGrp="1"/>
          </p:cNvSpPr>
          <p:nvPr/>
        </p:nvSpPr>
        <p:spPr>
          <a:xfrm xmlns:a="http://schemas.openxmlformats.org/drawingml/2006/main">
            <a:off x="7388352" y="2907792"/>
            <a:ext cx="21488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b="1">
                <a:solidFill>
                  <a:srgbClr val="2F6B63"/>
                </a:solidFill>
                <a:latin typeface="Noto Sans Mono CJK KR"/>
                <a:ea typeface="Noto Sans Mono CJK KR"/>
                <a:cs typeface="Noto Sans Mono CJK KR"/>
              </a:rPr>
              <a:t>K* 측정</a:t>
            </a:r>
            <a:endParaRPr sz="1150"/>
          </a:p>
        </p:txBody>
      </p:sp>
      <p:sp>
        <p:nvSpPr>
          <p:cNvPr id="21" name="STC-20-infra-body-2">
            <a:extLst xmlns:a="http://schemas.openxmlformats.org/drawingml/2006/main">
              <a:ext uri="{FF2B5EF4-FFF2-40B4-BE49-F238E27FC236}">
                <a16:creationId xmlns:a16="http://schemas.microsoft.com/office/drawing/2014/main" id="{FA77EDB7-C1A2-4EE1-AB98-FF52014EEADC}"/>
              </a:ext>
            </a:extLst>
          </p:cNvPr>
          <p:cNvSpPr>
            <a:spLocks xmlns:a="http://schemas.openxmlformats.org/drawingml/2006/main" noGrp="1"/>
          </p:cNvSpPr>
          <p:nvPr/>
        </p:nvSpPr>
        <p:spPr>
          <a:xfrm xmlns:a="http://schemas.openxmlformats.org/drawingml/2006/main">
            <a:off x="7434072" y="3520440"/>
            <a:ext cx="2057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17191C"/>
                </a:solidFill>
                <a:latin typeface="Noto Sans CJK KR"/>
                <a:ea typeface="Noto Sans CJK KR"/>
                <a:cs typeface="Noto Sans CJK KR"/>
              </a:rPr>
              <a:t>100라운드를</a:t>
            </a:r>
            <a:endParaRPr sz="1800"/>
          </a:p>
          <a:p xmlns:a="http://schemas.openxmlformats.org/drawingml/2006/main">
            <a:pPr marL="0" indent="0" algn="ctr">
              <a:buNone/>
            </a:pPr>
            <a:r>
              <a:rPr sz="1800" b="1">
                <a:solidFill>
                  <a:srgbClr val="17191C"/>
                </a:solidFill>
                <a:latin typeface="Noto Sans CJK KR"/>
                <a:ea typeface="Noto Sans CJK KR"/>
                <a:cs typeface="Noto Sans CJK KR"/>
              </a:rPr>
              <a:t>넘긴 실험이 0편</a:t>
            </a:r>
            <a:endParaRPr sz="1800"/>
          </a:p>
        </p:txBody>
      </p:sp>
      <p:sp>
        <p:nvSpPr>
          <p:cNvPr id="22" name="STC-20-infra-control">
            <a:extLst xmlns:a="http://schemas.openxmlformats.org/drawingml/2006/main">
              <a:ext uri="{FF2B5EF4-FFF2-40B4-BE49-F238E27FC236}">
                <a16:creationId xmlns:a16="http://schemas.microsoft.com/office/drawing/2014/main" id="{29BE5495-BD82-4477-88F7-D6AF498D154C}"/>
              </a:ext>
            </a:extLst>
          </p:cNvPr>
          <p:cNvSpPr>
            <a:spLocks xmlns:a="http://schemas.openxmlformats.org/drawingml/2006/main" noGrp="1"/>
          </p:cNvSpPr>
          <p:nvPr/>
        </p:nvSpPr>
        <p:spPr>
          <a:xfrm xmlns:a="http://schemas.openxmlformats.org/drawingml/2006/main">
            <a:off x="1481328" y="1435608"/>
            <a:ext cx="8183880" cy="65836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3" name="STC-20-infra-control-text">
            <a:extLst xmlns:a="http://schemas.openxmlformats.org/drawingml/2006/main">
              <a:ext uri="{FF2B5EF4-FFF2-40B4-BE49-F238E27FC236}">
                <a16:creationId xmlns:a16="http://schemas.microsoft.com/office/drawing/2014/main" id="{DD79965F-265D-40C2-AEAD-EB1FC8BA1267}"/>
              </a:ext>
            </a:extLst>
          </p:cNvPr>
          <p:cNvSpPr>
            <a:spLocks xmlns:a="http://schemas.openxmlformats.org/drawingml/2006/main" noGrp="1"/>
          </p:cNvSpPr>
          <p:nvPr/>
        </p:nvSpPr>
        <p:spPr>
          <a:xfrm xmlns:a="http://schemas.openxmlformats.org/drawingml/2006/main">
            <a:off x="1773936" y="1655064"/>
            <a:ext cx="76078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b="1">
                <a:solidFill>
                  <a:srgbClr val="FFFFFF"/>
                </a:solidFill>
                <a:latin typeface="Noto Sans Mono CJK KR"/>
                <a:ea typeface="Noto Sans Mono CJK KR"/>
                <a:cs typeface="Noto Sans Mono CJK KR"/>
              </a:rPr>
              <a:t>셋 다 corpus에 0편이고 셋 다 새 하드웨어를 요구하지 않는다</a:t>
            </a:r>
            <a:endParaRPr sz="1250"/>
          </a:p>
        </p:txBody>
      </p:sp>
      <p:sp>
        <p:nvSpPr>
          <p:cNvPr id="24" name="STC-20-infra-control-wake">
            <a:extLst xmlns:a="http://schemas.openxmlformats.org/drawingml/2006/main">
              <a:ext uri="{FF2B5EF4-FFF2-40B4-BE49-F238E27FC236}">
                <a16:creationId xmlns:a16="http://schemas.microsoft.com/office/drawing/2014/main" id="{43E7917B-51C1-450C-A277-0741EFA35A12}"/>
              </a:ext>
            </a:extLst>
          </p:cNvPr>
          <p:cNvSpPr>
            <a:spLocks xmlns:a="http://schemas.openxmlformats.org/drawingml/2006/main" noGrp="1"/>
          </p:cNvSpPr>
          <p:nvPr/>
        </p:nvSpPr>
        <p:spPr>
          <a:xfrm xmlns:a="http://schemas.openxmlformats.org/drawingml/2006/main">
            <a:off x="2816352"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5" name="STC-20-infra-control-sleep">
            <a:extLst xmlns:a="http://schemas.openxmlformats.org/drawingml/2006/main">
              <a:ext uri="{FF2B5EF4-FFF2-40B4-BE49-F238E27FC236}">
                <a16:creationId xmlns:a16="http://schemas.microsoft.com/office/drawing/2014/main" id="{3A660823-14F6-4B6B-B118-257913111373}"/>
              </a:ext>
            </a:extLst>
          </p:cNvPr>
          <p:cNvSpPr>
            <a:spLocks xmlns:a="http://schemas.openxmlformats.org/drawingml/2006/main" noGrp="1"/>
          </p:cNvSpPr>
          <p:nvPr/>
        </p:nvSpPr>
        <p:spPr>
          <a:xfrm xmlns:a="http://schemas.openxmlformats.org/drawingml/2006/main">
            <a:off x="6044184"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20-infra-control-memory">
            <a:extLst xmlns:a="http://schemas.openxmlformats.org/drawingml/2006/main">
              <a:ext uri="{FF2B5EF4-FFF2-40B4-BE49-F238E27FC236}">
                <a16:creationId xmlns:a16="http://schemas.microsoft.com/office/drawing/2014/main" id="{C059216D-6C86-4256-B827-B6F048815B09}"/>
              </a:ext>
            </a:extLst>
          </p:cNvPr>
          <p:cNvSpPr>
            <a:spLocks xmlns:a="http://schemas.openxmlformats.org/drawingml/2006/main" noGrp="1"/>
          </p:cNvSpPr>
          <p:nvPr/>
        </p:nvSpPr>
        <p:spPr>
          <a:xfrm xmlns:a="http://schemas.openxmlformats.org/drawingml/2006/main">
            <a:off x="9272016" y="2103120"/>
            <a:ext cx="0" cy="438912"/>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7" name="STC-20-infra-ledger">
            <a:extLst xmlns:a="http://schemas.openxmlformats.org/drawingml/2006/main">
              <a:ext uri="{FF2B5EF4-FFF2-40B4-BE49-F238E27FC236}">
                <a16:creationId xmlns:a16="http://schemas.microsoft.com/office/drawing/2014/main" id="{FD304FC3-39EC-4FAD-A3A7-9CFE6AD014A3}"/>
              </a:ext>
            </a:extLst>
          </p:cNvPr>
          <p:cNvSpPr>
            <a:spLocks xmlns:a="http://schemas.openxmlformats.org/drawingml/2006/main" noGrp="1"/>
          </p:cNvSpPr>
          <p:nvPr/>
        </p:nvSpPr>
        <p:spPr>
          <a:xfrm xmlns:a="http://schemas.openxmlformats.org/drawingml/2006/main">
            <a:off x="10268712" y="1435608"/>
            <a:ext cx="941832" cy="325526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28" name="STC-20-infra-ledger-text">
            <a:extLst xmlns:a="http://schemas.openxmlformats.org/drawingml/2006/main">
              <a:ext uri="{FF2B5EF4-FFF2-40B4-BE49-F238E27FC236}">
                <a16:creationId xmlns:a16="http://schemas.microsoft.com/office/drawing/2014/main" id="{1F693BD4-3AF9-4EE0-8CB6-7A83368EE3F9}"/>
              </a:ext>
            </a:extLst>
          </p:cNvPr>
          <p:cNvSpPr>
            <a:spLocks xmlns:a="http://schemas.openxmlformats.org/drawingml/2006/main" noGrp="1"/>
          </p:cNvSpPr>
          <p:nvPr/>
        </p:nvSpPr>
        <p:spPr>
          <a:xfrm xmlns:a="http://schemas.openxmlformats.org/drawingml/2006/main" rot="16200000">
            <a:off x="10405872" y="2487168"/>
            <a:ext cx="66751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59616A"/>
                </a:solidFill>
                <a:latin typeface="Noto Sans Mono CJK KR"/>
                <a:ea typeface="Noto Sans Mono CJK KR"/>
                <a:cs typeface="Noto Sans Mono CJK KR"/>
              </a:rPr>
              <a:t>delta</a:t>
            </a:r>
            <a:endParaRPr sz="1100"/>
          </a:p>
          <a:p xmlns:a="http://schemas.openxmlformats.org/drawingml/2006/main">
            <a:pPr marL="0" indent="0" algn="ctr">
              <a:buNone/>
            </a:pPr>
            <a:r>
              <a:rPr sz="1100" b="1">
                <a:solidFill>
                  <a:srgbClr val="59616A"/>
                </a:solidFill>
                <a:latin typeface="Noto Sans Mono CJK KR"/>
                <a:ea typeface="Noto Sans Mono CJK KR"/>
                <a:cs typeface="Noto Sans Mono CJK KR"/>
              </a:rPr>
              <a:t>스테이징</a:t>
            </a:r>
            <a:endParaRPr sz="1100"/>
          </a:p>
        </p:txBody>
      </p:sp>
      <p:sp>
        <p:nvSpPr>
          <p:cNvPr id="29" name="STC-20-infra-latency">
            <a:extLst xmlns:a="http://schemas.openxmlformats.org/drawingml/2006/main">
              <a:ext uri="{FF2B5EF4-FFF2-40B4-BE49-F238E27FC236}">
                <a16:creationId xmlns:a16="http://schemas.microsoft.com/office/drawing/2014/main" id="{3D41E0D1-4347-465C-AE68-23FB7C1267CF}"/>
              </a:ext>
            </a:extLst>
          </p:cNvPr>
          <p:cNvSpPr>
            <a:spLocks xmlns:a="http://schemas.openxmlformats.org/drawingml/2006/main" noGrp="1"/>
          </p:cNvSpPr>
          <p:nvPr/>
        </p:nvSpPr>
        <p:spPr>
          <a:xfrm xmlns:a="http://schemas.openxmlformats.org/drawingml/2006/main">
            <a:off x="868680"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244E8A"/>
                </a:solidFill>
                <a:latin typeface="Noto Sans CJK KR"/>
                <a:ea typeface="Noto Sans CJK KR"/>
                <a:cs typeface="Noto Sans CJK KR"/>
              </a:rPr>
              <a:t>셋 다 0편</a:t>
            </a:r>
            <a:endParaRPr sz="1300"/>
          </a:p>
        </p:txBody>
      </p:sp>
      <p:sp>
        <p:nvSpPr>
          <p:cNvPr id="30" name="STC-20-infra-throughput">
            <a:extLst xmlns:a="http://schemas.openxmlformats.org/drawingml/2006/main">
              <a:ext uri="{FF2B5EF4-FFF2-40B4-BE49-F238E27FC236}">
                <a16:creationId xmlns:a16="http://schemas.microsoft.com/office/drawing/2014/main" id="{C8A7806F-FA6A-439E-9271-2F787EB29C92}"/>
              </a:ext>
            </a:extLst>
          </p:cNvPr>
          <p:cNvSpPr>
            <a:spLocks xmlns:a="http://schemas.openxmlformats.org/drawingml/2006/main" noGrp="1"/>
          </p:cNvSpPr>
          <p:nvPr/>
        </p:nvSpPr>
        <p:spPr>
          <a:xfrm xmlns:a="http://schemas.openxmlformats.org/drawingml/2006/main">
            <a:off x="4133088"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9A442D"/>
                </a:solidFill>
                <a:latin typeface="Noto Sans CJK KR"/>
                <a:ea typeface="Noto Sans CJK KR"/>
                <a:cs typeface="Noto Sans CJK KR"/>
              </a:rPr>
              <a:t>양자화 회수율</a:t>
            </a:r>
            <a:endParaRPr sz="1300"/>
          </a:p>
        </p:txBody>
      </p:sp>
      <p:sp>
        <p:nvSpPr>
          <p:cNvPr id="31" name="STC-20-infra-tiered">
            <a:extLst xmlns:a="http://schemas.openxmlformats.org/drawingml/2006/main">
              <a:ext uri="{FF2B5EF4-FFF2-40B4-BE49-F238E27FC236}">
                <a16:creationId xmlns:a16="http://schemas.microsoft.com/office/drawing/2014/main" id="{EFFD8688-A736-46D2-AA52-97BFFC250E90}"/>
              </a:ext>
            </a:extLst>
          </p:cNvPr>
          <p:cNvSpPr>
            <a:spLocks xmlns:a="http://schemas.openxmlformats.org/drawingml/2006/main" noGrp="1"/>
          </p:cNvSpPr>
          <p:nvPr/>
        </p:nvSpPr>
        <p:spPr>
          <a:xfrm xmlns:a="http://schemas.openxmlformats.org/drawingml/2006/main">
            <a:off x="7333488" y="5166360"/>
            <a:ext cx="22128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2F6B63"/>
                </a:solidFill>
                <a:latin typeface="Noto Sans CJK KR"/>
                <a:ea typeface="Noto Sans CJK KR"/>
                <a:cs typeface="Noto Sans CJK KR"/>
              </a:rPr>
              <a:t>K* 측정</a:t>
            </a:r>
            <a:endParaRPr sz="1300"/>
          </a:p>
        </p:txBody>
      </p:sp>
    </p:spTree>
    <p:extLst>
      <p:ext uri="{BB962C8B-B14F-4D97-AF65-F5344CB8AC3E}">
        <p14:creationId xmlns:p14="http://schemas.microsoft.com/office/powerpoint/2010/main" val="1555086896"/>
      </p:ext>
    </p:extLst>
  </p:cSld>
</p:sld>
</file>

<file path=ppt/slides/slide11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4-section">
            <a:extLst xmlns:a="http://schemas.openxmlformats.org/drawingml/2006/main">
              <a:ext uri="{FF2B5EF4-FFF2-40B4-BE49-F238E27FC236}">
                <a16:creationId xmlns:a16="http://schemas.microsoft.com/office/drawing/2014/main" id="{7616A92F-78D4-4389-9E54-208FF8DEBDB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LIMITS</a:t>
            </a:r>
            <a:endParaRPr sz="950"/>
          </a:p>
        </p:txBody>
      </p:sp>
      <p:sp>
        <p:nvSpPr>
          <p:cNvPr id="3" name="STC-24-slide-id">
            <a:extLst xmlns:a="http://schemas.openxmlformats.org/drawingml/2006/main">
              <a:ext uri="{FF2B5EF4-FFF2-40B4-BE49-F238E27FC236}">
                <a16:creationId xmlns:a16="http://schemas.microsoft.com/office/drawing/2014/main" id="{28DDB8DD-ED59-4F7A-ABD4-0014B78D57D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STC-112</a:t>
            </a:r>
            <a:endParaRPr sz="950"/>
          </a:p>
        </p:txBody>
      </p:sp>
      <p:sp>
        <p:nvSpPr>
          <p:cNvPr id="4" name="STC-24-headline">
            <a:extLst xmlns:a="http://schemas.openxmlformats.org/drawingml/2006/main">
              <a:ext uri="{FF2B5EF4-FFF2-40B4-BE49-F238E27FC236}">
                <a16:creationId xmlns:a16="http://schemas.microsoft.com/office/drawing/2014/main" id="{E96ED2A6-D5EC-48B5-A06B-512DF4A0B043}"/>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이 발표가 틀릴 수 있는 지점 다섯</a:t>
            </a:r>
            <a:endParaRPr sz="3000"/>
          </a:p>
        </p:txBody>
      </p:sp>
      <p:sp>
        <p:nvSpPr>
          <p:cNvPr id="5" name="STC-24-status-label">
            <a:extLst xmlns:a="http://schemas.openxmlformats.org/drawingml/2006/main">
              <a:ext uri="{FF2B5EF4-FFF2-40B4-BE49-F238E27FC236}">
                <a16:creationId xmlns:a16="http://schemas.microsoft.com/office/drawing/2014/main" id="{DCDB577D-97D2-4F2A-B310-ED51E3EE9C5E}"/>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반증 조건</a:t>
            </a:r>
            <a:endParaRPr sz="1000"/>
          </a:p>
        </p:txBody>
      </p:sp>
      <p:sp>
        <p:nvSpPr>
          <p:cNvPr id="6" name="STC-24-status-rule">
            <a:extLst xmlns:a="http://schemas.openxmlformats.org/drawingml/2006/main">
              <a:ext uri="{FF2B5EF4-FFF2-40B4-BE49-F238E27FC236}">
                <a16:creationId xmlns:a16="http://schemas.microsoft.com/office/drawing/2014/main" id="{3683B797-60B5-480C-A301-49F30A60F273}"/>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24-footer-rule">
            <a:extLst xmlns:a="http://schemas.openxmlformats.org/drawingml/2006/main">
              <a:ext uri="{FF2B5EF4-FFF2-40B4-BE49-F238E27FC236}">
                <a16:creationId xmlns:a16="http://schemas.microsoft.com/office/drawing/2014/main" id="{6FA1EBBA-FD67-4ED0-A852-5338FC5CEF6C}"/>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4-source-footer">
            <a:extLst xmlns:a="http://schemas.openxmlformats.org/drawingml/2006/main">
              <a:ext uri="{FF2B5EF4-FFF2-40B4-BE49-F238E27FC236}">
                <a16:creationId xmlns:a16="http://schemas.microsoft.com/office/drawing/2014/main" id="{F4A5A94F-69E7-42F7-82C3-28BCCACC0D45}"/>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ch24 §24.5 · ch27 §27.5 · ch29 §29.5</a:t>
            </a:r>
            <a:endParaRPr sz="850"/>
          </a:p>
        </p:txBody>
      </p:sp>
      <p:sp>
        <p:nvSpPr>
          <p:cNvPr id="9" name="STC-24-page-number">
            <a:extLst xmlns:a="http://schemas.openxmlformats.org/drawingml/2006/main">
              <a:ext uri="{FF2B5EF4-FFF2-40B4-BE49-F238E27FC236}">
                <a16:creationId xmlns:a16="http://schemas.microsoft.com/office/drawing/2014/main" id="{0C67EAB4-410A-4712-B528-F9C4ACC0942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112</a:t>
            </a:r>
            <a:endParaRPr sz="850"/>
          </a:p>
        </p:txBody>
      </p:sp>
      <p:sp>
        <p:nvSpPr>
          <p:cNvPr id="11" name="STC-24-redteam-field">
            <a:extLst xmlns:a="http://schemas.openxmlformats.org/drawingml/2006/main">
              <a:ext uri="{FF2B5EF4-FFF2-40B4-BE49-F238E27FC236}">
                <a16:creationId xmlns:a16="http://schemas.microsoft.com/office/drawing/2014/main" id="{FE89799F-71D7-489E-B1FE-5C8044029419}"/>
              </a:ext>
            </a:extLst>
          </p:cNvPr>
          <p:cNvSpPr>
            <a:spLocks xmlns:a="http://schemas.openxmlformats.org/drawingml/2006/main" noGrp="1"/>
          </p:cNvSpPr>
          <p:nvPr/>
        </p:nvSpPr>
        <p:spPr>
          <a:xfrm xmlns:a="http://schemas.openxmlformats.org/drawingml/2006/main">
            <a:off x="777240" y="1581912"/>
            <a:ext cx="2852928" cy="4315968"/>
          </a:xfrm>
          <a:prstGeom xmlns:a="http://schemas.openxmlformats.org/drawingml/2006/main" prst="rect">
            <a:avLst/>
          </a:prstGeom>
          <a:solidFill xmlns:a="http://schemas.openxmlformats.org/drawingml/2006/main">
            <a:srgbClr val="9A442D"/>
          </a:solidFill>
          <a:ln xmlns:a="http://schemas.openxmlformats.org/drawingml/2006/main" w="12700">
            <a:solidFill>
              <a:srgbClr val="9A442D"/>
            </a:solidFill>
            <a:prstDash val="solid"/>
          </a:ln>
        </p:spPr>
      </p:sp>
      <p:sp>
        <p:nvSpPr>
          <p:cNvPr id="12" name="STC-24-redteam-31">
            <a:extLst xmlns:a="http://schemas.openxmlformats.org/drawingml/2006/main">
              <a:ext uri="{FF2B5EF4-FFF2-40B4-BE49-F238E27FC236}">
                <a16:creationId xmlns:a16="http://schemas.microsoft.com/office/drawing/2014/main" id="{76C36925-BB6F-431A-99F4-812FC8CEE5F1}"/>
              </a:ext>
            </a:extLst>
          </p:cNvPr>
          <p:cNvSpPr>
            <a:spLocks xmlns:a="http://schemas.openxmlformats.org/drawingml/2006/main" noGrp="1"/>
          </p:cNvSpPr>
          <p:nvPr/>
        </p:nvSpPr>
        <p:spPr>
          <a:xfrm xmlns:a="http://schemas.openxmlformats.org/drawingml/2006/main">
            <a:off x="1097280" y="1901952"/>
            <a:ext cx="2212848"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5200" b="1">
                <a:solidFill>
                  <a:srgbClr val="FFFFFF"/>
                </a:solidFill>
                <a:latin typeface="Noto Serif CJK KR"/>
                <a:ea typeface="Noto Serif CJK KR"/>
                <a:cs typeface="Noto Serif CJK KR"/>
              </a:rPr>
              <a:t>05</a:t>
            </a:r>
            <a:endParaRPr sz="5200"/>
          </a:p>
        </p:txBody>
      </p:sp>
      <p:sp>
        <p:nvSpPr>
          <p:cNvPr id="13" name="STC-24-redteam-findings">
            <a:extLst xmlns:a="http://schemas.openxmlformats.org/drawingml/2006/main">
              <a:ext uri="{FF2B5EF4-FFF2-40B4-BE49-F238E27FC236}">
                <a16:creationId xmlns:a16="http://schemas.microsoft.com/office/drawing/2014/main" id="{D5F13EAE-2C00-4FDE-BBDA-A4F17E21B35E}"/>
              </a:ext>
            </a:extLst>
          </p:cNvPr>
          <p:cNvSpPr>
            <a:spLocks xmlns:a="http://schemas.openxmlformats.org/drawingml/2006/main" noGrp="1"/>
          </p:cNvSpPr>
          <p:nvPr/>
        </p:nvSpPr>
        <p:spPr>
          <a:xfrm xmlns:a="http://schemas.openxmlformats.org/drawingml/2006/main">
            <a:off x="1097280" y="2816352"/>
            <a:ext cx="2212848"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000" b="1">
                <a:solidFill>
                  <a:srgbClr val="FFFFFF"/>
                </a:solidFill>
                <a:latin typeface="Noto Sans CJK KR"/>
                <a:ea typeface="Noto Sans CJK KR"/>
                <a:cs typeface="Noto Sans CJK KR"/>
              </a:rPr>
              <a:t>반증</a:t>
            </a:r>
            <a:endParaRPr sz="2000"/>
          </a:p>
          <a:p xmlns:a="http://schemas.openxmlformats.org/drawingml/2006/main">
            <a:pPr marL="0" indent="0" algn="ctr">
              <a:buNone/>
            </a:pPr>
            <a:r>
              <a:rPr sz="2000" b="1">
                <a:solidFill>
                  <a:srgbClr val="FFFFFF"/>
                </a:solidFill>
                <a:latin typeface="Noto Sans CJK KR"/>
                <a:ea typeface="Noto Sans CJK KR"/>
                <a:cs typeface="Noto Sans CJK KR"/>
              </a:rPr>
              <a:t>조건 FINDINGS</a:t>
            </a:r>
            <a:endParaRPr sz="2000"/>
          </a:p>
        </p:txBody>
      </p:sp>
      <p:sp>
        <p:nvSpPr>
          <p:cNvPr id="14" name="STC-24-redteam-rule">
            <a:extLst xmlns:a="http://schemas.openxmlformats.org/drawingml/2006/main">
              <a:ext uri="{FF2B5EF4-FFF2-40B4-BE49-F238E27FC236}">
                <a16:creationId xmlns:a16="http://schemas.microsoft.com/office/drawing/2014/main" id="{193B6418-9D2D-496E-BF27-2DF8AE1D1CED}"/>
              </a:ext>
            </a:extLst>
          </p:cNvPr>
          <p:cNvSpPr>
            <a:spLocks xmlns:a="http://schemas.openxmlformats.org/drawingml/2006/main" noGrp="1"/>
          </p:cNvSpPr>
          <p:nvPr/>
        </p:nvSpPr>
        <p:spPr>
          <a:xfrm xmlns:a="http://schemas.openxmlformats.org/drawingml/2006/main">
            <a:off x="1188720" y="3730752"/>
            <a:ext cx="2029968" cy="0"/>
          </a:xfrm>
          <a:prstGeom xmlns:a="http://schemas.openxmlformats.org/drawingml/2006/main" prst="line">
            <a:avLst/>
          </a:prstGeom>
          <a:noFill xmlns:a="http://schemas.openxmlformats.org/drawingml/2006/main"/>
          <a:ln xmlns:a="http://schemas.openxmlformats.org/drawingml/2006/main" w="12700">
            <a:solidFill>
              <a:srgbClr val="FFFFFF"/>
            </a:solidFill>
            <a:prstDash val="solid"/>
            <a:tailEnd type="none"/>
          </a:ln>
        </p:spPr>
      </p:sp>
      <p:sp>
        <p:nvSpPr>
          <p:cNvPr id="15" name="STC-24-redteam-domains">
            <a:extLst xmlns:a="http://schemas.openxmlformats.org/drawingml/2006/main">
              <a:ext uri="{FF2B5EF4-FFF2-40B4-BE49-F238E27FC236}">
                <a16:creationId xmlns:a16="http://schemas.microsoft.com/office/drawing/2014/main" id="{94EAAA44-BDF2-4DC5-83AA-ED7CFE049D6C}"/>
              </a:ext>
            </a:extLst>
          </p:cNvPr>
          <p:cNvSpPr>
            <a:spLocks xmlns:a="http://schemas.openxmlformats.org/drawingml/2006/main" noGrp="1"/>
          </p:cNvSpPr>
          <p:nvPr/>
        </p:nvSpPr>
        <p:spPr>
          <a:xfrm xmlns:a="http://schemas.openxmlformats.org/drawingml/2006/main">
            <a:off x="1188720" y="4005072"/>
            <a:ext cx="2029968"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50">
                <a:solidFill>
                  <a:srgbClr val="FFFFFF"/>
                </a:solidFill>
                <a:latin typeface="Noto Sans Mono CJK KR"/>
                <a:ea typeface="Noto Sans Mono CJK KR"/>
                <a:cs typeface="Noto Sans Mono CJK KR"/>
              </a:rPr>
              <a:t>분류</a:t>
            </a:r>
            <a:endParaRPr sz="1250"/>
          </a:p>
          <a:p xmlns:a="http://schemas.openxmlformats.org/drawingml/2006/main">
            <a:pPr marL="0" indent="0" algn="ctr">
              <a:buNone/>
            </a:pPr>
            <a:r>
              <a:rPr sz="1250">
                <a:solidFill>
                  <a:srgbClr val="FFFFFF"/>
                </a:solidFill>
                <a:latin typeface="Noto Sans Mono CJK KR"/>
                <a:ea typeface="Noto Sans Mono CJK KR"/>
                <a:cs typeface="Noto Sans Mono CJK KR"/>
              </a:rPr>
              <a:t>간격</a:t>
            </a:r>
            <a:endParaRPr sz="1250"/>
          </a:p>
          <a:p xmlns:a="http://schemas.openxmlformats.org/drawingml/2006/main">
            <a:pPr marL="0" indent="0" algn="ctr">
              <a:buNone/>
            </a:pPr>
            <a:r>
              <a:rPr sz="1250">
                <a:solidFill>
                  <a:srgbClr val="FFFFFF"/>
                </a:solidFill>
                <a:latin typeface="Noto Sans Mono CJK KR"/>
                <a:ea typeface="Noto Sans Mono CJK KR"/>
                <a:cs typeface="Noto Sans Mono CJK KR"/>
              </a:rPr>
              <a:t>축</a:t>
            </a:r>
            <a:endParaRPr sz="1250"/>
          </a:p>
          <a:p xmlns:a="http://schemas.openxmlformats.org/drawingml/2006/main">
            <a:pPr marL="0" indent="0" algn="ctr">
              <a:buNone/>
            </a:pPr>
            <a:r>
              <a:rPr sz="1250">
                <a:solidFill>
                  <a:srgbClr val="FFFFFF"/>
                </a:solidFill>
                <a:latin typeface="Noto Sans Mono CJK KR"/>
                <a:ea typeface="Noto Sans Mono CJK KR"/>
                <a:cs typeface="Noto Sans Mono CJK KR"/>
              </a:rPr>
              <a:t>부호</a:t>
            </a:r>
            <a:endParaRPr sz="1250"/>
          </a:p>
        </p:txBody>
      </p:sp>
      <p:sp>
        <p:nvSpPr>
          <p:cNvPr id="16" name="STC-24-redteam-condition-0">
            <a:extLst xmlns:a="http://schemas.openxmlformats.org/drawingml/2006/main">
              <a:ext uri="{FF2B5EF4-FFF2-40B4-BE49-F238E27FC236}">
                <a16:creationId xmlns:a16="http://schemas.microsoft.com/office/drawing/2014/main" id="{49FB02AA-6A7B-4109-B1CE-AAFDD4B95126}"/>
              </a:ext>
            </a:extLst>
          </p:cNvPr>
          <p:cNvSpPr>
            <a:spLocks xmlns:a="http://schemas.openxmlformats.org/drawingml/2006/main" noGrp="1"/>
          </p:cNvSpPr>
          <p:nvPr/>
        </p:nvSpPr>
        <p:spPr>
          <a:xfrm xmlns:a="http://schemas.openxmlformats.org/drawingml/2006/main">
            <a:off x="4096512" y="1636776"/>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분류</a:t>
            </a:r>
            <a:endParaRPr sz="1050"/>
          </a:p>
        </p:txBody>
      </p:sp>
      <p:sp>
        <p:nvSpPr>
          <p:cNvPr id="17" name="STC-24-redteam-arrow-0">
            <a:extLst xmlns:a="http://schemas.openxmlformats.org/drawingml/2006/main">
              <a:ext uri="{FF2B5EF4-FFF2-40B4-BE49-F238E27FC236}">
                <a16:creationId xmlns:a16="http://schemas.microsoft.com/office/drawing/2014/main" id="{ECFD658B-F414-4945-8A22-4E8FA91012AB}"/>
              </a:ext>
            </a:extLst>
          </p:cNvPr>
          <p:cNvSpPr>
            <a:spLocks xmlns:a="http://schemas.openxmlformats.org/drawingml/2006/main" noGrp="1"/>
          </p:cNvSpPr>
          <p:nvPr/>
        </p:nvSpPr>
        <p:spPr>
          <a:xfrm xmlns:a="http://schemas.openxmlformats.org/drawingml/2006/main">
            <a:off x="6547104" y="1746504"/>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18" name="STC-24-redteam-action-0">
            <a:extLst xmlns:a="http://schemas.openxmlformats.org/drawingml/2006/main">
              <a:ext uri="{FF2B5EF4-FFF2-40B4-BE49-F238E27FC236}">
                <a16:creationId xmlns:a16="http://schemas.microsoft.com/office/drawing/2014/main" id="{25845292-03ED-4596-A305-80A67767FF5E}"/>
              </a:ext>
            </a:extLst>
          </p:cNvPr>
          <p:cNvSpPr>
            <a:spLocks xmlns:a="http://schemas.openxmlformats.org/drawingml/2006/main" noGrp="1"/>
          </p:cNvSpPr>
          <p:nvPr/>
        </p:nvSpPr>
        <p:spPr>
          <a:xfrm xmlns:a="http://schemas.openxmlformats.org/drawingml/2006/main">
            <a:off x="7315200" y="1600200"/>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네 조건을 다 만족하는데 B군에 넣은 절차가 있으면</a:t>
            </a:r>
            <a:endParaRPr sz="1700"/>
          </a:p>
        </p:txBody>
      </p:sp>
      <p:sp>
        <p:nvSpPr>
          <p:cNvPr id="19" name="STC-24-redteam-condition-1">
            <a:extLst xmlns:a="http://schemas.openxmlformats.org/drawingml/2006/main">
              <a:ext uri="{FF2B5EF4-FFF2-40B4-BE49-F238E27FC236}">
                <a16:creationId xmlns:a16="http://schemas.microsoft.com/office/drawing/2014/main" id="{C8B7593A-7FC2-429B-B521-B510492237D9}"/>
              </a:ext>
            </a:extLst>
          </p:cNvPr>
          <p:cNvSpPr>
            <a:spLocks xmlns:a="http://schemas.openxmlformats.org/drawingml/2006/main" noGrp="1"/>
          </p:cNvSpPr>
          <p:nvPr/>
        </p:nvSpPr>
        <p:spPr>
          <a:xfrm xmlns:a="http://schemas.openxmlformats.org/drawingml/2006/main">
            <a:off x="4096512" y="2468880"/>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간격</a:t>
            </a:r>
            <a:endParaRPr sz="1050"/>
          </a:p>
        </p:txBody>
      </p:sp>
      <p:sp>
        <p:nvSpPr>
          <p:cNvPr id="20" name="STC-24-redteam-arrow-1">
            <a:extLst xmlns:a="http://schemas.openxmlformats.org/drawingml/2006/main">
              <a:ext uri="{FF2B5EF4-FFF2-40B4-BE49-F238E27FC236}">
                <a16:creationId xmlns:a16="http://schemas.microsoft.com/office/drawing/2014/main" id="{F092DC91-30E1-437A-B05C-4E92179650B8}"/>
              </a:ext>
            </a:extLst>
          </p:cNvPr>
          <p:cNvSpPr>
            <a:spLocks xmlns:a="http://schemas.openxmlformats.org/drawingml/2006/main" noGrp="1"/>
          </p:cNvSpPr>
          <p:nvPr/>
        </p:nvSpPr>
        <p:spPr>
          <a:xfrm xmlns:a="http://schemas.openxmlformats.org/drawingml/2006/main">
            <a:off x="6547104" y="2578608"/>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21" name="STC-24-redteam-action-1">
            <a:extLst xmlns:a="http://schemas.openxmlformats.org/drawingml/2006/main">
              <a:ext uri="{FF2B5EF4-FFF2-40B4-BE49-F238E27FC236}">
                <a16:creationId xmlns:a16="http://schemas.microsoft.com/office/drawing/2014/main" id="{AAB4C558-8F92-4BB0-B8E0-D28983C0BA46}"/>
              </a:ext>
            </a:extLst>
          </p:cNvPr>
          <p:cNvSpPr>
            <a:spLocks xmlns:a="http://schemas.openxmlformats.org/drawingml/2006/main" noGrp="1"/>
          </p:cNvSpPr>
          <p:nvPr/>
        </p:nvSpPr>
        <p:spPr>
          <a:xfrm xmlns:a="http://schemas.openxmlformats.org/drawingml/2006/main">
            <a:off x="7315200" y="2432304"/>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E 논문이 W·Θ를 같은 표에서 baseline으로 돌리면</a:t>
            </a:r>
            <a:endParaRPr sz="1700"/>
          </a:p>
        </p:txBody>
      </p:sp>
      <p:sp>
        <p:nvSpPr>
          <p:cNvPr id="22" name="STC-24-redteam-condition-2">
            <a:extLst xmlns:a="http://schemas.openxmlformats.org/drawingml/2006/main">
              <a:ext uri="{FF2B5EF4-FFF2-40B4-BE49-F238E27FC236}">
                <a16:creationId xmlns:a16="http://schemas.microsoft.com/office/drawing/2014/main" id="{49D0C450-50F7-478F-8F31-2E93A9AA5685}"/>
              </a:ext>
            </a:extLst>
          </p:cNvPr>
          <p:cNvSpPr>
            <a:spLocks xmlns:a="http://schemas.openxmlformats.org/drawingml/2006/main" noGrp="1"/>
          </p:cNvSpPr>
          <p:nvPr/>
        </p:nvSpPr>
        <p:spPr>
          <a:xfrm xmlns:a="http://schemas.openxmlformats.org/drawingml/2006/main">
            <a:off x="4096512" y="3300984"/>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축</a:t>
            </a:r>
            <a:endParaRPr sz="1050"/>
          </a:p>
        </p:txBody>
      </p:sp>
      <p:sp>
        <p:nvSpPr>
          <p:cNvPr id="23" name="STC-24-redteam-arrow-2">
            <a:extLst xmlns:a="http://schemas.openxmlformats.org/drawingml/2006/main">
              <a:ext uri="{FF2B5EF4-FFF2-40B4-BE49-F238E27FC236}">
                <a16:creationId xmlns:a16="http://schemas.microsoft.com/office/drawing/2014/main" id="{F1BFD9F8-5311-48DD-82AC-FC91409C398F}"/>
              </a:ext>
            </a:extLst>
          </p:cNvPr>
          <p:cNvSpPr>
            <a:spLocks xmlns:a="http://schemas.openxmlformats.org/drawingml/2006/main" noGrp="1"/>
          </p:cNvSpPr>
          <p:nvPr/>
        </p:nvSpPr>
        <p:spPr>
          <a:xfrm xmlns:a="http://schemas.openxmlformats.org/drawingml/2006/main">
            <a:off x="6547104" y="3410712"/>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24" name="STC-24-redteam-action-2">
            <a:extLst xmlns:a="http://schemas.openxmlformats.org/drawingml/2006/main">
              <a:ext uri="{FF2B5EF4-FFF2-40B4-BE49-F238E27FC236}">
                <a16:creationId xmlns:a16="http://schemas.microsoft.com/office/drawing/2014/main" id="{53B6400F-21E7-48B9-B878-73AC3E062630}"/>
              </a:ext>
            </a:extLst>
          </p:cNvPr>
          <p:cNvSpPr>
            <a:spLocks xmlns:a="http://schemas.openxmlformats.org/drawingml/2006/main" noGrp="1"/>
          </p:cNvSpPr>
          <p:nvPr/>
        </p:nvSpPr>
        <p:spPr>
          <a:xfrm xmlns:a="http://schemas.openxmlformats.org/drawingml/2006/main">
            <a:off x="7315200" y="3264408"/>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절대 단위 B_s 3점을 인쇄한 논문 셋이 나오면</a:t>
            </a:r>
            <a:endParaRPr sz="1700"/>
          </a:p>
        </p:txBody>
      </p:sp>
      <p:sp>
        <p:nvSpPr>
          <p:cNvPr id="25" name="STC-24-redteam-condition-3">
            <a:extLst xmlns:a="http://schemas.openxmlformats.org/drawingml/2006/main">
              <a:ext uri="{FF2B5EF4-FFF2-40B4-BE49-F238E27FC236}">
                <a16:creationId xmlns:a16="http://schemas.microsoft.com/office/drawing/2014/main" id="{54B2E66F-F1FD-43FB-BE43-6557E3F79FBF}"/>
              </a:ext>
            </a:extLst>
          </p:cNvPr>
          <p:cNvSpPr>
            <a:spLocks xmlns:a="http://schemas.openxmlformats.org/drawingml/2006/main" noGrp="1"/>
          </p:cNvSpPr>
          <p:nvPr/>
        </p:nvSpPr>
        <p:spPr>
          <a:xfrm xmlns:a="http://schemas.openxmlformats.org/drawingml/2006/main">
            <a:off x="4096512" y="4133088"/>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부호</a:t>
            </a:r>
            <a:endParaRPr sz="1050"/>
          </a:p>
        </p:txBody>
      </p:sp>
      <p:sp>
        <p:nvSpPr>
          <p:cNvPr id="26" name="STC-24-redteam-arrow-3">
            <a:extLst xmlns:a="http://schemas.openxmlformats.org/drawingml/2006/main">
              <a:ext uri="{FF2B5EF4-FFF2-40B4-BE49-F238E27FC236}">
                <a16:creationId xmlns:a16="http://schemas.microsoft.com/office/drawing/2014/main" id="{142A7955-B5F4-4C94-BF7C-59CB9CABC9A9}"/>
              </a:ext>
            </a:extLst>
          </p:cNvPr>
          <p:cNvSpPr>
            <a:spLocks xmlns:a="http://schemas.openxmlformats.org/drawingml/2006/main" noGrp="1"/>
          </p:cNvSpPr>
          <p:nvPr/>
        </p:nvSpPr>
        <p:spPr>
          <a:xfrm xmlns:a="http://schemas.openxmlformats.org/drawingml/2006/main">
            <a:off x="6547104" y="4242816"/>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27" name="STC-24-redteam-action-3">
            <a:extLst xmlns:a="http://schemas.openxmlformats.org/drawingml/2006/main">
              <a:ext uri="{FF2B5EF4-FFF2-40B4-BE49-F238E27FC236}">
                <a16:creationId xmlns:a16="http://schemas.microsoft.com/office/drawing/2014/main" id="{509CB230-3F0C-4279-A9DF-0AED1E3597D6}"/>
              </a:ext>
            </a:extLst>
          </p:cNvPr>
          <p:cNvSpPr>
            <a:spLocks xmlns:a="http://schemas.openxmlformats.org/drawingml/2006/main" noGrp="1"/>
          </p:cNvSpPr>
          <p:nvPr/>
        </p:nvSpPr>
        <p:spPr>
          <a:xfrm xmlns:a="http://schemas.openxmlformats.org/drawingml/2006/main">
            <a:off x="7315200" y="4096512"/>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self replay가 gold replay보다 오래 버티면</a:t>
            </a:r>
            <a:endParaRPr sz="1700"/>
          </a:p>
        </p:txBody>
      </p:sp>
      <p:sp>
        <p:nvSpPr>
          <p:cNvPr id="28" name="STC-24-redteam-condition-4">
            <a:extLst xmlns:a="http://schemas.openxmlformats.org/drawingml/2006/main">
              <a:ext uri="{FF2B5EF4-FFF2-40B4-BE49-F238E27FC236}">
                <a16:creationId xmlns:a16="http://schemas.microsoft.com/office/drawing/2014/main" id="{446D537E-ADDE-43CB-9B24-A4F46A7882F5}"/>
              </a:ext>
            </a:extLst>
          </p:cNvPr>
          <p:cNvSpPr>
            <a:spLocks xmlns:a="http://schemas.openxmlformats.org/drawingml/2006/main" noGrp="1"/>
          </p:cNvSpPr>
          <p:nvPr/>
        </p:nvSpPr>
        <p:spPr>
          <a:xfrm xmlns:a="http://schemas.openxmlformats.org/drawingml/2006/main">
            <a:off x="4096512" y="4965192"/>
            <a:ext cx="22860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계층</a:t>
            </a:r>
            <a:endParaRPr sz="1050"/>
          </a:p>
        </p:txBody>
      </p:sp>
      <p:sp>
        <p:nvSpPr>
          <p:cNvPr id="29" name="STC-24-redteam-arrow-4">
            <a:extLst xmlns:a="http://schemas.openxmlformats.org/drawingml/2006/main">
              <a:ext uri="{FF2B5EF4-FFF2-40B4-BE49-F238E27FC236}">
                <a16:creationId xmlns:a16="http://schemas.microsoft.com/office/drawing/2014/main" id="{2F284B3B-3811-4BF7-8991-CD6D21C10D0E}"/>
              </a:ext>
            </a:extLst>
          </p:cNvPr>
          <p:cNvSpPr>
            <a:spLocks xmlns:a="http://schemas.openxmlformats.org/drawingml/2006/main" noGrp="1"/>
          </p:cNvSpPr>
          <p:nvPr/>
        </p:nvSpPr>
        <p:spPr>
          <a:xfrm xmlns:a="http://schemas.openxmlformats.org/drawingml/2006/main">
            <a:off x="6547104" y="5074920"/>
            <a:ext cx="566928" cy="0"/>
          </a:xfrm>
          <a:prstGeom xmlns:a="http://schemas.openxmlformats.org/drawingml/2006/main" prst="line">
            <a:avLst/>
          </a:prstGeom>
          <a:noFill xmlns:a="http://schemas.openxmlformats.org/drawingml/2006/main"/>
          <a:ln xmlns:a="http://schemas.openxmlformats.org/drawingml/2006/main" w="16510">
            <a:solidFill>
              <a:srgbClr val="9A442D"/>
            </a:solidFill>
            <a:prstDash val="solid"/>
            <a:tailEnd type="triangle"/>
          </a:ln>
        </p:spPr>
      </p:sp>
      <p:sp>
        <p:nvSpPr>
          <p:cNvPr id="30" name="STC-24-redteam-action-4">
            <a:extLst xmlns:a="http://schemas.openxmlformats.org/drawingml/2006/main">
              <a:ext uri="{FF2B5EF4-FFF2-40B4-BE49-F238E27FC236}">
                <a16:creationId xmlns:a16="http://schemas.microsoft.com/office/drawing/2014/main" id="{0C0BE6BA-1227-4317-8CCB-047039F8A580}"/>
              </a:ext>
            </a:extLst>
          </p:cNvPr>
          <p:cNvSpPr>
            <a:spLocks xmlns:a="http://schemas.openxmlformats.org/drawingml/2006/main" noGrp="1"/>
          </p:cNvSpPr>
          <p:nvPr/>
        </p:nvSpPr>
        <p:spPr>
          <a:xfrm xmlns:a="http://schemas.openxmlformats.org/drawingml/2006/main">
            <a:off x="7315200" y="4928616"/>
            <a:ext cx="35387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7191C"/>
                </a:solidFill>
                <a:latin typeface="Noto Sans CJK KR"/>
                <a:ea typeface="Noto Sans CJK KR"/>
                <a:cs typeface="Noto Sans CJK KR"/>
              </a:rPr>
              <a:t>delta working set이 노드 로컬에 상주하면</a:t>
            </a:r>
            <a:endParaRPr sz="1700"/>
          </a:p>
        </p:txBody>
      </p:sp>
      <p:sp>
        <p:nvSpPr>
          <p:cNvPr id="31" name="STC-24-redteam-bottom">
            <a:extLst xmlns:a="http://schemas.openxmlformats.org/drawingml/2006/main">
              <a:ext uri="{FF2B5EF4-FFF2-40B4-BE49-F238E27FC236}">
                <a16:creationId xmlns:a16="http://schemas.microsoft.com/office/drawing/2014/main" id="{3BD5330B-ECE0-40DD-92FE-09B0B3E352BD}"/>
              </a:ext>
            </a:extLst>
          </p:cNvPr>
          <p:cNvSpPr>
            <a:spLocks xmlns:a="http://schemas.openxmlformats.org/drawingml/2006/main" noGrp="1"/>
          </p:cNvSpPr>
          <p:nvPr/>
        </p:nvSpPr>
        <p:spPr>
          <a:xfrm xmlns:a="http://schemas.openxmlformats.org/drawingml/2006/main">
            <a:off x="5074920" y="5596128"/>
            <a:ext cx="532180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b="1">
                <a:solidFill>
                  <a:srgbClr val="2F6B63"/>
                </a:solidFill>
                <a:latin typeface="Noto Sans Mono CJK KR"/>
                <a:ea typeface="Noto Sans Mono CJK KR"/>
                <a:cs typeface="Noto Sans Mono CJK KR"/>
              </a:rPr>
              <a:t>반증 불가능한 판정은 이 발표에서 쓰지 않는다</a:t>
            </a:r>
            <a:endParaRPr sz="1100"/>
          </a:p>
        </p:txBody>
      </p:sp>
    </p:spTree>
    <p:extLst>
      <p:ext uri="{BB962C8B-B14F-4D97-AF65-F5344CB8AC3E}">
        <p14:creationId xmlns:p14="http://schemas.microsoft.com/office/powerpoint/2010/main" val="777900829"/>
      </p:ext>
    </p:extLst>
  </p:cSld>
</p:sld>
</file>

<file path=ppt/slides/slide11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2-section">
            <a:extLst xmlns:a="http://schemas.openxmlformats.org/drawingml/2006/main">
              <a:ext uri="{FF2B5EF4-FFF2-40B4-BE49-F238E27FC236}">
                <a16:creationId xmlns:a16="http://schemas.microsoft.com/office/drawing/2014/main" id="{B3AE04B8-8245-44A2-8AD4-9A767BB156F4}"/>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LIMITS</a:t>
            </a:r>
            <a:endParaRPr sz="950"/>
          </a:p>
        </p:txBody>
      </p:sp>
      <p:sp>
        <p:nvSpPr>
          <p:cNvPr id="3" name="STC-02-slide-id">
            <a:extLst xmlns:a="http://schemas.openxmlformats.org/drawingml/2006/main">
              <a:ext uri="{FF2B5EF4-FFF2-40B4-BE49-F238E27FC236}">
                <a16:creationId xmlns:a16="http://schemas.microsoft.com/office/drawing/2014/main" id="{BE855689-E691-4D5A-A176-FA0CC6C672AC}"/>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STC-113</a:t>
            </a:r>
            <a:endParaRPr sz="950"/>
          </a:p>
        </p:txBody>
      </p:sp>
      <p:sp>
        <p:nvSpPr>
          <p:cNvPr id="4" name="STC-02-headline">
            <a:extLst xmlns:a="http://schemas.openxmlformats.org/drawingml/2006/main">
              <a:ext uri="{FF2B5EF4-FFF2-40B4-BE49-F238E27FC236}">
                <a16:creationId xmlns:a16="http://schemas.microsoft.com/office/drawing/2014/main" id="{9F4BA35A-C084-4820-A869-3F58338107FA}"/>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이 발표의 실험 하나가 초판에서 틀렸다 — 하한을 상한으로</a:t>
            </a:r>
            <a:endParaRPr sz="3000"/>
          </a:p>
        </p:txBody>
      </p:sp>
      <p:sp>
        <p:nvSpPr>
          <p:cNvPr id="5" name="STC-02-status-label">
            <a:extLst xmlns:a="http://schemas.openxmlformats.org/drawingml/2006/main">
              <a:ext uri="{FF2B5EF4-FFF2-40B4-BE49-F238E27FC236}">
                <a16:creationId xmlns:a16="http://schemas.microsoft.com/office/drawing/2014/main" id="{1B872D46-D4B1-425B-A362-8822456881AC}"/>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자기 정정</a:t>
            </a:r>
            <a:endParaRPr sz="1000"/>
          </a:p>
        </p:txBody>
      </p:sp>
      <p:sp>
        <p:nvSpPr>
          <p:cNvPr id="6" name="STC-02-status-rule">
            <a:extLst xmlns:a="http://schemas.openxmlformats.org/drawingml/2006/main">
              <a:ext uri="{FF2B5EF4-FFF2-40B4-BE49-F238E27FC236}">
                <a16:creationId xmlns:a16="http://schemas.microsoft.com/office/drawing/2014/main" id="{AAA2BDB5-9AB1-43CC-81F2-726033A947FE}"/>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2-footer-rule">
            <a:extLst xmlns:a="http://schemas.openxmlformats.org/drawingml/2006/main">
              <a:ext uri="{FF2B5EF4-FFF2-40B4-BE49-F238E27FC236}">
                <a16:creationId xmlns:a16="http://schemas.microsoft.com/office/drawing/2014/main" id="{90EAC1C3-0B28-440F-82C3-430CFCB7A87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2-source-footer">
            <a:extLst xmlns:a="http://schemas.openxmlformats.org/drawingml/2006/main">
              <a:ext uri="{FF2B5EF4-FFF2-40B4-BE49-F238E27FC236}">
                <a16:creationId xmlns:a16="http://schemas.microsoft.com/office/drawing/2014/main" id="{793D87D7-D04F-48E5-B4E6-8B70035D63C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ch26 §26.3.4 · ch30 §30.3.2 · experiments/stc/X2 F3_withdrawn</a:t>
            </a:r>
            <a:endParaRPr sz="850"/>
          </a:p>
        </p:txBody>
      </p:sp>
      <p:sp>
        <p:nvSpPr>
          <p:cNvPr id="9" name="STC-02-page-number">
            <a:extLst xmlns:a="http://schemas.openxmlformats.org/drawingml/2006/main">
              <a:ext uri="{FF2B5EF4-FFF2-40B4-BE49-F238E27FC236}">
                <a16:creationId xmlns:a16="http://schemas.microsoft.com/office/drawing/2014/main" id="{9B82730B-5BA4-40C1-BB36-231F3E2F81B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113</a:t>
            </a:r>
            <a:endParaRPr sz="850"/>
          </a:p>
        </p:txBody>
      </p:sp>
      <p:sp>
        <p:nvSpPr>
          <p:cNvPr id="11" name="STC-02-when">
            <a:extLst xmlns:a="http://schemas.openxmlformats.org/drawingml/2006/main">
              <a:ext uri="{FF2B5EF4-FFF2-40B4-BE49-F238E27FC236}">
                <a16:creationId xmlns:a16="http://schemas.microsoft.com/office/drawing/2014/main" id="{16BCA9BF-B6CB-412C-9306-FDAB2AE1F9FD}"/>
              </a:ext>
            </a:extLst>
          </p:cNvPr>
          <p:cNvSpPr>
            <a:spLocks xmlns:a="http://schemas.openxmlformats.org/drawingml/2006/main" noGrp="1"/>
          </p:cNvSpPr>
          <p:nvPr/>
        </p:nvSpPr>
        <p:spPr>
          <a:xfrm xmlns:a="http://schemas.openxmlformats.org/drawingml/2006/main">
            <a:off x="731520" y="1673352"/>
            <a:ext cx="9601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44E8A"/>
                </a:solidFill>
                <a:latin typeface="Noto Serif CJK KR"/>
                <a:ea typeface="Noto Serif CJK KR"/>
                <a:cs typeface="Noto Serif CJK KR"/>
              </a:rPr>
              <a:t>무엇이</a:t>
            </a:r>
            <a:endParaRPr sz="2800"/>
          </a:p>
        </p:txBody>
      </p:sp>
      <p:sp>
        <p:nvSpPr>
          <p:cNvPr id="12" name="STC-02-what">
            <a:extLst xmlns:a="http://schemas.openxmlformats.org/drawingml/2006/main">
              <a:ext uri="{FF2B5EF4-FFF2-40B4-BE49-F238E27FC236}">
                <a16:creationId xmlns:a16="http://schemas.microsoft.com/office/drawing/2014/main" id="{4D549EF3-5805-4997-88E2-74654ACC4A4F}"/>
              </a:ext>
            </a:extLst>
          </p:cNvPr>
          <p:cNvSpPr>
            <a:spLocks xmlns:a="http://schemas.openxmlformats.org/drawingml/2006/main" noGrp="1"/>
          </p:cNvSpPr>
          <p:nvPr/>
        </p:nvSpPr>
        <p:spPr>
          <a:xfrm xmlns:a="http://schemas.openxmlformats.org/drawingml/2006/main">
            <a:off x="731520" y="2761488"/>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9A442D"/>
                </a:solidFill>
                <a:latin typeface="Noto Serif CJK KR"/>
                <a:ea typeface="Noto Serif CJK KR"/>
                <a:cs typeface="Noto Serif CJK KR"/>
              </a:rPr>
              <a:t>왜 틀렸나</a:t>
            </a:r>
            <a:endParaRPr sz="2800"/>
          </a:p>
        </p:txBody>
      </p:sp>
      <p:sp>
        <p:nvSpPr>
          <p:cNvPr id="13" name="STC-02-where">
            <a:extLst xmlns:a="http://schemas.openxmlformats.org/drawingml/2006/main">
              <a:ext uri="{FF2B5EF4-FFF2-40B4-BE49-F238E27FC236}">
                <a16:creationId xmlns:a16="http://schemas.microsoft.com/office/drawing/2014/main" id="{F2ABEEFC-09C0-4ED9-A436-4F6FF445EF5A}"/>
              </a:ext>
            </a:extLst>
          </p:cNvPr>
          <p:cNvSpPr>
            <a:spLocks xmlns:a="http://schemas.openxmlformats.org/drawingml/2006/main" noGrp="1"/>
          </p:cNvSpPr>
          <p:nvPr/>
        </p:nvSpPr>
        <p:spPr>
          <a:xfrm xmlns:a="http://schemas.openxmlformats.org/drawingml/2006/main">
            <a:off x="731520" y="3849624"/>
            <a:ext cx="12344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2F6B63"/>
                </a:solidFill>
                <a:latin typeface="Noto Serif CJK KR"/>
                <a:ea typeface="Noto Serif CJK KR"/>
                <a:cs typeface="Noto Serif CJK KR"/>
              </a:rPr>
              <a:t>처리</a:t>
            </a:r>
            <a:endParaRPr sz="2800"/>
          </a:p>
        </p:txBody>
      </p:sp>
      <p:sp>
        <p:nvSpPr>
          <p:cNvPr id="14" name="STC-02-when-line">
            <a:extLst xmlns:a="http://schemas.openxmlformats.org/drawingml/2006/main">
              <a:ext uri="{FF2B5EF4-FFF2-40B4-BE49-F238E27FC236}">
                <a16:creationId xmlns:a16="http://schemas.microsoft.com/office/drawing/2014/main" id="{A0043737-4272-4C17-86C1-34866CB1C145}"/>
              </a:ext>
            </a:extLst>
          </p:cNvPr>
          <p:cNvSpPr>
            <a:spLocks xmlns:a="http://schemas.openxmlformats.org/drawingml/2006/main" noGrp="1"/>
          </p:cNvSpPr>
          <p:nvPr/>
        </p:nvSpPr>
        <p:spPr>
          <a:xfrm xmlns:a="http://schemas.openxmlformats.org/drawingml/2006/main">
            <a:off x="2148840" y="1865376"/>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5" name="STC-02-what-line">
            <a:extLst xmlns:a="http://schemas.openxmlformats.org/drawingml/2006/main">
              <a:ext uri="{FF2B5EF4-FFF2-40B4-BE49-F238E27FC236}">
                <a16:creationId xmlns:a16="http://schemas.microsoft.com/office/drawing/2014/main" id="{19984047-E359-40E7-B1A0-D045178C217D}"/>
              </a:ext>
            </a:extLst>
          </p:cNvPr>
          <p:cNvSpPr>
            <a:spLocks xmlns:a="http://schemas.openxmlformats.org/drawingml/2006/main" noGrp="1"/>
          </p:cNvSpPr>
          <p:nvPr/>
        </p:nvSpPr>
        <p:spPr>
          <a:xfrm xmlns:a="http://schemas.openxmlformats.org/drawingml/2006/main">
            <a:off x="2148840" y="2953512"/>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6" name="STC-02-where-line">
            <a:extLst xmlns:a="http://schemas.openxmlformats.org/drawingml/2006/main">
              <a:ext uri="{FF2B5EF4-FFF2-40B4-BE49-F238E27FC236}">
                <a16:creationId xmlns:a16="http://schemas.microsoft.com/office/drawing/2014/main" id="{AC3FBBFF-8861-47FA-A523-B7B08374B29E}"/>
              </a:ext>
            </a:extLst>
          </p:cNvPr>
          <p:cNvSpPr>
            <a:spLocks xmlns:a="http://schemas.openxmlformats.org/drawingml/2006/main" noGrp="1"/>
          </p:cNvSpPr>
          <p:nvPr/>
        </p:nvSpPr>
        <p:spPr>
          <a:xfrm xmlns:a="http://schemas.openxmlformats.org/drawingml/2006/main">
            <a:off x="2148840" y="4041648"/>
            <a:ext cx="7772400" cy="0"/>
          </a:xfrm>
          <a:prstGeom xmlns:a="http://schemas.openxmlformats.org/drawingml/2006/main" prst="line">
            <a:avLst/>
          </a:prstGeom>
          <a:noFill xmlns:a="http://schemas.openxmlformats.org/drawingml/2006/main"/>
          <a:ln xmlns:a="http://schemas.openxmlformats.org/drawingml/2006/main" w="12700">
            <a:solidFill>
              <a:srgbClr val="C9C4B8"/>
            </a:solidFill>
            <a:prstDash val="solid"/>
            <a:tailEnd type="none"/>
          </a:ln>
        </p:spPr>
      </p:sp>
      <p:sp>
        <p:nvSpPr>
          <p:cNvPr id="17" name="STC-02-when-answer">
            <a:extLst xmlns:a="http://schemas.openxmlformats.org/drawingml/2006/main">
              <a:ext uri="{FF2B5EF4-FFF2-40B4-BE49-F238E27FC236}">
                <a16:creationId xmlns:a16="http://schemas.microsoft.com/office/drawing/2014/main" id="{DE30F009-38B4-4744-A843-3338330F9296}"/>
              </a:ext>
            </a:extLst>
          </p:cNvPr>
          <p:cNvSpPr>
            <a:spLocks xmlns:a="http://schemas.openxmlformats.org/drawingml/2006/main" noGrp="1"/>
          </p:cNvSpPr>
          <p:nvPr/>
        </p:nvSpPr>
        <p:spPr>
          <a:xfrm xmlns:a="http://schemas.openxmlformats.org/drawingml/2006/main">
            <a:off x="2377440" y="1618488"/>
            <a:ext cx="7269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3.64 bits/param을 상한으로 놓고 경로 간 밀도 비 계산</a:t>
            </a:r>
            <a:endParaRPr sz="2100"/>
          </a:p>
        </p:txBody>
      </p:sp>
      <p:sp>
        <p:nvSpPr>
          <p:cNvPr id="18" name="STC-02-what-answer">
            <a:extLst xmlns:a="http://schemas.openxmlformats.org/drawingml/2006/main">
              <a:ext uri="{FF2B5EF4-FFF2-40B4-BE49-F238E27FC236}">
                <a16:creationId xmlns:a16="http://schemas.microsoft.com/office/drawing/2014/main" id="{31F10D90-9E59-4017-AAB6-C5184B790324}"/>
              </a:ext>
            </a:extLst>
          </p:cNvPr>
          <p:cNvSpPr>
            <a:spLocks xmlns:a="http://schemas.openxmlformats.org/drawingml/2006/main" noGrp="1"/>
          </p:cNvSpPr>
          <p:nvPr/>
        </p:nvSpPr>
        <p:spPr>
          <a:xfrm xmlns:a="http://schemas.openxmlformats.org/drawingml/2006/main">
            <a:off x="2377440" y="2706624"/>
            <a:ext cx="78638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원 논문이 명시적으로 하한이라고 밝힌 값이다</a:t>
            </a:r>
            <a:endParaRPr sz="2100"/>
          </a:p>
        </p:txBody>
      </p:sp>
      <p:sp>
        <p:nvSpPr>
          <p:cNvPr id="19" name="STC-02-where-answer">
            <a:extLst xmlns:a="http://schemas.openxmlformats.org/drawingml/2006/main">
              <a:ext uri="{FF2B5EF4-FFF2-40B4-BE49-F238E27FC236}">
                <a16:creationId xmlns:a16="http://schemas.microsoft.com/office/drawing/2014/main" id="{7B9DAECE-395E-4C23-8BFF-9AE8A0ABEE81}"/>
              </a:ext>
            </a:extLst>
          </p:cNvPr>
          <p:cNvSpPr>
            <a:spLocks xmlns:a="http://schemas.openxmlformats.org/drawingml/2006/main" noGrp="1"/>
          </p:cNvSpPr>
          <p:nvPr/>
        </p:nvSpPr>
        <p:spPr>
          <a:xfrm xmlns:a="http://schemas.openxmlformats.org/drawingml/2006/main">
            <a:off x="2377440" y="3794760"/>
            <a:ext cx="8458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7191C"/>
                </a:solidFill>
                <a:latin typeface="Noto Sans CJK KR"/>
                <a:ea typeface="Noto Sans CJK KR"/>
                <a:cs typeface="Noto Sans CJK KR"/>
              </a:rPr>
              <a:t>비교는 철회, dtype 배수는 살아남음, 반증 실험 신설</a:t>
            </a:r>
            <a:endParaRPr sz="2100"/>
          </a:p>
        </p:txBody>
      </p:sp>
      <p:sp>
        <p:nvSpPr>
          <p:cNvPr id="20" name="STC-02-thesis-bar">
            <a:extLst xmlns:a="http://schemas.openxmlformats.org/drawingml/2006/main">
              <a:ext uri="{FF2B5EF4-FFF2-40B4-BE49-F238E27FC236}">
                <a16:creationId xmlns:a16="http://schemas.microsoft.com/office/drawing/2014/main" id="{307CCCCF-FC4F-496A-AFFE-4544A0437B9F}"/>
              </a:ext>
            </a:extLst>
          </p:cNvPr>
          <p:cNvSpPr>
            <a:spLocks xmlns:a="http://schemas.openxmlformats.org/drawingml/2006/main" noGrp="1"/>
          </p:cNvSpPr>
          <p:nvPr/>
        </p:nvSpPr>
        <p:spPr>
          <a:xfrm xmlns:a="http://schemas.openxmlformats.org/drawingml/2006/main">
            <a:off x="2359152" y="4791456"/>
            <a:ext cx="8174736" cy="731520"/>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1" name="STC-02-thesis-bar-text">
            <a:extLst xmlns:a="http://schemas.openxmlformats.org/drawingml/2006/main">
              <a:ext uri="{FF2B5EF4-FFF2-40B4-BE49-F238E27FC236}">
                <a16:creationId xmlns:a16="http://schemas.microsoft.com/office/drawing/2014/main" id="{A739DA4E-B679-406F-8823-36B5720A9DC8}"/>
              </a:ext>
            </a:extLst>
          </p:cNvPr>
          <p:cNvSpPr>
            <a:spLocks xmlns:a="http://schemas.openxmlformats.org/drawingml/2006/main" noGrp="1"/>
          </p:cNvSpPr>
          <p:nvPr/>
        </p:nvSpPr>
        <p:spPr>
          <a:xfrm xmlns:a="http://schemas.openxmlformats.org/drawingml/2006/main">
            <a:off x="2606040" y="5001768"/>
            <a:ext cx="7680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900" b="1">
                <a:solidFill>
                  <a:srgbClr val="FFFFFF"/>
                </a:solidFill>
                <a:latin typeface="Noto Sans CJK KR"/>
                <a:ea typeface="Noto Sans CJK KR"/>
                <a:cs typeface="Noto Sans CJK KR"/>
              </a:rPr>
              <a:t>정정 이력이 없으면 살아남은 주장이 검사를 통과해서 남은 것인지 알 수 없다</a:t>
            </a:r>
            <a:endParaRPr sz="1900"/>
          </a:p>
        </p:txBody>
      </p:sp>
    </p:spTree>
    <p:extLst>
      <p:ext uri="{BB962C8B-B14F-4D97-AF65-F5344CB8AC3E}">
        <p14:creationId xmlns:p14="http://schemas.microsoft.com/office/powerpoint/2010/main" val="1716489855"/>
      </p:ext>
    </p:extLst>
  </p:cSld>
</p:sld>
</file>

<file path=ppt/slides/slide11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LIMITS</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STC-114</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판별식을 다르게 그으면 무엇이 달라지는가</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감사</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ch30 §30.3.3 · 판정 4</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114</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(a) 시계 완화</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W-경로가 표본 2</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(b) 읽기 확장</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상각이 붕괴</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(c) (4) 제거</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범주가 무한 확장</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(d) 모양 분류</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비교 가능성 감소</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살아남음</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침묵 · 비용 · 어긋남</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무너짐</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편수 판정 셋</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네 변형 어디에서도 척추 논지는</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살아남는다. 무너지는 것은 편수에 기대는 판정들이다</a:t>
            </a:r>
            <a:endParaRPr sz="1500"/>
          </a:p>
        </p:txBody>
      </p:sp>
    </p:spTree>
    <p:extLst>
      <p:ext uri="{BB962C8B-B14F-4D97-AF65-F5344CB8AC3E}">
        <p14:creationId xmlns:p14="http://schemas.microsoft.com/office/powerpoint/2010/main" val="931853972"/>
      </p:ext>
    </p:extLst>
  </p:cSld>
</p:sld>
</file>

<file path=ppt/slides/slide11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3-section">
            <a:extLst xmlns:a="http://schemas.openxmlformats.org/drawingml/2006/main">
              <a:ext uri="{FF2B5EF4-FFF2-40B4-BE49-F238E27FC236}">
                <a16:creationId xmlns:a16="http://schemas.microsoft.com/office/drawing/2014/main" id="{DEF75E10-FC43-4F90-A29D-73D1CBC1DCC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LIMITS</a:t>
            </a:r>
            <a:endParaRPr sz="950"/>
          </a:p>
        </p:txBody>
      </p:sp>
      <p:sp>
        <p:nvSpPr>
          <p:cNvPr id="3" name="STC-13-slide-id">
            <a:extLst xmlns:a="http://schemas.openxmlformats.org/drawingml/2006/main">
              <a:ext uri="{FF2B5EF4-FFF2-40B4-BE49-F238E27FC236}">
                <a16:creationId xmlns:a16="http://schemas.microsoft.com/office/drawing/2014/main" id="{207357D7-4303-4447-A61C-4C79283F663F}"/>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STC-115</a:t>
            </a:r>
            <a:endParaRPr sz="950"/>
          </a:p>
        </p:txBody>
      </p:sp>
      <p:sp>
        <p:nvSpPr>
          <p:cNvPr id="4" name="STC-13-headline">
            <a:extLst xmlns:a="http://schemas.openxmlformats.org/drawingml/2006/main">
              <a:ext uri="{FF2B5EF4-FFF2-40B4-BE49-F238E27FC236}">
                <a16:creationId xmlns:a16="http://schemas.microsoft.com/office/drawing/2014/main" id="{8E260E54-4985-4C50-817D-C85BDF65F5D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GPU 실측이 없다는 것이 막는 것과 막지 않는 것</a:t>
            </a:r>
            <a:endParaRPr sz="3000"/>
          </a:p>
        </p:txBody>
      </p:sp>
      <p:sp>
        <p:nvSpPr>
          <p:cNvPr id="5" name="STC-13-status-label">
            <a:extLst xmlns:a="http://schemas.openxmlformats.org/drawingml/2006/main">
              <a:ext uri="{FF2B5EF4-FFF2-40B4-BE49-F238E27FC236}">
                <a16:creationId xmlns:a16="http://schemas.microsoft.com/office/drawing/2014/main" id="{76CEFCAB-90F8-4FF1-91A9-495F4B23416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본서 판정</a:t>
            </a:r>
            <a:endParaRPr sz="1000"/>
          </a:p>
        </p:txBody>
      </p:sp>
      <p:sp>
        <p:nvSpPr>
          <p:cNvPr id="6" name="STC-13-status-rule">
            <a:extLst xmlns:a="http://schemas.openxmlformats.org/drawingml/2006/main">
              <a:ext uri="{FF2B5EF4-FFF2-40B4-BE49-F238E27FC236}">
                <a16:creationId xmlns:a16="http://schemas.microsoft.com/office/drawing/2014/main" id="{07360112-59F1-4B26-BA92-7088E3FD40C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13-footer-rule">
            <a:extLst xmlns:a="http://schemas.openxmlformats.org/drawingml/2006/main">
              <a:ext uri="{FF2B5EF4-FFF2-40B4-BE49-F238E27FC236}">
                <a16:creationId xmlns:a16="http://schemas.microsoft.com/office/drawing/2014/main" id="{26DC731C-F3A6-48D1-B411-9B2CD636969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3-source-footer">
            <a:extLst xmlns:a="http://schemas.openxmlformats.org/drawingml/2006/main">
              <a:ext uri="{FF2B5EF4-FFF2-40B4-BE49-F238E27FC236}">
                <a16:creationId xmlns:a16="http://schemas.microsoft.com/office/drawing/2014/main" id="{F8DE0C07-9BB3-4619-B392-5FCFC17ACBE2}"/>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ch30 §30.3.1 · 판정 2</a:t>
            </a:r>
            <a:endParaRPr sz="850"/>
          </a:p>
        </p:txBody>
      </p:sp>
      <p:sp>
        <p:nvSpPr>
          <p:cNvPr id="9" name="STC-13-page-number">
            <a:extLst xmlns:a="http://schemas.openxmlformats.org/drawingml/2006/main">
              <a:ext uri="{FF2B5EF4-FFF2-40B4-BE49-F238E27FC236}">
                <a16:creationId xmlns:a16="http://schemas.microsoft.com/office/drawing/2014/main" id="{77A42865-7B64-4DDF-99E9-C4F94EB652F3}"/>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115</a:t>
            </a:r>
            <a:endParaRPr sz="850"/>
          </a:p>
        </p:txBody>
      </p:sp>
      <p:sp>
        <p:nvSpPr>
          <p:cNvPr id="11" name="STC-13-data-layer-0">
            <a:extLst xmlns:a="http://schemas.openxmlformats.org/drawingml/2006/main">
              <a:ext uri="{FF2B5EF4-FFF2-40B4-BE49-F238E27FC236}">
                <a16:creationId xmlns:a16="http://schemas.microsoft.com/office/drawing/2014/main" id="{E5BBE619-AB19-42FA-8122-D61948B604E8}"/>
              </a:ext>
            </a:extLst>
          </p:cNvPr>
          <p:cNvSpPr>
            <a:spLocks xmlns:a="http://schemas.openxmlformats.org/drawingml/2006/main" noGrp="1"/>
          </p:cNvSpPr>
          <p:nvPr/>
        </p:nvSpPr>
        <p:spPr>
          <a:xfrm xmlns:a="http://schemas.openxmlformats.org/drawingml/2006/main">
            <a:off x="1618488" y="1664208"/>
            <a:ext cx="8961120" cy="566928"/>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12" name="STC-13-data-label-0">
            <a:extLst xmlns:a="http://schemas.openxmlformats.org/drawingml/2006/main">
              <a:ext uri="{FF2B5EF4-FFF2-40B4-BE49-F238E27FC236}">
                <a16:creationId xmlns:a16="http://schemas.microsoft.com/office/drawing/2014/main" id="{FDF9C9BA-3329-45E9-ABC4-2B36508291DA}"/>
              </a:ext>
            </a:extLst>
          </p:cNvPr>
          <p:cNvSpPr>
            <a:spLocks xmlns:a="http://schemas.openxmlformats.org/drawingml/2006/main" noGrp="1"/>
          </p:cNvSpPr>
          <p:nvPr/>
        </p:nvSpPr>
        <p:spPr>
          <a:xfrm xmlns:a="http://schemas.openxmlformats.org/drawingml/2006/main">
            <a:off x="1783080" y="1828800"/>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FFFFFF"/>
                </a:solidFill>
                <a:latin typeface="Noto Sans Mono CJK KR"/>
                <a:ea typeface="Noto Sans Mono CJK KR"/>
                <a:cs typeface="Noto Sans Mono CJK KR"/>
              </a:rPr>
              <a:t>막는다 ①</a:t>
            </a:r>
            <a:endParaRPr sz="1050"/>
          </a:p>
        </p:txBody>
      </p:sp>
      <p:sp>
        <p:nvSpPr>
          <p:cNvPr id="13" name="STC-13-data-body-0">
            <a:extLst xmlns:a="http://schemas.openxmlformats.org/drawingml/2006/main">
              <a:ext uri="{FF2B5EF4-FFF2-40B4-BE49-F238E27FC236}">
                <a16:creationId xmlns:a16="http://schemas.microsoft.com/office/drawing/2014/main" id="{34676F1F-A035-47A9-9C53-7C294D97CEF1}"/>
              </a:ext>
            </a:extLst>
          </p:cNvPr>
          <p:cNvSpPr>
            <a:spLocks xmlns:a="http://schemas.openxmlformats.org/drawingml/2006/main" noGrp="1"/>
          </p:cNvSpPr>
          <p:nvPr/>
        </p:nvSpPr>
        <p:spPr>
          <a:xfrm xmlns:a="http://schemas.openxmlformats.org/drawingml/2006/main">
            <a:off x="3401568" y="1755648"/>
            <a:ext cx="69951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FFFFFF"/>
                </a:solidFill>
                <a:latin typeface="Noto Sans CJK KR"/>
                <a:ea typeface="Noto Sans CJK KR"/>
                <a:cs typeface="Noto Sans CJK KR"/>
              </a:rPr>
              <a:t>절대 지연과 처리량. 몇 ms인지 말할 수 없다</a:t>
            </a:r>
            <a:endParaRPr sz="1450"/>
          </a:p>
        </p:txBody>
      </p:sp>
      <p:sp>
        <p:nvSpPr>
          <p:cNvPr id="14" name="STC-13-data-layer-1">
            <a:extLst xmlns:a="http://schemas.openxmlformats.org/drawingml/2006/main">
              <a:ext uri="{FF2B5EF4-FFF2-40B4-BE49-F238E27FC236}">
                <a16:creationId xmlns:a16="http://schemas.microsoft.com/office/drawing/2014/main" id="{2C7AD258-BAEB-4994-96A5-F1AB29FB68DF}"/>
              </a:ext>
            </a:extLst>
          </p:cNvPr>
          <p:cNvSpPr>
            <a:spLocks xmlns:a="http://schemas.openxmlformats.org/drawingml/2006/main" noGrp="1"/>
          </p:cNvSpPr>
          <p:nvPr/>
        </p:nvSpPr>
        <p:spPr>
          <a:xfrm xmlns:a="http://schemas.openxmlformats.org/drawingml/2006/main">
            <a:off x="2258568" y="2450592"/>
            <a:ext cx="7680960" cy="566928"/>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15" name="STC-13-data-label-1">
            <a:extLst xmlns:a="http://schemas.openxmlformats.org/drawingml/2006/main">
              <a:ext uri="{FF2B5EF4-FFF2-40B4-BE49-F238E27FC236}">
                <a16:creationId xmlns:a16="http://schemas.microsoft.com/office/drawing/2014/main" id="{02CDF8C0-80BF-43B8-B0F1-3E7D91CAE3C2}"/>
              </a:ext>
            </a:extLst>
          </p:cNvPr>
          <p:cNvSpPr>
            <a:spLocks xmlns:a="http://schemas.openxmlformats.org/drawingml/2006/main" noGrp="1"/>
          </p:cNvSpPr>
          <p:nvPr/>
        </p:nvSpPr>
        <p:spPr>
          <a:xfrm xmlns:a="http://schemas.openxmlformats.org/drawingml/2006/main">
            <a:off x="2423160" y="2615184"/>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F6B63"/>
                </a:solidFill>
                <a:latin typeface="Noto Sans Mono CJK KR"/>
                <a:ea typeface="Noto Sans Mono CJK KR"/>
                <a:cs typeface="Noto Sans Mono CJK KR"/>
              </a:rPr>
              <a:t>막는다 ②</a:t>
            </a:r>
            <a:endParaRPr sz="1050"/>
          </a:p>
        </p:txBody>
      </p:sp>
      <p:sp>
        <p:nvSpPr>
          <p:cNvPr id="16" name="STC-13-data-body-1">
            <a:extLst xmlns:a="http://schemas.openxmlformats.org/drawingml/2006/main">
              <a:ext uri="{FF2B5EF4-FFF2-40B4-BE49-F238E27FC236}">
                <a16:creationId xmlns:a16="http://schemas.microsoft.com/office/drawing/2014/main" id="{BC62C31C-D212-42ED-AE30-842B56196CD1}"/>
              </a:ext>
            </a:extLst>
          </p:cNvPr>
          <p:cNvSpPr>
            <a:spLocks xmlns:a="http://schemas.openxmlformats.org/drawingml/2006/main" noGrp="1"/>
          </p:cNvSpPr>
          <p:nvPr/>
        </p:nvSpPr>
        <p:spPr>
          <a:xfrm xmlns:a="http://schemas.openxmlformats.org/drawingml/2006/main">
            <a:off x="4041648" y="2542032"/>
            <a:ext cx="5715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450" b="1">
                <a:solidFill>
                  <a:srgbClr val="17191C"/>
                </a:solidFill>
                <a:latin typeface="Noto Sans CJK KR"/>
                <a:ea typeface="Noto Sans CJK KR"/>
                <a:cs typeface="Noto Sans CJK KR"/>
              </a:rPr>
              <a:t>실제 스택에서의 병목 순위</a:t>
            </a:r>
            <a:endParaRPr sz="1450"/>
          </a:p>
        </p:txBody>
      </p:sp>
      <p:sp>
        <p:nvSpPr>
          <p:cNvPr id="17" name="STC-13-data-layer-2">
            <a:extLst xmlns:a="http://schemas.openxmlformats.org/drawingml/2006/main">
              <a:ext uri="{FF2B5EF4-FFF2-40B4-BE49-F238E27FC236}">
                <a16:creationId xmlns:a16="http://schemas.microsoft.com/office/drawing/2014/main" id="{D6FAD0EE-091C-49BC-AC96-FF7C3FD7BF30}"/>
              </a:ext>
            </a:extLst>
          </p:cNvPr>
          <p:cNvSpPr>
            <a:spLocks xmlns:a="http://schemas.openxmlformats.org/drawingml/2006/main" noGrp="1"/>
          </p:cNvSpPr>
          <p:nvPr/>
        </p:nvSpPr>
        <p:spPr>
          <a:xfrm xmlns:a="http://schemas.openxmlformats.org/drawingml/2006/main">
            <a:off x="2898648" y="3236976"/>
            <a:ext cx="6400800" cy="566928"/>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8" name="STC-13-data-label-2">
            <a:extLst xmlns:a="http://schemas.openxmlformats.org/drawingml/2006/main">
              <a:ext uri="{FF2B5EF4-FFF2-40B4-BE49-F238E27FC236}">
                <a16:creationId xmlns:a16="http://schemas.microsoft.com/office/drawing/2014/main" id="{AA018C36-C849-429F-A2CB-A09888ED5181}"/>
              </a:ext>
            </a:extLst>
          </p:cNvPr>
          <p:cNvSpPr>
            <a:spLocks xmlns:a="http://schemas.openxmlformats.org/drawingml/2006/main" noGrp="1"/>
          </p:cNvSpPr>
          <p:nvPr/>
        </p:nvSpPr>
        <p:spPr>
          <a:xfrm xmlns:a="http://schemas.openxmlformats.org/drawingml/2006/main">
            <a:off x="3063240" y="3401568"/>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44E8A"/>
                </a:solidFill>
                <a:latin typeface="Noto Sans Mono CJK KR"/>
                <a:ea typeface="Noto Sans Mono CJK KR"/>
                <a:cs typeface="Noto Sans Mono CJK KR"/>
              </a:rPr>
              <a:t>막는다 ③</a:t>
            </a:r>
            <a:endParaRPr sz="1050"/>
          </a:p>
        </p:txBody>
      </p:sp>
      <p:sp>
        <p:nvSpPr>
          <p:cNvPr id="19" name="STC-13-data-body-2">
            <a:extLst xmlns:a="http://schemas.openxmlformats.org/drawingml/2006/main">
              <a:ext uri="{FF2B5EF4-FFF2-40B4-BE49-F238E27FC236}">
                <a16:creationId xmlns:a16="http://schemas.microsoft.com/office/drawing/2014/main" id="{41815879-EDCF-477A-A120-7092A00F5988}"/>
              </a:ext>
            </a:extLst>
          </p:cNvPr>
          <p:cNvSpPr>
            <a:spLocks xmlns:a="http://schemas.openxmlformats.org/drawingml/2006/main" noGrp="1"/>
          </p:cNvSpPr>
          <p:nvPr/>
        </p:nvSpPr>
        <p:spPr>
          <a:xfrm xmlns:a="http://schemas.openxmlformats.org/drawingml/2006/main">
            <a:off x="4681728" y="3328416"/>
            <a:ext cx="4434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품질과 비용의 실제 교환 곡선</a:t>
            </a:r>
            <a:endParaRPr sz="1350"/>
          </a:p>
        </p:txBody>
      </p:sp>
      <p:sp>
        <p:nvSpPr>
          <p:cNvPr id="20" name="STC-13-data-layer-3">
            <a:extLst xmlns:a="http://schemas.openxmlformats.org/drawingml/2006/main">
              <a:ext uri="{FF2B5EF4-FFF2-40B4-BE49-F238E27FC236}">
                <a16:creationId xmlns:a16="http://schemas.microsoft.com/office/drawing/2014/main" id="{FBD0C7D7-10DE-463B-9217-97D247B03C72}"/>
              </a:ext>
            </a:extLst>
          </p:cNvPr>
          <p:cNvSpPr>
            <a:spLocks xmlns:a="http://schemas.openxmlformats.org/drawingml/2006/main" noGrp="1"/>
          </p:cNvSpPr>
          <p:nvPr/>
        </p:nvSpPr>
        <p:spPr>
          <a:xfrm xmlns:a="http://schemas.openxmlformats.org/drawingml/2006/main">
            <a:off x="3538728" y="4023360"/>
            <a:ext cx="5120640" cy="566928"/>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13-data-label-3">
            <a:extLst xmlns:a="http://schemas.openxmlformats.org/drawingml/2006/main">
              <a:ext uri="{FF2B5EF4-FFF2-40B4-BE49-F238E27FC236}">
                <a16:creationId xmlns:a16="http://schemas.microsoft.com/office/drawing/2014/main" id="{8DA5B66F-AB6C-424C-B38E-EC87549B7458}"/>
              </a:ext>
            </a:extLst>
          </p:cNvPr>
          <p:cNvSpPr>
            <a:spLocks xmlns:a="http://schemas.openxmlformats.org/drawingml/2006/main" noGrp="1"/>
          </p:cNvSpPr>
          <p:nvPr/>
        </p:nvSpPr>
        <p:spPr>
          <a:xfrm xmlns:a="http://schemas.openxmlformats.org/drawingml/2006/main">
            <a:off x="3703320" y="4187952"/>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안 막는다</a:t>
            </a:r>
            <a:endParaRPr sz="1050"/>
          </a:p>
        </p:txBody>
      </p:sp>
      <p:sp>
        <p:nvSpPr>
          <p:cNvPr id="22" name="STC-13-data-body-3">
            <a:extLst xmlns:a="http://schemas.openxmlformats.org/drawingml/2006/main">
              <a:ext uri="{FF2B5EF4-FFF2-40B4-BE49-F238E27FC236}">
                <a16:creationId xmlns:a16="http://schemas.microsoft.com/office/drawing/2014/main" id="{B07BDB02-D4B0-48AF-8A53-11814C8CDC53}"/>
              </a:ext>
            </a:extLst>
          </p:cNvPr>
          <p:cNvSpPr>
            <a:spLocks xmlns:a="http://schemas.openxmlformats.org/drawingml/2006/main" noGrp="1"/>
          </p:cNvSpPr>
          <p:nvPr/>
        </p:nvSpPr>
        <p:spPr>
          <a:xfrm xmlns:a="http://schemas.openxmlformats.org/drawingml/2006/main">
            <a:off x="5321808" y="41148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부재·구조 분류·식의 성질·자릿수·순서·부호</a:t>
            </a:r>
            <a:endParaRPr sz="1350"/>
          </a:p>
        </p:txBody>
      </p:sp>
      <p:sp>
        <p:nvSpPr>
          <p:cNvPr id="23" name="STC-13-data-layer-4">
            <a:extLst xmlns:a="http://schemas.openxmlformats.org/drawingml/2006/main">
              <a:ext uri="{FF2B5EF4-FFF2-40B4-BE49-F238E27FC236}">
                <a16:creationId xmlns:a16="http://schemas.microsoft.com/office/drawing/2014/main" id="{E60963C1-8D59-4CC2-B99B-C4EA44523D22}"/>
              </a:ext>
            </a:extLst>
          </p:cNvPr>
          <p:cNvSpPr>
            <a:spLocks xmlns:a="http://schemas.openxmlformats.org/drawingml/2006/main" noGrp="1"/>
          </p:cNvSpPr>
          <p:nvPr/>
        </p:nvSpPr>
        <p:spPr>
          <a:xfrm xmlns:a="http://schemas.openxmlformats.org/drawingml/2006/main">
            <a:off x="4178808" y="4809744"/>
            <a:ext cx="3840480" cy="566928"/>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24" name="STC-13-data-label-4">
            <a:extLst xmlns:a="http://schemas.openxmlformats.org/drawingml/2006/main">
              <a:ext uri="{FF2B5EF4-FFF2-40B4-BE49-F238E27FC236}">
                <a16:creationId xmlns:a16="http://schemas.microsoft.com/office/drawing/2014/main" id="{94E567B2-40CF-45FA-B9F9-A1B39A99C7FF}"/>
              </a:ext>
            </a:extLst>
          </p:cNvPr>
          <p:cNvSpPr>
            <a:spLocks xmlns:a="http://schemas.openxmlformats.org/drawingml/2006/main" noGrp="1"/>
          </p:cNvSpPr>
          <p:nvPr/>
        </p:nvSpPr>
        <p:spPr>
          <a:xfrm xmlns:a="http://schemas.openxmlformats.org/drawingml/2006/main">
            <a:off x="4343400" y="4974336"/>
            <a:ext cx="16459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59616A"/>
                </a:solidFill>
                <a:latin typeface="Noto Sans Mono CJK KR"/>
                <a:ea typeface="Noto Sans Mono CJK KR"/>
                <a:cs typeface="Noto Sans Mono CJK KR"/>
              </a:rPr>
              <a:t>대가</a:t>
            </a:r>
            <a:endParaRPr sz="1050"/>
          </a:p>
        </p:txBody>
      </p:sp>
      <p:sp>
        <p:nvSpPr>
          <p:cNvPr id="25" name="STC-13-data-body-4">
            <a:extLst xmlns:a="http://schemas.openxmlformats.org/drawingml/2006/main">
              <a:ext uri="{FF2B5EF4-FFF2-40B4-BE49-F238E27FC236}">
                <a16:creationId xmlns:a16="http://schemas.microsoft.com/office/drawing/2014/main" id="{2C57AF49-F2CA-4C91-AE9F-A85EF45878C8}"/>
              </a:ext>
            </a:extLst>
          </p:cNvPr>
          <p:cNvSpPr>
            <a:spLocks xmlns:a="http://schemas.openxmlformats.org/drawingml/2006/main" noGrp="1"/>
          </p:cNvSpPr>
          <p:nvPr/>
        </p:nvSpPr>
        <p:spPr>
          <a:xfrm xmlns:a="http://schemas.openxmlformats.org/drawingml/2006/main">
            <a:off x="5961888" y="4901184"/>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50" b="1">
                <a:solidFill>
                  <a:srgbClr val="17191C"/>
                </a:solidFill>
                <a:latin typeface="Noto Sans CJK KR"/>
                <a:ea typeface="Noto Sans CJK KR"/>
                <a:cs typeface="Noto Sans CJK KR"/>
              </a:rPr>
              <a:t>웜 계층 기회는 자릿수 논증으로만 서 있다</a:t>
            </a:r>
            <a:endParaRPr sz="1350"/>
          </a:p>
        </p:txBody>
      </p:sp>
      <p:sp>
        <p:nvSpPr>
          <p:cNvPr id="26" name="STC-13-data-warning">
            <a:extLst xmlns:a="http://schemas.openxmlformats.org/drawingml/2006/main">
              <a:ext uri="{FF2B5EF4-FFF2-40B4-BE49-F238E27FC236}">
                <a16:creationId xmlns:a16="http://schemas.microsoft.com/office/drawing/2014/main" id="{FE09EF05-9A9A-4209-946A-2FFD878EDF5A}"/>
              </a:ext>
            </a:extLst>
          </p:cNvPr>
          <p:cNvSpPr>
            <a:spLocks xmlns:a="http://schemas.openxmlformats.org/drawingml/2006/main" noGrp="1"/>
          </p:cNvSpPr>
          <p:nvPr/>
        </p:nvSpPr>
        <p:spPr>
          <a:xfrm xmlns:a="http://schemas.openxmlformats.org/drawingml/2006/main">
            <a:off x="2286000" y="5623560"/>
            <a:ext cx="7589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800" b="1">
                <a:solidFill>
                  <a:srgbClr val="9A442D"/>
                </a:solidFill>
                <a:latin typeface="Noto Sans CJK KR"/>
                <a:ea typeface="Noto Sans CJK KR"/>
                <a:cs typeface="Noto Sans CJK KR"/>
              </a:rPr>
              <a:t>절대 지연과 처리량. 몇 ms인지 말할 수 없다</a:t>
            </a:r>
            <a:endParaRPr sz="1800"/>
          </a:p>
        </p:txBody>
      </p:sp>
    </p:spTree>
    <p:extLst>
      <p:ext uri="{BB962C8B-B14F-4D97-AF65-F5344CB8AC3E}">
        <p14:creationId xmlns:p14="http://schemas.microsoft.com/office/powerpoint/2010/main" val="877466157"/>
      </p:ext>
    </p:extLst>
  </p:cSld>
</p:sld>
</file>

<file path=ppt/slides/slide11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6-section">
            <a:extLst xmlns:a="http://schemas.openxmlformats.org/drawingml/2006/main">
              <a:ext uri="{FF2B5EF4-FFF2-40B4-BE49-F238E27FC236}">
                <a16:creationId xmlns:a16="http://schemas.microsoft.com/office/drawing/2014/main" id="{C6CFE6F9-30C3-4ACE-B77D-C99D68BA58F5}"/>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LIMITS</a:t>
            </a:r>
            <a:endParaRPr sz="950"/>
          </a:p>
        </p:txBody>
      </p:sp>
      <p:sp>
        <p:nvSpPr>
          <p:cNvPr id="3" name="STC-26-slide-id">
            <a:extLst xmlns:a="http://schemas.openxmlformats.org/drawingml/2006/main">
              <a:ext uri="{FF2B5EF4-FFF2-40B4-BE49-F238E27FC236}">
                <a16:creationId xmlns:a16="http://schemas.microsoft.com/office/drawing/2014/main" id="{FBF29D78-508E-4E7A-988A-2935AC88B6A1}"/>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STC-116</a:t>
            </a:r>
            <a:endParaRPr sz="950"/>
          </a:p>
        </p:txBody>
      </p:sp>
      <p:sp>
        <p:nvSpPr>
          <p:cNvPr id="4" name="STC-26-headline">
            <a:extLst xmlns:a="http://schemas.openxmlformats.org/drawingml/2006/main">
              <a:ext uri="{FF2B5EF4-FFF2-40B4-BE49-F238E27FC236}">
                <a16:creationId xmlns:a16="http://schemas.microsoft.com/office/drawing/2014/main" id="{732EBE89-199D-4FA8-A127-19E537ABF3B3}"/>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이 발표가 가장 빨리 낡는 방식은 반박이 아니라 인쇄다</a:t>
            </a:r>
            <a:endParaRPr sz="3000"/>
          </a:p>
        </p:txBody>
      </p:sp>
      <p:sp>
        <p:nvSpPr>
          <p:cNvPr id="5" name="STC-26-status-label">
            <a:extLst xmlns:a="http://schemas.openxmlformats.org/drawingml/2006/main">
              <a:ext uri="{FF2B5EF4-FFF2-40B4-BE49-F238E27FC236}">
                <a16:creationId xmlns:a16="http://schemas.microsoft.com/office/drawing/2014/main" id="{DFBC3A45-EA4A-4C81-847B-98DDEA347603}"/>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본서 판정</a:t>
            </a:r>
            <a:endParaRPr sz="1000"/>
          </a:p>
        </p:txBody>
      </p:sp>
      <p:sp>
        <p:nvSpPr>
          <p:cNvPr id="6" name="STC-26-status-rule">
            <a:extLst xmlns:a="http://schemas.openxmlformats.org/drawingml/2006/main">
              <a:ext uri="{FF2B5EF4-FFF2-40B4-BE49-F238E27FC236}">
                <a16:creationId xmlns:a16="http://schemas.microsoft.com/office/drawing/2014/main" id="{D4374441-A440-47AE-BAFC-C99186B9EF6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26-footer-rule">
            <a:extLst xmlns:a="http://schemas.openxmlformats.org/drawingml/2006/main">
              <a:ext uri="{FF2B5EF4-FFF2-40B4-BE49-F238E27FC236}">
                <a16:creationId xmlns:a16="http://schemas.microsoft.com/office/drawing/2014/main" id="{D17054CE-E03B-4746-9386-8812E6B0F9F5}"/>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6-source-footer">
            <a:extLst xmlns:a="http://schemas.openxmlformats.org/drawingml/2006/main">
              <a:ext uri="{FF2B5EF4-FFF2-40B4-BE49-F238E27FC236}">
                <a16:creationId xmlns:a16="http://schemas.microsoft.com/office/drawing/2014/main" id="{27C2276F-F54F-4D86-9622-75C6D85DAA50}"/>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ch30 §30.3.4 표 30-2 · 판정 5</a:t>
            </a:r>
            <a:endParaRPr sz="850"/>
          </a:p>
        </p:txBody>
      </p:sp>
      <p:sp>
        <p:nvSpPr>
          <p:cNvPr id="9" name="STC-26-page-number">
            <a:extLst xmlns:a="http://schemas.openxmlformats.org/drawingml/2006/main">
              <a:ext uri="{FF2B5EF4-FFF2-40B4-BE49-F238E27FC236}">
                <a16:creationId xmlns:a16="http://schemas.microsoft.com/office/drawing/2014/main" id="{514099CF-2FF1-439D-8114-7438C7271AB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116</a:t>
            </a:r>
            <a:endParaRPr sz="850"/>
          </a:p>
        </p:txBody>
      </p:sp>
      <p:sp>
        <p:nvSpPr>
          <p:cNvPr id="11" name="STC-26-con-capture">
            <a:extLst xmlns:a="http://schemas.openxmlformats.org/drawingml/2006/main">
              <a:ext uri="{FF2B5EF4-FFF2-40B4-BE49-F238E27FC236}">
                <a16:creationId xmlns:a16="http://schemas.microsoft.com/office/drawing/2014/main" id="{DD5D5F7C-59BF-4487-95AC-7D7853786246}"/>
              </a:ext>
            </a:extLst>
          </p:cNvPr>
          <p:cNvSpPr>
            <a:spLocks xmlns:a="http://schemas.openxmlformats.org/drawingml/2006/main" noGrp="1"/>
          </p:cNvSpPr>
          <p:nvPr/>
        </p:nvSpPr>
        <p:spPr>
          <a:xfrm xmlns:a="http://schemas.openxmlformats.org/drawingml/2006/main">
            <a:off x="822960" y="1828800"/>
            <a:ext cx="13258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N_q 분포</a:t>
            </a:r>
            <a:endParaRPr sz="1200"/>
          </a:p>
        </p:txBody>
      </p:sp>
      <p:sp>
        <p:nvSpPr>
          <p:cNvPr id="12" name="STC-26-con-transform">
            <a:extLst xmlns:a="http://schemas.openxmlformats.org/drawingml/2006/main">
              <a:ext uri="{FF2B5EF4-FFF2-40B4-BE49-F238E27FC236}">
                <a16:creationId xmlns:a16="http://schemas.microsoft.com/office/drawing/2014/main" id="{AD254F05-8266-4B86-A230-70C8E0018E50}"/>
              </a:ext>
            </a:extLst>
          </p:cNvPr>
          <p:cNvSpPr>
            <a:spLocks xmlns:a="http://schemas.openxmlformats.org/drawingml/2006/main" noGrp="1"/>
          </p:cNvSpPr>
          <p:nvPr/>
        </p:nvSpPr>
        <p:spPr>
          <a:xfrm xmlns:a="http://schemas.openxmlformats.org/drawingml/2006/main">
            <a:off x="3273552" y="1828800"/>
            <a:ext cx="15544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사용자당 바이트</a:t>
            </a:r>
            <a:endParaRPr sz="1200"/>
          </a:p>
        </p:txBody>
      </p:sp>
      <p:sp>
        <p:nvSpPr>
          <p:cNvPr id="13" name="STC-26-con-verify">
            <a:extLst xmlns:a="http://schemas.openxmlformats.org/drawingml/2006/main">
              <a:ext uri="{FF2B5EF4-FFF2-40B4-BE49-F238E27FC236}">
                <a16:creationId xmlns:a16="http://schemas.microsoft.com/office/drawing/2014/main" id="{8E44B935-058D-4160-A101-3846F7FE6B11}"/>
              </a:ext>
            </a:extLst>
          </p:cNvPr>
          <p:cNvSpPr>
            <a:spLocks xmlns:a="http://schemas.openxmlformats.org/drawingml/2006/main" noGrp="1"/>
          </p:cNvSpPr>
          <p:nvPr/>
        </p:nvSpPr>
        <p:spPr>
          <a:xfrm xmlns:a="http://schemas.openxmlformats.org/drawingml/2006/main">
            <a:off x="6016752" y="1828800"/>
            <a:ext cx="11887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prefix cache</a:t>
            </a:r>
            <a:endParaRPr sz="1200"/>
          </a:p>
        </p:txBody>
      </p:sp>
      <p:sp>
        <p:nvSpPr>
          <p:cNvPr id="14" name="STC-26-con-reuse">
            <a:extLst xmlns:a="http://schemas.openxmlformats.org/drawingml/2006/main">
              <a:ext uri="{FF2B5EF4-FFF2-40B4-BE49-F238E27FC236}">
                <a16:creationId xmlns:a16="http://schemas.microsoft.com/office/drawing/2014/main" id="{FE44A74D-7473-4EAE-B64F-7D1B198738BB}"/>
              </a:ext>
            </a:extLst>
          </p:cNvPr>
          <p:cNvSpPr>
            <a:spLocks xmlns:a="http://schemas.openxmlformats.org/drawingml/2006/main" noGrp="1"/>
          </p:cNvSpPr>
          <p:nvPr/>
        </p:nvSpPr>
        <p:spPr>
          <a:xfrm xmlns:a="http://schemas.openxmlformats.org/drawingml/2006/main">
            <a:off x="8503920" y="1828800"/>
            <a:ext cx="1965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7191C"/>
                </a:solidFill>
                <a:latin typeface="Noto Sans Mono CJK KR"/>
                <a:ea typeface="Noto Sans Mono CJK KR"/>
                <a:cs typeface="Noto Sans Mono CJK KR"/>
              </a:rPr>
              <a:t>체크포인트 diff</a:t>
            </a:r>
            <a:endParaRPr sz="1200"/>
          </a:p>
        </p:txBody>
      </p:sp>
      <p:sp>
        <p:nvSpPr>
          <p:cNvPr id="15" name="STC-26-con-line">
            <a:extLst xmlns:a="http://schemas.openxmlformats.org/drawingml/2006/main">
              <a:ext uri="{FF2B5EF4-FFF2-40B4-BE49-F238E27FC236}">
                <a16:creationId xmlns:a16="http://schemas.microsoft.com/office/drawing/2014/main" id="{6B9F33DC-455B-43F8-B927-A5FEE8FB6298}"/>
              </a:ext>
            </a:extLst>
          </p:cNvPr>
          <p:cNvSpPr>
            <a:spLocks xmlns:a="http://schemas.openxmlformats.org/drawingml/2006/main" noGrp="1"/>
          </p:cNvSpPr>
          <p:nvPr/>
        </p:nvSpPr>
        <p:spPr>
          <a:xfrm xmlns:a="http://schemas.openxmlformats.org/drawingml/2006/main">
            <a:off x="1051560" y="2487168"/>
            <a:ext cx="9281160" cy="0"/>
          </a:xfrm>
          <a:prstGeom xmlns:a="http://schemas.openxmlformats.org/drawingml/2006/main" prst="line">
            <a:avLst/>
          </a:prstGeom>
          <a:noFill xmlns:a="http://schemas.openxmlformats.org/drawingml/2006/main"/>
          <a:ln xmlns:a="http://schemas.openxmlformats.org/drawingml/2006/main" w="25400">
            <a:solidFill>
              <a:srgbClr val="17191C"/>
            </a:solidFill>
            <a:prstDash val="solid"/>
            <a:tailEnd type="triangle"/>
          </a:ln>
        </p:spPr>
      </p:sp>
      <p:sp>
        <p:nvSpPr>
          <p:cNvPr id="16" name="STC-26-con-dot-0">
            <a:extLst xmlns:a="http://schemas.openxmlformats.org/drawingml/2006/main">
              <a:ext uri="{FF2B5EF4-FFF2-40B4-BE49-F238E27FC236}">
                <a16:creationId xmlns:a16="http://schemas.microsoft.com/office/drawing/2014/main" id="{18E9E8A9-F67A-4463-9047-709E74A28F43}"/>
              </a:ext>
            </a:extLst>
          </p:cNvPr>
          <p:cNvSpPr>
            <a:spLocks xmlns:a="http://schemas.openxmlformats.org/drawingml/2006/main" noGrp="1"/>
          </p:cNvSpPr>
          <p:nvPr/>
        </p:nvSpPr>
        <p:spPr>
          <a:xfrm xmlns:a="http://schemas.openxmlformats.org/drawingml/2006/main">
            <a:off x="1143000" y="2267712"/>
            <a:ext cx="438912" cy="438912"/>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7" name="STC-26-con-dot-1">
            <a:extLst xmlns:a="http://schemas.openxmlformats.org/drawingml/2006/main">
              <a:ext uri="{FF2B5EF4-FFF2-40B4-BE49-F238E27FC236}">
                <a16:creationId xmlns:a16="http://schemas.microsoft.com/office/drawing/2014/main" id="{47DAFBCE-CC13-44DF-BE97-33289CD5FCA2}"/>
              </a:ext>
            </a:extLst>
          </p:cNvPr>
          <p:cNvSpPr>
            <a:spLocks xmlns:a="http://schemas.openxmlformats.org/drawingml/2006/main" noGrp="1"/>
          </p:cNvSpPr>
          <p:nvPr/>
        </p:nvSpPr>
        <p:spPr>
          <a:xfrm xmlns:a="http://schemas.openxmlformats.org/drawingml/2006/main">
            <a:off x="3749040" y="2267712"/>
            <a:ext cx="438912" cy="438912"/>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8" name="STC-26-con-dot-2">
            <a:extLst xmlns:a="http://schemas.openxmlformats.org/drawingml/2006/main">
              <a:ext uri="{FF2B5EF4-FFF2-40B4-BE49-F238E27FC236}">
                <a16:creationId xmlns:a16="http://schemas.microsoft.com/office/drawing/2014/main" id="{DA396941-490E-4E1D-8092-36FE24F9034E}"/>
              </a:ext>
            </a:extLst>
          </p:cNvPr>
          <p:cNvSpPr>
            <a:spLocks xmlns:a="http://schemas.openxmlformats.org/drawingml/2006/main" noGrp="1"/>
          </p:cNvSpPr>
          <p:nvPr/>
        </p:nvSpPr>
        <p:spPr>
          <a:xfrm xmlns:a="http://schemas.openxmlformats.org/drawingml/2006/main">
            <a:off x="6400800" y="2267712"/>
            <a:ext cx="438912" cy="438912"/>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19" name="STC-26-con-dot-3">
            <a:extLst xmlns:a="http://schemas.openxmlformats.org/drawingml/2006/main">
              <a:ext uri="{FF2B5EF4-FFF2-40B4-BE49-F238E27FC236}">
                <a16:creationId xmlns:a16="http://schemas.microsoft.com/office/drawing/2014/main" id="{29D6F485-EAC6-4AD2-9692-7D423798FC2C}"/>
              </a:ext>
            </a:extLst>
          </p:cNvPr>
          <p:cNvSpPr>
            <a:spLocks xmlns:a="http://schemas.openxmlformats.org/drawingml/2006/main" noGrp="1"/>
          </p:cNvSpPr>
          <p:nvPr/>
        </p:nvSpPr>
        <p:spPr>
          <a:xfrm xmlns:a="http://schemas.openxmlformats.org/drawingml/2006/main">
            <a:off x="9144000" y="2267712"/>
            <a:ext cx="438912" cy="438912"/>
          </a:xfrm>
          <a:prstGeom xmlns:a="http://schemas.openxmlformats.org/drawingml/2006/main" prst="ellipse">
            <a:avLst/>
          </a:prstGeom>
          <a:solidFill xmlns:a="http://schemas.openxmlformats.org/drawingml/2006/main">
            <a:srgbClr val="17191C"/>
          </a:solidFill>
          <a:ln xmlns:a="http://schemas.openxmlformats.org/drawingml/2006/main" w="12700">
            <a:solidFill>
              <a:srgbClr val="F6F3EC"/>
            </a:solidFill>
            <a:prstDash val="solid"/>
          </a:ln>
        </p:spPr>
      </p:sp>
      <p:sp>
        <p:nvSpPr>
          <p:cNvPr id="20" name="STC-26-con-statement">
            <a:extLst xmlns:a="http://schemas.openxmlformats.org/drawingml/2006/main">
              <a:ext uri="{FF2B5EF4-FFF2-40B4-BE49-F238E27FC236}">
                <a16:creationId xmlns:a16="http://schemas.microsoft.com/office/drawing/2014/main" id="{9A706B15-F426-428F-BAE5-6F17F9D955EC}"/>
              </a:ext>
            </a:extLst>
          </p:cNvPr>
          <p:cNvSpPr>
            <a:spLocks xmlns:a="http://schemas.openxmlformats.org/drawingml/2006/main" noGrp="1"/>
          </p:cNvSpPr>
          <p:nvPr/>
        </p:nvSpPr>
        <p:spPr>
          <a:xfrm xmlns:a="http://schemas.openxmlformats.org/drawingml/2006/main">
            <a:off x="1024128" y="3163824"/>
            <a:ext cx="9829800" cy="1508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17191C"/>
                </a:solidFill>
                <a:latin typeface="Noto Serif CJK KR"/>
                <a:ea typeface="Noto Serif CJK KR"/>
                <a:cs typeface="Noto Serif CJK KR"/>
              </a:rPr>
              <a:t>새</a:t>
            </a:r>
            <a:endParaRPr sz="2500"/>
          </a:p>
          <a:p xmlns:a="http://schemas.openxmlformats.org/drawingml/2006/main">
            <a:pPr marL="0" indent="0" algn="ctr">
              <a:buNone/>
            </a:pPr>
            <a:r>
              <a:rPr sz="2500" b="1">
                <a:solidFill>
                  <a:srgbClr val="17191C"/>
                </a:solidFill>
                <a:latin typeface="Noto Serif CJK KR"/>
                <a:ea typeface="Noto Serif CJK KR"/>
                <a:cs typeface="Noto Serif CJK KR"/>
              </a:rPr>
              <a:t>방법을</a:t>
            </a:r>
            <a:endParaRPr sz="2500"/>
          </a:p>
          <a:p xmlns:a="http://schemas.openxmlformats.org/drawingml/2006/main">
            <a:pPr marL="0" indent="0" algn="ctr">
              <a:buNone/>
            </a:pPr>
            <a:r>
              <a:rPr sz="2500" b="1">
                <a:solidFill>
                  <a:srgbClr val="17191C"/>
                </a:solidFill>
                <a:latin typeface="Noto Serif CJK KR"/>
                <a:ea typeface="Noto Serif CJK KR"/>
                <a:cs typeface="Noto Serif CJK KR"/>
              </a:rPr>
              <a:t>발명할</a:t>
            </a:r>
            <a:endParaRPr sz="2500"/>
          </a:p>
          <a:p xmlns:a="http://schemas.openxmlformats.org/drawingml/2006/main">
            <a:pPr marL="0" indent="0" algn="ctr">
              <a:buNone/>
            </a:pPr>
            <a:r>
              <a:rPr sz="2500" b="1">
                <a:solidFill>
                  <a:srgbClr val="17191C"/>
                </a:solidFill>
                <a:latin typeface="Noto Serif CJK KR"/>
                <a:ea typeface="Noto Serif CJK KR"/>
                <a:cs typeface="Noto Serif CJK KR"/>
              </a:rPr>
              <a:t>필요가 없다. 이미…</a:t>
            </a:r>
            <a:endParaRPr sz="2500"/>
          </a:p>
        </p:txBody>
      </p:sp>
      <p:sp>
        <p:nvSpPr>
          <p:cNvPr id="21" name="STC-26-con-final">
            <a:extLst xmlns:a="http://schemas.openxmlformats.org/drawingml/2006/main">
              <a:ext uri="{FF2B5EF4-FFF2-40B4-BE49-F238E27FC236}">
                <a16:creationId xmlns:a16="http://schemas.microsoft.com/office/drawing/2014/main" id="{4ABA2515-68B2-48DF-B47D-A037DB747EDD}"/>
              </a:ext>
            </a:extLst>
          </p:cNvPr>
          <p:cNvSpPr>
            <a:spLocks xmlns:a="http://schemas.openxmlformats.org/drawingml/2006/main" noGrp="1"/>
          </p:cNvSpPr>
          <p:nvPr/>
        </p:nvSpPr>
        <p:spPr>
          <a:xfrm xmlns:a="http://schemas.openxmlformats.org/drawingml/2006/main">
            <a:off x="1965960" y="5175504"/>
            <a:ext cx="8229600" cy="502920"/>
          </a:xfrm>
          <a:prstGeom xmlns:a="http://schemas.openxmlformats.org/drawingml/2006/main" prst="rect">
            <a:avLst/>
          </a:prstGeom>
          <a:solidFill xmlns:a="http://schemas.openxmlformats.org/drawingml/2006/main">
            <a:srgbClr val="2F6B63"/>
          </a:solidFill>
          <a:ln xmlns:a="http://schemas.openxmlformats.org/drawingml/2006/main" w="12700">
            <a:solidFill>
              <a:srgbClr val="2F6B63"/>
            </a:solidFill>
            <a:prstDash val="solid"/>
          </a:ln>
        </p:spPr>
      </p:sp>
      <p:sp>
        <p:nvSpPr>
          <p:cNvPr id="22" name="STC-26-con-final-text">
            <a:extLst xmlns:a="http://schemas.openxmlformats.org/drawingml/2006/main">
              <a:ext uri="{FF2B5EF4-FFF2-40B4-BE49-F238E27FC236}">
                <a16:creationId xmlns:a16="http://schemas.microsoft.com/office/drawing/2014/main" id="{F8188F55-E068-4676-A7D0-1CF459C08858}"/>
              </a:ext>
            </a:extLst>
          </p:cNvPr>
          <p:cNvSpPr>
            <a:spLocks xmlns:a="http://schemas.openxmlformats.org/drawingml/2006/main" noGrp="1"/>
          </p:cNvSpPr>
          <p:nvPr/>
        </p:nvSpPr>
        <p:spPr>
          <a:xfrm xmlns:a="http://schemas.openxmlformats.org/drawingml/2006/main">
            <a:off x="2194560" y="5340096"/>
            <a:ext cx="77724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FFFFFF"/>
                </a:solidFill>
                <a:latin typeface="Noto Sans CJK KR"/>
                <a:ea typeface="Noto Sans CJK KR"/>
                <a:cs typeface="Noto Sans CJK KR"/>
              </a:rPr>
              <a:t>한 줄</a:t>
            </a:r>
            <a:endParaRPr sz="1700"/>
          </a:p>
        </p:txBody>
      </p:sp>
    </p:spTree>
    <p:extLst>
      <p:ext uri="{BB962C8B-B14F-4D97-AF65-F5344CB8AC3E}">
        <p14:creationId xmlns:p14="http://schemas.microsoft.com/office/powerpoint/2010/main" val="557935940"/>
      </p:ext>
    </p:extLst>
  </p:cSld>
</p:sld>
</file>

<file path=ppt/slides/slide11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04-section">
            <a:extLst xmlns:a="http://schemas.openxmlformats.org/drawingml/2006/main">
              <a:ext uri="{FF2B5EF4-FFF2-40B4-BE49-F238E27FC236}">
                <a16:creationId xmlns:a16="http://schemas.microsoft.com/office/drawing/2014/main" id="{A0075D85-B234-44C8-902E-101F0A3CC310}"/>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Q AND A</a:t>
            </a:r>
            <a:endParaRPr sz="950"/>
          </a:p>
        </p:txBody>
      </p:sp>
      <p:sp>
        <p:nvSpPr>
          <p:cNvPr id="3" name="STC-04-slide-id">
            <a:extLst xmlns:a="http://schemas.openxmlformats.org/drawingml/2006/main">
              <a:ext uri="{FF2B5EF4-FFF2-40B4-BE49-F238E27FC236}">
                <a16:creationId xmlns:a16="http://schemas.microsoft.com/office/drawing/2014/main" id="{B14D52AE-8297-468B-A77A-23EAE8342583}"/>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STC-117</a:t>
            </a:r>
            <a:endParaRPr sz="950"/>
          </a:p>
        </p:txBody>
      </p:sp>
      <p:sp>
        <p:nvSpPr>
          <p:cNvPr id="4" name="STC-04-headline">
            <a:extLst xmlns:a="http://schemas.openxmlformats.org/drawingml/2006/main">
              <a:ext uri="{FF2B5EF4-FFF2-40B4-BE49-F238E27FC236}">
                <a16:creationId xmlns:a16="http://schemas.microsoft.com/office/drawing/2014/main" id="{3630F132-02F2-4CE1-9E25-749167C75A9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Q&amp;A 지도 — 네 종류의 질문에 답하는 방식이 다르다</a:t>
            </a:r>
            <a:endParaRPr sz="3000"/>
          </a:p>
        </p:txBody>
      </p:sp>
      <p:sp>
        <p:nvSpPr>
          <p:cNvPr id="5" name="STC-04-status-label">
            <a:extLst xmlns:a="http://schemas.openxmlformats.org/drawingml/2006/main">
              <a:ext uri="{FF2B5EF4-FFF2-40B4-BE49-F238E27FC236}">
                <a16:creationId xmlns:a16="http://schemas.microsoft.com/office/drawing/2014/main" id="{A7ACBE27-EC77-4521-8202-C2F79CB3B4FA}"/>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부록</a:t>
            </a:r>
            <a:endParaRPr sz="1000"/>
          </a:p>
        </p:txBody>
      </p:sp>
      <p:sp>
        <p:nvSpPr>
          <p:cNvPr id="6" name="STC-04-status-rule">
            <a:extLst xmlns:a="http://schemas.openxmlformats.org/drawingml/2006/main">
              <a:ext uri="{FF2B5EF4-FFF2-40B4-BE49-F238E27FC236}">
                <a16:creationId xmlns:a16="http://schemas.microsoft.com/office/drawing/2014/main" id="{168F3EE0-A99E-4D46-9138-97123A1B2E0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04-footer-rule">
            <a:extLst xmlns:a="http://schemas.openxmlformats.org/drawingml/2006/main">
              <a:ext uri="{FF2B5EF4-FFF2-40B4-BE49-F238E27FC236}">
                <a16:creationId xmlns:a16="http://schemas.microsoft.com/office/drawing/2014/main" id="{283A436D-9734-4A07-90CD-F35CB55E5AB3}"/>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04-source-footer">
            <a:extLst xmlns:a="http://schemas.openxmlformats.org/drawingml/2006/main">
              <a:ext uri="{FF2B5EF4-FFF2-40B4-BE49-F238E27FC236}">
                <a16:creationId xmlns:a16="http://schemas.microsoft.com/office/drawing/2014/main" id="{883AB35B-5226-4881-AC75-8BEB5E56EDB9}"/>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ch30 표 30-3 (판정별 반증 관측)</a:t>
            </a:r>
            <a:endParaRPr sz="850"/>
          </a:p>
        </p:txBody>
      </p:sp>
      <p:sp>
        <p:nvSpPr>
          <p:cNvPr id="9" name="STC-04-page-number">
            <a:extLst xmlns:a="http://schemas.openxmlformats.org/drawingml/2006/main">
              <a:ext uri="{FF2B5EF4-FFF2-40B4-BE49-F238E27FC236}">
                <a16:creationId xmlns:a16="http://schemas.microsoft.com/office/drawing/2014/main" id="{EFF36FC2-57B0-4E0D-A22C-A663CD6EDD60}"/>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117</a:t>
            </a:r>
            <a:endParaRPr sz="850"/>
          </a:p>
        </p:txBody>
      </p:sp>
      <p:sp>
        <p:nvSpPr>
          <p:cNvPr id="11" name="STC-04-phase-tag-0">
            <a:extLst xmlns:a="http://schemas.openxmlformats.org/drawingml/2006/main">
              <a:ext uri="{FF2B5EF4-FFF2-40B4-BE49-F238E27FC236}">
                <a16:creationId xmlns:a16="http://schemas.microsoft.com/office/drawing/2014/main" id="{BA1F2F65-E6CA-4586-80AC-30666A36C48F}"/>
              </a:ext>
            </a:extLst>
          </p:cNvPr>
          <p:cNvSpPr>
            <a:spLocks xmlns:a="http://schemas.openxmlformats.org/drawingml/2006/main" noGrp="1"/>
          </p:cNvSpPr>
          <p:nvPr/>
        </p:nvSpPr>
        <p:spPr>
          <a:xfrm xmlns:a="http://schemas.openxmlformats.org/drawingml/2006/main">
            <a:off x="768096"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59616A"/>
                </a:solidFill>
                <a:latin typeface="Noto Sans Mono CJK KR"/>
                <a:ea typeface="Noto Sans Mono CJK KR"/>
                <a:cs typeface="Noto Sans Mono CJK KR"/>
              </a:rPr>
              <a:t>사실 질문</a:t>
            </a:r>
            <a:endParaRPr sz="1200"/>
          </a:p>
        </p:txBody>
      </p:sp>
      <p:sp>
        <p:nvSpPr>
          <p:cNvPr id="12" name="STC-04-phase-ko-0">
            <a:extLst xmlns:a="http://schemas.openxmlformats.org/drawingml/2006/main">
              <a:ext uri="{FF2B5EF4-FFF2-40B4-BE49-F238E27FC236}">
                <a16:creationId xmlns:a16="http://schemas.microsoft.com/office/drawing/2014/main" id="{71B78324-C8F8-4909-82A4-E5B94A3ECF3B}"/>
              </a:ext>
            </a:extLst>
          </p:cNvPr>
          <p:cNvSpPr>
            <a:spLocks xmlns:a="http://schemas.openxmlformats.org/drawingml/2006/main" noGrp="1"/>
          </p:cNvSpPr>
          <p:nvPr/>
        </p:nvSpPr>
        <p:spPr>
          <a:xfrm xmlns:a="http://schemas.openxmlformats.org/drawingml/2006/main">
            <a:off x="768096"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출처</a:t>
            </a:r>
            <a:endParaRPr sz="2300"/>
          </a:p>
        </p:txBody>
      </p:sp>
      <p:sp>
        <p:nvSpPr>
          <p:cNvPr id="13" name="STC-04-phase-rule-0">
            <a:extLst xmlns:a="http://schemas.openxmlformats.org/drawingml/2006/main">
              <a:ext uri="{FF2B5EF4-FFF2-40B4-BE49-F238E27FC236}">
                <a16:creationId xmlns:a16="http://schemas.microsoft.com/office/drawing/2014/main" id="{7764BB8A-B05F-4718-BC24-4AD789913DE0}"/>
              </a:ext>
            </a:extLst>
          </p:cNvPr>
          <p:cNvSpPr>
            <a:spLocks xmlns:a="http://schemas.openxmlformats.org/drawingml/2006/main" noGrp="1"/>
          </p:cNvSpPr>
          <p:nvPr/>
        </p:nvSpPr>
        <p:spPr>
          <a:xfrm xmlns:a="http://schemas.openxmlformats.org/drawingml/2006/main">
            <a:off x="768096" y="2642616"/>
            <a:ext cx="2011680" cy="0"/>
          </a:xfrm>
          <a:prstGeom xmlns:a="http://schemas.openxmlformats.org/drawingml/2006/main" prst="line">
            <a:avLst/>
          </a:prstGeom>
          <a:noFill xmlns:a="http://schemas.openxmlformats.org/drawingml/2006/main"/>
          <a:ln xmlns:a="http://schemas.openxmlformats.org/drawingml/2006/main" w="50800">
            <a:solidFill>
              <a:srgbClr val="59616A"/>
            </a:solidFill>
            <a:prstDash val="solid"/>
            <a:tailEnd type="none"/>
          </a:ln>
        </p:spPr>
      </p:sp>
      <p:sp>
        <p:nvSpPr>
          <p:cNvPr id="14" name="STC-04-phase-body-0">
            <a:extLst xmlns:a="http://schemas.openxmlformats.org/drawingml/2006/main">
              <a:ext uri="{FF2B5EF4-FFF2-40B4-BE49-F238E27FC236}">
                <a16:creationId xmlns:a16="http://schemas.microsoft.com/office/drawing/2014/main" id="{D3EDF87F-330E-402B-BED1-949CABA05E93}"/>
              </a:ext>
            </a:extLst>
          </p:cNvPr>
          <p:cNvSpPr>
            <a:spLocks xmlns:a="http://schemas.openxmlformats.org/drawingml/2006/main" noGrp="1"/>
          </p:cNvSpPr>
          <p:nvPr/>
        </p:nvSpPr>
        <p:spPr>
          <a:xfrm xmlns:a="http://schemas.openxmlformats.org/drawingml/2006/main">
            <a:off x="768096"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출처 · 원문</a:t>
            </a:r>
            <a:endParaRPr sz="1800"/>
          </a:p>
          <a:p xmlns:a="http://schemas.openxmlformats.org/drawingml/2006/main">
            <a:pPr marL="0" indent="0">
              <a:buNone/>
            </a:pPr>
            <a:r>
              <a:rPr sz="1800">
                <a:solidFill>
                  <a:srgbClr val="17191C"/>
                </a:solidFill>
                <a:latin typeface="Noto Sans CJK KR"/>
                <a:ea typeface="Noto Sans CJK KR"/>
                <a:cs typeface="Noto Sans CJK KR"/>
              </a:rPr>
              <a:t>위치와 절 번호로 답한다</a:t>
            </a:r>
            <a:endParaRPr sz="1800"/>
          </a:p>
        </p:txBody>
      </p:sp>
      <p:sp>
        <p:nvSpPr>
          <p:cNvPr id="15" name="STC-04-phase-arrow-0">
            <a:extLst xmlns:a="http://schemas.openxmlformats.org/drawingml/2006/main">
              <a:ext uri="{FF2B5EF4-FFF2-40B4-BE49-F238E27FC236}">
                <a16:creationId xmlns:a16="http://schemas.microsoft.com/office/drawing/2014/main" id="{783D597A-ACCC-4F6B-94A9-392B971E7A96}"/>
              </a:ext>
            </a:extLst>
          </p:cNvPr>
          <p:cNvSpPr>
            <a:spLocks xmlns:a="http://schemas.openxmlformats.org/drawingml/2006/main" noGrp="1"/>
          </p:cNvSpPr>
          <p:nvPr/>
        </p:nvSpPr>
        <p:spPr>
          <a:xfrm xmlns:a="http://schemas.openxmlformats.org/drawingml/2006/main">
            <a:off x="2962656"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16" name="STC-04-phase-tag-1">
            <a:extLst xmlns:a="http://schemas.openxmlformats.org/drawingml/2006/main">
              <a:ext uri="{FF2B5EF4-FFF2-40B4-BE49-F238E27FC236}">
                <a16:creationId xmlns:a16="http://schemas.microsoft.com/office/drawing/2014/main" id="{DF120A6C-83FF-4F70-8A23-21607B85C1A0}"/>
              </a:ext>
            </a:extLst>
          </p:cNvPr>
          <p:cNvSpPr>
            <a:spLocks xmlns:a="http://schemas.openxmlformats.org/drawingml/2006/main" noGrp="1"/>
          </p:cNvSpPr>
          <p:nvPr/>
        </p:nvSpPr>
        <p:spPr>
          <a:xfrm xmlns:a="http://schemas.openxmlformats.org/drawingml/2006/main">
            <a:off x="3593592"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등급 질문</a:t>
            </a:r>
            <a:endParaRPr sz="1200"/>
          </a:p>
        </p:txBody>
      </p:sp>
      <p:sp>
        <p:nvSpPr>
          <p:cNvPr id="17" name="STC-04-phase-ko-1">
            <a:extLst xmlns:a="http://schemas.openxmlformats.org/drawingml/2006/main">
              <a:ext uri="{FF2B5EF4-FFF2-40B4-BE49-F238E27FC236}">
                <a16:creationId xmlns:a16="http://schemas.microsoft.com/office/drawing/2014/main" id="{EC71ADFB-45C0-4738-8C38-F10FAB21F33F}"/>
              </a:ext>
            </a:extLst>
          </p:cNvPr>
          <p:cNvSpPr>
            <a:spLocks xmlns:a="http://schemas.openxmlformats.org/drawingml/2006/main" noGrp="1"/>
          </p:cNvSpPr>
          <p:nvPr/>
        </p:nvSpPr>
        <p:spPr>
          <a:xfrm xmlns:a="http://schemas.openxmlformats.org/drawingml/2006/main">
            <a:off x="3593592"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계약</a:t>
            </a:r>
            <a:endParaRPr sz="2300"/>
          </a:p>
        </p:txBody>
      </p:sp>
      <p:sp>
        <p:nvSpPr>
          <p:cNvPr id="18" name="STC-04-phase-rule-1">
            <a:extLst xmlns:a="http://schemas.openxmlformats.org/drawingml/2006/main">
              <a:ext uri="{FF2B5EF4-FFF2-40B4-BE49-F238E27FC236}">
                <a16:creationId xmlns:a16="http://schemas.microsoft.com/office/drawing/2014/main" id="{CD51B805-650E-4380-9B3A-E873D1907749}"/>
              </a:ext>
            </a:extLst>
          </p:cNvPr>
          <p:cNvSpPr>
            <a:spLocks xmlns:a="http://schemas.openxmlformats.org/drawingml/2006/main" noGrp="1"/>
          </p:cNvSpPr>
          <p:nvPr/>
        </p:nvSpPr>
        <p:spPr>
          <a:xfrm xmlns:a="http://schemas.openxmlformats.org/drawingml/2006/main">
            <a:off x="3593592" y="2642616"/>
            <a:ext cx="2011680" cy="0"/>
          </a:xfrm>
          <a:prstGeom xmlns:a="http://schemas.openxmlformats.org/drawingml/2006/main" prst="line">
            <a:avLst/>
          </a:prstGeom>
          <a:noFill xmlns:a="http://schemas.openxmlformats.org/drawingml/2006/main"/>
          <a:ln xmlns:a="http://schemas.openxmlformats.org/drawingml/2006/main" w="50800">
            <a:solidFill>
              <a:srgbClr val="244E8A"/>
            </a:solidFill>
            <a:prstDash val="solid"/>
            <a:tailEnd type="none"/>
          </a:ln>
        </p:spPr>
      </p:sp>
      <p:sp>
        <p:nvSpPr>
          <p:cNvPr id="19" name="STC-04-phase-body-1">
            <a:extLst xmlns:a="http://schemas.openxmlformats.org/drawingml/2006/main">
              <a:ext uri="{FF2B5EF4-FFF2-40B4-BE49-F238E27FC236}">
                <a16:creationId xmlns:a16="http://schemas.microsoft.com/office/drawing/2014/main" id="{CA6AC282-8658-4035-A58F-484C6AC4BB0A}"/>
              </a:ext>
            </a:extLst>
          </p:cNvPr>
          <p:cNvSpPr>
            <a:spLocks xmlns:a="http://schemas.openxmlformats.org/drawingml/2006/main" noGrp="1"/>
          </p:cNvSpPr>
          <p:nvPr/>
        </p:nvSpPr>
        <p:spPr>
          <a:xfrm xmlns:a="http://schemas.openxmlformats.org/drawingml/2006/main">
            <a:off x="3593592"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계약 · 무엇을</a:t>
            </a:r>
            <a:endParaRPr sz="1800"/>
          </a:p>
          <a:p xmlns:a="http://schemas.openxmlformats.org/drawingml/2006/main">
            <a:pPr marL="0" indent="0">
              <a:buNone/>
            </a:pPr>
            <a:r>
              <a:rPr sz="1800">
                <a:solidFill>
                  <a:srgbClr val="17191C"/>
                </a:solidFill>
                <a:latin typeface="Noto Sans CJK KR"/>
                <a:ea typeface="Noto Sans CJK KR"/>
                <a:cs typeface="Noto Sans CJK KR"/>
              </a:rPr>
              <a:t>단정 못 하는지로 답한다</a:t>
            </a:r>
            <a:endParaRPr sz="1800"/>
          </a:p>
        </p:txBody>
      </p:sp>
      <p:sp>
        <p:nvSpPr>
          <p:cNvPr id="20" name="STC-04-phase-arrow-1">
            <a:extLst xmlns:a="http://schemas.openxmlformats.org/drawingml/2006/main">
              <a:ext uri="{FF2B5EF4-FFF2-40B4-BE49-F238E27FC236}">
                <a16:creationId xmlns:a16="http://schemas.microsoft.com/office/drawing/2014/main" id="{78036B2A-3081-4A46-8C23-82C208923D54}"/>
              </a:ext>
            </a:extLst>
          </p:cNvPr>
          <p:cNvSpPr>
            <a:spLocks xmlns:a="http://schemas.openxmlformats.org/drawingml/2006/main" noGrp="1"/>
          </p:cNvSpPr>
          <p:nvPr/>
        </p:nvSpPr>
        <p:spPr>
          <a:xfrm xmlns:a="http://schemas.openxmlformats.org/drawingml/2006/main">
            <a:off x="5788152"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1" name="STC-04-phase-tag-2">
            <a:extLst xmlns:a="http://schemas.openxmlformats.org/drawingml/2006/main">
              <a:ext uri="{FF2B5EF4-FFF2-40B4-BE49-F238E27FC236}">
                <a16:creationId xmlns:a16="http://schemas.microsoft.com/office/drawing/2014/main" id="{14A86847-A229-4A53-8F2A-E51A71B0A175}"/>
              </a:ext>
            </a:extLst>
          </p:cNvPr>
          <p:cNvSpPr>
            <a:spLocks xmlns:a="http://schemas.openxmlformats.org/drawingml/2006/main" noGrp="1"/>
          </p:cNvSpPr>
          <p:nvPr/>
        </p:nvSpPr>
        <p:spPr>
          <a:xfrm xmlns:a="http://schemas.openxmlformats.org/drawingml/2006/main">
            <a:off x="6419088"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반대 질문</a:t>
            </a:r>
            <a:endParaRPr sz="1200"/>
          </a:p>
        </p:txBody>
      </p:sp>
      <p:sp>
        <p:nvSpPr>
          <p:cNvPr id="22" name="STC-04-phase-ko-2">
            <a:extLst xmlns:a="http://schemas.openxmlformats.org/drawingml/2006/main">
              <a:ext uri="{FF2B5EF4-FFF2-40B4-BE49-F238E27FC236}">
                <a16:creationId xmlns:a16="http://schemas.microsoft.com/office/drawing/2014/main" id="{582DA535-C347-498A-B2F9-C40BAE20CE4F}"/>
              </a:ext>
            </a:extLst>
          </p:cNvPr>
          <p:cNvSpPr>
            <a:spLocks xmlns:a="http://schemas.openxmlformats.org/drawingml/2006/main" noGrp="1"/>
          </p:cNvSpPr>
          <p:nvPr/>
        </p:nvSpPr>
        <p:spPr>
          <a:xfrm xmlns:a="http://schemas.openxmlformats.org/drawingml/2006/main">
            <a:off x="6419088"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반증</a:t>
            </a:r>
            <a:endParaRPr sz="2300"/>
          </a:p>
        </p:txBody>
      </p:sp>
      <p:sp>
        <p:nvSpPr>
          <p:cNvPr id="23" name="STC-04-phase-rule-2">
            <a:extLst xmlns:a="http://schemas.openxmlformats.org/drawingml/2006/main">
              <a:ext uri="{FF2B5EF4-FFF2-40B4-BE49-F238E27FC236}">
                <a16:creationId xmlns:a16="http://schemas.microsoft.com/office/drawing/2014/main" id="{604E16CE-5100-4FC5-8DB9-7A23B695EE76}"/>
              </a:ext>
            </a:extLst>
          </p:cNvPr>
          <p:cNvSpPr>
            <a:spLocks xmlns:a="http://schemas.openxmlformats.org/drawingml/2006/main" noGrp="1"/>
          </p:cNvSpPr>
          <p:nvPr/>
        </p:nvSpPr>
        <p:spPr>
          <a:xfrm xmlns:a="http://schemas.openxmlformats.org/drawingml/2006/main">
            <a:off x="6419088" y="2642616"/>
            <a:ext cx="2011680" cy="0"/>
          </a:xfrm>
          <a:prstGeom xmlns:a="http://schemas.openxmlformats.org/drawingml/2006/main" prst="line">
            <a:avLst/>
          </a:prstGeom>
          <a:noFill xmlns:a="http://schemas.openxmlformats.org/drawingml/2006/main"/>
          <a:ln xmlns:a="http://schemas.openxmlformats.org/drawingml/2006/main" w="50800">
            <a:solidFill>
              <a:srgbClr val="9A442D"/>
            </a:solidFill>
            <a:prstDash val="solid"/>
            <a:tailEnd type="none"/>
          </a:ln>
        </p:spPr>
      </p:sp>
      <p:sp>
        <p:nvSpPr>
          <p:cNvPr id="24" name="STC-04-phase-body-2">
            <a:extLst xmlns:a="http://schemas.openxmlformats.org/drawingml/2006/main">
              <a:ext uri="{FF2B5EF4-FFF2-40B4-BE49-F238E27FC236}">
                <a16:creationId xmlns:a16="http://schemas.microsoft.com/office/drawing/2014/main" id="{5BF3497A-374B-4090-AF18-46EDBA191D7C}"/>
              </a:ext>
            </a:extLst>
          </p:cNvPr>
          <p:cNvSpPr>
            <a:spLocks xmlns:a="http://schemas.openxmlformats.org/drawingml/2006/main" noGrp="1"/>
          </p:cNvSpPr>
          <p:nvPr/>
        </p:nvSpPr>
        <p:spPr>
          <a:xfrm xmlns:a="http://schemas.openxmlformats.org/drawingml/2006/main">
            <a:off x="6419088"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반증 · 어떤 관측이면</a:t>
            </a:r>
            <a:endParaRPr sz="1800"/>
          </a:p>
          <a:p xmlns:a="http://schemas.openxmlformats.org/drawingml/2006/main">
            <a:pPr marL="0" indent="0">
              <a:buNone/>
            </a:pPr>
            <a:r>
              <a:rPr sz="1800">
                <a:solidFill>
                  <a:srgbClr val="17191C"/>
                </a:solidFill>
                <a:latin typeface="Noto Sans CJK KR"/>
                <a:ea typeface="Noto Sans CJK KR"/>
                <a:cs typeface="Noto Sans CJK KR"/>
              </a:rPr>
              <a:t>제가 틀리는지로 답한다</a:t>
            </a:r>
            <a:endParaRPr sz="1800"/>
          </a:p>
        </p:txBody>
      </p:sp>
      <p:sp>
        <p:nvSpPr>
          <p:cNvPr id="25" name="STC-04-phase-arrow-2">
            <a:extLst xmlns:a="http://schemas.openxmlformats.org/drawingml/2006/main">
              <a:ext uri="{FF2B5EF4-FFF2-40B4-BE49-F238E27FC236}">
                <a16:creationId xmlns:a16="http://schemas.microsoft.com/office/drawing/2014/main" id="{4E7BA787-51DD-48C2-90C7-E4BC25DA526D}"/>
              </a:ext>
            </a:extLst>
          </p:cNvPr>
          <p:cNvSpPr>
            <a:spLocks xmlns:a="http://schemas.openxmlformats.org/drawingml/2006/main" noGrp="1"/>
          </p:cNvSpPr>
          <p:nvPr/>
        </p:nvSpPr>
        <p:spPr>
          <a:xfrm xmlns:a="http://schemas.openxmlformats.org/drawingml/2006/main">
            <a:off x="8613648" y="2743200"/>
            <a:ext cx="475488" cy="0"/>
          </a:xfrm>
          <a:prstGeom xmlns:a="http://schemas.openxmlformats.org/drawingml/2006/main" prst="line">
            <a:avLst/>
          </a:prstGeom>
          <a:noFill xmlns:a="http://schemas.openxmlformats.org/drawingml/2006/main"/>
          <a:ln xmlns:a="http://schemas.openxmlformats.org/drawingml/2006/main" w="13970">
            <a:solidFill>
              <a:srgbClr val="17191C"/>
            </a:solidFill>
            <a:prstDash val="solid"/>
            <a:tailEnd type="triangle"/>
          </a:ln>
        </p:spPr>
      </p:sp>
      <p:sp>
        <p:nvSpPr>
          <p:cNvPr id="26" name="STC-04-phase-tag-3">
            <a:extLst xmlns:a="http://schemas.openxmlformats.org/drawingml/2006/main">
              <a:ext uri="{FF2B5EF4-FFF2-40B4-BE49-F238E27FC236}">
                <a16:creationId xmlns:a16="http://schemas.microsoft.com/office/drawing/2014/main" id="{3D317DA2-F326-4299-B8BF-54ACE3EE2AA9}"/>
              </a:ext>
            </a:extLst>
          </p:cNvPr>
          <p:cNvSpPr>
            <a:spLocks xmlns:a="http://schemas.openxmlformats.org/drawingml/2006/main" noGrp="1"/>
          </p:cNvSpPr>
          <p:nvPr/>
        </p:nvSpPr>
        <p:spPr>
          <a:xfrm xmlns:a="http://schemas.openxmlformats.org/drawingml/2006/main">
            <a:off x="9244584" y="1755648"/>
            <a:ext cx="20116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실무 질문</a:t>
            </a:r>
            <a:endParaRPr sz="1200"/>
          </a:p>
        </p:txBody>
      </p:sp>
      <p:sp>
        <p:nvSpPr>
          <p:cNvPr id="27" name="STC-04-phase-ko-3">
            <a:extLst xmlns:a="http://schemas.openxmlformats.org/drawingml/2006/main">
              <a:ext uri="{FF2B5EF4-FFF2-40B4-BE49-F238E27FC236}">
                <a16:creationId xmlns:a16="http://schemas.microsoft.com/office/drawing/2014/main" id="{F5446ADD-A14C-416D-B2F4-1A4E119F4329}"/>
              </a:ext>
            </a:extLst>
          </p:cNvPr>
          <p:cNvSpPr>
            <a:spLocks xmlns:a="http://schemas.openxmlformats.org/drawingml/2006/main" noGrp="1"/>
          </p:cNvSpPr>
          <p:nvPr/>
        </p:nvSpPr>
        <p:spPr>
          <a:xfrm xmlns:a="http://schemas.openxmlformats.org/drawingml/2006/main">
            <a:off x="9244584" y="2103120"/>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17191C"/>
                </a:solidFill>
                <a:latin typeface="Noto Serif CJK KR"/>
                <a:ea typeface="Noto Serif CJK KR"/>
                <a:cs typeface="Noto Serif CJK KR"/>
              </a:rPr>
              <a:t>실험</a:t>
            </a:r>
            <a:endParaRPr sz="2300"/>
          </a:p>
        </p:txBody>
      </p:sp>
      <p:sp>
        <p:nvSpPr>
          <p:cNvPr id="28" name="STC-04-phase-rule-3">
            <a:extLst xmlns:a="http://schemas.openxmlformats.org/drawingml/2006/main">
              <a:ext uri="{FF2B5EF4-FFF2-40B4-BE49-F238E27FC236}">
                <a16:creationId xmlns:a16="http://schemas.microsoft.com/office/drawing/2014/main" id="{4455D656-930A-404D-BF54-7ED24B2942EA}"/>
              </a:ext>
            </a:extLst>
          </p:cNvPr>
          <p:cNvSpPr>
            <a:spLocks xmlns:a="http://schemas.openxmlformats.org/drawingml/2006/main" noGrp="1"/>
          </p:cNvSpPr>
          <p:nvPr/>
        </p:nvSpPr>
        <p:spPr>
          <a:xfrm xmlns:a="http://schemas.openxmlformats.org/drawingml/2006/main">
            <a:off x="9244584" y="2642616"/>
            <a:ext cx="2011680" cy="0"/>
          </a:xfrm>
          <a:prstGeom xmlns:a="http://schemas.openxmlformats.org/drawingml/2006/main" prst="line">
            <a:avLst/>
          </a:prstGeom>
          <a:noFill xmlns:a="http://schemas.openxmlformats.org/drawingml/2006/main"/>
          <a:ln xmlns:a="http://schemas.openxmlformats.org/drawingml/2006/main" w="50800">
            <a:solidFill>
              <a:srgbClr val="2F6B63"/>
            </a:solidFill>
            <a:prstDash val="solid"/>
            <a:tailEnd type="none"/>
          </a:ln>
        </p:spPr>
      </p:sp>
      <p:sp>
        <p:nvSpPr>
          <p:cNvPr id="29" name="STC-04-phase-body-3">
            <a:extLst xmlns:a="http://schemas.openxmlformats.org/drawingml/2006/main">
              <a:ext uri="{FF2B5EF4-FFF2-40B4-BE49-F238E27FC236}">
                <a16:creationId xmlns:a16="http://schemas.microsoft.com/office/drawing/2014/main" id="{FE89CD84-AEBE-4991-983F-DACD28BF3807}"/>
              </a:ext>
            </a:extLst>
          </p:cNvPr>
          <p:cNvSpPr>
            <a:spLocks xmlns:a="http://schemas.openxmlformats.org/drawingml/2006/main" noGrp="1"/>
          </p:cNvSpPr>
          <p:nvPr/>
        </p:nvSpPr>
        <p:spPr>
          <a:xfrm xmlns:a="http://schemas.openxmlformats.org/drawingml/2006/main">
            <a:off x="9244584" y="2980944"/>
            <a:ext cx="214884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17191C"/>
                </a:solidFill>
                <a:latin typeface="Noto Sans CJK KR"/>
                <a:ea typeface="Noto Sans CJK KR"/>
                <a:cs typeface="Noto Sans CJK KR"/>
              </a:rPr>
              <a:t>실험 · 무엇을 재면</a:t>
            </a:r>
            <a:endParaRPr sz="1800"/>
          </a:p>
          <a:p xmlns:a="http://schemas.openxmlformats.org/drawingml/2006/main">
            <a:pPr marL="0" indent="0">
              <a:buNone/>
            </a:pPr>
            <a:r>
              <a:rPr sz="1800">
                <a:solidFill>
                  <a:srgbClr val="17191C"/>
                </a:solidFill>
                <a:latin typeface="Noto Sans CJK KR"/>
                <a:ea typeface="Noto Sans CJK KR"/>
                <a:cs typeface="Noto Sans CJK KR"/>
              </a:rPr>
              <a:t>결정되는지로 답한다</a:t>
            </a:r>
            <a:endParaRPr sz="1800"/>
          </a:p>
        </p:txBody>
      </p:sp>
      <p:sp>
        <p:nvSpPr>
          <p:cNvPr id="30" name="STC-04-phase-invariant">
            <a:extLst xmlns:a="http://schemas.openxmlformats.org/drawingml/2006/main">
              <a:ext uri="{FF2B5EF4-FFF2-40B4-BE49-F238E27FC236}">
                <a16:creationId xmlns:a16="http://schemas.microsoft.com/office/drawing/2014/main" id="{03288DCF-E840-4104-9A86-10724C88811D}"/>
              </a:ext>
            </a:extLst>
          </p:cNvPr>
          <p:cNvSpPr>
            <a:spLocks xmlns:a="http://schemas.openxmlformats.org/drawingml/2006/main" noGrp="1"/>
          </p:cNvSpPr>
          <p:nvPr/>
        </p:nvSpPr>
        <p:spPr>
          <a:xfrm xmlns:a="http://schemas.openxmlformats.org/drawingml/2006/main">
            <a:off x="1188720" y="4736592"/>
            <a:ext cx="9811512" cy="60350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31" name="STC-04-phase-invariant-text">
            <a:extLst xmlns:a="http://schemas.openxmlformats.org/drawingml/2006/main">
              <a:ext uri="{FF2B5EF4-FFF2-40B4-BE49-F238E27FC236}">
                <a16:creationId xmlns:a16="http://schemas.microsoft.com/office/drawing/2014/main" id="{F965FB3E-3D1D-4CF8-8579-F6405F044BA3}"/>
              </a:ext>
            </a:extLst>
          </p:cNvPr>
          <p:cNvSpPr>
            <a:spLocks xmlns:a="http://schemas.openxmlformats.org/drawingml/2006/main" noGrp="1"/>
          </p:cNvSpPr>
          <p:nvPr/>
        </p:nvSpPr>
        <p:spPr>
          <a:xfrm xmlns:a="http://schemas.openxmlformats.org/drawingml/2006/main">
            <a:off x="1435608" y="4919472"/>
            <a:ext cx="932688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17191C"/>
                </a:solidFill>
                <a:latin typeface="Noto Sans CJK KR"/>
                <a:ea typeface="Noto Sans CJK KR"/>
                <a:cs typeface="Noto Sans CJK KR"/>
              </a:rPr>
              <a:t>'근거가 뭐냐'는 질문에는 실험 등급으로, '그래서 어쩌라고'는 실험 목록으로 답한다</a:t>
            </a:r>
            <a:endParaRPr sz="1700"/>
          </a:p>
        </p:txBody>
      </p:sp>
    </p:spTree>
    <p:extLst>
      <p:ext uri="{BB962C8B-B14F-4D97-AF65-F5344CB8AC3E}">
        <p14:creationId xmlns:p14="http://schemas.microsoft.com/office/powerpoint/2010/main" val="37494492"/>
      </p:ext>
    </p:extLst>
  </p:cSld>
</p:sld>
</file>

<file path=ppt/slides/slide11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8-section">
            <a:extLst xmlns:a="http://schemas.openxmlformats.org/drawingml/2006/main">
              <a:ext uri="{FF2B5EF4-FFF2-40B4-BE49-F238E27FC236}">
                <a16:creationId xmlns:a16="http://schemas.microsoft.com/office/drawing/2014/main" id="{38FCD26C-6C12-44CF-8CD7-4267D96F198F}"/>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Q AND A</a:t>
            </a:r>
            <a:endParaRPr sz="950"/>
          </a:p>
        </p:txBody>
      </p:sp>
      <p:sp>
        <p:nvSpPr>
          <p:cNvPr id="3" name="STC-28-slide-id">
            <a:extLst xmlns:a="http://schemas.openxmlformats.org/drawingml/2006/main">
              <a:ext uri="{FF2B5EF4-FFF2-40B4-BE49-F238E27FC236}">
                <a16:creationId xmlns:a16="http://schemas.microsoft.com/office/drawing/2014/main" id="{6A71C3FC-3B13-4A28-97D6-67C2759E91C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STC-118</a:t>
            </a:r>
            <a:endParaRPr sz="950"/>
          </a:p>
        </p:txBody>
      </p:sp>
      <p:sp>
        <p:nvSpPr>
          <p:cNvPr id="4" name="STC-28-headline">
            <a:extLst xmlns:a="http://schemas.openxmlformats.org/drawingml/2006/main">
              <a:ext uri="{FF2B5EF4-FFF2-40B4-BE49-F238E27FC236}">
                <a16:creationId xmlns:a16="http://schemas.microsoft.com/office/drawing/2014/main" id="{5A71EE62-05C8-4CE0-91E4-63D515E2CB75}"/>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17191C"/>
                </a:solidFill>
                <a:latin typeface="Noto Sans CJK KR"/>
                <a:ea typeface="Noto Sans CJK KR"/>
                <a:cs typeface="Noto Sans CJK KR"/>
              </a:rPr>
              <a:t>예상 질문 ① — 판별식과 분류에 대하여</a:t>
            </a:r>
            <a:endParaRPr sz="2800"/>
          </a:p>
        </p:txBody>
      </p:sp>
      <p:sp>
        <p:nvSpPr>
          <p:cNvPr id="5" name="STC-28-status-label">
            <a:extLst xmlns:a="http://schemas.openxmlformats.org/drawingml/2006/main">
              <a:ext uri="{FF2B5EF4-FFF2-40B4-BE49-F238E27FC236}">
                <a16:creationId xmlns:a16="http://schemas.microsoft.com/office/drawing/2014/main" id="{6E72FC80-4CD3-46F0-9E39-2D524CABE32C}"/>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44E8A"/>
                </a:solidFill>
                <a:latin typeface="Noto Sans Mono CJK KR"/>
                <a:ea typeface="Noto Sans Mono CJK KR"/>
                <a:cs typeface="Noto Sans Mono CJK KR"/>
              </a:rPr>
              <a:t>예상 질문</a:t>
            </a:r>
            <a:endParaRPr sz="1000"/>
          </a:p>
        </p:txBody>
      </p:sp>
      <p:sp>
        <p:nvSpPr>
          <p:cNvPr id="6" name="STC-28-status-rule">
            <a:extLst xmlns:a="http://schemas.openxmlformats.org/drawingml/2006/main">
              <a:ext uri="{FF2B5EF4-FFF2-40B4-BE49-F238E27FC236}">
                <a16:creationId xmlns:a16="http://schemas.microsoft.com/office/drawing/2014/main" id="{381AABF8-3E35-422A-9B66-BD2E60850212}"/>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44E8A"/>
            </a:solidFill>
            <a:prstDash val="solid"/>
            <a:tailEnd type="none"/>
          </a:ln>
        </p:spPr>
      </p:sp>
      <p:sp>
        <p:nvSpPr>
          <p:cNvPr id="7" name="STC-28-footer-rule">
            <a:extLst xmlns:a="http://schemas.openxmlformats.org/drawingml/2006/main">
              <a:ext uri="{FF2B5EF4-FFF2-40B4-BE49-F238E27FC236}">
                <a16:creationId xmlns:a16="http://schemas.microsoft.com/office/drawing/2014/main" id="{15C701C2-A052-4584-B4CD-2B50899B0C87}"/>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8-source-footer">
            <a:extLst xmlns:a="http://schemas.openxmlformats.org/drawingml/2006/main">
              <a:ext uri="{FF2B5EF4-FFF2-40B4-BE49-F238E27FC236}">
                <a16:creationId xmlns:a16="http://schemas.microsoft.com/office/drawing/2014/main" id="{DFB90BE2-907D-4C66-A463-DE17189AD77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ch11 §11.2 · ch24 §24.5 · ch30 §30.3.3</a:t>
            </a:r>
            <a:endParaRPr sz="850"/>
          </a:p>
        </p:txBody>
      </p:sp>
      <p:sp>
        <p:nvSpPr>
          <p:cNvPr id="9" name="STC-28-page-number">
            <a:extLst xmlns:a="http://schemas.openxmlformats.org/drawingml/2006/main">
              <a:ext uri="{FF2B5EF4-FFF2-40B4-BE49-F238E27FC236}">
                <a16:creationId xmlns:a16="http://schemas.microsoft.com/office/drawing/2014/main" id="{83FCB4BE-56BD-44FC-B01A-FE557431420A}"/>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118</a:t>
            </a:r>
            <a:endParaRPr sz="850"/>
          </a:p>
        </p:txBody>
      </p:sp>
      <p:sp>
        <p:nvSpPr>
          <p:cNvPr id="11" name="STC-28-refb-num-0">
            <a:extLst xmlns:a="http://schemas.openxmlformats.org/drawingml/2006/main">
              <a:ext uri="{FF2B5EF4-FFF2-40B4-BE49-F238E27FC236}">
                <a16:creationId xmlns:a16="http://schemas.microsoft.com/office/drawing/2014/main" id="{A9E3672A-22B8-4FD1-AF0A-CD6431C1CDF5}"/>
              </a:ext>
            </a:extLst>
          </p:cNvPr>
          <p:cNvSpPr>
            <a:spLocks xmlns:a="http://schemas.openxmlformats.org/drawingml/2006/main" noGrp="1"/>
          </p:cNvSpPr>
          <p:nvPr/>
        </p:nvSpPr>
        <p:spPr>
          <a:xfrm xmlns:a="http://schemas.openxmlformats.org/drawingml/2006/main">
            <a:off x="841248"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01</a:t>
            </a:r>
            <a:endParaRPr sz="950"/>
          </a:p>
        </p:txBody>
      </p:sp>
      <p:sp>
        <p:nvSpPr>
          <p:cNvPr id="12" name="STC-28-refb-text-0">
            <a:extLst xmlns:a="http://schemas.openxmlformats.org/drawingml/2006/main">
              <a:ext uri="{FF2B5EF4-FFF2-40B4-BE49-F238E27FC236}">
                <a16:creationId xmlns:a16="http://schemas.microsoft.com/office/drawing/2014/main" id="{73D96B02-EBDC-4045-B33F-7D0B788D5032}"/>
              </a:ext>
            </a:extLst>
          </p:cNvPr>
          <p:cNvSpPr>
            <a:spLocks xmlns:a="http://schemas.openxmlformats.org/drawingml/2006/main" noGrp="1"/>
          </p:cNvSpPr>
          <p:nvPr/>
        </p:nvSpPr>
        <p:spPr>
          <a:xfrm xmlns:a="http://schemas.openxmlformats.org/drawingml/2006/main">
            <a:off x="1353312"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판별식이 자의적 아닌가 · 편의와 반대로 간 판정 셋을 보여 드립니다</a:t>
            </a:r>
            <a:endParaRPr sz="1450"/>
          </a:p>
        </p:txBody>
      </p:sp>
      <p:sp>
        <p:nvSpPr>
          <p:cNvPr id="13" name="STC-28-refb-num-1">
            <a:extLst xmlns:a="http://schemas.openxmlformats.org/drawingml/2006/main">
              <a:ext uri="{FF2B5EF4-FFF2-40B4-BE49-F238E27FC236}">
                <a16:creationId xmlns:a16="http://schemas.microsoft.com/office/drawing/2014/main" id="{592C164C-E030-4739-A0A1-E046FC00C259}"/>
              </a:ext>
            </a:extLst>
          </p:cNvPr>
          <p:cNvSpPr>
            <a:spLocks xmlns:a="http://schemas.openxmlformats.org/drawingml/2006/main" noGrp="1"/>
          </p:cNvSpPr>
          <p:nvPr/>
        </p:nvSpPr>
        <p:spPr>
          <a:xfrm xmlns:a="http://schemas.openxmlformats.org/drawingml/2006/main">
            <a:off x="841248"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02</a:t>
            </a:r>
            <a:endParaRPr sz="950"/>
          </a:p>
        </p:txBody>
      </p:sp>
      <p:sp>
        <p:nvSpPr>
          <p:cNvPr id="14" name="STC-28-refb-text-1">
            <a:extLst xmlns:a="http://schemas.openxmlformats.org/drawingml/2006/main">
              <a:ext uri="{FF2B5EF4-FFF2-40B4-BE49-F238E27FC236}">
                <a16:creationId xmlns:a16="http://schemas.microsoft.com/office/drawing/2014/main" id="{6827CF69-172C-4418-BA31-264E74CB0A71}"/>
              </a:ext>
            </a:extLst>
          </p:cNvPr>
          <p:cNvSpPr>
            <a:spLocks xmlns:a="http://schemas.openxmlformats.org/drawingml/2006/main" noGrp="1"/>
          </p:cNvSpPr>
          <p:nvPr/>
        </p:nvSpPr>
        <p:spPr>
          <a:xfrm xmlns:a="http://schemas.openxmlformats.org/drawingml/2006/main">
            <a:off x="1353312"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조건 하나 빼면? · 매번 다른 종류의 논문이 잘못 들어옵니다</a:t>
            </a:r>
            <a:endParaRPr sz="1450"/>
          </a:p>
        </p:txBody>
      </p:sp>
      <p:sp>
        <p:nvSpPr>
          <p:cNvPr id="15" name="STC-28-refb-num-2">
            <a:extLst xmlns:a="http://schemas.openxmlformats.org/drawingml/2006/main">
              <a:ext uri="{FF2B5EF4-FFF2-40B4-BE49-F238E27FC236}">
                <a16:creationId xmlns:a16="http://schemas.microsoft.com/office/drawing/2014/main" id="{46BAE1D1-9D98-472E-9618-BD4F36CBAB2C}"/>
              </a:ext>
            </a:extLst>
          </p:cNvPr>
          <p:cNvSpPr>
            <a:spLocks xmlns:a="http://schemas.openxmlformats.org/drawingml/2006/main" noGrp="1"/>
          </p:cNvSpPr>
          <p:nvPr/>
        </p:nvSpPr>
        <p:spPr>
          <a:xfrm xmlns:a="http://schemas.openxmlformats.org/drawingml/2006/main">
            <a:off x="841248"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03</a:t>
            </a:r>
            <a:endParaRPr sz="950"/>
          </a:p>
        </p:txBody>
      </p:sp>
      <p:sp>
        <p:nvSpPr>
          <p:cNvPr id="16" name="STC-28-refb-text-2">
            <a:extLst xmlns:a="http://schemas.openxmlformats.org/drawingml/2006/main">
              <a:ext uri="{FF2B5EF4-FFF2-40B4-BE49-F238E27FC236}">
                <a16:creationId xmlns:a16="http://schemas.microsoft.com/office/drawing/2014/main" id="{8AB23C3E-B51C-4DDD-AD70-656E2327298D}"/>
              </a:ext>
            </a:extLst>
          </p:cNvPr>
          <p:cNvSpPr>
            <a:spLocks xmlns:a="http://schemas.openxmlformats.org/drawingml/2006/main" noGrp="1"/>
          </p:cNvSpPr>
          <p:nvPr/>
        </p:nvSpPr>
        <p:spPr>
          <a:xfrm xmlns:a="http://schemas.openxmlformats.org/drawingml/2006/main">
            <a:off x="1353312"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MemGPT는 왜 빼나 · 쓰기가 턴 안에 있어 (1) 불충족입니다</a:t>
            </a:r>
            <a:endParaRPr sz="1450"/>
          </a:p>
        </p:txBody>
      </p:sp>
      <p:sp>
        <p:nvSpPr>
          <p:cNvPr id="17" name="STC-28-refb-num-3">
            <a:extLst xmlns:a="http://schemas.openxmlformats.org/drawingml/2006/main">
              <a:ext uri="{FF2B5EF4-FFF2-40B4-BE49-F238E27FC236}">
                <a16:creationId xmlns:a16="http://schemas.microsoft.com/office/drawing/2014/main" id="{AD2C23C3-19B5-4931-8A2D-09E68901DA23}"/>
              </a:ext>
            </a:extLst>
          </p:cNvPr>
          <p:cNvSpPr>
            <a:spLocks xmlns:a="http://schemas.openxmlformats.org/drawingml/2006/main" noGrp="1"/>
          </p:cNvSpPr>
          <p:nvPr/>
        </p:nvSpPr>
        <p:spPr>
          <a:xfrm xmlns:a="http://schemas.openxmlformats.org/drawingml/2006/main">
            <a:off x="841248"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04</a:t>
            </a:r>
            <a:endParaRPr sz="950"/>
          </a:p>
        </p:txBody>
      </p:sp>
      <p:sp>
        <p:nvSpPr>
          <p:cNvPr id="18" name="STC-28-refb-text-3">
            <a:extLst xmlns:a="http://schemas.openxmlformats.org/drawingml/2006/main">
              <a:ext uri="{FF2B5EF4-FFF2-40B4-BE49-F238E27FC236}">
                <a16:creationId xmlns:a16="http://schemas.microsoft.com/office/drawing/2014/main" id="{9333E338-EF4B-4EEB-BCE8-8D680BD16B5D}"/>
              </a:ext>
            </a:extLst>
          </p:cNvPr>
          <p:cNvSpPr>
            <a:spLocks xmlns:a="http://schemas.openxmlformats.org/drawingml/2006/main" noGrp="1"/>
          </p:cNvSpPr>
          <p:nvPr/>
        </p:nvSpPr>
        <p:spPr>
          <a:xfrm xmlns:a="http://schemas.openxmlformats.org/drawingml/2006/main">
            <a:off x="1353312"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RAG는 왜 경계 아닌가 · 조상 지목이 없습니다. 개수 문제가 아닙니다</a:t>
            </a:r>
            <a:endParaRPr sz="1450"/>
          </a:p>
        </p:txBody>
      </p:sp>
      <p:sp>
        <p:nvSpPr>
          <p:cNvPr id="19" name="STC-28-refb-num-4">
            <a:extLst xmlns:a="http://schemas.openxmlformats.org/drawingml/2006/main">
              <a:ext uri="{FF2B5EF4-FFF2-40B4-BE49-F238E27FC236}">
                <a16:creationId xmlns:a16="http://schemas.microsoft.com/office/drawing/2014/main" id="{1E15AAF6-4750-45EE-A03F-1DC59364D3E5}"/>
              </a:ext>
            </a:extLst>
          </p:cNvPr>
          <p:cNvSpPr>
            <a:spLocks xmlns:a="http://schemas.openxmlformats.org/drawingml/2006/main" noGrp="1"/>
          </p:cNvSpPr>
          <p:nvPr/>
        </p:nvSpPr>
        <p:spPr>
          <a:xfrm xmlns:a="http://schemas.openxmlformats.org/drawingml/2006/main">
            <a:off x="841248"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05</a:t>
            </a:r>
            <a:endParaRPr sz="950"/>
          </a:p>
        </p:txBody>
      </p:sp>
      <p:sp>
        <p:nvSpPr>
          <p:cNvPr id="20" name="STC-28-refb-text-4">
            <a:extLst xmlns:a="http://schemas.openxmlformats.org/drawingml/2006/main">
              <a:ext uri="{FF2B5EF4-FFF2-40B4-BE49-F238E27FC236}">
                <a16:creationId xmlns:a16="http://schemas.microsoft.com/office/drawing/2014/main" id="{BE166349-AC22-429E-9D14-CDAFE2AD676B}"/>
              </a:ext>
            </a:extLst>
          </p:cNvPr>
          <p:cNvSpPr>
            <a:spLocks xmlns:a="http://schemas.openxmlformats.org/drawingml/2006/main" noGrp="1"/>
          </p:cNvSpPr>
          <p:nvPr/>
        </p:nvSpPr>
        <p:spPr>
          <a:xfrm xmlns:a="http://schemas.openxmlformats.org/drawingml/2006/main">
            <a:off x="1353312"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SCM은 왜 E인가 · 다섯 연산자의 좌변이 전부 그래프입니다</a:t>
            </a:r>
            <a:endParaRPr sz="1450"/>
          </a:p>
        </p:txBody>
      </p:sp>
      <p:sp>
        <p:nvSpPr>
          <p:cNvPr id="21" name="STC-28-refb-num-5">
            <a:extLst xmlns:a="http://schemas.openxmlformats.org/drawingml/2006/main">
              <a:ext uri="{FF2B5EF4-FFF2-40B4-BE49-F238E27FC236}">
                <a16:creationId xmlns:a16="http://schemas.microsoft.com/office/drawing/2014/main" id="{14A1CF6F-F410-4DC0-A538-64E6E15DD425}"/>
              </a:ext>
            </a:extLst>
          </p:cNvPr>
          <p:cNvSpPr>
            <a:spLocks xmlns:a="http://schemas.openxmlformats.org/drawingml/2006/main" noGrp="1"/>
          </p:cNvSpPr>
          <p:nvPr/>
        </p:nvSpPr>
        <p:spPr>
          <a:xfrm xmlns:a="http://schemas.openxmlformats.org/drawingml/2006/main">
            <a:off x="841248"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06</a:t>
            </a:r>
            <a:endParaRPr sz="950"/>
          </a:p>
        </p:txBody>
      </p:sp>
      <p:sp>
        <p:nvSpPr>
          <p:cNvPr id="22" name="STC-28-refb-text-5">
            <a:extLst xmlns:a="http://schemas.openxmlformats.org/drawingml/2006/main">
              <a:ext uri="{FF2B5EF4-FFF2-40B4-BE49-F238E27FC236}">
                <a16:creationId xmlns:a16="http://schemas.microsoft.com/office/drawing/2014/main" id="{316DBB8F-0966-4178-AA42-3DCCAA57F4E8}"/>
              </a:ext>
            </a:extLst>
          </p:cNvPr>
          <p:cNvSpPr>
            <a:spLocks xmlns:a="http://schemas.openxmlformats.org/drawingml/2006/main" noGrp="1"/>
          </p:cNvSpPr>
          <p:nvPr/>
        </p:nvSpPr>
        <p:spPr>
          <a:xfrm xmlns:a="http://schemas.openxmlformats.org/drawingml/2006/main">
            <a:off x="1353312"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corpus가 좁지 않나 · 29편·2026-08. 일반화하지 않습니다</a:t>
            </a:r>
            <a:endParaRPr sz="1450"/>
          </a:p>
        </p:txBody>
      </p:sp>
      <p:sp>
        <p:nvSpPr>
          <p:cNvPr id="23" name="STC-28-refb-num-6">
            <a:extLst xmlns:a="http://schemas.openxmlformats.org/drawingml/2006/main">
              <a:ext uri="{FF2B5EF4-FFF2-40B4-BE49-F238E27FC236}">
                <a16:creationId xmlns:a16="http://schemas.microsoft.com/office/drawing/2014/main" id="{127FECDE-8F42-43EB-9FE0-E111504E3910}"/>
              </a:ext>
            </a:extLst>
          </p:cNvPr>
          <p:cNvSpPr>
            <a:spLocks xmlns:a="http://schemas.openxmlformats.org/drawingml/2006/main" noGrp="1"/>
          </p:cNvSpPr>
          <p:nvPr/>
        </p:nvSpPr>
        <p:spPr>
          <a:xfrm xmlns:a="http://schemas.openxmlformats.org/drawingml/2006/main">
            <a:off x="841248"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07</a:t>
            </a:r>
            <a:endParaRPr sz="950"/>
          </a:p>
        </p:txBody>
      </p:sp>
      <p:sp>
        <p:nvSpPr>
          <p:cNvPr id="24" name="STC-28-refb-text-6">
            <a:extLst xmlns:a="http://schemas.openxmlformats.org/drawingml/2006/main">
              <a:ext uri="{FF2B5EF4-FFF2-40B4-BE49-F238E27FC236}">
                <a16:creationId xmlns:a16="http://schemas.microsoft.com/office/drawing/2014/main" id="{D1BB960C-E6DD-41C9-8486-7CE1BA7BF842}"/>
              </a:ext>
            </a:extLst>
          </p:cNvPr>
          <p:cNvSpPr>
            <a:spLocks xmlns:a="http://schemas.openxmlformats.org/drawingml/2006/main" noGrp="1"/>
          </p:cNvSpPr>
          <p:nvPr/>
        </p:nvSpPr>
        <p:spPr>
          <a:xfrm xmlns:a="http://schemas.openxmlformats.org/drawingml/2006/main">
            <a:off x="1353312"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다른 corpus면 답이 다른가 · 편수 판정은 바뀌고 척추 논지는 남습니다</a:t>
            </a:r>
            <a:endParaRPr sz="1450"/>
          </a:p>
        </p:txBody>
      </p:sp>
      <p:sp>
        <p:nvSpPr>
          <p:cNvPr id="25" name="STC-28-refb-num-7">
            <a:extLst xmlns:a="http://schemas.openxmlformats.org/drawingml/2006/main">
              <a:ext uri="{FF2B5EF4-FFF2-40B4-BE49-F238E27FC236}">
                <a16:creationId xmlns:a16="http://schemas.microsoft.com/office/drawing/2014/main" id="{0C727DF6-D270-448C-962D-3F80CD90C1C1}"/>
              </a:ext>
            </a:extLst>
          </p:cNvPr>
          <p:cNvSpPr>
            <a:spLocks xmlns:a="http://schemas.openxmlformats.org/drawingml/2006/main" noGrp="1"/>
          </p:cNvSpPr>
          <p:nvPr/>
        </p:nvSpPr>
        <p:spPr>
          <a:xfrm xmlns:a="http://schemas.openxmlformats.org/drawingml/2006/main">
            <a:off x="6172200"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08</a:t>
            </a:r>
            <a:endParaRPr sz="950"/>
          </a:p>
        </p:txBody>
      </p:sp>
      <p:sp>
        <p:nvSpPr>
          <p:cNvPr id="26" name="STC-28-refb-text-7">
            <a:extLst xmlns:a="http://schemas.openxmlformats.org/drawingml/2006/main">
              <a:ext uri="{FF2B5EF4-FFF2-40B4-BE49-F238E27FC236}">
                <a16:creationId xmlns:a16="http://schemas.microsoft.com/office/drawing/2014/main" id="{6ABBC0D7-76E2-4001-AF28-E7845303A12C}"/>
              </a:ext>
            </a:extLst>
          </p:cNvPr>
          <p:cNvSpPr>
            <a:spLocks xmlns:a="http://schemas.openxmlformats.org/drawingml/2006/main" noGrp="1"/>
          </p:cNvSpPr>
          <p:nvPr/>
        </p:nvSpPr>
        <p:spPr>
          <a:xfrm xmlns:a="http://schemas.openxmlformats.org/drawingml/2006/main">
            <a:off x="6684264"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왜 성능을 안 보나 · 분류와 평가를 같은 관측으로 못 무너뜨립니다</a:t>
            </a:r>
            <a:endParaRPr sz="1450"/>
          </a:p>
        </p:txBody>
      </p:sp>
      <p:sp>
        <p:nvSpPr>
          <p:cNvPr id="27" name="STC-28-refb-num-8">
            <a:extLst xmlns:a="http://schemas.openxmlformats.org/drawingml/2006/main">
              <a:ext uri="{FF2B5EF4-FFF2-40B4-BE49-F238E27FC236}">
                <a16:creationId xmlns:a16="http://schemas.microsoft.com/office/drawing/2014/main" id="{46D8B90C-45DB-42B5-9A1F-613BD1E09381}"/>
              </a:ext>
            </a:extLst>
          </p:cNvPr>
          <p:cNvSpPr>
            <a:spLocks xmlns:a="http://schemas.openxmlformats.org/drawingml/2006/main" noGrp="1"/>
          </p:cNvSpPr>
          <p:nvPr/>
        </p:nvSpPr>
        <p:spPr>
          <a:xfrm xmlns:a="http://schemas.openxmlformats.org/drawingml/2006/main">
            <a:off x="6172200"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09</a:t>
            </a:r>
            <a:endParaRPr sz="950"/>
          </a:p>
        </p:txBody>
      </p:sp>
      <p:sp>
        <p:nvSpPr>
          <p:cNvPr id="28" name="STC-28-refb-text-8">
            <a:extLst xmlns:a="http://schemas.openxmlformats.org/drawingml/2006/main">
              <a:ext uri="{FF2B5EF4-FFF2-40B4-BE49-F238E27FC236}">
                <a16:creationId xmlns:a16="http://schemas.microsoft.com/office/drawing/2014/main" id="{003CD728-1E52-42E5-9F36-C29B9239D4CC}"/>
              </a:ext>
            </a:extLst>
          </p:cNvPr>
          <p:cNvSpPr>
            <a:spLocks xmlns:a="http://schemas.openxmlformats.org/drawingml/2006/main" noGrp="1"/>
          </p:cNvSpPr>
          <p:nvPr/>
        </p:nvSpPr>
        <p:spPr>
          <a:xfrm xmlns:a="http://schemas.openxmlformats.org/drawingml/2006/main">
            <a:off x="6684264"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제목은 왜 무시하나 · 제목으로는 좌변도 시계도 답할 수 없습니다</a:t>
            </a:r>
            <a:endParaRPr sz="1450"/>
          </a:p>
        </p:txBody>
      </p:sp>
      <p:sp>
        <p:nvSpPr>
          <p:cNvPr id="29" name="STC-28-refb-num-9">
            <a:extLst xmlns:a="http://schemas.openxmlformats.org/drawingml/2006/main">
              <a:ext uri="{FF2B5EF4-FFF2-40B4-BE49-F238E27FC236}">
                <a16:creationId xmlns:a16="http://schemas.microsoft.com/office/drawing/2014/main" id="{E50879DA-7E54-4351-AAFB-A472A2D62D47}"/>
              </a:ext>
            </a:extLst>
          </p:cNvPr>
          <p:cNvSpPr>
            <a:spLocks xmlns:a="http://schemas.openxmlformats.org/drawingml/2006/main" noGrp="1"/>
          </p:cNvSpPr>
          <p:nvPr/>
        </p:nvSpPr>
        <p:spPr>
          <a:xfrm xmlns:a="http://schemas.openxmlformats.org/drawingml/2006/main">
            <a:off x="6172200"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10</a:t>
            </a:r>
            <a:endParaRPr sz="950"/>
          </a:p>
        </p:txBody>
      </p:sp>
      <p:sp>
        <p:nvSpPr>
          <p:cNvPr id="30" name="STC-28-refb-text-9">
            <a:extLst xmlns:a="http://schemas.openxmlformats.org/drawingml/2006/main">
              <a:ext uri="{FF2B5EF4-FFF2-40B4-BE49-F238E27FC236}">
                <a16:creationId xmlns:a16="http://schemas.microsoft.com/office/drawing/2014/main" id="{DD60628D-B747-4D5D-8801-DA792659E4A9}"/>
              </a:ext>
            </a:extLst>
          </p:cNvPr>
          <p:cNvSpPr>
            <a:spLocks xmlns:a="http://schemas.openxmlformats.org/drawingml/2006/main" noGrp="1"/>
          </p:cNvSpPr>
          <p:nvPr/>
        </p:nvSpPr>
        <p:spPr>
          <a:xfrm xmlns:a="http://schemas.openxmlformats.org/drawingml/2006/main">
            <a:off x="6684264"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B군은 버리는 건가 · 아닙니다. 증거가 되는 자리로 옮깁니다</a:t>
            </a:r>
            <a:endParaRPr sz="1450"/>
          </a:p>
        </p:txBody>
      </p:sp>
      <p:sp>
        <p:nvSpPr>
          <p:cNvPr id="31" name="STC-28-refb-num-10">
            <a:extLst xmlns:a="http://schemas.openxmlformats.org/drawingml/2006/main">
              <a:ext uri="{FF2B5EF4-FFF2-40B4-BE49-F238E27FC236}">
                <a16:creationId xmlns:a16="http://schemas.microsoft.com/office/drawing/2014/main" id="{621784A3-6CCA-4390-AAAE-DAE20BA4FC10}"/>
              </a:ext>
            </a:extLst>
          </p:cNvPr>
          <p:cNvSpPr>
            <a:spLocks xmlns:a="http://schemas.openxmlformats.org/drawingml/2006/main" noGrp="1"/>
          </p:cNvSpPr>
          <p:nvPr/>
        </p:nvSpPr>
        <p:spPr>
          <a:xfrm xmlns:a="http://schemas.openxmlformats.org/drawingml/2006/main">
            <a:off x="6172200"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11</a:t>
            </a:r>
            <a:endParaRPr sz="950"/>
          </a:p>
        </p:txBody>
      </p:sp>
      <p:sp>
        <p:nvSpPr>
          <p:cNvPr id="32" name="STC-28-refb-text-10">
            <a:extLst xmlns:a="http://schemas.openxmlformats.org/drawingml/2006/main">
              <a:ext uri="{FF2B5EF4-FFF2-40B4-BE49-F238E27FC236}">
                <a16:creationId xmlns:a16="http://schemas.microsoft.com/office/drawing/2014/main" id="{FABF21B0-6A68-4112-9368-A2454370B25E}"/>
              </a:ext>
            </a:extLst>
          </p:cNvPr>
          <p:cNvSpPr>
            <a:spLocks xmlns:a="http://schemas.openxmlformats.org/drawingml/2006/main" noGrp="1"/>
          </p:cNvSpPr>
          <p:nvPr/>
        </p:nvSpPr>
        <p:spPr>
          <a:xfrm xmlns:a="http://schemas.openxmlformats.org/drawingml/2006/main">
            <a:off x="6684264"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경계 사례가 더 있나 · 규칙상 조건 셋 + 조상 지목이 함께 필요합니다</a:t>
            </a:r>
            <a:endParaRPr sz="1450"/>
          </a:p>
        </p:txBody>
      </p:sp>
      <p:sp>
        <p:nvSpPr>
          <p:cNvPr id="33" name="STC-28-refb-num-11">
            <a:extLst xmlns:a="http://schemas.openxmlformats.org/drawingml/2006/main">
              <a:ext uri="{FF2B5EF4-FFF2-40B4-BE49-F238E27FC236}">
                <a16:creationId xmlns:a16="http://schemas.microsoft.com/office/drawing/2014/main" id="{423ABCE3-5695-4AB3-81A5-58F7E28EC50F}"/>
              </a:ext>
            </a:extLst>
          </p:cNvPr>
          <p:cNvSpPr>
            <a:spLocks xmlns:a="http://schemas.openxmlformats.org/drawingml/2006/main" noGrp="1"/>
          </p:cNvSpPr>
          <p:nvPr/>
        </p:nvSpPr>
        <p:spPr>
          <a:xfrm xmlns:a="http://schemas.openxmlformats.org/drawingml/2006/main">
            <a:off x="6172200"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12</a:t>
            </a:r>
            <a:endParaRPr sz="950"/>
          </a:p>
        </p:txBody>
      </p:sp>
      <p:sp>
        <p:nvSpPr>
          <p:cNvPr id="34" name="STC-28-refb-text-11">
            <a:extLst xmlns:a="http://schemas.openxmlformats.org/drawingml/2006/main">
              <a:ext uri="{FF2B5EF4-FFF2-40B4-BE49-F238E27FC236}">
                <a16:creationId xmlns:a16="http://schemas.microsoft.com/office/drawing/2014/main" id="{FA387B96-278D-49D2-8FD0-388CA7D54831}"/>
              </a:ext>
            </a:extLst>
          </p:cNvPr>
          <p:cNvSpPr>
            <a:spLocks xmlns:a="http://schemas.openxmlformats.org/drawingml/2006/main" noGrp="1"/>
          </p:cNvSpPr>
          <p:nvPr/>
        </p:nvSpPr>
        <p:spPr>
          <a:xfrm xmlns:a="http://schemas.openxmlformats.org/drawingml/2006/main">
            <a:off x="6684264"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판별식을 누가 정했나 · 이 발표입니다. 그래서 변형 넷을 계산해 뒀습니다</a:t>
            </a:r>
            <a:endParaRPr sz="1450"/>
          </a:p>
        </p:txBody>
      </p:sp>
      <p:sp>
        <p:nvSpPr>
          <p:cNvPr id="35" name="STC-28-refb-num-12">
            <a:extLst xmlns:a="http://schemas.openxmlformats.org/drawingml/2006/main">
              <a:ext uri="{FF2B5EF4-FFF2-40B4-BE49-F238E27FC236}">
                <a16:creationId xmlns:a16="http://schemas.microsoft.com/office/drawing/2014/main" id="{7C5C649A-B264-49EE-9C56-322B681FB7B0}"/>
              </a:ext>
            </a:extLst>
          </p:cNvPr>
          <p:cNvSpPr>
            <a:spLocks xmlns:a="http://schemas.openxmlformats.org/drawingml/2006/main" noGrp="1"/>
          </p:cNvSpPr>
          <p:nvPr/>
        </p:nvSpPr>
        <p:spPr>
          <a:xfrm xmlns:a="http://schemas.openxmlformats.org/drawingml/2006/main">
            <a:off x="6172200"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13</a:t>
            </a:r>
            <a:endParaRPr sz="950"/>
          </a:p>
        </p:txBody>
      </p:sp>
      <p:sp>
        <p:nvSpPr>
          <p:cNvPr id="36" name="STC-28-refb-text-12">
            <a:extLst xmlns:a="http://schemas.openxmlformats.org/drawingml/2006/main">
              <a:ext uri="{FF2B5EF4-FFF2-40B4-BE49-F238E27FC236}">
                <a16:creationId xmlns:a16="http://schemas.microsoft.com/office/drawing/2014/main" id="{075599F4-BF6A-4D49-BD32-E54FFCC6CDF5}"/>
              </a:ext>
            </a:extLst>
          </p:cNvPr>
          <p:cNvSpPr>
            <a:spLocks xmlns:a="http://schemas.openxmlformats.org/drawingml/2006/main" noGrp="1"/>
          </p:cNvSpPr>
          <p:nvPr/>
        </p:nvSpPr>
        <p:spPr>
          <a:xfrm xmlns:a="http://schemas.openxmlformats.org/drawingml/2006/main">
            <a:off x="6684264"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재현 가능한가 · 다섯 단계 절차가 그대로 적혀 있습니다</a:t>
            </a:r>
            <a:endParaRPr sz="1450"/>
          </a:p>
        </p:txBody>
      </p:sp>
      <p:sp>
        <p:nvSpPr>
          <p:cNvPr id="37" name="STC-28-refb-num-13">
            <a:extLst xmlns:a="http://schemas.openxmlformats.org/drawingml/2006/main">
              <a:ext uri="{FF2B5EF4-FFF2-40B4-BE49-F238E27FC236}">
                <a16:creationId xmlns:a16="http://schemas.microsoft.com/office/drawing/2014/main" id="{22F839F5-4574-40A5-8CD5-258A84D7F4AE}"/>
              </a:ext>
            </a:extLst>
          </p:cNvPr>
          <p:cNvSpPr>
            <a:spLocks xmlns:a="http://schemas.openxmlformats.org/drawingml/2006/main" noGrp="1"/>
          </p:cNvSpPr>
          <p:nvPr/>
        </p:nvSpPr>
        <p:spPr>
          <a:xfrm xmlns:a="http://schemas.openxmlformats.org/drawingml/2006/main">
            <a:off x="6172200"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14</a:t>
            </a:r>
            <a:endParaRPr sz="950"/>
          </a:p>
        </p:txBody>
      </p:sp>
      <p:sp>
        <p:nvSpPr>
          <p:cNvPr id="38" name="STC-28-refb-text-13">
            <a:extLst xmlns:a="http://schemas.openxmlformats.org/drawingml/2006/main">
              <a:ext uri="{FF2B5EF4-FFF2-40B4-BE49-F238E27FC236}">
                <a16:creationId xmlns:a16="http://schemas.microsoft.com/office/drawing/2014/main" id="{79E1BA22-9F12-45B8-AD2D-27DBAC767625}"/>
              </a:ext>
            </a:extLst>
          </p:cNvPr>
          <p:cNvSpPr>
            <a:spLocks xmlns:a="http://schemas.openxmlformats.org/drawingml/2006/main" noGrp="1"/>
          </p:cNvSpPr>
          <p:nvPr/>
        </p:nvSpPr>
        <p:spPr>
          <a:xfrm xmlns:a="http://schemas.openxmlformats.org/drawingml/2006/main">
            <a:off x="6684264"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새 논문이 나오면 · 같은 절차를 다시 돌리면 됩니다</a:t>
            </a:r>
            <a:endParaRPr sz="1450"/>
          </a:p>
        </p:txBody>
      </p:sp>
      <p:sp>
        <p:nvSpPr>
          <p:cNvPr id="39" name="STC-28-refb-boundary">
            <a:extLst xmlns:a="http://schemas.openxmlformats.org/drawingml/2006/main">
              <a:ext uri="{FF2B5EF4-FFF2-40B4-BE49-F238E27FC236}">
                <a16:creationId xmlns:a16="http://schemas.microsoft.com/office/drawing/2014/main" id="{6137E2DB-ECF3-4B65-A1BB-AF6F9CF09DA4}"/>
              </a:ext>
            </a:extLst>
          </p:cNvPr>
          <p:cNvSpPr>
            <a:spLocks xmlns:a="http://schemas.openxmlformats.org/drawingml/2006/main" noGrp="1"/>
          </p:cNvSpPr>
          <p:nvPr/>
        </p:nvSpPr>
        <p:spPr>
          <a:xfrm xmlns:a="http://schemas.openxmlformats.org/drawingml/2006/main">
            <a:off x="1664208" y="5650992"/>
            <a:ext cx="8869680" cy="39319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40" name="STC-28-refb-boundary-text">
            <a:extLst xmlns:a="http://schemas.openxmlformats.org/drawingml/2006/main">
              <a:ext uri="{FF2B5EF4-FFF2-40B4-BE49-F238E27FC236}">
                <a16:creationId xmlns:a16="http://schemas.microsoft.com/office/drawing/2014/main" id="{372D850E-B084-4BDF-B840-981137D83682}"/>
              </a:ext>
            </a:extLst>
          </p:cNvPr>
          <p:cNvSpPr>
            <a:spLocks xmlns:a="http://schemas.openxmlformats.org/drawingml/2006/main" noGrp="1"/>
          </p:cNvSpPr>
          <p:nvPr/>
        </p:nvSpPr>
        <p:spPr>
          <a:xfrm xmlns:a="http://schemas.openxmlformats.org/drawingml/2006/main">
            <a:off x="1901952" y="5769864"/>
            <a:ext cx="839419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b="1">
                <a:solidFill>
                  <a:srgbClr val="FFFFFF"/>
                </a:solidFill>
                <a:latin typeface="Noto Sans Mono CJK KR"/>
                <a:ea typeface="Noto Sans Mono CJK KR"/>
                <a:cs typeface="Noto Sans Mono CJK KR"/>
              </a:rPr>
              <a:t>편의와 반대로 간 판정 셋을 보여 드립니다</a:t>
            </a:r>
            <a:endParaRPr sz="1050"/>
          </a:p>
        </p:txBody>
      </p:sp>
    </p:spTree>
    <p:extLst>
      <p:ext uri="{BB962C8B-B14F-4D97-AF65-F5344CB8AC3E}">
        <p14:creationId xmlns:p14="http://schemas.microsoft.com/office/powerpoint/2010/main" val="2092040528"/>
      </p:ext>
    </p:extLst>
  </p:cSld>
</p:sld>
</file>

<file path=ppt/slides/slide11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8-section">
            <a:extLst xmlns:a="http://schemas.openxmlformats.org/drawingml/2006/main">
              <a:ext uri="{FF2B5EF4-FFF2-40B4-BE49-F238E27FC236}">
                <a16:creationId xmlns:a16="http://schemas.microsoft.com/office/drawing/2014/main" id="{38FCD26C-6C12-44CF-8CD7-4267D96F198F}"/>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Q AND A</a:t>
            </a:r>
            <a:endParaRPr sz="950"/>
          </a:p>
        </p:txBody>
      </p:sp>
      <p:sp>
        <p:nvSpPr>
          <p:cNvPr id="3" name="STC-28-slide-id">
            <a:extLst xmlns:a="http://schemas.openxmlformats.org/drawingml/2006/main">
              <a:ext uri="{FF2B5EF4-FFF2-40B4-BE49-F238E27FC236}">
                <a16:creationId xmlns:a16="http://schemas.microsoft.com/office/drawing/2014/main" id="{6A71C3FC-3B13-4A28-97D6-67C2759E91C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STC-119</a:t>
            </a:r>
            <a:endParaRPr sz="950"/>
          </a:p>
        </p:txBody>
      </p:sp>
      <p:sp>
        <p:nvSpPr>
          <p:cNvPr id="4" name="STC-28-headline">
            <a:extLst xmlns:a="http://schemas.openxmlformats.org/drawingml/2006/main">
              <a:ext uri="{FF2B5EF4-FFF2-40B4-BE49-F238E27FC236}">
                <a16:creationId xmlns:a16="http://schemas.microsoft.com/office/drawing/2014/main" id="{5A71EE62-05C8-4CE0-91E4-63D515E2CB75}"/>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17191C"/>
                </a:solidFill>
                <a:latin typeface="Noto Sans CJK KR"/>
                <a:ea typeface="Noto Sans CJK KR"/>
                <a:cs typeface="Noto Sans CJK KR"/>
              </a:rPr>
              <a:t>예상 질문 ② — 회계와 숫자에 대하여</a:t>
            </a:r>
            <a:endParaRPr sz="2800"/>
          </a:p>
        </p:txBody>
      </p:sp>
      <p:sp>
        <p:nvSpPr>
          <p:cNvPr id="5" name="STC-28-status-label">
            <a:extLst xmlns:a="http://schemas.openxmlformats.org/drawingml/2006/main">
              <a:ext uri="{FF2B5EF4-FFF2-40B4-BE49-F238E27FC236}">
                <a16:creationId xmlns:a16="http://schemas.microsoft.com/office/drawing/2014/main" id="{6E72FC80-4CD3-46F0-9E39-2D524CABE32C}"/>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44E8A"/>
                </a:solidFill>
                <a:latin typeface="Noto Sans Mono CJK KR"/>
                <a:ea typeface="Noto Sans Mono CJK KR"/>
                <a:cs typeface="Noto Sans Mono CJK KR"/>
              </a:rPr>
              <a:t>예상 질문</a:t>
            </a:r>
            <a:endParaRPr sz="1000"/>
          </a:p>
        </p:txBody>
      </p:sp>
      <p:sp>
        <p:nvSpPr>
          <p:cNvPr id="6" name="STC-28-status-rule">
            <a:extLst xmlns:a="http://schemas.openxmlformats.org/drawingml/2006/main">
              <a:ext uri="{FF2B5EF4-FFF2-40B4-BE49-F238E27FC236}">
                <a16:creationId xmlns:a16="http://schemas.microsoft.com/office/drawing/2014/main" id="{381AABF8-3E35-422A-9B66-BD2E60850212}"/>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44E8A"/>
            </a:solidFill>
            <a:prstDash val="solid"/>
            <a:tailEnd type="none"/>
          </a:ln>
        </p:spPr>
      </p:sp>
      <p:sp>
        <p:nvSpPr>
          <p:cNvPr id="7" name="STC-28-footer-rule">
            <a:extLst xmlns:a="http://schemas.openxmlformats.org/drawingml/2006/main">
              <a:ext uri="{FF2B5EF4-FFF2-40B4-BE49-F238E27FC236}">
                <a16:creationId xmlns:a16="http://schemas.microsoft.com/office/drawing/2014/main" id="{15C701C2-A052-4584-B4CD-2B50899B0C87}"/>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8-source-footer">
            <a:extLst xmlns:a="http://schemas.openxmlformats.org/drawingml/2006/main">
              <a:ext uri="{FF2B5EF4-FFF2-40B4-BE49-F238E27FC236}">
                <a16:creationId xmlns:a16="http://schemas.microsoft.com/office/drawing/2014/main" id="{DFB90BE2-907D-4C66-A463-DE17189AD77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experiments/stc/X1, X2 · study-kr-stc ch25, ch26</a:t>
            </a:r>
            <a:endParaRPr sz="850"/>
          </a:p>
        </p:txBody>
      </p:sp>
      <p:sp>
        <p:nvSpPr>
          <p:cNvPr id="9" name="STC-28-page-number">
            <a:extLst xmlns:a="http://schemas.openxmlformats.org/drawingml/2006/main">
              <a:ext uri="{FF2B5EF4-FFF2-40B4-BE49-F238E27FC236}">
                <a16:creationId xmlns:a16="http://schemas.microsoft.com/office/drawing/2014/main" id="{83FCB4BE-56BD-44FC-B01A-FE557431420A}"/>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119</a:t>
            </a:r>
            <a:endParaRPr sz="850"/>
          </a:p>
        </p:txBody>
      </p:sp>
      <p:sp>
        <p:nvSpPr>
          <p:cNvPr id="11" name="STC-28-refb-num-0">
            <a:extLst xmlns:a="http://schemas.openxmlformats.org/drawingml/2006/main">
              <a:ext uri="{FF2B5EF4-FFF2-40B4-BE49-F238E27FC236}">
                <a16:creationId xmlns:a16="http://schemas.microsoft.com/office/drawing/2014/main" id="{A9E3672A-22B8-4FD1-AF0A-CD6431C1CDF5}"/>
              </a:ext>
            </a:extLst>
          </p:cNvPr>
          <p:cNvSpPr>
            <a:spLocks xmlns:a="http://schemas.openxmlformats.org/drawingml/2006/main" noGrp="1"/>
          </p:cNvSpPr>
          <p:nvPr/>
        </p:nvSpPr>
        <p:spPr>
          <a:xfrm xmlns:a="http://schemas.openxmlformats.org/drawingml/2006/main">
            <a:off x="841248"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01</a:t>
            </a:r>
            <a:endParaRPr sz="950"/>
          </a:p>
        </p:txBody>
      </p:sp>
      <p:sp>
        <p:nvSpPr>
          <p:cNvPr id="12" name="STC-28-refb-text-0">
            <a:extLst xmlns:a="http://schemas.openxmlformats.org/drawingml/2006/main">
              <a:ext uri="{FF2B5EF4-FFF2-40B4-BE49-F238E27FC236}">
                <a16:creationId xmlns:a16="http://schemas.microsoft.com/office/drawing/2014/main" id="{73D96B02-EBDC-4045-B33F-7D0B788D5032}"/>
              </a:ext>
            </a:extLst>
          </p:cNvPr>
          <p:cNvSpPr>
            <a:spLocks xmlns:a="http://schemas.openxmlformats.org/drawingml/2006/main" noGrp="1"/>
          </p:cNvSpPr>
          <p:nvPr/>
        </p:nvSpPr>
        <p:spPr>
          <a:xfrm xmlns:a="http://schemas.openxmlformats.org/drawingml/2006/main">
            <a:off x="1353312"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5×를 부정하나 · 아닙니다. 부정하는 건 축의 등식입니다</a:t>
            </a:r>
            <a:endParaRPr sz="1450"/>
          </a:p>
        </p:txBody>
      </p:sp>
      <p:sp>
        <p:nvSpPr>
          <p:cNvPr id="13" name="STC-28-refb-num-1">
            <a:extLst xmlns:a="http://schemas.openxmlformats.org/drawingml/2006/main">
              <a:ext uri="{FF2B5EF4-FFF2-40B4-BE49-F238E27FC236}">
                <a16:creationId xmlns:a16="http://schemas.microsoft.com/office/drawing/2014/main" id="{592C164C-E030-4739-A0A1-E046FC00C259}"/>
              </a:ext>
            </a:extLst>
          </p:cNvPr>
          <p:cNvSpPr>
            <a:spLocks xmlns:a="http://schemas.openxmlformats.org/drawingml/2006/main" noGrp="1"/>
          </p:cNvSpPr>
          <p:nvPr/>
        </p:nvSpPr>
        <p:spPr>
          <a:xfrm xmlns:a="http://schemas.openxmlformats.org/drawingml/2006/main">
            <a:off x="841248"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02</a:t>
            </a:r>
            <a:endParaRPr sz="950"/>
          </a:p>
        </p:txBody>
      </p:sp>
      <p:sp>
        <p:nvSpPr>
          <p:cNvPr id="14" name="STC-28-refb-text-1">
            <a:extLst xmlns:a="http://schemas.openxmlformats.org/drawingml/2006/main">
              <a:ext uri="{FF2B5EF4-FFF2-40B4-BE49-F238E27FC236}">
                <a16:creationId xmlns:a16="http://schemas.microsoft.com/office/drawing/2014/main" id="{6827CF69-172C-4418-BA31-264E74CB0A71}"/>
              </a:ext>
            </a:extLst>
          </p:cNvPr>
          <p:cNvSpPr>
            <a:spLocks xmlns:a="http://schemas.openxmlformats.org/drawingml/2006/main" noGrp="1"/>
          </p:cNvSpPr>
          <p:nvPr/>
        </p:nvSpPr>
        <p:spPr>
          <a:xfrm xmlns:a="http://schemas.openxmlformats.org/drawingml/2006/main">
            <a:off x="1353312"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L*가 몇 토큰인가 · 절대치는 단정하지 않습니다. 순서만 씁니다</a:t>
            </a:r>
            <a:endParaRPr sz="1450"/>
          </a:p>
        </p:txBody>
      </p:sp>
      <p:sp>
        <p:nvSpPr>
          <p:cNvPr id="15" name="STC-28-refb-num-2">
            <a:extLst xmlns:a="http://schemas.openxmlformats.org/drawingml/2006/main">
              <a:ext uri="{FF2B5EF4-FFF2-40B4-BE49-F238E27FC236}">
                <a16:creationId xmlns:a16="http://schemas.microsoft.com/office/drawing/2014/main" id="{46BAE1D1-9D98-472E-9618-BD4F36CBAB2C}"/>
              </a:ext>
            </a:extLst>
          </p:cNvPr>
          <p:cNvSpPr>
            <a:spLocks xmlns:a="http://schemas.openxmlformats.org/drawingml/2006/main" noGrp="1"/>
          </p:cNvSpPr>
          <p:nvPr/>
        </p:nvSpPr>
        <p:spPr>
          <a:xfrm xmlns:a="http://schemas.openxmlformats.org/drawingml/2006/main">
            <a:off x="841248"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03</a:t>
            </a:r>
            <a:endParaRPr sz="950"/>
          </a:p>
        </p:txBody>
      </p:sp>
      <p:sp>
        <p:nvSpPr>
          <p:cNvPr id="16" name="STC-28-refb-text-2">
            <a:extLst xmlns:a="http://schemas.openxmlformats.org/drawingml/2006/main">
              <a:ext uri="{FF2B5EF4-FFF2-40B4-BE49-F238E27FC236}">
                <a16:creationId xmlns:a16="http://schemas.microsoft.com/office/drawing/2014/main" id="{8AB23C3E-B51C-4DDD-AD70-656E2327298D}"/>
              </a:ext>
            </a:extLst>
          </p:cNvPr>
          <p:cNvSpPr>
            <a:spLocks xmlns:a="http://schemas.openxmlformats.org/drawingml/2006/main" noGrp="1"/>
          </p:cNvSpPr>
          <p:nvPr/>
        </p:nvSpPr>
        <p:spPr>
          <a:xfrm xmlns:a="http://schemas.openxmlformats.org/drawingml/2006/main">
            <a:off x="1353312"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prefix cache 켜면? · 임계가 실무에서 사라질 수 있습니다 — 양방향</a:t>
            </a:r>
            <a:endParaRPr sz="1450"/>
          </a:p>
        </p:txBody>
      </p:sp>
      <p:sp>
        <p:nvSpPr>
          <p:cNvPr id="17" name="STC-28-refb-num-3">
            <a:extLst xmlns:a="http://schemas.openxmlformats.org/drawingml/2006/main">
              <a:ext uri="{FF2B5EF4-FFF2-40B4-BE49-F238E27FC236}">
                <a16:creationId xmlns:a16="http://schemas.microsoft.com/office/drawing/2014/main" id="{AD2C23C3-19B5-4931-8A2D-09E68901DA23}"/>
              </a:ext>
            </a:extLst>
          </p:cNvPr>
          <p:cNvSpPr>
            <a:spLocks xmlns:a="http://schemas.openxmlformats.org/drawingml/2006/main" noGrp="1"/>
          </p:cNvSpPr>
          <p:nvPr/>
        </p:nvSpPr>
        <p:spPr>
          <a:xfrm xmlns:a="http://schemas.openxmlformats.org/drawingml/2006/main">
            <a:off x="841248"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04</a:t>
            </a:r>
            <a:endParaRPr sz="950"/>
          </a:p>
        </p:txBody>
      </p:sp>
      <p:sp>
        <p:nvSpPr>
          <p:cNvPr id="18" name="STC-28-refb-text-3">
            <a:extLst xmlns:a="http://schemas.openxmlformats.org/drawingml/2006/main">
              <a:ext uri="{FF2B5EF4-FFF2-40B4-BE49-F238E27FC236}">
                <a16:creationId xmlns:a16="http://schemas.microsoft.com/office/drawing/2014/main" id="{9333E338-EF4B-4EEB-BCE8-8D680BD16B5D}"/>
              </a:ext>
            </a:extLst>
          </p:cNvPr>
          <p:cNvSpPr>
            <a:spLocks xmlns:a="http://schemas.openxmlformats.org/drawingml/2006/main" noGrp="1"/>
          </p:cNvSpPr>
          <p:nvPr/>
        </p:nvSpPr>
        <p:spPr>
          <a:xfrm xmlns:a="http://schemas.openxmlformats.org/drawingml/2006/main">
            <a:off x="1353312"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κ_cost가 정말 10인가 · 벤더 문서 인용 한 줄입니다. 측정이 없습니다</a:t>
            </a:r>
            <a:endParaRPr sz="1450"/>
          </a:p>
        </p:txBody>
      </p:sp>
      <p:sp>
        <p:nvSpPr>
          <p:cNvPr id="19" name="STC-28-refb-num-4">
            <a:extLst xmlns:a="http://schemas.openxmlformats.org/drawingml/2006/main">
              <a:ext uri="{FF2B5EF4-FFF2-40B4-BE49-F238E27FC236}">
                <a16:creationId xmlns:a16="http://schemas.microsoft.com/office/drawing/2014/main" id="{1E15AAF6-4750-45EE-A03F-1DC59364D3E5}"/>
              </a:ext>
            </a:extLst>
          </p:cNvPr>
          <p:cNvSpPr>
            <a:spLocks xmlns:a="http://schemas.openxmlformats.org/drawingml/2006/main" noGrp="1"/>
          </p:cNvSpPr>
          <p:nvPr/>
        </p:nvSpPr>
        <p:spPr>
          <a:xfrm xmlns:a="http://schemas.openxmlformats.org/drawingml/2006/main">
            <a:off x="841248"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05</a:t>
            </a:r>
            <a:endParaRPr sz="950"/>
          </a:p>
        </p:txBody>
      </p:sp>
      <p:sp>
        <p:nvSpPr>
          <p:cNvPr id="20" name="STC-28-refb-text-4">
            <a:extLst xmlns:a="http://schemas.openxmlformats.org/drawingml/2006/main">
              <a:ext uri="{FF2B5EF4-FFF2-40B4-BE49-F238E27FC236}">
                <a16:creationId xmlns:a16="http://schemas.microsoft.com/office/drawing/2014/main" id="{BE166349-AC22-429E-9D14-CDAFE2AD676B}"/>
              </a:ext>
            </a:extLst>
          </p:cNvPr>
          <p:cNvSpPr>
            <a:spLocks xmlns:a="http://schemas.openxmlformats.org/drawingml/2006/main" noGrp="1"/>
          </p:cNvSpPr>
          <p:nvPr/>
        </p:nvSpPr>
        <p:spPr>
          <a:xfrm xmlns:a="http://schemas.openxmlformats.org/drawingml/2006/main">
            <a:off x="1353312"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바이트 값이 왜 다른가 · 앵커 구성이 제 선택입니다. 자릿수만 보십시오</a:t>
            </a:r>
            <a:endParaRPr sz="1450"/>
          </a:p>
        </p:txBody>
      </p:sp>
      <p:sp>
        <p:nvSpPr>
          <p:cNvPr id="21" name="STC-28-refb-num-5">
            <a:extLst xmlns:a="http://schemas.openxmlformats.org/drawingml/2006/main">
              <a:ext uri="{FF2B5EF4-FFF2-40B4-BE49-F238E27FC236}">
                <a16:creationId xmlns:a16="http://schemas.microsoft.com/office/drawing/2014/main" id="{14A1CF6F-F410-4DC0-A538-64E6E15DD425}"/>
              </a:ext>
            </a:extLst>
          </p:cNvPr>
          <p:cNvSpPr>
            <a:spLocks xmlns:a="http://schemas.openxmlformats.org/drawingml/2006/main" noGrp="1"/>
          </p:cNvSpPr>
          <p:nvPr/>
        </p:nvSpPr>
        <p:spPr>
          <a:xfrm xmlns:a="http://schemas.openxmlformats.org/drawingml/2006/main">
            <a:off x="841248"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06</a:t>
            </a:r>
            <a:endParaRPr sz="950"/>
          </a:p>
        </p:txBody>
      </p:sp>
      <p:sp>
        <p:nvSpPr>
          <p:cNvPr id="22" name="STC-28-refb-text-5">
            <a:extLst xmlns:a="http://schemas.openxmlformats.org/drawingml/2006/main">
              <a:ext uri="{FF2B5EF4-FFF2-40B4-BE49-F238E27FC236}">
                <a16:creationId xmlns:a16="http://schemas.microsoft.com/office/drawing/2014/main" id="{316DBB8F-0966-4178-AA42-3DCCAA57F4E8}"/>
              </a:ext>
            </a:extLst>
          </p:cNvPr>
          <p:cNvSpPr>
            <a:spLocks xmlns:a="http://schemas.openxmlformats.org/drawingml/2006/main" noGrp="1"/>
          </p:cNvSpPr>
          <p:nvPr/>
        </p:nvSpPr>
        <p:spPr>
          <a:xfrm xmlns:a="http://schemas.openxmlformats.org/drawingml/2006/main">
            <a:off x="1353312"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3.64를 왜 하한이라 하나 · 원 논문 §3.2가 그렇게 씁니다</a:t>
            </a:r>
            <a:endParaRPr sz="1450"/>
          </a:p>
        </p:txBody>
      </p:sp>
      <p:sp>
        <p:nvSpPr>
          <p:cNvPr id="23" name="STC-28-refb-num-6">
            <a:extLst xmlns:a="http://schemas.openxmlformats.org/drawingml/2006/main">
              <a:ext uri="{FF2B5EF4-FFF2-40B4-BE49-F238E27FC236}">
                <a16:creationId xmlns:a16="http://schemas.microsoft.com/office/drawing/2014/main" id="{127FECDE-8F42-43EB-9FE0-E111504E3910}"/>
              </a:ext>
            </a:extLst>
          </p:cNvPr>
          <p:cNvSpPr>
            <a:spLocks xmlns:a="http://schemas.openxmlformats.org/drawingml/2006/main" noGrp="1"/>
          </p:cNvSpPr>
          <p:nvPr/>
        </p:nvSpPr>
        <p:spPr>
          <a:xfrm xmlns:a="http://schemas.openxmlformats.org/drawingml/2006/main">
            <a:off x="841248"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07</a:t>
            </a:r>
            <a:endParaRPr sz="950"/>
          </a:p>
        </p:txBody>
      </p:sp>
      <p:sp>
        <p:nvSpPr>
          <p:cNvPr id="24" name="STC-28-refb-text-6">
            <a:extLst xmlns:a="http://schemas.openxmlformats.org/drawingml/2006/main">
              <a:ext uri="{FF2B5EF4-FFF2-40B4-BE49-F238E27FC236}">
                <a16:creationId xmlns:a16="http://schemas.microsoft.com/office/drawing/2014/main" id="{D1BB960C-E6DD-41C9-8486-7CE1BA7BF842}"/>
              </a:ext>
            </a:extLst>
          </p:cNvPr>
          <p:cNvSpPr>
            <a:spLocks xmlns:a="http://schemas.openxmlformats.org/drawingml/2006/main" noGrp="1"/>
          </p:cNvSpPr>
          <p:nvPr/>
        </p:nvSpPr>
        <p:spPr>
          <a:xfrm xmlns:a="http://schemas.openxmlformats.org/drawingml/2006/main">
            <a:off x="1353312"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int4로 내려도 되나 · 그 실험이 corpus에 0편입니다. 모릅니다</a:t>
            </a:r>
            <a:endParaRPr sz="1450"/>
          </a:p>
        </p:txBody>
      </p:sp>
      <p:sp>
        <p:nvSpPr>
          <p:cNvPr id="25" name="STC-28-refb-num-7">
            <a:extLst xmlns:a="http://schemas.openxmlformats.org/drawingml/2006/main">
              <a:ext uri="{FF2B5EF4-FFF2-40B4-BE49-F238E27FC236}">
                <a16:creationId xmlns:a16="http://schemas.microsoft.com/office/drawing/2014/main" id="{0C727DF6-D270-448C-962D-3F80CD90C1C1}"/>
              </a:ext>
            </a:extLst>
          </p:cNvPr>
          <p:cNvSpPr>
            <a:spLocks xmlns:a="http://schemas.openxmlformats.org/drawingml/2006/main" noGrp="1"/>
          </p:cNvSpPr>
          <p:nvPr/>
        </p:nvSpPr>
        <p:spPr>
          <a:xfrm xmlns:a="http://schemas.openxmlformats.org/drawingml/2006/main">
            <a:off x="6172200"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08</a:t>
            </a:r>
            <a:endParaRPr sz="950"/>
          </a:p>
        </p:txBody>
      </p:sp>
      <p:sp>
        <p:nvSpPr>
          <p:cNvPr id="26" name="STC-28-refb-text-7">
            <a:extLst xmlns:a="http://schemas.openxmlformats.org/drawingml/2006/main">
              <a:ext uri="{FF2B5EF4-FFF2-40B4-BE49-F238E27FC236}">
                <a16:creationId xmlns:a16="http://schemas.microsoft.com/office/drawing/2014/main" id="{6ABBC0D7-76E2-4001-AF28-E7845303A12C}"/>
              </a:ext>
            </a:extLst>
          </p:cNvPr>
          <p:cNvSpPr>
            <a:spLocks xmlns:a="http://schemas.openxmlformats.org/drawingml/2006/main" noGrp="1"/>
          </p:cNvSpPr>
          <p:nvPr/>
        </p:nvSpPr>
        <p:spPr>
          <a:xfrm xmlns:a="http://schemas.openxmlformats.org/drawingml/2006/main">
            <a:off x="6684264"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N_q는 얼마로 보나 · 논문의 {1,2,5,10}을 그대로 씁니다. 분포는 없습니다</a:t>
            </a:r>
            <a:endParaRPr sz="1450"/>
          </a:p>
        </p:txBody>
      </p:sp>
      <p:sp>
        <p:nvSpPr>
          <p:cNvPr id="27" name="STC-28-refb-num-8">
            <a:extLst xmlns:a="http://schemas.openxmlformats.org/drawingml/2006/main">
              <a:ext uri="{FF2B5EF4-FFF2-40B4-BE49-F238E27FC236}">
                <a16:creationId xmlns:a16="http://schemas.microsoft.com/office/drawing/2014/main" id="{46D8B90C-45DB-42B5-9A1F-613BD1E09381}"/>
              </a:ext>
            </a:extLst>
          </p:cNvPr>
          <p:cNvSpPr>
            <a:spLocks xmlns:a="http://schemas.openxmlformats.org/drawingml/2006/main" noGrp="1"/>
          </p:cNvSpPr>
          <p:nvPr/>
        </p:nvSpPr>
        <p:spPr>
          <a:xfrm xmlns:a="http://schemas.openxmlformats.org/drawingml/2006/main">
            <a:off x="6172200"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09</a:t>
            </a:r>
            <a:endParaRPr sz="950"/>
          </a:p>
        </p:txBody>
      </p:sp>
      <p:sp>
        <p:nvSpPr>
          <p:cNvPr id="28" name="STC-28-refb-text-8">
            <a:extLst xmlns:a="http://schemas.openxmlformats.org/drawingml/2006/main">
              <a:ext uri="{FF2B5EF4-FFF2-40B4-BE49-F238E27FC236}">
                <a16:creationId xmlns:a16="http://schemas.microsoft.com/office/drawing/2014/main" id="{003CD728-1E52-42E5-9F36-C29B9239D4CC}"/>
              </a:ext>
            </a:extLst>
          </p:cNvPr>
          <p:cNvSpPr>
            <a:spLocks xmlns:a="http://schemas.openxmlformats.org/drawingml/2006/main" noGrp="1"/>
          </p:cNvSpPr>
          <p:nvPr/>
        </p:nvSpPr>
        <p:spPr>
          <a:xfrm xmlns:a="http://schemas.openxmlformats.org/drawingml/2006/main">
            <a:off x="6684264"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왜 GPU로 안 쟀나 · 이 host에 GPU가 없습니다. 그래서 값 주장을 안 합니다</a:t>
            </a:r>
            <a:endParaRPr sz="1450"/>
          </a:p>
        </p:txBody>
      </p:sp>
      <p:sp>
        <p:nvSpPr>
          <p:cNvPr id="29" name="STC-28-refb-num-9">
            <a:extLst xmlns:a="http://schemas.openxmlformats.org/drawingml/2006/main">
              <a:ext uri="{FF2B5EF4-FFF2-40B4-BE49-F238E27FC236}">
                <a16:creationId xmlns:a16="http://schemas.microsoft.com/office/drawing/2014/main" id="{E50879DA-7E54-4351-AAFB-A472A2D62D47}"/>
              </a:ext>
            </a:extLst>
          </p:cNvPr>
          <p:cNvSpPr>
            <a:spLocks xmlns:a="http://schemas.openxmlformats.org/drawingml/2006/main" noGrp="1"/>
          </p:cNvSpPr>
          <p:nvPr/>
        </p:nvSpPr>
        <p:spPr>
          <a:xfrm xmlns:a="http://schemas.openxmlformats.org/drawingml/2006/main">
            <a:off x="6172200"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10</a:t>
            </a:r>
            <a:endParaRPr sz="950"/>
          </a:p>
        </p:txBody>
      </p:sp>
      <p:sp>
        <p:nvSpPr>
          <p:cNvPr id="30" name="STC-28-refb-text-9">
            <a:extLst xmlns:a="http://schemas.openxmlformats.org/drawingml/2006/main">
              <a:ext uri="{FF2B5EF4-FFF2-40B4-BE49-F238E27FC236}">
                <a16:creationId xmlns:a16="http://schemas.microsoft.com/office/drawing/2014/main" id="{DD60628D-B747-4D5D-8801-DA792659E4A9}"/>
              </a:ext>
            </a:extLst>
          </p:cNvPr>
          <p:cNvSpPr>
            <a:spLocks xmlns:a="http://schemas.openxmlformats.org/drawingml/2006/main" noGrp="1"/>
          </p:cNvSpPr>
          <p:nvPr/>
        </p:nvSpPr>
        <p:spPr>
          <a:xfrm xmlns:a="http://schemas.openxmlformats.org/drawingml/2006/main">
            <a:off x="6684264"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회계가 곧 측정 아닌가 · 아닙니다. 벽시계도 청구액도 아닙니다</a:t>
            </a:r>
            <a:endParaRPr sz="1450"/>
          </a:p>
        </p:txBody>
      </p:sp>
      <p:sp>
        <p:nvSpPr>
          <p:cNvPr id="31" name="STC-28-refb-num-10">
            <a:extLst xmlns:a="http://schemas.openxmlformats.org/drawingml/2006/main">
              <a:ext uri="{FF2B5EF4-FFF2-40B4-BE49-F238E27FC236}">
                <a16:creationId xmlns:a16="http://schemas.microsoft.com/office/drawing/2014/main" id="{621784A3-6CCA-4390-AAAE-DAE20BA4FC10}"/>
              </a:ext>
            </a:extLst>
          </p:cNvPr>
          <p:cNvSpPr>
            <a:spLocks xmlns:a="http://schemas.openxmlformats.org/drawingml/2006/main" noGrp="1"/>
          </p:cNvSpPr>
          <p:nvPr/>
        </p:nvSpPr>
        <p:spPr>
          <a:xfrm xmlns:a="http://schemas.openxmlformats.org/drawingml/2006/main">
            <a:off x="6172200"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11</a:t>
            </a:r>
            <a:endParaRPr sz="950"/>
          </a:p>
        </p:txBody>
      </p:sp>
      <p:sp>
        <p:nvSpPr>
          <p:cNvPr id="32" name="STC-28-refb-text-10">
            <a:extLst xmlns:a="http://schemas.openxmlformats.org/drawingml/2006/main">
              <a:ext uri="{FF2B5EF4-FFF2-40B4-BE49-F238E27FC236}">
                <a16:creationId xmlns:a16="http://schemas.microsoft.com/office/drawing/2014/main" id="{FABF21B0-6A68-4112-9368-A2454370B25E}"/>
              </a:ext>
            </a:extLst>
          </p:cNvPr>
          <p:cNvSpPr>
            <a:spLocks xmlns:a="http://schemas.openxmlformats.org/drawingml/2006/main" noGrp="1"/>
          </p:cNvSpPr>
          <p:nvPr/>
        </p:nvSpPr>
        <p:spPr>
          <a:xfrm xmlns:a="http://schemas.openxmlformats.org/drawingml/2006/main">
            <a:off x="6684264"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결정론이면 맞는 건가 · 재현성은 정확성이 아닙니다</a:t>
            </a:r>
            <a:endParaRPr sz="1450"/>
          </a:p>
        </p:txBody>
      </p:sp>
      <p:sp>
        <p:nvSpPr>
          <p:cNvPr id="33" name="STC-28-refb-num-11">
            <a:extLst xmlns:a="http://schemas.openxmlformats.org/drawingml/2006/main">
              <a:ext uri="{FF2B5EF4-FFF2-40B4-BE49-F238E27FC236}">
                <a16:creationId xmlns:a16="http://schemas.microsoft.com/office/drawing/2014/main" id="{423ABCE3-5695-4AB3-81A5-58F7E28EC50F}"/>
              </a:ext>
            </a:extLst>
          </p:cNvPr>
          <p:cNvSpPr>
            <a:spLocks xmlns:a="http://schemas.openxmlformats.org/drawingml/2006/main" noGrp="1"/>
          </p:cNvSpPr>
          <p:nvPr/>
        </p:nvSpPr>
        <p:spPr>
          <a:xfrm xmlns:a="http://schemas.openxmlformats.org/drawingml/2006/main">
            <a:off x="6172200"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12</a:t>
            </a:r>
            <a:endParaRPr sz="950"/>
          </a:p>
        </p:txBody>
      </p:sp>
      <p:sp>
        <p:nvSpPr>
          <p:cNvPr id="34" name="STC-28-refb-text-11">
            <a:extLst xmlns:a="http://schemas.openxmlformats.org/drawingml/2006/main">
              <a:ext uri="{FF2B5EF4-FFF2-40B4-BE49-F238E27FC236}">
                <a16:creationId xmlns:a16="http://schemas.microsoft.com/office/drawing/2014/main" id="{FA387B96-278D-49D2-8FD0-388CA7D54831}"/>
              </a:ext>
            </a:extLst>
          </p:cNvPr>
          <p:cNvSpPr>
            <a:spLocks xmlns:a="http://schemas.openxmlformats.org/drawingml/2006/main" noGrp="1"/>
          </p:cNvSpPr>
          <p:nvPr/>
        </p:nvSpPr>
        <p:spPr>
          <a:xfrm xmlns:a="http://schemas.openxmlformats.org/drawingml/2006/main">
            <a:off x="6684264"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가정이 유리하지 않나 · 판정 대상에게 유리한 쪽으로 고정했습니다</a:t>
            </a:r>
            <a:endParaRPr sz="1450"/>
          </a:p>
        </p:txBody>
      </p:sp>
      <p:sp>
        <p:nvSpPr>
          <p:cNvPr id="35" name="STC-28-refb-num-12">
            <a:extLst xmlns:a="http://schemas.openxmlformats.org/drawingml/2006/main">
              <a:ext uri="{FF2B5EF4-FFF2-40B4-BE49-F238E27FC236}">
                <a16:creationId xmlns:a16="http://schemas.microsoft.com/office/drawing/2014/main" id="{7C5C649A-B264-49EE-9C56-322B681FB7B0}"/>
              </a:ext>
            </a:extLst>
          </p:cNvPr>
          <p:cNvSpPr>
            <a:spLocks xmlns:a="http://schemas.openxmlformats.org/drawingml/2006/main" noGrp="1"/>
          </p:cNvSpPr>
          <p:nvPr/>
        </p:nvSpPr>
        <p:spPr>
          <a:xfrm xmlns:a="http://schemas.openxmlformats.org/drawingml/2006/main">
            <a:off x="6172200"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13</a:t>
            </a:r>
            <a:endParaRPr sz="950"/>
          </a:p>
        </p:txBody>
      </p:sp>
      <p:sp>
        <p:nvSpPr>
          <p:cNvPr id="36" name="STC-28-refb-text-12">
            <a:extLst xmlns:a="http://schemas.openxmlformats.org/drawingml/2006/main">
              <a:ext uri="{FF2B5EF4-FFF2-40B4-BE49-F238E27FC236}">
                <a16:creationId xmlns:a16="http://schemas.microsoft.com/office/drawing/2014/main" id="{075599F4-BF6A-4D49-BD32-E54FFCC6CDF5}"/>
              </a:ext>
            </a:extLst>
          </p:cNvPr>
          <p:cNvSpPr>
            <a:spLocks xmlns:a="http://schemas.openxmlformats.org/drawingml/2006/main" noGrp="1"/>
          </p:cNvSpPr>
          <p:nvPr/>
        </p:nvSpPr>
        <p:spPr>
          <a:xfrm xmlns:a="http://schemas.openxmlformats.org/drawingml/2006/main">
            <a:off x="6684264"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X3은 원문을 봤나 · 1차 대상은 노트입니다. 원문 probe를 병기했습니다</a:t>
            </a:r>
            <a:endParaRPr sz="1450"/>
          </a:p>
        </p:txBody>
      </p:sp>
      <p:sp>
        <p:nvSpPr>
          <p:cNvPr id="37" name="STC-28-refb-num-13">
            <a:extLst xmlns:a="http://schemas.openxmlformats.org/drawingml/2006/main">
              <a:ext uri="{FF2B5EF4-FFF2-40B4-BE49-F238E27FC236}">
                <a16:creationId xmlns:a16="http://schemas.microsoft.com/office/drawing/2014/main" id="{22F839F5-4574-40A5-8CD5-258A84D7F4AE}"/>
              </a:ext>
            </a:extLst>
          </p:cNvPr>
          <p:cNvSpPr>
            <a:spLocks xmlns:a="http://schemas.openxmlformats.org/drawingml/2006/main" noGrp="1"/>
          </p:cNvSpPr>
          <p:nvPr/>
        </p:nvSpPr>
        <p:spPr>
          <a:xfrm xmlns:a="http://schemas.openxmlformats.org/drawingml/2006/main">
            <a:off x="6172200"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F6B63"/>
                </a:solidFill>
                <a:latin typeface="Noto Sans Mono CJK KR"/>
                <a:ea typeface="Noto Sans Mono CJK KR"/>
                <a:cs typeface="Noto Sans Mono CJK KR"/>
              </a:rPr>
              <a:t>14</a:t>
            </a:r>
            <a:endParaRPr sz="950"/>
          </a:p>
        </p:txBody>
      </p:sp>
      <p:sp>
        <p:nvSpPr>
          <p:cNvPr id="38" name="STC-28-refb-text-13">
            <a:extLst xmlns:a="http://schemas.openxmlformats.org/drawingml/2006/main">
              <a:ext uri="{FF2B5EF4-FFF2-40B4-BE49-F238E27FC236}">
                <a16:creationId xmlns:a16="http://schemas.microsoft.com/office/drawing/2014/main" id="{79E1BA22-9F12-45B8-AD2D-27DBAC767625}"/>
              </a:ext>
            </a:extLst>
          </p:cNvPr>
          <p:cNvSpPr>
            <a:spLocks xmlns:a="http://schemas.openxmlformats.org/drawingml/2006/main" noGrp="1"/>
          </p:cNvSpPr>
          <p:nvPr/>
        </p:nvSpPr>
        <p:spPr>
          <a:xfrm xmlns:a="http://schemas.openxmlformats.org/drawingml/2006/main">
            <a:off x="6684264"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X4를 LLM으로 하면 · 부호가 뒤집히면 제가 틀린 것입니다</a:t>
            </a:r>
            <a:endParaRPr sz="1450"/>
          </a:p>
        </p:txBody>
      </p:sp>
      <p:sp>
        <p:nvSpPr>
          <p:cNvPr id="39" name="STC-28-refb-boundary">
            <a:extLst xmlns:a="http://schemas.openxmlformats.org/drawingml/2006/main">
              <a:ext uri="{FF2B5EF4-FFF2-40B4-BE49-F238E27FC236}">
                <a16:creationId xmlns:a16="http://schemas.microsoft.com/office/drawing/2014/main" id="{6137E2DB-ECF3-4B65-A1BB-AF6F9CF09DA4}"/>
              </a:ext>
            </a:extLst>
          </p:cNvPr>
          <p:cNvSpPr>
            <a:spLocks xmlns:a="http://schemas.openxmlformats.org/drawingml/2006/main" noGrp="1"/>
          </p:cNvSpPr>
          <p:nvPr/>
        </p:nvSpPr>
        <p:spPr>
          <a:xfrm xmlns:a="http://schemas.openxmlformats.org/drawingml/2006/main">
            <a:off x="1664208" y="5650992"/>
            <a:ext cx="8869680" cy="39319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40" name="STC-28-refb-boundary-text">
            <a:extLst xmlns:a="http://schemas.openxmlformats.org/drawingml/2006/main">
              <a:ext uri="{FF2B5EF4-FFF2-40B4-BE49-F238E27FC236}">
                <a16:creationId xmlns:a16="http://schemas.microsoft.com/office/drawing/2014/main" id="{372D850E-B084-4BDF-B840-981137D83682}"/>
              </a:ext>
            </a:extLst>
          </p:cNvPr>
          <p:cNvSpPr>
            <a:spLocks xmlns:a="http://schemas.openxmlformats.org/drawingml/2006/main" noGrp="1"/>
          </p:cNvSpPr>
          <p:nvPr/>
        </p:nvSpPr>
        <p:spPr>
          <a:xfrm xmlns:a="http://schemas.openxmlformats.org/drawingml/2006/main">
            <a:off x="1901952" y="5769864"/>
            <a:ext cx="839419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b="1">
                <a:solidFill>
                  <a:srgbClr val="FFFFFF"/>
                </a:solidFill>
                <a:latin typeface="Noto Sans Mono CJK KR"/>
                <a:ea typeface="Noto Sans Mono CJK KR"/>
                <a:cs typeface="Noto Sans Mono CJK KR"/>
              </a:rPr>
              <a:t>아닙니다. 부정하는 건 축의 등식입니다</a:t>
            </a:r>
            <a:endParaRPr sz="1050"/>
          </a:p>
        </p:txBody>
      </p:sp>
    </p:spTree>
    <p:extLst>
      <p:ext uri="{BB962C8B-B14F-4D97-AF65-F5344CB8AC3E}">
        <p14:creationId xmlns:p14="http://schemas.microsoft.com/office/powerpoint/2010/main" val="2092040528"/>
      </p:ext>
    </p:extLst>
  </p:cSld>
</p:sld>
</file>

<file path=ppt/slides/slide120.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7-section">
            <a:extLst xmlns:a="http://schemas.openxmlformats.org/drawingml/2006/main">
              <a:ext uri="{FF2B5EF4-FFF2-40B4-BE49-F238E27FC236}">
                <a16:creationId xmlns:a16="http://schemas.microsoft.com/office/drawing/2014/main" id="{7385C310-AB33-4F53-AA02-6351BE546D8D}"/>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Q AND A</a:t>
            </a:r>
            <a:endParaRPr sz="950"/>
          </a:p>
        </p:txBody>
      </p:sp>
      <p:sp>
        <p:nvSpPr>
          <p:cNvPr id="3" name="STC-27-slide-id">
            <a:extLst xmlns:a="http://schemas.openxmlformats.org/drawingml/2006/main">
              <a:ext uri="{FF2B5EF4-FFF2-40B4-BE49-F238E27FC236}">
                <a16:creationId xmlns:a16="http://schemas.microsoft.com/office/drawing/2014/main" id="{A62D30FD-D0DE-406A-AEDE-4AA35074F91C}"/>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STC-120</a:t>
            </a:r>
            <a:endParaRPr sz="950"/>
          </a:p>
        </p:txBody>
      </p:sp>
      <p:sp>
        <p:nvSpPr>
          <p:cNvPr id="4" name="STC-27-headline">
            <a:extLst xmlns:a="http://schemas.openxmlformats.org/drawingml/2006/main">
              <a:ext uri="{FF2B5EF4-FFF2-40B4-BE49-F238E27FC236}">
                <a16:creationId xmlns:a16="http://schemas.microsoft.com/office/drawing/2014/main" id="{8FCF2712-593D-425A-8EF4-E1D041C0E6D0}"/>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17191C"/>
                </a:solidFill>
                <a:latin typeface="Noto Sans CJK KR"/>
                <a:ea typeface="Noto Sans CJK KR"/>
                <a:cs typeface="Noto Sans CJK KR"/>
              </a:rPr>
              <a:t>예상 질문 ③ — 판정과 전망에 대하여</a:t>
            </a:r>
            <a:endParaRPr sz="2800"/>
          </a:p>
        </p:txBody>
      </p:sp>
      <p:sp>
        <p:nvSpPr>
          <p:cNvPr id="5" name="STC-27-status-label">
            <a:extLst xmlns:a="http://schemas.openxmlformats.org/drawingml/2006/main">
              <a:ext uri="{FF2B5EF4-FFF2-40B4-BE49-F238E27FC236}">
                <a16:creationId xmlns:a16="http://schemas.microsoft.com/office/drawing/2014/main" id="{13FFAE0E-5D8F-4108-9CA4-9ECCA2BD5C21}"/>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44E8A"/>
                </a:solidFill>
                <a:latin typeface="Noto Sans Mono CJK KR"/>
                <a:ea typeface="Noto Sans Mono CJK KR"/>
                <a:cs typeface="Noto Sans Mono CJK KR"/>
              </a:rPr>
              <a:t>예상 질문</a:t>
            </a:r>
            <a:endParaRPr sz="1000"/>
          </a:p>
        </p:txBody>
      </p:sp>
      <p:sp>
        <p:nvSpPr>
          <p:cNvPr id="6" name="STC-27-status-rule">
            <a:extLst xmlns:a="http://schemas.openxmlformats.org/drawingml/2006/main">
              <a:ext uri="{FF2B5EF4-FFF2-40B4-BE49-F238E27FC236}">
                <a16:creationId xmlns:a16="http://schemas.microsoft.com/office/drawing/2014/main" id="{561BD90D-848D-430E-BBAB-EE52DF2A1DD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44E8A"/>
            </a:solidFill>
            <a:prstDash val="solid"/>
            <a:tailEnd type="none"/>
          </a:ln>
        </p:spPr>
      </p:sp>
      <p:sp>
        <p:nvSpPr>
          <p:cNvPr id="7" name="STC-27-footer-rule">
            <a:extLst xmlns:a="http://schemas.openxmlformats.org/drawingml/2006/main">
              <a:ext uri="{FF2B5EF4-FFF2-40B4-BE49-F238E27FC236}">
                <a16:creationId xmlns:a16="http://schemas.microsoft.com/office/drawing/2014/main" id="{D505BA78-3471-4BBD-912B-BD6109CC9FC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7-source-footer">
            <a:extLst xmlns:a="http://schemas.openxmlformats.org/drawingml/2006/main">
              <a:ext uri="{FF2B5EF4-FFF2-40B4-BE49-F238E27FC236}">
                <a16:creationId xmlns:a16="http://schemas.microsoft.com/office/drawing/2014/main" id="{E99DBCAF-2804-412F-A1FC-D287D4C15657}"/>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ch27 표 27-5 · ch30 표 30-2</a:t>
            </a:r>
            <a:endParaRPr sz="850"/>
          </a:p>
        </p:txBody>
      </p:sp>
      <p:sp>
        <p:nvSpPr>
          <p:cNvPr id="9" name="STC-27-page-number">
            <a:extLst xmlns:a="http://schemas.openxmlformats.org/drawingml/2006/main">
              <a:ext uri="{FF2B5EF4-FFF2-40B4-BE49-F238E27FC236}">
                <a16:creationId xmlns:a16="http://schemas.microsoft.com/office/drawing/2014/main" id="{AF0F969D-856E-456F-AB63-D26607331E1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120</a:t>
            </a:r>
            <a:endParaRPr sz="850"/>
          </a:p>
        </p:txBody>
      </p:sp>
      <p:sp>
        <p:nvSpPr>
          <p:cNvPr id="11" name="STC-27-refa-num-0">
            <a:extLst xmlns:a="http://schemas.openxmlformats.org/drawingml/2006/main">
              <a:ext uri="{FF2B5EF4-FFF2-40B4-BE49-F238E27FC236}">
                <a16:creationId xmlns:a16="http://schemas.microsoft.com/office/drawing/2014/main" id="{0858B0FA-3B18-427D-9025-6A23BE3B0367}"/>
              </a:ext>
            </a:extLst>
          </p:cNvPr>
          <p:cNvSpPr>
            <a:spLocks xmlns:a="http://schemas.openxmlformats.org/drawingml/2006/main" noGrp="1"/>
          </p:cNvSpPr>
          <p:nvPr/>
        </p:nvSpPr>
        <p:spPr>
          <a:xfrm xmlns:a="http://schemas.openxmlformats.org/drawingml/2006/main">
            <a:off x="841248"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01</a:t>
            </a:r>
            <a:endParaRPr sz="950"/>
          </a:p>
        </p:txBody>
      </p:sp>
      <p:sp>
        <p:nvSpPr>
          <p:cNvPr id="12" name="STC-27-refa-text-0">
            <a:extLst xmlns:a="http://schemas.openxmlformats.org/drawingml/2006/main">
              <a:ext uri="{FF2B5EF4-FFF2-40B4-BE49-F238E27FC236}">
                <a16:creationId xmlns:a16="http://schemas.microsoft.com/office/drawing/2014/main" id="{062155EC-D1E1-4A6A-BED2-F6AC33A3C656}"/>
              </a:ext>
            </a:extLst>
          </p:cNvPr>
          <p:cNvSpPr>
            <a:spLocks xmlns:a="http://schemas.openxmlformats.org/drawingml/2006/main" noGrp="1"/>
          </p:cNvSpPr>
          <p:nvPr/>
        </p:nvSpPr>
        <p:spPr>
          <a:xfrm xmlns:a="http://schemas.openxmlformats.org/drawingml/2006/main">
            <a:off x="1353312"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그래서 유망한가 · E는 비용으로, W는 판정 불가, Θ는 조건부입니다</a:t>
            </a:r>
            <a:endParaRPr sz="1450"/>
          </a:p>
        </p:txBody>
      </p:sp>
      <p:sp>
        <p:nvSpPr>
          <p:cNvPr id="13" name="STC-27-refa-num-1">
            <a:extLst xmlns:a="http://schemas.openxmlformats.org/drawingml/2006/main">
              <a:ext uri="{FF2B5EF4-FFF2-40B4-BE49-F238E27FC236}">
                <a16:creationId xmlns:a16="http://schemas.microsoft.com/office/drawing/2014/main" id="{51CBF520-8ECD-44AE-B98F-1387ECEB6536}"/>
              </a:ext>
            </a:extLst>
          </p:cNvPr>
          <p:cNvSpPr>
            <a:spLocks xmlns:a="http://schemas.openxmlformats.org/drawingml/2006/main" noGrp="1"/>
          </p:cNvSpPr>
          <p:nvPr/>
        </p:nvSpPr>
        <p:spPr>
          <a:xfrm xmlns:a="http://schemas.openxmlformats.org/drawingml/2006/main">
            <a:off x="841248"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02</a:t>
            </a:r>
            <a:endParaRPr sz="950"/>
          </a:p>
        </p:txBody>
      </p:sp>
      <p:sp>
        <p:nvSpPr>
          <p:cNvPr id="14" name="STC-27-refa-text-1">
            <a:extLst xmlns:a="http://schemas.openxmlformats.org/drawingml/2006/main">
              <a:ext uri="{FF2B5EF4-FFF2-40B4-BE49-F238E27FC236}">
                <a16:creationId xmlns:a16="http://schemas.microsoft.com/office/drawing/2014/main" id="{A11ED546-4FD3-4619-BBDA-F1E89500025A}"/>
              </a:ext>
            </a:extLst>
          </p:cNvPr>
          <p:cNvSpPr>
            <a:spLocks xmlns:a="http://schemas.openxmlformats.org/drawingml/2006/main" noGrp="1"/>
          </p:cNvSpPr>
          <p:nvPr/>
        </p:nvSpPr>
        <p:spPr>
          <a:xfrm xmlns:a="http://schemas.openxmlformats.org/drawingml/2006/main">
            <a:off x="1353312"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왜 하나로 답 안 하나 · 셋이 푸는 문제 집합이 겹치지 않습니다</a:t>
            </a:r>
            <a:endParaRPr sz="1450"/>
          </a:p>
        </p:txBody>
      </p:sp>
      <p:sp>
        <p:nvSpPr>
          <p:cNvPr id="15" name="STC-27-refa-num-2">
            <a:extLst xmlns:a="http://schemas.openxmlformats.org/drawingml/2006/main">
              <a:ext uri="{FF2B5EF4-FFF2-40B4-BE49-F238E27FC236}">
                <a16:creationId xmlns:a16="http://schemas.microsoft.com/office/drawing/2014/main" id="{35A20116-4261-4BEF-8F20-7E111311BA48}"/>
              </a:ext>
            </a:extLst>
          </p:cNvPr>
          <p:cNvSpPr>
            <a:spLocks xmlns:a="http://schemas.openxmlformats.org/drawingml/2006/main" noGrp="1"/>
          </p:cNvSpPr>
          <p:nvPr/>
        </p:nvSpPr>
        <p:spPr>
          <a:xfrm xmlns:a="http://schemas.openxmlformats.org/drawingml/2006/main">
            <a:off x="841248"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03</a:t>
            </a:r>
            <a:endParaRPr sz="950"/>
          </a:p>
        </p:txBody>
      </p:sp>
      <p:sp>
        <p:nvSpPr>
          <p:cNvPr id="16" name="STC-27-refa-text-2">
            <a:extLst xmlns:a="http://schemas.openxmlformats.org/drawingml/2006/main">
              <a:ext uri="{FF2B5EF4-FFF2-40B4-BE49-F238E27FC236}">
                <a16:creationId xmlns:a16="http://schemas.microsoft.com/office/drawing/2014/main" id="{6702771D-ADC3-4D74-B59D-4D478F02E873}"/>
              </a:ext>
            </a:extLst>
          </p:cNvPr>
          <p:cNvSpPr>
            <a:spLocks xmlns:a="http://schemas.openxmlformats.org/drawingml/2006/main" noGrp="1"/>
          </p:cNvSpPr>
          <p:nvPr/>
        </p:nvSpPr>
        <p:spPr>
          <a:xfrm xmlns:a="http://schemas.openxmlformats.org/drawingml/2006/main">
            <a:off x="1353312"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E가 이미 배포됐잖나 · 맞습니다. 문헌이 약한 채로 주류가 될 수 있습니다</a:t>
            </a:r>
            <a:endParaRPr sz="1450"/>
          </a:p>
        </p:txBody>
      </p:sp>
      <p:sp>
        <p:nvSpPr>
          <p:cNvPr id="17" name="STC-27-refa-num-3">
            <a:extLst xmlns:a="http://schemas.openxmlformats.org/drawingml/2006/main">
              <a:ext uri="{FF2B5EF4-FFF2-40B4-BE49-F238E27FC236}">
                <a16:creationId xmlns:a16="http://schemas.microsoft.com/office/drawing/2014/main" id="{55E8554F-18B5-482A-A521-0409C4939A68}"/>
              </a:ext>
            </a:extLst>
          </p:cNvPr>
          <p:cNvSpPr>
            <a:spLocks xmlns:a="http://schemas.openxmlformats.org/drawingml/2006/main" noGrp="1"/>
          </p:cNvSpPr>
          <p:nvPr/>
        </p:nvSpPr>
        <p:spPr>
          <a:xfrm xmlns:a="http://schemas.openxmlformats.org/drawingml/2006/main">
            <a:off x="841248"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04</a:t>
            </a:r>
            <a:endParaRPr sz="950"/>
          </a:p>
        </p:txBody>
      </p:sp>
      <p:sp>
        <p:nvSpPr>
          <p:cNvPr id="18" name="STC-27-refa-text-3">
            <a:extLst xmlns:a="http://schemas.openxmlformats.org/drawingml/2006/main">
              <a:ext uri="{FF2B5EF4-FFF2-40B4-BE49-F238E27FC236}">
                <a16:creationId xmlns:a16="http://schemas.microsoft.com/office/drawing/2014/main" id="{6643F56C-6A56-4F80-BDD8-C4233A3CAC95}"/>
              </a:ext>
            </a:extLst>
          </p:cNvPr>
          <p:cNvSpPr>
            <a:spLocks xmlns:a="http://schemas.openxmlformats.org/drawingml/2006/main" noGrp="1"/>
          </p:cNvSpPr>
          <p:nvPr/>
        </p:nvSpPr>
        <p:spPr>
          <a:xfrm xmlns:a="http://schemas.openxmlformats.org/drawingml/2006/main">
            <a:off x="1353312"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Θ는 언제 쓸 만해지나 · 세 실험이 나오면 판정이 바뀝니다</a:t>
            </a:r>
            <a:endParaRPr sz="1450"/>
          </a:p>
        </p:txBody>
      </p:sp>
      <p:sp>
        <p:nvSpPr>
          <p:cNvPr id="19" name="STC-27-refa-num-4">
            <a:extLst xmlns:a="http://schemas.openxmlformats.org/drawingml/2006/main">
              <a:ext uri="{FF2B5EF4-FFF2-40B4-BE49-F238E27FC236}">
                <a16:creationId xmlns:a16="http://schemas.microsoft.com/office/drawing/2014/main" id="{FD11CDBD-DFE9-45A7-B011-896A803064F0}"/>
              </a:ext>
            </a:extLst>
          </p:cNvPr>
          <p:cNvSpPr>
            <a:spLocks xmlns:a="http://schemas.openxmlformats.org/drawingml/2006/main" noGrp="1"/>
          </p:cNvSpPr>
          <p:nvPr/>
        </p:nvSpPr>
        <p:spPr>
          <a:xfrm xmlns:a="http://schemas.openxmlformats.org/drawingml/2006/main">
            <a:off x="841248"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05</a:t>
            </a:r>
            <a:endParaRPr sz="950"/>
          </a:p>
        </p:txBody>
      </p:sp>
      <p:sp>
        <p:nvSpPr>
          <p:cNvPr id="20" name="STC-27-refa-text-4">
            <a:extLst xmlns:a="http://schemas.openxmlformats.org/drawingml/2006/main">
              <a:ext uri="{FF2B5EF4-FFF2-40B4-BE49-F238E27FC236}">
                <a16:creationId xmlns:a16="http://schemas.microsoft.com/office/drawing/2014/main" id="{675DB14E-5738-4DE9-95BF-1BC22BFAB9F4}"/>
              </a:ext>
            </a:extLst>
          </p:cNvPr>
          <p:cNvSpPr>
            <a:spLocks xmlns:a="http://schemas.openxmlformats.org/drawingml/2006/main" noGrp="1"/>
          </p:cNvSpPr>
          <p:nvPr/>
        </p:nvSpPr>
        <p:spPr>
          <a:xfrm xmlns:a="http://schemas.openxmlformats.org/drawingml/2006/main">
            <a:off x="1353312"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W는 왜 표본이 1인가 · 그 사실 자체가 판정이고 조건 (1)에 의존합니다</a:t>
            </a:r>
            <a:endParaRPr sz="1450"/>
          </a:p>
        </p:txBody>
      </p:sp>
      <p:sp>
        <p:nvSpPr>
          <p:cNvPr id="21" name="STC-27-refa-num-5">
            <a:extLst xmlns:a="http://schemas.openxmlformats.org/drawingml/2006/main">
              <a:ext uri="{FF2B5EF4-FFF2-40B4-BE49-F238E27FC236}">
                <a16:creationId xmlns:a16="http://schemas.microsoft.com/office/drawing/2014/main" id="{1B33F735-F839-4244-A292-08A9268BD28E}"/>
              </a:ext>
            </a:extLst>
          </p:cNvPr>
          <p:cNvSpPr>
            <a:spLocks xmlns:a="http://schemas.openxmlformats.org/drawingml/2006/main" noGrp="1"/>
          </p:cNvSpPr>
          <p:nvPr/>
        </p:nvSpPr>
        <p:spPr>
          <a:xfrm xmlns:a="http://schemas.openxmlformats.org/drawingml/2006/main">
            <a:off x="841248"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06</a:t>
            </a:r>
            <a:endParaRPr sz="950"/>
          </a:p>
        </p:txBody>
      </p:sp>
      <p:sp>
        <p:nvSpPr>
          <p:cNvPr id="22" name="STC-27-refa-text-5">
            <a:extLst xmlns:a="http://schemas.openxmlformats.org/drawingml/2006/main">
              <a:ext uri="{FF2B5EF4-FFF2-40B4-BE49-F238E27FC236}">
                <a16:creationId xmlns:a16="http://schemas.microsoft.com/office/drawing/2014/main" id="{A304B551-576C-403B-AE3F-FB6BA309B549}"/>
              </a:ext>
            </a:extLst>
          </p:cNvPr>
          <p:cNvSpPr>
            <a:spLocks xmlns:a="http://schemas.openxmlformats.org/drawingml/2006/main" noGrp="1"/>
          </p:cNvSpPr>
          <p:nvPr/>
        </p:nvSpPr>
        <p:spPr>
          <a:xfrm xmlns:a="http://schemas.openxmlformats.org/drawingml/2006/main">
            <a:off x="1353312"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합성하면 되지 않나 · 구조가 가장 강하게 가리키는데 실험이 0건입니다</a:t>
            </a:r>
            <a:endParaRPr sz="1450"/>
          </a:p>
        </p:txBody>
      </p:sp>
      <p:sp>
        <p:nvSpPr>
          <p:cNvPr id="23" name="STC-27-refa-num-6">
            <a:extLst xmlns:a="http://schemas.openxmlformats.org/drawingml/2006/main">
              <a:ext uri="{FF2B5EF4-FFF2-40B4-BE49-F238E27FC236}">
                <a16:creationId xmlns:a16="http://schemas.microsoft.com/office/drawing/2014/main" id="{C17BF4F3-BA5F-477A-AE3A-926274B15069}"/>
              </a:ext>
            </a:extLst>
          </p:cNvPr>
          <p:cNvSpPr>
            <a:spLocks xmlns:a="http://schemas.openxmlformats.org/drawingml/2006/main" noGrp="1"/>
          </p:cNvSpPr>
          <p:nvPr/>
        </p:nvSpPr>
        <p:spPr>
          <a:xfrm xmlns:a="http://schemas.openxmlformats.org/drawingml/2006/main">
            <a:off x="841248"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07</a:t>
            </a:r>
            <a:endParaRPr sz="950"/>
          </a:p>
        </p:txBody>
      </p:sp>
      <p:sp>
        <p:nvSpPr>
          <p:cNvPr id="24" name="STC-27-refa-text-6">
            <a:extLst xmlns:a="http://schemas.openxmlformats.org/drawingml/2006/main">
              <a:ext uri="{FF2B5EF4-FFF2-40B4-BE49-F238E27FC236}">
                <a16:creationId xmlns:a16="http://schemas.microsoft.com/office/drawing/2014/main" id="{289E9CA6-462B-4C66-89E4-717652A321F6}"/>
              </a:ext>
            </a:extLst>
          </p:cNvPr>
          <p:cNvSpPr>
            <a:spLocks xmlns:a="http://schemas.openxmlformats.org/drawingml/2006/main" noGrp="1"/>
          </p:cNvSpPr>
          <p:nvPr/>
        </p:nvSpPr>
        <p:spPr>
          <a:xfrm xmlns:a="http://schemas.openxmlformats.org/drawingml/2006/main">
            <a:off x="1353312"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몇 년 뒤에 답이 나오나 · 예측하지 않습니다. 조건과 관측만 적습니다</a:t>
            </a:r>
            <a:endParaRPr sz="1450"/>
          </a:p>
        </p:txBody>
      </p:sp>
      <p:sp>
        <p:nvSpPr>
          <p:cNvPr id="25" name="STC-27-refa-num-7">
            <a:extLst xmlns:a="http://schemas.openxmlformats.org/drawingml/2006/main">
              <a:ext uri="{FF2B5EF4-FFF2-40B4-BE49-F238E27FC236}">
                <a16:creationId xmlns:a16="http://schemas.microsoft.com/office/drawing/2014/main" id="{39B669A8-E06B-4878-A925-504530F51F2E}"/>
              </a:ext>
            </a:extLst>
          </p:cNvPr>
          <p:cNvSpPr>
            <a:spLocks xmlns:a="http://schemas.openxmlformats.org/drawingml/2006/main" noGrp="1"/>
          </p:cNvSpPr>
          <p:nvPr/>
        </p:nvSpPr>
        <p:spPr>
          <a:xfrm xmlns:a="http://schemas.openxmlformats.org/drawingml/2006/main">
            <a:off x="6172200"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08</a:t>
            </a:r>
            <a:endParaRPr sz="950"/>
          </a:p>
        </p:txBody>
      </p:sp>
      <p:sp>
        <p:nvSpPr>
          <p:cNvPr id="26" name="STC-27-refa-text-7">
            <a:extLst xmlns:a="http://schemas.openxmlformats.org/drawingml/2006/main">
              <a:ext uri="{FF2B5EF4-FFF2-40B4-BE49-F238E27FC236}">
                <a16:creationId xmlns:a16="http://schemas.microsoft.com/office/drawing/2014/main" id="{5CA2803E-8191-41D8-A69E-C8DE26EBBBD5}"/>
              </a:ext>
            </a:extLst>
          </p:cNvPr>
          <p:cNvSpPr>
            <a:spLocks xmlns:a="http://schemas.openxmlformats.org/drawingml/2006/main" noGrp="1"/>
          </p:cNvSpPr>
          <p:nvPr/>
        </p:nvSpPr>
        <p:spPr>
          <a:xfrm xmlns:a="http://schemas.openxmlformats.org/drawingml/2006/main">
            <a:off x="6684264"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그럼 아무 말도 안 하나 · 판정 불가도 판정입니다. 관측 형태를 함께 답니다</a:t>
            </a:r>
            <a:endParaRPr sz="1450"/>
          </a:p>
        </p:txBody>
      </p:sp>
      <p:sp>
        <p:nvSpPr>
          <p:cNvPr id="27" name="STC-27-refa-num-8">
            <a:extLst xmlns:a="http://schemas.openxmlformats.org/drawingml/2006/main">
              <a:ext uri="{FF2B5EF4-FFF2-40B4-BE49-F238E27FC236}">
                <a16:creationId xmlns:a16="http://schemas.microsoft.com/office/drawing/2014/main" id="{EB76E28F-3249-436F-BDC8-CC3B36B33971}"/>
              </a:ext>
            </a:extLst>
          </p:cNvPr>
          <p:cNvSpPr>
            <a:spLocks xmlns:a="http://schemas.openxmlformats.org/drawingml/2006/main" noGrp="1"/>
          </p:cNvSpPr>
          <p:nvPr/>
        </p:nvSpPr>
        <p:spPr>
          <a:xfrm xmlns:a="http://schemas.openxmlformats.org/drawingml/2006/main">
            <a:off x="6172200"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09</a:t>
            </a:r>
            <a:endParaRPr sz="950"/>
          </a:p>
        </p:txBody>
      </p:sp>
      <p:sp>
        <p:nvSpPr>
          <p:cNvPr id="28" name="STC-27-refa-text-8">
            <a:extLst xmlns:a="http://schemas.openxmlformats.org/drawingml/2006/main">
              <a:ext uri="{FF2B5EF4-FFF2-40B4-BE49-F238E27FC236}">
                <a16:creationId xmlns:a16="http://schemas.microsoft.com/office/drawing/2014/main" id="{42432C31-97C0-4DB4-A828-17F58B1C006C}"/>
              </a:ext>
            </a:extLst>
          </p:cNvPr>
          <p:cNvSpPr>
            <a:spLocks xmlns:a="http://schemas.openxmlformats.org/drawingml/2006/main" noGrp="1"/>
          </p:cNvSpPr>
          <p:nvPr/>
        </p:nvSpPr>
        <p:spPr>
          <a:xfrm xmlns:a="http://schemas.openxmlformats.org/drawingml/2006/main">
            <a:off x="6684264"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왜 순위표가 없나 · 서로를 baseline으로 돌린 표가 없습니다</a:t>
            </a:r>
            <a:endParaRPr sz="1450"/>
          </a:p>
        </p:txBody>
      </p:sp>
      <p:sp>
        <p:nvSpPr>
          <p:cNvPr id="29" name="STC-27-refa-num-9">
            <a:extLst xmlns:a="http://schemas.openxmlformats.org/drawingml/2006/main">
              <a:ext uri="{FF2B5EF4-FFF2-40B4-BE49-F238E27FC236}">
                <a16:creationId xmlns:a16="http://schemas.microsoft.com/office/drawing/2014/main" id="{7AE894C5-A4E3-431D-BBCB-B84488812967}"/>
              </a:ext>
            </a:extLst>
          </p:cNvPr>
          <p:cNvSpPr>
            <a:spLocks xmlns:a="http://schemas.openxmlformats.org/drawingml/2006/main" noGrp="1"/>
          </p:cNvSpPr>
          <p:nvPr/>
        </p:nvSpPr>
        <p:spPr>
          <a:xfrm xmlns:a="http://schemas.openxmlformats.org/drawingml/2006/main">
            <a:off x="6172200"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10</a:t>
            </a:r>
            <a:endParaRPr sz="950"/>
          </a:p>
        </p:txBody>
      </p:sp>
      <p:sp>
        <p:nvSpPr>
          <p:cNvPr id="30" name="STC-27-refa-text-9">
            <a:extLst xmlns:a="http://schemas.openxmlformats.org/drawingml/2006/main">
              <a:ext uri="{FF2B5EF4-FFF2-40B4-BE49-F238E27FC236}">
                <a16:creationId xmlns:a16="http://schemas.microsoft.com/office/drawing/2014/main" id="{5BD284A8-2458-487D-8B9E-370C7411385B}"/>
              </a:ext>
            </a:extLst>
          </p:cNvPr>
          <p:cNvSpPr>
            <a:spLocks xmlns:a="http://schemas.openxmlformats.org/drawingml/2006/main" noGrp="1"/>
          </p:cNvSpPr>
          <p:nvPr/>
        </p:nvSpPr>
        <p:spPr>
          <a:xfrm xmlns:a="http://schemas.openxmlformats.org/drawingml/2006/main">
            <a:off x="6684264"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E를 쓰면 되나 · 지속성은 얻고 모델은 안 바뀝니다</a:t>
            </a:r>
            <a:endParaRPr sz="1450"/>
          </a:p>
        </p:txBody>
      </p:sp>
      <p:sp>
        <p:nvSpPr>
          <p:cNvPr id="31" name="STC-27-refa-num-10">
            <a:extLst xmlns:a="http://schemas.openxmlformats.org/drawingml/2006/main">
              <a:ext uri="{FF2B5EF4-FFF2-40B4-BE49-F238E27FC236}">
                <a16:creationId xmlns:a16="http://schemas.microsoft.com/office/drawing/2014/main" id="{D8683AB3-30A2-418E-8C2F-785C7D981B49}"/>
              </a:ext>
            </a:extLst>
          </p:cNvPr>
          <p:cNvSpPr>
            <a:spLocks xmlns:a="http://schemas.openxmlformats.org/drawingml/2006/main" noGrp="1"/>
          </p:cNvSpPr>
          <p:nvPr/>
        </p:nvSpPr>
        <p:spPr>
          <a:xfrm xmlns:a="http://schemas.openxmlformats.org/drawingml/2006/main">
            <a:off x="6172200"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11</a:t>
            </a:r>
            <a:endParaRPr sz="950"/>
          </a:p>
        </p:txBody>
      </p:sp>
      <p:sp>
        <p:nvSpPr>
          <p:cNvPr id="32" name="STC-27-refa-text-10">
            <a:extLst xmlns:a="http://schemas.openxmlformats.org/drawingml/2006/main">
              <a:ext uri="{FF2B5EF4-FFF2-40B4-BE49-F238E27FC236}">
                <a16:creationId xmlns:a16="http://schemas.microsoft.com/office/drawing/2014/main" id="{D6BD7EA0-A2A2-4970-982A-7FB8848D707D}"/>
              </a:ext>
            </a:extLst>
          </p:cNvPr>
          <p:cNvSpPr>
            <a:spLocks xmlns:a="http://schemas.openxmlformats.org/drawingml/2006/main" noGrp="1"/>
          </p:cNvSpPr>
          <p:nvPr/>
        </p:nvSpPr>
        <p:spPr>
          <a:xfrm xmlns:a="http://schemas.openxmlformats.org/drawingml/2006/main">
            <a:off x="6684264"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Θ를 쓰면 되나 · 즉시성을 잃고 웜 계층을 얻습니다</a:t>
            </a:r>
            <a:endParaRPr sz="1450"/>
          </a:p>
        </p:txBody>
      </p:sp>
      <p:sp>
        <p:nvSpPr>
          <p:cNvPr id="33" name="STC-27-refa-num-11">
            <a:extLst xmlns:a="http://schemas.openxmlformats.org/drawingml/2006/main">
              <a:ext uri="{FF2B5EF4-FFF2-40B4-BE49-F238E27FC236}">
                <a16:creationId xmlns:a16="http://schemas.microsoft.com/office/drawing/2014/main" id="{460613C2-7751-43C8-A2FB-0D5F9B0DBECB}"/>
              </a:ext>
            </a:extLst>
          </p:cNvPr>
          <p:cNvSpPr>
            <a:spLocks xmlns:a="http://schemas.openxmlformats.org/drawingml/2006/main" noGrp="1"/>
          </p:cNvSpPr>
          <p:nvPr/>
        </p:nvSpPr>
        <p:spPr>
          <a:xfrm xmlns:a="http://schemas.openxmlformats.org/drawingml/2006/main">
            <a:off x="6172200"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12</a:t>
            </a:r>
            <a:endParaRPr sz="950"/>
          </a:p>
        </p:txBody>
      </p:sp>
      <p:sp>
        <p:nvSpPr>
          <p:cNvPr id="34" name="STC-27-refa-text-11">
            <a:extLst xmlns:a="http://schemas.openxmlformats.org/drawingml/2006/main">
              <a:ext uri="{FF2B5EF4-FFF2-40B4-BE49-F238E27FC236}">
                <a16:creationId xmlns:a16="http://schemas.microsoft.com/office/drawing/2014/main" id="{6585AB7C-DE90-41AD-82F9-96F612B0B13A}"/>
              </a:ext>
            </a:extLst>
          </p:cNvPr>
          <p:cNvSpPr>
            <a:spLocks xmlns:a="http://schemas.openxmlformats.org/drawingml/2006/main" noGrp="1"/>
          </p:cNvSpPr>
          <p:nvPr/>
        </p:nvSpPr>
        <p:spPr>
          <a:xfrm xmlns:a="http://schemas.openxmlformats.org/drawingml/2006/main">
            <a:off x="6684264"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W를 쓰면 되나 · 문맥 비용은 접고 요청을 넘지 못합니다</a:t>
            </a:r>
            <a:endParaRPr sz="1450"/>
          </a:p>
        </p:txBody>
      </p:sp>
      <p:sp>
        <p:nvSpPr>
          <p:cNvPr id="35" name="STC-27-refa-num-12">
            <a:extLst xmlns:a="http://schemas.openxmlformats.org/drawingml/2006/main">
              <a:ext uri="{FF2B5EF4-FFF2-40B4-BE49-F238E27FC236}">
                <a16:creationId xmlns:a16="http://schemas.microsoft.com/office/drawing/2014/main" id="{3BF3AFD4-5BFF-4F64-8958-1E971CEA8E77}"/>
              </a:ext>
            </a:extLst>
          </p:cNvPr>
          <p:cNvSpPr>
            <a:spLocks xmlns:a="http://schemas.openxmlformats.org/drawingml/2006/main" noGrp="1"/>
          </p:cNvSpPr>
          <p:nvPr/>
        </p:nvSpPr>
        <p:spPr>
          <a:xfrm xmlns:a="http://schemas.openxmlformats.org/drawingml/2006/main">
            <a:off x="6172200"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13</a:t>
            </a:r>
            <a:endParaRPr sz="950"/>
          </a:p>
        </p:txBody>
      </p:sp>
      <p:sp>
        <p:nvSpPr>
          <p:cNvPr id="36" name="STC-27-refa-text-12">
            <a:extLst xmlns:a="http://schemas.openxmlformats.org/drawingml/2006/main">
              <a:ext uri="{FF2B5EF4-FFF2-40B4-BE49-F238E27FC236}">
                <a16:creationId xmlns:a16="http://schemas.microsoft.com/office/drawing/2014/main" id="{A6CE689B-DBF7-4ACD-BBBF-ABB01DFF849C}"/>
              </a:ext>
            </a:extLst>
          </p:cNvPr>
          <p:cNvSpPr>
            <a:spLocks xmlns:a="http://schemas.openxmlformats.org/drawingml/2006/main" noGrp="1"/>
          </p:cNvSpPr>
          <p:nvPr/>
        </p:nvSpPr>
        <p:spPr>
          <a:xfrm xmlns:a="http://schemas.openxmlformats.org/drawingml/2006/main">
            <a:off x="6684264"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결국 무엇을 재야 하나 · B_s · L_w · C_cap · ρ 네 칸입니다</a:t>
            </a:r>
            <a:endParaRPr sz="1450"/>
          </a:p>
        </p:txBody>
      </p:sp>
      <p:sp>
        <p:nvSpPr>
          <p:cNvPr id="37" name="STC-27-refa-num-13">
            <a:extLst xmlns:a="http://schemas.openxmlformats.org/drawingml/2006/main">
              <a:ext uri="{FF2B5EF4-FFF2-40B4-BE49-F238E27FC236}">
                <a16:creationId xmlns:a16="http://schemas.microsoft.com/office/drawing/2014/main" id="{2CBC69DB-9A99-46EA-A59F-BF77F82CD6C1}"/>
              </a:ext>
            </a:extLst>
          </p:cNvPr>
          <p:cNvSpPr>
            <a:spLocks xmlns:a="http://schemas.openxmlformats.org/drawingml/2006/main" noGrp="1"/>
          </p:cNvSpPr>
          <p:nvPr/>
        </p:nvSpPr>
        <p:spPr>
          <a:xfrm xmlns:a="http://schemas.openxmlformats.org/drawingml/2006/main">
            <a:off x="6172200"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14</a:t>
            </a:r>
            <a:endParaRPr sz="950"/>
          </a:p>
        </p:txBody>
      </p:sp>
      <p:sp>
        <p:nvSpPr>
          <p:cNvPr id="38" name="STC-27-refa-text-13">
            <a:extLst xmlns:a="http://schemas.openxmlformats.org/drawingml/2006/main">
              <a:ext uri="{FF2B5EF4-FFF2-40B4-BE49-F238E27FC236}">
                <a16:creationId xmlns:a16="http://schemas.microsoft.com/office/drawing/2014/main" id="{0E347A02-8998-4EC3-8A05-EF92986A2024}"/>
              </a:ext>
            </a:extLst>
          </p:cNvPr>
          <p:cNvSpPr>
            <a:spLocks xmlns:a="http://schemas.openxmlformats.org/drawingml/2006/main" noGrp="1"/>
          </p:cNvSpPr>
          <p:nvPr/>
        </p:nvSpPr>
        <p:spPr>
          <a:xfrm xmlns:a="http://schemas.openxmlformats.org/drawingml/2006/main">
            <a:off x="6684264"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지금 답이 없는 건 왜 · 그 네 칸이 문헌에서 비어 있기 때문입니다</a:t>
            </a:r>
            <a:endParaRPr sz="1450"/>
          </a:p>
        </p:txBody>
      </p:sp>
      <p:sp>
        <p:nvSpPr>
          <p:cNvPr id="39" name="STC-27-refa-note">
            <a:extLst xmlns:a="http://schemas.openxmlformats.org/drawingml/2006/main">
              <a:ext uri="{FF2B5EF4-FFF2-40B4-BE49-F238E27FC236}">
                <a16:creationId xmlns:a16="http://schemas.microsoft.com/office/drawing/2014/main" id="{CD24E568-17B2-4E37-89AF-FBA238DDA767}"/>
              </a:ext>
            </a:extLst>
          </p:cNvPr>
          <p:cNvSpPr>
            <a:spLocks xmlns:a="http://schemas.openxmlformats.org/drawingml/2006/main" noGrp="1"/>
          </p:cNvSpPr>
          <p:nvPr/>
        </p:nvSpPr>
        <p:spPr>
          <a:xfrm xmlns:a="http://schemas.openxmlformats.org/drawingml/2006/main">
            <a:off x="2212848" y="5870448"/>
            <a:ext cx="77724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50">
                <a:solidFill>
                  <a:srgbClr val="59616A"/>
                </a:solidFill>
                <a:latin typeface="Noto Sans CJK KR"/>
                <a:ea typeface="Noto Sans CJK KR"/>
                <a:cs typeface="Noto Sans CJK KR"/>
              </a:rPr>
              <a:t>E는 비용으로, W는 판정 불가, Θ는 조건부입니다</a:t>
            </a:r>
            <a:endParaRPr sz="1350"/>
          </a:p>
        </p:txBody>
      </p:sp>
    </p:spTree>
    <p:extLst>
      <p:ext uri="{BB962C8B-B14F-4D97-AF65-F5344CB8AC3E}">
        <p14:creationId xmlns:p14="http://schemas.microsoft.com/office/powerpoint/2010/main" val="1964283889"/>
      </p:ext>
    </p:extLst>
  </p:cSld>
</p:sld>
</file>

<file path=ppt/slides/slide121.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Q AND A</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STC-121</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그래서 우리가 무엇을 하면 되는가 — 실험 여섯</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제안</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ch26 §26.5 · ch27 §27.5 · ch29 §29.5</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121</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① 총비용</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cache 켠 대조</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② N_q</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서빙 로그 분포</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③ dtype</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회수율 곡선</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④ K*</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K&gt;100 측정</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⑤ 지연</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스테이징 대 생성</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⑥ diff</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라운드 간 변경률</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여섯 중 넷은 새 하드웨어를</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요구하지 않고, 둘은 이미 있는 로그의 인쇄다</a:t>
            </a:r>
            <a:endParaRPr sz="1500"/>
          </a:p>
        </p:txBody>
      </p:sp>
    </p:spTree>
    <p:extLst>
      <p:ext uri="{BB962C8B-B14F-4D97-AF65-F5344CB8AC3E}">
        <p14:creationId xmlns:p14="http://schemas.microsoft.com/office/powerpoint/2010/main" val="931853972"/>
      </p:ext>
    </p:extLst>
  </p:cSld>
</p:sld>
</file>

<file path=ppt/slides/slide12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1-section">
            <a:extLst xmlns:a="http://schemas.openxmlformats.org/drawingml/2006/main">
              <a:ext uri="{FF2B5EF4-FFF2-40B4-BE49-F238E27FC236}">
                <a16:creationId xmlns:a16="http://schemas.microsoft.com/office/drawing/2014/main" id="{8BB9BD3F-B2A5-4809-9119-06656DAC1DCC}"/>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Q AND A</a:t>
            </a:r>
            <a:endParaRPr sz="950"/>
          </a:p>
        </p:txBody>
      </p:sp>
      <p:sp>
        <p:nvSpPr>
          <p:cNvPr id="3" name="STC-21-slide-id">
            <a:extLst xmlns:a="http://schemas.openxmlformats.org/drawingml/2006/main">
              <a:ext uri="{FF2B5EF4-FFF2-40B4-BE49-F238E27FC236}">
                <a16:creationId xmlns:a16="http://schemas.microsoft.com/office/drawing/2014/main" id="{E1BF2D37-A293-4FA6-A010-98F61D6C6436}"/>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STC-122</a:t>
            </a:r>
            <a:endParaRPr sz="950"/>
          </a:p>
        </p:txBody>
      </p:sp>
      <p:sp>
        <p:nvSpPr>
          <p:cNvPr id="4" name="STC-21-headline">
            <a:extLst xmlns:a="http://schemas.openxmlformats.org/drawingml/2006/main">
              <a:ext uri="{FF2B5EF4-FFF2-40B4-BE49-F238E27FC236}">
                <a16:creationId xmlns:a16="http://schemas.microsoft.com/office/drawing/2014/main" id="{C957F144-E07A-475B-800F-FA851D788889}"/>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반대로 지금 사지 말아야 할 것</a:t>
            </a:r>
            <a:endParaRPr sz="3000"/>
          </a:p>
        </p:txBody>
      </p:sp>
      <p:sp>
        <p:nvSpPr>
          <p:cNvPr id="5" name="STC-21-status-label">
            <a:extLst xmlns:a="http://schemas.openxmlformats.org/drawingml/2006/main">
              <a:ext uri="{FF2B5EF4-FFF2-40B4-BE49-F238E27FC236}">
                <a16:creationId xmlns:a16="http://schemas.microsoft.com/office/drawing/2014/main" id="{A5CBE44C-A00A-4227-BC87-07F71E876613}"/>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F6B63"/>
                </a:solidFill>
                <a:latin typeface="Noto Sans Mono CJK KR"/>
                <a:ea typeface="Noto Sans Mono CJK KR"/>
                <a:cs typeface="Noto Sans Mono CJK KR"/>
              </a:rPr>
              <a:t>제안</a:t>
            </a:r>
            <a:endParaRPr sz="1000"/>
          </a:p>
        </p:txBody>
      </p:sp>
      <p:sp>
        <p:nvSpPr>
          <p:cNvPr id="6" name="STC-21-status-rule">
            <a:extLst xmlns:a="http://schemas.openxmlformats.org/drawingml/2006/main">
              <a:ext uri="{FF2B5EF4-FFF2-40B4-BE49-F238E27FC236}">
                <a16:creationId xmlns:a16="http://schemas.microsoft.com/office/drawing/2014/main" id="{326874C7-2AC2-4EF3-A0AF-B337822D55FE}"/>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F6B63"/>
            </a:solidFill>
            <a:prstDash val="solid"/>
            <a:tailEnd type="none"/>
          </a:ln>
        </p:spPr>
      </p:sp>
      <p:sp>
        <p:nvSpPr>
          <p:cNvPr id="7" name="STC-21-footer-rule">
            <a:extLst xmlns:a="http://schemas.openxmlformats.org/drawingml/2006/main">
              <a:ext uri="{FF2B5EF4-FFF2-40B4-BE49-F238E27FC236}">
                <a16:creationId xmlns:a16="http://schemas.microsoft.com/office/drawing/2014/main" id="{3FAEEB53-00B4-4B8F-9C15-D1D1E0AA47E5}"/>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1-source-footer">
            <a:extLst xmlns:a="http://schemas.openxmlformats.org/drawingml/2006/main">
              <a:ext uri="{FF2B5EF4-FFF2-40B4-BE49-F238E27FC236}">
                <a16:creationId xmlns:a16="http://schemas.microsoft.com/office/drawing/2014/main" id="{C15D3B91-4B19-418F-B75E-CDBAB63CBABC}"/>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ch24 §24.3.2 · ch29 §29.4 판정 6</a:t>
            </a:r>
            <a:endParaRPr sz="850"/>
          </a:p>
        </p:txBody>
      </p:sp>
      <p:sp>
        <p:nvSpPr>
          <p:cNvPr id="9" name="STC-21-page-number">
            <a:extLst xmlns:a="http://schemas.openxmlformats.org/drawingml/2006/main">
              <a:ext uri="{FF2B5EF4-FFF2-40B4-BE49-F238E27FC236}">
                <a16:creationId xmlns:a16="http://schemas.microsoft.com/office/drawing/2014/main" id="{6D8B17AB-5125-44EC-A34D-E5D99843272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122</a:t>
            </a:r>
            <a:endParaRPr sz="850"/>
          </a:p>
        </p:txBody>
      </p:sp>
      <p:sp>
        <p:nvSpPr>
          <p:cNvPr id="11" name="STC-21-tx-tag-0">
            <a:extLst xmlns:a="http://schemas.openxmlformats.org/drawingml/2006/main">
              <a:ext uri="{FF2B5EF4-FFF2-40B4-BE49-F238E27FC236}">
                <a16:creationId xmlns:a16="http://schemas.microsoft.com/office/drawing/2014/main" id="{C3BA3125-4962-4DAF-AB08-40AF0FFBE740}"/>
              </a:ext>
            </a:extLst>
          </p:cNvPr>
          <p:cNvSpPr>
            <a:spLocks xmlns:a="http://schemas.openxmlformats.org/drawingml/2006/main" noGrp="1"/>
          </p:cNvSpPr>
          <p:nvPr/>
        </p:nvSpPr>
        <p:spPr>
          <a:xfrm xmlns:a="http://schemas.openxmlformats.org/drawingml/2006/main">
            <a:off x="804672"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이름</a:t>
            </a:r>
            <a:endParaRPr sz="1100"/>
          </a:p>
        </p:txBody>
      </p:sp>
      <p:sp>
        <p:nvSpPr>
          <p:cNvPr id="12" name="STC-21-tx-node-0">
            <a:extLst xmlns:a="http://schemas.openxmlformats.org/drawingml/2006/main">
              <a:ext uri="{FF2B5EF4-FFF2-40B4-BE49-F238E27FC236}">
                <a16:creationId xmlns:a16="http://schemas.microsoft.com/office/drawing/2014/main" id="{53BB23E7-533E-4499-8184-5B3E4A7EFDA2}"/>
              </a:ext>
            </a:extLst>
          </p:cNvPr>
          <p:cNvSpPr>
            <a:spLocks xmlns:a="http://schemas.openxmlformats.org/drawingml/2006/main" noGrp="1"/>
          </p:cNvSpPr>
          <p:nvPr/>
        </p:nvSpPr>
        <p:spPr>
          <a:xfrm xmlns:a="http://schemas.openxmlformats.org/drawingml/2006/main">
            <a:off x="804672" y="2084832"/>
            <a:ext cx="1417320" cy="1078992"/>
          </a:xfrm>
          <a:prstGeom xmlns:a="http://schemas.openxmlformats.org/drawingml/2006/main" prst="rect">
            <a:avLst/>
          </a:prstGeom>
          <a:solidFill xmlns:a="http://schemas.openxmlformats.org/drawingml/2006/main">
            <a:srgbClr val="DDE6F2"/>
          </a:solidFill>
          <a:ln xmlns:a="http://schemas.openxmlformats.org/drawingml/2006/main" w="12700">
            <a:solidFill>
              <a:srgbClr val="244E8A"/>
            </a:solidFill>
            <a:prstDash val="solid"/>
          </a:ln>
        </p:spPr>
      </p:sp>
      <p:sp>
        <p:nvSpPr>
          <p:cNvPr id="13" name="STC-21-tx-body-0">
            <a:extLst xmlns:a="http://schemas.openxmlformats.org/drawingml/2006/main">
              <a:ext uri="{FF2B5EF4-FFF2-40B4-BE49-F238E27FC236}">
                <a16:creationId xmlns:a16="http://schemas.microsoft.com/office/drawing/2014/main" id="{FBD336B1-FC65-4C91-B49E-E58EE455FC4E}"/>
              </a:ext>
            </a:extLst>
          </p:cNvPr>
          <p:cNvSpPr>
            <a:spLocks xmlns:a="http://schemas.openxmlformats.org/drawingml/2006/main" noGrp="1"/>
          </p:cNvSpPr>
          <p:nvPr/>
        </p:nvSpPr>
        <p:spPr>
          <a:xfrm xmlns:a="http://schemas.openxmlformats.org/drawingml/2006/main">
            <a:off x="914400"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17191C"/>
                </a:solidFill>
                <a:latin typeface="Noto Sans CJK KR"/>
                <a:ea typeface="Noto Sans CJK KR"/>
                <a:cs typeface="Noto Sans CJK KR"/>
              </a:rPr>
              <a:t>이름</a:t>
            </a:r>
            <a:endParaRPr sz="1500"/>
          </a:p>
          <a:p xmlns:a="http://schemas.openxmlformats.org/drawingml/2006/main">
            <a:pPr marL="0" indent="0" algn="ctr">
              <a:buNone/>
            </a:pPr>
            <a:r>
              <a:rPr sz="1500" b="1">
                <a:solidFill>
                  <a:srgbClr val="17191C"/>
                </a:solidFill>
                <a:latin typeface="Noto Sans CJK KR"/>
                <a:ea typeface="Noto Sans CJK KR"/>
                <a:cs typeface="Noto Sans CJK KR"/>
              </a:rPr>
              <a:t>기준 벤더 선택</a:t>
            </a:r>
            <a:endParaRPr sz="1500"/>
          </a:p>
        </p:txBody>
      </p:sp>
      <p:sp>
        <p:nvSpPr>
          <p:cNvPr id="14" name="STC-21-tx-arrow-0">
            <a:extLst xmlns:a="http://schemas.openxmlformats.org/drawingml/2006/main">
              <a:ext uri="{FF2B5EF4-FFF2-40B4-BE49-F238E27FC236}">
                <a16:creationId xmlns:a16="http://schemas.microsoft.com/office/drawing/2014/main" id="{25A11E43-C965-41E7-9C14-52E8EA3401F7}"/>
              </a:ext>
            </a:extLst>
          </p:cNvPr>
          <p:cNvSpPr>
            <a:spLocks xmlns:a="http://schemas.openxmlformats.org/drawingml/2006/main" noGrp="1"/>
          </p:cNvSpPr>
          <p:nvPr/>
        </p:nvSpPr>
        <p:spPr>
          <a:xfrm xmlns:a="http://schemas.openxmlformats.org/drawingml/2006/main">
            <a:off x="2286000" y="2615184"/>
            <a:ext cx="749808"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5" name="STC-21-tx-tag-1">
            <a:extLst xmlns:a="http://schemas.openxmlformats.org/drawingml/2006/main">
              <a:ext uri="{FF2B5EF4-FFF2-40B4-BE49-F238E27FC236}">
                <a16:creationId xmlns:a16="http://schemas.microsoft.com/office/drawing/2014/main" id="{404B7313-C00F-4D29-A5FA-939F36A1526B}"/>
              </a:ext>
            </a:extLst>
          </p:cNvPr>
          <p:cNvSpPr>
            <a:spLocks xmlns:a="http://schemas.openxmlformats.org/drawingml/2006/main" noGrp="1"/>
          </p:cNvSpPr>
          <p:nvPr/>
        </p:nvSpPr>
        <p:spPr>
          <a:xfrm xmlns:a="http://schemas.openxmlformats.org/drawingml/2006/main">
            <a:off x="3127248"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59616A"/>
                </a:solidFill>
                <a:latin typeface="Noto Sans Mono CJK KR"/>
                <a:ea typeface="Noto Sans Mono CJK KR"/>
                <a:cs typeface="Noto Sans Mono CJK KR"/>
              </a:rPr>
              <a:t>곡선</a:t>
            </a:r>
            <a:endParaRPr sz="1100"/>
          </a:p>
        </p:txBody>
      </p:sp>
      <p:sp>
        <p:nvSpPr>
          <p:cNvPr id="16" name="STC-21-tx-node-1">
            <a:extLst xmlns:a="http://schemas.openxmlformats.org/drawingml/2006/main">
              <a:ext uri="{FF2B5EF4-FFF2-40B4-BE49-F238E27FC236}">
                <a16:creationId xmlns:a16="http://schemas.microsoft.com/office/drawing/2014/main" id="{7DFAFD63-2A6A-400B-AD95-61F6E85244B4}"/>
              </a:ext>
            </a:extLst>
          </p:cNvPr>
          <p:cNvSpPr>
            <a:spLocks xmlns:a="http://schemas.openxmlformats.org/drawingml/2006/main" noGrp="1"/>
          </p:cNvSpPr>
          <p:nvPr/>
        </p:nvSpPr>
        <p:spPr>
          <a:xfrm xmlns:a="http://schemas.openxmlformats.org/drawingml/2006/main">
            <a:off x="3127248" y="2084832"/>
            <a:ext cx="1417320" cy="1078992"/>
          </a:xfrm>
          <a:prstGeom xmlns:a="http://schemas.openxmlformats.org/drawingml/2006/main" prst="rect">
            <a:avLst/>
          </a:prstGeom>
          <a:solidFill xmlns:a="http://schemas.openxmlformats.org/drawingml/2006/main">
            <a:srgbClr val="ECE8DE"/>
          </a:solidFill>
          <a:ln xmlns:a="http://schemas.openxmlformats.org/drawingml/2006/main" w="12700">
            <a:solidFill>
              <a:srgbClr val="59616A"/>
            </a:solidFill>
            <a:prstDash val="solid"/>
          </a:ln>
        </p:spPr>
      </p:sp>
      <p:sp>
        <p:nvSpPr>
          <p:cNvPr id="17" name="STC-21-tx-body-1">
            <a:extLst xmlns:a="http://schemas.openxmlformats.org/drawingml/2006/main">
              <a:ext uri="{FF2B5EF4-FFF2-40B4-BE49-F238E27FC236}">
                <a16:creationId xmlns:a16="http://schemas.microsoft.com/office/drawing/2014/main" id="{F8BA9679-919C-4358-AAF3-27439FE7E417}"/>
              </a:ext>
            </a:extLst>
          </p:cNvPr>
          <p:cNvSpPr>
            <a:spLocks xmlns:a="http://schemas.openxmlformats.org/drawingml/2006/main" noGrp="1"/>
          </p:cNvSpPr>
          <p:nvPr/>
        </p:nvSpPr>
        <p:spPr>
          <a:xfrm xmlns:a="http://schemas.openxmlformats.org/drawingml/2006/main">
            <a:off x="3236976"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50" b="1">
                <a:solidFill>
                  <a:srgbClr val="17191C"/>
                </a:solidFill>
                <a:latin typeface="Noto Sans CJK KR"/>
                <a:ea typeface="Noto Sans CJK KR"/>
                <a:cs typeface="Noto Sans CJK KR"/>
              </a:rPr>
              <a:t>B_s</a:t>
            </a:r>
            <a:endParaRPr sz="1550"/>
          </a:p>
          <a:p xmlns:a="http://schemas.openxmlformats.org/drawingml/2006/main">
            <a:pPr marL="0" indent="0" algn="ctr">
              <a:buNone/>
            </a:pPr>
            <a:r>
              <a:rPr sz="1550" b="1">
                <a:solidFill>
                  <a:srgbClr val="17191C"/>
                </a:solidFill>
                <a:latin typeface="Noto Sans CJK KR"/>
                <a:ea typeface="Noto Sans CJK KR"/>
                <a:cs typeface="Noto Sans CJK KR"/>
              </a:rPr>
              <a:t>늘리는 로드맵</a:t>
            </a:r>
            <a:endParaRPr sz="1550"/>
          </a:p>
        </p:txBody>
      </p:sp>
      <p:sp>
        <p:nvSpPr>
          <p:cNvPr id="18" name="STC-21-tx-arrow-1">
            <a:extLst xmlns:a="http://schemas.openxmlformats.org/drawingml/2006/main">
              <a:ext uri="{FF2B5EF4-FFF2-40B4-BE49-F238E27FC236}">
                <a16:creationId xmlns:a16="http://schemas.microsoft.com/office/drawing/2014/main" id="{8FF9AF62-92FB-4B27-B05B-E439FC524C80}"/>
              </a:ext>
            </a:extLst>
          </p:cNvPr>
          <p:cNvSpPr>
            <a:spLocks xmlns:a="http://schemas.openxmlformats.org/drawingml/2006/main" noGrp="1"/>
          </p:cNvSpPr>
          <p:nvPr/>
        </p:nvSpPr>
        <p:spPr>
          <a:xfrm xmlns:a="http://schemas.openxmlformats.org/drawingml/2006/main">
            <a:off x="4608576" y="2615184"/>
            <a:ext cx="749808"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19" name="STC-21-tx-tag-2">
            <a:extLst xmlns:a="http://schemas.openxmlformats.org/drawingml/2006/main">
              <a:ext uri="{FF2B5EF4-FFF2-40B4-BE49-F238E27FC236}">
                <a16:creationId xmlns:a16="http://schemas.microsoft.com/office/drawing/2014/main" id="{DEB7B59F-ADAD-468C-A230-15D1996782BC}"/>
              </a:ext>
            </a:extLst>
          </p:cNvPr>
          <p:cNvSpPr>
            <a:spLocks xmlns:a="http://schemas.openxmlformats.org/drawingml/2006/main" noGrp="1"/>
          </p:cNvSpPr>
          <p:nvPr/>
        </p:nvSpPr>
        <p:spPr>
          <a:xfrm xmlns:a="http://schemas.openxmlformats.org/drawingml/2006/main">
            <a:off x="5449824"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소자</a:t>
            </a:r>
            <a:endParaRPr sz="1100"/>
          </a:p>
        </p:txBody>
      </p:sp>
      <p:sp>
        <p:nvSpPr>
          <p:cNvPr id="20" name="STC-21-tx-node-2">
            <a:extLst xmlns:a="http://schemas.openxmlformats.org/drawingml/2006/main">
              <a:ext uri="{FF2B5EF4-FFF2-40B4-BE49-F238E27FC236}">
                <a16:creationId xmlns:a16="http://schemas.microsoft.com/office/drawing/2014/main" id="{CC1983C5-B1FB-4342-8507-E5E9BD1F53CD}"/>
              </a:ext>
            </a:extLst>
          </p:cNvPr>
          <p:cNvSpPr>
            <a:spLocks xmlns:a="http://schemas.openxmlformats.org/drawingml/2006/main" noGrp="1"/>
          </p:cNvSpPr>
          <p:nvPr/>
        </p:nvSpPr>
        <p:spPr>
          <a:xfrm xmlns:a="http://schemas.openxmlformats.org/drawingml/2006/main">
            <a:off x="5449824" y="2084832"/>
            <a:ext cx="1417320" cy="1078992"/>
          </a:xfrm>
          <a:prstGeom xmlns:a="http://schemas.openxmlformats.org/drawingml/2006/main" prst="rect">
            <a:avLst/>
          </a:prstGeom>
          <a:solidFill xmlns:a="http://schemas.openxmlformats.org/drawingml/2006/main">
            <a:srgbClr val="F0DED7"/>
          </a:solidFill>
          <a:ln xmlns:a="http://schemas.openxmlformats.org/drawingml/2006/main" w="12700">
            <a:solidFill>
              <a:srgbClr val="9A442D"/>
            </a:solidFill>
            <a:prstDash val="solid"/>
          </a:ln>
        </p:spPr>
      </p:sp>
      <p:sp>
        <p:nvSpPr>
          <p:cNvPr id="21" name="STC-21-tx-body-2">
            <a:extLst xmlns:a="http://schemas.openxmlformats.org/drawingml/2006/main">
              <a:ext uri="{FF2B5EF4-FFF2-40B4-BE49-F238E27FC236}">
                <a16:creationId xmlns:a16="http://schemas.microsoft.com/office/drawing/2014/main" id="{7BE056EE-C08A-4D3E-B2E5-A3C85198E381}"/>
              </a:ext>
            </a:extLst>
          </p:cNvPr>
          <p:cNvSpPr>
            <a:spLocks xmlns:a="http://schemas.openxmlformats.org/drawingml/2006/main" noGrp="1"/>
          </p:cNvSpPr>
          <p:nvPr/>
        </p:nvSpPr>
        <p:spPr>
          <a:xfrm xmlns:a="http://schemas.openxmlformats.org/drawingml/2006/main">
            <a:off x="5559552"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50" b="1">
                <a:solidFill>
                  <a:srgbClr val="17191C"/>
                </a:solidFill>
                <a:latin typeface="Noto Sans CJK KR"/>
                <a:ea typeface="Noto Sans CJK KR"/>
                <a:cs typeface="Noto Sans CJK KR"/>
              </a:rPr>
              <a:t>웜 계층</a:t>
            </a:r>
            <a:endParaRPr sz="1550"/>
          </a:p>
          <a:p xmlns:a="http://schemas.openxmlformats.org/drawingml/2006/main">
            <a:pPr marL="0" indent="0" algn="ctr">
              <a:buNone/>
            </a:pPr>
            <a:r>
              <a:rPr sz="1550" b="1">
                <a:solidFill>
                  <a:srgbClr val="17191C"/>
                </a:solidFill>
                <a:latin typeface="Noto Sans CJK KR"/>
                <a:ea typeface="Noto Sans CJK KR"/>
                <a:cs typeface="Noto Sans CJK KR"/>
              </a:rPr>
              <a:t>사전 조달</a:t>
            </a:r>
            <a:endParaRPr sz="1550"/>
          </a:p>
        </p:txBody>
      </p:sp>
      <p:sp>
        <p:nvSpPr>
          <p:cNvPr id="22" name="STC-21-tx-arrow-2">
            <a:extLst xmlns:a="http://schemas.openxmlformats.org/drawingml/2006/main">
              <a:ext uri="{FF2B5EF4-FFF2-40B4-BE49-F238E27FC236}">
                <a16:creationId xmlns:a16="http://schemas.microsoft.com/office/drawing/2014/main" id="{D272B464-9913-4524-832C-F33C0DD693E5}"/>
              </a:ext>
            </a:extLst>
          </p:cNvPr>
          <p:cNvSpPr>
            <a:spLocks xmlns:a="http://schemas.openxmlformats.org/drawingml/2006/main" noGrp="1"/>
          </p:cNvSpPr>
          <p:nvPr/>
        </p:nvSpPr>
        <p:spPr>
          <a:xfrm xmlns:a="http://schemas.openxmlformats.org/drawingml/2006/main">
            <a:off x="6931152" y="2615184"/>
            <a:ext cx="749808"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23" name="STC-21-tx-tag-3">
            <a:extLst xmlns:a="http://schemas.openxmlformats.org/drawingml/2006/main">
              <a:ext uri="{FF2B5EF4-FFF2-40B4-BE49-F238E27FC236}">
                <a16:creationId xmlns:a16="http://schemas.microsoft.com/office/drawing/2014/main" id="{C1F54617-09E9-4FEC-BA52-DB7D26800FFD}"/>
              </a:ext>
            </a:extLst>
          </p:cNvPr>
          <p:cNvSpPr>
            <a:spLocks xmlns:a="http://schemas.openxmlformats.org/drawingml/2006/main" noGrp="1"/>
          </p:cNvSpPr>
          <p:nvPr/>
        </p:nvSpPr>
        <p:spPr>
          <a:xfrm xmlns:a="http://schemas.openxmlformats.org/drawingml/2006/main">
            <a:off x="7772400"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지표</a:t>
            </a:r>
            <a:endParaRPr sz="1100"/>
          </a:p>
        </p:txBody>
      </p:sp>
      <p:sp>
        <p:nvSpPr>
          <p:cNvPr id="24" name="STC-21-tx-node-3">
            <a:extLst xmlns:a="http://schemas.openxmlformats.org/drawingml/2006/main">
              <a:ext uri="{FF2B5EF4-FFF2-40B4-BE49-F238E27FC236}">
                <a16:creationId xmlns:a16="http://schemas.microsoft.com/office/drawing/2014/main" id="{5205FABA-9309-4D1E-B735-69D21F63ACA0}"/>
              </a:ext>
            </a:extLst>
          </p:cNvPr>
          <p:cNvSpPr>
            <a:spLocks xmlns:a="http://schemas.openxmlformats.org/drawingml/2006/main" noGrp="1"/>
          </p:cNvSpPr>
          <p:nvPr/>
        </p:nvSpPr>
        <p:spPr>
          <a:xfrm xmlns:a="http://schemas.openxmlformats.org/drawingml/2006/main">
            <a:off x="7772400" y="2084832"/>
            <a:ext cx="1417320" cy="1078992"/>
          </a:xfrm>
          <a:prstGeom xmlns:a="http://schemas.openxmlformats.org/drawingml/2006/main" prst="rect">
            <a:avLst/>
          </a:prstGeom>
          <a:solidFill xmlns:a="http://schemas.openxmlformats.org/drawingml/2006/main">
            <a:srgbClr val="DDE9E4"/>
          </a:solidFill>
          <a:ln xmlns:a="http://schemas.openxmlformats.org/drawingml/2006/main" w="12700">
            <a:solidFill>
              <a:srgbClr val="2F6B63"/>
            </a:solidFill>
            <a:prstDash val="solid"/>
          </a:ln>
        </p:spPr>
      </p:sp>
      <p:sp>
        <p:nvSpPr>
          <p:cNvPr id="25" name="STC-21-tx-body-3">
            <a:extLst xmlns:a="http://schemas.openxmlformats.org/drawingml/2006/main">
              <a:ext uri="{FF2B5EF4-FFF2-40B4-BE49-F238E27FC236}">
                <a16:creationId xmlns:a16="http://schemas.microsoft.com/office/drawing/2014/main" id="{4CEBAF60-4A96-421B-AB1C-4EFE7E60FC3B}"/>
              </a:ext>
            </a:extLst>
          </p:cNvPr>
          <p:cNvSpPr>
            <a:spLocks xmlns:a="http://schemas.openxmlformats.org/drawingml/2006/main" noGrp="1"/>
          </p:cNvSpPr>
          <p:nvPr/>
        </p:nvSpPr>
        <p:spPr>
          <a:xfrm xmlns:a="http://schemas.openxmlformats.org/drawingml/2006/main">
            <a:off x="7882128"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50" b="1">
                <a:solidFill>
                  <a:srgbClr val="17191C"/>
                </a:solidFill>
                <a:latin typeface="Noto Sans CJK KR"/>
                <a:ea typeface="Noto Sans CJK KR"/>
                <a:cs typeface="Noto Sans CJK KR"/>
              </a:rPr>
              <a:t>라운드당</a:t>
            </a:r>
            <a:endParaRPr sz="1550"/>
          </a:p>
          <a:p xmlns:a="http://schemas.openxmlformats.org/drawingml/2006/main">
            <a:pPr marL="0" indent="0" algn="ctr">
              <a:buNone/>
            </a:pPr>
            <a:r>
              <a:rPr sz="1550" b="1">
                <a:solidFill>
                  <a:srgbClr val="17191C"/>
                </a:solidFill>
                <a:latin typeface="Noto Sans CJK KR"/>
                <a:ea typeface="Noto Sans CJK KR"/>
                <a:cs typeface="Noto Sans CJK KR"/>
              </a:rPr>
              <a:t>%를 SLA로</a:t>
            </a:r>
            <a:endParaRPr sz="1550"/>
          </a:p>
        </p:txBody>
      </p:sp>
      <p:sp>
        <p:nvSpPr>
          <p:cNvPr id="26" name="STC-21-tx-arrow-3">
            <a:extLst xmlns:a="http://schemas.openxmlformats.org/drawingml/2006/main">
              <a:ext uri="{FF2B5EF4-FFF2-40B4-BE49-F238E27FC236}">
                <a16:creationId xmlns:a16="http://schemas.microsoft.com/office/drawing/2014/main" id="{7B34D62B-E2F2-4A17-8604-CA2DCE342B6E}"/>
              </a:ext>
            </a:extLst>
          </p:cNvPr>
          <p:cNvSpPr>
            <a:spLocks xmlns:a="http://schemas.openxmlformats.org/drawingml/2006/main" noGrp="1"/>
          </p:cNvSpPr>
          <p:nvPr/>
        </p:nvSpPr>
        <p:spPr>
          <a:xfrm xmlns:a="http://schemas.openxmlformats.org/drawingml/2006/main">
            <a:off x="9253728" y="2615184"/>
            <a:ext cx="749808" cy="0"/>
          </a:xfrm>
          <a:prstGeom xmlns:a="http://schemas.openxmlformats.org/drawingml/2006/main" prst="line">
            <a:avLst/>
          </a:prstGeom>
          <a:noFill xmlns:a="http://schemas.openxmlformats.org/drawingml/2006/main"/>
          <a:ln xmlns:a="http://schemas.openxmlformats.org/drawingml/2006/main" w="15240">
            <a:solidFill>
              <a:srgbClr val="17191C"/>
            </a:solidFill>
            <a:prstDash val="solid"/>
            <a:tailEnd type="triangle"/>
          </a:ln>
        </p:spPr>
      </p:sp>
      <p:sp>
        <p:nvSpPr>
          <p:cNvPr id="27" name="STC-21-tx-tag-4">
            <a:extLst xmlns:a="http://schemas.openxmlformats.org/drawingml/2006/main">
              <a:ext uri="{FF2B5EF4-FFF2-40B4-BE49-F238E27FC236}">
                <a16:creationId xmlns:a16="http://schemas.microsoft.com/office/drawing/2014/main" id="{42476528-B1DE-4070-A3CB-36583B42833C}"/>
              </a:ext>
            </a:extLst>
          </p:cNvPr>
          <p:cNvSpPr>
            <a:spLocks xmlns:a="http://schemas.openxmlformats.org/drawingml/2006/main" noGrp="1"/>
          </p:cNvSpPr>
          <p:nvPr/>
        </p:nvSpPr>
        <p:spPr>
          <a:xfrm xmlns:a="http://schemas.openxmlformats.org/drawingml/2006/main">
            <a:off x="10094976" y="1719072"/>
            <a:ext cx="1234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17191C"/>
                </a:solidFill>
                <a:latin typeface="Noto Sans Mono CJK KR"/>
                <a:ea typeface="Noto Sans Mono CJK KR"/>
                <a:cs typeface="Noto Sans Mono CJK KR"/>
              </a:rPr>
              <a:t>은유</a:t>
            </a:r>
            <a:endParaRPr sz="1100"/>
          </a:p>
        </p:txBody>
      </p:sp>
      <p:sp>
        <p:nvSpPr>
          <p:cNvPr id="28" name="STC-21-tx-node-4">
            <a:extLst xmlns:a="http://schemas.openxmlformats.org/drawingml/2006/main">
              <a:ext uri="{FF2B5EF4-FFF2-40B4-BE49-F238E27FC236}">
                <a16:creationId xmlns:a16="http://schemas.microsoft.com/office/drawing/2014/main" id="{A4F01ABE-5242-4A17-A30A-6B279F1E7991}"/>
              </a:ext>
            </a:extLst>
          </p:cNvPr>
          <p:cNvSpPr>
            <a:spLocks xmlns:a="http://schemas.openxmlformats.org/drawingml/2006/main" noGrp="1"/>
          </p:cNvSpPr>
          <p:nvPr/>
        </p:nvSpPr>
        <p:spPr>
          <a:xfrm xmlns:a="http://schemas.openxmlformats.org/drawingml/2006/main">
            <a:off x="10094976" y="2084832"/>
            <a:ext cx="1417320" cy="1078992"/>
          </a:xfrm>
          <a:prstGeom xmlns:a="http://schemas.openxmlformats.org/drawingml/2006/main" prst="rect">
            <a:avLst/>
          </a:prstGeom>
          <a:solidFill xmlns:a="http://schemas.openxmlformats.org/drawingml/2006/main">
            <a:srgbClr val="17191C"/>
          </a:solidFill>
          <a:ln xmlns:a="http://schemas.openxmlformats.org/drawingml/2006/main" w="12700">
            <a:solidFill>
              <a:srgbClr val="17191C"/>
            </a:solidFill>
            <a:prstDash val="solid"/>
          </a:ln>
        </p:spPr>
      </p:sp>
      <p:sp>
        <p:nvSpPr>
          <p:cNvPr id="29" name="STC-21-tx-body-4">
            <a:extLst xmlns:a="http://schemas.openxmlformats.org/drawingml/2006/main">
              <a:ext uri="{FF2B5EF4-FFF2-40B4-BE49-F238E27FC236}">
                <a16:creationId xmlns:a16="http://schemas.microsoft.com/office/drawing/2014/main" id="{3DBD0041-3D66-45D1-8D69-0DCBD9DC23B2}"/>
              </a:ext>
            </a:extLst>
          </p:cNvPr>
          <p:cNvSpPr>
            <a:spLocks xmlns:a="http://schemas.openxmlformats.org/drawingml/2006/main" noGrp="1"/>
          </p:cNvSpPr>
          <p:nvPr/>
        </p:nvSpPr>
        <p:spPr>
          <a:xfrm xmlns:a="http://schemas.openxmlformats.org/drawingml/2006/main">
            <a:off x="10204704" y="2350008"/>
            <a:ext cx="1197864"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50" b="1">
                <a:solidFill>
                  <a:srgbClr val="FFFFFF"/>
                </a:solidFill>
                <a:latin typeface="Noto Sans CJK KR"/>
                <a:ea typeface="Noto Sans CJK KR"/>
                <a:cs typeface="Noto Sans CJK KR"/>
              </a:rPr>
              <a:t>consolidation</a:t>
            </a:r>
            <a:endParaRPr sz="1550"/>
          </a:p>
          <a:p xmlns:a="http://schemas.openxmlformats.org/drawingml/2006/main">
            <a:pPr marL="0" indent="0" algn="ctr">
              <a:buNone/>
            </a:pPr>
            <a:r>
              <a:rPr sz="1550" b="1">
                <a:solidFill>
                  <a:srgbClr val="FFFFFF"/>
                </a:solidFill>
                <a:latin typeface="Noto Sans CJK KR"/>
                <a:ea typeface="Noto Sans CJK KR"/>
                <a:cs typeface="Noto Sans CJK KR"/>
              </a:rPr>
              <a:t>서사</a:t>
            </a:r>
            <a:endParaRPr sz="1550"/>
          </a:p>
        </p:txBody>
      </p:sp>
      <p:sp>
        <p:nvSpPr>
          <p:cNvPr id="30" name="STC-21-tx-reject">
            <a:extLst xmlns:a="http://schemas.openxmlformats.org/drawingml/2006/main">
              <a:ext uri="{FF2B5EF4-FFF2-40B4-BE49-F238E27FC236}">
                <a16:creationId xmlns:a16="http://schemas.microsoft.com/office/drawing/2014/main" id="{0678AAE5-7BE6-48F0-9FBD-E39E3F6ACC79}"/>
              </a:ext>
            </a:extLst>
          </p:cNvPr>
          <p:cNvSpPr>
            <a:spLocks xmlns:a="http://schemas.openxmlformats.org/drawingml/2006/main" noGrp="1"/>
          </p:cNvSpPr>
          <p:nvPr/>
        </p:nvSpPr>
        <p:spPr>
          <a:xfrm xmlns:a="http://schemas.openxmlformats.org/drawingml/2006/main" flipH="1" flipV="0">
            <a:off x="5074920" y="3264408"/>
            <a:ext cx="3108960" cy="1124712"/>
          </a:xfrm>
          <a:prstGeom xmlns:a="http://schemas.openxmlformats.org/drawingml/2006/main" prst="line">
            <a:avLst/>
          </a:prstGeom>
          <a:noFill xmlns:a="http://schemas.openxmlformats.org/drawingml/2006/main"/>
          <a:ln xmlns:a="http://schemas.openxmlformats.org/drawingml/2006/main" w="17780">
            <a:solidFill>
              <a:srgbClr val="9A442D"/>
            </a:solidFill>
            <a:prstDash val="solid"/>
            <a:tailEnd type="triangle"/>
          </a:ln>
        </p:spPr>
      </p:sp>
      <p:sp>
        <p:nvSpPr>
          <p:cNvPr id="31" name="STC-21-tx-reject-label">
            <a:extLst xmlns:a="http://schemas.openxmlformats.org/drawingml/2006/main">
              <a:ext uri="{FF2B5EF4-FFF2-40B4-BE49-F238E27FC236}">
                <a16:creationId xmlns:a16="http://schemas.microsoft.com/office/drawing/2014/main" id="{7B04337F-AFB0-490A-926B-0796C30487B5}"/>
              </a:ext>
            </a:extLst>
          </p:cNvPr>
          <p:cNvSpPr>
            <a:spLocks xmlns:a="http://schemas.openxmlformats.org/drawingml/2006/main" noGrp="1"/>
          </p:cNvSpPr>
          <p:nvPr/>
        </p:nvSpPr>
        <p:spPr>
          <a:xfrm xmlns:a="http://schemas.openxmlformats.org/drawingml/2006/main">
            <a:off x="5047488" y="4480560"/>
            <a:ext cx="21031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9A442D"/>
                </a:solidFill>
                <a:latin typeface="Noto Sans Mono CJK KR"/>
                <a:ea typeface="Noto Sans Mono CJK KR"/>
                <a:cs typeface="Noto Sans Mono CJK KR"/>
              </a:rPr>
              <a:t>이름</a:t>
            </a:r>
            <a:endParaRPr sz="1050"/>
          </a:p>
        </p:txBody>
      </p:sp>
      <p:sp>
        <p:nvSpPr>
          <p:cNvPr id="32" name="STC-21-tx-invariants">
            <a:extLst xmlns:a="http://schemas.openxmlformats.org/drawingml/2006/main">
              <a:ext uri="{FF2B5EF4-FFF2-40B4-BE49-F238E27FC236}">
                <a16:creationId xmlns:a16="http://schemas.microsoft.com/office/drawing/2014/main" id="{7F4A737E-D286-4BFA-BE0B-5DD5A6D248C8}"/>
              </a:ext>
            </a:extLst>
          </p:cNvPr>
          <p:cNvSpPr>
            <a:spLocks xmlns:a="http://schemas.openxmlformats.org/drawingml/2006/main" noGrp="1"/>
          </p:cNvSpPr>
          <p:nvPr/>
        </p:nvSpPr>
        <p:spPr>
          <a:xfrm xmlns:a="http://schemas.openxmlformats.org/drawingml/2006/main">
            <a:off x="1353312" y="4919472"/>
            <a:ext cx="9372600" cy="694944"/>
          </a:xfrm>
          <a:prstGeom xmlns:a="http://schemas.openxmlformats.org/drawingml/2006/main" prst="rect">
            <a:avLst/>
          </a:prstGeom>
          <a:solidFill xmlns:a="http://schemas.openxmlformats.org/drawingml/2006/main">
            <a:srgbClr val="ECE8DE"/>
          </a:solidFill>
          <a:ln xmlns:a="http://schemas.openxmlformats.org/drawingml/2006/main" w="12700">
            <a:solidFill>
              <a:srgbClr val="C9C4B8"/>
            </a:solidFill>
            <a:prstDash val="solid"/>
          </a:ln>
        </p:spPr>
      </p:sp>
      <p:sp>
        <p:nvSpPr>
          <p:cNvPr id="33" name="STC-21-tx-invariants-text">
            <a:extLst xmlns:a="http://schemas.openxmlformats.org/drawingml/2006/main">
              <a:ext uri="{FF2B5EF4-FFF2-40B4-BE49-F238E27FC236}">
                <a16:creationId xmlns:a16="http://schemas.microsoft.com/office/drawing/2014/main" id="{D8913978-F4E0-4671-BF3B-EB53BDBED854}"/>
              </a:ext>
            </a:extLst>
          </p:cNvPr>
          <p:cNvSpPr>
            <a:spLocks xmlns:a="http://schemas.openxmlformats.org/drawingml/2006/main" noGrp="1"/>
          </p:cNvSpPr>
          <p:nvPr/>
        </p:nvSpPr>
        <p:spPr>
          <a:xfrm xmlns:a="http://schemas.openxmlformats.org/drawingml/2006/main">
            <a:off x="1645920" y="5148072"/>
            <a:ext cx="87965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17191C"/>
                </a:solidFill>
                <a:latin typeface="Noto Sans Mono CJK KR"/>
                <a:ea typeface="Noto Sans Mono CJK KR"/>
                <a:cs typeface="Noto Sans Mono CJK KR"/>
              </a:rPr>
              <a:t>이 다섯은 전부 '측정되지 않은 값을 전제로 하는 결정'이다</a:t>
            </a:r>
            <a:endParaRPr sz="1200"/>
          </a:p>
        </p:txBody>
      </p:sp>
      <p:sp>
        <p:nvSpPr>
          <p:cNvPr id="34" name="STC-21-tx-bottom">
            <a:extLst xmlns:a="http://schemas.openxmlformats.org/drawingml/2006/main">
              <a:ext uri="{FF2B5EF4-FFF2-40B4-BE49-F238E27FC236}">
                <a16:creationId xmlns:a16="http://schemas.microsoft.com/office/drawing/2014/main" id="{D70E8476-0CFE-4413-9553-0E102D1AAD5E}"/>
              </a:ext>
            </a:extLst>
          </p:cNvPr>
          <p:cNvSpPr>
            <a:spLocks xmlns:a="http://schemas.openxmlformats.org/drawingml/2006/main" noGrp="1"/>
          </p:cNvSpPr>
          <p:nvPr/>
        </p:nvSpPr>
        <p:spPr>
          <a:xfrm xmlns:a="http://schemas.openxmlformats.org/drawingml/2006/main">
            <a:off x="1828800" y="5788152"/>
            <a:ext cx="85496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600">
                <a:solidFill>
                  <a:srgbClr val="2F6B63"/>
                </a:solidFill>
                <a:latin typeface="Noto Sans CJK KR"/>
                <a:ea typeface="Noto Sans CJK KR"/>
                <a:cs typeface="Noto Sans CJK KR"/>
              </a:rPr>
              <a:t>이 다섯은 전부 '측정되지 않은 값을 전제로 하는 결정'이다</a:t>
            </a:r>
            <a:endParaRPr sz="1600"/>
          </a:p>
        </p:txBody>
      </p:sp>
    </p:spTree>
    <p:extLst>
      <p:ext uri="{BB962C8B-B14F-4D97-AF65-F5344CB8AC3E}">
        <p14:creationId xmlns:p14="http://schemas.microsoft.com/office/powerpoint/2010/main" val="1478967083"/>
      </p:ext>
    </p:extLst>
  </p:cSld>
</p:sld>
</file>

<file path=ppt/slides/slide12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7-section">
            <a:extLst xmlns:a="http://schemas.openxmlformats.org/drawingml/2006/main">
              <a:ext uri="{FF2B5EF4-FFF2-40B4-BE49-F238E27FC236}">
                <a16:creationId xmlns:a16="http://schemas.microsoft.com/office/drawing/2014/main" id="{7385C310-AB33-4F53-AA02-6351BE546D8D}"/>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Q AND A</a:t>
            </a:r>
            <a:endParaRPr sz="950"/>
          </a:p>
        </p:txBody>
      </p:sp>
      <p:sp>
        <p:nvSpPr>
          <p:cNvPr id="3" name="STC-27-slide-id">
            <a:extLst xmlns:a="http://schemas.openxmlformats.org/drawingml/2006/main">
              <a:ext uri="{FF2B5EF4-FFF2-40B4-BE49-F238E27FC236}">
                <a16:creationId xmlns:a16="http://schemas.microsoft.com/office/drawing/2014/main" id="{A62D30FD-D0DE-406A-AEDE-4AA35074F91C}"/>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STC-123</a:t>
            </a:r>
            <a:endParaRPr sz="950"/>
          </a:p>
        </p:txBody>
      </p:sp>
      <p:sp>
        <p:nvSpPr>
          <p:cNvPr id="4" name="STC-27-headline">
            <a:extLst xmlns:a="http://schemas.openxmlformats.org/drawingml/2006/main">
              <a:ext uri="{FF2B5EF4-FFF2-40B4-BE49-F238E27FC236}">
                <a16:creationId xmlns:a16="http://schemas.microsoft.com/office/drawing/2014/main" id="{8FCF2712-593D-425A-8EF4-E1D041C0E6D0}"/>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17191C"/>
                </a:solidFill>
                <a:latin typeface="Noto Sans CJK KR"/>
                <a:ea typeface="Noto Sans CJK KR"/>
                <a:cs typeface="Noto Sans CJK KR"/>
              </a:rPr>
              <a:t>근거 지도 — 오늘 나온 주장은 어디를 보면 되는가</a:t>
            </a:r>
            <a:endParaRPr sz="2800"/>
          </a:p>
        </p:txBody>
      </p:sp>
      <p:sp>
        <p:nvSpPr>
          <p:cNvPr id="5" name="STC-27-status-label">
            <a:extLst xmlns:a="http://schemas.openxmlformats.org/drawingml/2006/main">
              <a:ext uri="{FF2B5EF4-FFF2-40B4-BE49-F238E27FC236}">
                <a16:creationId xmlns:a16="http://schemas.microsoft.com/office/drawing/2014/main" id="{13FFAE0E-5D8F-4108-9CA4-9ECCA2BD5C21}"/>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244E8A"/>
                </a:solidFill>
                <a:latin typeface="Noto Sans Mono CJK KR"/>
                <a:ea typeface="Noto Sans Mono CJK KR"/>
                <a:cs typeface="Noto Sans Mono CJK KR"/>
              </a:rPr>
              <a:t>근거 지도</a:t>
            </a:r>
            <a:endParaRPr sz="1000"/>
          </a:p>
        </p:txBody>
      </p:sp>
      <p:sp>
        <p:nvSpPr>
          <p:cNvPr id="6" name="STC-27-status-rule">
            <a:extLst xmlns:a="http://schemas.openxmlformats.org/drawingml/2006/main">
              <a:ext uri="{FF2B5EF4-FFF2-40B4-BE49-F238E27FC236}">
                <a16:creationId xmlns:a16="http://schemas.microsoft.com/office/drawing/2014/main" id="{561BD90D-848D-430E-BBAB-EE52DF2A1DDC}"/>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244E8A"/>
            </a:solidFill>
            <a:prstDash val="solid"/>
            <a:tailEnd type="none"/>
          </a:ln>
        </p:spPr>
      </p:sp>
      <p:sp>
        <p:nvSpPr>
          <p:cNvPr id="7" name="STC-27-footer-rule">
            <a:extLst xmlns:a="http://schemas.openxmlformats.org/drawingml/2006/main">
              <a:ext uri="{FF2B5EF4-FFF2-40B4-BE49-F238E27FC236}">
                <a16:creationId xmlns:a16="http://schemas.microsoft.com/office/drawing/2014/main" id="{D505BA78-3471-4BBD-912B-BD6109CC9FC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7-source-footer">
            <a:extLst xmlns:a="http://schemas.openxmlformats.org/drawingml/2006/main">
              <a:ext uri="{FF2B5EF4-FFF2-40B4-BE49-F238E27FC236}">
                <a16:creationId xmlns:a16="http://schemas.microsoft.com/office/drawing/2014/main" id="{E99DBCAF-2804-412F-A1FC-D287D4C15657}"/>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전 30장 · experiments/stc/X1–X4/result.json</a:t>
            </a:r>
            <a:endParaRPr sz="850"/>
          </a:p>
        </p:txBody>
      </p:sp>
      <p:sp>
        <p:nvSpPr>
          <p:cNvPr id="9" name="STC-27-page-number">
            <a:extLst xmlns:a="http://schemas.openxmlformats.org/drawingml/2006/main">
              <a:ext uri="{FF2B5EF4-FFF2-40B4-BE49-F238E27FC236}">
                <a16:creationId xmlns:a16="http://schemas.microsoft.com/office/drawing/2014/main" id="{AF0F969D-856E-456F-AB63-D26607331E1C}"/>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123</a:t>
            </a:r>
            <a:endParaRPr sz="850"/>
          </a:p>
        </p:txBody>
      </p:sp>
      <p:sp>
        <p:nvSpPr>
          <p:cNvPr id="11" name="STC-27-refa-num-0">
            <a:extLst xmlns:a="http://schemas.openxmlformats.org/drawingml/2006/main">
              <a:ext uri="{FF2B5EF4-FFF2-40B4-BE49-F238E27FC236}">
                <a16:creationId xmlns:a16="http://schemas.microsoft.com/office/drawing/2014/main" id="{0858B0FA-3B18-427D-9025-6A23BE3B0367}"/>
              </a:ext>
            </a:extLst>
          </p:cNvPr>
          <p:cNvSpPr>
            <a:spLocks xmlns:a="http://schemas.openxmlformats.org/drawingml/2006/main" noGrp="1"/>
          </p:cNvSpPr>
          <p:nvPr/>
        </p:nvSpPr>
        <p:spPr>
          <a:xfrm xmlns:a="http://schemas.openxmlformats.org/drawingml/2006/main">
            <a:off x="841248"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01</a:t>
            </a:r>
            <a:endParaRPr sz="950"/>
          </a:p>
        </p:txBody>
      </p:sp>
      <p:sp>
        <p:nvSpPr>
          <p:cNvPr id="12" name="STC-27-refa-text-0">
            <a:extLst xmlns:a="http://schemas.openxmlformats.org/drawingml/2006/main">
              <a:ext uri="{FF2B5EF4-FFF2-40B4-BE49-F238E27FC236}">
                <a16:creationId xmlns:a16="http://schemas.microsoft.com/office/drawing/2014/main" id="{062155EC-D1E1-4A6A-BED2-F6AC33A3C656}"/>
              </a:ext>
            </a:extLst>
          </p:cNvPr>
          <p:cNvSpPr>
            <a:spLocks xmlns:a="http://schemas.openxmlformats.org/drawingml/2006/main" noGrp="1"/>
          </p:cNvSpPr>
          <p:nvPr/>
        </p:nvSpPr>
        <p:spPr>
          <a:xfrm xmlns:a="http://schemas.openxmlformats.org/drawingml/2006/main">
            <a:off x="1353312"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판별식·전수 분류 · ch11 §11.2–11.7, 표 11-1·11-2·11-3</a:t>
            </a:r>
            <a:endParaRPr sz="1450"/>
          </a:p>
        </p:txBody>
      </p:sp>
      <p:sp>
        <p:nvSpPr>
          <p:cNvPr id="13" name="STC-27-refa-num-1">
            <a:extLst xmlns:a="http://schemas.openxmlformats.org/drawingml/2006/main">
              <a:ext uri="{FF2B5EF4-FFF2-40B4-BE49-F238E27FC236}">
                <a16:creationId xmlns:a16="http://schemas.microsoft.com/office/drawing/2014/main" id="{51CBF520-8ECD-44AE-B98F-1387ECEB6536}"/>
              </a:ext>
            </a:extLst>
          </p:cNvPr>
          <p:cNvSpPr>
            <a:spLocks xmlns:a="http://schemas.openxmlformats.org/drawingml/2006/main" noGrp="1"/>
          </p:cNvSpPr>
          <p:nvPr/>
        </p:nvSpPr>
        <p:spPr>
          <a:xfrm xmlns:a="http://schemas.openxmlformats.org/drawingml/2006/main">
            <a:off x="841248"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02</a:t>
            </a:r>
            <a:endParaRPr sz="950"/>
          </a:p>
        </p:txBody>
      </p:sp>
      <p:sp>
        <p:nvSpPr>
          <p:cNvPr id="14" name="STC-27-refa-text-1">
            <a:extLst xmlns:a="http://schemas.openxmlformats.org/drawingml/2006/main">
              <a:ext uri="{FF2B5EF4-FFF2-40B4-BE49-F238E27FC236}">
                <a16:creationId xmlns:a16="http://schemas.microsoft.com/office/drawing/2014/main" id="{A11ED546-4FD3-4619-BBDA-F1E89500025A}"/>
              </a:ext>
            </a:extLst>
          </p:cNvPr>
          <p:cNvSpPr>
            <a:spLocks xmlns:a="http://schemas.openxmlformats.org/drawingml/2006/main" noGrp="1"/>
          </p:cNvSpPr>
          <p:nvPr/>
        </p:nvSpPr>
        <p:spPr>
          <a:xfrm xmlns:a="http://schemas.openxmlformats.org/drawingml/2006/main">
            <a:off x="1353312"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대상 확정 판정 · ch24 §24.4, 반증 조건 §24.5 F1–F6</a:t>
            </a:r>
            <a:endParaRPr sz="1450"/>
          </a:p>
        </p:txBody>
      </p:sp>
      <p:sp>
        <p:nvSpPr>
          <p:cNvPr id="15" name="STC-27-refa-num-2">
            <a:extLst xmlns:a="http://schemas.openxmlformats.org/drawingml/2006/main">
              <a:ext uri="{FF2B5EF4-FFF2-40B4-BE49-F238E27FC236}">
                <a16:creationId xmlns:a16="http://schemas.microsoft.com/office/drawing/2014/main" id="{35A20116-4261-4BEF-8F20-7E111311BA48}"/>
              </a:ext>
            </a:extLst>
          </p:cNvPr>
          <p:cNvSpPr>
            <a:spLocks xmlns:a="http://schemas.openxmlformats.org/drawingml/2006/main" noGrp="1"/>
          </p:cNvSpPr>
          <p:nvPr/>
        </p:nvSpPr>
        <p:spPr>
          <a:xfrm xmlns:a="http://schemas.openxmlformats.org/drawingml/2006/main">
            <a:off x="841248"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03</a:t>
            </a:r>
            <a:endParaRPr sz="950"/>
          </a:p>
        </p:txBody>
      </p:sp>
      <p:sp>
        <p:nvSpPr>
          <p:cNvPr id="16" name="STC-27-refa-text-2">
            <a:extLst xmlns:a="http://schemas.openxmlformats.org/drawingml/2006/main">
              <a:ext uri="{FF2B5EF4-FFF2-40B4-BE49-F238E27FC236}">
                <a16:creationId xmlns:a16="http://schemas.microsoft.com/office/drawing/2014/main" id="{6702771D-ADC3-4D74-B59D-4D478F02E873}"/>
              </a:ext>
            </a:extLst>
          </p:cNvPr>
          <p:cNvSpPr>
            <a:spLocks xmlns:a="http://schemas.openxmlformats.org/drawingml/2006/main" noGrp="1"/>
          </p:cNvSpPr>
          <p:nvPr/>
        </p:nvSpPr>
        <p:spPr>
          <a:xfrm xmlns:a="http://schemas.openxmlformats.org/drawingml/2006/main">
            <a:off x="1353312"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통일 비용 회계 · ch25 §25.2–25.4, 실험 X1 result.json</a:t>
            </a:r>
            <a:endParaRPr sz="1450"/>
          </a:p>
        </p:txBody>
      </p:sp>
      <p:sp>
        <p:nvSpPr>
          <p:cNvPr id="17" name="STC-27-refa-num-3">
            <a:extLst xmlns:a="http://schemas.openxmlformats.org/drawingml/2006/main">
              <a:ext uri="{FF2B5EF4-FFF2-40B4-BE49-F238E27FC236}">
                <a16:creationId xmlns:a16="http://schemas.microsoft.com/office/drawing/2014/main" id="{55E8554F-18B5-482A-A521-0409C4939A68}"/>
              </a:ext>
            </a:extLst>
          </p:cNvPr>
          <p:cNvSpPr>
            <a:spLocks xmlns:a="http://schemas.openxmlformats.org/drawingml/2006/main" noGrp="1"/>
          </p:cNvSpPr>
          <p:nvPr/>
        </p:nvSpPr>
        <p:spPr>
          <a:xfrm xmlns:a="http://schemas.openxmlformats.org/drawingml/2006/main">
            <a:off x="841248"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04</a:t>
            </a:r>
            <a:endParaRPr sz="950"/>
          </a:p>
        </p:txBody>
      </p:sp>
      <p:sp>
        <p:nvSpPr>
          <p:cNvPr id="18" name="STC-27-refa-text-3">
            <a:extLst xmlns:a="http://schemas.openxmlformats.org/drawingml/2006/main">
              <a:ext uri="{FF2B5EF4-FFF2-40B4-BE49-F238E27FC236}">
                <a16:creationId xmlns:a16="http://schemas.microsoft.com/office/drawing/2014/main" id="{6643F56C-6A56-4F80-BDD8-C4233A3CAC95}"/>
              </a:ext>
            </a:extLst>
          </p:cNvPr>
          <p:cNvSpPr>
            <a:spLocks xmlns:a="http://schemas.openxmlformats.org/drawingml/2006/main" noGrp="1"/>
          </p:cNvSpPr>
          <p:nvPr/>
        </p:nvSpPr>
        <p:spPr>
          <a:xfrm xmlns:a="http://schemas.openxmlformats.org/drawingml/2006/main">
            <a:off x="1353312"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상태 용량 회계 · ch26 §26.3–26.4, 실험 X2 result.json</a:t>
            </a:r>
            <a:endParaRPr sz="1450"/>
          </a:p>
        </p:txBody>
      </p:sp>
      <p:sp>
        <p:nvSpPr>
          <p:cNvPr id="19" name="STC-27-refa-num-4">
            <a:extLst xmlns:a="http://schemas.openxmlformats.org/drawingml/2006/main">
              <a:ext uri="{FF2B5EF4-FFF2-40B4-BE49-F238E27FC236}">
                <a16:creationId xmlns:a16="http://schemas.microsoft.com/office/drawing/2014/main" id="{FD11CDBD-DFE9-45A7-B011-896A803064F0}"/>
              </a:ext>
            </a:extLst>
          </p:cNvPr>
          <p:cNvSpPr>
            <a:spLocks xmlns:a="http://schemas.openxmlformats.org/drawingml/2006/main" noGrp="1"/>
          </p:cNvSpPr>
          <p:nvPr/>
        </p:nvSpPr>
        <p:spPr>
          <a:xfrm xmlns:a="http://schemas.openxmlformats.org/drawingml/2006/main">
            <a:off x="841248"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05</a:t>
            </a:r>
            <a:endParaRPr sz="950"/>
          </a:p>
        </p:txBody>
      </p:sp>
      <p:sp>
        <p:nvSpPr>
          <p:cNvPr id="20" name="STC-27-refa-text-4">
            <a:extLst xmlns:a="http://schemas.openxmlformats.org/drawingml/2006/main">
              <a:ext uri="{FF2B5EF4-FFF2-40B4-BE49-F238E27FC236}">
                <a16:creationId xmlns:a16="http://schemas.microsoft.com/office/drawing/2014/main" id="{675DB14E-5738-4DE9-95BF-1BC22BFAB9F4}"/>
              </a:ext>
            </a:extLst>
          </p:cNvPr>
          <p:cNvSpPr>
            <a:spLocks xmlns:a="http://schemas.openxmlformats.org/drawingml/2006/main" noGrp="1"/>
          </p:cNvSpPr>
          <p:nvPr/>
        </p:nvSpPr>
        <p:spPr>
          <a:xfrm xmlns:a="http://schemas.openxmlformats.org/drawingml/2006/main">
            <a:off x="1353312"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경로별 판정 · ch27 §27.3–27.4, 표 27-2·27-3·27-4·27-5</a:t>
            </a:r>
            <a:endParaRPr sz="1450"/>
          </a:p>
        </p:txBody>
      </p:sp>
      <p:sp>
        <p:nvSpPr>
          <p:cNvPr id="21" name="STC-27-refa-num-5">
            <a:extLst xmlns:a="http://schemas.openxmlformats.org/drawingml/2006/main">
              <a:ext uri="{FF2B5EF4-FFF2-40B4-BE49-F238E27FC236}">
                <a16:creationId xmlns:a16="http://schemas.microsoft.com/office/drawing/2014/main" id="{1B33F735-F839-4244-A292-08A9268BD28E}"/>
              </a:ext>
            </a:extLst>
          </p:cNvPr>
          <p:cNvSpPr>
            <a:spLocks xmlns:a="http://schemas.openxmlformats.org/drawingml/2006/main" noGrp="1"/>
          </p:cNvSpPr>
          <p:nvPr/>
        </p:nvSpPr>
        <p:spPr>
          <a:xfrm xmlns:a="http://schemas.openxmlformats.org/drawingml/2006/main">
            <a:off x="841248"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06</a:t>
            </a:r>
            <a:endParaRPr sz="950"/>
          </a:p>
        </p:txBody>
      </p:sp>
      <p:sp>
        <p:nvSpPr>
          <p:cNvPr id="22" name="STC-27-refa-text-5">
            <a:extLst xmlns:a="http://schemas.openxmlformats.org/drawingml/2006/main">
              <a:ext uri="{FF2B5EF4-FFF2-40B4-BE49-F238E27FC236}">
                <a16:creationId xmlns:a16="http://schemas.microsoft.com/office/drawing/2014/main" id="{A304B551-576C-403B-AE3F-FB6BA309B549}"/>
              </a:ext>
            </a:extLst>
          </p:cNvPr>
          <p:cNvSpPr>
            <a:spLocks xmlns:a="http://schemas.openxmlformats.org/drawingml/2006/main" noGrp="1"/>
          </p:cNvSpPr>
          <p:nvPr/>
        </p:nvSpPr>
        <p:spPr>
          <a:xfrm xmlns:a="http://schemas.openxmlformats.org/drawingml/2006/main">
            <a:off x="1353312"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예산 축 감사 · ch28 §28.2–28.4, 실험 X3 result.json</a:t>
            </a:r>
            <a:endParaRPr sz="1450"/>
          </a:p>
        </p:txBody>
      </p:sp>
      <p:sp>
        <p:nvSpPr>
          <p:cNvPr id="23" name="STC-27-refa-num-6">
            <a:extLst xmlns:a="http://schemas.openxmlformats.org/drawingml/2006/main">
              <a:ext uri="{FF2B5EF4-FFF2-40B4-BE49-F238E27FC236}">
                <a16:creationId xmlns:a16="http://schemas.microsoft.com/office/drawing/2014/main" id="{C17BF4F3-BA5F-477A-AE3A-926274B15069}"/>
              </a:ext>
            </a:extLst>
          </p:cNvPr>
          <p:cNvSpPr>
            <a:spLocks xmlns:a="http://schemas.openxmlformats.org/drawingml/2006/main" noGrp="1"/>
          </p:cNvSpPr>
          <p:nvPr/>
        </p:nvSpPr>
        <p:spPr>
          <a:xfrm xmlns:a="http://schemas.openxmlformats.org/drawingml/2006/main">
            <a:off x="841248"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07</a:t>
            </a:r>
            <a:endParaRPr sz="950"/>
          </a:p>
        </p:txBody>
      </p:sp>
      <p:sp>
        <p:nvSpPr>
          <p:cNvPr id="24" name="STC-27-refa-text-6">
            <a:extLst xmlns:a="http://schemas.openxmlformats.org/drawingml/2006/main">
              <a:ext uri="{FF2B5EF4-FFF2-40B4-BE49-F238E27FC236}">
                <a16:creationId xmlns:a16="http://schemas.microsoft.com/office/drawing/2014/main" id="{289E9CA6-462B-4C66-89E4-717652A321F6}"/>
              </a:ext>
            </a:extLst>
          </p:cNvPr>
          <p:cNvSpPr>
            <a:spLocks xmlns:a="http://schemas.openxmlformats.org/drawingml/2006/main" noGrp="1"/>
          </p:cNvSpPr>
          <p:nvPr/>
        </p:nvSpPr>
        <p:spPr>
          <a:xfrm xmlns:a="http://schemas.openxmlformats.org/drawingml/2006/main">
            <a:off x="1353312"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systems·device · ch29 §29.3–29.4, 식 (29-1)(29-2)(29-3)</a:t>
            </a:r>
            <a:endParaRPr sz="1450"/>
          </a:p>
        </p:txBody>
      </p:sp>
      <p:sp>
        <p:nvSpPr>
          <p:cNvPr id="25" name="STC-27-refa-num-7">
            <a:extLst xmlns:a="http://schemas.openxmlformats.org/drawingml/2006/main">
              <a:ext uri="{FF2B5EF4-FFF2-40B4-BE49-F238E27FC236}">
                <a16:creationId xmlns:a16="http://schemas.microsoft.com/office/drawing/2014/main" id="{39B669A8-E06B-4878-A925-504530F51F2E}"/>
              </a:ext>
            </a:extLst>
          </p:cNvPr>
          <p:cNvSpPr>
            <a:spLocks xmlns:a="http://schemas.openxmlformats.org/drawingml/2006/main" noGrp="1"/>
          </p:cNvSpPr>
          <p:nvPr/>
        </p:nvSpPr>
        <p:spPr>
          <a:xfrm xmlns:a="http://schemas.openxmlformats.org/drawingml/2006/main">
            <a:off x="6172200" y="15636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08</a:t>
            </a:r>
            <a:endParaRPr sz="950"/>
          </a:p>
        </p:txBody>
      </p:sp>
      <p:sp>
        <p:nvSpPr>
          <p:cNvPr id="26" name="STC-27-refa-text-7">
            <a:extLst xmlns:a="http://schemas.openxmlformats.org/drawingml/2006/main">
              <a:ext uri="{FF2B5EF4-FFF2-40B4-BE49-F238E27FC236}">
                <a16:creationId xmlns:a16="http://schemas.microsoft.com/office/drawing/2014/main" id="{5CA2803E-8191-41D8-A69E-C8DE26EBBBD5}"/>
              </a:ext>
            </a:extLst>
          </p:cNvPr>
          <p:cNvSpPr>
            <a:spLocks xmlns:a="http://schemas.openxmlformats.org/drawingml/2006/main" noGrp="1"/>
          </p:cNvSpPr>
          <p:nvPr/>
        </p:nvSpPr>
        <p:spPr>
          <a:xfrm xmlns:a="http://schemas.openxmlformats.org/drawingml/2006/main">
            <a:off x="6684264" y="15087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반복 열화 · ch29 §29.3.5, 실험 X4 result.json</a:t>
            </a:r>
            <a:endParaRPr sz="1450"/>
          </a:p>
        </p:txBody>
      </p:sp>
      <p:sp>
        <p:nvSpPr>
          <p:cNvPr id="27" name="STC-27-refa-num-8">
            <a:extLst xmlns:a="http://schemas.openxmlformats.org/drawingml/2006/main">
              <a:ext uri="{FF2B5EF4-FFF2-40B4-BE49-F238E27FC236}">
                <a16:creationId xmlns:a16="http://schemas.microsoft.com/office/drawing/2014/main" id="{EB76E28F-3249-436F-BDC8-CC3B36B33971}"/>
              </a:ext>
            </a:extLst>
          </p:cNvPr>
          <p:cNvSpPr>
            <a:spLocks xmlns:a="http://schemas.openxmlformats.org/drawingml/2006/main" noGrp="1"/>
          </p:cNvSpPr>
          <p:nvPr/>
        </p:nvSpPr>
        <p:spPr>
          <a:xfrm xmlns:a="http://schemas.openxmlformats.org/drawingml/2006/main">
            <a:off x="6172200" y="22037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09</a:t>
            </a:r>
            <a:endParaRPr sz="950"/>
          </a:p>
        </p:txBody>
      </p:sp>
      <p:sp>
        <p:nvSpPr>
          <p:cNvPr id="28" name="STC-27-refa-text-8">
            <a:extLst xmlns:a="http://schemas.openxmlformats.org/drawingml/2006/main">
              <a:ext uri="{FF2B5EF4-FFF2-40B4-BE49-F238E27FC236}">
                <a16:creationId xmlns:a16="http://schemas.microsoft.com/office/drawing/2014/main" id="{42432C31-97C0-4DB4-A828-17F58B1C006C}"/>
              </a:ext>
            </a:extLst>
          </p:cNvPr>
          <p:cNvSpPr>
            <a:spLocks xmlns:a="http://schemas.openxmlformats.org/drawingml/2006/main" noGrp="1"/>
          </p:cNvSpPr>
          <p:nvPr/>
        </p:nvSpPr>
        <p:spPr>
          <a:xfrm xmlns:a="http://schemas.openxmlformats.org/drawingml/2006/main">
            <a:off x="6684264" y="21488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한계와 반증 총람 · ch30 표 30-1·30-2·30-3 (판정 32개)</a:t>
            </a:r>
            <a:endParaRPr sz="1450"/>
          </a:p>
        </p:txBody>
      </p:sp>
      <p:sp>
        <p:nvSpPr>
          <p:cNvPr id="29" name="STC-27-refa-num-9">
            <a:extLst xmlns:a="http://schemas.openxmlformats.org/drawingml/2006/main">
              <a:ext uri="{FF2B5EF4-FFF2-40B4-BE49-F238E27FC236}">
                <a16:creationId xmlns:a16="http://schemas.microsoft.com/office/drawing/2014/main" id="{7AE894C5-A4E3-431D-BBCB-B84488812967}"/>
              </a:ext>
            </a:extLst>
          </p:cNvPr>
          <p:cNvSpPr>
            <a:spLocks xmlns:a="http://schemas.openxmlformats.org/drawingml/2006/main" noGrp="1"/>
          </p:cNvSpPr>
          <p:nvPr/>
        </p:nvSpPr>
        <p:spPr>
          <a:xfrm xmlns:a="http://schemas.openxmlformats.org/drawingml/2006/main">
            <a:off x="6172200" y="284378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10</a:t>
            </a:r>
            <a:endParaRPr sz="950"/>
          </a:p>
        </p:txBody>
      </p:sp>
      <p:sp>
        <p:nvSpPr>
          <p:cNvPr id="30" name="STC-27-refa-text-9">
            <a:extLst xmlns:a="http://schemas.openxmlformats.org/drawingml/2006/main">
              <a:ext uri="{FF2B5EF4-FFF2-40B4-BE49-F238E27FC236}">
                <a16:creationId xmlns:a16="http://schemas.microsoft.com/office/drawing/2014/main" id="{5BD284A8-2458-487D-8B9E-370C7411385B}"/>
              </a:ext>
            </a:extLst>
          </p:cNvPr>
          <p:cNvSpPr>
            <a:spLocks xmlns:a="http://schemas.openxmlformats.org/drawingml/2006/main" noGrp="1"/>
          </p:cNvSpPr>
          <p:nvPr/>
        </p:nvSpPr>
        <p:spPr>
          <a:xfrm xmlns:a="http://schemas.openxmlformats.org/drawingml/2006/main">
            <a:off x="6684264" y="278892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논문별 8절 해부 · ch12–ch23 (논문 한 편당 한 장)</a:t>
            </a:r>
            <a:endParaRPr sz="1450"/>
          </a:p>
        </p:txBody>
      </p:sp>
      <p:sp>
        <p:nvSpPr>
          <p:cNvPr id="31" name="STC-27-refa-num-10">
            <a:extLst xmlns:a="http://schemas.openxmlformats.org/drawingml/2006/main">
              <a:ext uri="{FF2B5EF4-FFF2-40B4-BE49-F238E27FC236}">
                <a16:creationId xmlns:a16="http://schemas.microsoft.com/office/drawing/2014/main" id="{D8683AB3-30A2-418E-8C2F-785C7D981B49}"/>
              </a:ext>
            </a:extLst>
          </p:cNvPr>
          <p:cNvSpPr>
            <a:spLocks xmlns:a="http://schemas.openxmlformats.org/drawingml/2006/main" noGrp="1"/>
          </p:cNvSpPr>
          <p:nvPr/>
        </p:nvSpPr>
        <p:spPr>
          <a:xfrm xmlns:a="http://schemas.openxmlformats.org/drawingml/2006/main">
            <a:off x="6172200" y="348386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11</a:t>
            </a:r>
            <a:endParaRPr sz="950"/>
          </a:p>
        </p:txBody>
      </p:sp>
      <p:sp>
        <p:nvSpPr>
          <p:cNvPr id="32" name="STC-27-refa-text-10">
            <a:extLst xmlns:a="http://schemas.openxmlformats.org/drawingml/2006/main">
              <a:ext uri="{FF2B5EF4-FFF2-40B4-BE49-F238E27FC236}">
                <a16:creationId xmlns:a16="http://schemas.microsoft.com/office/drawing/2014/main" id="{D6BD7EA0-A2A2-4970-982A-7FB8848D707D}"/>
              </a:ext>
            </a:extLst>
          </p:cNvPr>
          <p:cNvSpPr>
            <a:spLocks xmlns:a="http://schemas.openxmlformats.org/drawingml/2006/main" noGrp="1"/>
          </p:cNvSpPr>
          <p:nvPr/>
        </p:nvSpPr>
        <p:spPr>
          <a:xfrm xmlns:a="http://schemas.openxmlformats.org/drawingml/2006/main">
            <a:off x="6684264" y="342900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training 배경 · ch02–ch10 (레짐·PEFT·distill·RL·망각·용량)</a:t>
            </a:r>
            <a:endParaRPr sz="1450"/>
          </a:p>
        </p:txBody>
      </p:sp>
      <p:sp>
        <p:nvSpPr>
          <p:cNvPr id="33" name="STC-27-refa-num-11">
            <a:extLst xmlns:a="http://schemas.openxmlformats.org/drawingml/2006/main">
              <a:ext uri="{FF2B5EF4-FFF2-40B4-BE49-F238E27FC236}">
                <a16:creationId xmlns:a16="http://schemas.microsoft.com/office/drawing/2014/main" id="{460613C2-7751-43C8-A2FB-0D5F9B0DBECB}"/>
              </a:ext>
            </a:extLst>
          </p:cNvPr>
          <p:cNvSpPr>
            <a:spLocks xmlns:a="http://schemas.openxmlformats.org/drawingml/2006/main" noGrp="1"/>
          </p:cNvSpPr>
          <p:nvPr/>
        </p:nvSpPr>
        <p:spPr>
          <a:xfrm xmlns:a="http://schemas.openxmlformats.org/drawingml/2006/main">
            <a:off x="6172200" y="412394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12</a:t>
            </a:r>
            <a:endParaRPr sz="950"/>
          </a:p>
        </p:txBody>
      </p:sp>
      <p:sp>
        <p:nvSpPr>
          <p:cNvPr id="34" name="STC-27-refa-text-11">
            <a:extLst xmlns:a="http://schemas.openxmlformats.org/drawingml/2006/main">
              <a:ext uri="{FF2B5EF4-FFF2-40B4-BE49-F238E27FC236}">
                <a16:creationId xmlns:a16="http://schemas.microsoft.com/office/drawing/2014/main" id="{6585AB7C-DE90-41AD-82F9-96F612B0B13A}"/>
              </a:ext>
            </a:extLst>
          </p:cNvPr>
          <p:cNvSpPr>
            <a:spLocks xmlns:a="http://schemas.openxmlformats.org/drawingml/2006/main" noGrp="1"/>
          </p:cNvSpPr>
          <p:nvPr/>
        </p:nvSpPr>
        <p:spPr>
          <a:xfrm xmlns:a="http://schemas.openxmlformats.org/drawingml/2006/main">
            <a:off x="6684264" y="406908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전수 분류표 · back/92-appendix-census.md</a:t>
            </a:r>
            <a:endParaRPr sz="1450"/>
          </a:p>
        </p:txBody>
      </p:sp>
      <p:sp>
        <p:nvSpPr>
          <p:cNvPr id="35" name="STC-27-refa-num-12">
            <a:extLst xmlns:a="http://schemas.openxmlformats.org/drawingml/2006/main">
              <a:ext uri="{FF2B5EF4-FFF2-40B4-BE49-F238E27FC236}">
                <a16:creationId xmlns:a16="http://schemas.microsoft.com/office/drawing/2014/main" id="{3BF3AFD4-5BFF-4F64-8958-1E971CEA8E77}"/>
              </a:ext>
            </a:extLst>
          </p:cNvPr>
          <p:cNvSpPr>
            <a:spLocks xmlns:a="http://schemas.openxmlformats.org/drawingml/2006/main" noGrp="1"/>
          </p:cNvSpPr>
          <p:nvPr/>
        </p:nvSpPr>
        <p:spPr>
          <a:xfrm xmlns:a="http://schemas.openxmlformats.org/drawingml/2006/main">
            <a:off x="6172200" y="476402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13</a:t>
            </a:r>
            <a:endParaRPr sz="950"/>
          </a:p>
        </p:txBody>
      </p:sp>
      <p:sp>
        <p:nvSpPr>
          <p:cNvPr id="36" name="STC-27-refa-text-12">
            <a:extLst xmlns:a="http://schemas.openxmlformats.org/drawingml/2006/main">
              <a:ext uri="{FF2B5EF4-FFF2-40B4-BE49-F238E27FC236}">
                <a16:creationId xmlns:a16="http://schemas.microsoft.com/office/drawing/2014/main" id="{A6CE689B-DBF7-4ACD-BBBF-ABB01DFF849C}"/>
              </a:ext>
            </a:extLst>
          </p:cNvPr>
          <p:cNvSpPr>
            <a:spLocks xmlns:a="http://schemas.openxmlformats.org/drawingml/2006/main" noGrp="1"/>
          </p:cNvSpPr>
          <p:nvPr/>
        </p:nvSpPr>
        <p:spPr>
          <a:xfrm xmlns:a="http://schemas.openxmlformats.org/drawingml/2006/main">
            <a:off x="6684264" y="470916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용어 색인 · back/91-glossary.md (정의 소유 장으로 연결)</a:t>
            </a:r>
            <a:endParaRPr sz="1450"/>
          </a:p>
        </p:txBody>
      </p:sp>
      <p:sp>
        <p:nvSpPr>
          <p:cNvPr id="37" name="STC-27-refa-num-13">
            <a:extLst xmlns:a="http://schemas.openxmlformats.org/drawingml/2006/main">
              <a:ext uri="{FF2B5EF4-FFF2-40B4-BE49-F238E27FC236}">
                <a16:creationId xmlns:a16="http://schemas.microsoft.com/office/drawing/2014/main" id="{2CBC69DB-9A99-46EA-A59F-BF77F82CD6C1}"/>
              </a:ext>
            </a:extLst>
          </p:cNvPr>
          <p:cNvSpPr>
            <a:spLocks xmlns:a="http://schemas.openxmlformats.org/drawingml/2006/main" noGrp="1"/>
          </p:cNvSpPr>
          <p:nvPr/>
        </p:nvSpPr>
        <p:spPr>
          <a:xfrm xmlns:a="http://schemas.openxmlformats.org/drawingml/2006/main">
            <a:off x="6172200" y="5404104"/>
            <a:ext cx="384048" cy="173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44E8A"/>
                </a:solidFill>
                <a:latin typeface="Noto Sans Mono CJK KR"/>
                <a:ea typeface="Noto Sans Mono CJK KR"/>
                <a:cs typeface="Noto Sans Mono CJK KR"/>
              </a:rPr>
              <a:t>14</a:t>
            </a:r>
            <a:endParaRPr sz="950"/>
          </a:p>
        </p:txBody>
      </p:sp>
      <p:sp>
        <p:nvSpPr>
          <p:cNvPr id="38" name="STC-27-refa-text-13">
            <a:extLst xmlns:a="http://schemas.openxmlformats.org/drawingml/2006/main">
              <a:ext uri="{FF2B5EF4-FFF2-40B4-BE49-F238E27FC236}">
                <a16:creationId xmlns:a16="http://schemas.microsoft.com/office/drawing/2014/main" id="{0E347A02-8998-4EC3-8A05-EF92986A2024}"/>
              </a:ext>
            </a:extLst>
          </p:cNvPr>
          <p:cNvSpPr>
            <a:spLocks xmlns:a="http://schemas.openxmlformats.org/drawingml/2006/main" noGrp="1"/>
          </p:cNvSpPr>
          <p:nvPr/>
        </p:nvSpPr>
        <p:spPr>
          <a:xfrm xmlns:a="http://schemas.openxmlformats.org/drawingml/2006/main">
            <a:off x="6684264" y="5349240"/>
            <a:ext cx="47091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a:solidFill>
                  <a:srgbClr val="17191C"/>
                </a:solidFill>
                <a:latin typeface="Noto Sans CJK KR"/>
                <a:ea typeface="Noto Sans CJK KR"/>
                <a:cs typeface="Noto Sans CJK KR"/>
              </a:rPr>
              <a:t>참고문헌 · back/90-bibliography.md (vendored 원문 기준)</a:t>
            </a:r>
            <a:endParaRPr sz="1450"/>
          </a:p>
        </p:txBody>
      </p:sp>
      <p:sp>
        <p:nvSpPr>
          <p:cNvPr id="39" name="STC-27-refa-note">
            <a:extLst xmlns:a="http://schemas.openxmlformats.org/drawingml/2006/main">
              <a:ext uri="{FF2B5EF4-FFF2-40B4-BE49-F238E27FC236}">
                <a16:creationId xmlns:a16="http://schemas.microsoft.com/office/drawing/2014/main" id="{CD24E568-17B2-4E37-89AF-FBA238DDA767}"/>
              </a:ext>
            </a:extLst>
          </p:cNvPr>
          <p:cNvSpPr>
            <a:spLocks xmlns:a="http://schemas.openxmlformats.org/drawingml/2006/main" noGrp="1"/>
          </p:cNvSpPr>
          <p:nvPr/>
        </p:nvSpPr>
        <p:spPr>
          <a:xfrm xmlns:a="http://schemas.openxmlformats.org/drawingml/2006/main">
            <a:off x="2212848" y="5870448"/>
            <a:ext cx="77724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50">
                <a:solidFill>
                  <a:srgbClr val="59616A"/>
                </a:solidFill>
                <a:latin typeface="Noto Sans CJK KR"/>
                <a:ea typeface="Noto Sans CJK KR"/>
                <a:cs typeface="Noto Sans CJK KR"/>
              </a:rPr>
              <a:t>ch11 §11.2–11.7, 표 11-1·11-2·11-3</a:t>
            </a:r>
            <a:endParaRPr sz="1350"/>
          </a:p>
        </p:txBody>
      </p:sp>
    </p:spTree>
    <p:extLst>
      <p:ext uri="{BB962C8B-B14F-4D97-AF65-F5344CB8AC3E}">
        <p14:creationId xmlns:p14="http://schemas.microsoft.com/office/powerpoint/2010/main" val="1964283889"/>
      </p:ext>
    </p:extLst>
  </p:cSld>
</p:sld>
</file>

<file path=ppt/slides/slide12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12-section">
            <a:extLst xmlns:a="http://schemas.openxmlformats.org/drawingml/2006/main">
              <a:ext uri="{FF2B5EF4-FFF2-40B4-BE49-F238E27FC236}">
                <a16:creationId xmlns:a16="http://schemas.microsoft.com/office/drawing/2014/main" id="{15A00382-53BC-4342-9FA5-5B5AF91DA566}"/>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Q AND A</a:t>
            </a:r>
            <a:endParaRPr sz="950"/>
          </a:p>
        </p:txBody>
      </p:sp>
      <p:sp>
        <p:nvSpPr>
          <p:cNvPr id="3" name="STC-12-slide-id">
            <a:extLst xmlns:a="http://schemas.openxmlformats.org/drawingml/2006/main">
              <a:ext uri="{FF2B5EF4-FFF2-40B4-BE49-F238E27FC236}">
                <a16:creationId xmlns:a16="http://schemas.microsoft.com/office/drawing/2014/main" id="{1E3DD464-BD5A-44B0-9CFC-2C21198E22AB}"/>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STC-124</a:t>
            </a:r>
            <a:endParaRPr sz="950"/>
          </a:p>
        </p:txBody>
      </p:sp>
      <p:sp>
        <p:nvSpPr>
          <p:cNvPr id="4" name="STC-12-headline">
            <a:extLst xmlns:a="http://schemas.openxmlformats.org/drawingml/2006/main">
              <a:ext uri="{FF2B5EF4-FFF2-40B4-BE49-F238E27FC236}">
                <a16:creationId xmlns:a16="http://schemas.microsoft.com/office/drawing/2014/main" id="{D955D3D8-D4A1-4CAB-B9B9-051825F4985F}"/>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한 장 요약 — 오늘 가져가실 여섯 문장</a:t>
            </a:r>
            <a:endParaRPr sz="3000"/>
          </a:p>
        </p:txBody>
      </p:sp>
      <p:sp>
        <p:nvSpPr>
          <p:cNvPr id="5" name="STC-12-status-label">
            <a:extLst xmlns:a="http://schemas.openxmlformats.org/drawingml/2006/main">
              <a:ext uri="{FF2B5EF4-FFF2-40B4-BE49-F238E27FC236}">
                <a16:creationId xmlns:a16="http://schemas.microsoft.com/office/drawing/2014/main" id="{0B88231D-CB7E-4689-982B-2CB989658F20}"/>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요약</a:t>
            </a:r>
            <a:endParaRPr sz="1000"/>
          </a:p>
        </p:txBody>
      </p:sp>
      <p:sp>
        <p:nvSpPr>
          <p:cNvPr id="6" name="STC-12-status-rule">
            <a:extLst xmlns:a="http://schemas.openxmlformats.org/drawingml/2006/main">
              <a:ext uri="{FF2B5EF4-FFF2-40B4-BE49-F238E27FC236}">
                <a16:creationId xmlns:a16="http://schemas.microsoft.com/office/drawing/2014/main" id="{1ACD46D0-5E85-468B-8BEB-63798EE1D82B}"/>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12-footer-rule">
            <a:extLst xmlns:a="http://schemas.openxmlformats.org/drawingml/2006/main">
              <a:ext uri="{FF2B5EF4-FFF2-40B4-BE49-F238E27FC236}">
                <a16:creationId xmlns:a16="http://schemas.microsoft.com/office/drawing/2014/main" id="{F113DD1B-331A-4AEF-9105-0D037F8DE29D}"/>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12-source-footer">
            <a:extLst xmlns:a="http://schemas.openxmlformats.org/drawingml/2006/main">
              <a:ext uri="{FF2B5EF4-FFF2-40B4-BE49-F238E27FC236}">
                <a16:creationId xmlns:a16="http://schemas.microsoft.com/office/drawing/2014/main" id="{90688726-390E-4C86-B070-BE70D406B0C6}"/>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ch24–ch30 판정 종합</a:t>
            </a:r>
            <a:endParaRPr sz="850"/>
          </a:p>
        </p:txBody>
      </p:sp>
      <p:sp>
        <p:nvSpPr>
          <p:cNvPr id="9" name="STC-12-page-number">
            <a:extLst xmlns:a="http://schemas.openxmlformats.org/drawingml/2006/main">
              <a:ext uri="{FF2B5EF4-FFF2-40B4-BE49-F238E27FC236}">
                <a16:creationId xmlns:a16="http://schemas.microsoft.com/office/drawing/2014/main" id="{DC9087BA-3A3D-49BC-9C01-14D403FEFD7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124</a:t>
            </a:r>
            <a:endParaRPr sz="850"/>
          </a:p>
        </p:txBody>
      </p:sp>
      <p:sp>
        <p:nvSpPr>
          <p:cNvPr id="11" name="STC-12-op-node-0">
            <a:extLst xmlns:a="http://schemas.openxmlformats.org/drawingml/2006/main">
              <a:ext uri="{FF2B5EF4-FFF2-40B4-BE49-F238E27FC236}">
                <a16:creationId xmlns:a16="http://schemas.microsoft.com/office/drawing/2014/main" id="{3B7F5898-E960-4CDF-8D34-8D7A0671BA6D}"/>
              </a:ext>
            </a:extLst>
          </p:cNvPr>
          <p:cNvSpPr>
            <a:spLocks xmlns:a="http://schemas.openxmlformats.org/drawingml/2006/main" noGrp="1"/>
          </p:cNvSpPr>
          <p:nvPr/>
        </p:nvSpPr>
        <p:spPr>
          <a:xfrm xmlns:a="http://schemas.openxmlformats.org/drawingml/2006/main">
            <a:off x="5705856" y="156362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2" name="STC-12-op-num-0">
            <a:extLst xmlns:a="http://schemas.openxmlformats.org/drawingml/2006/main">
              <a:ext uri="{FF2B5EF4-FFF2-40B4-BE49-F238E27FC236}">
                <a16:creationId xmlns:a16="http://schemas.microsoft.com/office/drawing/2014/main" id="{A475E0F0-B029-4EE1-8F4F-655F13436CED}"/>
              </a:ext>
            </a:extLst>
          </p:cNvPr>
          <p:cNvSpPr>
            <a:spLocks xmlns:a="http://schemas.openxmlformats.org/drawingml/2006/main" noGrp="1"/>
          </p:cNvSpPr>
          <p:nvPr/>
        </p:nvSpPr>
        <p:spPr>
          <a:xfrm xmlns:a="http://schemas.openxmlformats.org/drawingml/2006/main">
            <a:off x="5705856" y="169164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1</a:t>
            </a:r>
            <a:endParaRPr sz="1400"/>
          </a:p>
        </p:txBody>
      </p:sp>
      <p:sp>
        <p:nvSpPr>
          <p:cNvPr id="13" name="STC-12-op-tag-0">
            <a:extLst xmlns:a="http://schemas.openxmlformats.org/drawingml/2006/main">
              <a:ext uri="{FF2B5EF4-FFF2-40B4-BE49-F238E27FC236}">
                <a16:creationId xmlns:a16="http://schemas.microsoft.com/office/drawing/2014/main" id="{1296D6BE-6679-4CCF-983B-F48CAA27551D}"/>
              </a:ext>
            </a:extLst>
          </p:cNvPr>
          <p:cNvSpPr>
            <a:spLocks xmlns:a="http://schemas.openxmlformats.org/drawingml/2006/main" noGrp="1"/>
          </p:cNvSpPr>
          <p:nvPr/>
        </p:nvSpPr>
        <p:spPr>
          <a:xfrm xmlns:a="http://schemas.openxmlformats.org/drawingml/2006/main">
            <a:off x="5010912" y="236829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이름</a:t>
            </a:r>
            <a:endParaRPr sz="1100"/>
          </a:p>
        </p:txBody>
      </p:sp>
      <p:sp>
        <p:nvSpPr>
          <p:cNvPr id="14" name="STC-12-op-body-0">
            <a:extLst xmlns:a="http://schemas.openxmlformats.org/drawingml/2006/main">
              <a:ext uri="{FF2B5EF4-FFF2-40B4-BE49-F238E27FC236}">
                <a16:creationId xmlns:a16="http://schemas.microsoft.com/office/drawing/2014/main" id="{6170D155-D296-4585-B37C-24413C2E24AE}"/>
              </a:ext>
            </a:extLst>
          </p:cNvPr>
          <p:cNvSpPr>
            <a:spLocks xmlns:a="http://schemas.openxmlformats.org/drawingml/2006/main" noGrp="1"/>
          </p:cNvSpPr>
          <p:nvPr/>
        </p:nvSpPr>
        <p:spPr>
          <a:xfrm xmlns:a="http://schemas.openxmlformats.org/drawingml/2006/main">
            <a:off x="4709160" y="147218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29편 중 통과 9편</a:t>
            </a:r>
            <a:endParaRPr sz="1450"/>
          </a:p>
        </p:txBody>
      </p:sp>
      <p:sp>
        <p:nvSpPr>
          <p:cNvPr id="15" name="STC-12-op-link-0">
            <a:extLst xmlns:a="http://schemas.openxmlformats.org/drawingml/2006/main">
              <a:ext uri="{FF2B5EF4-FFF2-40B4-BE49-F238E27FC236}">
                <a16:creationId xmlns:a16="http://schemas.microsoft.com/office/drawing/2014/main" id="{5780A33F-A69D-437C-AD95-53DE20793892}"/>
              </a:ext>
            </a:extLst>
          </p:cNvPr>
          <p:cNvSpPr>
            <a:spLocks xmlns:a="http://schemas.openxmlformats.org/drawingml/2006/main" noGrp="1"/>
          </p:cNvSpPr>
          <p:nvPr/>
        </p:nvSpPr>
        <p:spPr>
          <a:xfrm xmlns:a="http://schemas.openxmlformats.org/drawingml/2006/main">
            <a:off x="6035040"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16" name="STC-12-op-node-1">
            <a:extLst xmlns:a="http://schemas.openxmlformats.org/drawingml/2006/main">
              <a:ext uri="{FF2B5EF4-FFF2-40B4-BE49-F238E27FC236}">
                <a16:creationId xmlns:a16="http://schemas.microsoft.com/office/drawing/2014/main" id="{B7B9211F-6F51-49F0-9F5C-1F6437B8F34B}"/>
              </a:ext>
            </a:extLst>
          </p:cNvPr>
          <p:cNvSpPr>
            <a:spLocks xmlns:a="http://schemas.openxmlformats.org/drawingml/2006/main" noGrp="1"/>
          </p:cNvSpPr>
          <p:nvPr/>
        </p:nvSpPr>
        <p:spPr>
          <a:xfrm xmlns:a="http://schemas.openxmlformats.org/drawingml/2006/main">
            <a:off x="8596268"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7" name="STC-12-op-num-1">
            <a:extLst xmlns:a="http://schemas.openxmlformats.org/drawingml/2006/main">
              <a:ext uri="{FF2B5EF4-FFF2-40B4-BE49-F238E27FC236}">
                <a16:creationId xmlns:a16="http://schemas.microsoft.com/office/drawing/2014/main" id="{EBCCD147-B6FC-422E-A63B-04C622977087}"/>
              </a:ext>
            </a:extLst>
          </p:cNvPr>
          <p:cNvSpPr>
            <a:spLocks xmlns:a="http://schemas.openxmlformats.org/drawingml/2006/main" noGrp="1"/>
          </p:cNvSpPr>
          <p:nvPr/>
        </p:nvSpPr>
        <p:spPr>
          <a:xfrm xmlns:a="http://schemas.openxmlformats.org/drawingml/2006/main">
            <a:off x="8596268"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2</a:t>
            </a:r>
            <a:endParaRPr sz="1400"/>
          </a:p>
        </p:txBody>
      </p:sp>
      <p:sp>
        <p:nvSpPr>
          <p:cNvPr id="18" name="STC-12-op-tag-1">
            <a:extLst xmlns:a="http://schemas.openxmlformats.org/drawingml/2006/main">
              <a:ext uri="{FF2B5EF4-FFF2-40B4-BE49-F238E27FC236}">
                <a16:creationId xmlns:a16="http://schemas.microsoft.com/office/drawing/2014/main" id="{85EB92FB-C482-4770-AAA8-1A6B4A6F3A42}"/>
              </a:ext>
            </a:extLst>
          </p:cNvPr>
          <p:cNvSpPr>
            <a:spLocks xmlns:a="http://schemas.openxmlformats.org/drawingml/2006/main" noGrp="1"/>
          </p:cNvSpPr>
          <p:nvPr/>
        </p:nvSpPr>
        <p:spPr>
          <a:xfrm xmlns:a="http://schemas.openxmlformats.org/drawingml/2006/main">
            <a:off x="7901324"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간격</a:t>
            </a:r>
            <a:endParaRPr sz="1100"/>
          </a:p>
        </p:txBody>
      </p:sp>
      <p:sp>
        <p:nvSpPr>
          <p:cNvPr id="19" name="STC-12-op-body-1">
            <a:extLst xmlns:a="http://schemas.openxmlformats.org/drawingml/2006/main">
              <a:ext uri="{FF2B5EF4-FFF2-40B4-BE49-F238E27FC236}">
                <a16:creationId xmlns:a16="http://schemas.microsoft.com/office/drawing/2014/main" id="{1CA8078F-0D0B-486A-8EFA-9CC54DD24F30}"/>
              </a:ext>
            </a:extLst>
          </p:cNvPr>
          <p:cNvSpPr>
            <a:spLocks xmlns:a="http://schemas.openxmlformats.org/drawingml/2006/main" noGrp="1"/>
          </p:cNvSpPr>
          <p:nvPr/>
        </p:nvSpPr>
        <p:spPr>
          <a:xfrm xmlns:a="http://schemas.openxmlformats.org/drawingml/2006/main">
            <a:off x="7599572"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구조적 · 세 공동체</a:t>
            </a:r>
            <a:endParaRPr sz="1450"/>
          </a:p>
        </p:txBody>
      </p:sp>
      <p:sp>
        <p:nvSpPr>
          <p:cNvPr id="20" name="STC-12-op-link-1">
            <a:extLst xmlns:a="http://schemas.openxmlformats.org/drawingml/2006/main">
              <a:ext uri="{FF2B5EF4-FFF2-40B4-BE49-F238E27FC236}">
                <a16:creationId xmlns:a16="http://schemas.microsoft.com/office/drawing/2014/main" id="{D24BDAAF-A5AB-4BD8-8ED9-FE1ACF4899C9}"/>
              </a:ext>
            </a:extLst>
          </p:cNvPr>
          <p:cNvSpPr>
            <a:spLocks xmlns:a="http://schemas.openxmlformats.org/drawingml/2006/main" noGrp="1"/>
          </p:cNvSpPr>
          <p:nvPr/>
        </p:nvSpPr>
        <p:spPr>
          <a:xfrm xmlns:a="http://schemas.openxmlformats.org/drawingml/2006/main">
            <a:off x="8925452"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1" name="STC-12-op-node-2">
            <a:extLst xmlns:a="http://schemas.openxmlformats.org/drawingml/2006/main">
              <a:ext uri="{FF2B5EF4-FFF2-40B4-BE49-F238E27FC236}">
                <a16:creationId xmlns:a16="http://schemas.microsoft.com/office/drawing/2014/main" id="{D47A4380-C6A0-482C-8F3B-4FCBF23DEB4A}"/>
              </a:ext>
            </a:extLst>
          </p:cNvPr>
          <p:cNvSpPr>
            <a:spLocks xmlns:a="http://schemas.openxmlformats.org/drawingml/2006/main" noGrp="1"/>
          </p:cNvSpPr>
          <p:nvPr/>
        </p:nvSpPr>
        <p:spPr>
          <a:xfrm xmlns:a="http://schemas.openxmlformats.org/drawingml/2006/main">
            <a:off x="8596268"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22" name="STC-12-op-num-2">
            <a:extLst xmlns:a="http://schemas.openxmlformats.org/drawingml/2006/main">
              <a:ext uri="{FF2B5EF4-FFF2-40B4-BE49-F238E27FC236}">
                <a16:creationId xmlns:a16="http://schemas.microsoft.com/office/drawing/2014/main" id="{02428B31-CD1C-4589-A9E4-CDCFA936182B}"/>
              </a:ext>
            </a:extLst>
          </p:cNvPr>
          <p:cNvSpPr>
            <a:spLocks xmlns:a="http://schemas.openxmlformats.org/drawingml/2006/main" noGrp="1"/>
          </p:cNvSpPr>
          <p:nvPr/>
        </p:nvSpPr>
        <p:spPr>
          <a:xfrm xmlns:a="http://schemas.openxmlformats.org/drawingml/2006/main">
            <a:off x="8596268"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3</a:t>
            </a:r>
            <a:endParaRPr sz="1400"/>
          </a:p>
        </p:txBody>
      </p:sp>
      <p:sp>
        <p:nvSpPr>
          <p:cNvPr id="23" name="STC-12-op-tag-2">
            <a:extLst xmlns:a="http://schemas.openxmlformats.org/drawingml/2006/main">
              <a:ext uri="{FF2B5EF4-FFF2-40B4-BE49-F238E27FC236}">
                <a16:creationId xmlns:a16="http://schemas.microsoft.com/office/drawing/2014/main" id="{9A88A0E6-8CD9-4B3C-A3C8-D8DB3E0CAA9C}"/>
              </a:ext>
            </a:extLst>
          </p:cNvPr>
          <p:cNvSpPr>
            <a:spLocks xmlns:a="http://schemas.openxmlformats.org/drawingml/2006/main" noGrp="1"/>
          </p:cNvSpPr>
          <p:nvPr/>
        </p:nvSpPr>
        <p:spPr>
          <a:xfrm xmlns:a="http://schemas.openxmlformats.org/drawingml/2006/main">
            <a:off x="7901324"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회계</a:t>
            </a:r>
            <a:endParaRPr sz="1100"/>
          </a:p>
        </p:txBody>
      </p:sp>
      <p:sp>
        <p:nvSpPr>
          <p:cNvPr id="24" name="STC-12-op-body-2">
            <a:extLst xmlns:a="http://schemas.openxmlformats.org/drawingml/2006/main">
              <a:ext uri="{FF2B5EF4-FFF2-40B4-BE49-F238E27FC236}">
                <a16:creationId xmlns:a16="http://schemas.microsoft.com/office/drawing/2014/main" id="{A34B6DDF-D917-404F-97DD-2728604927D3}"/>
              </a:ext>
            </a:extLst>
          </p:cNvPr>
          <p:cNvSpPr>
            <a:spLocks xmlns:a="http://schemas.openxmlformats.org/drawingml/2006/main" noGrp="1"/>
          </p:cNvSpPr>
          <p:nvPr/>
        </p:nvSpPr>
        <p:spPr>
          <a:xfrm xmlns:a="http://schemas.openxmlformats.org/drawingml/2006/main">
            <a:off x="7599572"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경계는 유한하다</a:t>
            </a:r>
            <a:endParaRPr sz="1450"/>
          </a:p>
        </p:txBody>
      </p:sp>
      <p:sp>
        <p:nvSpPr>
          <p:cNvPr id="25" name="STC-12-op-link-2">
            <a:extLst xmlns:a="http://schemas.openxmlformats.org/drawingml/2006/main">
              <a:ext uri="{FF2B5EF4-FFF2-40B4-BE49-F238E27FC236}">
                <a16:creationId xmlns:a16="http://schemas.microsoft.com/office/drawing/2014/main" id="{17022AE1-26C4-4D55-AF55-81D4C67E5C6A}"/>
              </a:ext>
            </a:extLst>
          </p:cNvPr>
          <p:cNvSpPr>
            <a:spLocks xmlns:a="http://schemas.openxmlformats.org/drawingml/2006/main" noGrp="1"/>
          </p:cNvSpPr>
          <p:nvPr/>
        </p:nvSpPr>
        <p:spPr>
          <a:xfrm xmlns:a="http://schemas.openxmlformats.org/drawingml/2006/main" flipH="1" flipV="0">
            <a:off x="6035040"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26" name="STC-12-op-node-3">
            <a:extLst xmlns:a="http://schemas.openxmlformats.org/drawingml/2006/main">
              <a:ext uri="{FF2B5EF4-FFF2-40B4-BE49-F238E27FC236}">
                <a16:creationId xmlns:a16="http://schemas.microsoft.com/office/drawing/2014/main" id="{7EDCD75E-970D-4E67-ACAC-654844557992}"/>
              </a:ext>
            </a:extLst>
          </p:cNvPr>
          <p:cNvSpPr>
            <a:spLocks xmlns:a="http://schemas.openxmlformats.org/drawingml/2006/main" noGrp="1"/>
          </p:cNvSpPr>
          <p:nvPr/>
        </p:nvSpPr>
        <p:spPr>
          <a:xfrm xmlns:a="http://schemas.openxmlformats.org/drawingml/2006/main">
            <a:off x="5705856" y="5129784"/>
            <a:ext cx="658368" cy="658368"/>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27" name="STC-12-op-num-3">
            <a:extLst xmlns:a="http://schemas.openxmlformats.org/drawingml/2006/main">
              <a:ext uri="{FF2B5EF4-FFF2-40B4-BE49-F238E27FC236}">
                <a16:creationId xmlns:a16="http://schemas.microsoft.com/office/drawing/2014/main" id="{D224CFAD-3E9F-4C6D-AB49-091BA826992F}"/>
              </a:ext>
            </a:extLst>
          </p:cNvPr>
          <p:cNvSpPr>
            <a:spLocks xmlns:a="http://schemas.openxmlformats.org/drawingml/2006/main" noGrp="1"/>
          </p:cNvSpPr>
          <p:nvPr/>
        </p:nvSpPr>
        <p:spPr>
          <a:xfrm xmlns:a="http://schemas.openxmlformats.org/drawingml/2006/main">
            <a:off x="5705856" y="525780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4</a:t>
            </a:r>
            <a:endParaRPr sz="1400"/>
          </a:p>
        </p:txBody>
      </p:sp>
      <p:sp>
        <p:nvSpPr>
          <p:cNvPr id="28" name="STC-12-op-tag-3">
            <a:extLst xmlns:a="http://schemas.openxmlformats.org/drawingml/2006/main">
              <a:ext uri="{FF2B5EF4-FFF2-40B4-BE49-F238E27FC236}">
                <a16:creationId xmlns:a16="http://schemas.microsoft.com/office/drawing/2014/main" id="{43001EAD-F441-4A66-828C-C832DEA28246}"/>
              </a:ext>
            </a:extLst>
          </p:cNvPr>
          <p:cNvSpPr>
            <a:spLocks xmlns:a="http://schemas.openxmlformats.org/drawingml/2006/main" noGrp="1"/>
          </p:cNvSpPr>
          <p:nvPr/>
        </p:nvSpPr>
        <p:spPr>
          <a:xfrm xmlns:a="http://schemas.openxmlformats.org/drawingml/2006/main">
            <a:off x="5010912" y="593445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44E8A"/>
                </a:solidFill>
                <a:latin typeface="Noto Sans Mono CJK KR"/>
                <a:ea typeface="Noto Sans Mono CJK KR"/>
                <a:cs typeface="Noto Sans Mono CJK KR"/>
              </a:rPr>
              <a:t>계층</a:t>
            </a:r>
            <a:endParaRPr sz="1100"/>
          </a:p>
        </p:txBody>
      </p:sp>
      <p:sp>
        <p:nvSpPr>
          <p:cNvPr id="29" name="STC-12-op-body-3">
            <a:extLst xmlns:a="http://schemas.openxmlformats.org/drawingml/2006/main">
              <a:ext uri="{FF2B5EF4-FFF2-40B4-BE49-F238E27FC236}">
                <a16:creationId xmlns:a16="http://schemas.microsoft.com/office/drawing/2014/main" id="{50163304-3BA3-47BB-AEFF-6ECC86CB6F55}"/>
              </a:ext>
            </a:extLst>
          </p:cNvPr>
          <p:cNvSpPr>
            <a:spLocks xmlns:a="http://schemas.openxmlformats.org/drawingml/2006/main" noGrp="1"/>
          </p:cNvSpPr>
          <p:nvPr/>
        </p:nvSpPr>
        <p:spPr>
          <a:xfrm xmlns:a="http://schemas.openxmlformats.org/drawingml/2006/main">
            <a:off x="4709160" y="622706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경로 = 계층 선택</a:t>
            </a:r>
            <a:endParaRPr sz="1450"/>
          </a:p>
        </p:txBody>
      </p:sp>
      <p:sp>
        <p:nvSpPr>
          <p:cNvPr id="30" name="STC-12-op-link-3">
            <a:extLst xmlns:a="http://schemas.openxmlformats.org/drawingml/2006/main">
              <a:ext uri="{FF2B5EF4-FFF2-40B4-BE49-F238E27FC236}">
                <a16:creationId xmlns:a16="http://schemas.microsoft.com/office/drawing/2014/main" id="{4D9AA943-63F4-4E10-9AEE-B1AAE142D875}"/>
              </a:ext>
            </a:extLst>
          </p:cNvPr>
          <p:cNvSpPr>
            <a:spLocks xmlns:a="http://schemas.openxmlformats.org/drawingml/2006/main" noGrp="1"/>
          </p:cNvSpPr>
          <p:nvPr/>
        </p:nvSpPr>
        <p:spPr>
          <a:xfrm xmlns:a="http://schemas.openxmlformats.org/drawingml/2006/main" flipH="1" flipV="1">
            <a:off x="3144628" y="456742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1" name="STC-12-op-node-4">
            <a:extLst xmlns:a="http://schemas.openxmlformats.org/drawingml/2006/main">
              <a:ext uri="{FF2B5EF4-FFF2-40B4-BE49-F238E27FC236}">
                <a16:creationId xmlns:a16="http://schemas.microsoft.com/office/drawing/2014/main" id="{4838BF6B-FD81-4CB8-8A99-864CF06821A4}"/>
              </a:ext>
            </a:extLst>
          </p:cNvPr>
          <p:cNvSpPr>
            <a:spLocks xmlns:a="http://schemas.openxmlformats.org/drawingml/2006/main" noGrp="1"/>
          </p:cNvSpPr>
          <p:nvPr/>
        </p:nvSpPr>
        <p:spPr>
          <a:xfrm xmlns:a="http://schemas.openxmlformats.org/drawingml/2006/main">
            <a:off x="2815444" y="4238244"/>
            <a:ext cx="658368" cy="658368"/>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32" name="STC-12-op-num-4">
            <a:extLst xmlns:a="http://schemas.openxmlformats.org/drawingml/2006/main">
              <a:ext uri="{FF2B5EF4-FFF2-40B4-BE49-F238E27FC236}">
                <a16:creationId xmlns:a16="http://schemas.microsoft.com/office/drawing/2014/main" id="{D17E99BE-7B25-4E73-8E33-499DDA4ECBC1}"/>
              </a:ext>
            </a:extLst>
          </p:cNvPr>
          <p:cNvSpPr>
            <a:spLocks xmlns:a="http://schemas.openxmlformats.org/drawingml/2006/main" noGrp="1"/>
          </p:cNvSpPr>
          <p:nvPr/>
        </p:nvSpPr>
        <p:spPr>
          <a:xfrm xmlns:a="http://schemas.openxmlformats.org/drawingml/2006/main">
            <a:off x="2815444" y="436626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5</a:t>
            </a:r>
            <a:endParaRPr sz="1400"/>
          </a:p>
        </p:txBody>
      </p:sp>
      <p:sp>
        <p:nvSpPr>
          <p:cNvPr id="33" name="STC-12-op-tag-4">
            <a:extLst xmlns:a="http://schemas.openxmlformats.org/drawingml/2006/main">
              <a:ext uri="{FF2B5EF4-FFF2-40B4-BE49-F238E27FC236}">
                <a16:creationId xmlns:a16="http://schemas.microsoft.com/office/drawing/2014/main" id="{40004509-A2D5-4E57-98DF-3EB4E7F4C996}"/>
              </a:ext>
            </a:extLst>
          </p:cNvPr>
          <p:cNvSpPr>
            <a:spLocks xmlns:a="http://schemas.openxmlformats.org/drawingml/2006/main" noGrp="1"/>
          </p:cNvSpPr>
          <p:nvPr/>
        </p:nvSpPr>
        <p:spPr>
          <a:xfrm xmlns:a="http://schemas.openxmlformats.org/drawingml/2006/main">
            <a:off x="2120500" y="504291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2F6B63"/>
                </a:solidFill>
                <a:latin typeface="Noto Sans Mono CJK KR"/>
                <a:ea typeface="Noto Sans Mono CJK KR"/>
                <a:cs typeface="Noto Sans Mono CJK KR"/>
              </a:rPr>
              <a:t>판정</a:t>
            </a:r>
            <a:endParaRPr sz="1100"/>
          </a:p>
        </p:txBody>
      </p:sp>
      <p:sp>
        <p:nvSpPr>
          <p:cNvPr id="34" name="STC-12-op-body-4">
            <a:extLst xmlns:a="http://schemas.openxmlformats.org/drawingml/2006/main">
              <a:ext uri="{FF2B5EF4-FFF2-40B4-BE49-F238E27FC236}">
                <a16:creationId xmlns:a16="http://schemas.microsoft.com/office/drawing/2014/main" id="{0452D8B9-EA53-4A11-9B31-C5FB9AB059D9}"/>
              </a:ext>
            </a:extLst>
          </p:cNvPr>
          <p:cNvSpPr>
            <a:spLocks xmlns:a="http://schemas.openxmlformats.org/drawingml/2006/main" noGrp="1"/>
          </p:cNvSpPr>
          <p:nvPr/>
        </p:nvSpPr>
        <p:spPr>
          <a:xfrm xmlns:a="http://schemas.openxmlformats.org/drawingml/2006/main">
            <a:off x="1818748" y="533552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E · W · Θ 각각</a:t>
            </a:r>
            <a:endParaRPr sz="1450"/>
          </a:p>
        </p:txBody>
      </p:sp>
      <p:sp>
        <p:nvSpPr>
          <p:cNvPr id="35" name="STC-12-op-link-4">
            <a:extLst xmlns:a="http://schemas.openxmlformats.org/drawingml/2006/main">
              <a:ext uri="{FF2B5EF4-FFF2-40B4-BE49-F238E27FC236}">
                <a16:creationId xmlns:a16="http://schemas.microsoft.com/office/drawing/2014/main" id="{B3FF6D0E-86E5-4DC2-ACAE-A2D6C307D500}"/>
              </a:ext>
            </a:extLst>
          </p:cNvPr>
          <p:cNvSpPr>
            <a:spLocks xmlns:a="http://schemas.openxmlformats.org/drawingml/2006/main" noGrp="1"/>
          </p:cNvSpPr>
          <p:nvPr/>
        </p:nvSpPr>
        <p:spPr>
          <a:xfrm xmlns:a="http://schemas.openxmlformats.org/drawingml/2006/main" flipH="0" flipV="1">
            <a:off x="3144628" y="2784348"/>
            <a:ext cx="0" cy="178308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36" name="STC-12-op-node-5">
            <a:extLst xmlns:a="http://schemas.openxmlformats.org/drawingml/2006/main">
              <a:ext uri="{FF2B5EF4-FFF2-40B4-BE49-F238E27FC236}">
                <a16:creationId xmlns:a16="http://schemas.microsoft.com/office/drawing/2014/main" id="{643B2F26-710B-4389-9207-DB983B280469}"/>
              </a:ext>
            </a:extLst>
          </p:cNvPr>
          <p:cNvSpPr>
            <a:spLocks xmlns:a="http://schemas.openxmlformats.org/drawingml/2006/main" noGrp="1"/>
          </p:cNvSpPr>
          <p:nvPr/>
        </p:nvSpPr>
        <p:spPr>
          <a:xfrm xmlns:a="http://schemas.openxmlformats.org/drawingml/2006/main">
            <a:off x="2815444" y="2455164"/>
            <a:ext cx="658368" cy="658368"/>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37" name="STC-12-op-num-5">
            <a:extLst xmlns:a="http://schemas.openxmlformats.org/drawingml/2006/main">
              <a:ext uri="{FF2B5EF4-FFF2-40B4-BE49-F238E27FC236}">
                <a16:creationId xmlns:a16="http://schemas.microsoft.com/office/drawing/2014/main" id="{1366845B-7872-4201-8ED7-A03DDCF5B99A}"/>
              </a:ext>
            </a:extLst>
          </p:cNvPr>
          <p:cNvSpPr>
            <a:spLocks xmlns:a="http://schemas.openxmlformats.org/drawingml/2006/main" noGrp="1"/>
          </p:cNvSpPr>
          <p:nvPr/>
        </p:nvSpPr>
        <p:spPr>
          <a:xfrm xmlns:a="http://schemas.openxmlformats.org/drawingml/2006/main">
            <a:off x="2815444" y="2583180"/>
            <a:ext cx="6583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rgbClr val="FFFFFF"/>
                </a:solidFill>
                <a:latin typeface="Noto Sans CJK KR"/>
                <a:ea typeface="Noto Sans CJK KR"/>
                <a:cs typeface="Noto Sans CJK KR"/>
              </a:rPr>
              <a:t>6</a:t>
            </a:r>
            <a:endParaRPr sz="1400"/>
          </a:p>
        </p:txBody>
      </p:sp>
      <p:sp>
        <p:nvSpPr>
          <p:cNvPr id="38" name="STC-12-op-tag-5">
            <a:extLst xmlns:a="http://schemas.openxmlformats.org/drawingml/2006/main">
              <a:ext uri="{FF2B5EF4-FFF2-40B4-BE49-F238E27FC236}">
                <a16:creationId xmlns:a16="http://schemas.microsoft.com/office/drawing/2014/main" id="{BC13BFEC-DD5E-4046-AE3A-D617BCD42DE2}"/>
              </a:ext>
            </a:extLst>
          </p:cNvPr>
          <p:cNvSpPr>
            <a:spLocks xmlns:a="http://schemas.openxmlformats.org/drawingml/2006/main" noGrp="1"/>
          </p:cNvSpPr>
          <p:nvPr/>
        </p:nvSpPr>
        <p:spPr>
          <a:xfrm xmlns:a="http://schemas.openxmlformats.org/drawingml/2006/main">
            <a:off x="2120500" y="3259836"/>
            <a:ext cx="20482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9A442D"/>
                </a:solidFill>
                <a:latin typeface="Noto Sans Mono CJK KR"/>
                <a:ea typeface="Noto Sans Mono CJK KR"/>
                <a:cs typeface="Noto Sans Mono CJK KR"/>
              </a:rPr>
              <a:t>축</a:t>
            </a:r>
            <a:endParaRPr sz="1100"/>
          </a:p>
        </p:txBody>
      </p:sp>
      <p:sp>
        <p:nvSpPr>
          <p:cNvPr id="39" name="STC-12-op-body-5">
            <a:extLst xmlns:a="http://schemas.openxmlformats.org/drawingml/2006/main">
              <a:ext uri="{FF2B5EF4-FFF2-40B4-BE49-F238E27FC236}">
                <a16:creationId xmlns:a16="http://schemas.microsoft.com/office/drawing/2014/main" id="{85783F27-64C0-4983-B165-B622CD1172B2}"/>
              </a:ext>
            </a:extLst>
          </p:cNvPr>
          <p:cNvSpPr>
            <a:spLocks xmlns:a="http://schemas.openxmlformats.org/drawingml/2006/main" noGrp="1"/>
          </p:cNvSpPr>
          <p:nvPr/>
        </p:nvSpPr>
        <p:spPr>
          <a:xfrm xmlns:a="http://schemas.openxmlformats.org/drawingml/2006/main">
            <a:off x="1818748" y="3552444"/>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50">
                <a:solidFill>
                  <a:srgbClr val="17191C"/>
                </a:solidFill>
                <a:latin typeface="Noto Sans CJK KR"/>
                <a:ea typeface="Noto Sans CJK KR"/>
                <a:cs typeface="Noto Sans CJK KR"/>
              </a:rPr>
              <a:t>각주 · R1–R9</a:t>
            </a:r>
            <a:endParaRPr sz="1450"/>
          </a:p>
        </p:txBody>
      </p:sp>
      <p:sp>
        <p:nvSpPr>
          <p:cNvPr id="40" name="STC-12-op-link-5">
            <a:extLst xmlns:a="http://schemas.openxmlformats.org/drawingml/2006/main">
              <a:ext uri="{FF2B5EF4-FFF2-40B4-BE49-F238E27FC236}">
                <a16:creationId xmlns:a16="http://schemas.microsoft.com/office/drawing/2014/main" id="{0A57C5E1-36D6-4BAB-A423-F6794118CE06}"/>
              </a:ext>
            </a:extLst>
          </p:cNvPr>
          <p:cNvSpPr>
            <a:spLocks xmlns:a="http://schemas.openxmlformats.org/drawingml/2006/main" noGrp="1"/>
          </p:cNvSpPr>
          <p:nvPr/>
        </p:nvSpPr>
        <p:spPr>
          <a:xfrm xmlns:a="http://schemas.openxmlformats.org/drawingml/2006/main" flipH="0" flipV="1">
            <a:off x="3144628" y="1892808"/>
            <a:ext cx="2890412" cy="891540"/>
          </a:xfrm>
          <a:prstGeom xmlns:a="http://schemas.openxmlformats.org/drawingml/2006/main" prst="line">
            <a:avLst/>
          </a:prstGeom>
          <a:noFill xmlns:a="http://schemas.openxmlformats.org/drawingml/2006/main"/>
          <a:ln xmlns:a="http://schemas.openxmlformats.org/drawingml/2006/main" w="13970">
            <a:solidFill>
              <a:srgbClr val="C9C4B8"/>
            </a:solidFill>
            <a:prstDash val="solid"/>
            <a:tailEnd type="triangle"/>
          </a:ln>
        </p:spPr>
      </p:sp>
      <p:sp>
        <p:nvSpPr>
          <p:cNvPr id="41" name="STC-12-op-center">
            <a:extLst xmlns:a="http://schemas.openxmlformats.org/drawingml/2006/main">
              <a:ext uri="{FF2B5EF4-FFF2-40B4-BE49-F238E27FC236}">
                <a16:creationId xmlns:a16="http://schemas.microsoft.com/office/drawing/2014/main" id="{309CB5CF-FB9A-40C1-B130-254D656350E7}"/>
              </a:ext>
            </a:extLst>
          </p:cNvPr>
          <p:cNvSpPr>
            <a:spLocks xmlns:a="http://schemas.openxmlformats.org/drawingml/2006/main" noGrp="1"/>
          </p:cNvSpPr>
          <p:nvPr/>
        </p:nvSpPr>
        <p:spPr>
          <a:xfrm xmlns:a="http://schemas.openxmlformats.org/drawingml/2006/main">
            <a:off x="5029200" y="2670048"/>
            <a:ext cx="2011680" cy="2011680"/>
          </a:xfrm>
          <a:prstGeom xmlns:a="http://schemas.openxmlformats.org/drawingml/2006/main" prst="ellipse">
            <a:avLst/>
          </a:prstGeom>
          <a:solidFill xmlns:a="http://schemas.openxmlformats.org/drawingml/2006/main">
            <a:srgbClr val="17191C"/>
          </a:solidFill>
          <a:ln xmlns:a="http://schemas.openxmlformats.org/drawingml/2006/main" w="12700">
            <a:solidFill>
              <a:srgbClr val="17191C"/>
            </a:solidFill>
            <a:prstDash val="solid"/>
          </a:ln>
        </p:spPr>
      </p:sp>
      <p:sp>
        <p:nvSpPr>
          <p:cNvPr id="42" name="STC-12-op-center-text">
            <a:extLst xmlns:a="http://schemas.openxmlformats.org/drawingml/2006/main">
              <a:ext uri="{FF2B5EF4-FFF2-40B4-BE49-F238E27FC236}">
                <a16:creationId xmlns:a16="http://schemas.microsoft.com/office/drawing/2014/main" id="{2773BEE7-9B1F-460A-9764-3935F52E8F27}"/>
              </a:ext>
            </a:extLst>
          </p:cNvPr>
          <p:cNvSpPr>
            <a:spLocks xmlns:a="http://schemas.openxmlformats.org/drawingml/2006/main" noGrp="1"/>
          </p:cNvSpPr>
          <p:nvPr/>
        </p:nvSpPr>
        <p:spPr>
          <a:xfrm xmlns:a="http://schemas.openxmlformats.org/drawingml/2006/main">
            <a:off x="5193792" y="3246120"/>
            <a:ext cx="16824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500" b="1">
                <a:solidFill>
                  <a:srgbClr val="FFFFFF"/>
                </a:solidFill>
                <a:latin typeface="Noto Sans Mono CJK KR"/>
                <a:ea typeface="Noto Sans Mono CJK KR"/>
                <a:cs typeface="Noto Sans Mono CJK KR"/>
              </a:rPr>
              <a:t>이 여섯이 두 시간의</a:t>
            </a:r>
            <a:endParaRPr sz="1500"/>
          </a:p>
          <a:p xmlns:a="http://schemas.openxmlformats.org/drawingml/2006/main">
            <a:pPr marL="0" indent="0" algn="ctr">
              <a:buNone/>
            </a:pPr>
            <a:r>
              <a:rPr sz="1500" b="1">
                <a:solidFill>
                  <a:srgbClr val="FFFFFF"/>
                </a:solidFill>
                <a:latin typeface="Noto Sans Mono CJK KR"/>
                <a:ea typeface="Noto Sans Mono CJK KR"/>
                <a:cs typeface="Noto Sans Mono CJK KR"/>
              </a:rPr>
              <a:t>전부다. 나머지는 근거다</a:t>
            </a:r>
            <a:endParaRPr sz="1500"/>
          </a:p>
        </p:txBody>
      </p:sp>
    </p:spTree>
    <p:extLst>
      <p:ext uri="{BB962C8B-B14F-4D97-AF65-F5344CB8AC3E}">
        <p14:creationId xmlns:p14="http://schemas.microsoft.com/office/powerpoint/2010/main" val="931853972"/>
      </p:ext>
    </p:extLst>
  </p:cSld>
</p:sld>
</file>

<file path=ppt/slides/slide12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 name="STC-26-section">
            <a:extLst xmlns:a="http://schemas.openxmlformats.org/drawingml/2006/main">
              <a:ext uri="{FF2B5EF4-FFF2-40B4-BE49-F238E27FC236}">
                <a16:creationId xmlns:a16="http://schemas.microsoft.com/office/drawing/2014/main" id="{C6CFE6F9-30C3-4ACE-B77D-C99D68BA58F5}"/>
              </a:ext>
            </a:extLst>
          </p:cNvPr>
          <p:cNvSpPr>
            <a:spLocks xmlns:a="http://schemas.openxmlformats.org/drawingml/2006/main" noGrp="1"/>
          </p:cNvSpPr>
          <p:nvPr/>
        </p:nvSpPr>
        <p:spPr>
          <a:xfrm xmlns:a="http://schemas.openxmlformats.org/drawingml/2006/main">
            <a:off x="603504" y="256032"/>
            <a:ext cx="3017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59616A"/>
                </a:solidFill>
                <a:latin typeface="Noto Sans Mono CJK KR"/>
                <a:ea typeface="Noto Sans Mono CJK KR"/>
                <a:cs typeface="Noto Sans Mono CJK KR"/>
              </a:rPr>
              <a:t>Q AND A</a:t>
            </a:r>
            <a:endParaRPr sz="950"/>
          </a:p>
        </p:txBody>
      </p:sp>
      <p:sp>
        <p:nvSpPr>
          <p:cNvPr id="3" name="STC-26-slide-id">
            <a:extLst xmlns:a="http://schemas.openxmlformats.org/drawingml/2006/main">
              <a:ext uri="{FF2B5EF4-FFF2-40B4-BE49-F238E27FC236}">
                <a16:creationId xmlns:a16="http://schemas.microsoft.com/office/drawing/2014/main" id="{FBF29D78-508E-4E7A-988A-2935AC88B6A1}"/>
              </a:ext>
            </a:extLst>
          </p:cNvPr>
          <p:cNvSpPr>
            <a:spLocks xmlns:a="http://schemas.openxmlformats.org/drawingml/2006/main" noGrp="1"/>
          </p:cNvSpPr>
          <p:nvPr/>
        </p:nvSpPr>
        <p:spPr>
          <a:xfrm xmlns:a="http://schemas.openxmlformats.org/drawingml/2006/main">
            <a:off x="10725912" y="256032"/>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950">
                <a:solidFill>
                  <a:srgbClr val="59616A"/>
                </a:solidFill>
                <a:latin typeface="Noto Sans Mono CJK KR"/>
                <a:ea typeface="Noto Sans Mono CJK KR"/>
                <a:cs typeface="Noto Sans Mono CJK KR"/>
              </a:rPr>
              <a:t>STC-125</a:t>
            </a:r>
            <a:endParaRPr sz="950"/>
          </a:p>
        </p:txBody>
      </p:sp>
      <p:sp>
        <p:nvSpPr>
          <p:cNvPr id="4" name="STC-26-headline">
            <a:extLst xmlns:a="http://schemas.openxmlformats.org/drawingml/2006/main">
              <a:ext uri="{FF2B5EF4-FFF2-40B4-BE49-F238E27FC236}">
                <a16:creationId xmlns:a16="http://schemas.microsoft.com/office/drawing/2014/main" id="{732EBE89-199D-4FA8-A127-19E537ABF3B3}"/>
              </a:ext>
            </a:extLst>
          </p:cNvPr>
          <p:cNvSpPr>
            <a:spLocks xmlns:a="http://schemas.openxmlformats.org/drawingml/2006/main" noGrp="1"/>
          </p:cNvSpPr>
          <p:nvPr/>
        </p:nvSpPr>
        <p:spPr>
          <a:xfrm xmlns:a="http://schemas.openxmlformats.org/drawingml/2006/main">
            <a:off x="603504" y="539496"/>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17191C"/>
                </a:solidFill>
                <a:latin typeface="Noto Sans CJK KR"/>
                <a:ea typeface="Noto Sans CJK KR"/>
                <a:cs typeface="Noto Sans CJK KR"/>
              </a:rPr>
              <a:t>이 발표를 쓰는 가장 좋은 방법은 인용이 아니라 반증이다</a:t>
            </a:r>
            <a:endParaRPr sz="3000"/>
          </a:p>
        </p:txBody>
      </p:sp>
      <p:sp>
        <p:nvSpPr>
          <p:cNvPr id="5" name="STC-26-status-label">
            <a:extLst xmlns:a="http://schemas.openxmlformats.org/drawingml/2006/main">
              <a:ext uri="{FF2B5EF4-FFF2-40B4-BE49-F238E27FC236}">
                <a16:creationId xmlns:a16="http://schemas.microsoft.com/office/drawing/2014/main" id="{DFBC3A45-EA4A-4C81-847B-98DDEA347603}"/>
              </a:ext>
            </a:extLst>
          </p:cNvPr>
          <p:cNvSpPr>
            <a:spLocks xmlns:a="http://schemas.openxmlformats.org/drawingml/2006/main" noGrp="1"/>
          </p:cNvSpPr>
          <p:nvPr/>
        </p:nvSpPr>
        <p:spPr>
          <a:xfrm xmlns:a="http://schemas.openxmlformats.org/drawingml/2006/main">
            <a:off x="603504" y="1170432"/>
            <a:ext cx="80467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59616A"/>
                </a:solidFill>
                <a:latin typeface="Noto Sans Mono CJK KR"/>
                <a:ea typeface="Noto Sans Mono CJK KR"/>
                <a:cs typeface="Noto Sans Mono CJK KR"/>
              </a:rPr>
              <a:t>닫는 말</a:t>
            </a:r>
            <a:endParaRPr sz="1000"/>
          </a:p>
        </p:txBody>
      </p:sp>
      <p:sp>
        <p:nvSpPr>
          <p:cNvPr id="6" name="STC-26-status-rule">
            <a:extLst xmlns:a="http://schemas.openxmlformats.org/drawingml/2006/main">
              <a:ext uri="{FF2B5EF4-FFF2-40B4-BE49-F238E27FC236}">
                <a16:creationId xmlns:a16="http://schemas.microsoft.com/office/drawing/2014/main" id="{D4374441-A440-47AE-BAFC-C99186B9EF69}"/>
              </a:ext>
            </a:extLst>
          </p:cNvPr>
          <p:cNvSpPr>
            <a:spLocks xmlns:a="http://schemas.openxmlformats.org/drawingml/2006/main" noGrp="1"/>
          </p:cNvSpPr>
          <p:nvPr/>
        </p:nvSpPr>
        <p:spPr>
          <a:xfrm xmlns:a="http://schemas.openxmlformats.org/drawingml/2006/main">
            <a:off x="1481328" y="1280160"/>
            <a:ext cx="566928" cy="0"/>
          </a:xfrm>
          <a:prstGeom xmlns:a="http://schemas.openxmlformats.org/drawingml/2006/main" prst="line">
            <a:avLst/>
          </a:prstGeom>
          <a:noFill xmlns:a="http://schemas.openxmlformats.org/drawingml/2006/main"/>
          <a:ln xmlns:a="http://schemas.openxmlformats.org/drawingml/2006/main" w="30480">
            <a:solidFill>
              <a:srgbClr val="59616A"/>
            </a:solidFill>
            <a:prstDash val="solid"/>
            <a:tailEnd type="none"/>
          </a:ln>
        </p:spPr>
      </p:sp>
      <p:sp>
        <p:nvSpPr>
          <p:cNvPr id="7" name="STC-26-footer-rule">
            <a:extLst xmlns:a="http://schemas.openxmlformats.org/drawingml/2006/main">
              <a:ext uri="{FF2B5EF4-FFF2-40B4-BE49-F238E27FC236}">
                <a16:creationId xmlns:a16="http://schemas.microsoft.com/office/drawing/2014/main" id="{D17054CE-E03B-4746-9386-8812E6B0F9F5}"/>
              </a:ext>
            </a:extLst>
          </p:cNvPr>
          <p:cNvSpPr>
            <a:spLocks xmlns:a="http://schemas.openxmlformats.org/drawingml/2006/main" noGrp="1"/>
          </p:cNvSpPr>
          <p:nvPr/>
        </p:nvSpPr>
        <p:spPr>
          <a:xfrm xmlns:a="http://schemas.openxmlformats.org/drawingml/2006/main">
            <a:off x="603504" y="6473952"/>
            <a:ext cx="10972800" cy="0"/>
          </a:xfrm>
          <a:prstGeom xmlns:a="http://schemas.openxmlformats.org/drawingml/2006/main" prst="line">
            <a:avLst/>
          </a:prstGeom>
          <a:noFill xmlns:a="http://schemas.openxmlformats.org/drawingml/2006/main"/>
          <a:ln xmlns:a="http://schemas.openxmlformats.org/drawingml/2006/main" w="8890">
            <a:solidFill>
              <a:srgbClr val="C9C4B8"/>
            </a:solidFill>
            <a:prstDash val="solid"/>
            <a:tailEnd type="none"/>
          </a:ln>
        </p:spPr>
      </p:sp>
      <p:sp>
        <p:nvSpPr>
          <p:cNvPr id="8" name="STC-26-source-footer">
            <a:extLst xmlns:a="http://schemas.openxmlformats.org/drawingml/2006/main">
              <a:ext uri="{FF2B5EF4-FFF2-40B4-BE49-F238E27FC236}">
                <a16:creationId xmlns:a16="http://schemas.microsoft.com/office/drawing/2014/main" id="{27C2276F-F54F-4D86-9622-75C6D85DAA50}"/>
              </a:ext>
            </a:extLst>
          </p:cNvPr>
          <p:cNvSpPr>
            <a:spLocks xmlns:a="http://schemas.openxmlformats.org/drawingml/2006/main" noGrp="1"/>
          </p:cNvSpPr>
          <p:nvPr/>
        </p:nvSpPr>
        <p:spPr>
          <a:xfrm xmlns:a="http://schemas.openxmlformats.org/drawingml/2006/main">
            <a:off x="603504" y="6537960"/>
            <a:ext cx="100126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9616A"/>
                </a:solidFill>
                <a:latin typeface="Noto Sans CJK KR"/>
                <a:ea typeface="Noto Sans CJK KR"/>
                <a:cs typeface="Noto Sans CJK KR"/>
              </a:rPr>
              <a:t>study-kr-stc ch30 §다음 장으로</a:t>
            </a:r>
            <a:endParaRPr sz="850"/>
          </a:p>
        </p:txBody>
      </p:sp>
      <p:sp>
        <p:nvSpPr>
          <p:cNvPr id="9" name="STC-26-page-number">
            <a:extLst xmlns:a="http://schemas.openxmlformats.org/drawingml/2006/main">
              <a:ext uri="{FF2B5EF4-FFF2-40B4-BE49-F238E27FC236}">
                <a16:creationId xmlns:a16="http://schemas.microsoft.com/office/drawing/2014/main" id="{514099CF-2FF1-439D-8114-7438C7271AB1}"/>
              </a:ext>
            </a:extLst>
          </p:cNvPr>
          <p:cNvSpPr>
            <a:spLocks xmlns:a="http://schemas.openxmlformats.org/drawingml/2006/main" noGrp="1"/>
          </p:cNvSpPr>
          <p:nvPr/>
        </p:nvSpPr>
        <p:spPr>
          <a:xfrm xmlns:a="http://schemas.openxmlformats.org/drawingml/2006/main">
            <a:off x="10936224" y="6528816"/>
            <a:ext cx="64008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59616A"/>
                </a:solidFill>
                <a:latin typeface="Noto Sans Mono CJK KR"/>
                <a:ea typeface="Noto Sans Mono CJK KR"/>
                <a:cs typeface="Noto Sans Mono CJK KR"/>
              </a:rPr>
              <a:t>125</a:t>
            </a:r>
            <a:endParaRPr sz="850"/>
          </a:p>
        </p:txBody>
      </p:sp>
      <p:sp>
        <p:nvSpPr>
          <p:cNvPr id="11" name="STC-26-con-capture">
            <a:extLst xmlns:a="http://schemas.openxmlformats.org/drawingml/2006/main">
              <a:ext uri="{FF2B5EF4-FFF2-40B4-BE49-F238E27FC236}">
                <a16:creationId xmlns:a16="http://schemas.microsoft.com/office/drawing/2014/main" id="{DD5D5F7C-59BF-4487-95AC-7D7853786246}"/>
              </a:ext>
            </a:extLst>
          </p:cNvPr>
          <p:cNvSpPr>
            <a:spLocks xmlns:a="http://schemas.openxmlformats.org/drawingml/2006/main" noGrp="1"/>
          </p:cNvSpPr>
          <p:nvPr/>
        </p:nvSpPr>
        <p:spPr>
          <a:xfrm xmlns:a="http://schemas.openxmlformats.org/drawingml/2006/main">
            <a:off x="822960" y="1828800"/>
            <a:ext cx="13258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44E8A"/>
                </a:solidFill>
                <a:latin typeface="Noto Sans Mono CJK KR"/>
                <a:ea typeface="Noto Sans Mono CJK KR"/>
                <a:cs typeface="Noto Sans Mono CJK KR"/>
              </a:rPr>
              <a:t>만든 것</a:t>
            </a:r>
            <a:endParaRPr sz="1200"/>
          </a:p>
        </p:txBody>
      </p:sp>
      <p:sp>
        <p:nvSpPr>
          <p:cNvPr id="12" name="STC-26-con-transform">
            <a:extLst xmlns:a="http://schemas.openxmlformats.org/drawingml/2006/main">
              <a:ext uri="{FF2B5EF4-FFF2-40B4-BE49-F238E27FC236}">
                <a16:creationId xmlns:a16="http://schemas.microsoft.com/office/drawing/2014/main" id="{AD254F05-8266-4B86-A230-70C8E0018E50}"/>
              </a:ext>
            </a:extLst>
          </p:cNvPr>
          <p:cNvSpPr>
            <a:spLocks xmlns:a="http://schemas.openxmlformats.org/drawingml/2006/main" noGrp="1"/>
          </p:cNvSpPr>
          <p:nvPr/>
        </p:nvSpPr>
        <p:spPr>
          <a:xfrm xmlns:a="http://schemas.openxmlformats.org/drawingml/2006/main">
            <a:off x="3273552" y="1828800"/>
            <a:ext cx="15544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9A442D"/>
                </a:solidFill>
                <a:latin typeface="Noto Sans Mono CJK KR"/>
                <a:ea typeface="Noto Sans Mono CJK KR"/>
                <a:cs typeface="Noto Sans Mono CJK KR"/>
              </a:rPr>
              <a:t>도구</a:t>
            </a:r>
            <a:endParaRPr sz="1200"/>
          </a:p>
        </p:txBody>
      </p:sp>
      <p:sp>
        <p:nvSpPr>
          <p:cNvPr id="13" name="STC-26-con-verify">
            <a:extLst xmlns:a="http://schemas.openxmlformats.org/drawingml/2006/main">
              <a:ext uri="{FF2B5EF4-FFF2-40B4-BE49-F238E27FC236}">
                <a16:creationId xmlns:a16="http://schemas.microsoft.com/office/drawing/2014/main" id="{8E44B935-058D-4160-A101-3846F7FE6B11}"/>
              </a:ext>
            </a:extLst>
          </p:cNvPr>
          <p:cNvSpPr>
            <a:spLocks xmlns:a="http://schemas.openxmlformats.org/drawingml/2006/main" noGrp="1"/>
          </p:cNvSpPr>
          <p:nvPr/>
        </p:nvSpPr>
        <p:spPr>
          <a:xfrm xmlns:a="http://schemas.openxmlformats.org/drawingml/2006/main">
            <a:off x="6016752" y="1828800"/>
            <a:ext cx="11887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2F6B63"/>
                </a:solidFill>
                <a:latin typeface="Noto Sans Mono CJK KR"/>
                <a:ea typeface="Noto Sans Mono CJK KR"/>
                <a:cs typeface="Noto Sans Mono CJK KR"/>
              </a:rPr>
              <a:t>계약</a:t>
            </a:r>
            <a:endParaRPr sz="1200"/>
          </a:p>
        </p:txBody>
      </p:sp>
      <p:sp>
        <p:nvSpPr>
          <p:cNvPr id="14" name="STC-26-con-reuse">
            <a:extLst xmlns:a="http://schemas.openxmlformats.org/drawingml/2006/main">
              <a:ext uri="{FF2B5EF4-FFF2-40B4-BE49-F238E27FC236}">
                <a16:creationId xmlns:a16="http://schemas.microsoft.com/office/drawing/2014/main" id="{FE44A74D-7473-4EAE-B64F-7D1B198738BB}"/>
              </a:ext>
            </a:extLst>
          </p:cNvPr>
          <p:cNvSpPr>
            <a:spLocks xmlns:a="http://schemas.openxmlformats.org/drawingml/2006/main" noGrp="1"/>
          </p:cNvSpPr>
          <p:nvPr/>
        </p:nvSpPr>
        <p:spPr>
          <a:xfrm xmlns:a="http://schemas.openxmlformats.org/drawingml/2006/main">
            <a:off x="8503920" y="1828800"/>
            <a:ext cx="1965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7191C"/>
                </a:solidFill>
                <a:latin typeface="Noto Sans Mono CJK KR"/>
                <a:ea typeface="Noto Sans Mono CJK KR"/>
                <a:cs typeface="Noto Sans Mono CJK KR"/>
              </a:rPr>
              <a:t>요청</a:t>
            </a:r>
            <a:endParaRPr sz="1200"/>
          </a:p>
        </p:txBody>
      </p:sp>
      <p:sp>
        <p:nvSpPr>
          <p:cNvPr id="15" name="STC-26-con-line">
            <a:extLst xmlns:a="http://schemas.openxmlformats.org/drawingml/2006/main">
              <a:ext uri="{FF2B5EF4-FFF2-40B4-BE49-F238E27FC236}">
                <a16:creationId xmlns:a16="http://schemas.microsoft.com/office/drawing/2014/main" id="{6B9F33DC-455B-43F8-B927-A5FEE8FB6298}"/>
              </a:ext>
            </a:extLst>
          </p:cNvPr>
          <p:cNvSpPr>
            <a:spLocks xmlns:a="http://schemas.openxmlformats.org/drawingml/2006/main" noGrp="1"/>
          </p:cNvSpPr>
          <p:nvPr/>
        </p:nvSpPr>
        <p:spPr>
          <a:xfrm xmlns:a="http://schemas.openxmlformats.org/drawingml/2006/main">
            <a:off x="1051560" y="2487168"/>
            <a:ext cx="9281160" cy="0"/>
          </a:xfrm>
          <a:prstGeom xmlns:a="http://schemas.openxmlformats.org/drawingml/2006/main" prst="line">
            <a:avLst/>
          </a:prstGeom>
          <a:noFill xmlns:a="http://schemas.openxmlformats.org/drawingml/2006/main"/>
          <a:ln xmlns:a="http://schemas.openxmlformats.org/drawingml/2006/main" w="25400">
            <a:solidFill>
              <a:srgbClr val="17191C"/>
            </a:solidFill>
            <a:prstDash val="solid"/>
            <a:tailEnd type="triangle"/>
          </a:ln>
        </p:spPr>
      </p:sp>
      <p:sp>
        <p:nvSpPr>
          <p:cNvPr id="16" name="STC-26-con-dot-0">
            <a:extLst xmlns:a="http://schemas.openxmlformats.org/drawingml/2006/main">
              <a:ext uri="{FF2B5EF4-FFF2-40B4-BE49-F238E27FC236}">
                <a16:creationId xmlns:a16="http://schemas.microsoft.com/office/drawing/2014/main" id="{18E9E8A9-F67A-4463-9047-709E74A28F43}"/>
              </a:ext>
            </a:extLst>
          </p:cNvPr>
          <p:cNvSpPr>
            <a:spLocks xmlns:a="http://schemas.openxmlformats.org/drawingml/2006/main" noGrp="1"/>
          </p:cNvSpPr>
          <p:nvPr/>
        </p:nvSpPr>
        <p:spPr>
          <a:xfrm xmlns:a="http://schemas.openxmlformats.org/drawingml/2006/main">
            <a:off x="1143000" y="2267712"/>
            <a:ext cx="438912" cy="438912"/>
          </a:xfrm>
          <a:prstGeom xmlns:a="http://schemas.openxmlformats.org/drawingml/2006/main" prst="ellipse">
            <a:avLst/>
          </a:prstGeom>
          <a:solidFill xmlns:a="http://schemas.openxmlformats.org/drawingml/2006/main">
            <a:srgbClr val="244E8A"/>
          </a:solidFill>
          <a:ln xmlns:a="http://schemas.openxmlformats.org/drawingml/2006/main" w="12700">
            <a:solidFill>
              <a:srgbClr val="F6F3EC"/>
            </a:solidFill>
            <a:prstDash val="solid"/>
          </a:ln>
        </p:spPr>
      </p:sp>
      <p:sp>
        <p:nvSpPr>
          <p:cNvPr id="17" name="STC-26-con-dot-1">
            <a:extLst xmlns:a="http://schemas.openxmlformats.org/drawingml/2006/main">
              <a:ext uri="{FF2B5EF4-FFF2-40B4-BE49-F238E27FC236}">
                <a16:creationId xmlns:a16="http://schemas.microsoft.com/office/drawing/2014/main" id="{47DAFBCE-CC13-44DF-BE97-33289CD5FCA2}"/>
              </a:ext>
            </a:extLst>
          </p:cNvPr>
          <p:cNvSpPr>
            <a:spLocks xmlns:a="http://schemas.openxmlformats.org/drawingml/2006/main" noGrp="1"/>
          </p:cNvSpPr>
          <p:nvPr/>
        </p:nvSpPr>
        <p:spPr>
          <a:xfrm xmlns:a="http://schemas.openxmlformats.org/drawingml/2006/main">
            <a:off x="3749040" y="2267712"/>
            <a:ext cx="438912" cy="438912"/>
          </a:xfrm>
          <a:prstGeom xmlns:a="http://schemas.openxmlformats.org/drawingml/2006/main" prst="ellipse">
            <a:avLst/>
          </a:prstGeom>
          <a:solidFill xmlns:a="http://schemas.openxmlformats.org/drawingml/2006/main">
            <a:srgbClr val="9A442D"/>
          </a:solidFill>
          <a:ln xmlns:a="http://schemas.openxmlformats.org/drawingml/2006/main" w="12700">
            <a:solidFill>
              <a:srgbClr val="F6F3EC"/>
            </a:solidFill>
            <a:prstDash val="solid"/>
          </a:ln>
        </p:spPr>
      </p:sp>
      <p:sp>
        <p:nvSpPr>
          <p:cNvPr id="18" name="STC-26-con-dot-2">
            <a:extLst xmlns:a="http://schemas.openxmlformats.org/drawingml/2006/main">
              <a:ext uri="{FF2B5EF4-FFF2-40B4-BE49-F238E27FC236}">
                <a16:creationId xmlns:a16="http://schemas.microsoft.com/office/drawing/2014/main" id="{DA396941-490E-4E1D-8092-36FE24F9034E}"/>
              </a:ext>
            </a:extLst>
          </p:cNvPr>
          <p:cNvSpPr>
            <a:spLocks xmlns:a="http://schemas.openxmlformats.org/drawingml/2006/main" noGrp="1"/>
          </p:cNvSpPr>
          <p:nvPr/>
        </p:nvSpPr>
        <p:spPr>
          <a:xfrm xmlns:a="http://schemas.openxmlformats.org/drawingml/2006/main">
            <a:off x="6400800" y="2267712"/>
            <a:ext cx="438912" cy="438912"/>
          </a:xfrm>
          <a:prstGeom xmlns:a="http://schemas.openxmlformats.org/drawingml/2006/main" prst="ellipse">
            <a:avLst/>
          </a:prstGeom>
          <a:solidFill xmlns:a="http://schemas.openxmlformats.org/drawingml/2006/main">
            <a:srgbClr val="2F6B63"/>
          </a:solidFill>
          <a:ln xmlns:a="http://schemas.openxmlformats.org/drawingml/2006/main" w="12700">
            <a:solidFill>
              <a:srgbClr val="F6F3EC"/>
            </a:solidFill>
            <a:prstDash val="solid"/>
          </a:ln>
        </p:spPr>
      </p:sp>
      <p:sp>
        <p:nvSpPr>
          <p:cNvPr id="19" name="STC-26-con-dot-3">
            <a:extLst xmlns:a="http://schemas.openxmlformats.org/drawingml/2006/main">
              <a:ext uri="{FF2B5EF4-FFF2-40B4-BE49-F238E27FC236}">
                <a16:creationId xmlns:a16="http://schemas.microsoft.com/office/drawing/2014/main" id="{29D6F485-EAC6-4AD2-9692-7D423798FC2C}"/>
              </a:ext>
            </a:extLst>
          </p:cNvPr>
          <p:cNvSpPr>
            <a:spLocks xmlns:a="http://schemas.openxmlformats.org/drawingml/2006/main" noGrp="1"/>
          </p:cNvSpPr>
          <p:nvPr/>
        </p:nvSpPr>
        <p:spPr>
          <a:xfrm xmlns:a="http://schemas.openxmlformats.org/drawingml/2006/main">
            <a:off x="9144000" y="2267712"/>
            <a:ext cx="438912" cy="438912"/>
          </a:xfrm>
          <a:prstGeom xmlns:a="http://schemas.openxmlformats.org/drawingml/2006/main" prst="ellipse">
            <a:avLst/>
          </a:prstGeom>
          <a:solidFill xmlns:a="http://schemas.openxmlformats.org/drawingml/2006/main">
            <a:srgbClr val="17191C"/>
          </a:solidFill>
          <a:ln xmlns:a="http://schemas.openxmlformats.org/drawingml/2006/main" w="12700">
            <a:solidFill>
              <a:srgbClr val="F6F3EC"/>
            </a:solidFill>
            <a:prstDash val="solid"/>
          </a:ln>
        </p:spPr>
      </p:sp>
      <p:sp>
        <p:nvSpPr>
          <p:cNvPr id="20" name="STC-26-con-statement">
            <a:extLst xmlns:a="http://schemas.openxmlformats.org/drawingml/2006/main">
              <a:ext uri="{FF2B5EF4-FFF2-40B4-BE49-F238E27FC236}">
                <a16:creationId xmlns:a16="http://schemas.microsoft.com/office/drawing/2014/main" id="{9A706B15-F426-428F-BAE5-6F17F9D955EC}"/>
              </a:ext>
            </a:extLst>
          </p:cNvPr>
          <p:cNvSpPr>
            <a:spLocks xmlns:a="http://schemas.openxmlformats.org/drawingml/2006/main" noGrp="1"/>
          </p:cNvSpPr>
          <p:nvPr/>
        </p:nvSpPr>
        <p:spPr>
          <a:xfrm xmlns:a="http://schemas.openxmlformats.org/drawingml/2006/main">
            <a:off x="1024128" y="3163824"/>
            <a:ext cx="9829800" cy="1508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17191C"/>
                </a:solidFill>
                <a:latin typeface="Noto Serif CJK KR"/>
                <a:ea typeface="Noto Serif CJK KR"/>
                <a:cs typeface="Noto Serif CJK KR"/>
              </a:rPr>
              <a:t>서른</a:t>
            </a:r>
            <a:endParaRPr sz="2500"/>
          </a:p>
          <a:p xmlns:a="http://schemas.openxmlformats.org/drawingml/2006/main">
            <a:pPr marL="0" indent="0" algn="ctr">
              <a:buNone/>
            </a:pPr>
            <a:r>
              <a:rPr sz="2500" b="1">
                <a:solidFill>
                  <a:srgbClr val="17191C"/>
                </a:solidFill>
                <a:latin typeface="Noto Serif CJK KR"/>
                <a:ea typeface="Noto Serif CJK KR"/>
                <a:cs typeface="Noto Serif CJK KR"/>
              </a:rPr>
              <a:t>장을</a:t>
            </a:r>
            <a:endParaRPr sz="2500"/>
          </a:p>
          <a:p xmlns:a="http://schemas.openxmlformats.org/drawingml/2006/main">
            <a:pPr marL="0" indent="0" algn="ctr">
              <a:buNone/>
            </a:pPr>
            <a:r>
              <a:rPr sz="2500" b="1">
                <a:solidFill>
                  <a:srgbClr val="17191C"/>
                </a:solidFill>
                <a:latin typeface="Noto Serif CJK KR"/>
                <a:ea typeface="Noto Serif CJK KR"/>
                <a:cs typeface="Noto Serif CJK KR"/>
              </a:rPr>
              <a:t>지나 원</a:t>
            </a:r>
            <a:endParaRPr sz="2500"/>
          </a:p>
          <a:p xmlns:a="http://schemas.openxmlformats.org/drawingml/2006/main">
            <a:pPr marL="0" indent="0" algn="ctr">
              <a:buNone/>
            </a:pPr>
            <a:r>
              <a:rPr sz="2500" b="1">
                <a:solidFill>
                  <a:srgbClr val="17191C"/>
                </a:solidFill>
                <a:latin typeface="Noto Serif CJK KR"/>
                <a:ea typeface="Noto Serif CJK KR"/>
                <a:cs typeface="Noto Serif CJK KR"/>
              </a:rPr>
              <a:t>질문은 다섯 개로…</a:t>
            </a:r>
            <a:endParaRPr sz="2500"/>
          </a:p>
        </p:txBody>
      </p:sp>
      <p:sp>
        <p:nvSpPr>
          <p:cNvPr id="21" name="STC-26-con-final">
            <a:extLst xmlns:a="http://schemas.openxmlformats.org/drawingml/2006/main">
              <a:ext uri="{FF2B5EF4-FFF2-40B4-BE49-F238E27FC236}">
                <a16:creationId xmlns:a16="http://schemas.microsoft.com/office/drawing/2014/main" id="{4ABA2515-68B2-48DF-B47D-A037DB747EDD}"/>
              </a:ext>
            </a:extLst>
          </p:cNvPr>
          <p:cNvSpPr>
            <a:spLocks xmlns:a="http://schemas.openxmlformats.org/drawingml/2006/main" noGrp="1"/>
          </p:cNvSpPr>
          <p:nvPr/>
        </p:nvSpPr>
        <p:spPr>
          <a:xfrm xmlns:a="http://schemas.openxmlformats.org/drawingml/2006/main">
            <a:off x="1965960" y="5175504"/>
            <a:ext cx="8229600" cy="502920"/>
          </a:xfrm>
          <a:prstGeom xmlns:a="http://schemas.openxmlformats.org/drawingml/2006/main" prst="rect">
            <a:avLst/>
          </a:prstGeom>
          <a:solidFill xmlns:a="http://schemas.openxmlformats.org/drawingml/2006/main">
            <a:srgbClr val="2F6B63"/>
          </a:solidFill>
          <a:ln xmlns:a="http://schemas.openxmlformats.org/drawingml/2006/main" w="12700">
            <a:solidFill>
              <a:srgbClr val="2F6B63"/>
            </a:solidFill>
            <a:prstDash val="solid"/>
          </a:ln>
        </p:spPr>
      </p:sp>
      <p:sp>
        <p:nvSpPr>
          <p:cNvPr id="22" name="STC-26-con-final-text">
            <a:extLst xmlns:a="http://schemas.openxmlformats.org/drawingml/2006/main">
              <a:ext uri="{FF2B5EF4-FFF2-40B4-BE49-F238E27FC236}">
                <a16:creationId xmlns:a16="http://schemas.microsoft.com/office/drawing/2014/main" id="{F8188F55-E068-4676-A7D0-1CF459C08858}"/>
              </a:ext>
            </a:extLst>
          </p:cNvPr>
          <p:cNvSpPr>
            <a:spLocks xmlns:a="http://schemas.openxmlformats.org/drawingml/2006/main" noGrp="1"/>
          </p:cNvSpPr>
          <p:nvPr/>
        </p:nvSpPr>
        <p:spPr>
          <a:xfrm xmlns:a="http://schemas.openxmlformats.org/drawingml/2006/main">
            <a:off x="2194560" y="5340096"/>
            <a:ext cx="77724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700" b="1">
                <a:solidFill>
                  <a:srgbClr val="FFFFFF"/>
                </a:solidFill>
                <a:latin typeface="Noto Sans CJK KR"/>
                <a:ea typeface="Noto Sans CJK KR"/>
                <a:cs typeface="Noto Sans CJK KR"/>
              </a:rPr>
              <a:t>답이 아니라 답할 수 있는 형태</a:t>
            </a:r>
            <a:endParaRPr sz="1700"/>
          </a:p>
        </p:txBody>
      </p:sp>
    </p:spTree>
    <p:extLst>
      <p:ext uri="{BB962C8B-B14F-4D97-AF65-F5344CB8AC3E}">
        <p14:creationId xmlns:p14="http://schemas.microsoft.com/office/powerpoint/2010/main" val="55793594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2026-08-06T11:44:35.4870000Z</dcterms:created>
  <dcterms:modified xsi:type="dcterms:W3CDTF">2026-08-06T11:44:35.4870000Z</dcterms:modified>
</coreProperties>
</file>