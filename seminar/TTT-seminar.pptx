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A2B"/>
          </a:solidFill>
          <a:ln w="12700">
            <a:solidFill>
              <a:srgbClr val="101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5212080"/>
            <a:ext cx="12191695" cy="457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45775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Noto Sans CJK KR"/>
              </a:rPr>
              <a:t>테스트-타임 메모리 계열 — Titans에서 Sleep까지, 그리고 서빙 비용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545775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600" b="0" i="0">
                <a:solidFill>
                  <a:srgbClr val="B8C4D4"/>
                </a:solidFill>
                <a:latin typeface="Noto Sans CJK KR"/>
              </a:rPr>
              <a:t>학습을 처음 보는 inference·systems 엔지니어를 위한 6편(Titans·Miras·Atlas·TNT·Nested Learning·Sleep) 해부 + 배포 비용 모델링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45775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 i="0">
                <a:solidFill>
                  <a:srgbClr val="8A9AAC"/>
                </a:solidFill>
                <a:latin typeface="Noto Sans CJK KR"/>
              </a:rPr>
              <a:t>이승호 (SAIT) · 2시간 발표 + 30분 Q&amp;A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85855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A6F97"/>
                </a:solidFill>
                <a:latin typeface="Noto Sans CJK KR"/>
              </a:rPr>
              <a:t>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22252B"/>
                </a:solidFill>
                <a:latin typeface="Noto Sans CJK KR"/>
              </a:rPr>
              <a:t>오늘 다룰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36576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400" b="1" i="0">
                <a:solidFill>
                  <a:srgbClr val="2A6F97"/>
                </a:solidFill>
                <a:latin typeface="Noto Sans CJK KR"/>
              </a:rPr>
              <a:t>A. Background (학습 입문)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65960"/>
            <a:ext cx="3474720" cy="4480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80" b="0" i="0">
                <a:solidFill>
                  <a:srgbClr val="22252B"/>
                </a:solidFill>
                <a:latin typeface="Noto Sans CJK KR"/>
              </a:rPr>
              <a:t>A1. 학습 한 바퀴 — 2-layer MLP:</a:t>
            </a:r>
          </a:p>
          <a:p>
            <a:pPr algn="l"/>
            <a:r>
              <a:rPr sz="1080" b="0" i="0">
                <a:solidFill>
                  <a:srgbClr val="22252B"/>
                </a:solidFill>
                <a:latin typeface="Noto Sans CJK KR"/>
              </a:rPr>
              <a:t>     forward→loss→backward→optimizer→update</a:t>
            </a:r>
          </a:p>
          <a:p>
            <a:pPr algn="l"/>
            <a:r>
              <a:rPr sz="1080" b="0" i="0">
                <a:solidFill>
                  <a:srgbClr val="22252B"/>
                </a:solidFill>
                <a:latin typeface="Noto Sans CJK KR"/>
              </a:rPr>
              <a:t>A2. Optimizer의 역사 (수식과 함께)</a:t>
            </a:r>
          </a:p>
          <a:p>
            <a:pPr algn="l"/>
            <a:r>
              <a:rPr sz="1080" b="0" i="0">
                <a:solidFill>
                  <a:srgbClr val="22252B"/>
                </a:solidFill>
                <a:latin typeface="Noto Sans CJK KR"/>
              </a:rPr>
              <a:t>     GD · SGD · Momentum · NAG</a:t>
            </a:r>
          </a:p>
          <a:p>
            <a:pPr algn="l"/>
            <a:r>
              <a:rPr sz="1080" b="0" i="0">
                <a:solidFill>
                  <a:srgbClr val="22252B"/>
                </a:solidFill>
                <a:latin typeface="Noto Sans CJK KR"/>
              </a:rPr>
              <a:t>     Adagrad · RMSProp · AdaDelta</a:t>
            </a:r>
          </a:p>
          <a:p>
            <a:pPr algn="l"/>
            <a:r>
              <a:rPr sz="1080" b="0" i="0">
                <a:solidFill>
                  <a:srgbClr val="22252B"/>
                </a:solidFill>
                <a:latin typeface="Noto Sans CJK KR"/>
              </a:rPr>
              <a:t>     Adam · Nadam · AdamW</a:t>
            </a:r>
          </a:p>
          <a:p>
            <a:pPr algn="l"/>
            <a:r>
              <a:rPr sz="1080" b="0" i="0">
                <a:solidFill>
                  <a:srgbClr val="22252B"/>
                </a:solidFill>
                <a:latin typeface="Noto Sans CJK KR"/>
              </a:rPr>
              <a:t>A3. 대안 계열</a:t>
            </a:r>
          </a:p>
          <a:p>
            <a:pPr algn="l"/>
            <a:r>
              <a:rPr sz="1080" b="0" i="0">
                <a:solidFill>
                  <a:srgbClr val="22252B"/>
                </a:solidFill>
                <a:latin typeface="Noto Sans CJK KR"/>
              </a:rPr>
              <a:t>     linear attention</a:t>
            </a:r>
          </a:p>
          <a:p>
            <a:pPr algn="l"/>
            <a:r>
              <a:rPr sz="1080" b="0" i="0">
                <a:solidFill>
                  <a:srgbClr val="22252B"/>
                </a:solidFill>
                <a:latin typeface="Noto Sans CJK KR"/>
              </a:rPr>
              <a:t>     DeltaNet → Gated DeltaNet</a:t>
            </a:r>
          </a:p>
          <a:p>
            <a:pPr algn="l"/>
            <a:r>
              <a:rPr sz="1080" b="0" i="0">
                <a:solidFill>
                  <a:srgbClr val="22252B"/>
                </a:solidFill>
                <a:latin typeface="Noto Sans CJK KR"/>
              </a:rPr>
              <a:t>     SSM · Mamba-2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417320"/>
            <a:ext cx="36576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400" b="1" i="0">
                <a:solidFill>
                  <a:srgbClr val="2A9D8F"/>
                </a:solidFill>
                <a:latin typeface="Noto Sans CJK KR"/>
              </a:rPr>
              <a:t>B. 논문 6편 (발명→구현→증명)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965960"/>
            <a:ext cx="3474720" cy="4480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80" b="0" i="0">
                <a:solidFill>
                  <a:srgbClr val="22252B"/>
                </a:solidFill>
                <a:latin typeface="Noto Sans CJK KR"/>
              </a:rPr>
              <a:t>B1. Titans — deep neural memory</a:t>
            </a:r>
          </a:p>
          <a:p>
            <a:pPr algn="l"/>
            <a:r>
              <a:rPr sz="1080" b="0" i="0">
                <a:solidFill>
                  <a:srgbClr val="22252B"/>
                </a:solidFill>
                <a:latin typeface="Noto Sans CJK KR"/>
              </a:rPr>
              <a:t>     surprise·momentum·forget, MAC/MAG/MAL</a:t>
            </a:r>
          </a:p>
          <a:p>
            <a:pPr algn="l"/>
            <a:r>
              <a:rPr sz="1080" b="0" i="0">
                <a:solidFill>
                  <a:srgbClr val="22252B"/>
                </a:solidFill>
                <a:latin typeface="Noto Sans CJK KR"/>
              </a:rPr>
              <a:t>B2. Miras — 4축 설계공간</a:t>
            </a:r>
          </a:p>
          <a:p>
            <a:pPr algn="l"/>
            <a:r>
              <a:rPr sz="1080" b="0" i="0">
                <a:solidFill>
                  <a:srgbClr val="22252B"/>
                </a:solidFill>
                <a:latin typeface="Noto Sans CJK KR"/>
              </a:rPr>
              <a:t>     메모리 = online 최적화</a:t>
            </a:r>
          </a:p>
          <a:p>
            <a:pPr algn="l"/>
            <a:r>
              <a:rPr sz="1080" b="0" i="0">
                <a:solidFill>
                  <a:srgbClr val="22252B"/>
                </a:solidFill>
                <a:latin typeface="Noto Sans CJK KR"/>
              </a:rPr>
              <a:t>B3. Atlas — Omega rule·용량·Muon</a:t>
            </a:r>
          </a:p>
          <a:p>
            <a:pPr algn="l"/>
            <a:r>
              <a:rPr sz="1080" b="0" i="0">
                <a:solidFill>
                  <a:srgbClr val="22252B"/>
                </a:solidFill>
                <a:latin typeface="Noto Sans CJK KR"/>
              </a:rPr>
              <a:t>B4. TNT — chunk·2-stage·global/local·Q-K</a:t>
            </a:r>
          </a:p>
          <a:p>
            <a:pPr algn="l"/>
            <a:r>
              <a:rPr sz="1080" b="0" i="0">
                <a:solidFill>
                  <a:srgbClr val="22252B"/>
                </a:solidFill>
                <a:latin typeface="Noto Sans CJK KR"/>
              </a:rPr>
              <a:t>B5. Nested Learning / HOPE</a:t>
            </a:r>
          </a:p>
          <a:p>
            <a:pPr algn="l"/>
            <a:r>
              <a:rPr sz="1080" b="0" i="0">
                <a:solidFill>
                  <a:srgbClr val="22252B"/>
                </a:solidFill>
                <a:latin typeface="Noto Sans CJK KR"/>
              </a:rPr>
              <a:t>     optimizer=memory·self-mod·CMS (4편 통합)</a:t>
            </a:r>
          </a:p>
          <a:p>
            <a:pPr algn="l"/>
            <a:r>
              <a:rPr sz="1080" b="0" i="0">
                <a:solidFill>
                  <a:srgbClr val="22252B"/>
                </a:solidFill>
                <a:latin typeface="Noto Sans CJK KR"/>
              </a:rPr>
              <a:t>B6. Sleep — offline consolidation</a:t>
            </a:r>
          </a:p>
          <a:p>
            <a:pPr algn="l"/>
            <a:r>
              <a:rPr sz="1080" b="0" i="0">
                <a:solidFill>
                  <a:srgbClr val="22252B"/>
                </a:solidFill>
                <a:latin typeface="Noto Sans CJK KR"/>
              </a:rPr>
              <a:t>     Knowledge Seeding · Dreaming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417320"/>
            <a:ext cx="356616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400" b="1" i="0">
                <a:solidFill>
                  <a:srgbClr val="C9A227"/>
                </a:solidFill>
                <a:latin typeface="Noto Sans CJK KR"/>
              </a:rPr>
              <a:t>C. System modeling (우리 기여)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1965960"/>
            <a:ext cx="3383279" cy="4480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80" b="0" i="0">
                <a:solidFill>
                  <a:srgbClr val="22252B"/>
                </a:solidFill>
                <a:latin typeface="Noto Sans CJK KR"/>
              </a:rPr>
              <a:t>C1. pair thesis — decode=memory-bound</a:t>
            </a:r>
          </a:p>
          <a:p>
            <a:pPr algn="l"/>
            <a:r>
              <a:rPr sz="1080" b="0" i="0">
                <a:solidFill>
                  <a:srgbClr val="22252B"/>
                </a:solidFill>
                <a:latin typeface="Noto Sans CJK KR"/>
              </a:rPr>
              <a:t>C2. 8개 가속기 크로스 측정</a:t>
            </a:r>
          </a:p>
          <a:p>
            <a:pPr algn="l"/>
            <a:r>
              <a:rPr sz="1080" b="0" i="0">
                <a:solidFill>
                  <a:srgbClr val="22252B"/>
                </a:solidFill>
                <a:latin typeface="Noto Sans CJK KR"/>
              </a:rPr>
              <a:t>C3. HOPE-block roofline</a:t>
            </a:r>
          </a:p>
          <a:p>
            <a:pPr algn="l"/>
            <a:r>
              <a:rPr sz="1080" b="0" i="0">
                <a:solidFill>
                  <a:srgbClr val="22252B"/>
                </a:solidFill>
                <a:latin typeface="Noto Sans CJK KR"/>
              </a:rPr>
              <a:t>     + zHBM · HBM-PIM · SRAM scaling</a:t>
            </a:r>
          </a:p>
          <a:p>
            <a:pPr algn="l"/>
            <a:r>
              <a:rPr sz="1080" b="0" i="0">
                <a:solidFill>
                  <a:srgbClr val="22252B"/>
                </a:solidFill>
                <a:latin typeface="Noto Sans CJK KR"/>
              </a:rPr>
              <a:t>C4. scaling 청사진</a:t>
            </a:r>
          </a:p>
          <a:p>
            <a:pPr algn="l"/>
            <a:r>
              <a:rPr sz="1080" b="0" i="0">
                <a:solidFill>
                  <a:srgbClr val="22252B"/>
                </a:solidFill>
                <a:latin typeface="Noto Sans CJK KR"/>
              </a:rPr>
              <a:t/>
            </a:r>
          </a:p>
          <a:p>
            <a:pPr algn="l"/>
            <a:r>
              <a:rPr sz="1080" b="0" i="0">
                <a:solidFill>
                  <a:srgbClr val="22252B"/>
                </a:solidFill>
                <a:latin typeface="Noto Sans CJK KR"/>
              </a:rPr>
              <a:t>부록. QA 모음 (교차·논문별)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85855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A6F97"/>
                </a:solidFill>
                <a:latin typeface="Noto Sans CJK KR"/>
              </a:rPr>
              <a:t>들어가기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22252B"/>
                </a:solidFill>
                <a:latin typeface="Noto Sans CJK KR"/>
              </a:rPr>
              <a:t>이 세미나의 목적 · 범위 · 주의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55680" cy="10515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300" b="1" i="0">
                <a:solidFill>
                  <a:srgbClr val="2A6F97"/>
                </a:solidFill>
                <a:latin typeface="Noto Sans CJK KR"/>
              </a:rPr>
              <a:t>목적·방향</a:t>
            </a:r>
          </a:p>
          <a:p>
            <a:pPr algn="l"/>
            <a:r>
              <a:rPr sz="1200" b="0" i="0">
                <a:solidFill>
                  <a:srgbClr val="22252B"/>
                </a:solidFill>
                <a:latin typeface="Noto Sans CJK KR"/>
              </a:rPr>
              <a:t>inference·systems 엔지니어가 test-time memory 계열(Titans~Sleep)을 shape·비용 수준으로 이해한다. 각 논문의 핵심 발명을 먼저 보고 → 어떻게 구현·증명되는지 → 논문 간 framing이 이어지는 흐름 → 마지막에 이 배포 형태가 서빙에서 얼마나 드는지(우리 기여).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97480"/>
            <a:ext cx="5486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C1121F"/>
                </a:solidFill>
                <a:latin typeface="Noto Sans CJK KR"/>
              </a:rPr>
              <a:t>미리 알아둘 3가지 (읽는 규칙)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154680"/>
            <a:ext cx="11155680" cy="9601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250" b="1" i="0">
                <a:solidFill>
                  <a:srgbClr val="C1121F"/>
                </a:solidFill>
                <a:latin typeface="Noto Sans CJK KR"/>
              </a:rPr>
              <a:t>① 학습(pre-training)은 다루지 않는다</a:t>
            </a:r>
          </a:p>
          <a:p>
            <a:pPr algn="l"/>
            <a:r>
              <a:rPr sz="1100" b="0" i="0">
                <a:solidFill>
                  <a:srgbClr val="22252B"/>
                </a:solidFill>
                <a:latin typeface="Noto Sans CJK KR"/>
              </a:rPr>
              <a:t>Titans 기반 모델을 처음부터 훈련하는 과정은 범위 밖. 이 계열의 test-time 동작과 서빙에 집중한다. (Background의 학습 설명은 '무엇을 배우는가'를 읽기 위한 최소한.)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33672"/>
            <a:ext cx="11155680" cy="9601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250" b="1" i="0">
                <a:solidFill>
                  <a:srgbClr val="C1121F"/>
                </a:solidFill>
                <a:latin typeface="Noto Sans CJK KR"/>
              </a:rPr>
              <a:t>② 논문에 구체 수치가 빠진 곳이 많다</a:t>
            </a:r>
          </a:p>
          <a:p>
            <a:pPr algn="l"/>
            <a:r>
              <a:rPr sz="1100" b="0" i="0">
                <a:solidFill>
                  <a:srgbClr val="22252B"/>
                </a:solidFill>
                <a:latin typeface="Noto Sans CJK KR"/>
              </a:rPr>
              <a:t>모델 파라미터 shape·차원·학습 하이퍼 등 구체값이 명시 안 된 부분이 흔하다. 그림·설명에서 추론한 것은 '추론'으로, 본문에 있는 것은 '명시'로 구분해 표시한다.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312664"/>
            <a:ext cx="11155680" cy="9601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250" b="1" i="0">
                <a:solidFill>
                  <a:srgbClr val="C1121F"/>
                </a:solidFill>
                <a:latin typeface="Noto Sans CJK KR"/>
              </a:rPr>
              <a:t>③ 논문 1편만으론 불완전하다</a:t>
            </a:r>
          </a:p>
          <a:p>
            <a:pPr algn="l"/>
            <a:r>
              <a:rPr sz="1100" b="0" i="0">
                <a:solidFill>
                  <a:srgbClr val="22252B"/>
                </a:solidFill>
                <a:latin typeface="Noto Sans CJK KR"/>
              </a:rPr>
              <a:t>한 논문의 설명이 스스로 완결되지 않아, 다른 논문(특히 HOPE)을 같이 봐야 이해되는 부분이 많다. 예: Titans의 투영 분리는 HOPE에서야 명시된다. 그래서 6편을 하나의 흐름으로 읽는다.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Noto Sans CJK KR"/>
              </a:rPr>
              <a:t>PART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Noto Sans CJK KR"/>
              </a:rPr>
              <a:t>Background — 학습이 처음이라면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85855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A6F97"/>
                </a:solidFill>
                <a:latin typeface="Noto Sans CJK KR"/>
              </a:rPr>
              <a:t>A1 · 학습 한 바퀴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22252B"/>
                </a:solidFill>
                <a:latin typeface="Noto Sans CJK KR"/>
              </a:rPr>
              <a:t>2-layer MLP + head: forward → loss → backward → optimizer → update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 i="0">
                <a:solidFill>
                  <a:srgbClr val="22252B"/>
                </a:solidFill>
                <a:latin typeface="Noto Sans CJK KR"/>
              </a:rPr>
              <a:t>x</a:t>
            </a:r>
          </a:p>
          <a:p>
            <a:pPr algn="ctr"/>
            <a:r>
              <a:rPr sz="1000" b="0" i="0">
                <a:solidFill>
                  <a:srgbClr val="5A5F68"/>
                </a:solidFill>
                <a:latin typeface="Noto Sans CJK KR"/>
              </a:rPr>
              <a:t>[B, d_in]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50592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 i="0">
                <a:solidFill>
                  <a:srgbClr val="22252B"/>
                </a:solidFill>
                <a:latin typeface="Noto Sans CJK KR"/>
              </a:rPr>
              <a:t>h = W₁·x</a:t>
            </a:r>
          </a:p>
          <a:p>
            <a:pPr algn="ctr"/>
            <a:r>
              <a:rPr sz="1000" b="0" i="0">
                <a:solidFill>
                  <a:srgbClr val="5A5F68"/>
                </a:solidFill>
                <a:latin typeface="Noto Sans CJK KR"/>
              </a:rPr>
              <a:t>[B, d_h]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 i="0">
                <a:solidFill>
                  <a:srgbClr val="22252B"/>
                </a:solidFill>
                <a:latin typeface="Noto Sans CJK KR"/>
              </a:rPr>
              <a:t>a = σ(h)</a:t>
            </a:r>
          </a:p>
          <a:p>
            <a:pPr algn="ctr"/>
            <a:r>
              <a:rPr sz="1000" b="0" i="0">
                <a:solidFill>
                  <a:srgbClr val="5A5F68"/>
                </a:solidFill>
                <a:latin typeface="Noto Sans CJK KR"/>
              </a:rPr>
              <a:t>[B, d_h]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45936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 i="0">
                <a:solidFill>
                  <a:srgbClr val="22252B"/>
                </a:solidFill>
                <a:latin typeface="Noto Sans CJK KR"/>
              </a:rPr>
              <a:t>o = W₂·a</a:t>
            </a:r>
          </a:p>
          <a:p>
            <a:pPr algn="ctr"/>
            <a:r>
              <a:rPr sz="1000" b="0" i="0">
                <a:solidFill>
                  <a:srgbClr val="5A5F68"/>
                </a:solidFill>
                <a:latin typeface="Noto Sans CJK KR"/>
              </a:rPr>
              <a:t>[B, d_out]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93608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 i="0">
                <a:solidFill>
                  <a:srgbClr val="22252B"/>
                </a:solidFill>
                <a:latin typeface="Noto Sans CJK KR"/>
              </a:rPr>
              <a:t>z = head(o)</a:t>
            </a:r>
          </a:p>
          <a:p>
            <a:pPr algn="ctr"/>
            <a:r>
              <a:rPr sz="1000" b="0" i="0">
                <a:solidFill>
                  <a:srgbClr val="5A5F68"/>
                </a:solidFill>
                <a:latin typeface="Noto Sans CJK KR"/>
              </a:rPr>
              <a:t>logits [B, V]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41280" y="1417320"/>
            <a:ext cx="1371600" cy="7772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 i="0">
                <a:solidFill>
                  <a:srgbClr val="22252B"/>
                </a:solidFill>
                <a:latin typeface="Noto Sans CJK KR"/>
              </a:rPr>
              <a:t>L</a:t>
            </a:r>
          </a:p>
          <a:p>
            <a:pPr algn="ctr"/>
            <a:r>
              <a:rPr sz="1000" b="0" i="0">
                <a:solidFill>
                  <a:srgbClr val="5A5F68"/>
                </a:solidFill>
                <a:latin typeface="Noto Sans CJK KR"/>
              </a:rPr>
              <a:t>loss (scalar)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74519" y="1805940"/>
            <a:ext cx="576073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645919" y="1106424"/>
            <a:ext cx="103327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2A6F97"/>
                </a:solidFill>
                <a:latin typeface="Noto Sans CJK KR"/>
              </a:rPr>
              <a:t>matmul W₁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822191" y="1805940"/>
            <a:ext cx="576073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593591" y="1106424"/>
            <a:ext cx="1033271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2A6F97"/>
                </a:solidFill>
                <a:latin typeface="Noto Sans CJK KR"/>
              </a:rPr>
              <a:t>σ (GeLU)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9864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541264" y="1106424"/>
            <a:ext cx="103327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2A6F97"/>
                </a:solidFill>
                <a:latin typeface="Noto Sans CJK KR"/>
              </a:rPr>
              <a:t>matmul W₂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717536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88936" y="1106424"/>
            <a:ext cx="1033271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2A6F97"/>
                </a:solidFill>
                <a:latin typeface="Noto Sans CJK KR"/>
              </a:rPr>
              <a:t>head W_h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65208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436608" y="1106424"/>
            <a:ext cx="1033271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2A6F97"/>
                </a:solidFill>
                <a:latin typeface="Noto Sans CJK KR"/>
              </a:rPr>
              <a:t>L2 loss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914400"/>
            <a:ext cx="17373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A6F97"/>
                </a:solidFill>
                <a:latin typeface="Noto Sans CJK KR"/>
              </a:rPr>
              <a:t>① forward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331720"/>
            <a:ext cx="5486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1">
                <a:solidFill>
                  <a:srgbClr val="5A5F68"/>
                </a:solidFill>
                <a:latin typeface="Noto Sans CJK KR"/>
              </a:rPr>
              <a:t>batch B개 샘플 동시 처리 · loss는 B개 평균(또는 합)으로 누적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246120"/>
            <a:ext cx="11155680" cy="658368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250" b="1" i="0">
                <a:solidFill>
                  <a:srgbClr val="C1121F"/>
                </a:solidFill>
                <a:latin typeface="Noto Sans CJK KR"/>
              </a:rPr>
              <a:t>② loss.backward() — autograd 역전파</a:t>
            </a:r>
          </a:p>
          <a:p>
            <a:pPr algn="l"/>
            <a:r>
              <a:rPr sz="1100" b="0" i="0">
                <a:solidFill>
                  <a:srgbClr val="22252B"/>
                </a:solidFill>
                <a:latin typeface="Noto Sans CJK KR"/>
              </a:rPr>
              <a:t>∂L/∂z → ∂L/∂W₂, ∂L/∂a → ∂L/∂h → ∂L/∂W₁, ∂L/∂head.  각 파라미터 W의 gradient g = ∂L/∂W 를 구해 W.grad 에 채운다(순전파의 역순, 체인 룰).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22960" y="2331720"/>
            <a:ext cx="10058400" cy="896112"/>
          </a:xfrm>
          <a:prstGeom prst="line">
            <a:avLst/>
          </a:prstGeom>
          <a:ln w="17780">
            <a:prstDash val="dash"/>
            <a:solidFill>
              <a:srgbClr val="C1121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02920" y="4224528"/>
            <a:ext cx="7040880" cy="14173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250" b="1" i="0">
                <a:solidFill>
                  <a:srgbClr val="C9A227"/>
                </a:solidFill>
                <a:latin typeface="Noto Sans CJK KR"/>
              </a:rPr>
              <a:t>③ optimizer.step()  — AdamW (gradient g를 받아 '얼마나·어느 방향' 결정)</a:t>
            </a:r>
          </a:p>
          <a:p>
            <a:pPr algn="l"/>
            <a:r>
              <a:rPr sz="1100" b="0" i="0">
                <a:solidFill>
                  <a:srgbClr val="22252B"/>
                </a:solidFill>
                <a:latin typeface="Noto Sans Mono CJK KR"/>
              </a:rPr>
              <a:t>m ← β₁·m + (1−β₁)·g          (1차 모멘텀: 방향의 관성)</a:t>
            </a:r>
          </a:p>
          <a:p>
            <a:pPr algn="l"/>
            <a:r>
              <a:rPr sz="1100" b="0" i="0">
                <a:solidFill>
                  <a:srgbClr val="22252B"/>
                </a:solidFill>
                <a:latin typeface="Noto Sans Mono CJK KR"/>
              </a:rPr>
              <a:t>v ← β₂·v + (1−β₂)·g²         (2차 모멘텀: 좌표별 스케일)</a:t>
            </a:r>
          </a:p>
          <a:p>
            <a:pPr algn="l"/>
            <a:r>
              <a:rPr sz="1100" b="0" i="0">
                <a:solidFill>
                  <a:srgbClr val="22252B"/>
                </a:solidFill>
                <a:latin typeface="Noto Sans Mono CJK KR"/>
              </a:rPr>
              <a:t>m̂,v̂ = 편향보정 ;  ΔW = −η·m̂/(√v̂+ε)   −  η·λ·W  ← decoupled decay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0" y="4224528"/>
            <a:ext cx="3886200" cy="14173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 i="0">
                <a:solidFill>
                  <a:srgbClr val="C9A227"/>
                </a:solidFill>
                <a:latin typeface="Noto Sans CJK KR"/>
              </a:rPr>
              <a:t>④ W ← W + ΔW</a:t>
            </a:r>
          </a:p>
          <a:p>
            <a:pPr algn="ctr"/>
            <a:r>
              <a:rPr sz="1100" b="0" i="0">
                <a:solidFill>
                  <a:srgbClr val="22252B"/>
                </a:solidFill>
                <a:latin typeface="Noto Sans CJK KR"/>
              </a:rPr>
              <a:t>W₁, W₂, head 를 갱신.</a:t>
            </a:r>
          </a:p>
          <a:p>
            <a:pPr algn="ctr"/>
            <a:r>
              <a:rPr sz="1050" b="0" i="0">
                <a:solidFill>
                  <a:srgbClr val="5A5F68"/>
                </a:solidFill>
                <a:latin typeface="Noto Sans CJK KR"/>
              </a:rPr>
              <a:t>optimizer.zero_grad()로 g 비우고</a:t>
            </a:r>
          </a:p>
          <a:p>
            <a:pPr algn="ctr"/>
            <a:r>
              <a:rPr sz="1050" b="0" i="0">
                <a:solidFill>
                  <a:srgbClr val="5A5F68"/>
                </a:solidFill>
                <a:latin typeface="Noto Sans CJK KR"/>
              </a:rPr>
              <a:t>다음 batch로 → 반복.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897880"/>
            <a:ext cx="11155680" cy="56692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150" b="1" i="0">
                <a:solidFill>
                  <a:srgbClr val="2A9D8F"/>
                </a:solidFill>
                <a:latin typeface="Noto Sans CJK KR"/>
              </a:rPr>
              <a:t>핵심 한 문장.</a:t>
            </a:r>
          </a:p>
          <a:p>
            <a:pPr algn="l"/>
            <a:r>
              <a:rPr sz="1100" b="0" i="0">
                <a:solidFill>
                  <a:srgbClr val="22252B"/>
                </a:solidFill>
                <a:latin typeface="Noto Sans CJK KR"/>
              </a:rPr>
              <a:t>학습 = ①forward로 예측 → ②backward로 'gradient(어디가 틀렸나)' → ③optimizer로 'gradient를 기억·가공(m,v)해 갱신량' → ④weight 이동. 이 계열은 ②③④를 추론 중에도 돌린다.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85855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A6F97"/>
                </a:solidFill>
                <a:latin typeface="Noto Sans CJK KR"/>
              </a:rPr>
              <a:t>A2 · Optimizer의 역사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22252B"/>
                </a:solidFill>
                <a:latin typeface="Noto Sans CJK KR"/>
              </a:rPr>
              <a:t>한 장으로 보는 계보 — 문제 → 다음이 해결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1554480" cy="5669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 i="0">
                <a:solidFill>
                  <a:srgbClr val="2A6F97"/>
                </a:solidFill>
                <a:latin typeface="Noto Sans CJK KR"/>
              </a:rPr>
              <a:t>GD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901952"/>
            <a:ext cx="155448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830" b="0" i="0">
                <a:solidFill>
                  <a:srgbClr val="5A5F68"/>
                </a:solidFill>
                <a:latin typeface="Noto Sans CJK KR"/>
              </a:rPr>
              <a:t>전체 데이터로
정확한 방향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880360"/>
            <a:ext cx="1554480" cy="5669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 i="0">
                <a:solidFill>
                  <a:srgbClr val="2A6F97"/>
                </a:solidFill>
                <a:latin typeface="Noto Sans CJK KR"/>
              </a:rPr>
              <a:t>SGD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456432"/>
            <a:ext cx="155448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830" b="0" i="0">
                <a:solidFill>
                  <a:srgbClr val="5A5F68"/>
                </a:solidFill>
                <a:latin typeface="Noto Sans CJK KR"/>
              </a:rPr>
              <a:t>미니배치로
빠르게 자주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88920" y="1417320"/>
            <a:ext cx="1828800" cy="5669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 i="0">
                <a:solidFill>
                  <a:srgbClr val="2A6F97"/>
                </a:solidFill>
                <a:latin typeface="Noto Sans CJK KR"/>
              </a:rPr>
              <a:t>Momentum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1993392"/>
            <a:ext cx="18288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830" b="0" i="0">
                <a:solidFill>
                  <a:srgbClr val="5A5F68"/>
                </a:solidFill>
                <a:latin typeface="Noto Sans CJK KR"/>
              </a:rPr>
              <a:t>관성으로 방향 안정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57800" y="1417320"/>
            <a:ext cx="1828800" cy="5669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 i="0">
                <a:solidFill>
                  <a:srgbClr val="2A6F97"/>
                </a:solidFill>
                <a:latin typeface="Noto Sans CJK KR"/>
              </a:rPr>
              <a:t>NAG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1993392"/>
            <a:ext cx="18288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830" b="0" i="0">
                <a:solidFill>
                  <a:srgbClr val="5A5F68"/>
                </a:solidFill>
                <a:latin typeface="Noto Sans CJK KR"/>
              </a:rPr>
              <a:t>관성 자리서
미리 보정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88920" y="3977639"/>
            <a:ext cx="1828800" cy="56692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 i="0">
                <a:solidFill>
                  <a:srgbClr val="2A9D8F"/>
                </a:solidFill>
                <a:latin typeface="Noto Sans CJK KR"/>
              </a:rPr>
              <a:t>Adagrad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4553712"/>
            <a:ext cx="18288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830" b="0" i="0">
                <a:solidFill>
                  <a:srgbClr val="5A5F68"/>
                </a:solidFill>
                <a:latin typeface="Noto Sans CJK KR"/>
              </a:rPr>
              <a:t>좌표별 보폭
(누적 g²)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57800" y="3977639"/>
            <a:ext cx="1828800" cy="56692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 i="0">
                <a:solidFill>
                  <a:srgbClr val="2A9D8F"/>
                </a:solidFill>
                <a:latin typeface="Noto Sans CJK KR"/>
              </a:rPr>
              <a:t>RMSProp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4553712"/>
            <a:ext cx="18288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830" b="0" i="0">
                <a:solidFill>
                  <a:srgbClr val="5A5F68"/>
                </a:solidFill>
                <a:latin typeface="Noto Sans CJK KR"/>
              </a:rPr>
              <a:t>누적 대신
EMA(안 죽음)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57800" y="4892040"/>
            <a:ext cx="1828800" cy="56692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 i="0">
                <a:solidFill>
                  <a:srgbClr val="2A9D8F"/>
                </a:solidFill>
                <a:latin typeface="Noto Sans CJK KR"/>
              </a:rPr>
              <a:t>AdaDelta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5029200"/>
            <a:ext cx="29260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850" b="0" i="0">
                <a:solidFill>
                  <a:srgbClr val="5A5F68"/>
                </a:solidFill>
                <a:latin typeface="Noto Sans CJK KR"/>
              </a:rPr>
              <a:t>η 없이 단위 보정 (곁가지)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2606040"/>
            <a:ext cx="1828800" cy="56692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 i="0">
                <a:solidFill>
                  <a:srgbClr val="C9A227"/>
                </a:solidFill>
                <a:latin typeface="Noto Sans CJK KR"/>
              </a:rPr>
              <a:t>Adam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3182112"/>
            <a:ext cx="18288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830" b="0" i="0">
                <a:solidFill>
                  <a:srgbClr val="5A5F68"/>
                </a:solidFill>
                <a:latin typeface="Noto Sans CJK KR"/>
              </a:rPr>
              <a:t>방향+보폭+편향보정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0" y="1417320"/>
            <a:ext cx="1691640" cy="56692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 i="0">
                <a:solidFill>
                  <a:srgbClr val="C9A227"/>
                </a:solidFill>
                <a:latin typeface="Noto Sans CJK KR"/>
              </a:rPr>
              <a:t>Nadam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1993392"/>
            <a:ext cx="169164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830" b="0" i="0">
                <a:solidFill>
                  <a:srgbClr val="5A5F68"/>
                </a:solidFill>
                <a:latin typeface="Noto Sans CJK KR"/>
              </a:rPr>
              <a:t>Adam + NAG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3383280"/>
            <a:ext cx="1691640" cy="822960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Noto Sans CJK KR"/>
              </a:rPr>
              <a:t>AdamW ★</a:t>
            </a:r>
          </a:p>
          <a:p>
            <a:pPr algn="ctr"/>
            <a:r>
              <a:rPr sz="850" b="0" i="0">
                <a:solidFill>
                  <a:srgbClr val="FFFFFF"/>
                </a:solidFill>
                <a:latin typeface="Noto Sans CJK KR"/>
              </a:rPr>
              <a:t>decoupled decay
= 오늘의 표준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280160" y="1892807"/>
            <a:ext cx="0" cy="987553"/>
          </a:xfrm>
          <a:prstGeom prst="line">
            <a:avLst/>
          </a:prstGeom>
          <a:ln w="1778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2057400" y="1984248"/>
            <a:ext cx="1234440" cy="896112"/>
          </a:xfrm>
          <a:prstGeom prst="line">
            <a:avLst/>
          </a:prstGeom>
          <a:ln w="1778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617720" y="1700784"/>
            <a:ext cx="640080" cy="0"/>
          </a:xfrm>
          <a:prstGeom prst="line">
            <a:avLst/>
          </a:prstGeom>
          <a:ln w="1778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057400" y="3291840"/>
            <a:ext cx="1234440" cy="685799"/>
          </a:xfrm>
          <a:prstGeom prst="line">
            <a:avLst/>
          </a:prstGeom>
          <a:ln w="17780">
            <a:solidFill>
              <a:srgbClr val="2A9D8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617720" y="4261104"/>
            <a:ext cx="640080" cy="0"/>
          </a:xfrm>
          <a:prstGeom prst="line">
            <a:avLst/>
          </a:prstGeom>
          <a:ln w="17780">
            <a:solidFill>
              <a:srgbClr val="2A9D8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172200" y="4544568"/>
            <a:ext cx="0" cy="347472"/>
          </a:xfrm>
          <a:prstGeom prst="line">
            <a:avLst/>
          </a:prstGeom>
          <a:ln w="17780">
            <a:solidFill>
              <a:srgbClr val="2A9D8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617720" y="1828800"/>
            <a:ext cx="3154680" cy="914400"/>
          </a:xfrm>
          <a:prstGeom prst="line">
            <a:avLst/>
          </a:prstGeom>
          <a:ln w="20320">
            <a:solidFill>
              <a:srgbClr val="C9A22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7086600" y="3172968"/>
            <a:ext cx="868679" cy="941832"/>
          </a:xfrm>
          <a:prstGeom prst="line">
            <a:avLst/>
          </a:prstGeom>
          <a:ln w="20320">
            <a:solidFill>
              <a:srgbClr val="C9A22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9601200" y="1920240"/>
            <a:ext cx="457200" cy="822960"/>
          </a:xfrm>
          <a:prstGeom prst="line">
            <a:avLst/>
          </a:prstGeom>
          <a:ln w="17780">
            <a:solidFill>
              <a:srgbClr val="C9A22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601200" y="3063240"/>
            <a:ext cx="457200" cy="502920"/>
          </a:xfrm>
          <a:prstGeom prst="line">
            <a:avLst/>
          </a:prstGeom>
          <a:ln w="20320">
            <a:solidFill>
              <a:srgbClr val="C9A22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2148840" y="2148840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850" b="0" i="1">
                <a:solidFill>
                  <a:srgbClr val="2A6F97"/>
                </a:solidFill>
                <a:latin typeface="Noto Sans CJK KR"/>
              </a:rPr>
              <a:t>스텝 방향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3566160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850" b="0" i="1">
                <a:solidFill>
                  <a:srgbClr val="2A9D8F"/>
                </a:solidFill>
                <a:latin typeface="Noto Sans CJK KR"/>
              </a:rPr>
              <a:t>스텝 사이즈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989320"/>
            <a:ext cx="11155680" cy="54864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10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/>
            <a:r>
              <a:rPr sz="1000" b="0" i="0">
                <a:solidFill>
                  <a:srgbClr val="22252B"/>
                </a:solidFill>
                <a:latin typeface="Noto Sans CJK KR"/>
              </a:rPr>
              <a:t>파란 줄기 = '어느 방향으로'(관성)를 고치는 흐름 · 초록 줄기 = '얼마나(보폭)'를 고치는 흐름. Adam이 둘을 합치고, AdamW가 정규화를 분리해 마무리. 다음 장부터 1페이지 1개씩 수식과 함께.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85855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A6F97"/>
                </a:solidFill>
                <a:latin typeface="Noto Sans CJK KR"/>
              </a:rPr>
              <a:t>A2 · GD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22252B"/>
                </a:solidFill>
                <a:latin typeface="Noto Sans CJK KR"/>
              </a:rPr>
              <a:t>GD  ·  Gradient Descent (batch)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2A6F97"/>
                </a:solidFill>
                <a:latin typeface="Noto Sans CJK KR"/>
              </a:rPr>
              <a:t>뿌리 — 가장 정확한 한 걸음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98448"/>
            <a:ext cx="11155680" cy="896112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15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/>
            <a:r>
              <a:rPr sz="1250" b="0" i="0">
                <a:solidFill>
                  <a:srgbClr val="22252B"/>
                </a:solidFill>
                <a:latin typeface="Noto Sans CJK KR"/>
              </a:rPr>
              <a:t>"모든 자료를 다 검토해서, 내 위치의 산 기울기를 계산해 갈 방향을 찾았다."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77440"/>
            <a:ext cx="111556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1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  <a:p>
            <a:pPr algn="l"/>
            <a:r>
              <a:rPr sz="1250" b="0" i="0">
                <a:solidFill>
                  <a:srgbClr val="22252B"/>
                </a:solidFill>
                <a:latin typeface="Noto Sans Mono CJK KR"/>
              </a:rPr>
              <a:t>g_t = (1/N) · Σ_{i=1..N} ∇ℓ_i(θ_t)      # 전체 N개 데이터의 평균 gradient</a:t>
            </a:r>
          </a:p>
          <a:p>
            <a:pPr algn="l"/>
            <a:r>
              <a:rPr sz="1250" b="0" i="0">
                <a:solidFill>
                  <a:srgbClr val="22252B"/>
                </a:solidFill>
                <a:latin typeface="Noto Sans Mono CJK KR"/>
              </a:rPr>
              <a:t>θ_{t+1} = θ_t − η · g_t                  # η = learning rate(보폭)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709160"/>
            <a:ext cx="5486400" cy="17373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15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/>
            <a:r>
              <a:rPr sz="1150" b="0" i="0">
                <a:solidFill>
                  <a:srgbClr val="22252B"/>
                </a:solidFill>
                <a:latin typeface="Noto Sans CJK KR"/>
              </a:rPr>
              <a:t>손실을 가장 빨리 줄이는 방향(가장 가파른 내리막)을 데이터 전체로 정확히 계산한다.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709160"/>
            <a:ext cx="5486400" cy="17373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15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/>
            <a:r>
              <a:rPr sz="1150" b="0" i="0">
                <a:solidFill>
                  <a:srgbClr val="22252B"/>
                </a:solidFill>
                <a:latin typeface="Noto Sans CJK KR"/>
              </a:rPr>
              <a:t>한 스텝마다 데이터 N개를 전부 봐야 함 → 너무 느리다.  → SGD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85855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A6F97"/>
                </a:solidFill>
                <a:latin typeface="Noto Sans CJK KR"/>
              </a:rPr>
              <a:t>A2 · SGD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22252B"/>
                </a:solidFill>
                <a:latin typeface="Noto Sans CJK KR"/>
              </a:rPr>
              <a:t>SGD  ·  Stochastic Gradient Descent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2A6F97"/>
                </a:solidFill>
                <a:latin typeface="Noto Sans CJK KR"/>
              </a:rPr>
              <a:t>파란 줄기 — 속도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98448"/>
            <a:ext cx="11155680" cy="896112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15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/>
            <a:r>
              <a:rPr sz="1250" b="0" i="0">
                <a:solidFill>
                  <a:srgbClr val="22252B"/>
                </a:solidFill>
                <a:latin typeface="Noto Sans CJK KR"/>
              </a:rPr>
              <a:t>"전부 다 봐야 한 걸음은 너무 오래 걸리니까, 조금만 보고 빨리 판단한다. 같은 시간에 더 많이 간다."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77440"/>
            <a:ext cx="111556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1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  <a:p>
            <a:pPr algn="l"/>
            <a:r>
              <a:rPr sz="1250" b="0" i="0">
                <a:solidFill>
                  <a:srgbClr val="22252B"/>
                </a:solidFill>
                <a:latin typeface="Noto Sans Mono CJK KR"/>
              </a:rPr>
              <a:t>g_t = ∇ℓ_B(θ_t)          # 미니배치 B개만 사용 (|B| ≪ N)</a:t>
            </a:r>
          </a:p>
          <a:p>
            <a:pPr algn="l"/>
            <a:r>
              <a:rPr sz="1250" b="0" i="0">
                <a:solidFill>
                  <a:srgbClr val="22252B"/>
                </a:solidFill>
                <a:latin typeface="Noto Sans Mono CJK KR"/>
              </a:rPr>
              <a:t>θ_{t+1} = θ_t − η · g_t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709160"/>
            <a:ext cx="5486400" cy="17373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15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/>
            <a:r>
              <a:rPr sz="1150" b="0" i="0">
                <a:solidFill>
                  <a:srgbClr val="22252B"/>
                </a:solidFill>
                <a:latin typeface="Noto Sans CJK KR"/>
              </a:rPr>
              <a:t>스텝당 비용이 급감 → 같은 시간에 훨씬 많은 스텝. gradient noise가 얕은 지역최소 탈출에도 도움.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709160"/>
            <a:ext cx="5486400" cy="17373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15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/>
            <a:r>
              <a:rPr sz="1150" b="0" i="0">
                <a:solidFill>
                  <a:srgbClr val="22252B"/>
                </a:solidFill>
                <a:latin typeface="Noto Sans CJK KR"/>
              </a:rPr>
              <a:t>gradient가 매 스텝 출렁여 지그재그. 방향도 보폭도 여전히 그대로.  → Momentum · Adagrad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85855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A6F97"/>
                </a:solidFill>
                <a:latin typeface="Noto Sans CJK KR"/>
              </a:rPr>
              <a:t>A2 · Momentum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22252B"/>
                </a:solidFill>
                <a:latin typeface="Noto Sans CJK KR"/>
              </a:rPr>
              <a:t>Momentum  ·  SGD with Momentum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2A6F97"/>
                </a:solidFill>
                <a:latin typeface="Noto Sans CJK KR"/>
              </a:rPr>
              <a:t>파란 줄기 — '스텝 방향' 개선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98448"/>
            <a:ext cx="11155680" cy="896112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15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/>
            <a:r>
              <a:rPr sz="1250" b="0" i="0">
                <a:solidFill>
                  <a:srgbClr val="22252B"/>
                </a:solidFill>
                <a:latin typeface="Noto Sans CJK KR"/>
              </a:rPr>
              <a:t>"스텝을 계산해서 움직인 후, 아까 내려오던 관성 방향으로 또 가자."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77440"/>
            <a:ext cx="111556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1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  <a:p>
            <a:pPr algn="l"/>
            <a:r>
              <a:rPr sz="1250" b="0" i="0">
                <a:solidFill>
                  <a:srgbClr val="22252B"/>
                </a:solidFill>
                <a:latin typeface="Noto Sans Mono CJK KR"/>
              </a:rPr>
              <a:t>v_t = μ · v_{t-1} + g_t        # μ≈0.9, 과거 방향의 관성(누적)</a:t>
            </a:r>
          </a:p>
          <a:p>
            <a:pPr algn="l"/>
            <a:r>
              <a:rPr sz="1250" b="0" i="0">
                <a:solidFill>
                  <a:srgbClr val="22252B"/>
                </a:solidFill>
                <a:latin typeface="Noto Sans Mono CJK KR"/>
              </a:rPr>
              <a:t>θ_{t+1} = θ_t − η · v_t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709160"/>
            <a:ext cx="5486400" cy="17373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15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/>
            <a:r>
              <a:rPr sz="1150" b="0" i="0">
                <a:solidFill>
                  <a:srgbClr val="22252B"/>
                </a:solidFill>
                <a:latin typeface="Noto Sans CJK KR"/>
              </a:rPr>
              <a:t>일관된 방향은 누적 가속하고 출렁이는 성분은 상쇄 → 지그재그 완화, 좁은 골짜기를 빠르게 통과.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709160"/>
            <a:ext cx="5486400" cy="17373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15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/>
            <a:r>
              <a:rPr sz="1150" b="0" i="0">
                <a:solidFill>
                  <a:srgbClr val="22252B"/>
                </a:solidFill>
                <a:latin typeface="Noto Sans CJK KR"/>
              </a:rPr>
              <a:t>보폭(스케일)은 아직 모든 좌표가 동일. 관성이 과하면 최소점을 지나칠 수 있다.  → NAG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85855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A6F97"/>
                </a:solidFill>
                <a:latin typeface="Noto Sans CJK KR"/>
              </a:rPr>
              <a:t>A2 · NAG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22252B"/>
                </a:solidFill>
                <a:latin typeface="Noto Sans CJK KR"/>
              </a:rPr>
              <a:t>NAG  ·  Nesterov Accelerated Gradient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2A6F97"/>
                </a:solidFill>
                <a:latin typeface="Noto Sans CJK KR"/>
              </a:rPr>
              <a:t>파란 줄기 — look-ahead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98448"/>
            <a:ext cx="11155680" cy="896112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15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/>
            <a:r>
              <a:rPr sz="1250" b="0" i="0">
                <a:solidFill>
                  <a:srgbClr val="22252B"/>
                </a:solidFill>
                <a:latin typeface="Noto Sans CJK KR"/>
              </a:rPr>
              <a:t>"일단 관성 방향으로 먼저 움직이고, 그 자리에서 스텝을 계산하니 더 빠르더라."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77440"/>
            <a:ext cx="111556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1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  <a:p>
            <a:pPr algn="l"/>
            <a:r>
              <a:rPr sz="1250" b="0" i="0">
                <a:solidFill>
                  <a:srgbClr val="22252B"/>
                </a:solidFill>
                <a:latin typeface="Noto Sans Mono CJK KR"/>
              </a:rPr>
              <a:t>θ_look = θ_t − η · μ · v_{t-1}      # 관성으로 미리 가 본 위치</a:t>
            </a:r>
          </a:p>
          <a:p>
            <a:pPr algn="l"/>
            <a:r>
              <a:rPr sz="1250" b="0" i="0">
                <a:solidFill>
                  <a:srgbClr val="22252B"/>
                </a:solidFill>
                <a:latin typeface="Noto Sans Mono CJK KR"/>
              </a:rPr>
              <a:t>v_t = μ · v_{t-1} + ∇ℓ(θ_look)     # '가 볼 자리'의 gradient로 보정</a:t>
            </a:r>
          </a:p>
          <a:p>
            <a:pPr algn="l"/>
            <a:r>
              <a:rPr sz="1250" b="0" i="0">
                <a:solidFill>
                  <a:srgbClr val="22252B"/>
                </a:solidFill>
                <a:latin typeface="Noto Sans Mono CJK KR"/>
              </a:rPr>
              <a:t>θ_{t+1} = θ_t − η · v_t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709160"/>
            <a:ext cx="5486400" cy="17373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15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/>
            <a:r>
              <a:rPr sz="1150" b="0" i="0">
                <a:solidFill>
                  <a:srgbClr val="22252B"/>
                </a:solidFill>
                <a:latin typeface="Noto Sans CJK KR"/>
              </a:rPr>
              <a:t>미리 가 볼 위치의 gradient로 방향을 교정 → 과주행(overshoot)을 억제하고 수렴이 빨라진다.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709160"/>
            <a:ext cx="5486400" cy="17373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15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/>
            <a:r>
              <a:rPr sz="1150" b="0" i="0">
                <a:solidFill>
                  <a:srgbClr val="22252B"/>
                </a:solidFill>
                <a:latin typeface="Noto Sans CJK KR"/>
              </a:rPr>
              <a:t>여전히 보폭은 좌표 공통. '좌표별 스케일' 문제는 손대지 않았다.  → Adagrad 계열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85855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Noto Sans CJK KR"/>
              </a:rPr>
              <a:t>A2 · Adagrad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22252B"/>
                </a:solidFill>
                <a:latin typeface="Noto Sans CJK KR"/>
              </a:rPr>
              <a:t>Adagrad  ·  Adaptive Gradient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2A9D8F"/>
                </a:solidFill>
                <a:latin typeface="Noto Sans CJK KR"/>
              </a:rPr>
              <a:t>초록 줄기 — '스텝 사이즈' 개선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98448"/>
            <a:ext cx="1115568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150" b="1" i="0">
                <a:solidFill>
                  <a:srgbClr val="2A9D8F"/>
                </a:solidFill>
                <a:latin typeface="Noto Sans CJK KR"/>
              </a:rPr>
              <a:t>직관 (왜 이렇게?)</a:t>
            </a:r>
          </a:p>
          <a:p>
            <a:pPr algn="l"/>
            <a:r>
              <a:rPr sz="1250" b="0" i="0">
                <a:solidFill>
                  <a:srgbClr val="22252B"/>
                </a:solidFill>
                <a:latin typeface="Noto Sans CJK KR"/>
              </a:rPr>
              <a:t>"안 가 본 곳은 성큼 빠르게 훑고, 많이 가 본 곳은 잘 가니까 갈수록 보폭을 줄여 세밀히 탐색."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77440"/>
            <a:ext cx="111556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1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  <a:p>
            <a:pPr algn="l"/>
            <a:r>
              <a:rPr sz="1250" b="0" i="0">
                <a:solidFill>
                  <a:srgbClr val="22252B"/>
                </a:solidFill>
                <a:latin typeface="Noto Sans Mono CJK KR"/>
              </a:rPr>
              <a:t>G_t = G_{t-1} + g_t²                  # 좌표별 gradient² 누적</a:t>
            </a:r>
          </a:p>
          <a:p>
            <a:pPr algn="l"/>
            <a:r>
              <a:rPr sz="1250" b="0" i="0">
                <a:solidFill>
                  <a:srgbClr val="22252B"/>
                </a:solidFill>
                <a:latin typeface="Noto Sans Mono CJK KR"/>
              </a:rPr>
              <a:t>θ_{t+1} = θ_t − η · g_t / (√G_t + ε)   # 좌표마다 다른 보폭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709160"/>
            <a:ext cx="5486400" cy="17373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15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/>
            <a:r>
              <a:rPr sz="1150" b="0" i="0">
                <a:solidFill>
                  <a:srgbClr val="22252B"/>
                </a:solidFill>
                <a:latin typeface="Noto Sans CJK KR"/>
              </a:rPr>
              <a:t>좌표마다 다른 learning rate — 드물게 큰 gradient(희소 feature)는 크게, 자주 큰 좌표는 작게.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709160"/>
            <a:ext cx="5486400" cy="17373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15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/>
            <a:r>
              <a:rPr sz="1150" b="0" i="0">
                <a:solidFill>
                  <a:srgbClr val="22252B"/>
                </a:solidFill>
                <a:latin typeface="Noto Sans CJK KR"/>
              </a:rPr>
              <a:t>G_t가 단조 증가 → 분모가 계속 커져 보폭이 0으로 죽는다(학습 정지).  → RMSProp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85855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Noto Sans CJK KR"/>
              </a:rPr>
              <a:t>A2 · RMSProp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22252B"/>
                </a:solidFill>
                <a:latin typeface="Noto Sans CJK KR"/>
              </a:rPr>
              <a:t>RMSProp  ·  Root Mean Square Propagation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2A9D8F"/>
                </a:solidFill>
                <a:latin typeface="Noto Sans CJK KR"/>
              </a:rPr>
              <a:t>초록 줄기 — EMA로 보완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98448"/>
            <a:ext cx="1115568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150" b="1" i="0">
                <a:solidFill>
                  <a:srgbClr val="2A9D8F"/>
                </a:solidFill>
                <a:latin typeface="Noto Sans CJK KR"/>
              </a:rPr>
              <a:t>직관 (왜 이렇게?)</a:t>
            </a:r>
          </a:p>
          <a:p>
            <a:pPr algn="l"/>
            <a:r>
              <a:rPr sz="1250" b="0" i="0">
                <a:solidFill>
                  <a:srgbClr val="22252B"/>
                </a:solidFill>
                <a:latin typeface="Noto Sans CJK KR"/>
              </a:rPr>
              <a:t>"보폭을 줄이는 건 좋은데, (전부 누적하지 말고) 최근 맥락을 봐 가며 하자."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77440"/>
            <a:ext cx="111556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1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  <a:p>
            <a:pPr algn="l"/>
            <a:r>
              <a:rPr sz="1250" b="0" i="0">
                <a:solidFill>
                  <a:srgbClr val="22252B"/>
                </a:solidFill>
                <a:latin typeface="Noto Sans Mono CJK KR"/>
              </a:rPr>
              <a:t>E[g²]_t = ρ · E[g²]_{t-1} + (1−ρ) · g_t²   # ρ≈0.9, 최근값 지수이동평균</a:t>
            </a:r>
          </a:p>
          <a:p>
            <a:pPr algn="l"/>
            <a:r>
              <a:rPr sz="1250" b="0" i="0">
                <a:solidFill>
                  <a:srgbClr val="22252B"/>
                </a:solidFill>
                <a:latin typeface="Noto Sans Mono CJK KR"/>
              </a:rPr>
              <a:t>θ_{t+1} = θ_t − η · g_t / (√E[g²]_t + ε)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709160"/>
            <a:ext cx="5486400" cy="17373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15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/>
            <a:r>
              <a:rPr sz="1150" b="0" i="0">
                <a:solidFill>
                  <a:srgbClr val="22252B"/>
                </a:solidFill>
                <a:latin typeface="Noto Sans CJK KR"/>
              </a:rPr>
              <a:t>합 대신 EMA → 분모가 무한정 커지지 않아 보폭이 죽지 않는다. 비정상(non-stationary) 목표에도 안정.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709160"/>
            <a:ext cx="5486400" cy="17373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15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/>
            <a:r>
              <a:rPr sz="1150" b="0" i="0">
                <a:solidFill>
                  <a:srgbClr val="22252B"/>
                </a:solidFill>
                <a:latin typeface="Noto Sans CJK KR"/>
              </a:rPr>
              <a:t>방향(momentum)은 아직 안 씀. 초기(0에서 시작) 편향 보정도 없다.  → Adam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85855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Noto Sans CJK KR"/>
              </a:rPr>
              <a:t>A2 · AdaDelta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22252B"/>
                </a:solidFill>
                <a:latin typeface="Noto Sans CJK KR"/>
              </a:rPr>
              <a:t>AdaDelta  ·  Adaptive Delta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2A9D8F"/>
                </a:solidFill>
                <a:latin typeface="Noto Sans CJK KR"/>
              </a:rPr>
              <a:t>초록 줄기 — η 제거(곁가지)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98448"/>
            <a:ext cx="1115568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150" b="1" i="0">
                <a:solidFill>
                  <a:srgbClr val="2A9D8F"/>
                </a:solidFill>
                <a:latin typeface="Noto Sans CJK KR"/>
              </a:rPr>
              <a:t>직관 (왜 이렇게?)</a:t>
            </a:r>
          </a:p>
          <a:p>
            <a:pPr algn="l"/>
            <a:r>
              <a:rPr sz="1250" b="0" i="0">
                <a:solidFill>
                  <a:srgbClr val="22252B"/>
                </a:solidFill>
                <a:latin typeface="Noto Sans CJK KR"/>
              </a:rPr>
              <a:t>"종종걸음(보폭)이 너무 작아져 정지하는 걸 막고, learning rate η 자체도 없애 보자."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77440"/>
            <a:ext cx="111556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1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  <a:p>
            <a:pPr algn="l"/>
            <a:r>
              <a:rPr sz="1250" b="0" i="0">
                <a:solidFill>
                  <a:srgbClr val="22252B"/>
                </a:solidFill>
                <a:latin typeface="Noto Sans Mono CJK KR"/>
              </a:rPr>
              <a:t>E[g²]_t = ρ·E[g²]_{t-1} + (1−ρ)·g_t²</a:t>
            </a:r>
          </a:p>
          <a:p>
            <a:pPr algn="l"/>
            <a:r>
              <a:rPr sz="1250" b="0" i="0">
                <a:solidFill>
                  <a:srgbClr val="22252B"/>
                </a:solidFill>
                <a:latin typeface="Noto Sans Mono CJK KR"/>
              </a:rPr>
              <a:t>Δθ_t = − ( √(E[Δθ²]_{t-1}+ε) / √(E[g²]_t+ε) ) · g_t   # 분자=과거 스텝 크기</a:t>
            </a:r>
          </a:p>
          <a:p>
            <a:pPr algn="l"/>
            <a:r>
              <a:rPr sz="1250" b="0" i="0">
                <a:solidFill>
                  <a:srgbClr val="22252B"/>
                </a:solidFill>
                <a:latin typeface="Noto Sans Mono CJK KR"/>
              </a:rPr>
              <a:t>E[Δθ²]_t = ρ·E[Δθ²]_{t-1} + (1−ρ)·Δθ_t² ;   θ_{t+1} = θ_t + Δθ_t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709160"/>
            <a:ext cx="5486400" cy="17373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15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/>
            <a:r>
              <a:rPr sz="1150" b="0" i="0">
                <a:solidFill>
                  <a:srgbClr val="22252B"/>
                </a:solidFill>
                <a:latin typeface="Noto Sans CJK KR"/>
              </a:rPr>
              <a:t>스텝의 '단위'를 Δθ의 EMA로 맞춰 η 없이 자동 보폭. RMSProp의 보폭 소멸도 완화.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709160"/>
            <a:ext cx="5486400" cy="17373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15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/>
            <a:r>
              <a:rPr sz="1150" b="0" i="0">
                <a:solidFill>
                  <a:srgbClr val="22252B"/>
                </a:solidFill>
                <a:latin typeface="Noto Sans CJK KR"/>
              </a:rPr>
              <a:t>방향 관성은 미결합. 실무 표준 자리는 곧 Adam이 가져간다.  → Adam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85855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Noto Sans CJK KR"/>
              </a:rPr>
              <a:t>A2 · Adam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22252B"/>
                </a:solidFill>
                <a:latin typeface="Noto Sans CJK KR"/>
              </a:rPr>
              <a:t>Adam  ·  Adaptive Moment Estimation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C9A227"/>
                </a:solidFill>
                <a:latin typeface="Noto Sans CJK KR"/>
              </a:rPr>
              <a:t>두 줄기의 합류 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98448"/>
            <a:ext cx="11155680" cy="896112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150" b="1" i="0">
                <a:solidFill>
                  <a:srgbClr val="C9A227"/>
                </a:solidFill>
                <a:latin typeface="Noto Sans CJK KR"/>
              </a:rPr>
              <a:t>직관 (왜 이렇게?)</a:t>
            </a:r>
          </a:p>
          <a:p>
            <a:pPr algn="l"/>
            <a:r>
              <a:rPr sz="1250" b="0" i="0">
                <a:solidFill>
                  <a:srgbClr val="22252B"/>
                </a:solidFill>
                <a:latin typeface="Noto Sans CJK KR"/>
              </a:rPr>
              <a:t>"RMSProp(보폭) + Momentum(방향)을 합치자 — 방향도 스텝 사이즈도 적절하게!"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77440"/>
            <a:ext cx="111556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1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  <a:p>
            <a:pPr algn="l"/>
            <a:r>
              <a:rPr sz="1250" b="0" i="0">
                <a:solidFill>
                  <a:srgbClr val="22252B"/>
                </a:solidFill>
                <a:latin typeface="Noto Sans Mono CJK KR"/>
              </a:rPr>
              <a:t>m_t = β₁·m_{t-1} + (1−β₁)·g_t          # 1차 모멘텀: 방향</a:t>
            </a:r>
          </a:p>
          <a:p>
            <a:pPr algn="l"/>
            <a:r>
              <a:rPr sz="1250" b="0" i="0">
                <a:solidFill>
                  <a:srgbClr val="22252B"/>
                </a:solidFill>
                <a:latin typeface="Noto Sans Mono CJK KR"/>
              </a:rPr>
              <a:t>v_t = β₂·v_{t-1} + (1−β₂)·g_t²         # 2차 모멘텀: 좌표별 보폭</a:t>
            </a:r>
          </a:p>
          <a:p>
            <a:pPr algn="l"/>
            <a:r>
              <a:rPr sz="1250" b="0" i="0">
                <a:solidFill>
                  <a:srgbClr val="22252B"/>
                </a:solidFill>
                <a:latin typeface="Noto Sans Mono CJK KR"/>
              </a:rPr>
              <a:t>m̂ = m_t/(1−β₁^t),  v̂ = v_t/(1−β₂^t)     # 초기 0-편향 보정</a:t>
            </a:r>
          </a:p>
          <a:p>
            <a:pPr algn="l"/>
            <a:r>
              <a:rPr sz="1250" b="0" i="0">
                <a:solidFill>
                  <a:srgbClr val="22252B"/>
                </a:solidFill>
                <a:latin typeface="Noto Sans Mono CJK KR"/>
              </a:rPr>
              <a:t>θ_{t+1} = θ_t − η · m̂ / (√v̂ + ε)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709160"/>
            <a:ext cx="5486400" cy="17373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15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/>
            <a:r>
              <a:rPr sz="1150" b="0" i="0">
                <a:solidFill>
                  <a:srgbClr val="22252B"/>
                </a:solidFill>
                <a:latin typeface="Noto Sans CJK KR"/>
              </a:rPr>
              <a:t>방향(m) + 좌표별 보폭(v) + 편향 보정을 한 번에. 튜닝 거의 없이 잘 동작 → 사실상 표준.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709160"/>
            <a:ext cx="5486400" cy="17373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15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/>
            <a:r>
              <a:rPr sz="1150" b="0" i="0">
                <a:solidFill>
                  <a:srgbClr val="22252B"/>
                </a:solidFill>
                <a:latin typeface="Noto Sans CJK KR"/>
              </a:rPr>
              <a:t>L2 weight decay를 gradient에 더하면 1/√v̂로 나뉘어 좌표별로 왜곡된다.  → AdamW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85855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Noto Sans CJK KR"/>
              </a:rPr>
              <a:t>A2 · Nadam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22252B"/>
                </a:solidFill>
                <a:latin typeface="Noto Sans CJK KR"/>
              </a:rPr>
              <a:t>Nadam  ·  Nesterov-accelerated Adam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C9A227"/>
                </a:solidFill>
                <a:latin typeface="Noto Sans CJK KR"/>
              </a:rPr>
              <a:t>합류점의 곁가지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98448"/>
            <a:ext cx="11155680" cy="896112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150" b="1" i="0">
                <a:solidFill>
                  <a:srgbClr val="C9A227"/>
                </a:solidFill>
                <a:latin typeface="Noto Sans CJK KR"/>
              </a:rPr>
              <a:t>직관 (왜 이렇게?)</a:t>
            </a:r>
          </a:p>
          <a:p>
            <a:pPr algn="l"/>
            <a:r>
              <a:rPr sz="1250" b="0" i="0">
                <a:solidFill>
                  <a:srgbClr val="22252B"/>
                </a:solidFill>
                <a:latin typeface="Noto Sans CJK KR"/>
              </a:rPr>
              <a:t>"Adam에 (일반 Momentum 대신) NAG의 look-ahead를 붙이자."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77440"/>
            <a:ext cx="111556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1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  <a:p>
            <a:pPr algn="l"/>
            <a:r>
              <a:rPr sz="1250" b="0" i="0">
                <a:solidFill>
                  <a:srgbClr val="22252B"/>
                </a:solidFill>
                <a:latin typeface="Noto Sans Mono CJK KR"/>
              </a:rPr>
              <a:t>m_t, v_t : Adam과 동일</a:t>
            </a:r>
          </a:p>
          <a:p>
            <a:pPr algn="l"/>
            <a:r>
              <a:rPr sz="1250" b="0" i="0">
                <a:solidFill>
                  <a:srgbClr val="22252B"/>
                </a:solidFill>
                <a:latin typeface="Noto Sans Mono CJK KR"/>
              </a:rPr>
              <a:t>θ_{t+1} = θ_t − η · ( β₁·m̂ + (1−β₁)·g_t/(1−β₁^t) ) / (√v̂ + ε)   # look-ahead 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709160"/>
            <a:ext cx="5486400" cy="17373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15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/>
            <a:r>
              <a:rPr sz="1150" b="0" i="0">
                <a:solidFill>
                  <a:srgbClr val="22252B"/>
                </a:solidFill>
                <a:latin typeface="Noto Sans CJK KR"/>
              </a:rPr>
              <a:t>Adam의 방향항에 Nesterov 예측을 넣어 약간 더 빠른 수렴.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709160"/>
            <a:ext cx="5486400" cy="17373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15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/>
            <a:r>
              <a:rPr sz="1150" b="0" i="0">
                <a:solidFill>
                  <a:srgbClr val="22252B"/>
                </a:solidFill>
                <a:latin typeface="Noto Sans CJK KR"/>
              </a:rPr>
              <a:t>weight decay 왜곡은 그대로 남아 있다.  → AdamW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85855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Noto Sans CJK KR"/>
              </a:rPr>
              <a:t>A2 · AdamW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22252B"/>
                </a:solidFill>
                <a:latin typeface="Noto Sans CJK KR"/>
              </a:rPr>
              <a:t>AdamW ★  ·  Adam with decoupled Weight decay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C9A227"/>
                </a:solidFill>
                <a:latin typeface="Noto Sans CJK KR"/>
              </a:rPr>
              <a:t>종착점 — 오늘의 표준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98448"/>
            <a:ext cx="11155680" cy="896112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150" b="1" i="0">
                <a:solidFill>
                  <a:srgbClr val="C9A227"/>
                </a:solidFill>
                <a:latin typeface="Noto Sans CJK KR"/>
              </a:rPr>
              <a:t>직관 (왜 이렇게?)</a:t>
            </a:r>
          </a:p>
          <a:p>
            <a:pPr algn="l"/>
            <a:r>
              <a:rPr sz="1250" b="0" i="0">
                <a:solidFill>
                  <a:srgbClr val="22252B"/>
                </a:solidFill>
                <a:latin typeface="Noto Sans CJK KR"/>
              </a:rPr>
              <a:t>"weight decay(정규화)를 gradient에 섞지 말고, weight에서 '직접' 빼자 — 그래야 좌표마다 똑같이 적용된다."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77440"/>
            <a:ext cx="111556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1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  <a:p>
            <a:pPr algn="l"/>
            <a:r>
              <a:rPr sz="1250" b="0" i="0">
                <a:solidFill>
                  <a:srgbClr val="22252B"/>
                </a:solidFill>
                <a:latin typeface="Noto Sans Mono CJK KR"/>
              </a:rPr>
              <a:t>m_t, v_t, m̂, v̂ : Adam과 동일 (decay를 g_t에 넣지 않음)</a:t>
            </a:r>
          </a:p>
          <a:p>
            <a:pPr algn="l"/>
            <a:r>
              <a:rPr sz="1250" b="0" i="0">
                <a:solidFill>
                  <a:srgbClr val="22252B"/>
                </a:solidFill>
                <a:latin typeface="Noto Sans Mono CJK KR"/>
              </a:rPr>
              <a:t>θ_{t+1} = θ_t − η · ( m̂/(√v̂+ε)  +  λ·θ_t )      # λ·θ 항을 분리(decoupled)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709160"/>
            <a:ext cx="5486400" cy="17373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15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/>
            <a:r>
              <a:rPr sz="1150" b="0" i="0">
                <a:solidFill>
                  <a:srgbClr val="22252B"/>
                </a:solidFill>
                <a:latin typeface="Noto Sans CJK KR"/>
              </a:rPr>
              <a:t>decay가 adaptive 스케일(1/√v̂)에 섞이지 않아 정규화가 일관 → 일반화↑. 오늘날 LLM 학습의 표준.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709160"/>
            <a:ext cx="5486400" cy="17373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/>
            <a:r>
              <a:rPr sz="115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/>
            <a:r>
              <a:rPr sz="1150" b="0" i="0">
                <a:solidFill>
                  <a:srgbClr val="22252B"/>
                </a:solidFill>
                <a:latin typeface="Noto Sans CJK KR"/>
              </a:rPr>
              <a:t>여기까지가 '표준 optimizer'. 이 계열 논문은 이 optimizer 자체를 memory로 재해석한다(HOPE).  → Part 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