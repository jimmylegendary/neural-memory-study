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오늘 다룰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36576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2A6F97"/>
                </a:solidFill>
                <a:latin typeface="Noto Sans CJK KR"/>
              </a:rPr>
              <a:t>A. Background (학습 입문)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94560"/>
            <a:ext cx="3520440" cy="4297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A1. 학습 한 바퀴 — 2-layer MLP: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forward→loss→backward→optimizer→update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A2. Optimizer의 역사 (수식과 함께)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계보 지도(제공 이미지) →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GD · SGD · Momentum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Adagrad · RMSProp · Adam · AdamW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A3. 대안 계열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linear attention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DeltaNet → Gated DeltaNet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SSM · Mamba-2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71600"/>
            <a:ext cx="36576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2A9D8F"/>
                </a:solidFill>
                <a:latin typeface="Noto Sans CJK KR"/>
              </a:rPr>
              <a:t>B. 논문 6편 (발명→구현→증명)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194560"/>
            <a:ext cx="3520440" cy="4297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B1. Titans — deep neural memory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surprise·momentum·forget, MAC/MAG/MAL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B2. Miras — 4축 설계공간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메모리 = online 최적화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B3. Atlas — Omega rule·용량·Muon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B4. TNT — chunk·2-stage·global/local·Q-K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B5. Nested Learning / HOPE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optimizer=memory · self-mod · CMS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B6. Sleep — offline consolidation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Knowledge Seeding · Dreaming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371600"/>
            <a:ext cx="35661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C9A227"/>
                </a:solidFill>
                <a:latin typeface="Noto Sans CJK KR"/>
              </a:rPr>
              <a:t>C. System modeling (우리 기여)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194560"/>
            <a:ext cx="3429000" cy="4297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C1. pair thesis — decode=memory-bound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C2. 8개 가속기 크로스 측정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C3. HOPE-block roofline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+ zHBM · HBM-PIM · SRAM scaling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C4. scaling 청사진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부록. QA 모음 (교차·논문별)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52544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04688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46120"/>
            <a:ext cx="11155680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∂L/∂z → ∂L/∂W₂, ∂L/∂a → ∂L/∂h → ∂L/∂W₁, ∂L/∂head.  각 파라미터 W의 gradient g = ∂L/∂W 를 구해 W.grad 에 채운다(순전파의 역순, 체인 룰).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31720"/>
            <a:ext cx="10058400" cy="896112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224528"/>
            <a:ext cx="704088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optimizer.step()  — AdamW (gradient g를 받아 '얼마나·어느 방향' 결정)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Mono CJK KR"/>
              </a:rPr>
              <a:t>m ← β₁·m + (1−β₁)·g          (1차 모멘텀: 방향의 관성)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Mono CJK KR"/>
              </a:rPr>
              <a:t>v ← β₂·v + (1−β₂)·g²         (2차 모멘텀: 좌표별 스케일)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Mono CJK KR"/>
              </a:rPr>
              <a:t>m̂,v̂ = 편향보정 ;  ΔW = −η·m̂/(√v̂+ε)   −  η·λ·W  ← decoupled decay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4224528"/>
            <a:ext cx="38862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11155680" cy="5669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학습 = ①forward로 예측 → ②backward로 'gradient(어디가 틀렸나)' → ③optimizer로 'gradient를 기억·가공(m,v)해 갱신량' → ④weight 이동. 이 계열은 ②③④를 추론 중에도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한 장으로 보는 직관 지도</a:t>
            </a:r>
          </a:p>
        </p:txBody>
      </p:sp>
      <p:pic>
        <p:nvPicPr>
          <p:cNvPr id="5" name="Picture 4" descr="optimize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34440"/>
            <a:ext cx="9966960" cy="4827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6199632"/>
            <a:ext cx="11155680" cy="5029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 → Adam이 둘을 합침. 다음 장부터 이 중 GD·SGD·Momentum·Adagrad·RMSProp·Adam·AdamW를 1페이지씩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fbcf593e3d63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169164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0088" y="3401568"/>
            <a:ext cx="8165592" cy="71018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전체 N개 데이터의 평균 gradient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0624"/>
            <a:ext cx="1350264" cy="204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48712" y="4203192"/>
            <a:ext cx="8506968" cy="259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η = learning rate (보폭)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9adb2427c3a6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46932"/>
            <a:ext cx="111861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17064" y="3619500"/>
            <a:ext cx="8738616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미니배치 B개만 사용 (|B| ≪ N)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2692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8cc304237f13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71315"/>
            <a:ext cx="1365504" cy="170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63952" y="3643884"/>
            <a:ext cx="8491728" cy="2255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μ≈0.9, 과거 방향의 관성(누적)</a:t>
            </a:r>
          </a:p>
        </p:txBody>
      </p:sp>
      <p:pic>
        <p:nvPicPr>
          <p:cNvPr id="11" name="Picture 10" descr="048f9f953b7de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88307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보폭(스케일)은 아직 모든 좌표가 동일. '좌표별 보폭'은 아래 초록 줄기(Adagrad→RMSProp)가 맡고, 뒤에서 Adam이 방향과 합친다.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63d51081b10af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09771"/>
            <a:ext cx="1353312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51760" y="3482340"/>
            <a:ext cx="8503920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좌표별 gradient² 누적</a:t>
            </a:r>
          </a:p>
        </p:txBody>
      </p:sp>
      <p:pic>
        <p:nvPicPr>
          <p:cNvPr id="11" name="Picture 10" descr="4a2f662dc5183d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02963"/>
            <a:ext cx="1965960" cy="4511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4408" y="3875531"/>
            <a:ext cx="7891272" cy="5059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좌표마다 다른 보폭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ba22d2d980d3a6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82340"/>
            <a:ext cx="2743200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648" y="3454908"/>
            <a:ext cx="7114032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ρ≈0.9, 최근값 지수이동평균(EMA)</a:t>
            </a:r>
          </a:p>
        </p:txBody>
      </p:sp>
      <p:pic>
        <p:nvPicPr>
          <p:cNvPr id="11" name="Picture 10" descr="b73f5e009c6b9b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75532"/>
            <a:ext cx="2295144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3848099"/>
            <a:ext cx="7562088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분모가 무한정 커지지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e70f05018bd2ff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2054704" cy="193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53158" y="3081528"/>
            <a:ext cx="7802521" cy="248501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1차 모멘텀: 방향</a:t>
            </a:r>
          </a:p>
        </p:txBody>
      </p:sp>
      <p:pic>
        <p:nvPicPr>
          <p:cNvPr id="11" name="Picture 10" descr="60ccb0aa032c3b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8901"/>
            <a:ext cx="1930995" cy="2178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29445" y="3421469"/>
            <a:ext cx="7926234" cy="2727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2차 모멘텀: 좌표별 보폭</a:t>
            </a:r>
          </a:p>
        </p:txBody>
      </p:sp>
      <p:pic>
        <p:nvPicPr>
          <p:cNvPr id="13" name="Picture 12" descr="0ecce77be0963c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13048"/>
            <a:ext cx="2057398" cy="4007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55847" y="3785615"/>
            <a:ext cx="7799832" cy="45558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초기 0-편향 보정</a:t>
            </a:r>
          </a:p>
        </p:txBody>
      </p:sp>
      <p:pic>
        <p:nvPicPr>
          <p:cNvPr id="15" name="Picture 14" descr="7ca4e21dc0982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0074"/>
            <a:ext cx="1629782" cy="44644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L2 weight decay를 gradient에 더하면 1/√v̂로 나뉘어 좌표별로 왜곡된다.  → AdamW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d2c02d1471c4b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74720"/>
            <a:ext cx="2468880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67328" y="3447288"/>
            <a:ext cx="7388352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decay를 gradient에 넣지 않음</a:t>
            </a:r>
          </a:p>
        </p:txBody>
      </p:sp>
      <p:pic>
        <p:nvPicPr>
          <p:cNvPr id="11" name="Picture 10" descr="ce7d435624c422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40480"/>
            <a:ext cx="2691384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9832" y="3813048"/>
            <a:ext cx="7165848" cy="603503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λθ 항을 분리 (decoupled)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decay가 adaptive 스케일(1/√v̂)에 섞이지 않아 정규화가 일관 → 일반화↑. 오늘날 LLM 학습의 표준.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