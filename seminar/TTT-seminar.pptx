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Relationship Id="rId7" Type="http://schemas.openxmlformats.org/officeDocument/2006/relationships/image" Target="../media/image36.png"/><Relationship Id="rId8" Type="http://schemas.openxmlformats.org/officeDocument/2006/relationships/image" Target="../media/image37.png"/><Relationship Id="rId9" Type="http://schemas.openxmlformats.org/officeDocument/2006/relationships/image" Target="../media/image3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image" Target="../media/image55.png"/><Relationship Id="rId4" Type="http://schemas.openxmlformats.org/officeDocument/2006/relationships/image" Target="../media/image56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image" Target="../media/image58.png"/><Relationship Id="rId4" Type="http://schemas.openxmlformats.org/officeDocument/2006/relationships/image" Target="../media/image59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image" Target="../media/image61.png"/><Relationship Id="rId4" Type="http://schemas.openxmlformats.org/officeDocument/2006/relationships/image" Target="../media/image62.png"/><Relationship Id="rId5" Type="http://schemas.openxmlformats.org/officeDocument/2006/relationships/image" Target="../media/image63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Relationship Id="rId3" Type="http://schemas.openxmlformats.org/officeDocument/2006/relationships/image" Target="../media/image66.png"/><Relationship Id="rId4" Type="http://schemas.openxmlformats.org/officeDocument/2006/relationships/image" Target="../media/image67.png"/><Relationship Id="rId5" Type="http://schemas.openxmlformats.org/officeDocument/2006/relationships/image" Target="../media/image68.png"/><Relationship Id="rId6" Type="http://schemas.openxmlformats.org/officeDocument/2006/relationships/image" Target="../media/image69.png"/><Relationship Id="rId7" Type="http://schemas.openxmlformats.org/officeDocument/2006/relationships/image" Target="../media/image70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Relationship Id="rId3" Type="http://schemas.openxmlformats.org/officeDocument/2006/relationships/image" Target="../media/image72.png"/><Relationship Id="rId4" Type="http://schemas.openxmlformats.org/officeDocument/2006/relationships/image" Target="../media/image73.png"/><Relationship Id="rId5" Type="http://schemas.openxmlformats.org/officeDocument/2006/relationships/image" Target="../media/image74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mage75.png"/><Relationship Id="rId4" Type="http://schemas.openxmlformats.org/officeDocument/2006/relationships/image" Target="../media/image76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Relationship Id="rId3" Type="http://schemas.openxmlformats.org/officeDocument/2006/relationships/image" Target="../media/image82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Relationship Id="rId3" Type="http://schemas.openxmlformats.org/officeDocument/2006/relationships/image" Target="../media/image86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7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A2B"/>
          </a:solidFill>
          <a:ln w="12700">
            <a:solidFill>
              <a:srgbClr val="101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0" y="5212080"/>
            <a:ext cx="12191695" cy="4572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45775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Noto Sans CJK KR"/>
              </a:rPr>
              <a:t>테스트-타임 메모리 계열 — Titans에서 Sleep까지, 그리고 서빙 비용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66160"/>
            <a:ext cx="10545775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B8C4D4"/>
                </a:solidFill>
                <a:latin typeface="Noto Sans CJK KR"/>
              </a:rPr>
              <a:t>학습을 처음 보는 inference·systems 엔지니어를 위한 6편(Titans·Miras·Atlas·TNT·Nested Learning·Sleep) 해부 + 배포 비용 모델링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486400"/>
            <a:ext cx="10545775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8A9AAC"/>
                </a:solidFill>
                <a:latin typeface="Noto Sans CJK KR"/>
              </a:rPr>
              <a:t>이승호 (SAIT) · 2시간 발표 + 30분 Q&amp;A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목차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오늘 다룰 것 — 세 파트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98448"/>
            <a:ext cx="3657600" cy="5029200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98448"/>
            <a:ext cx="3657600" cy="749808"/>
          </a:xfrm>
          <a:prstGeom prst="round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Noto Sans CJK KR"/>
              </a:rPr>
              <a:t>A. Background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Noto Sans CJK KR"/>
              </a:rPr>
              <a:t>학습이 처음이라면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267712"/>
            <a:ext cx="3182112" cy="3931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A1. 학습 한 바퀴 (2-layer MLP)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forward→loss→backward→optimizer→update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A2. Optimizer의 역사 (수식)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계보 지도 → GD·SGD·Momentum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Adagrad·RMSProp·Adam·AdamW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A3. 대안 계열 (개념별 1장)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linear attention · DeltaNet · Gated DeltaNet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SSM · Mamba · Mamba-2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298448"/>
            <a:ext cx="3657600" cy="5029200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298448"/>
            <a:ext cx="3657600" cy="74980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Noto Sans CJK KR"/>
              </a:rPr>
              <a:t>B. 논문 6편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Noto Sans CJK KR"/>
              </a:rPr>
              <a:t>핵심 발명 → 논거 → 증명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3712" y="2267712"/>
            <a:ext cx="3182112" cy="3931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B1. Titans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test-time 신경망 메모리 · MAC/MAG/MAL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B2. Miras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4축 설계공간 (메모리=online 최적화)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B3. Atlas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Omega rule · 용량 확장 · Muon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B4. TNT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chunk 정렬 · global/local · serving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B5. Nested Learning / HOPE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optimizer=memory · self-mod · CMS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B6. Sleep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offline consolidation · Dreaming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298448"/>
            <a:ext cx="3566160" cy="5029200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298448"/>
            <a:ext cx="3566160" cy="749808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Noto Sans CJK KR"/>
              </a:rPr>
              <a:t>C. System modeling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Noto Sans CJK KR"/>
              </a:rPr>
              <a:t>우리 기여 — 서빙 비용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48471" y="2267712"/>
            <a:ext cx="3090672" cy="3931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C0. 방법론 (HATIR · HAT schema)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무엇으로 뽑았고 왜 신뢰할 수 있나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C1. pair thesis — decode=memory-bound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C2. 8개 가속기 크로스 측정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C3. HOPE-block roofline (H100 트윈)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C4. zHBM · HBM-PIM · SRAM scaling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C5. scaling 청사진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들어가기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이 세미나의 목적 · 범위 · 주의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11183112" cy="11430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2A6F97"/>
                </a:solidFill>
                <a:latin typeface="Noto Sans CJK KR"/>
              </a:rPr>
              <a:t>목적·방향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inference·systems 엔지니어가 test-time memory 계열(Titans~Sleep)을 shape·비용 수준으로 이해한다. 각 논문의 핵심 발명을 먼저 보고 → 어떻게 구현·증명되는지 → 논문 간 framing이 이어지는 흐름 → 마지막에 이 배포 형태가 서빙에서 얼마나 드는지(우리 기여).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97480"/>
            <a:ext cx="7315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1121F"/>
                </a:solidFill>
                <a:latin typeface="Noto Sans CJK KR"/>
              </a:rPr>
              <a:t>미리 알아둘 3가지 (읽는 규칙)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200400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1121F"/>
                </a:solidFill>
                <a:latin typeface="Noto Sans CJK KR"/>
              </a:rPr>
              <a:t>① 학습(pre-training)은 다루지 않는다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2252B"/>
                </a:solidFill>
                <a:latin typeface="Noto Sans CJK KR"/>
              </a:rPr>
              <a:t>Titans 기반 모델을 처음부터 훈련하는 과정은 범위 밖. 이 계열의 test-time 동작과 서빙에 집중한다. (Background의 학습 설명은 '무엇을 배우는가'를 읽기 위한 최소한.)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52544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1121F"/>
                </a:solidFill>
                <a:latin typeface="Noto Sans CJK KR"/>
              </a:rPr>
              <a:t>② 논문에 구체 수치가 빠진 곳이 많다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2252B"/>
                </a:solidFill>
                <a:latin typeface="Noto Sans CJK KR"/>
              </a:rPr>
              <a:t>모델 파라미터 shape·차원·학습 하이퍼 등 구체값이 명시 안 된 부분이 흔하다. 그림·설명에서 추론한 것은 '추론'으로, 본문에 있는 것은 '명시'로 구분해 표시한다.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504688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1121F"/>
                </a:solidFill>
                <a:latin typeface="Noto Sans CJK KR"/>
              </a:rPr>
              <a:t>③ 논문 1편만으론 불완전하다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2252B"/>
                </a:solidFill>
                <a:latin typeface="Noto Sans CJK KR"/>
              </a:rPr>
              <a:t>한 논문의 설명이 스스로 완결되지 않아, 다른 논문(특히 HOPE)을 같이 봐야 이해되는 부분이 많다. 예: Titans의 투영 분리는 HOPE에서야 명시된다. 그래서 6편을 하나의 흐름으로 읽는다.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Noto Sans CJK KR"/>
              </a:rPr>
              <a:t>PART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545775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Noto Sans CJK KR"/>
              </a:rPr>
              <a:t>Background — 학습이 처음이라면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A1 · 학습 한 바퀴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2-layer MLP + head: forward → loss → backward → optimizer → update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x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[B, d_in]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50592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h = W₁·x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[B, d_h]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8264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a = σ(h)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[B, d_h]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45936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o = W₂·a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[B, d_out]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93608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z = head(o)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logits [B, V]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41280" y="1417320"/>
            <a:ext cx="1371600" cy="7772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L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loss (scalar)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874519" y="1805940"/>
            <a:ext cx="576073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645919" y="1106424"/>
            <a:ext cx="103327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matmul W₁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822191" y="1805940"/>
            <a:ext cx="576073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593591" y="1106424"/>
            <a:ext cx="1033271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σ (GeLU)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69864" y="1805940"/>
            <a:ext cx="576072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541264" y="1106424"/>
            <a:ext cx="103327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matmul W₂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717536" y="1805940"/>
            <a:ext cx="576072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88936" y="1106424"/>
            <a:ext cx="1033271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head W_h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665208" y="1805940"/>
            <a:ext cx="576072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436608" y="1106424"/>
            <a:ext cx="1033271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L2 loss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914400"/>
            <a:ext cx="17373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A6F97"/>
                </a:solidFill>
                <a:latin typeface="Noto Sans CJK KR"/>
              </a:rPr>
              <a:t>① forward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3317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5A5F68"/>
                </a:solidFill>
                <a:latin typeface="Noto Sans CJK KR"/>
              </a:rPr>
              <a:t>batch B개 샘플 동시 처리 · loss는 B개 평균(또는 합)으로 누적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200400"/>
            <a:ext cx="11183112" cy="8229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② loss.backward() — autograd 역전파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출력 쪽 ∂L/∂z 부터 체인 룰로 거슬러 ∂L/∂W₂ → ∂L/∂a → ∂L/∂h → ∂L/∂W₁ 까지. 각 파라미터 W의 gradient g=∂L/∂W 를 구해 W.grad 에 채운다(순전파의 역순).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822960" y="2304288"/>
            <a:ext cx="10058400" cy="877824"/>
          </a:xfrm>
          <a:prstGeom prst="line">
            <a:avLst/>
          </a:prstGeom>
          <a:ln w="17780">
            <a:prstDash val="dash"/>
            <a:solidFill>
              <a:srgbClr val="C1121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02920" y="4187952"/>
            <a:ext cx="7040880" cy="157276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4261104"/>
            <a:ext cx="67665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③ optimizer.step() — AdamW (g를 받아 '얼마나·어느 방향' 결정)</a:t>
            </a:r>
          </a:p>
        </p:txBody>
      </p:sp>
      <p:pic>
        <p:nvPicPr>
          <p:cNvPr id="27" name="Picture 26" descr="8f4cf40be9f8a3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3343" y="4599432"/>
            <a:ext cx="2176913" cy="10515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257800" y="4645152"/>
            <a:ext cx="21945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5F68"/>
                </a:solidFill>
                <a:latin typeface="Noto Sans CJK KR"/>
              </a:rPr>
              <a:t>← 1차 모멘텀 = 방향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7800" y="4992624"/>
            <a:ext cx="21945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5F68"/>
                </a:solidFill>
                <a:latin typeface="Noto Sans CJK KR"/>
              </a:rPr>
              <a:t>← 2차 모멘텀 = 보폭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7800" y="5340096"/>
            <a:ext cx="21945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5F68"/>
                </a:solidFill>
                <a:latin typeface="Noto Sans CJK KR"/>
              </a:rPr>
              <a:t>← decoupled weight decay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0" y="4187952"/>
            <a:ext cx="3886200" cy="157276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④ W ← W + ΔW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W₁, W₂, head 를 갱신.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optimizer.zero_grad()로 g 비우고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다음 batch로 → 반복.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943600"/>
            <a:ext cx="11183112" cy="74980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핵심 한 문장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학습 = ①forward 예측 → ②backward로 gradient(어디가 틀렸나) → ③optimizer로 가공(m,v)해 갱신량 → ④weight 이동. 이 계열은 ②③④를 '추론 중에도' 돌린다.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A2 · Optimizer의 역사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한 장으로 보는 직관 지도</a:t>
            </a:r>
          </a:p>
        </p:txBody>
      </p:sp>
      <p:pic>
        <p:nvPicPr>
          <p:cNvPr id="5" name="Picture 4" descr="optimizer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367" y="1234440"/>
            <a:ext cx="9966960" cy="482774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6199632"/>
            <a:ext cx="11155680" cy="50292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파란 줄기 = '어느 방향으로'(관성)를 고치는 흐름 · 초록 줄기 = '얼마나(보폭)'를 고치는 흐름 → Adam이 둘을 합침. 다음 장부터 이 중 GD·SGD·Momentum·Adagrad·RMSProp·Adam·AdamW를 1페이지씩 수식과 함께.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A2 · GD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GD  ·  Gradient Descent (batch)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뿌리 — 가장 정확한 한 걸음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"모든 자료를 다 검토해서, 내 위치의 산 기울기를 계산해 갈 방향을 찾았다."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5fbcf593e3d630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429000"/>
            <a:ext cx="1691640" cy="655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990088" y="3401568"/>
            <a:ext cx="8165592" cy="71018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전체 N개 데이터의 평균 gradient</a:t>
            </a:r>
          </a:p>
        </p:txBody>
      </p:sp>
      <p:pic>
        <p:nvPicPr>
          <p:cNvPr id="11" name="Picture 10" descr="e4232876b35328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230624"/>
            <a:ext cx="1350264" cy="2042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648712" y="4203192"/>
            <a:ext cx="8506968" cy="259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η = learning rate (보폭)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손실을 가장 빨리 줄이는 방향(가장 가파른 내리막)을 데이터 전체로 정확히 계산한다.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한 스텝마다 데이터 N개를 전부 봐야 함 → 너무 느리다.  → SGD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A2 · SGD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SGD  ·  Stochastic Gradient Descent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파란 줄기 — 속도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"전부 다 봐야 한 걸음은 너무 오래 걸리니까, 조금만 보고 빨리 판단한다. 같은 시간에 더 많이 간다."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59adb2427c3a68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646932"/>
            <a:ext cx="1118616" cy="2194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417064" y="3619500"/>
            <a:ext cx="8738616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미니배치 B개만 사용 (|B| ≪ N)</a:t>
            </a:r>
          </a:p>
        </p:txBody>
      </p:sp>
      <p:pic>
        <p:nvPicPr>
          <p:cNvPr id="11" name="Picture 10" descr="e4232876b35328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012692"/>
            <a:ext cx="1350264" cy="20421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스텝당 비용이 급감 → 같은 시간에 훨씬 많은 스텝. gradient noise가 얕은 지역최소 탈출에도 도움.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gradient가 매 스텝 출렁여 지그재그. 방향도 보폭도 여전히 그대로.  → Momentum · Adagrad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A2 · Momentum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Momentum  ·  SGD with Momentum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파란 줄기 — '스텝 방향' 개선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"스텝을 계산해서 움직인 후, 아까 내려오던 관성 방향으로 또 가자."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58cc304237f131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671315"/>
            <a:ext cx="1365504" cy="1706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63952" y="3643884"/>
            <a:ext cx="8491728" cy="22555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μ≈0.9, 과거 방향의 관성(누적)</a:t>
            </a:r>
          </a:p>
        </p:txBody>
      </p:sp>
      <p:pic>
        <p:nvPicPr>
          <p:cNvPr id="11" name="Picture 10" descr="048f9f953b7decc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988307"/>
            <a:ext cx="1350264" cy="20421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일관된 방향은 누적 가속하고 출렁이는 성분은 상쇄 → 지그재그 완화, 좁은 골짜기를 빠르게 통과.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보폭(스케일)은 아직 모든 좌표가 동일. '좌표별 보폭'은 아래 초록 줄기(Adagrad→RMSProp)가 맡고, 뒤에서 Adam이 방향과 합친다.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A2 · Adagrad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Adagrad  ·  Adaptive Gradient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초록 줄기 — '스텝 사이즈' 개선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"안 가 본 곳은 성큼 빠르게 훑고, 많이 가 본 곳은 잘 가니까 갈수록 보폭을 줄여 세밀히 탐색."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f63d51081b10aff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509771"/>
            <a:ext cx="1353312" cy="2468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51760" y="3482340"/>
            <a:ext cx="8503920" cy="30175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좌표별 gradient² 누적</a:t>
            </a:r>
          </a:p>
        </p:txBody>
      </p:sp>
      <p:pic>
        <p:nvPicPr>
          <p:cNvPr id="11" name="Picture 10" descr="4a2f662dc5183da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902963"/>
            <a:ext cx="1965960" cy="4511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264408" y="3875531"/>
            <a:ext cx="7891272" cy="5059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좌표마다 다른 보폭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좌표마다 다른 learning rate — 드물게 큰 gradient(희소 feature)는 크게, 자주 큰 좌표는 작게.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G_t가 단조 증가 → 분모가 계속 커져 보폭이 0으로 죽는다(학습 정지).  → RMSProp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A2 · RMSProp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RMSProp  ·  Root Mean Square Propagation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초록 줄기 — EMA로 보완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"보폭을 줄이는 건 좋은데, (전부 누적하지 말고) 최근 맥락을 봐 가며 하자."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ba22d2d980d3a6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482340"/>
            <a:ext cx="2743200" cy="2468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041648" y="3454908"/>
            <a:ext cx="7114032" cy="30175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ρ≈0.9, 최근값 지수이동평균(EMA)</a:t>
            </a:r>
          </a:p>
        </p:txBody>
      </p:sp>
      <p:pic>
        <p:nvPicPr>
          <p:cNvPr id="11" name="Picture 10" descr="b73f5e009c6b9b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875532"/>
            <a:ext cx="2295144" cy="5059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93591" y="3848099"/>
            <a:ext cx="7562088" cy="5608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분모가 무한정 커지지 않음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합 대신 EMA → 분모가 무한정 커지지 않아 보폭이 죽지 않는다. 비정상(non-stationary) 목표에도 안정.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방향(momentum)은 아직 안 씀. 초기(0에서 시작) 편향 보정도 없다.  → Adam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A2 · Adam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Adam  ·  Adaptive Moment Estimation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두 줄기의 합류 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9A22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"RMSProp(보폭) + Momentum(방향)을 합치자 — 방향도 스텝 사이즈도 적절하게!"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ff00736dbc49d4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108960"/>
            <a:ext cx="1454967" cy="1936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53419" y="3081528"/>
            <a:ext cx="8402260" cy="248501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weight decay = L2 정규화를 gradient에 더함</a:t>
            </a:r>
          </a:p>
        </p:txBody>
      </p:sp>
      <p:pic>
        <p:nvPicPr>
          <p:cNvPr id="11" name="Picture 10" descr="772fa5ae67c583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448901"/>
            <a:ext cx="4136309" cy="21784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34763" y="3421469"/>
            <a:ext cx="5720916" cy="27270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방향 m · 보폭 v</a:t>
            </a:r>
          </a:p>
        </p:txBody>
      </p:sp>
      <p:pic>
        <p:nvPicPr>
          <p:cNvPr id="13" name="Picture 12" descr="e5eac3f6e4325aa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813048"/>
            <a:ext cx="1998231" cy="40072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296680" y="3785615"/>
            <a:ext cx="7858999" cy="45558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초기 0-편향 보정</a:t>
            </a:r>
          </a:p>
        </p:txBody>
      </p:sp>
      <p:pic>
        <p:nvPicPr>
          <p:cNvPr id="15" name="Picture 14" descr="7ca4e21dc098283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360074"/>
            <a:ext cx="1629782" cy="44644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928231" y="4332642"/>
            <a:ext cx="8227448" cy="50130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λθ가 m̂ 안에 섞여 1/√v̂로 스케일됨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방향(m) + 좌표별 보폭(v) + 편향 보정을 한 번에. 튜닝 거의 없이 잘 동작 → 사실상 표준. weight decay는 보통 L2로 적용(위 g_t).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그런데 λθ가 √v̂로 나뉘어 좌표마다 다르게 적용 = 왜곡. 이 항을 밖으로 빼면? → AdamW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A2 · AdamW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AdamW ★  ·  Adam with decoupled Weight decay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종착점 — 오늘의 표준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9A22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"weight decay(정규화)를 gradient에 섞지 말고, weight에서 '직접' 빼자 — 그래야 좌표마다 똑같이 적용된다."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87db521ebf20985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352800"/>
            <a:ext cx="3108960" cy="5059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07408" y="3325368"/>
            <a:ext cx="6748272" cy="5608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g=∇L+λθ → λθ가 √v̂에 얽힘 (왜곡)</a:t>
            </a:r>
          </a:p>
        </p:txBody>
      </p:sp>
      <p:pic>
        <p:nvPicPr>
          <p:cNvPr id="11" name="Picture 10" descr="5cf479cd14dde9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005072"/>
            <a:ext cx="3736848" cy="5059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35296" y="3977639"/>
            <a:ext cx="6120384" cy="5608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−ηλθ를 분리 → √v̂와 무관하게 일정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위 두 식의 차이 = 맨 끝 −ηλθ 항. AdamW는 decay를 adaptive 스케일(1/√v̂) 밖으로 빼 정규화가 좌표마다 일관 → 일반화↑. 오늘 LLM 표준.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여기까지가 '표준 optimizer'. 이 계열 논문은 이 optimizer 자체를 memory로 재해석한다(HOPE).  → Part B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A3 · 다른 접근들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왜 softmax attention을 벗어나나 — sequence를 '상태'로 압축하는 계열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5349240" cy="160020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softmax attention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• 문맥이 길수록 KV 캐시가 선형으로 증가(메모리 폭발)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• 토큰마다 전체를 다시 봄 → 계산 O(n²)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• 무엇을 '기억'할지 압축이 없다 — 전부 보관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89320" y="2167128"/>
            <a:ext cx="731520" cy="0"/>
          </a:xfrm>
          <a:prstGeom prst="line">
            <a:avLst/>
          </a:prstGeom>
          <a:ln w="2540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812280" y="1371600"/>
            <a:ext cx="4846320" cy="16002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고정 크기 '상태' S로 압축하는 RNN류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토큰마다 상태 S를 '어떤 규칙으로' 갱신하느냐가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계열을 가른다. 이 관점이 곧 Titans의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memory update(=test-time 학습)로 이어진다.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246120"/>
            <a:ext cx="36118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2A9D8F"/>
                </a:solidFill>
                <a:latin typeface="Noto Sans CJK KR"/>
              </a:rPr>
              <a:t>Linear Attention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S를 더하기만 (additive)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A5F68"/>
                </a:solidFill>
                <a:latin typeface="Noto Sans CJK KR"/>
              </a:rPr>
              <a:t>누적 간섭이 문제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3246120"/>
            <a:ext cx="36118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C9A227"/>
                </a:solidFill>
                <a:latin typeface="Noto Sans CJK KR"/>
              </a:rPr>
              <a:t>DeltaNet → Gated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delta rule로 덮어쓰기·수정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A5F68"/>
                </a:solidFill>
                <a:latin typeface="Noto Sans CJK KR"/>
              </a:rPr>
              <a:t>+ forget gate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3246120"/>
            <a:ext cx="36118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2A6F97"/>
                </a:solidFill>
                <a:latin typeface="Noto Sans CJK KR"/>
              </a:rPr>
              <a:t>SSM · Mamba-2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구조화된 선형 recurrence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A5F68"/>
                </a:solidFill>
                <a:latin typeface="Noto Sans CJK KR"/>
              </a:rPr>
              <a:t>선택적 상태 갱신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11183112" cy="1078992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공통 렌즈 — 다음 6개를 관통하는 한 문장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모두 "상태 S를 토큰마다 갱신하는 선형 recurrence"다. 규칙의 차이일 뿐 — 더하기(linear), 덮어쓰기(delta), 잊기(gated), 구조화(SSM). → Titans는 이 갱신을 '작은 신경망 메모리를 gradient로 학습'하는 것으로 승격시킨다(Part B).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053328"/>
            <a:ext cx="1118311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A5F68"/>
                </a:solidFill>
                <a:latin typeface="Noto Sans CJK KR"/>
              </a:rPr>
              <a:t>* delta rule: 현재 상태가 key로 조회했을 때 내놓는 값과 목표 value의 '예측오차'만큼만 상태를 고치는 규칙. 손실 ½‖S·k − v‖²에 대한 gradient step 한 번과 같다.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A3 · 대안 (1/6)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Linear Attention  ·  선형 어텐션 (Katharopoulos 2020)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softmax attention은 계산 O(n²)이고 KV 캐시가 문맥 길이에 비례해 커진다. 이를 고정 크기 상태의 O(n) 순환식으로 바꾸고 싶다.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f32f52eabe4101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54675"/>
            <a:ext cx="5486400" cy="3908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S_t : 상태 행렬 (d×d) = fast weights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φ(·) : 양수 feature map (커널)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k_t, v_t : key·value 벡터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q_t : query,  o_t : 출력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softmax의 '유사도 합'을 외적 φ(k)vᵀ의 누적으로 대체한다. 상태 S에 (key→value) 연상을 계속 더해, 고정 크기 상태로 무한 문맥을 요약.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시간 O(n)·메모리 O(1)(문맥 무관). 순환 형태라 디코드가 토큰당 상수 비용.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그냥 '더하기'만 한다 → 오래된·충돌하는 연상이 누적 간섭(crosstalk)하고 용량이 포화. (덮어쓰기가 없음)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A3 · 대안 (2/6)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DeltaNet  ·  델타넷 (Schlag/Yang, delta rule)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6F97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linear attention의 '무한 누적 간섭'을 줄이자. 이미 저장된 연상을 덮어쓰거나 오차만큼 고치자.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dbd43858e70560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877584"/>
            <a:ext cx="5486400" cy="54504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S_{t-1}k_t : 지금 상태가 k_t에 내놓는 값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(S_{t-1}k_t − v_t) : 예측오차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β_t : 쓰기 강도(0~1) = learning rate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k_t kᵀ : 그 key 방향에만 갱신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key k_t로 조회한 값을 목표 v_t에 가깝게 '오차만큼' 수정. 이는 손실 ½‖S·k_t − v_t‖²에 대한 gradient step 한 번(β=학습률)과 정확히 같다.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기존 연상을 덮어써 간섭↓ → 같은 용량으로 더 정확한 회상.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오래된 기억을 '잊는' 장치가 없어 용량이 결국 포화한다. (forget이 없음)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A3 · 대안 (3/6)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Gated DeltaNet  ·  게이트 델타넷 (+forget)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DeltaNet엔 망각이 없어 용량이 포화한다. 오래된 기억을 서서히 감쇠(잊기)하자.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08ba6da12076b3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898463"/>
            <a:ext cx="5486400" cy="5032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α_t : forget gate (0~1, 데이터 의존)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α_t·S_{t-1} : 상태 전체를 감쇠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β_t, k_t : DeltaNet과 동일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(S k − v) : 예측오차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매 스텝 상태를 α_t배로 감쇠(오래된 기억 소거)한 뒤 delta rule로 새 정보를 기입. = decay(정규화)가 붙은 online gradient step.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유한 용량을 재활용 → 긴 문맥에서도 안정, 최신 정보 반영.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갱신 규칙(무엇을·얼마나·잊을지)이 여전히 '고정된 손실·고정 학습률'. 규칙 자체를 학습하지는 못한다.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A3 · 대안 (4/6)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SSM (S4)  ·  상태공간 모델 (Structured State Space)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RNN은 순차적·불안정하고 attention은 O(n²). 긴 의존성을 '구조화된 선형 recurrence'로 안정적·병렬적으로 다루자.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3ea98614353b758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62753"/>
            <a:ext cx="5486400" cy="3747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h_t : 은닉 상태 (N차원)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A : 상태전이 (HiPPO 등으로 구조화)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B : 입력→상태,  C : 상태→출력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x_t 입력,  y_t 출력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입력을 구조화된 선형 시스템의 상태에 누적. A의 구조(HiPPO)가 과거를 잘 요약하도록 설계돼, convolution으로 병렬 학습·recurrence로 O(1) 디코드.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긴 의존성을 안정적으로 포착, 선형 시간, 병렬 학습 가능.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A,B,C가 입력과 무관(시간 불변) → 내용에 따라 '무엇을 기억할지' 선택하지 못한다.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A3 · 대안 (5/6)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Mamba (S6)  ·  선택적 SSM (Selective State Space)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6F97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SSM의 A,B,C가 고정이라 내용 선택이 안 된다. 상태 갱신을 입력에 따라 '선택적'으로 만들자.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bc4b9638142234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64883"/>
            <a:ext cx="5486400" cy="37044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Δ_t : 입력 의존 시간간격 = 게이트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B_t, C_t : 입력 의존 투영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Ā_t : 이산화된 상태전이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f(·) : 작은 투영망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토큰마다 '얼마나 상태를 갱신·유지할지'를 입력이 정한다(selective). 중요한 토큰은 크게 반영, 무의미하면 건너뜀. hardware-aware 스캔으로 병렬.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내용 기반 선택 → Transformer급 품질 + 선형 시간, 초장문 처리.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여전히 상태 갱신이 '고정된 선형식 + 선택 게이트'. 메모리를 gradient로 '학습'하지는 않는다.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A3 · 대안 (6/6)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Mamba-2 (SSD)  ·  State-Space Duality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attention과 SSM이 따로 논다. 둘을 이론으로 잇고(duality), 텐서코어로 더 빠르게 만들자.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59e0e86d52df35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82906"/>
            <a:ext cx="5486400" cy="3344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L : 하삼각 마스크 (decay 구조)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C Bᵀ : attention 유사 행렬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∘ : 원소곱(Hadamard)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X 입력,  Y 출력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SSM의 순환식이 '마스킹된 attention'과 수학적으로 등가(duality)임을 보인다 → 훨씬 큰 상태를 텐서코어 친화적으로 빠르게 구현.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attention의 표현력 + SSM의 선형성. 큰 상태를 고속 처리.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여전히 '고정 규칙'의 선형 recurrence. "sequence layer = 상태 갱신 규칙" 관점만 확립 — 규칙을 학습으로 승격하는 건 Titans~HOPE의 몫.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Noto Sans CJK KR"/>
              </a:rPr>
              <a:t>PART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545775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Noto Sans CJK KR"/>
              </a:rPr>
              <a:t>논문 6편 — 핵심 발명 먼저, 그다음 어떻게 증명했나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(2501.00663)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Titans — test-time에 학습되는 신경망 메모리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문맥을 KV에 쌓지 말고, test-time에 '학습되는' deep neural memory(작은 MLP)에 압축한다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attention의 O(n²)·KV 폭발 대신, 고정 크기 신경망이 무엇을 기억할지 스스로 학습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무엇을·얼마나 기억할지 = surprise(gradient) + momentum(과거 surprise) + forgetting(decay)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예측이 놀라운(=gradient 큰) 토큰을 더 기억, 관성으로 이어가고, 오래된 건 잊는다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메모리를 아키텍처에 꽂는 3가지 방식: MAC · MAG · MAL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persistent(작업기억) + core(attention) + contextual(장기 메모리)의 결합 방식 차이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linear/KV의 용량·간섭 한계 → 메모리를 '학습되는 MLP'로 → 무엇을 배우나=k→v 연상(‖M(k)−v‖²) → 얼마나=surprise+momentum+forget → 병렬화=momentum을 associative scan으로 → 어디에 꽂나=MAC/MAG/MAL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언어모델링 perplexity · NIAH(needle) · BABILong(초장문 추론)에서 baseline 상회, 메모리 깊을수록 개선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효율이 절실한 바로 그 자리(긴 문맥)에서 품질이 무너진다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attention (정확하지만 비쌈)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토큰마다 과거 전체를 다시 본다 → 계산 O(n²), KV 캐시가 길이에 비례해 증가. 무한정 길게는 불가능.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10515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linear recurrent (싸지만 압축)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Mamba·DeltaNet: 길이에 비례하는 싼 비용. 그러나 과거 전체를 '고정 크기 state 하나'에 눌러 담는다.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450592"/>
            <a:ext cx="11183112" cy="658368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근본 모순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싼 비용이 가장 절실한 구간 = 아주 긴 문맥. 그런데 긴 문맥일수록 작은 state에 제대로 안 담긴다 → 효율이 필요한 자리에서 품질이 무너지도록 설계돼 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246120"/>
            <a:ext cx="5486400" cy="20574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직전 시도 TTT의 3가지 결핍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state를 작은 모델 weights로 보고 gradient로 갱신 — LM 스케일에서 처음 작동. 그러나: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① 지우기가 없다 (순수 SGD → write만 무한 누적 → 포화)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② optimizer가 기억을 못 한다 (토큰마다 자기 gradient 하나만 반영)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③ deep memory의 이득을 실험으로 답하지 않았다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3246120"/>
            <a:ext cx="5486400" cy="20574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다른 한쪽 — DeltaNet 계열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memory를 matrix로 묶어 '정확한 병렬 학습 공식'을 얻음. Gated DeltaNet은 forget gate까지 추가.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그러나 딜레마: '표현력 있는 갱신 규칙 + 깊은 비선형 memory'와 '병렬 학습 가능성'이 양립 불가처럼 보였다.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→ 그 가운데가 비어 있었다.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440680"/>
            <a:ext cx="11183112" cy="7772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Titans의 자리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표현력(깊은 비선형 memory + 똑똑한 갱신 규칙)과 병렬 학습 가능성을 동시에 — 그 '빈 가운데'를 채운다.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아이디어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memory = 작은 신경망의 weights, 그 weights가 recurrent state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74980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관점: 모든 sequence 모델을 세 요소로 분해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memory 구조 · write(갱신) 연산 · read(검색) 연산. 질문: test-time에 memory를 gradient로 갱신하고 그 규칙을 잘 설계하면 고정 state의 한계를 넘을 수 있지 않을까?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39696"/>
            <a:ext cx="5486400" cy="13716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memory가 푸는 문제 = associative memory regression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작은 MLP(long-term memory module, LMM)의 weights = state.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토큰을 key/value로 투영하고, memory가 key를 넣으면 value를 재생하도록 학습:</a:t>
            </a:r>
          </a:p>
        </p:txBody>
      </p:sp>
      <p:pic>
        <p:nvPicPr>
          <p:cNvPr id="7" name="Picture 6" descr="55726861afe015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459344"/>
            <a:ext cx="5120640" cy="56771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3621024"/>
            <a:ext cx="5486400" cy="16002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결정적 구분 — 두 층위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key/value/query 투영 weights = inner 문제의 hyperparameter.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→ inference 중엔 절대 안 움직이고 pre-training 값으로 고정.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실제로 매 토큰 움직이는 건 memory의 weights뿐이다.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3621024"/>
            <a:ext cx="5486400" cy="16002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무엇을 얼마나 세게 외울까 = surprise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지금 토큰이 이미 저장된 내용을 얼마나 '위반'하는가.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= 손실의 gradient 크기.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gradient가 클수록 새롭고 예상 밖 → 더 세게 외운다.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30952"/>
            <a:ext cx="11183112" cy="8686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왜 이게 새로운가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고정 state(벡터/행렬)를 '학습되는 신경망'으로 바꾸고, 무엇을 기억할지를 '손실의 gradient'가 정하게 했다. 뒤 논문들이 이 손실·규칙·구조를 각각 일반화한다.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방법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write 연산 = 'momentum + weight decay가 붙은 gradient descent 한 스텝'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98448"/>
            <a:ext cx="672084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62179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master update (η, θ, α는 상수가 아니라 토큰마다 학습된 gate)</a:t>
            </a:r>
          </a:p>
        </p:txBody>
      </p:sp>
      <p:pic>
        <p:nvPicPr>
          <p:cNvPr id="7" name="Picture 6" descr="e5eeb7497c9cee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01368"/>
            <a:ext cx="153314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2066543"/>
            <a:ext cx="6309360" cy="23774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① surprise = 지금 토큰의 gradient (놀라움)</a:t>
            </a:r>
          </a:p>
        </p:txBody>
      </p:sp>
      <p:pic>
        <p:nvPicPr>
          <p:cNvPr id="9" name="Picture 8" descr="c5778c2857fd7f2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374392"/>
            <a:ext cx="1420368" cy="17068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" y="2633472"/>
            <a:ext cx="6309360" cy="23774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② momentum = 과거 surprise 누적(놀란 직후도 기억)</a:t>
            </a:r>
          </a:p>
        </p:txBody>
      </p:sp>
      <p:pic>
        <p:nvPicPr>
          <p:cNvPr id="11" name="Picture 10" descr="c22d97b758dfe2f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2935224"/>
            <a:ext cx="1862328" cy="18287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2960" y="3200400"/>
            <a:ext cx="6309360" cy="23774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③ weight decay = α로 오래된 기억 감쇠(잊기)</a:t>
            </a:r>
          </a:p>
        </p:txBody>
      </p:sp>
      <p:pic>
        <p:nvPicPr>
          <p:cNvPr id="13" name="Picture 12" descr="bc4c2ed2a3e7a44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3502152"/>
            <a:ext cx="853440" cy="18287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2960" y="3767328"/>
            <a:ext cx="6309360" cy="23774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read = query q_t를 갱신된 memory에 통과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1298448"/>
            <a:ext cx="4279392" cy="13258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왜 momentum인가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큰 surprise 직후엔 손실이 이미 낮아 gradient가 급감 → 이어지는 중요한 토큰이 약하게 저장됨. 과거 surprise를 buffer에 누적해 '놀란 시간대 전체'를 기억.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06640" y="2715768"/>
            <a:ext cx="4279392" cy="13716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왜 weight decay인가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수백만 토큰을 다루면 깊은 memory도 포화. α_t배만 남겨 잊는다. 이는 Mamba-2·GLA·Gated DeltaNet의 gate를 '임의의 깊은 memory'로 일반화한 것.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206240"/>
            <a:ext cx="11183112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첫 번째 발명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optimizer의 내부 state(momentum buffer S_t)를 sequence 레이어의 recurrent state로 '승격'시켰다. ablation 기여도: weight decay &gt; momentum.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983480"/>
            <a:ext cx="11183112" cy="1216152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A2와의 정확한 대응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이 세 식은 A2의 'momentum + weight decay가 붙은 gradient descent'와 글자 그대로 같은 모양이다.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다만 대상이 '모델 파라미터'가 아니라 '추론 중 memory M'이다 — 학습(training)의 도구를 추론(inference) 안으로 가져왔다.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outer vs inner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그 gate들은 대체 누가 학습하나? — 두 개의 loop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21488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바깥 loop = 평범한 pre-training (딱 한 번, 배포 후 동결)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학습 대상: key/value/query 투영, gate를 뱉는 head, persistent token, attention 블록, 그리고 memory의 '초기 상태'.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도구: AdamW · 대량 데이터.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→ 이 전부가 배포 뒤엔 고정(frozen).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21488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안쪽 loop = memory weights 갱신 (매 토큰, inference 중에도)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sequence마다 진화하는 텐서는 딱 둘: memory weights W_t 와 momentum buffer S_t.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나머지는 전부 동결.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→ 매 토큰 memory를 고쳐 쓴다.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566160"/>
            <a:ext cx="11183112" cy="9601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가장 중요한 사실 — outer gradient가 unroll된 inner update를 '관통'한다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key 투영을 조금 바꾸면 → 매 토큰 inner gradient가 바뀌고 → memory 궤적 전체가 바뀌어 → 최종 손실이 바뀐다. 그 연쇄 전체의 gradient가 투영을 학습시킨다. (= 'optimizer를 미분한다')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617720"/>
            <a:ext cx="11183112" cy="74980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gate에 대한 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η·β·α의 '값'은 inference 중 매 토큰 새로 계산되지만, 그 값을 만드는 '함수'는 pre-training에서만 학습되고 이후 동결. 학습은 함수를 만들고, inference는 그 함수로 memory를 고쳐 쓴다.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440680"/>
            <a:ext cx="11183112" cy="7772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그 결과 — decode의 정의가 바뀐다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더는 'read-only forward + KV append'가 아니라 forward + backward(gradient) + optimizer step + read. backward가 decode 안으로 들어온다. (→ Part C에서 이 비용을 잰다.)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병렬화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매 토큰 순차 gradient는 가속기 최악 → chunkwise로 GEMM화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054662"/>
            <a:ext cx="5605272" cy="146851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91238"/>
            <a:ext cx="5532120" cy="139536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4281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1 — chunk 안은 병렬, chunk 경계만 비선형 재진입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2501.00663 Fig.1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371600"/>
            <a:ext cx="5486400" cy="13716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핵심 트릭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sequence를 크기 C의 chunk로 자르고, chunk 안 모든 gradient를 'chunk 시작 시점의 동결된 weights'에서 한꺼번에 평가 → C개를 동시에 = GEMM 2개. C가 write GEMM의 내적 차원 = arithmetic intensity의 손잡이.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2834640"/>
            <a:ext cx="5486400" cy="18288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세 조각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• chunk 안 갱신은 linear → cumsum, 경계 재진입은 nonlinear → gradient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• momentum buffer = 1차 선형 recurrence → Mamba의 selective scan과 같은 모양 → parallel scan(log-depth)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• weight decay = 누적 곱을 대각으로 접은 matmul로 흡수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800600"/>
            <a:ext cx="11183112" cy="9144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핵심 협상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chunk 안은 linear라서 병렬, chunk 사이는 nonlinear라서 표현력. 순차 임계경로가 L이 아니라 L/C번의 MLP 적용으로 줄고, 그 비선형 경계가 표현력의 근거. (DeltaNet이 closed-form 위해 전부 linear로 남은 것과 의도적으로 다른 선택.)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합성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attention(정밀 단기) + LMM(서서히 잊는 장기)을 합치는 3가지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766852"/>
            <a:ext cx="5605272" cy="195269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03428"/>
            <a:ext cx="5532120" cy="187954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2 — MAC: 검색한 과거를 현재 앞에 붙여 attention이 함께 봄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2501.00663 Fig.2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371600"/>
            <a:ext cx="5486400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MAC (Memory as Context) — 가장 강함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contextual 갈래가 과거를 검색해 현재 입력 앞에 붙이고, attention이 '검색된 역사 + 현재'를 함께 본다 → 장기 정보 필요 여부를 토큰 단위로 판단. attention이 write filter 역할.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2697480"/>
            <a:ext cx="5486400" cy="10058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MAG · MAL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MAG: sliding-window attention과 LMM을 병렬로 돌려 gate로 섞음. MAL: LMM을 attention 앞 레이어로 직렬 — 논문이 '가장 약함'이라 명시(파이프라인 힘이 각 단으로 상한).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3794760"/>
            <a:ext cx="5486400" cy="8686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숨은 한 방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H3 이래 대부분의 기존 hybrid(Samba·Griffin)가 사실상 MAL 모양 → 'MAC/MAG &gt; MAL' 결과는 hybrid 설계 관행 자체에 대한 기소장.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54880"/>
            <a:ext cx="5486400" cy="96012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세 갈래 (공통)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persistent(입력 독립·동결 작업기억) + core(단기 attention·ICL) + long-term memory(위 식으로 test-time 학습).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754880"/>
            <a:ext cx="5486400" cy="96012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test-time 역할 분담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memory = 여전히 학습 중 · attention = in-context learning · persistent = 고정. (그림의 눈송이 = 동결.)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MAC 블록의 chunk-C 병렬 계산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forward+backward를 gate out까지 · shape 명시 (선형 메모리 기준)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1183112" cy="40233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A5F68"/>
                </a:solidFill>
                <a:latin typeface="Noto Sans CJK KR"/>
              </a:rPr>
              <a:t>shape: X∈ℝ^{C×d}(청크 C토큰) · W_Q,W_K,W_V∈ℝ^{d×d} · 메모리 M^{(t)}∈ℝ^{d×d}(청크 시작, frozen) · persistent P∈ℝ^{N_p×d} · gate w_η,w_α,w_θ∈ℝ^{d}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81328"/>
            <a:ext cx="384048" cy="384048"/>
          </a:xfrm>
          <a:prstGeom prst="round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①</a:t>
            </a:r>
          </a:p>
        </p:txBody>
      </p:sp>
      <p:pic>
        <p:nvPicPr>
          <p:cNvPr id="7" name="Picture 6" descr="2d116c67ff024f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566672"/>
            <a:ext cx="5032248" cy="1950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098280" y="1463040"/>
            <a:ext cx="2606040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6F97"/>
                </a:solidFill>
                <a:latin typeface="Noto Sans CJK KR"/>
              </a:rPr>
              <a:t>병렬 GEMM — gate 산출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56816"/>
            <a:ext cx="384048" cy="384048"/>
          </a:xfrm>
          <a:prstGeom prst="round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②</a:t>
            </a:r>
          </a:p>
        </p:txBody>
      </p:sp>
      <p:pic>
        <p:nvPicPr>
          <p:cNvPr id="10" name="Picture 9" descr="f499130aa94003a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045208"/>
            <a:ext cx="2825496" cy="1889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98280" y="1938528"/>
            <a:ext cx="2606040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6F97"/>
                </a:solidFill>
                <a:latin typeface="Noto Sans CJK KR"/>
              </a:rPr>
              <a:t>병렬 (read)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432304"/>
            <a:ext cx="384048" cy="384048"/>
          </a:xfrm>
          <a:prstGeom prst="round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③</a:t>
            </a:r>
          </a:p>
        </p:txBody>
      </p:sp>
      <p:pic>
        <p:nvPicPr>
          <p:cNvPr id="13" name="Picture 12" descr="29578cd9263515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2510028"/>
            <a:ext cx="3764279" cy="21031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098280" y="2414016"/>
            <a:ext cx="2606040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6F97"/>
                </a:solidFill>
                <a:latin typeface="Noto Sans CJK KR"/>
              </a:rPr>
              <a:t>병렬 (attention)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907792"/>
            <a:ext cx="384048" cy="38404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④</a:t>
            </a:r>
          </a:p>
        </p:txBody>
      </p:sp>
      <p:pic>
        <p:nvPicPr>
          <p:cNvPr id="16" name="Picture 15" descr="775c312045c3f52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2996184"/>
            <a:ext cx="3959352" cy="18897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098280" y="2889504"/>
            <a:ext cx="2606040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9D8F"/>
                </a:solidFill>
                <a:latin typeface="Noto Sans CJK KR"/>
              </a:rPr>
              <a:t>병렬 — 예측오차 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383280"/>
            <a:ext cx="384048" cy="384048"/>
          </a:xfrm>
          <a:prstGeom prst="roundRect">
            <a:avLst/>
          </a:prstGeom>
          <a:solidFill>
            <a:srgbClr val="C1121F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⑤</a:t>
            </a:r>
          </a:p>
        </p:txBody>
      </p:sp>
      <p:pic>
        <p:nvPicPr>
          <p:cNvPr id="19" name="Picture 18" descr="75a36dda47f06e4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1560" y="3465576"/>
            <a:ext cx="3858768" cy="20116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098280" y="3364992"/>
            <a:ext cx="2606040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C1121F"/>
                </a:solidFill>
                <a:latin typeface="Noto Sans CJK KR"/>
              </a:rPr>
              <a:t>= backward, GEMM 1회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858768"/>
            <a:ext cx="384048" cy="384048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⑥</a:t>
            </a:r>
          </a:p>
        </p:txBody>
      </p:sp>
      <p:pic>
        <p:nvPicPr>
          <p:cNvPr id="22" name="Picture 21" descr="d8d1ff4e2900cde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1560" y="3953256"/>
            <a:ext cx="4187952" cy="17678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098280" y="3840480"/>
            <a:ext cx="2606040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C9A227"/>
                </a:solidFill>
                <a:latin typeface="Noto Sans CJK KR"/>
              </a:rPr>
              <a:t>순차 임계경로 (scan)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334256"/>
            <a:ext cx="384048" cy="38404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⑦</a:t>
            </a:r>
          </a:p>
        </p:txBody>
      </p:sp>
      <p:pic>
        <p:nvPicPr>
          <p:cNvPr id="25" name="Picture 24" descr="9d9fcf6669f8443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1560" y="4367784"/>
            <a:ext cx="4175760" cy="29870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098280" y="4315968"/>
            <a:ext cx="2606040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9D8F"/>
                </a:solidFill>
                <a:latin typeface="Noto Sans CJK KR"/>
              </a:rPr>
              <a:t>cumprod→matmul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809744"/>
            <a:ext cx="384048" cy="384048"/>
          </a:xfrm>
          <a:prstGeom prst="round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⑧</a:t>
            </a:r>
          </a:p>
        </p:txBody>
      </p:sp>
      <p:pic>
        <p:nvPicPr>
          <p:cNvPr id="28" name="Picture 27" descr="78576496bb5e244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1560" y="4887468"/>
            <a:ext cx="2785872" cy="21031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098280" y="4791456"/>
            <a:ext cx="2606040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6F97"/>
                </a:solidFill>
                <a:latin typeface="Noto Sans CJK KR"/>
              </a:rPr>
              <a:t>병렬 — 최종 출력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358384"/>
            <a:ext cx="11183112" cy="932688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핵심 — 왜 '동시에' 되나 (backward의 병렬화)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C개 토큰의 gradient(⑤)를 모두 '같은 chunk-start 메모리 M^{(t)}'에서 평가하므로 순차 backprop이 아니라 GEMM 1회(G=(θ⊙E)ᵀK̂)로 병렬화. 유일한 순차 임계경로는 ⑥ momentum scan(깊이 log C). deep(MLP) 메모리도 골격 동일 — 각 층 gradient를 chunk 시작 가중치에서 batched backprop. (선형 메모리 기준 shape 전개 — 원논문 Fig.1 chunkwise 병렬화의 shape화, 일부 추론.)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state가 길이에 무관하게 일정 → 초장문에서 훨씬 큰 모델을 이긴다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1461701" y="1335024"/>
            <a:ext cx="3614557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8277" y="1371600"/>
            <a:ext cx="3541405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6 — BABILong: MAC가 GPT-4·Mamba 2.8B·RWKV 7B를 앞섬(적은 파라미터로)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2501.00663 Fig.6</a:t>
            </a:r>
          </a:p>
        </p:txBody>
      </p:sp>
      <p:sp>
        <p:nvSpPr>
          <p:cNvPr id="8" name="Rectangle 7"/>
          <p:cNvSpPr/>
          <p:nvPr/>
        </p:nvSpPr>
        <p:spPr>
          <a:xfrm>
            <a:off x="6227064" y="2024096"/>
            <a:ext cx="5468112" cy="1438207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060672"/>
            <a:ext cx="5394960" cy="136505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151376"/>
            <a:ext cx="53949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7 — 메모리 깊이(1→4층)↑ → 모든 길이에서 perplexity↓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2501.00663 Fig.7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09160"/>
            <a:ext cx="11183112" cy="100584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읽는 법 (정직성: 방향·비율 위주)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• S-NIAH: Titans는 2K~16K 전 구간 높은 정확도. Mamba-2는 긴 구간 붕괴(얕은 state), DeltaNet은 과제별 붕괴(forget 없음), TTT는 처짐(retention gate 없음) — 세 성분이 각 경쟁자를 이긴 이유와 일치.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• fine-tuning BABILong: 작은 MAC가 파라미터 ~70배인 Llama3.1-8B/70B·Qwen2.5-72B를 넘어 2M 토큰 너머까지 유지. (비통제 비교라 인과는 ablation 범위에서만 주장.)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한계 &amp; 다음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point design이 분해되어 좌표계가 된다 → Miras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32461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정직한 한계 5가지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① point design — 왜 하필 제곱오차 손실? 왜 SGD+momentum+decay? 논거 없음.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② 미명시 세부 — gate 함수형·memory 폭·chunk 크기(v1 부재).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③ 근사 비용 미측정 — chunk 안 gradient는 stale, chunk sweep 없음. train(chunk)/serve(토큰) 불일치 제기조차 안 됨 (→ TNT의 출발점).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④ 표현력 정리에 증명 없음.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⑤ 증거가 전부 ≤760M·4K 훈련길이. decode wall-clock 수치는 전무(→ Part C).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155448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시스템 관점 핵심 교환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A9D8F"/>
                </a:solidFill>
                <a:latin typeface="Noto Sans CJK KR"/>
              </a:rPr>
              <a:t>state가 길이에 무관하게 일정 (memory weights + momentum buffer = 고정 크기).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KV cache는 길이에 비례 → 2M 토큰 능력이 정확히 이 교환 위에 섬. 대가: momentum이 state 2배, decode가 read-modify-write.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2926080"/>
            <a:ext cx="5486400" cy="16002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다음으로의 연결 — Miras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Appendix C가 Gated DeltaNet·Longhorn·RWKV-7·TTT를 전부 자기 update의 특수 사례로 '회수'.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momentum 끄면 Gated DeltaNet, forget+momentum 끄면 TTT …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C9A227"/>
                </a:solidFill>
                <a:latin typeface="Noto Sans CJK KR"/>
              </a:rPr>
              <a:t>→ 계보 전체가 '하나의 설계 공간의 점들'. 그 좌표축을 명명한 것이 Miras.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663440"/>
            <a:ext cx="11183112" cy="10515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한 줄 요약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Titans = memory를 weights로 보고, surprise를 gradient로 정의, momentum으로 시간 흐름, weight decay로 잊기, 깊은 MLP에 넣고도 chunkwise로 병렬 학습. 남은 질문(왜 이 손실? 왜 이 규칙?)이 Miras·Atlas·HOPE로 이어진다.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개념 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여기서 얻을 핵심 개념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test-time memorization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추론 중에도 gradient로 메모리를 계속 학습(학습 도구를 추론 안으로).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25880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neural memory (LMM)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메모리 = 작은 MLP의 weights, 그 weights가 곧 recurrent state.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00884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surprise = gradient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지금 토큰이 얼마나 놀라운가 = 손실의 gradient 크기 → 클수록 세게 저장.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500884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momentum = surprise memory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과거 surprise 누적. optimizer 내부 state를 sequence의 recurrent state로 승격.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675888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forgetting / weight decay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α로 오래된 기억 감쇠. Mamba-2·GDN의 gate를 깊은 memory로 일반화.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675888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outer vs inner loop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gate '함수'는 pre-training에서 고정, '값'은 추론 중 매 토큰. decode=fwd+bwd+update+read.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50892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chunkwise 병렬화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chunk 안 gradient를 chunk-start 가중치에서 동시 평가 → GEMM/scan. C=arithmetic intensity.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850892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MAC/MAG/MAL · 일정 state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메모리를 아키텍처에 꽂는 3방식. state는 문맥 길이와 무관하게 일정(vs KV cache).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989320"/>
            <a:ext cx="11183112" cy="56692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한 문장으로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메모리를 weights로 보고 surprise(gradient)+momentum+forget으로 test-time에 학습 — 깊은 MLP인데도 chunkwise로 병렬화.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(2504.13173)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Miras — 메모리는 하나의 online 최적화; 4축 설계공간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sequence layer = 하나의 online 최적화 문제로 통일해 볼 수 있다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Titans·DeltaNet·linear attention 등은 모두 '어떤 목적을 어떤 규칙으로 최소화하나'의 특수해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설계는 4개의 축으로 분해된다: attentional bias · retention · architecture · algorithm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① 무엇을 기억(손실) ② 무엇을 잊기(retention) ③ 메모리 구조 ④ 갱신 알고리즘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이 축에서 새 인스턴스를 만든다: Moneta · Yaad · Memora (FTRL·Learning-Retaining)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발명이라기보다 '설계 공간의 존재 증명 + 각 축의 효과를 실험으로 확인'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 재해석(surprise=attentional bias, forget=retention) → 축을 일반화 → 손실을 L2에서 Lp/robust로, retention을 다양하게 → 새 조합 Moneta/Yaad/Memora → 축별 ablation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모델 크기·문맥 길이 스케일링(Fig.3), 손실차수 p·retention q의 효과(Fig.4)로 각 축이 실제로 성능을 가른다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문제와 두 관찰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Titans는 한 점만 찍고 끝났다 — 왜 L2? 왜 momentum? forgetting이 맞나?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문제 — 특수 사례는 보였는데 '일반형의 좌표축'이 공백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Titans는 존재 증명이었지만 3가지에 답하지 않았다: ① 왜 L2 loss(내부 목적함수)?  ② 왜 momentum·weight decay(딥러닝 관행을 그냥 이식)?  ③ forgetting이 옳은 개념인가?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Titans 스스로 'L2 너머의 목적함수'와 '더 나은 optimizer'를 open problem으로 남겼다.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68880"/>
            <a:ext cx="5486400" cy="19659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관찰 1 — 전부 associative memory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거의 모든 시퀀스 모델 = key를 넣으면 value를 돌려주는 연상 메모리.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내부 목적함수는 단 2종뿐이었다: dot-product 유사도 / L2 regression.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이 내부 loss를 attentional bias로 명명 = '이 메모리가 무엇을 우선해서 기억하는가'.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2468880"/>
            <a:ext cx="5486400" cy="19659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관찰 2 — forgetting은 없다, retention만 있다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기존 forget gate = 전부 L2 정규화의 특수형.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하는 일은 '지우기'가 아니라 '새것 배우기 vs 이전 상태 머무르기'의 저울질 — 모델은 유지하지 않기로 결정할 뿐.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9A227"/>
                </a:solidFill>
                <a:latin typeface="Noto Sans CJK KR"/>
              </a:rPr>
              <a:t>→ forget gate를 retention gate로 개명.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572000"/>
            <a:ext cx="11183112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→ 이어지는 결론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이 두 관찰을 밀고 나가면 시퀀스 모델 설계가 4개의 독립적 축으로 분해된다. '시퀀스 모델 = 무언가를 최소화하는 연상 메모리'.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4축 설계공간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메모리를 4개의 독립적 '선택'으로 분해 — retention이 결정적 레버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702090"/>
            <a:ext cx="5193792" cy="2722299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8666"/>
            <a:ext cx="5120640" cy="26491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791456"/>
            <a:ext cx="512064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1 — 매 token 최소화되는 안쪽 목적 = attentional bias + retention, GD로 푼다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2504.13173 Fig.1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1417320"/>
            <a:ext cx="5715000" cy="89611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① Memory architecture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메모리 구조 — vector · matrix · deep MLP.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2404872"/>
            <a:ext cx="5715000" cy="89611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② Attentional bias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무엇을 우선해 기억? = 내부 목적함수 L. dot-product·L2·Lp·robust.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3392424"/>
            <a:ext cx="5715000" cy="89611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③ Retention gate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새것 배우기 vs 옛것 유지의 균형. long-context를 좌우하는 결정적 레버.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4379976"/>
            <a:ext cx="5715000" cy="89611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④ Memory learning algorithm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그 목적을 어떻게 푸나 — GD·momentum·Newton·closed-form.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440680"/>
            <a:ext cx="11183112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의의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Titans를 특수점으로 품는 지도. '무엇을 바꾸면 무엇이 좋아지나'를 조직적으로 탐색 가능하게 했다. 이후 모든 논문이 이 어휘로 자기 위치를 설명한다.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전부가 이 공간의 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attentional bias 하나만 바꿔도 기존 모델들이 재유도된다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155448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bias = dot-product  → '덧쓰기'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'비슷한 key에 비례해 크게 써라' → 순수하게 더하기만 하는 write.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= linear attention · RetNet · Mamba-2 (옛 Hebbian 덧쓰기).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155448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bias = L2 regression  → '고쳐쓰기'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'이미 있던 걸 고쳐 써라' → 예측오차만큼 수정.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= DeltaNet · Gated DeltaNet · RWKV-7. (A3의 '덧쓰기→고쳐쓰기'가 '목적함수만 바꿨을 뿐'으로 압축.)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971800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softmax attention도 이 공간의 한 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L2 regression을 '압축 없이 비모수적'으로 푼 극한 → retention이 없다 → state(KV cache)가 계속 커진다.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attention의 메모리가 길이에 선형으로 느는 이유 = '압축하지 않는 연상 메모리이기 때문'으로 설명된다.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160520"/>
            <a:ext cx="11183112" cy="15544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한 문장 정리 + 정직성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덧쓰기(linear)·고쳐쓰기(delta)·안 압축(softmax)이 전부 'attentional bias 축의 세 좌표'로 통일된다.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다만 이 표의 등호는 '원 설계 방정식' 수준의 동일시다. retention 열의 L2는 세부가 다른 gate들을 뭉뚱그린 것 — 분류학으론 정확하되 구현 완전등가로 읽으면 과독(논문 각주도 이 해상도 한계를 인정).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빈 칸을 채운 3모델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bias·retention 축에 새 선택지를 넣다 (optimizer는 일부러 plain GD)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531735"/>
            <a:ext cx="5285232" cy="2788689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68311"/>
            <a:ext cx="5212080" cy="27155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51713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2 — Moneta/Yaad/Memora: recurrent · SWA hybrid · layer 설계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2504.13173 Fig.2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0515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Moneta — Lp loss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Lp(p=3)로 잘 안 떠오르는 '놀라운 token'에 L2보다 날카로운 기억 압력 + Lq(q=4) 정규화로 메모리 norm을 통제된 껍질에 붙잡음.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487168"/>
            <a:ext cx="5806440" cy="10515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Yaad — Huber loss (robust)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오차가 학습된 threshold보다 크면(=outlier token) 그 크기를 깎아 기억 → 노이즈·적대 구간이 자기 크기만큼 메모리를 흔들지 못한다.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3602736"/>
            <a:ext cx="5806440" cy="13258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Memora — KL retention (가장 우아)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retention을 KL divergence로 → 메모리를 확률 simplex에 가둠. 갱신이 softmax 형태라 state가 항상 양수·합=1.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C9A227"/>
                </a:solidFill>
                <a:latin typeface="Noto Sans CJK KR"/>
              </a:rPr>
              <a:t>→ 문맥이 아무리 길어도 state가 발산 불가 (retention-as-renormalization).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074920"/>
            <a:ext cx="11183112" cy="65836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실험 설계 의도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셋 다 optimizer는 plain GD(momentum 일부러 제거) — expressivity를 optimizer가 아니라 '목적함수와 retention'에 싣고 그 효과만 보려는 통제.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attention 한 layer도 안 쓰고 attention-hybrid를 이긴다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096961"/>
            <a:ext cx="5605272" cy="1292476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33537"/>
            <a:ext cx="5532120" cy="12193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3 — scaling: baseline은 16K 넘으면 perplexity 도로 상승, 세 변형은 완만 유지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2504.13173 Fig.3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71600"/>
            <a:ext cx="5394960" cy="13716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헤드라인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더 나은 bias+retention이면 attention 없이도 hybrid를 이긴다. 1.3B/100B token에서 순수 recurrent Yaad가 Gated DeltaNet은 물론 hybrid Samba·GDN-H2까지 perplexity에서 이겼다.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834640"/>
            <a:ext cx="5394960" cy="12801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ablation의 교훈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p(bias)를 바꾸면 성능은 오르내리나 scaling 모양은 불변. q(retention)를 바꾸면 scaling 패턴 자체가 바뀐다 → 기여순위 retention &gt; deep memory &gt; bias.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709160"/>
            <a:ext cx="11183112" cy="100584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'retention이 결정적 레버'의 직접 증거 + 정직한 한계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위 ablation이 관찰 2(retention이 핵심)의 가장 직접적 증거. 한계: 실증이 1.3B·100B token에서 멈춘다. 7B+·RLHF 후·exact-copy recall 실무에서도 순서가 유지되는지는 미답, 효율 증거도 FLOPs 곡선 하나뿐(wall-clock 없음).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요약 &amp; 다음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진짜 기여는 세 모델이 아니라 좌표계 → Atlas가 빈 축을 채우러 간다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8229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진짜 기여 = 좌표계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Moneta/Yaad/Memora 수치는 1.3B에서 멈추지만, attentional bias·retention gate·4축이라는 '어휘'는 이후 모든 논문이 무상으로 가져다 쓴다. Titans=존재 증명, Miras=그 move가 연 공간의 좌표계.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11183112" cy="2194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Miras가 다음 논문에 넘긴 숙제 3가지 = Atlas의 목차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① 비어 있는 optimizer 축 — 세 모델 다 plain GD(momentum 제거). 더 나은 optimizer(Titans momentum·Newton법)가 새 bias·gate와 합쳐지면? → Atlas는 inner loop에 Muon을 심는다.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② token 단위 목적함수 — 목적함수가 여전히 'token 하나'만 본다. 최근 여러 token이 함께 잘 저장됐는지 아무도 안 물음. → Atlas는 Omega rule(최근 여러 token 함께 최적화)을 도입.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③ capacity 이론 부재 — online 최적화 도구를 통째로 수입했지만 그 보증이 요구하는 convexity를 2-layer MLP가 깬다. → Atlas는 정식 capacity 이론을 붙인다.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572000"/>
            <a:ext cx="11183112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한 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Miras가 지도를 그렸다면, Atlas는 그 지도의 '빈 축'을 최적화 이론으로 채우러 간다.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개념 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여기서 얻을 핵심 개념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associative memory 관점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시퀀스 모델 = key→value 연상 = 무언가를 최소화하는 online 최적화.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25880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attentional bias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내부 목적함수 L = '무엇을 우선해 기억하나'. dot-product·L2·Lp·robust.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00884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retention (not forgetting)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'지우기'가 아니라 '유지 vs 학습'의 저울질. long-context를 좌우하는 결정적 레버.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500884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4축 설계공간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architecture · attentional bias · retention · learning algorithm.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675888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전부가 이 공간의 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덧쓰기(dot-product)·고쳐쓰기(L2)·비압축(softmax)이 bias 축의 세 좌표.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675888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softmax = 비압축 극한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L2를 비모수적으로 푼 극한 → retention 없음 → KV가 길이에 비례 증가.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50892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Moneta/Yaad/Memora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Lp / Huber(robust) / KL(simplex) 인스턴스. optimizer는 일부러 plain GD.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850892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retention-as-renormalization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KL retention(Memora)은 softmax 갱신 → state가 항상 정규화되어 발산 불가.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989320"/>
            <a:ext cx="11183112" cy="56692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한 문장으로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시퀀스 모델을 4축으로 분해한 '지도' — 무엇을·무엇을 잊고·어떤 구조로·어떤 알고리즘으로. 이후 모든 논문의 좌표계.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(2505.23735)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Atlas — 토큰이 아니라 '문맥'을 기억하고, 용량을 키운다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Omega rule: 개별 토큰이 아니라 sliding-window '문맥 전체'를 한 번에 기억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γ_{t,i} 가중으로 최근 c개 토큰을 함께 최적화 — 'learning to memorize the context'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feature map φ_p로 메모리 용량을 matrix 한계(√params) 너머 d^p까지 확장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polynomial feature map으로 표현력↑ (softmax는 사실상 무한 용량의 극단)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메모리 학습을 GD가 아니라 Muon(근사 2차) optimizer로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곡률 정보를 써 더 잘·빠르게 메모리를 적합 — A2의 optimizer 발전을 메모리 학습에 적용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메모리 용량이 병목(Titans Fig.7의 연장) → Hopfield 용량 이론 → feature map 투영으로 확장 → 문맥 단위 목적(Omega) → 최적화도 Muon으로 → DeepTransformers/Dot 변형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BABILong에서 Titans 초과(Fig.4), associative recall 용량 실험(Fig.7), 문맥·FLOPs 스케일링(Fig.8)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문제 세 가지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목표 자체를 바꾼다: '이 token 하나' → '최근 문맥 전체를 함께'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98448"/>
            <a:ext cx="11183112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관점 — Miras가 비워둔 optimizer 축 포함, 세 구멍을 한 논문에서 메운다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무엇을 목표로 삼는가(objective) · 얼마나 담을 수 있는가(capacity) · 얼마나 잘 채우는가(optimizer).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084831"/>
            <a:ext cx="3657600" cy="228600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① online 갱신 (근시안)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memory가 매 step 현재 token 하나만 보고 최적화, 과거는 retention gate로 흐릿하게 유지될 뿐.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1121F"/>
                </a:solidFill>
                <a:latin typeface="Noto Sans CJK KR"/>
              </a:rPr>
              <a:t>→ token 단위 greedy 암기. '문맥 전체가 잘 저장됐나'는 아무도 안 묻는다.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9392" y="2084831"/>
            <a:ext cx="3657600" cy="228600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② 용량 한계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단순 행렬 memory는 파라미터를 아무리 많이 줘도, 저장 가능한 연상(k→v) 수가 key 차원 d_k 수준에서 막힌다.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1121F"/>
                </a:solidFill>
                <a:latin typeface="Noto Sans CJK KR"/>
              </a:rPr>
              <a:t>→ state를 키워 파라미터를 더 쓰는 것 ≠ 용량을 늘리는 것.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1" y="2084831"/>
            <a:ext cx="3657600" cy="228600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③ 관리 빈약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inner optimizer가 거의 전부 1차 gradient descent.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1121F"/>
                </a:solidFill>
                <a:latin typeface="Noto Sans CJK KR"/>
              </a:rPr>
              <a:t>→ loss 표면의 나쁜 local minimum에 앉으면 질 낮은 k→v 매핑을 그대로 저장.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526280"/>
            <a:ext cx="11183112" cy="8229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세 처방 = 부제의 세 단어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Omega rule(목표를 window로 넓힘) · feature map(용량 상한을 옮김) · Muon(그 상한 안에서 도달 품질을 올림). 이 셋의 조합이 이 섹션 전체.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목표 전환 + 용량 이론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context를 기억한다, 그리고 용량을 정리로 정의한다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908856"/>
            <a:ext cx="5285232" cy="1668686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45432"/>
            <a:ext cx="5212080" cy="159553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1 — token 하나(왼) vs 최근 c개 함께(오, Omega). 오른쪽 끝 = attention도 windowed regression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2505.23735 Fig.1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핵심 전환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여러 token에 걸친 사건은 어느 하나도 개별로는 놀랍지 않지만 묶음으로는 중요할 수 있다('어제 김대리가 예산 승인'). token 단위 loss는 이를 구조적으로 놓친다 → 최근 c개를 함께 최적화.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697480"/>
            <a:ext cx="5806440" cy="14173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용량 이론 (이 계보 최초)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Prop 1: 행렬 memory W는 GD로 최적화해도 최대 O(d_k)개만 정확 저장(순수 rank 논증).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C9A227"/>
                </a:solidFill>
                <a:latin typeface="Noto Sans CJK KR"/>
              </a:rPr>
              <a:t>Prop 2: polynomial feature map φ_p로 차원을 Θ(d_kᵖ)로 → 용량 O(d_kᵖ), 어떤 optimizer로도 이 상한을 못 넘는다.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709160"/>
            <a:ext cx="11183112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함의 — attention이 이기는 이유가 정리로 설명된다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무한 차원 feature(Kronecker self-tensoring)를 만들면 exp(q·k)=φ*(q)·φ*(k) → softmax attention = 무한 차원 위 associative memory = 용량 무한. attention이 긴 문맥 recall에서 고정 state를 이기는 건 신비가 아니라 '용량 상한의 차이'. (선형독립 key 정확 보간이라는 이상화 기준 → 근사 대리지표로 읽기.)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Omega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delta rule을 window 크기만큼 rank로 일반화 (c=1이면 Titans)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973602"/>
            <a:ext cx="5605272" cy="1539195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10178"/>
            <a:ext cx="5532120" cy="146604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2 — SWA(비모수) vs Atlas: window c=1,4,7로 키우면 의존이 하삼각 전체로 번짐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2505.23735 Fig.2</a:t>
            </a:r>
          </a:p>
        </p:txBody>
      </p:sp>
      <p:pic>
        <p:nvPicPr>
          <p:cNvPr id="8" name="Picture 7" descr="5404d83c5f5ab6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2524" y="1417320"/>
            <a:ext cx="2642910" cy="6400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199632" y="2148840"/>
            <a:ext cx="5486400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기호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γ_{t,i} = window gate. 0이면 그 token을 최적화에서 hard pruning(admission control), 1이면 온전히 포함.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 = window 길이. sliding window라 step당 gate 수가 c개로 상수 → recurrent 장점 유지.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3456432"/>
            <a:ext cx="5486400" cy="111556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대수적 정체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DeltaNet 전이 = key 1개짜리 rank-1 수정. Omega rule = c개 key 합 = rank-c 수정.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A6F97"/>
                </a:solidFill>
                <a:latin typeface="Noto Sans CJK KR"/>
              </a:rPr>
              <a:t>c=1로 두면 정확히 Titans (Titans = Omega의 window-1 특수 사례).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09160"/>
            <a:ext cx="11183112" cy="96012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왜 global이 아니라 window인가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문맥 전체 global 최적화는 (i) 매 step 모든 과거 key/value를 들고 있어야 해 고정 state 존재 이유가 사라지고 (ii) 무관 구간을 잘라낼 gate가 없다. Omega는 sliding window로 둘 다 해결(γ가 pruning gate).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Muon optimizer + Transformer 가족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근사 2차 관리, 그리고 같은 기계로 Transformer 재유도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601318"/>
            <a:ext cx="5285232" cy="2375203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37894"/>
            <a:ext cx="5212080" cy="230205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4281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3 — Atlas Layer 배선 + hybrid(MAG/MAL). Atlas/Atlas++/OmegaNet, DeepTransformers·Dot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2505.23735 Fig.3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6916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Muon inner optimizer (③ 관리)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momentum buffer S에 windowed gradient를 쌓고 Newton-Schulz 반복을 κ번 → semi-orthogonal(UVᵀ)로 수렴 → update singular value 균등화 = 2차 정보 근사.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C9A227"/>
                </a:solidFill>
                <a:latin typeface="Noto Sans CJK KR"/>
              </a:rPr>
              <a:t>κ = NS 반복수 = 'internal test-time compute' dial. 더 돌리면 품질↑·inference FLOPs↑ (state 안 건드리고 연산↔품질 교환). 실전 κ=5.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3200400"/>
            <a:ext cx="5806440" cy="14630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부산물 — Transformer 두 일반화 가족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attention = Nadaraya-Watson kernel regression의 비모수해로 재서술.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feature map을 정확한 exp φ*로 → DeepTransformers(unnormalized softmax의 strict 일반화). 거기에 Omega rule → Dot = 'error-correcting attention'.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800600"/>
            <a:ext cx="11183112" cy="8686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병렬화 유지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window는 banded mask 하나로 처리(각 token gradient 1회 계산 + mask 합산) → window는 훈련 비용 거의 안 바꾸는 품질 knob. Muon도 chunk 경계 상태에서 gradient를 평가하면 momentum이 linear scan으로 분리되고 NS-5는 batched matmul.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결과 &amp;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초장문 외삽은 정점 — 그러나 Muon의 실증 가치는 논쟁적</a:t>
            </a:r>
          </a:p>
        </p:txBody>
      </p:sp>
      <p:sp>
        <p:nvSpPr>
          <p:cNvPr id="5" name="Rectangle 4"/>
          <p:cNvSpPr/>
          <p:nvPr/>
        </p:nvSpPr>
        <p:spPr>
          <a:xfrm>
            <a:off x="1136904" y="1335024"/>
            <a:ext cx="4264152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3480" y="1371600"/>
            <a:ext cx="4190999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4 — BABILong: 4K 훈련으로 10M까지 외삽, Titans 붕괴 지점에서도 유지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2505.23735 Fig.4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71600"/>
            <a:ext cx="5394960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결과 (방향)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BABILong: 1M까지 Titans 동급, 10M(Titans 붕괴)에서도 높은 정확도 — 훈련 문맥의 수천 배 외삽. LM·commonsense에서 Atlas/Atlas++가 Titans·GDN·Transformer++ 상회(순수 recurrent 최고 그룹).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697480"/>
            <a:ext cx="5394960" cy="19659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불편한 진실 (한계)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① in-context retrieval은 여전히 Transformer 우위 — gap 좁혔으나 못 닫음(용량 이론이 예측한 방향).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② ablation: window·feature map·deep memory는 명확히 기여하나 Muon 제거 시 perplexity가 오히려 개선. Muon이 산 건 reasoning 0.21점뿐 → 'optimally'는 대부분 window·capacity의 공.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1121F"/>
                </a:solidFill>
                <a:latin typeface="Noto Sans CJK KR"/>
              </a:rPr>
              <a:t>③ κ 품질 곡선 측정 없음. ④ wall-clock 수치 전무(전부 구조 논증).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정리 &amp; 다음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'무엇을 얼마나 잘 기억하는가'의 정점 → 이제 '얼마가 드는가'(TNT)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98448"/>
            <a:ext cx="11183112" cy="10058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정리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세 구멍을 세 손잡이로: Omega(목표)·feature map(용량)·Muon(관리). 부산물로 softmax를 무한용량 associative memory로 정식화하고 Transformer 두 일반화 가족(DeepTransformers·Dot)을 파생. objective·capacity·optimizer·이론까지 다 갖춘 정점.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23160"/>
            <a:ext cx="11183112" cy="20116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다음으로의 연결 — TNT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Atlas의 모든 것은 chunkwise 트릭 위에 서 있다 — gradient를 'chunk 시작 상태'라는 stale snapshot에서 평가하는 근사.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그 근사의 오차는 정량화된 적이 없고, chunk 크기 C는 그냥 throughput knob으로만 취급됐다 (사실 C는 '계산되는 함수 자체'를 바꾸는 semantic knob).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9A227"/>
                </a:solidFill>
                <a:latin typeface="Noto Sans CJK KR"/>
              </a:rPr>
              <a:t>특히 치명적 mismatch가 방치: 훈련은 큰 C에서, decode는 C=1의 세계. → TNT가 정확히 여기서 시작해 chunk 경제학 전체를 재설계한다.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617720"/>
            <a:ext cx="11183112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조용한 복선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Atlas가 'test-time training'을 'test-time memorization'으로 개명하며 'in-context 적응은 학습이 아니다'라고 선을 그은 순간, '그럼 진짜 continual learning은 어디서?'가 미결로 남는다 → Nested Learning·Sleep.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개념 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여기서 얻을 핵심 개념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context memorization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token 하나가 아니라 '최근 문맥 전체'를 함께 기억(목표를 바꿈).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25880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Omega rule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window c의 gated 합 최소화 = rank-c 수정(delta rule의 window 일반화). c=1이면 Titans.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00884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memory capacity 이론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행렬 memory = O(d_k). state 키움 ≠ 용량 늘림(이 계보 최초의 형식 정의).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500884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feature map φ_p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차원을 d_kᵖ로 올려 용량 상한을 옮김. optimizer와 직교하는 손잡이.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675888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softmax = 무한 용량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무한 차원 feature의 associative memory. attention이 이기는 이유 = 용량 차이.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675888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Muon (근사 2차)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Newton-Schulz로 update를 semi-orthogonal화 = 2차 정보 근사.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50892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κ = test-time compute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NS 반복수. state 안 건드리고 연산↔품질을 교환하는 dial.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850892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Transformer 재유도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attention=kernel regression → DeepTransformers·Dot(error-correcting attention).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989320"/>
            <a:ext cx="11183112" cy="56692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한 문장으로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'무엇을 얼마나 잘 기억하는가'의 정점 — 목표(Omega)·용량(feature map)·관리(Muon)를 이론까지 갖춰 채움.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(2511.07343)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TNT — 학습 레시피와 serving 구조를 함께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train chunk와 serve chunk가 다르면 품질이 붕괴한다 (핵심 관찰)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C=64로 학습한 550M Titans를 chunk=1로 서빙하면 성능 급락 — 학습/추론 불일치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해법: train chunk(큰)와 serve chunk(작은)를 decouple하고 2-stage로 정렬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큰 chunk로 싸게 병렬 학습 → 2단계로 작은 serve chunk에 맞춰 재정렬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hierarchical memory: global(prefill, 병렬) / local(decode, 세밀)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긴 문맥은 global로 한 번에, 생성은 local로 토큰별 — 병렬성과 정밀도를 모두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767328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70432" y="3767328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Q-K projection 추가로 메모리 읽기/쓰기 표현력 보강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chunk 정렬과 함께 serving 품질을 끌어올리는 보조 장치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581144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deep memory를 큰 chunk로 싸게 훈련 → 그런데 serve chunk가 다르면 붕괴(2.6배 악화) → 2-stage로 정렬 → 계층 메모리로 병렬+세밀 → serving 구조 정의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422392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chunk sweep의 V자 곡선(Fig.2), 최대 17배 속도(Fig.4/5), 품질 표로 train/serve 정렬 효과 입증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chunk 크기 하나가 품질과 속도를 동시에 결정한다 (= 훈련 경제학)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10515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chunkwise-parallel training의 트레이드오프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C개 token을 묶어 'chunk 시작 상태'에서 모든 gradient를 한꺼번에 계산(GPU가 놀지 않게).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C↑ → matmul 커져 하드웨어 잘 돎, 그러나 gradient가 stale(낡음) → 근사 품질↓.   C↓ → gradient 신선하나 연산이 잘게 쪼개져 하드웨어가 논다 (작은 chunk = peak 대비 5~10% 미만 = MFU 한 자릿수).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50592"/>
            <a:ext cx="5486400" cy="14173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Challenge 1 — 비선형 recurrence는 병렬화가 안 된다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deep memory는 fine-grained 위해 작은 chunk를 원하는데 그럼 memory-bound.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linear attn는 SRAM 상주 chunk kernel로 회피하나, 그 kernel은 '선형 상태 전이'에 의존. MLP+LayerNorm 비선형 recurrence엔 이식 불가(parallel scan 불가).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2450592"/>
            <a:ext cx="5486400" cy="14173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Challenge 2 — write/read 도메인 shift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write는 k→v로 학습되는데 읽을 땐 query q로 읽는다 → 학습 함수의 입력 domain 밖에서 평가 → retrieval 품질↓.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attention엔 이 문제가 구조적으로 없다(q·모든 k 내적을 명시적으로). 압축 memory로 넘어올 때만 생기는 세금.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977639"/>
            <a:ext cx="11183112" cy="5486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Challenge 3 — chunk-size mismatch (다음 슬라이드에서 그림으로)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훈련 chunk와 서빙 chunk가 달라지면 품질이 무너진다.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617720"/>
            <a:ext cx="11183112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핵심 가설 (한 문장)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훈련 효율과 inference 성능을 '하나의 chunk 크기'가 동시에 결정하게 놔두지 말고, 두 단계로 분리(decouple)하라. TNT = 'Titans iNside Titans' — memory 안에 memory를 중첩.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chunk-size mismatch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새 실증 발견: 비대칭 V자 절벽 (훈련 해상도에 over-specialize)</a:t>
            </a:r>
          </a:p>
        </p:txBody>
      </p:sp>
      <p:sp>
        <p:nvSpPr>
          <p:cNvPr id="5" name="Rectangle 4"/>
          <p:cNvSpPr/>
          <p:nvPr/>
        </p:nvSpPr>
        <p:spPr>
          <a:xfrm>
            <a:off x="1508412" y="1335024"/>
            <a:ext cx="3521135" cy="290779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4988" y="1371600"/>
            <a:ext cx="3447983" cy="2834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4281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2 — 550M Titans(C=64로 pre-train), inference chunk만 바꿔 측정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2511.07343 Fig.2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71600"/>
            <a:ext cx="5394960" cy="14630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V자 곡선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바닥이 정확히 훈련 때 쓴 C=64에 걸림 (ppl 13.78, 최적). 양쪽으로 벗어나면 급격히 악화.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C1121F"/>
                </a:solidFill>
                <a:latin typeface="Noto Sans CJK KR"/>
              </a:rPr>
              <a:t>충격: 더 작은 chunk = 더 신선한 gradient = 더 좋아야 상식적. 그런데 C=8에서 ppl 36.45로 2.6배 폭발.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926080"/>
            <a:ext cx="5394960" cy="13716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왜 치명적인가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이상적 서빙 = decode에서 chunk=1(매 token 온라인 갱신).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C9A227"/>
                </a:solidFill>
                <a:latin typeface="Noto Sans CJK KR"/>
              </a:rPr>
              <a:t>큰 chunk로 싸게 훈련한 모델은 chunk=1 근처에서 품질이 무너진다 → 그 이상적 서빙으로 직행할 수가 없다.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800600"/>
            <a:ext cx="11183112" cy="8686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읽는 법 (정직성)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이 그림은 TNT 원저자 Figure 2이고 우리 스터디 실측이 아니다. 절대 수치보다 '비대칭 V자 절벽'이라는 방향성을 기억. (Titans가 제기조차 안 했던 train/serve 불일치가 여기서 정면으로 드러난다.)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global/local 계층 + reset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reset이 병렬화 불가능한 비선형 사슬을 끊는다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2059630" y="1335024"/>
            <a:ext cx="2098659" cy="286207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6206" y="1371600"/>
            <a:ext cx="2025507" cy="2788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9709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3 — Stage 1: global(위, 큰 chunk 순차) + N개 local(아래, reset·병렬). Q-K는 local에만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2511.07343 Fig.3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역할 분담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global 1개: 큰 chunk(2048)로 sequence 전체 순차 관통 → long-range 보존, 드물고 큰 dense matmul = compute-bound (16K에 8번 handoff).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local N개: 학습된 초기상태에서 주기적 reset → 대량 병렬, fine-grained 담당.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697480"/>
            <a:ext cx="5806440" cy="12344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reset이 핵심인 이유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비선형 recurrence는 parallel scan 불가(결합법칙 없음). reset이 그 사슬을 끊어 각 shard가 독립 → 여러 장치·batch 축으로 병렬.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C1121F"/>
                </a:solidFill>
                <a:latin typeface="Noto Sans CJK KR"/>
              </a:rPr>
              <a:t>대가: local은 shard 경계에서 다 잊음 → global이 보전 (ablation: global 빼면 21→25.6 붕괴).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4023360"/>
            <a:ext cx="5806440" cy="65836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W_init의 승격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reset 지점이 0이 아니라 '학습된' 초기상태 W_init(meta-learn된 prior). Titans에서 암묵적이던 초기상태가 reset을 살아남게 하는 핵심 부품으로.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00600"/>
            <a:ext cx="11183112" cy="82296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한 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reset = sequence 축을 잘라 '진짜 batch 축'으로 되돌리는 연산. 병렬성을 사기 위해 local의 기억을 주기적으로 태우고, 그 보험을 저해상도 global에 든다.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Q-K projection + 2-stage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train-big / serve-small: chunk를 두 독립 knob으로 분리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Q-K projection (Challenge 2 처방)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query를 그대로 memory에 넣지 말고, 지금까지 관측된 key들이 스팬하는 부분공간으로 사영한 뒤 넣는다.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사영 행렬 Π_t = Σ k·kᵀ 를 매 token rank-1로 누적(과거 key 저장 불필요, 상수 크기). = KV cache append의 rank-1 GEMM 대응물, Π·q는 mat-vec 한 번. domain shift에 민감한 local에만 붙고 global은 raw query.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651760"/>
            <a:ext cx="5486400" cy="16002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Stage 2 (Challenge 3 처방)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Stage1(큰 chunk)로 싸게 pre-train 끝낸 뒤, 작은 local chunk로 짧게 fine-tune.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9A227"/>
                </a:solidFill>
                <a:latin typeface="Noto Sans CJK KR"/>
              </a:rPr>
              <a:t>놀라운 관찰: 이 짧은 fine-tuning이 mismatch를 교정할 뿐 아니라 원래 성능을 넘어선다. 비용은 pre-training의 5~8%뿐.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2651760"/>
            <a:ext cx="5486400" cy="16002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train-big / serve-small 레시피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이상 목표 chunk=1 → autoregressive 서빙과 정확히 맞물림.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global이 큰 chunk dense 연산으로 prompt 흡수(prefill), Stage2로 적응된 local이 생성 중 token마다 갱신(decode).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89120"/>
            <a:ext cx="11183112" cy="9601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핵심 성취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chunk 크기가 더 이상 '하나의 타협값'이 아니라, Stage1의 throughput knob과 Stage2의 해상도 knob이라는 서로 독립인 두 knob이 된다. '싸게 학습 + 정확한 서빙'이 동시에 가능.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결과 &amp;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같은 chunk끼리도 7.7배 → 이득의 원천은 구조 자체</a:t>
            </a:r>
          </a:p>
        </p:txBody>
      </p:sp>
      <p:sp>
        <p:nvSpPr>
          <p:cNvPr id="5" name="Rectangle 4"/>
          <p:cNvSpPr/>
          <p:nvPr/>
        </p:nvSpPr>
        <p:spPr>
          <a:xfrm>
            <a:off x="1316070" y="1335024"/>
            <a:ext cx="3905819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646" y="1371600"/>
            <a:ext cx="3832667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4 — runtime: 순수 JAX인데 32K에서 FlashAttention을 step당 이김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2511.07343 Fig.4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71600"/>
            <a:ext cx="5394960" cy="14173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속도 · 품질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목표 loss 3.20 도달: Titans(C=8) ~19.5h vs TNT ~1.1h = 17.37배. 같은 chunk 8끼리도 7.7배 → 원천은 chunk 키움이 아니라 구조.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150M/10B: Stage1만으로 모든 RNN baseline+vanilla Transformer ppl 이김, Stage2가 더 내림. reasoning은 Gated Transformer까지.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880360"/>
            <a:ext cx="5394960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ablation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local 1→4개 ppl 단조 개선(20.15). global 빼면 25.6 붕괴. Q-K projection 빼면 ~1 ppl 손해. 역할 분담이 실증됨.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3913632"/>
            <a:ext cx="5394960" cy="7772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정직한 한계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모든 검증이 momentum·gating·Muon을 제거한 '단순화 Titans' 위, 150M/10B(이 라인 최소 규모). 본류 모델과의 합성은 미측정.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09160"/>
            <a:ext cx="5532120" cy="9144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kernel 이전에 구조가 승부를 갈랐다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custom kernel 최적화된 Gated Transformer는 아직 못 이기지만, TNT는 custom kernel 없는 순수 JAX인데도 32K에서 FlashAttention을 step당 이겼다.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요약 &amp; 다음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이미 세 개의 update frequency로 도는 시스템 → Nested Learning의 씨앗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7772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TNT가 base 4부작에 남긴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이 계열이 대규모로 갈 수 있도록 '훈련 경제학의 바닥'을 깔았다. TNT는 표현력이 아니라 훈련 경제학을 푼 systems 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2344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결정적 관념 — 이미 세 개의 update frequency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global은 2048 token마다, local은 매 token마다, W_init·slow weights는 훈련에서만 갱신된다.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9A227"/>
                </a:solidFill>
                <a:latin typeface="Noto Sans CJK KR"/>
              </a:rPr>
              <a:t>그리고 느린 시간 스케일에 주차된 지식(global·W_init)이 빠른 스케일의 reset에서 살아남는다.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566160"/>
            <a:ext cx="11183112" cy="16002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다음으로의 연결 — Nested Learning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다만 TNT에게 이건 그냥 공학적 방편이었다 — '왜 이게 모델 전체의 조직 원리여야 하는지'는 말하지 않았다.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다음 논문 Nested Learning이 그 선언을 한다: 모델과 훈련 절차 전체가 '각자의 update frequency로 자기 context를 압축하는 중첩 optimization 문제들의 시스템'.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TNT의 global/local 이분 → CMS의 주파수 연속체로, TNT의 reset → NL의 re-initialization으로, 하중을 받게 된 W_init → 다섯 knowledge-transfer 기제 중 하나로 분류된다.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49240"/>
            <a:ext cx="11183112" cy="4572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여기까지가 base 4부작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이제 집중해서 볼 두 논문(HOPE·Sleep)으로 들어간다.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개념 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여기서 얻을 핵심 개념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훈련 경제학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chunk 크기 C가 품질과 속도를 동시에 결정. 작은 chunk = MFU 한 자릿수.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25880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chunk-size mismatch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train/serve chunk가 다르면 품질 붕괴(V자 절벽, C=8에서 2.6배 폭발).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00884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global/local 계층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global(큰 chunk 순차, long-range) + local(reset, 병렬, fine-grained).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500884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periodic reset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병렬화 불가한 비선형 사슬을 끊어 batch 축으로. 대가는 global이 보전.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675888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W_init 승격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reset 지점 = meta-learn된 초기상태. reset을 살아남게 하는 핵심 부품.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675888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Q-K projection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query를 관측 key 부분공간으로 사영(Π=Σk kᵀ). write/read domain shift 처방.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50892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2-stage: train-big/serve-small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chunk를 throughput knob과 해상도 knob 두 독립 knob으로 분리.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850892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서로 다른 update frequency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global·local·W_init이 각자 주기로 갱신 = NL의 씨앗.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989320"/>
            <a:ext cx="11183112" cy="56692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한 문장으로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표현력이 아니라 '훈련 경제학의 바닥'을 깐 systems 편 — 서로 다른 update frequency 계층이 다음 논문(NL)의 씨앗.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Nested Learning / HOPE (2512.24695)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HOPE — 모든 부품이 '어떤 주파수의 메모리'인 아키텍처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9A227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Expressive Optimizers: optimizer는 gradient를 압축하는 associative memory다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momentum·Adam·Muon = 메모리의 특수형 → 더 표현력 큰 optimizer(DGD·Delta Momentum·M3)로 승격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Self-Modifying Titans: 투영·게이트까지 메모리로 만들어 자기 갱신 규칙을 스스로 수정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6개 메모리 {k,v,q,η,α,mem} 중 q만 static, 나머지는 test-time에 갱신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CMS(Continuum Memory System): long/short를 '연속 주파수' 스펙트럼으로 일반화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여러 주파수의 MLP 블록을 이어 붙임 — TNT의 global/local을 연속체로 확장. 합 = HOPE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backprop도 self-referential memory → optimizer도 memory → 그럼 architecture와 optimizer는 같은 것의 다른 레벨 → 레벨을 더 쌓자(higher-order ICL) → self-mod + CMS = HOPE. ICL은 창발이 아니라 ≥2레벨의 structural 결과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760M/1.3B 벤치(Transformer++·RWKV7·DeltaNet·Titans 대비), BABILong, 메모리 레벨 ablation, M3 optimizer(ViT)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Nested Learning — 문제와 통찰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지금까지 'layer 하나'만 바꿔 왔다 — 그것을 훈련시키는 '배경'을 설계 대상으로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16916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문제 1 — layer 하나만 바꿔 왔다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Titans/Miras/Atlas/TNT는 전부 'sequence layer 하나'의 성분(objective·retention·optimizer·훈련경제학)을 바꾼 것.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그런데 그 layer를 바깥에서 훈련시키는 AdamW·momentum·backpropagation은 한 번도 설계 공간에 안 들어온 '고정 배경'이었다.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16916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문제 2 — LLM은 정적이다 (anterograde amnesia)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배포 후 지식이 사는 곳은 딱 둘: 지금의 context window(KV cache)와 pre-training 때 얼어붙은 MLP weights.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context 정보가 장기저장소(FFN)까지 못 가고 window가 밀려나면 사라진다 = 새 장기기억을 못 만드는 기억상실.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154680"/>
            <a:ext cx="11183112" cy="13716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핵심 통찰 — backprop도 memory다 (이 슬라이드만 가져가도 됨)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C9A227"/>
                </a:solidFill>
                <a:latin typeface="Noto Sans CJK KR"/>
              </a:rPr>
              <a:t>'모델과 그것을 학습시키는 절차는 서로 다른 두 물건이 아니라, 하나의 중첩된 다층 최적화 시스템이다.'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그 안에서 backpropagation·momentum·Adam·Muon이 전부 gradient에 대한 associative memory다. 특히 backprop은 자기 target을 스스로 만드는 self-referential memory라 병렬화가 안 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663440"/>
            <a:ext cx="11183112" cy="8229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그래서 질문의 단위가 바뀐다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'layer'가 아니라 '모델 전체 + 훈련 절차 전체'가 하나의 설계 대상. 각 level은 자기 context flow를 자기 주기로 압축하는 associative memory. (TNT가 남긴 '서로 다른 주기의 계층' 힌트를 조직 원리로 승격.)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Nested Learning — 관점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학습 자체를 '중첩된 최적화(=메모리)의 층'으로 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547761"/>
            <a:ext cx="5559552" cy="2390876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84337"/>
            <a:ext cx="5486400" cy="23177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48640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Nested Learning: 모델과 그 학습절차를 중첩된 최적화 문제들의 집합으로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2512.24695 Fig.2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371600"/>
            <a:ext cx="5486400" cy="14630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핵심 재해석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optimizer가 하는 일(과거 gradient를 모아 다음 스텝을 정함) = '연상 메모리'다. 그럼 momentum은 선형 메모리, Adam·Muon도 메모리의 특수형.</a:t>
            </a:r>
          </a:p>
        </p:txBody>
      </p:sp>
      <p:pic>
        <p:nvPicPr>
          <p:cNvPr id="9" name="Picture 8" descr="3dff4bfd538aebe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3042458"/>
            <a:ext cx="5120640" cy="22444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3520440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그래서 무엇이 열리나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optimizer를 '더 표현력 있는 메모리'(DGD · Delta Momentum · M3 — 다음 3장)로 바꿀 수 있고, 이 최적화 층을 여러 개 쌓으면 higher-order in-context learning이 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54880"/>
            <a:ext cx="11155680" cy="9144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ICL에 대한 주장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in-context learning은 큰 모델에서 '창발'하는 마법이 아니라, 최소 2개 레벨의 중첩 최적화를 가지면 구조적으로(structural) 따라 나오는 성질이다 — Fig.7의 레벨 ablation이 이를 뒷받침.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Expressive Optimizer (1/3)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DGD (Delta Gradient Descent) — 상태 의존 adaptive decay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74980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동기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표준 GD는 내부목적이 dot-product라 각 gradient를 '상태와 무관하게' 처리 → 이전 가중치 상태가 갱신에 반영 안 됨(token처럼 상관된 데이터엔 제약). 내부목적을 L2 regression으로 바꾼다.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31136"/>
            <a:ext cx="2880360" cy="676656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C9A227"/>
                </a:solidFill>
                <a:latin typeface="Noto Sans CJK KR"/>
              </a:rPr>
              <a:t>① 표준 GD (dot-product)</a:t>
            </a:r>
          </a:p>
        </p:txBody>
      </p:sp>
      <p:pic>
        <p:nvPicPr>
          <p:cNvPr id="7" name="Picture 6" descr="cb9b13f0bcf2ee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2372818"/>
            <a:ext cx="8001000" cy="39329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2990088"/>
            <a:ext cx="2880360" cy="676656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C9A227"/>
                </a:solidFill>
                <a:latin typeface="Noto Sans CJK KR"/>
              </a:rPr>
              <a:t>② 내부목적을 L2로 (Eq 56)</a:t>
            </a:r>
          </a:p>
        </p:txBody>
      </p:sp>
      <p:pic>
        <p:nvPicPr>
          <p:cNvPr id="9" name="Picture 8" descr="f3a2feb37897ac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0" y="3076618"/>
            <a:ext cx="8001000" cy="50359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02920" y="3749039"/>
            <a:ext cx="2880360" cy="676656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C9A227"/>
                </a:solidFill>
                <a:latin typeface="Noto Sans CJK KR"/>
              </a:rPr>
              <a:t>③ 최종 (Eq 57)</a:t>
            </a:r>
          </a:p>
        </p:txBody>
      </p:sp>
      <p:pic>
        <p:nvPicPr>
          <p:cNvPr id="11" name="Picture 10" descr="8db291ed2f95875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3841973"/>
            <a:ext cx="8001000" cy="49078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02920" y="4535424"/>
            <a:ext cx="11183112" cy="1819656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최종 형태의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delta rule로 유도된 GD. 현재 입력뿐 아니라 '이전 가중치 상태'를 반영 → (I − η′ x xᵀ)의 데이터 의존 adaptive decay. token처럼 상관 높은 데이터에 유리. self-modifying Titans의 안쪽 optimizer가 바로 이 DGD(+weight decay). [원문 Eq 54–57]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Expressive Optimizer (2/3)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Delta Momentum — gradient 의존 weight decay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74980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동기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표준 momentum은 내부목적이 dot-product(Hebbian)라 상태와 무관해 용량이 제한되고 loss landscape 추적이 약하다. 내부목적을 L2 regression ‖m∇Lᵀ−P‖²로 바꿔 delta rule을 적용한다.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31136"/>
            <a:ext cx="2880360" cy="676656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C9A227"/>
                </a:solidFill>
                <a:latin typeface="Noto Sans CJK KR"/>
              </a:rPr>
              <a:t>① 표준 momentum (Hebbian)</a:t>
            </a:r>
          </a:p>
        </p:txBody>
      </p:sp>
      <p:pic>
        <p:nvPicPr>
          <p:cNvPr id="7" name="Picture 6" descr="c0e5854dbb4369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2342664"/>
            <a:ext cx="8001000" cy="4536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2990088"/>
            <a:ext cx="2880360" cy="676656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C9A227"/>
                </a:solidFill>
                <a:latin typeface="Noto Sans CJK KR"/>
              </a:rPr>
              <a:t>② 내부목적을 L2로 (Eq 48)</a:t>
            </a:r>
          </a:p>
        </p:txBody>
      </p:sp>
      <p:pic>
        <p:nvPicPr>
          <p:cNvPr id="9" name="Picture 8" descr="c4fec02516c00b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1395" y="2990088"/>
            <a:ext cx="6910529" cy="67665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02920" y="3749039"/>
            <a:ext cx="2880360" cy="676656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C9A227"/>
                </a:solidFill>
                <a:latin typeface="Noto Sans CJK KR"/>
              </a:rPr>
              <a:t>③ 최종 (Eq 49)</a:t>
            </a:r>
          </a:p>
        </p:txBody>
      </p:sp>
      <p:pic>
        <p:nvPicPr>
          <p:cNvPr id="11" name="Picture 10" descr="5a5f50375fc0be6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3819982"/>
            <a:ext cx="8001000" cy="534771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02920" y="4535424"/>
            <a:ext cx="11183112" cy="1819656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최종 형태의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decay가 α·I가 아니라 (α·I − η·∇L∇Lᵀ) = gradient에 의존. '필요할 때 momentum을 감쇠·정지'시켜 진동하는 곡률(Fig.4)에서 표준 momentum보다 빨리 수렴. linear attention→delta rule 전환의 momentum 버전. [원문 Eq 48–49] (P_i = momentum이 gradient를 매핑하는 target.)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Expressive Optimizer (3/3)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M3 (Multi-scale Momentum Muon) — Adam + Muon + CMS의 결합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74980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동기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M3 = 세 가지의 결합: Adam(2차 모멘텀 √V 정규화) + Muon(Newton-Schulz 직교화) + CMS(서로 다른 주파수의 momentum 여러 개). 느린 momentum을 '지연 갱신'해 long-context 정보를 담는다.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31136"/>
            <a:ext cx="2880360" cy="676656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C9A227"/>
                </a:solidFill>
                <a:latin typeface="Noto Sans CJK KR"/>
              </a:rPr>
              <a:t>① 두 주파수 momentum (CMS)</a:t>
            </a:r>
          </a:p>
        </p:txBody>
      </p:sp>
      <p:pic>
        <p:nvPicPr>
          <p:cNvPr id="7" name="Picture 6" descr="4ca03ff27c6d86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2245961"/>
            <a:ext cx="8001000" cy="64700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2990088"/>
            <a:ext cx="2880360" cy="676656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C9A227"/>
                </a:solidFill>
                <a:latin typeface="Noto Sans CJK KR"/>
              </a:rPr>
              <a:t>② 2차 모멘텀 (Adam)</a:t>
            </a:r>
          </a:p>
        </p:txBody>
      </p:sp>
      <p:pic>
        <p:nvPicPr>
          <p:cNvPr id="9" name="Picture 8" descr="918d9e73d2db25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7631" y="2990088"/>
            <a:ext cx="4098057" cy="67665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02920" y="3749039"/>
            <a:ext cx="2880360" cy="676656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C9A227"/>
                </a:solidFill>
                <a:latin typeface="Noto Sans CJK KR"/>
              </a:rPr>
              <a:t>③ 직교화 (Muon)</a:t>
            </a:r>
          </a:p>
        </p:txBody>
      </p:sp>
      <p:pic>
        <p:nvPicPr>
          <p:cNvPr id="11" name="Picture 10" descr="2795ec0601227c1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3757697"/>
            <a:ext cx="8001000" cy="659341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02920" y="4507992"/>
            <a:ext cx="2880360" cy="676656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C9A227"/>
                </a:solidFill>
                <a:latin typeface="Noto Sans CJK KR"/>
              </a:rPr>
              <a:t>④ 최종 갱신</a:t>
            </a:r>
          </a:p>
        </p:txBody>
      </p:sp>
      <p:pic>
        <p:nvPicPr>
          <p:cNvPr id="13" name="Picture 12" descr="a21cc9754288a9a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3695" y="4507992"/>
            <a:ext cx="2945929" cy="676656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02920" y="5294376"/>
            <a:ext cx="11183112" cy="1060704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최종 형태의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빠른/느린 두 momentum(CMS)을 Newton-Schulz로 직교화(Muon)한 뒤 √V로 정규화(Adam)해 결합. CMS 설계를 뒷받침하는 proof-of-concept. Fig.11/12에서 AdamW·Muon 대비 train/test loss 우수 — 단 momentum 여러 개라 계산 오버헤드로 대형 스케일엔 도전. [원문 Algorithm 1]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ICL은 왜 '구조적'인가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≥2 레벨 중첩 최적화를 가지면 in-context learning이 저절로 따라 나온다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122107"/>
            <a:ext cx="5285232" cy="133362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58683"/>
            <a:ext cx="5212080" cy="1260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4281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Fig.7 — memory level 1→4로 늘리면 ICL(NIAH) 단조 상승, 모든 설정에서 baseline 초과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2512.24695 Fig.7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0058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레벨 1 (inner loop) = 이미 학습기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memory가 test-time에 context로부터 gradient step으로 갱신 = '문맥으로부터 배우는 학습기' 자체.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450592"/>
            <a:ext cx="5806440" cy="10058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레벨 2 (그 위 optimizer)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그 갱신 규칙(optimizer)도 gradient에 대한 memory = '학습을 학습(learning to learn)'.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3529584"/>
            <a:ext cx="5806440" cy="13716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그래서 '구조적'이다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두 레벨이 겹치면 모델이 '주어진 context에서 파라미터를 조정하는 절차'를 내부에 내장 → 새 task를 context만으로 즉석 적응 = ICL. 별도의 '창발'을 가정할 필요가 없다(구조에서 나온다).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00600"/>
            <a:ext cx="11183112" cy="9144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증거 + 정직성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Fig.7: level 1→4에서 ICL(NIAH) 단조↑, 모든 level 수·최저 주파수에서 ICL·DuoAttention baseline 초과. 형식언어(parity, aⁿbⁿ)의 훈련분포 밖 길이 일반화에서 HOPE 100점(Transformer는 parity 0점). — 단 이것은 실증이지 정리(theorem)는 아니다(level 수에 따른 표현력 정리는 없음).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Self-Modifying Titans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투영·게이트까지 메모리 — 자기 갱신 규칙을 스스로 수정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M_k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key MLP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377439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M_v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value MLP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59" y="1463040"/>
            <a:ext cx="1783080" cy="960120"/>
          </a:xfrm>
          <a:prstGeom prst="roundRect">
            <a:avLst/>
          </a:prstGeom>
          <a:solidFill>
            <a:srgbClr val="ECEEF1"/>
          </a:solidFill>
          <a:ln w="1778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8A8F98"/>
                </a:solidFill>
                <a:latin typeface="Noto Sans CJK KR"/>
              </a:rPr>
              <a:t>q=X·W_q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static 선형(비메모리)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79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M_η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momentum 게이트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M_α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forget 게이트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75520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M_mem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본체 메모리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514600"/>
            <a:ext cx="1115568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5F68"/>
                </a:solidFill>
                <a:latin typeface="Noto Sans CJK KR"/>
              </a:rPr>
              <a:t>↑ 갱신 메모리 5개 {M_k,M_v,M_η,M_α,M_mem}=2-layer MLP · q=X·W_q만 static 선형(메모리 아님)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971800"/>
            <a:ext cx="5486400" cy="15544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무엇이 새로운가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Titans는 본체 메모리 M_mem만 갱신했다. HOPE는 '무엇을 key/value로 삼을지(투영)'와 '얼마나 기억·잊을지(게이트)'까지 메모리로 만들어 test-time에 함께 갱신한다.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971800"/>
            <a:ext cx="5486400" cy="15544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어떻게 갱신하나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target을 스스로 만든다(self-target: v̂_□ = M_□(v_t)). 갱신은 DGD(Delta GD)-with-weight-decay, gradient는 full backprop. 출력은 갱신 전(chunk 시작) 메모리를 MLP forward. (다음 장에 연산 과정 전개.)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663440"/>
            <a:ext cx="11155680" cy="10058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Titans의 '고정된 투영'을 풀어, 모델이 자신의 학습 규칙(무엇을 어떻게 기억할지)을 데이터에 맞춰 바꾸게 만든 것. q를 고정으로 남긴 건 안정적 읽기 기준을 유지하기 위함(추론).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Self-Modifying Titans — 연산 과정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input(C,d) → output · forward+backward를 t−1 가중치에서 동시에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1183112" cy="40233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A5F68"/>
                </a:solidFill>
                <a:latin typeface="Noto Sans CJK KR"/>
              </a:rPr>
              <a:t>갱신 메모리 5개 {M_k,M_v,M_η,M_α,M_mem} = 2-layer MLP  M_□(·)=(·)+W_{□,1}σ(W_{□,2}·) · q=X·W_q는 유일한 static 선형 투영 · 청크 시작 가중치=(t−1), 갱신 후=(t)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81328"/>
            <a:ext cx="384048" cy="457200"/>
          </a:xfrm>
          <a:prstGeom prst="round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①</a:t>
            </a:r>
          </a:p>
        </p:txBody>
      </p:sp>
      <p:pic>
        <p:nvPicPr>
          <p:cNvPr id="7" name="Picture 6" descr="1b0dd3aa2b90ab8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598676"/>
            <a:ext cx="6528816" cy="2225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006840" y="1481328"/>
            <a:ext cx="2697480" cy="47548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6F97"/>
                </a:solidFill>
                <a:latin typeface="Noto Sans CJK KR"/>
              </a:rPr>
              <a:t>병렬 — MLP forward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048256"/>
            <a:ext cx="384048" cy="457200"/>
          </a:xfrm>
          <a:prstGeom prst="round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②</a:t>
            </a:r>
          </a:p>
        </p:txBody>
      </p:sp>
      <p:pic>
        <p:nvPicPr>
          <p:cNvPr id="10" name="Picture 9" descr="a958ba178caf027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173224"/>
            <a:ext cx="3870960" cy="2072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6840" y="2048256"/>
            <a:ext cx="2697480" cy="47548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6F97"/>
                </a:solidFill>
                <a:latin typeface="Noto Sans CJK KR"/>
              </a:rPr>
              <a:t>병렬 — MLP forward (출력)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615184"/>
            <a:ext cx="384048" cy="45720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③</a:t>
            </a:r>
          </a:p>
        </p:txBody>
      </p:sp>
      <p:pic>
        <p:nvPicPr>
          <p:cNvPr id="13" name="Picture 12" descr="5995b228b1d463b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2734056"/>
            <a:ext cx="2621280" cy="21945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006840" y="2615184"/>
            <a:ext cx="2697480" cy="47548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9D8F"/>
                </a:solidFill>
                <a:latin typeface="Noto Sans CJK KR"/>
              </a:rPr>
              <a:t>병렬 — MLP forward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182112"/>
            <a:ext cx="384048" cy="457200"/>
          </a:xfrm>
          <a:prstGeom prst="roundRect">
            <a:avLst/>
          </a:prstGeom>
          <a:solidFill>
            <a:srgbClr val="C1121F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④</a:t>
            </a:r>
          </a:p>
        </p:txBody>
      </p:sp>
      <p:pic>
        <p:nvPicPr>
          <p:cNvPr id="16" name="Picture 15" descr="620feb3b51d6f1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3290316"/>
            <a:ext cx="3063240" cy="24079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006840" y="3182112"/>
            <a:ext cx="2697480" cy="47548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C1121F"/>
                </a:solidFill>
                <a:latin typeface="Noto Sans CJK KR"/>
              </a:rPr>
              <a:t>= backward (t−1서 동시)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749040"/>
            <a:ext cx="384048" cy="457200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⑤</a:t>
            </a:r>
          </a:p>
        </p:txBody>
      </p:sp>
      <p:pic>
        <p:nvPicPr>
          <p:cNvPr id="19" name="Picture 18" descr="05378bce75efd5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1560" y="3863340"/>
            <a:ext cx="3514344" cy="2286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006840" y="3749040"/>
            <a:ext cx="2697480" cy="47548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C9A227"/>
                </a:solidFill>
                <a:latin typeface="Noto Sans CJK KR"/>
              </a:rPr>
              <a:t>순차 — DGD+decay (Eq 88)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315968"/>
            <a:ext cx="384048" cy="457200"/>
          </a:xfrm>
          <a:prstGeom prst="round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⑥</a:t>
            </a:r>
          </a:p>
        </p:txBody>
      </p:sp>
      <p:pic>
        <p:nvPicPr>
          <p:cNvPr id="22" name="Picture 21" descr="e458f96b9ebf467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1560" y="4434840"/>
            <a:ext cx="3093720" cy="21945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006840" y="4315968"/>
            <a:ext cx="2697480" cy="47548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6F97"/>
                </a:solidFill>
                <a:latin typeface="Noto Sans CJK KR"/>
              </a:rPr>
              <a:t>다음 청크로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029200"/>
            <a:ext cx="11183112" cy="12344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핵심 — MLP forward · 시점 · 병렬성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①②③은 모두 memory MLP의 forward다(단순 matrix read가 아님 — 각 memory가 2-layer MLP). forward(①②③)와 backward(④)를 모두 청크 시작(t−1) 가중치에서 평가 → 동시(병렬; 원문의 chunk-wise dual form). 출력은 갱신 '전'(t−1) 메모리 forward로 내고(②), 갱신된 M^{(t)}는 다음 청크에서 쓰인다 → 인과 유지. 안쪽 optimizer = DGD(Delta GD)+weight decay(Eq 88, decay = α_t I − η_t k_t k_tᵀ), 손실 = ‖M_□(k)−v̂_□‖². q=X·W_q만 static. [원문 Eq 86–91]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CMS — Continuum Memory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long/short를 '연속 주파수'의 메모리 블록들로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554480"/>
            <a:ext cx="27432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f₁ (느림·저주파)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큰 chunk마다 1스텝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566160" y="2011680"/>
            <a:ext cx="822960" cy="0"/>
          </a:xfrm>
          <a:prstGeom prst="line">
            <a:avLst/>
          </a:prstGeom>
          <a:ln w="2032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389120" y="1554480"/>
            <a:ext cx="27432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f₂ (중간)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중간 chunk마다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132320" y="2011680"/>
            <a:ext cx="822959" cy="0"/>
          </a:xfrm>
          <a:prstGeom prst="line">
            <a:avLst/>
          </a:prstGeom>
          <a:ln w="2032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955279" y="1554480"/>
            <a:ext cx="27432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f₃ (빠름·고주파)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작은 chunk마다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60320"/>
            <a:ext cx="10515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5A5F68"/>
                </a:solidFill>
                <a:latin typeface="Noto Sans CJK KR"/>
              </a:rPr>
              <a:t>forward: y = MLP^(f₃)( … MLP^(f₁)(x) )  · 각 블록은 자기 주파수 경계에서 gradient를 모아 1스텝 갱신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063240"/>
            <a:ext cx="5486400" cy="14630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TNT와의 관계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TNT의 global/local(2단계)을 임의 개수의 주파수로 일반화. 느린 블록=장기 문맥, 빠른 블록=국소 세부. 블록 간 전달은 '가중치 복사'가 아니라 forward 활성으로.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063240"/>
            <a:ext cx="5486400" cy="14630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meta-learned 초기상태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각 블록의 '리셋 지점'(초기 상태)은 사전학습으로 meta-learn. 느린 블록이 빠른 블록의 리셋 초기값을 제공. 이건 런타임 diff 전달이 아니라 시작점 설정(→ B6 Sleep가 그 diff 전달을 맡음).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63440"/>
            <a:ext cx="11155680" cy="10058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HOPE = self-modifying Titans + CMS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자기수정(어떻게 기억할지) + 연속 주파수(언제 기억할지)를 합치면, '모든 부품이 어떤 주파수의 메모리'인 하나의 중첩 시스템 = HOPE가 된다.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CMS 1개 MLP — [0, f₁) 과 경계 f₁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self-mod Titans 출력을 받아, 구간엔 누적만·경계 f₁에서 1-step 갱신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1183112" cy="40233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 i="1">
                <a:solidFill>
                  <a:srgbClr val="5A5F68"/>
                </a:solidFill>
                <a:latin typeface="Noto Sans CJK KR"/>
              </a:rPr>
              <a:t>CMS MLP 1블록: 가중치 φ (구간 시작=φ⁽⁰⁾), 갱신 주기 f₁ 토큰 · 입력 uₜ∈ℝ^{d}(토큰별, self-mod Titans 출력) · 줄이는 손실 = 진짜 task loss(next-token)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17904"/>
            <a:ext cx="109728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A9D8F"/>
                </a:solidFill>
                <a:latin typeface="Noto Sans CJK KR"/>
              </a:rPr>
              <a:t>구간 [0, f₁) — 매 토큰 (φ 고정, 누적만; forward들은 완전 병렬)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291840"/>
            <a:ext cx="109728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1121F"/>
                </a:solidFill>
                <a:latin typeface="Noto Sans CJK KR"/>
              </a:rPr>
              <a:t>시점 f₁ — 경계 (딱 1회)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47088"/>
            <a:ext cx="384048" cy="420624"/>
          </a:xfrm>
          <a:prstGeom prst="round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①</a:t>
            </a:r>
          </a:p>
        </p:txBody>
      </p:sp>
      <p:pic>
        <p:nvPicPr>
          <p:cNvPr id="9" name="Picture 8" descr="0c093b6dcef1c0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941576"/>
            <a:ext cx="2740152" cy="2316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52560" y="1847088"/>
            <a:ext cx="2651760" cy="43891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6F97"/>
                </a:solidFill>
                <a:latin typeface="Noto Sans CJK KR"/>
              </a:rPr>
              <a:t>병렬 (토큰별 forward)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395728"/>
            <a:ext cx="384048" cy="420624"/>
          </a:xfrm>
          <a:prstGeom prst="round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②</a:t>
            </a:r>
          </a:p>
        </p:txBody>
      </p:sp>
      <p:pic>
        <p:nvPicPr>
          <p:cNvPr id="12" name="Picture 11" descr="77af370099bf11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496312"/>
            <a:ext cx="4251960" cy="2194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052560" y="2395728"/>
            <a:ext cx="2651760" cy="43891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6F97"/>
                </a:solidFill>
                <a:latin typeface="Noto Sans CJK KR"/>
              </a:rPr>
              <a:t>병렬 누적 (GEMM = Σ_t)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639312"/>
            <a:ext cx="384048" cy="420624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③</a:t>
            </a:r>
          </a:p>
        </p:txBody>
      </p:sp>
      <p:pic>
        <p:nvPicPr>
          <p:cNvPr id="15" name="Picture 14" descr="c40dba8a918b2df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3741420"/>
            <a:ext cx="4440936" cy="2164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052560" y="3639312"/>
            <a:ext cx="2651760" cy="43891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C9A227"/>
                </a:solidFill>
                <a:latin typeface="Noto Sans CJK KR"/>
              </a:rPr>
              <a:t>1 step (경계에서만)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187952"/>
            <a:ext cx="384048" cy="420624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④</a:t>
            </a:r>
          </a:p>
        </p:txBody>
      </p:sp>
      <p:pic>
        <p:nvPicPr>
          <p:cNvPr id="18" name="Picture 17" descr="1bd6e1eac87e80e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4293108"/>
            <a:ext cx="2298192" cy="21031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052560" y="4187952"/>
            <a:ext cx="2651760" cy="43891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9D8F"/>
                </a:solidFill>
                <a:latin typeface="Noto Sans CJK KR"/>
              </a:rPr>
              <a:t>reset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892040"/>
            <a:ext cx="11183112" cy="13716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핵심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30" b="0" i="0">
                <a:solidFill>
                  <a:srgbClr val="22252B"/>
                </a:solidFill>
                <a:latin typeface="Noto Sans CJK KR"/>
              </a:rPr>
              <a:t>① 구간 내내 φ가 고정이라 forward(①)들은 완전 병렬이고, gradient는 accumulator A에 '누적만' 한다(② — 실제 갱신 없음). ② 경계 f₁에서 그 누적을 파라미터에 딱 한 번 적용(③)하고 A를 리셋(④)한다. 이것이 '추론 중에도 천천히 계속 훈련되는' CMS의 실체. 줄이는 손실은 내부 목적이 아니라 진짜 next-token task loss. Transformer의 MLP = 절대 갱신 안 하는(frequency 0) 특수 사례이고, 느린 블록일수록 f가 커서 더 드물게 갱신된다.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HOPE의 렌즈로 앞 4편을 한 문장씩 다시 읽기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1554480" cy="105156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Noto Sans CJK KR"/>
              </a:rPr>
              <a:t>Titans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48840" y="1417320"/>
            <a:ext cx="9509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원래: 메모리 = gradient로 학습되는 신경망(surprise+momentum+forget).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HOPE: HOPE: 그 optimizer(momentum 등)마저 메모리 → 아키텍처와 optimizer가 같은 것의 두 레벨.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60320"/>
            <a:ext cx="1554480" cy="105156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Noto Sans CJK KR"/>
              </a:rPr>
              <a:t>Miras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40" y="2560320"/>
            <a:ext cx="9509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원래: 4축(attentional bias·retention·architecture·algorithm)으로 설계공간을 정의.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HOPE: HOPE: 'algorithm' 축(momentum/Adam/Muon)이 사실 메모리 → architecture·algorithm 축을 하나로 통합.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703320"/>
            <a:ext cx="1554480" cy="105156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Noto Sans CJK KR"/>
              </a:rPr>
              <a:t>Atlas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3703320"/>
            <a:ext cx="9509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원래: feature map으로 용량 확장 + Muon(2차) optimizer로 메모리 학습.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HOPE: HOPE: Muon류 = gradient의 '표현력 큰 메모리' → M3(더 표현력 있는 optimizer)로 일반화.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1554480" cy="105156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Noto Sans CJK KR"/>
              </a:rPr>
              <a:t>TNT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48840" y="4846320"/>
            <a:ext cx="9509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원래: global/local(장기/단기) 2단계 메모리 + train/serve chunk 정렬.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HOPE: HOPE: long/short를 CMS의 '연속 주파수' 스펙트럼으로 확장 — 2단계가 아니라 연속체.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6035040"/>
            <a:ext cx="11155680" cy="5029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한 문장: HOPE는 '모든 부품(투영·게이트·optimizer·장단기 메모리)이 어떤 주파수의 메모리'라는 하나의 중첩 시스템으로 앞 4편을 통합한다.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HOPE — 증명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레벨이 ICL을, 표현력 큰 optimizer가 학습을 개선한다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329184" y="2247767"/>
            <a:ext cx="3867912" cy="99086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4343"/>
            <a:ext cx="3794760" cy="9177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4151376"/>
            <a:ext cx="37947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메모리 레벨↑ → ICL(NIAH) 성능↑ (structural)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2512.24695 Fig.7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3772" y="1335024"/>
            <a:ext cx="1656270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0348" y="1371600"/>
            <a:ext cx="1583118" cy="2743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24528" y="4151376"/>
            <a:ext cx="37947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BABILong: HOPE가 대형 모델과 견줌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2512.24695 Fig.9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93851" y="1335024"/>
            <a:ext cx="3373649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ig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0427" y="1371600"/>
            <a:ext cx="3300497" cy="2743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083296" y="4151376"/>
            <a:ext cx="37947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M3 optimizer: ViT에서 AdamW·Muon 대비 개선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2512.24695 Fig.11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754880"/>
            <a:ext cx="11155680" cy="9144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읽는 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왼쪽=중첩 레벨을 늘릴수록 in-context 성능이 오른다(ICL=structural 주장의 증거). 가운데=초장문 추론에서 경쟁력. 오른쪽=optimizer를 메모리로 보는 관점이 실제 학습(ViT)에서도 이득.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HOPE — 한계 &amp; Sleep으로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이 라인의 문제는 풀리기는커녕 커졌다 — 남은 절반을 Sleep이 채운다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32461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논문이 스스로 그은 한계 4가지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① catastrophic forgetting 미해결 — forgetting은 압축의 필연(용량 유한). CMS는 '어디서·얼마나 빨리 잊을지'를 주파수 축에 재배치했을 뿐, 원리적으로 푼 게 아니다.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② level 설계가 경험적 — level 몇 개·주파수 얼마·무엇을 어디 놓을지 이론 없음. query projection을 memory화하면 오히려 나빠지는 반례도(잘못 놓인 level은 해).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③ 이론이 재해석까지만 — optimizer 역공학은 존재 논증이지 유일성 증명 아님, level 표현력 정리 없음.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④ 서빙 경제학·스케일 미검증 — from-scratch 1.3B/100B, retrofit도 Llama3-8B까지. decode wall-clock 전무.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155448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systems — batching이 깨진다 (Part C 예고)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self-modifying Titans state = per-request mutable weights. KV cache(read-only, weight 공유 batch)와 달리 shared-weight batching이 깨진다.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A6F97"/>
                </a:solidFill>
                <a:latin typeface="Noto Sans CJK KR"/>
              </a:rPr>
              <a:t>배칭은 가능하나 각 요청의 arithmetic intensity가 batch 크기 B와 무관 → 대역폭이 배치를 조기에 닫는다(never-average).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2971800"/>
            <a:ext cx="5486400" cy="15544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다음으로의 연결 — Sleep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신경생리학의 consolidation은 2단계. NL은 그중 online consolidation(입력 흐르는 동안 CMS 갱신)만 구현했다.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C9A227"/>
                </a:solidFill>
                <a:latin typeface="Noto Sans CJK KR"/>
              </a:rPr>
              <a:t>수면 replay로 기억을 재조직하는 offline consolidation은 명시적으로 범위 밖. 남는 질문: 빠른 level 지식이 예정된 갱신으로 덮이기 전에 어디로 옮길 것인가?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663440"/>
            <a:ext cx="11183112" cy="8229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한 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HOPE = expressive optimizer(DGD·Delta Momentum·M3) + CMS(주파수 스펙트럼 memory) + self-modifying Titans를 직렬 결합. '더 많은 layer가 아니라 더 많은 level'을 실증 — 단 짧은 recall gap과 서빙 경제학은 미해소, 그리고 offline consolidation을 Sleep에 넘긴다.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HOPE — 개념 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여기서 얻을 핵심 개념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5486400" cy="104698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Nested Learning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모델 + 훈련 절차 = 하나의 중첩 다층 최적화 시스템.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25880"/>
            <a:ext cx="5486400" cy="104698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backprop도 memory다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backprop·momentum·Adam·Muon = gradient에 대한 associative memory(핵심 통찰).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00884"/>
            <a:ext cx="5486400" cy="104698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expressive optimizer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optimizer도 memory이므로 표현력을 키움: DGD·Delta Momentum·M3.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500884"/>
            <a:ext cx="5486400" cy="104698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CMS (연속 주파수)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여러 주기의 MLP 사슬 = long/short의 주파수 스펙트럼. Transformer MLP는 특수 사례.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675888"/>
            <a:ext cx="5486400" cy="104698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self-modifying Titans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투영·게이트·lr까지 memory화(q만 static). 자기 갱신 규칙을 스스로 수정.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675888"/>
            <a:ext cx="5486400" cy="104698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ICL = structural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in-context learning은 창발이 아니라 ≥2레벨 중첩 최적화의 구조적 결과.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50892"/>
            <a:ext cx="5486400" cy="104698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HOPE = 세 생성물 결합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self-mod Titans(작고 똑똑) 뒤에 CMS(크고 느림)를 직렬로.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850892"/>
            <a:ext cx="5486400" cy="104698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더 많은 layer가 아니라 level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길이 일반화·continual learning은 level 수가 사준다.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989320"/>
            <a:ext cx="11183112" cy="56692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한 문장으로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optimizer=memory라는 통찰로 아키텍처와 optimizer를 하나의 중첩 시스템으로 통합 — '모든 부품이 어떤 주파수의 memory'.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(2606.03979)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Sleep — 자는 동안 지식을 '위로' 옮겨 파라미터를 키운다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wake/sleep lifecycle: 추론(wake)과 오프라인 통합(sleep)을 분리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sleep은 별도 오프라인 단계 — 이때는 서빙하지 않고 그동안 배운 것을 정리·통합한다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Memory Consolidation = Knowledge Seeding: 배운 지식을 상위로 distill해 low-rank expert를 '성장'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NL의 online consolidation은 초기상태(reset)만 meta-learn — '학습된 diff의 위쪽 전달'은 못 했다. Sleep가 그것을 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Dreaming: 스스로 만든 데이터로 자기개선(SEAL식 RL)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teacher가 '꿈'(자기 생성 시퀀스)을 만들고 RL로 강화 — 외부 데이터 없이 능력 향상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NL online consolidation(초기상태 meta-learn + circle-back)은 고정 용량 한계 → 오프라인으로 파라미터 성장 → GKD(on-policy)+LTI(RL) → 새 low-rank expert만 학습(나머지 freeze) → synaptic pruning → Dreaming 자기개선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class-incremental(CLINC/Banking/DBpedia) 지속학습, 메모리 레벨 효과, BABILong 등으로 통합 효과 입증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NL은 online consolidation 절반만 했다 — 잊히기 전에 옮길 곳이 없다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2788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NL이 남긴 숙제 4가지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① catastrophic forgetting 미해결 — 여러 주기로 덮어쓰기를 지연해도, 모든 층의 갱신 시점이 겹치면 결국 덮어쓴다.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② NL 저자 스스로 'offline consolidation(자면서 정리)은 범위 밖'이라 명시 — 온라인 절반만.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③ capacity 고정 — 유한 파라미터에 계속 압축해 넣으면 언젠가 옛 지식을 덮어쓴다.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④ 입력을 끊고 자기 내부를 정리할 시간이 설계에 없다.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27889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anterograde amnesia (기억상실증)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배포된 LLM의 지식은 두 곳에만 산다: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• 세션 끝나면 사라지는 context window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• pre-training 때 얼어붙은 weight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C1121F"/>
                </a:solidFill>
                <a:latin typeface="Noto Sans CJK KR"/>
              </a:rPr>
              <a:t>이 둘을 잇는 다리가 없다 = 새 장기기억을 못 만드는 '영원한 현재'.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A6F97"/>
                </a:solidFill>
                <a:latin typeface="Noto Sans CJK KR"/>
              </a:rPr>
              <a:t>남는 질문: 빠른 level의 지식이 예정된 갱신으로 덮어써지기 전에, 그걸 어디로 옮길 것인가?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206240"/>
            <a:ext cx="11183112" cy="11430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Sleep의 답 (미리보기)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wake/sleep lifecycle을 세워, 잠자는 동안 그 지식을 더 느린 블록에 '새 expert로 위쪽 distillation'하고, forgetting을 regularization이 아니라 'capacity 성장'으로 재정의한다. 그 발화 시점이 정확히 CMS의 chunk 경계.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가설: wake/sleep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축을 하나 더 — 수식의 축이 아니라 '시간'의 축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494017"/>
            <a:ext cx="5285232" cy="249836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30593"/>
            <a:ext cx="5212080" cy="24252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1 — conventional(train/test 분리) vs continual(Active↔Sleep 주기 교대)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2606.03979 Fig.1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3716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lifecycle + inference 번역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sleep = 수동적 멈춤이 아니라 능동적 내부 처리(외부 입력 끊고, 고주파 모듈 기억을 느리고 안정적인 성분으로 굳힘).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A6F97"/>
                </a:solidFill>
                <a:latin typeface="Noto Sans CJK KR"/>
              </a:rPr>
              <a:t>= 서빙 fleet에 붙는 주기적 백그라운드 job. 낮=요청 처리하며 fast memory에 write, 밤=트래픽 끊고 compaction·GC. 단 대상이 로그/cache가 아니라 파라미터.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834640"/>
            <a:ext cx="5806440" cy="9601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online-only의 3결함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① 추상화 수준 그대로(추가 압축 없이 옮겨 capacity 또 씀) ② 선택적·retrieval 의존(자주 부르는 것만 강화) ③ context에 갇힘(상위 통합 안 됨).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754880"/>
            <a:ext cx="11183112" cy="86868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세 가지 핵심 주장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① continual learner엔 train time도 test time도 없다('test time'이란 단어의 마지막 잔재를 지움). ② catastrophic forgetting은 근본적으로 capacity 문제 → '덮어쓰지 말고 키워라'. ③ sleep은 2단계: Memory Consolidation(NREM) + Dreaming(REM).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wake 기반: CMS 갱신 스케줄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sleep은 학습되지 않고 chunk 경계에 고정된다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929057"/>
            <a:ext cx="5285232" cy="1674005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65633"/>
            <a:ext cx="5212080" cy="160085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9709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7 — High/Mid/Low FFN이 1k/5k/10k 토큰 주기로 배열된 CMS 사슬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2606.03979 Fig.7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3716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구조 (NL의 CMS를 그대로 수입)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sequence-mixing layer(attention/Titans) + 여러 주기의 MLP 블록 사슬.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각 블록은 토큰마다 error 기여분을 누적하고, 자기 chunk 경계에서만 그 누적을 파라미터에 한 번 적용.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834640"/>
            <a:ext cx="5806440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sleep 발화 시점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어떤 블록이 자기 갱신 경계에 도달하면, 갱신하기 직전에 그 블록의 지식을 '한 단계 느린 블록'으로 먼저 옮긴다.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800600"/>
            <a:ext cx="11183112" cy="86868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왜 여기가 catastrophic forgetting이 터질 자리인가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주기가 중첩 → 다대일(빠른 블록 10번 갱신 동안 느린 블록 1번). 같은 크기의 느린 메모리에 10번을 반복해 써 넣게 됨 → 바로 그 지점이 CF가 터질 자리 → 다음의 parameter expansion이 필요.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Stage 1: Memory Consolidation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덮어쓰지 말고 키워라 + 지식을 '위로' 증류(upward)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041817"/>
            <a:ext cx="5285232" cy="140276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78393"/>
            <a:ext cx="5212080" cy="13296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2 — 파라미터를 늘리고(capacity), 사라질 지식을 새 공간에 증류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2606.03979 Fig.2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0515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① parameter expansion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consolidation 받는 블록에 새 파라미터를 연다(새 MLP/Linear expert 하나). '자기 전에 파라미터를 키운다'.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487168"/>
            <a:ext cx="580644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② Knowledge Seeding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지식 추상을 고주파→저주파 메모리로 이전. GKD distillation(teacher 데이터 + student rollout) + Imitation Learning(RL).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3602736"/>
            <a:ext cx="5806440" cy="10515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반전 — upward distillation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보통 distillation은 큰 teacher→작은 student로 내려보내는데, 여기선 방향이 반대(작은 것 → 큰 것). 그래서 upward distillation.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54880"/>
            <a:ext cx="11183112" cy="8686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B5(HOPE)와의 연결 — 빠진 조각을 채운다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HOPE의 CMS는 '느린 블록이 빠른 블록의 리셋 초기값'을 줄 뿐(런타임 diff 전달 아님). Sleep는 오프라인에서 빠른 메모리가 배운 것을 새 expert로 만들어 느린 블록에 '실제로' 얹는다 = 위쪽 전달.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Consolidation 상세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새 low-rank expert에만 쓰고 · self-generated로 배우고 · 옮긴 뒤에만 지운다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1a. parameter expansion — '덮어쓸 수 없게' 만든다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각 MLP = 여러 expert를 가진 sparse MoE. 빠른 블록 지식을 옮길 때 새 low-rank expert 하나 추가(A d×r, B r×d). 옮겨지는 지식은 오직 이 새 파라미터에만 → 옛 지식 물리 자리를 안 건드림(정규화로 '잊지마' 부탁이 아니라 애초에 덮어쓸 수 없게).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A6F97"/>
                </a:solidFill>
                <a:latin typeface="Noto Sans CJK KR"/>
              </a:rPr>
              <a:t>[구현] 미래 expert 전부를 초기화 시점에 사전할당하고 mask만 씌운다 → 'expert 추가'는 실제론 mask 하나 여는 것. shape가 정적으로 유지(컴파일 그래프·kernel·checkpoint 안 흔들림).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651760"/>
            <a:ext cx="5486400" cy="1874519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1b. Knowledge Seeding — teacher/student가 누구인가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teacher = expansion 전 모델(빠른 블록이 아직 안 덮인, 그 지식을 든 자기 자신).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student = 확장 + 빠른 블록 갱신 후(빠른 블록 지식은 잃고, 느린 블록에 빈 expert 하나 받은 상태).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9A227"/>
                </a:solidFill>
                <a:latin typeface="Noto Sans CJK KR"/>
              </a:rPr>
              <a:t>distillation이 student 출력을 teacher로 당김 — 움직일 수 있는 건 새 expert뿐. GKD = teacher 데이터 + student on-policy rollout. student 전부 freeze, 새 expert만 학습.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2651760"/>
            <a:ext cx="5486400" cy="1874519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1c. LTI + synaptic-pruning reset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distillation만으론 '아는 것 ≠ 쓰는 것' — teacher를 약하게만 흉내. LTI(RL): teacher 데이터 앞부분 주고 이어쓰게 해, 잘 쓰면 보상.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보상 = semantic(frozen reward model, 의미 같으면 1) + absolute(편집거리 토큰 유사도).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1121F"/>
                </a:solidFill>
                <a:latin typeface="Noto Sans CJK KR"/>
              </a:rPr>
              <a:t>끝나면 reset: 빠른 블록의 과거 expert들을 지워 capacity 회수 = 'eviction 전 write-back' cache 정책.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663440"/>
            <a:ext cx="11183112" cy="6858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순 효과 — 하나의 불변식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빠른 메모리는 작고 유연하게, 느린 메모리는 단조 성장하며 '신선한 expert로만' 쓰인다.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Stage 2: Dreaming + 정직성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자기 생성 데이터로 자신을 고쳐 쓴다 (REM) — 단 knob은 meta-learn 안 됨</a:t>
            </a:r>
          </a:p>
        </p:txBody>
      </p:sp>
      <p:sp>
        <p:nvSpPr>
          <p:cNvPr id="5" name="Rectangle 4"/>
          <p:cNvSpPr/>
          <p:nvPr/>
        </p:nvSpPr>
        <p:spPr>
          <a:xfrm>
            <a:off x="1115807" y="1335024"/>
            <a:ext cx="3986304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383" y="1371600"/>
            <a:ext cx="3913152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8 — sleep 사이클마다 router가 expert를 골라 갱신, random expert로 novelty 주입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2606.03979 Fig.8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6916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Dreaming (SEAL 위에 시연, plug-in)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모델이 성능을 올려 줄 합성 데이터(dream)를 스스로 생성하는 self-modification. 5단계: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생성(모든 MoE router가 random expert 추가로 켬=novelty 주입) → 선별(gradient importance) → 적용(격리 복사본 LoRA fine-tune) → 보상(실제 task 개선되면 1) → 강화(ReST^EM, value network 없는 EM RL).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9A227"/>
                </a:solidFill>
                <a:latin typeface="Noto Sans CJK KR"/>
              </a:rPr>
              <a:t>consolidation 먼저·dreaming 나중: 취약 지식을 새 expert에 격리한 뒤 반복 self-training.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3200400"/>
            <a:ext cx="5806440" cy="14630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세 번째 regime + 정직한 이음새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regime 1 pre-training · 2 wake(CMS 갱신) · 3 sleep(배포 중 주기적 '진짜 gradient 훈련', 신세계).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1121F"/>
                </a:solidFill>
                <a:latin typeface="Noto Sans CJK KR"/>
              </a:rPr>
              <a:t>caveat: sleep 기제(혼합계수·reward model·ReST^EM)는 pre-training에서 end-to-end meta-learn 안 됨 — 이 라인 최초로 핵심이 미분되는 inner loop가 아니라 알고리즘 wrapper. 실험 대부분이 Llama/Qwen에 graft.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754880"/>
            <a:ext cx="11183112" cy="65836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왜 이 순서(consolidate→dream)인가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갓 배운 취약한 지식을 새 expert에 격리해 둔 다음 dreaming의 반복 self-training을 돌려야, 그 지식이 덜 잊힌다.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결과 &amp; 6편의 완성형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방향은 일관 · 서빙 형태가 바뀐다 · 단 실증은 1.3B에 멈춤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124253"/>
            <a:ext cx="5285232" cy="123789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60829"/>
            <a:ext cx="5212080" cy="11647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3 — class-incremental(CLINC 등): consolidation 얹은 Hope가 ICL·EWC·순정 Hope 상회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2606.03979 Fig.3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5087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결과 (방향·비율)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sleep 단계 늘릴수록 단조 개선. SQuAD SEAL 프로토콜에서 Sleep&gt;SEAL(Dreaming 제거하면 폭락). few-shot ARC: Llama-1B ICL 0%→SEAL 72.5%→Sleep 80%. 수학 Qwen3-8B AIME-24 Sleep 79.2 &gt; GRPO 76.4.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9A227"/>
                </a:solidFill>
                <a:latin typeface="Noto Sans CJK KR"/>
              </a:rPr>
              <a:t>효율: step당 SFT의 4배지만, 목표 성능 wall-clock은 SFT가 3.6~4.8배 더 걸림 → 사는 건 싼 step이 아니라 step·sample 효율.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971800"/>
            <a:ext cx="5806440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Systems 함의 (Part C 예고)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inference가 forward-only가 아님(RMW 트래픽=cost model 새 항). session state = KV cache가 아니라 per-user weight-delta(=multi-tenant LoRA 서빙). sleep = 서빙에 붙는 스케줄 훈련 job, 매번 새 버전.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709160"/>
            <a:ext cx="11183112" cy="9144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6편의 완성형 (개념적)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state는 모든 시간규모에서 weight · 모든 블록은 같은 associative memory · inner optimizer는 아키텍처와 대등한 설계면 · 훈련은 어디서나 chunk-anchored · lifecycle은 wake/sleep. Titans가 연 'test-time 학습'이 여섯 편째에 train/test 경계 자체를 지운다. (단 from-scratch 실증은 아직 1.3B.)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개념 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여기서 얻을 핵심 개념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wake/sleep lifecycle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train/test 경계를 지우고 Active(wake)와 Sleep을 주기적으로 교대.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25880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CF = capacity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forgetting은 압축의 필연 → 처방은 '덮어쓰지 말고 키워라'.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00884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parameter expansion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새 low-rank expert만 추가(옛 자리 안 건드림). mask 사전할당으로 shape 정적.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500884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Knowledge Seeding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작은 것→큰 것 upward distillation(GKD on-policy + LTI RL).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675888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upward distillation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빠른(고주파) 메모리의 지식을 느린 블록의 새 expert로 위쪽 전달.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675888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synaptic-pruning reset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옮긴 뒤에만 지운다 = eviction 전 write-back cache 정책.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50892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Dreaming (SEAL)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자기 생성 데이터로 자신을 고쳐 씀(REM). random expert로 novelty 주입.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850892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세 번째 regime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pre-training·wake에 더해 sleep = 배포 중 주기적 '진짜 gradient 훈련'.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989320"/>
            <a:ext cx="11183112" cy="56692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한 문장으로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online consolidation의 나머지 절반(offline)을 채워 6편의 완성형 — 서빙 fleet에 밤마다 붙는 훈련 job.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Noto Sans CJK KR"/>
              </a:rPr>
              <a:t>PART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545775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Noto Sans CJK KR"/>
              </a:rPr>
              <a:t>System modeling (우리 기여) — 이 배포는 서빙에서 얼마나 드나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C0 · 방법론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무엇으로 뽑았고, 왜 신뢰할 수 있나 — HAT HW schema + HATIR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34440"/>
            <a:ext cx="5486400" cy="17830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HAT HW schema — 가속기의 '디지털 트윈'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무엇: 가속기를 기술하는 정식 스키마(SoT). die/PE 내부(SM→ALU→ISA), 메모리 계층(HBM/L2/SRAM의 대역폭·용량), peak FLOPS를 담는다.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input: 벤더 spec(여러 번 교차검색해 신뢰).  output: .hw JSON '트윈'.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A6F97"/>
                </a:solidFill>
                <a:latin typeface="Noto Sans CJK KR"/>
              </a:rPr>
              <a:t>검증: schema의 verify(committee). — 증거: 수정 안 한 vLLM이 이 트윈(가짜 device)을 진짜로 믿고 구동.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34440"/>
            <a:ext cx="5486400" cy="17830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HATIR — 순수 비용(cost) 모델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무엇: HAT IR 기반 비용 모델. 트윈과 workload를 받아 roofline 기반 시간·에너지를 낸다.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input: HW twin(.hw) + workload trace(연산 DAG).  output: 시간·에너지의 ideal 하한.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A6F97"/>
                </a:solidFill>
                <a:latin typeface="Noto Sans CJK KR"/>
              </a:rPr>
              <a:t>특징: magic derate·regression fitting 없이 독립 물리 요소로 분해(냉정한 하한).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154680"/>
            <a:ext cx="11183112" cy="84124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신뢰성 원칙 — 절대값이 아니라 'trend 정합'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정합 = 여러 시나리오에서 trend 일관성(절대 수치 매칭 아님). ZigZag 등 기존 도구와 7/7 일치, 42 curves / 7 아키텍처 / 12 families에서 97.6% trend 일치, fitting 없음. → 이 파트의 모든 수치는 'ideal roofline 하한'(달성 가능한 최선)으로 읽어야 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160520"/>
            <a:ext cx="11183112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242816"/>
            <a:ext cx="73152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실험 조건 (전 Part C 공통) — 모두 명시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617720"/>
            <a:ext cx="3657600" cy="1554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C9A227"/>
                </a:solidFill>
                <a:latin typeface="Noto Sans CJK KR"/>
              </a:rPr>
              <a:t>HW twin — H100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HBM3 대역폭 3.35 TB/s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peak 0.99 PF (989 TFLOPS, bf16)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ridge 295 FLOP/byte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on-chip SRAM 10 TB/s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baseline L2 50 MB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4617720"/>
            <a:ext cx="3657600" cy="1554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C9A227"/>
                </a:solidFill>
                <a:latin typeface="Noto Sans CJK KR"/>
              </a:rPr>
              <a:t>model — 1 HOPE block (B=1)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d = 2048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self-mod Titans 5 memory: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Mono CJK KR"/>
              </a:rPr>
              <a:t>  {M_k,M_v,M_η,M_α: d², M_mem: 2d²}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CMS 3 레벨 (각 d→4d→d MLP)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state(RMW) 134 MB · weights 277 MB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4617720"/>
            <a:ext cx="3474720" cy="1554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C9A227"/>
                </a:solidFill>
                <a:latin typeface="Noto Sans CJK KR"/>
              </a:rPr>
              <a:t>가정 (assumptions)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decode C=1 (토큰당)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kernel launch time = 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gradient는 chunk 시작 상태에서 평가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출력은 갱신 전(pre-update) MLP forward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Mono CJK KR"/>
              </a:rPr>
              <a:t>수치 = max(FLOP/peak, bytes/BW)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C1 · pair 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학습은 compute-bound, 디코드는 memory-bound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5486400" cy="18288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학습(training) — compute-bound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chunk C를 크게 잡아 병렬 → 연산/바이트(arithmetic intensity)가 높다.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roofline의 오른쪽(연산 한계) → 더 빠른 연산기가 이득.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371600"/>
            <a:ext cx="5486400" cy="182880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디코드(decode) — memory-bound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chunk=1, 토큰마다 '전체 상태(state+weights)'를 read-modify-write.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arithmetic intensity가 낮다 → roofline의 왼쪽(대역폭 한계).</a:t>
            </a:r>
          </a:p>
        </p:txBody>
      </p:sp>
      <p:sp>
        <p:nvSpPr>
          <p:cNvPr id="7" name="Rectangle 6"/>
          <p:cNvSpPr/>
          <p:nvPr/>
        </p:nvSpPr>
        <p:spPr>
          <a:xfrm>
            <a:off x="895197" y="3392424"/>
            <a:ext cx="4747564" cy="202082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4-sstar-invari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1773" y="3429000"/>
            <a:ext cx="4674412" cy="19476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5394959"/>
            <a:ext cx="5532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S*(KV↔TTT 교차점)=65536 tokens — 8개 가속기 전부 동일 = 하드웨어가 아니라 workload의 성질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429000"/>
            <a:ext cx="5486400" cy="21031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왜 중요한가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메모리 상태를 갱신하는 이 계열은 디코드에서 구조적으로 memory-bound다. 그리고 그 경계(S*)는 하드웨어를 바꿔도 변하지 않는다(invariant). 즉 '어느 칩을 써도' 디코드 비용은 메모리 대역폭이 지배한다.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A6F97"/>
                </a:solidFill>
                <a:latin typeface="Noto Sans CJK KR"/>
              </a:rPr>
              <a:t>→ 이후 슬라이드: 실제 8칩 측정 · HOPE block roofline · 메모리 기술(zHBM/PIM/SRAM) · 청사진.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C2 · 8개 가속기 크로스 측정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5자릿수 스프레드, 그러나 대부분 memory-bound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482725"/>
            <a:ext cx="5605272" cy="268554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-decode-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19301"/>
            <a:ext cx="5532120" cy="26123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97679"/>
            <a:ext cx="5532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토큰당 decode 시간(ideal 하한, log) — MTIA v2 ~31ms에서 WSE-3 ~0.0003ms까지</a:t>
            </a:r>
          </a:p>
        </p:txBody>
      </p:sp>
      <p:sp>
        <p:nvSpPr>
          <p:cNvPr id="8" name="Rectangle 7"/>
          <p:cNvSpPr/>
          <p:nvPr/>
        </p:nvSpPr>
        <p:spPr>
          <a:xfrm>
            <a:off x="6227064" y="1664970"/>
            <a:ext cx="5468112" cy="23210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4-sstar-invari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701546"/>
            <a:ext cx="5394960" cy="22479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297679"/>
            <a:ext cx="53949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S* 불변: 8개 아키텍처가 같은 교차점 — workload 고유 성질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00600"/>
            <a:ext cx="11155680" cy="9144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읽는 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8칩 중 7개가 memory-bound(대역폭이 결정). 예외는 WSE-3(Cerebras) — 거대한 on-chip SRAM으로 상태를 상주시켜 compute 쪽으로 넘어가는 'knee'가 생긴다. 각 칩 spec은 HAT hw twin으로 검증(die/PE 구조까지).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C3 · HOPE block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1개 block의 전 연산 (H100 트윈, d=2048, C=1) — 21개 op을 4단계로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08760" y="1325880"/>
            <a:ext cx="3749039" cy="402336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입력 X  [1, d]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383280" y="1746503"/>
            <a:ext cx="0" cy="137160"/>
          </a:xfrm>
          <a:prstGeom prst="line">
            <a:avLst/>
          </a:prstGeom>
          <a:ln w="2032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02920" y="1874519"/>
            <a:ext cx="5760720" cy="676656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① 투영 (self-mod Titans) · GEMM · 17.5µs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q=X·Wq(static) · k=M_k(X) · v=M_v(X) · η=M_η(X) · α=M_α(X)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383280" y="2542032"/>
            <a:ext cx="0" cy="137159"/>
          </a:xfrm>
          <a:prstGeom prst="line">
            <a:avLst/>
          </a:prstGeom>
          <a:ln w="2032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02920" y="2670048"/>
            <a:ext cx="5760720" cy="5486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② M_mem MLP forward (pre-update) · 5µs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o = M_mem(q) — 갱신 '전' 메모리 MLP forward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383280" y="3209544"/>
            <a:ext cx="0" cy="137159"/>
          </a:xfrm>
          <a:prstGeom prst="line">
            <a:avLst/>
          </a:prstGeom>
          <a:ln w="2032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2920" y="3337560"/>
            <a:ext cx="5760720" cy="786384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③ update 5 memory · 60µs  (RMW 40µs 지배)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각 memory: compute(GEMM 20µs) + DGD-apply(state RMW 40µs). RMW = memory-bound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383280" y="4114800"/>
            <a:ext cx="0" cy="137159"/>
          </a:xfrm>
          <a:prstGeom prst="line">
            <a:avLst/>
          </a:prstGeom>
          <a:ln w="2032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02920" y="4242816"/>
            <a:ext cx="5760720" cy="86868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④ CMS 사슬 · 120µs  (RMW 40µs 지배)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L1→L2→L3 fwd (20×3=60µs) + L1 update(compute 20 + DGD-apply RMW 40µs)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1325880"/>
            <a:ext cx="516636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141732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op-time 분해 (합계 202.8µs, ideal 하한)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1874519"/>
            <a:ext cx="4023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2252B"/>
                </a:solidFill>
                <a:latin typeface="Noto Sans CJK KR"/>
              </a:rPr>
              <a:t>① 투영 GEMM (q·k·v·η·α)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44200" y="1874519"/>
            <a:ext cx="8686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2252B"/>
                </a:solidFill>
                <a:latin typeface="Noto Sans CJK KR"/>
              </a:rPr>
              <a:t>17.5µs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2240279"/>
            <a:ext cx="4023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2252B"/>
                </a:solidFill>
                <a:latin typeface="Noto Sans CJK KR"/>
              </a:rPr>
              <a:t>② M_mem forward o=M_mem(q) [pre-update]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44200" y="2240279"/>
            <a:ext cx="8686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2252B"/>
                </a:solidFill>
                <a:latin typeface="Noto Sans CJK KR"/>
              </a:rPr>
              <a:t>5.0µs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2606039"/>
            <a:ext cx="4023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2252B"/>
                </a:solidFill>
                <a:latin typeface="Noto Sans CJK KR"/>
              </a:rPr>
              <a:t>③ update-compute (5 memory, GEMM)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44200" y="2606039"/>
            <a:ext cx="8686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2252B"/>
                </a:solidFill>
                <a:latin typeface="Noto Sans CJK KR"/>
              </a:rPr>
              <a:t>20.0µs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2971799"/>
            <a:ext cx="4023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C1121F"/>
                </a:solidFill>
                <a:latin typeface="Noto Sans CJK KR"/>
              </a:rPr>
              <a:t>③ DGD-apply (5 memory, state RMW)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44200" y="2971799"/>
            <a:ext cx="8686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C1121F"/>
                </a:solidFill>
                <a:latin typeface="Noto Sans CJK KR"/>
              </a:rPr>
              <a:t>40.0µs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337559"/>
            <a:ext cx="4023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2252B"/>
                </a:solidFill>
                <a:latin typeface="Noto Sans CJK KR"/>
              </a:rPr>
              <a:t>④ CMS L1/L2/L3 fwd (d→4d→d)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44200" y="3337559"/>
            <a:ext cx="8686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2252B"/>
                </a:solidFill>
                <a:latin typeface="Noto Sans CJK KR"/>
              </a:rPr>
              <a:t>60.0µs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3703320"/>
            <a:ext cx="4023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2252B"/>
                </a:solidFill>
                <a:latin typeface="Noto Sans CJK KR"/>
              </a:rPr>
              <a:t>④ CMS L1 update-compute (GEMM)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44200" y="3703320"/>
            <a:ext cx="8686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2252B"/>
                </a:solidFill>
                <a:latin typeface="Noto Sans CJK KR"/>
              </a:rPr>
              <a:t>20.0µs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4069080"/>
            <a:ext cx="4023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C1121F"/>
                </a:solidFill>
                <a:latin typeface="Noto Sans CJK KR"/>
              </a:rPr>
              <a:t>④ CMS L1 DGD-apply (state RMW)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44200" y="4069080"/>
            <a:ext cx="8686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C1121F"/>
                </a:solidFill>
                <a:latin typeface="Noto Sans CJK KR"/>
              </a:rPr>
              <a:t>40.0µs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20840" y="4590288"/>
            <a:ext cx="4800600" cy="384048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C1121F"/>
                </a:solidFill>
                <a:latin typeface="Noto Sans CJK KR"/>
              </a:rPr>
              <a:t>memory-bound RMW 합 = 80µs (전체의 40%)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257800"/>
            <a:ext cx="11183112" cy="56692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정리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compute(GEMM)는 텐서코어로 싸지만, state RMW(빨강) 80µs가 단일 최대 비용 덩어리 — 이게 decode를 memory-bound로 만든다.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C3 · roofline &amp; 병목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decode C=1은 roofline 왼쪽(memory-bound) — state를 매 토큰 HBM에서 RMW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058863"/>
            <a:ext cx="5925312" cy="1899025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-hope-roof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95439"/>
            <a:ext cx="5852160" cy="182587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663440"/>
            <a:ext cx="5852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(a) block AI vs chunk C — ridge 295 아래 = memory-bound  (b) op별 시간  (c) baseline vs HBM-PIM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37960" y="1371600"/>
            <a:ext cx="5166360" cy="14173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왜 memory-bound인가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block의 arithmetic intensity = FLOP/bytes = 1.08e9 / 6.80e8 ≈ 1.6 FLOP/byte.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C1121F"/>
                </a:solidFill>
                <a:latin typeface="Noto Sans CJK KR"/>
              </a:rPr>
              <a:t>H100 ridge = 295 FLOP/byte보다 한참 낮다 → 대역폭이 병목(roofline 왼쪽).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37960" y="2880360"/>
            <a:ext cx="5166360" cy="12344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병목의 정체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state(134MB, RMW되는 부분) + weights(277MB)를 매 토큰 HBM(3.35TB/s)에서 읽어야 한다. 이상적으로도 411MB / 3.35TB/s ≈ 123µs는 대역폭에 묶인다 → block당 ~203µs.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37960" y="4206240"/>
            <a:ext cx="5166360" cy="86868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그래서 다음(C4)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compute를 키워도 소용없다. 답은 '대역폭↑'(zHBM) 또는 'state를 on-chip에 상주'(SRAM). PIM은 in-bank 연산이 이 RMW엔 너무 느리다.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212080"/>
            <a:ext cx="5852160" cy="5943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C9A227"/>
                </a:solidFill>
                <a:latin typeface="Noto Sans CJK KR"/>
              </a:rPr>
              <a:t>H100 트윈 spec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HBM3 3.35 TB/s · peak 0.99 PF · ridge 295 FLOP/B · SRAM 10 TB/s · L2 50 MB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C4 · 메모리 기술 — zHBM · HBM-PIM · SRAM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memory-bound라면 답은 '대역폭'과 '상주'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778706"/>
            <a:ext cx="5605272" cy="2093578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-zhbm-p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15282"/>
            <a:ext cx="5532120" cy="20204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97679"/>
            <a:ext cx="5532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HBM/zHBM/HBM-PIM/zHBM-PIM decode 비용 + zHBM 내부 연산 추가 면적</a:t>
            </a:r>
          </a:p>
        </p:txBody>
      </p:sp>
      <p:sp>
        <p:nvSpPr>
          <p:cNvPr id="8" name="Rectangle 7"/>
          <p:cNvSpPr/>
          <p:nvPr/>
        </p:nvSpPr>
        <p:spPr>
          <a:xfrm>
            <a:off x="6293684" y="1335024"/>
            <a:ext cx="5334870" cy="298094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-sram-scal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0260" y="1371600"/>
            <a:ext cx="5261718" cy="29077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297679"/>
            <a:ext cx="53949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on-chip SRAM 1x→10x: state가 상주하는 순간(5x~) HBM 대신 SRAM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00600"/>
            <a:ext cx="11155680" cy="9144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결론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zHBM(대역폭↑)이 HBM-PIM(in-bank 연산이 너무 느림)보다 유리. SRAM은 '문턱' 구조 — state(≈134MB)가 on-chip에 들어가는 5x(250MB)부터 이득(203→150µs), 10x(500MB)면 weights까지 전부 상주.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C5 · scaling 청사진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논문의 방향 × 모델링 결과 = 어디로 가야 하나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586285"/>
            <a:ext cx="5605272" cy="2478421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8-hope-sleep-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22861"/>
            <a:ext cx="5532120" cy="24052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97679"/>
            <a:ext cx="5532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HOPE(메모리 확장)+Sleep(파라미터 성장) 스케일링 — 상태·파라미터가 함께 자란다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① 논문 방향이 memory 압력을 키운다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HOPE(self-mod+CMS)로 state↑, Sleep(expert 성장)로 파라미터↑ → 디코드 memory-bound가 구조적으로 심해진다.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532888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② 대역폭 우선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zHBM류 고대역폭 메모리가 1순위 지렛대(PIM보다 유리).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648456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③ state 상주 설계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on-chip 용량을 state가 들어갈 문턱 이상으로 — Cerebras의 knee가 그 증거.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4764024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④ 소프트웨어 효율이 프론티어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cross-vendor 소프트웨어 효율(HATIR)이 남은 최대 변수.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800600"/>
            <a:ext cx="5532120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한 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이 계열을 키울수록 서빙은 '메모리 문제'가 된다 — 대역폭·상주·소프트웨어가 스케일의 열쇠.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Open Questions — HOPE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모델 관점에서 논문이 아직 답하지 않은 것들 (향후 방향)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98448"/>
            <a:ext cx="5486400" cy="105841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Q1. hybrid · multi-head · depth/dim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→ attention hybrid·multi-head를 섞으면? layer depth·dim 스케일은? — Hope-Attention 변형·≤1.3B만, 구성 sweep 미탐색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298448"/>
            <a:ext cx="5486400" cy="105841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Q2. SMT 각 memory의 depth 확장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→ 6개 memory는 현재 2-layer MLP. 더 깊게 하면? 어디까지? — Titans는 depth 이득을 보였으나 SMT엔 미적용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484882"/>
            <a:ext cx="5486400" cy="105841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Q3. SMT optimizer ≠ DGD?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→ SMT 안쪽은 DGD(Delta GD)+weight decay 고정. Delta Momentum·M3·Muon을 SMT에 쓰면? — 미탐색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484882"/>
            <a:ext cx="5486400" cy="105841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Q4. TNT global/local 결합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→ TNT의 global(prefill)/local(decode) 계층 메모리를 HOPE 추론에 적용? — 두 논문은 결합되지 않음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671315"/>
            <a:ext cx="5486400" cy="105841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Q5. TNT Q-K projection 적용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→ TNT의 Q-K projection(write/read domain shift 처방)을 SMT의 read에? — 미적용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671315"/>
            <a:ext cx="5486400" cy="105841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Q6. online → offline 연결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→ dense-online(Eq2) ↔ MoE-offline(expansion)의 기계적 interlock은 공백(seam) — teacher/student 경계만 명시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57750"/>
            <a:ext cx="11183112" cy="105841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Q7. expert slot 소진 대책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→ pre-allocated 유한 슬롯이 다 차면? — 논문 미명시 (병합·증류로 회수 / 재초기화 / 더 느린 레벨 추가는 추론)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989320"/>
            <a:ext cx="11183112" cy="56692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정리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Q1–Q5 = '열린 설계 공간'(아직 안 밀어붙인 조합) · Q6–Q7 = '정직한 공백'(논문이 명시 안 한 이음새·한계). 앞으로 이 계열을 키울 때 먼저 부딪힐 지점들.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마무리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6편을 한 흐름으로, 그리고 서빙 비용까지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Titans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48840" y="1371600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test-time에 학습되는 신경망 메모리(surprise+momentum+forget)를 연다.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066543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Miras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40" y="2066543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그 설계를 4축 공간으로 조직화 — 무엇을·무엇을 잊고·어떤 구조로·어떤 알고리즘으로.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761487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Atlas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2761487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문맥 단위 기억(Omega)과 용량 확장(feature map)+Muon으로 표현력을 키운다.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456431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TNT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48840" y="3456431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train/serve chunk 정렬과 global/local 계층으로 '어떻게 배포하나'를 답한다.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151375"/>
            <a:ext cx="1554480" cy="621792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HOPE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48840" y="4151375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optimizer=memory·self-mod·CMS로 앞 4편을 하나의 중첩 시스템으로 통합.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846319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Sleep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48840" y="4846319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wake/sleep 생애주기로 지식을 오프라인에서 위로 옮겨 파라미터를 키운다.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41263"/>
            <a:ext cx="1554480" cy="621792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우리 기여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48840" y="5541263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이 배포는 디코드에서 memory-bound — 8칩 측정+HOPE roofline+zHBM/SRAM로 비용과 청사진을 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355080"/>
            <a:ext cx="109728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감사합니다 · Q&amp;A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