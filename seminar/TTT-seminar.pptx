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A2B"/>
          </a:solidFill>
          <a:ln w="12700">
            <a:solidFill>
              <a:srgbClr val="101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2252B"/>
                </a:solidFill>
                <a:latin typeface="Noto Sans CJK KR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0" y="5212080"/>
            <a:ext cx="12191695" cy="457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2252B"/>
                </a:solidFill>
                <a:latin typeface="Noto Sans CJK KR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45775" cy="1463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Noto Sans CJK KR"/>
              </a:rPr>
              <a:t>테스트-타임 메모리 계열 — Titans에서 Sleep까지, 그리고 서빙 비용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10545775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B8C4D4"/>
                </a:solidFill>
                <a:latin typeface="Noto Sans CJK KR"/>
              </a:rPr>
              <a:t>학습을 처음 보는 inference·systems 엔지니어를 위한 6편(Titans·Miras·Atlas·TNT·Nested Learning·Sleep) 해부 + 배포 비용 모델링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486400"/>
            <a:ext cx="10545775" cy="7315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8A9AAC"/>
                </a:solidFill>
                <a:latin typeface="Noto Sans CJK KR"/>
              </a:rPr>
              <a:t>이승호 (SAIT) · 2시간 발표 + 30분 Q&amp;A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6F97"/>
          </a:solidFill>
          <a:ln w="1270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2252B"/>
                </a:solidFill>
                <a:latin typeface="Noto Sans CJK KR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85855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A6F97"/>
                </a:solidFill>
                <a:latin typeface="Noto Sans CJK KR"/>
              </a:rPr>
              <a:t>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185855" cy="56692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2252B"/>
                </a:solidFill>
                <a:latin typeface="Noto Sans CJK KR"/>
              </a:rPr>
              <a:t>오늘 다룰 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36576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2A6F97"/>
                </a:solidFill>
                <a:latin typeface="Noto Sans CJK KR"/>
              </a:rPr>
              <a:t>A. Background (학습 입문)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94560"/>
            <a:ext cx="3520440" cy="42976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2252B"/>
                </a:solidFill>
                <a:latin typeface="Noto Sans CJK KR"/>
              </a:rPr>
              <a:t>A1. 학습 한 바퀴 — 2-layer MLP: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2252B"/>
                </a:solidFill>
                <a:latin typeface="Noto Sans CJK KR"/>
              </a:rPr>
              <a:t>     forward→loss→backward→optimizer→update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2252B"/>
                </a:solidFill>
                <a:latin typeface="Noto Sans CJK KR"/>
              </a:rPr>
              <a:t>A2. Optimizer의 역사 (수식과 함께)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2252B"/>
                </a:solidFill>
                <a:latin typeface="Noto Sans CJK KR"/>
              </a:rPr>
              <a:t>     계보 지도(제공 이미지) →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2252B"/>
                </a:solidFill>
                <a:latin typeface="Noto Sans CJK KR"/>
              </a:rPr>
              <a:t>     GD · SGD · Momentum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2252B"/>
                </a:solidFill>
                <a:latin typeface="Noto Sans CJK KR"/>
              </a:rPr>
              <a:t>     Adagrad · RMSProp · Adam · AdamW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2252B"/>
                </a:solidFill>
                <a:latin typeface="Noto Sans CJK KR"/>
              </a:rPr>
              <a:t>A3. 대안 계열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2252B"/>
                </a:solidFill>
                <a:latin typeface="Noto Sans CJK KR"/>
              </a:rPr>
              <a:t>     linear attention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2252B"/>
                </a:solidFill>
                <a:latin typeface="Noto Sans CJK KR"/>
              </a:rPr>
              <a:t>     DeltaNet → Gated DeltaNet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2252B"/>
                </a:solidFill>
                <a:latin typeface="Noto Sans CJK KR"/>
              </a:rPr>
              <a:t>     SSM · Mamba-2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6576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2A9D8F"/>
                </a:solidFill>
                <a:latin typeface="Noto Sans CJK KR"/>
              </a:rPr>
              <a:t>B. 논문 6편 (발명→구현→증명)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194560"/>
            <a:ext cx="3520440" cy="42976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2252B"/>
                </a:solidFill>
                <a:latin typeface="Noto Sans CJK KR"/>
              </a:rPr>
              <a:t>B1. Titans — deep neural memory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2252B"/>
                </a:solidFill>
                <a:latin typeface="Noto Sans CJK KR"/>
              </a:rPr>
              <a:t>     surprise·momentum·forget, MAC/MAG/MAL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2252B"/>
                </a:solidFill>
                <a:latin typeface="Noto Sans CJK KR"/>
              </a:rPr>
              <a:t>B2. Miras — 4축 설계공간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2252B"/>
                </a:solidFill>
                <a:latin typeface="Noto Sans CJK KR"/>
              </a:rPr>
              <a:t>     메모리 = online 최적화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2252B"/>
                </a:solidFill>
                <a:latin typeface="Noto Sans CJK KR"/>
              </a:rPr>
              <a:t>B3. Atlas — Omega rule·용량·Muon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2252B"/>
                </a:solidFill>
                <a:latin typeface="Noto Sans CJK KR"/>
              </a:rPr>
              <a:t>B4. TNT — chunk·2-stage·global/local·Q-K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2252B"/>
                </a:solidFill>
                <a:latin typeface="Noto Sans CJK KR"/>
              </a:rPr>
              <a:t>B5. Nested Learning / HOPE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2252B"/>
                </a:solidFill>
                <a:latin typeface="Noto Sans CJK KR"/>
              </a:rPr>
              <a:t>     optimizer=memory · self-mod · CMS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2252B"/>
                </a:solidFill>
                <a:latin typeface="Noto Sans CJK KR"/>
              </a:rPr>
              <a:t>B6. Sleep — offline consolidation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2252B"/>
                </a:solidFill>
                <a:latin typeface="Noto Sans CJK KR"/>
              </a:rPr>
              <a:t>     Knowledge Seeding · Dreaming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371600"/>
            <a:ext cx="35661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C9A227"/>
                </a:solidFill>
                <a:latin typeface="Noto Sans CJK KR"/>
              </a:rPr>
              <a:t>C. System modeling (우리 기여)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194560"/>
            <a:ext cx="3429000" cy="42976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2252B"/>
                </a:solidFill>
                <a:latin typeface="Noto Sans CJK KR"/>
              </a:rPr>
              <a:t>C1. pair thesis — decode=memory-bound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2252B"/>
                </a:solidFill>
                <a:latin typeface="Noto Sans CJK KR"/>
              </a:rPr>
              <a:t>C2. 8개 가속기 크로스 측정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2252B"/>
                </a:solidFill>
                <a:latin typeface="Noto Sans CJK KR"/>
              </a:rPr>
              <a:t>C3. HOPE-block roofline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2252B"/>
                </a:solidFill>
                <a:latin typeface="Noto Sans CJK KR"/>
              </a:rPr>
              <a:t>     + zHBM · HBM-PIM · SRAM scaling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2252B"/>
                </a:solidFill>
                <a:latin typeface="Noto Sans CJK KR"/>
              </a:rPr>
              <a:t>C4. scaling 청사진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2252B"/>
                </a:solidFill>
                <a:latin typeface="Noto Sans CJK KR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2252B"/>
                </a:solidFill>
                <a:latin typeface="Noto Sans CJK KR"/>
              </a:rPr>
              <a:t>부록. QA 모음 (교차·논문별)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6F97"/>
          </a:solidFill>
          <a:ln w="1270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2252B"/>
                </a:solidFill>
                <a:latin typeface="Noto Sans CJK KR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85855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A6F97"/>
                </a:solidFill>
                <a:latin typeface="Noto Sans CJK KR"/>
              </a:rPr>
              <a:t>들어가기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185855" cy="56692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2252B"/>
                </a:solidFill>
                <a:latin typeface="Noto Sans CJK KR"/>
              </a:rPr>
              <a:t>이 세미나의 목적 · 범위 · 주의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11183112" cy="1143000"/>
          </a:xfrm>
          <a:prstGeom prst="roundRect">
            <a:avLst/>
          </a:prstGeom>
          <a:solidFill>
            <a:srgbClr val="DBE7F3"/>
          </a:solidFill>
          <a:ln w="1270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2A6F97"/>
                </a:solidFill>
                <a:latin typeface="Noto Sans CJK KR"/>
              </a:rPr>
              <a:t>목적·방향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22252B"/>
                </a:solidFill>
                <a:latin typeface="Noto Sans CJK KR"/>
              </a:rPr>
              <a:t>inference·systems 엔지니어가 test-time memory 계열(Titans~Sleep)을 shape·비용 수준으로 이해한다. 각 논문의 핵심 발명을 먼저 보고 → 어떻게 구현·증명되는지 → 논문 간 framing이 이어지는 흐름 → 마지막에 이 배포 형태가 서빙에서 얼마나 드는지(우리 기여).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97480"/>
            <a:ext cx="73152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1121F"/>
                </a:solidFill>
                <a:latin typeface="Noto Sans CJK KR"/>
              </a:rPr>
              <a:t>미리 알아둘 3가지 (읽는 규칙)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200400"/>
            <a:ext cx="11183112" cy="1051560"/>
          </a:xfrm>
          <a:prstGeom prst="roundRect">
            <a:avLst/>
          </a:prstGeom>
          <a:solidFill>
            <a:srgbClr val="F6DDDD"/>
          </a:solidFill>
          <a:ln w="12700">
            <a:solidFill>
              <a:srgbClr val="C11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C1121F"/>
                </a:solidFill>
                <a:latin typeface="Noto Sans CJK KR"/>
              </a:rPr>
              <a:t>① 학습(pre-training)은 다루지 않는다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2252B"/>
                </a:solidFill>
                <a:latin typeface="Noto Sans CJK KR"/>
              </a:rPr>
              <a:t>Titans 기반 모델을 처음부터 훈련하는 과정은 범위 밖. 이 계열의 test-time 동작과 서빙에 집중한다. (Background의 학습 설명은 '무엇을 배우는가'를 읽기 위한 최소한.)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352544"/>
            <a:ext cx="11183112" cy="1051560"/>
          </a:xfrm>
          <a:prstGeom prst="roundRect">
            <a:avLst/>
          </a:prstGeom>
          <a:solidFill>
            <a:srgbClr val="F6DDDD"/>
          </a:solidFill>
          <a:ln w="12700">
            <a:solidFill>
              <a:srgbClr val="C11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C1121F"/>
                </a:solidFill>
                <a:latin typeface="Noto Sans CJK KR"/>
              </a:rPr>
              <a:t>② 논문에 구체 수치가 빠진 곳이 많다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2252B"/>
                </a:solidFill>
                <a:latin typeface="Noto Sans CJK KR"/>
              </a:rPr>
              <a:t>모델 파라미터 shape·차원·학습 하이퍼 등 구체값이 명시 안 된 부분이 흔하다. 그림·설명에서 추론한 것은 '추론'으로, 본문에 있는 것은 '명시'로 구분해 표시한다.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504688"/>
            <a:ext cx="11183112" cy="1051560"/>
          </a:xfrm>
          <a:prstGeom prst="roundRect">
            <a:avLst/>
          </a:prstGeom>
          <a:solidFill>
            <a:srgbClr val="F6DDDD"/>
          </a:solidFill>
          <a:ln w="12700">
            <a:solidFill>
              <a:srgbClr val="C11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C1121F"/>
                </a:solidFill>
                <a:latin typeface="Noto Sans CJK KR"/>
              </a:rPr>
              <a:t>③ 논문 1편만으론 불완전하다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2252B"/>
                </a:solidFill>
                <a:latin typeface="Noto Sans CJK KR"/>
              </a:rPr>
              <a:t>한 논문의 설명이 스스로 완결되지 않아, 다른 논문(특히 HOPE)을 같이 봐야 이해되는 부분이 많다. 예: Titans의 투영 분리는 HOPE에서야 명시된다. 그래서 6편을 하나의 흐름으로 읽는다.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 w="1270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2252B"/>
                </a:solidFill>
                <a:latin typeface="Noto Sans CJK KR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45775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Noto Sans CJK KR"/>
              </a:rPr>
              <a:t>PART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08960"/>
            <a:ext cx="10545775" cy="1463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Noto Sans CJK KR"/>
              </a:rPr>
              <a:t>Background — 학습이 처음이라면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6F97"/>
          </a:solidFill>
          <a:ln w="1270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2252B"/>
                </a:solidFill>
                <a:latin typeface="Noto Sans CJK KR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85855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A6F97"/>
                </a:solidFill>
                <a:latin typeface="Noto Sans CJK KR"/>
              </a:rPr>
              <a:t>A1 · 학습 한 바퀴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185855" cy="56692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2252B"/>
                </a:solidFill>
                <a:latin typeface="Noto Sans CJK KR"/>
              </a:rPr>
              <a:t>2-layer MLP + head: forward → loss → backward → optimizer → update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1371600" cy="777240"/>
          </a:xfrm>
          <a:prstGeom prst="roundRect">
            <a:avLst/>
          </a:prstGeom>
          <a:solidFill>
            <a:srgbClr val="DBE7F3"/>
          </a:solidFill>
          <a:ln w="1270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2252B"/>
                </a:solidFill>
                <a:latin typeface="Noto Sans CJK KR"/>
              </a:rPr>
              <a:t>x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5A5F68"/>
                </a:solidFill>
                <a:latin typeface="Noto Sans CJK KR"/>
              </a:rPr>
              <a:t>[B, d_in]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50592" y="1417320"/>
            <a:ext cx="1371600" cy="777240"/>
          </a:xfrm>
          <a:prstGeom prst="roundRect">
            <a:avLst/>
          </a:prstGeom>
          <a:solidFill>
            <a:srgbClr val="DBE7F3"/>
          </a:solidFill>
          <a:ln w="1270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2252B"/>
                </a:solidFill>
                <a:latin typeface="Noto Sans CJK KR"/>
              </a:rPr>
              <a:t>h = W₁·x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5A5F68"/>
                </a:solidFill>
                <a:latin typeface="Noto Sans CJK KR"/>
              </a:rPr>
              <a:t>[B, d_h]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8264" y="1417320"/>
            <a:ext cx="1371600" cy="777240"/>
          </a:xfrm>
          <a:prstGeom prst="roundRect">
            <a:avLst/>
          </a:prstGeom>
          <a:solidFill>
            <a:srgbClr val="DBE7F3"/>
          </a:solidFill>
          <a:ln w="1270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2252B"/>
                </a:solidFill>
                <a:latin typeface="Noto Sans CJK KR"/>
              </a:rPr>
              <a:t>a = σ(h)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5A5F68"/>
                </a:solidFill>
                <a:latin typeface="Noto Sans CJK KR"/>
              </a:rPr>
              <a:t>[B, d_h]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45936" y="1417320"/>
            <a:ext cx="1371600" cy="777240"/>
          </a:xfrm>
          <a:prstGeom prst="roundRect">
            <a:avLst/>
          </a:prstGeom>
          <a:solidFill>
            <a:srgbClr val="DBE7F3"/>
          </a:solidFill>
          <a:ln w="1270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2252B"/>
                </a:solidFill>
                <a:latin typeface="Noto Sans CJK KR"/>
              </a:rPr>
              <a:t>o = W₂·a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5A5F68"/>
                </a:solidFill>
                <a:latin typeface="Noto Sans CJK KR"/>
              </a:rPr>
              <a:t>[B, d_out]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93608" y="1417320"/>
            <a:ext cx="1371600" cy="777240"/>
          </a:xfrm>
          <a:prstGeom prst="roundRect">
            <a:avLst/>
          </a:prstGeom>
          <a:solidFill>
            <a:srgbClr val="DBE7F3"/>
          </a:solidFill>
          <a:ln w="1270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2252B"/>
                </a:solidFill>
                <a:latin typeface="Noto Sans CJK KR"/>
              </a:rPr>
              <a:t>z = head(o)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5A5F68"/>
                </a:solidFill>
                <a:latin typeface="Noto Sans CJK KR"/>
              </a:rPr>
              <a:t>logits [B, V]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41280" y="1417320"/>
            <a:ext cx="1371600" cy="777240"/>
          </a:xfrm>
          <a:prstGeom prst="roundRect">
            <a:avLst/>
          </a:prstGeom>
          <a:solidFill>
            <a:srgbClr val="F6DDDD"/>
          </a:solidFill>
          <a:ln w="12700">
            <a:solidFill>
              <a:srgbClr val="C11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2252B"/>
                </a:solidFill>
                <a:latin typeface="Noto Sans CJK KR"/>
              </a:rPr>
              <a:t>L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5A5F68"/>
                </a:solidFill>
                <a:latin typeface="Noto Sans CJK KR"/>
              </a:rPr>
              <a:t>loss (scalar)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74519" y="1805940"/>
            <a:ext cx="576073" cy="0"/>
          </a:xfrm>
          <a:prstGeom prst="line">
            <a:avLst/>
          </a:prstGeom>
          <a:ln w="20320">
            <a:solidFill>
              <a:srgbClr val="2A6F97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645919" y="1106424"/>
            <a:ext cx="1033272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2A6F97"/>
                </a:solidFill>
                <a:latin typeface="Noto Sans CJK KR"/>
              </a:rPr>
              <a:t>matmul W₁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22191" y="1805940"/>
            <a:ext cx="576073" cy="0"/>
          </a:xfrm>
          <a:prstGeom prst="line">
            <a:avLst/>
          </a:prstGeom>
          <a:ln w="20320">
            <a:solidFill>
              <a:srgbClr val="2A6F97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593591" y="1106424"/>
            <a:ext cx="1033271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2A6F97"/>
                </a:solidFill>
                <a:latin typeface="Noto Sans CJK KR"/>
              </a:rPr>
              <a:t>σ (GeLU)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69864" y="1805940"/>
            <a:ext cx="576072" cy="0"/>
          </a:xfrm>
          <a:prstGeom prst="line">
            <a:avLst/>
          </a:prstGeom>
          <a:ln w="20320">
            <a:solidFill>
              <a:srgbClr val="2A6F97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541264" y="1106424"/>
            <a:ext cx="1033272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2A6F97"/>
                </a:solidFill>
                <a:latin typeface="Noto Sans CJK KR"/>
              </a:rPr>
              <a:t>matmul W₂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17536" y="1805940"/>
            <a:ext cx="576072" cy="0"/>
          </a:xfrm>
          <a:prstGeom prst="line">
            <a:avLst/>
          </a:prstGeom>
          <a:ln w="20320">
            <a:solidFill>
              <a:srgbClr val="2A6F97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488936" y="1106424"/>
            <a:ext cx="1033271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2A6F97"/>
                </a:solidFill>
                <a:latin typeface="Noto Sans CJK KR"/>
              </a:rPr>
              <a:t>head W_h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665208" y="1805940"/>
            <a:ext cx="576072" cy="0"/>
          </a:xfrm>
          <a:prstGeom prst="line">
            <a:avLst/>
          </a:prstGeom>
          <a:ln w="20320">
            <a:solidFill>
              <a:srgbClr val="2A6F97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436608" y="1106424"/>
            <a:ext cx="1033271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2A6F97"/>
                </a:solidFill>
                <a:latin typeface="Noto Sans CJK KR"/>
              </a:rPr>
              <a:t>L2 loss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914400"/>
            <a:ext cx="173736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A6F97"/>
                </a:solidFill>
                <a:latin typeface="Noto Sans CJK KR"/>
              </a:rPr>
              <a:t>① forward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33172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5A5F68"/>
                </a:solidFill>
                <a:latin typeface="Noto Sans CJK KR"/>
              </a:rPr>
              <a:t>batch B개 샘플 동시 처리 · loss는 B개 평균(또는 합)으로 누적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246120"/>
            <a:ext cx="11155680" cy="658368"/>
          </a:xfrm>
          <a:prstGeom prst="roundRect">
            <a:avLst/>
          </a:prstGeom>
          <a:solidFill>
            <a:srgbClr val="F6DDDD"/>
          </a:solidFill>
          <a:ln w="12700">
            <a:solidFill>
              <a:srgbClr val="C11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C1121F"/>
                </a:solidFill>
                <a:latin typeface="Noto Sans CJK KR"/>
              </a:rPr>
              <a:t>② loss.backward() — autograd 역전파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2252B"/>
                </a:solidFill>
                <a:latin typeface="Noto Sans CJK KR"/>
              </a:rPr>
              <a:t>∂L/∂z → ∂L/∂W₂, ∂L/∂a → ∂L/∂h → ∂L/∂W₁, ∂L/∂head.  각 파라미터 W의 gradient g = ∂L/∂W 를 구해 W.grad 에 채운다(순전파의 역순, 체인 룰).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822960" y="2331720"/>
            <a:ext cx="10058400" cy="896112"/>
          </a:xfrm>
          <a:prstGeom prst="line">
            <a:avLst/>
          </a:prstGeom>
          <a:ln w="17780">
            <a:prstDash val="dash"/>
            <a:solidFill>
              <a:srgbClr val="C1121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02920" y="4224528"/>
            <a:ext cx="7040880" cy="1417320"/>
          </a:xfrm>
          <a:prstGeom prst="roundRect">
            <a:avLst/>
          </a:prstGeom>
          <a:solidFill>
            <a:srgbClr val="F6ECC7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C9A227"/>
                </a:solidFill>
                <a:latin typeface="Noto Sans CJK KR"/>
              </a:rPr>
              <a:t>③ optimizer.step()  — AdamW (gradient g를 받아 '얼마나·어느 방향' 결정)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2252B"/>
                </a:solidFill>
                <a:latin typeface="Noto Sans Mono CJK KR"/>
              </a:rPr>
              <a:t>m ← β₁·m + (1−β₁)·g          (1차 모멘텀: 방향의 관성)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2252B"/>
                </a:solidFill>
                <a:latin typeface="Noto Sans Mono CJK KR"/>
              </a:rPr>
              <a:t>v ← β₂·v + (1−β₂)·g²         (2차 모멘텀: 좌표별 스케일)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2252B"/>
                </a:solidFill>
                <a:latin typeface="Noto Sans Mono CJK KR"/>
              </a:rPr>
              <a:t>m̂,v̂ = 편향보정 ;  ΔW = −η·m̂/(√v̂+ε)   −  η·λ·W  ← decoupled decay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0" y="4224528"/>
            <a:ext cx="3886200" cy="1417320"/>
          </a:xfrm>
          <a:prstGeom prst="roundRect">
            <a:avLst/>
          </a:prstGeom>
          <a:solidFill>
            <a:srgbClr val="F6ECC7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C9A227"/>
                </a:solidFill>
                <a:latin typeface="Noto Sans CJK KR"/>
              </a:rPr>
              <a:t>④ W ← W + ΔW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2252B"/>
                </a:solidFill>
                <a:latin typeface="Noto Sans CJK KR"/>
              </a:rPr>
              <a:t>W₁, W₂, head 를 갱신.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A5F68"/>
                </a:solidFill>
                <a:latin typeface="Noto Sans CJK KR"/>
              </a:rPr>
              <a:t>optimizer.zero_grad()로 g 비우고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5A5F68"/>
                </a:solidFill>
                <a:latin typeface="Noto Sans CJK KR"/>
              </a:rPr>
              <a:t>다음 batch로 → 반복.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897880"/>
            <a:ext cx="11155680" cy="566928"/>
          </a:xfrm>
          <a:prstGeom prst="roundRect">
            <a:avLst/>
          </a:prstGeom>
          <a:solidFill>
            <a:srgbClr val="DAF0ED"/>
          </a:solidFill>
          <a:ln w="127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2A9D8F"/>
                </a:solidFill>
                <a:latin typeface="Noto Sans CJK KR"/>
              </a:rPr>
              <a:t>핵심 한 문장.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2252B"/>
                </a:solidFill>
                <a:latin typeface="Noto Sans CJK KR"/>
              </a:rPr>
              <a:t>학습 = ①forward로 예측 → ②backward로 'gradient(어디가 틀렸나)' → ③optimizer로 'gradient를 기억·가공(m,v)해 갱신량' → ④weight 이동. 이 계열은 ②③④를 추론 중에도 돌린다.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6F97"/>
          </a:solidFill>
          <a:ln w="1270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2252B"/>
                </a:solidFill>
                <a:latin typeface="Noto Sans CJK KR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85855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A6F97"/>
                </a:solidFill>
                <a:latin typeface="Noto Sans CJK KR"/>
              </a:rPr>
              <a:t>A2 · Optimizer의 역사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185855" cy="56692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2252B"/>
                </a:solidFill>
                <a:latin typeface="Noto Sans CJK KR"/>
              </a:rPr>
              <a:t>한 장으로 보는 직관 지도</a:t>
            </a:r>
          </a:p>
        </p:txBody>
      </p:sp>
      <p:pic>
        <p:nvPicPr>
          <p:cNvPr id="5" name="Picture 4" descr="optimizer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367" y="1234440"/>
            <a:ext cx="9966960" cy="482774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6199632"/>
            <a:ext cx="11155680" cy="502920"/>
          </a:xfrm>
          <a:prstGeom prst="roundRect">
            <a:avLst/>
          </a:prstGeom>
          <a:solidFill>
            <a:srgbClr val="ECEEF1"/>
          </a:solidFill>
          <a:ln w="12700">
            <a:solidFill>
              <a:srgbClr val="8A8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파란 줄기 = '어느 방향으로'(관성)를 고치는 흐름 · 초록 줄기 = '얼마나(보폭)'를 고치는 흐름 → Adam이 둘을 합침. 다음 장부터 이 중 GD·SGD·Momentum·Adagrad·RMSProp·Adam·AdamW를 1페이지씩 수식과 함께.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6F97"/>
          </a:solidFill>
          <a:ln w="1270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2252B"/>
                </a:solidFill>
                <a:latin typeface="Noto Sans CJK KR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85855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A6F97"/>
                </a:solidFill>
                <a:latin typeface="Noto Sans CJK KR"/>
              </a:rPr>
              <a:t>A2 · GD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185855" cy="56692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2252B"/>
                </a:solidFill>
                <a:latin typeface="Noto Sans CJK KR"/>
              </a:rPr>
              <a:t>GD  ·  Gradient Descent (batch)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A6F97"/>
                </a:solidFill>
                <a:latin typeface="Noto Sans CJK KR"/>
              </a:rPr>
              <a:t>뿌리 — 가장 정확한 한 걸음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11183112" cy="1024128"/>
          </a:xfrm>
          <a:prstGeom prst="roundRect">
            <a:avLst/>
          </a:prstGeom>
          <a:solidFill>
            <a:srgbClr val="DBE7F3"/>
          </a:solidFill>
          <a:ln w="1270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A6F97"/>
                </a:solidFill>
                <a:latin typeface="Noto Sans CJK KR"/>
              </a:rPr>
              <a:t>직관 (왜 이렇게?)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 i="0">
                <a:solidFill>
                  <a:srgbClr val="22252B"/>
                </a:solidFill>
                <a:latin typeface="Noto Sans CJK KR"/>
              </a:rPr>
              <a:t>"모든 자료를 다 검토해서, 내 위치의 산 기울기를 계산해 갈 방향을 찾았다."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615184"/>
            <a:ext cx="11183112" cy="1938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A8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2252B"/>
                </a:solidFill>
                <a:latin typeface="Noto Sans CJK KR"/>
              </a:rPr>
              <a:t>갱신 규칙 (수식)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2252B"/>
                </a:solidFill>
                <a:latin typeface="Noto Sans Mono CJK KR"/>
              </a:rPr>
              <a:t>g_t = (1/N) · Σ_{i=1..N} ∇ℓ_i(θ_t)      # 전체 N개 데이터의 평균 gradient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2252B"/>
                </a:solidFill>
                <a:latin typeface="Noto Sans Mono CJK KR"/>
              </a:rPr>
              <a:t>θ_{t+1} = θ_t − η · g_t                  # η = learning rate(보폭)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700016"/>
            <a:ext cx="5486400" cy="1792224"/>
          </a:xfrm>
          <a:prstGeom prst="roundRect">
            <a:avLst/>
          </a:prstGeom>
          <a:solidFill>
            <a:srgbClr val="DAF0ED"/>
          </a:solidFill>
          <a:ln w="127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2A9D8F"/>
                </a:solidFill>
                <a:latin typeface="Noto Sans CJK KR"/>
              </a:rPr>
              <a:t>이 optimizer가 해결한 것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 i="0">
                <a:solidFill>
                  <a:srgbClr val="22252B"/>
                </a:solidFill>
                <a:latin typeface="Noto Sans CJK KR"/>
              </a:rPr>
              <a:t>손실을 가장 빨리 줄이는 방향(가장 가파른 내리막)을 데이터 전체로 정확히 계산한다.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4700016"/>
            <a:ext cx="5486400" cy="1792224"/>
          </a:xfrm>
          <a:prstGeom prst="roundRect">
            <a:avLst/>
          </a:prstGeom>
          <a:solidFill>
            <a:srgbClr val="F6DDDD"/>
          </a:solidFill>
          <a:ln w="12700">
            <a:solidFill>
              <a:srgbClr val="C11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C1121F"/>
                </a:solidFill>
                <a:latin typeface="Noto Sans CJK KR"/>
              </a:rPr>
              <a:t>남은 문제 → 다음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 i="0">
                <a:solidFill>
                  <a:srgbClr val="22252B"/>
                </a:solidFill>
                <a:latin typeface="Noto Sans CJK KR"/>
              </a:rPr>
              <a:t>한 스텝마다 데이터 N개를 전부 봐야 함 → 너무 느리다.  → SGD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6F97"/>
          </a:solidFill>
          <a:ln w="1270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2252B"/>
                </a:solidFill>
                <a:latin typeface="Noto Sans CJK KR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85855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A6F97"/>
                </a:solidFill>
                <a:latin typeface="Noto Sans CJK KR"/>
              </a:rPr>
              <a:t>A2 · SGD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185855" cy="56692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2252B"/>
                </a:solidFill>
                <a:latin typeface="Noto Sans CJK KR"/>
              </a:rPr>
              <a:t>SGD  ·  Stochastic Gradient Descent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A6F97"/>
                </a:solidFill>
                <a:latin typeface="Noto Sans CJK KR"/>
              </a:rPr>
              <a:t>파란 줄기 — 속도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11183112" cy="1024128"/>
          </a:xfrm>
          <a:prstGeom prst="roundRect">
            <a:avLst/>
          </a:prstGeom>
          <a:solidFill>
            <a:srgbClr val="DBE7F3"/>
          </a:solidFill>
          <a:ln w="1270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A6F97"/>
                </a:solidFill>
                <a:latin typeface="Noto Sans CJK KR"/>
              </a:rPr>
              <a:t>직관 (왜 이렇게?)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 i="0">
                <a:solidFill>
                  <a:srgbClr val="22252B"/>
                </a:solidFill>
                <a:latin typeface="Noto Sans CJK KR"/>
              </a:rPr>
              <a:t>"전부 다 봐야 한 걸음은 너무 오래 걸리니까, 조금만 보고 빨리 판단한다. 같은 시간에 더 많이 간다."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615184"/>
            <a:ext cx="11183112" cy="1938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A8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2252B"/>
                </a:solidFill>
                <a:latin typeface="Noto Sans CJK KR"/>
              </a:rPr>
              <a:t>갱신 규칙 (수식)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2252B"/>
                </a:solidFill>
                <a:latin typeface="Noto Sans Mono CJK KR"/>
              </a:rPr>
              <a:t>g_t = ∇ℓ_B(θ_t)          # 미니배치 B개만 사용 (|B| ≪ N)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2252B"/>
                </a:solidFill>
                <a:latin typeface="Noto Sans Mono CJK KR"/>
              </a:rPr>
              <a:t>θ_{t+1} = θ_t − η · g_t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700016"/>
            <a:ext cx="5486400" cy="1792224"/>
          </a:xfrm>
          <a:prstGeom prst="roundRect">
            <a:avLst/>
          </a:prstGeom>
          <a:solidFill>
            <a:srgbClr val="DAF0ED"/>
          </a:solidFill>
          <a:ln w="127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2A9D8F"/>
                </a:solidFill>
                <a:latin typeface="Noto Sans CJK KR"/>
              </a:rPr>
              <a:t>이 optimizer가 해결한 것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 i="0">
                <a:solidFill>
                  <a:srgbClr val="22252B"/>
                </a:solidFill>
                <a:latin typeface="Noto Sans CJK KR"/>
              </a:rPr>
              <a:t>스텝당 비용이 급감 → 같은 시간에 훨씬 많은 스텝. gradient noise가 얕은 지역최소 탈출에도 도움.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4700016"/>
            <a:ext cx="5486400" cy="1792224"/>
          </a:xfrm>
          <a:prstGeom prst="roundRect">
            <a:avLst/>
          </a:prstGeom>
          <a:solidFill>
            <a:srgbClr val="F6DDDD"/>
          </a:solidFill>
          <a:ln w="12700">
            <a:solidFill>
              <a:srgbClr val="C11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C1121F"/>
                </a:solidFill>
                <a:latin typeface="Noto Sans CJK KR"/>
              </a:rPr>
              <a:t>남은 문제 → 다음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 i="0">
                <a:solidFill>
                  <a:srgbClr val="22252B"/>
                </a:solidFill>
                <a:latin typeface="Noto Sans CJK KR"/>
              </a:rPr>
              <a:t>gradient가 매 스텝 출렁여 지그재그. 방향도 보폭도 여전히 그대로.  → Momentum · Adagrad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6F97"/>
          </a:solidFill>
          <a:ln w="1270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2252B"/>
                </a:solidFill>
                <a:latin typeface="Noto Sans CJK KR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85855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A6F97"/>
                </a:solidFill>
                <a:latin typeface="Noto Sans CJK KR"/>
              </a:rPr>
              <a:t>A2 · Momentum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185855" cy="56692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2252B"/>
                </a:solidFill>
                <a:latin typeface="Noto Sans CJK KR"/>
              </a:rPr>
              <a:t>Momentum  ·  SGD with Momentum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A6F97"/>
                </a:solidFill>
                <a:latin typeface="Noto Sans CJK KR"/>
              </a:rPr>
              <a:t>파란 줄기 — '스텝 방향' 개선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11183112" cy="1024128"/>
          </a:xfrm>
          <a:prstGeom prst="roundRect">
            <a:avLst/>
          </a:prstGeom>
          <a:solidFill>
            <a:srgbClr val="DBE7F3"/>
          </a:solidFill>
          <a:ln w="1270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A6F97"/>
                </a:solidFill>
                <a:latin typeface="Noto Sans CJK KR"/>
              </a:rPr>
              <a:t>직관 (왜 이렇게?)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 i="0">
                <a:solidFill>
                  <a:srgbClr val="22252B"/>
                </a:solidFill>
                <a:latin typeface="Noto Sans CJK KR"/>
              </a:rPr>
              <a:t>"스텝을 계산해서 움직인 후, 아까 내려오던 관성 방향으로 또 가자."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615184"/>
            <a:ext cx="11183112" cy="1938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A8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2252B"/>
                </a:solidFill>
                <a:latin typeface="Noto Sans CJK KR"/>
              </a:rPr>
              <a:t>갱신 규칙 (수식)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2252B"/>
                </a:solidFill>
                <a:latin typeface="Noto Sans Mono CJK KR"/>
              </a:rPr>
              <a:t>v_t = μ · v_{t-1} + g_t        # μ≈0.9, 과거 방향의 관성(누적)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2252B"/>
                </a:solidFill>
                <a:latin typeface="Noto Sans Mono CJK KR"/>
              </a:rPr>
              <a:t>θ_{t+1} = θ_t − η · v_t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700016"/>
            <a:ext cx="5486400" cy="1792224"/>
          </a:xfrm>
          <a:prstGeom prst="roundRect">
            <a:avLst/>
          </a:prstGeom>
          <a:solidFill>
            <a:srgbClr val="DAF0ED"/>
          </a:solidFill>
          <a:ln w="127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2A9D8F"/>
                </a:solidFill>
                <a:latin typeface="Noto Sans CJK KR"/>
              </a:rPr>
              <a:t>이 optimizer가 해결한 것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 i="0">
                <a:solidFill>
                  <a:srgbClr val="22252B"/>
                </a:solidFill>
                <a:latin typeface="Noto Sans CJK KR"/>
              </a:rPr>
              <a:t>일관된 방향은 누적 가속하고 출렁이는 성분은 상쇄 → 지그재그 완화, 좁은 골짜기를 빠르게 통과.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4700016"/>
            <a:ext cx="5486400" cy="1792224"/>
          </a:xfrm>
          <a:prstGeom prst="roundRect">
            <a:avLst/>
          </a:prstGeom>
          <a:solidFill>
            <a:srgbClr val="F6DDDD"/>
          </a:solidFill>
          <a:ln w="12700">
            <a:solidFill>
              <a:srgbClr val="C11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C1121F"/>
                </a:solidFill>
                <a:latin typeface="Noto Sans CJK KR"/>
              </a:rPr>
              <a:t>남은 문제 → 다음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 i="0">
                <a:solidFill>
                  <a:srgbClr val="22252B"/>
                </a:solidFill>
                <a:latin typeface="Noto Sans CJK KR"/>
              </a:rPr>
              <a:t>보폭(스케일)은 아직 모든 좌표가 동일. '좌표별 보폭'은 아래 초록 줄기(Adagrad→RMSProp)가 맡고, 뒤에서 Adam이 방향과 합친다.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2252B"/>
                </a:solidFill>
                <a:latin typeface="Noto Sans CJK KR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85855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A9D8F"/>
                </a:solidFill>
                <a:latin typeface="Noto Sans CJK KR"/>
              </a:rPr>
              <a:t>A2 · Adagrad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185855" cy="56692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2252B"/>
                </a:solidFill>
                <a:latin typeface="Noto Sans CJK KR"/>
              </a:rPr>
              <a:t>Adagrad  ·  Adaptive Gradient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A9D8F"/>
                </a:solidFill>
                <a:latin typeface="Noto Sans CJK KR"/>
              </a:rPr>
              <a:t>초록 줄기 — '스텝 사이즈' 개선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11183112" cy="1024128"/>
          </a:xfrm>
          <a:prstGeom prst="roundRect">
            <a:avLst/>
          </a:prstGeom>
          <a:solidFill>
            <a:srgbClr val="DAF0ED"/>
          </a:solidFill>
          <a:ln w="127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A9D8F"/>
                </a:solidFill>
                <a:latin typeface="Noto Sans CJK KR"/>
              </a:rPr>
              <a:t>직관 (왜 이렇게?)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 i="0">
                <a:solidFill>
                  <a:srgbClr val="22252B"/>
                </a:solidFill>
                <a:latin typeface="Noto Sans CJK KR"/>
              </a:rPr>
              <a:t>"안 가 본 곳은 성큼 빠르게 훑고, 많이 가 본 곳은 잘 가니까 갈수록 보폭을 줄여 세밀히 탐색."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615184"/>
            <a:ext cx="11183112" cy="1938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A8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2252B"/>
                </a:solidFill>
                <a:latin typeface="Noto Sans CJK KR"/>
              </a:rPr>
              <a:t>갱신 규칙 (수식)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2252B"/>
                </a:solidFill>
                <a:latin typeface="Noto Sans Mono CJK KR"/>
              </a:rPr>
              <a:t>G_t = G_{t-1} + g_t²                  # 좌표별 gradient² 누적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2252B"/>
                </a:solidFill>
                <a:latin typeface="Noto Sans Mono CJK KR"/>
              </a:rPr>
              <a:t>θ_{t+1} = θ_t − η · g_t / (√G_t + ε)   # 좌표마다 다른 보폭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700016"/>
            <a:ext cx="5486400" cy="1792224"/>
          </a:xfrm>
          <a:prstGeom prst="roundRect">
            <a:avLst/>
          </a:prstGeom>
          <a:solidFill>
            <a:srgbClr val="DAF0ED"/>
          </a:solidFill>
          <a:ln w="127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2A9D8F"/>
                </a:solidFill>
                <a:latin typeface="Noto Sans CJK KR"/>
              </a:rPr>
              <a:t>이 optimizer가 해결한 것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 i="0">
                <a:solidFill>
                  <a:srgbClr val="22252B"/>
                </a:solidFill>
                <a:latin typeface="Noto Sans CJK KR"/>
              </a:rPr>
              <a:t>좌표마다 다른 learning rate — 드물게 큰 gradient(희소 feature)는 크게, 자주 큰 좌표는 작게.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4700016"/>
            <a:ext cx="5486400" cy="1792224"/>
          </a:xfrm>
          <a:prstGeom prst="roundRect">
            <a:avLst/>
          </a:prstGeom>
          <a:solidFill>
            <a:srgbClr val="F6DDDD"/>
          </a:solidFill>
          <a:ln w="12700">
            <a:solidFill>
              <a:srgbClr val="C11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C1121F"/>
                </a:solidFill>
                <a:latin typeface="Noto Sans CJK KR"/>
              </a:rPr>
              <a:t>남은 문제 → 다음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 i="0">
                <a:solidFill>
                  <a:srgbClr val="22252B"/>
                </a:solidFill>
                <a:latin typeface="Noto Sans CJK KR"/>
              </a:rPr>
              <a:t>G_t가 단조 증가 → 분모가 계속 커져 보폭이 0으로 죽는다(학습 정지).  → RMSProp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2252B"/>
                </a:solidFill>
                <a:latin typeface="Noto Sans CJK KR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85855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A9D8F"/>
                </a:solidFill>
                <a:latin typeface="Noto Sans CJK KR"/>
              </a:rPr>
              <a:t>A2 · RMSProp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185855" cy="56692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2252B"/>
                </a:solidFill>
                <a:latin typeface="Noto Sans CJK KR"/>
              </a:rPr>
              <a:t>RMSProp  ·  Root Mean Square Propagation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A9D8F"/>
                </a:solidFill>
                <a:latin typeface="Noto Sans CJK KR"/>
              </a:rPr>
              <a:t>초록 줄기 — EMA로 보완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11183112" cy="1024128"/>
          </a:xfrm>
          <a:prstGeom prst="roundRect">
            <a:avLst/>
          </a:prstGeom>
          <a:solidFill>
            <a:srgbClr val="DAF0ED"/>
          </a:solidFill>
          <a:ln w="127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A9D8F"/>
                </a:solidFill>
                <a:latin typeface="Noto Sans CJK KR"/>
              </a:rPr>
              <a:t>직관 (왜 이렇게?)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 i="0">
                <a:solidFill>
                  <a:srgbClr val="22252B"/>
                </a:solidFill>
                <a:latin typeface="Noto Sans CJK KR"/>
              </a:rPr>
              <a:t>"보폭을 줄이는 건 좋은데, (전부 누적하지 말고) 최근 맥락을 봐 가며 하자."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615184"/>
            <a:ext cx="11183112" cy="1938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A8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2252B"/>
                </a:solidFill>
                <a:latin typeface="Noto Sans CJK KR"/>
              </a:rPr>
              <a:t>갱신 규칙 (수식)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2252B"/>
                </a:solidFill>
                <a:latin typeface="Noto Sans Mono CJK KR"/>
              </a:rPr>
              <a:t>E[g²]_t = ρ · E[g²]_{t-1} + (1−ρ) · g_t²   # ρ≈0.9, 최근값 지수이동평균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2252B"/>
                </a:solidFill>
                <a:latin typeface="Noto Sans Mono CJK KR"/>
              </a:rPr>
              <a:t>θ_{t+1} = θ_t − η · g_t / (√E[g²]_t + ε)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700016"/>
            <a:ext cx="5486400" cy="1792224"/>
          </a:xfrm>
          <a:prstGeom prst="roundRect">
            <a:avLst/>
          </a:prstGeom>
          <a:solidFill>
            <a:srgbClr val="DAF0ED"/>
          </a:solidFill>
          <a:ln w="127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2A9D8F"/>
                </a:solidFill>
                <a:latin typeface="Noto Sans CJK KR"/>
              </a:rPr>
              <a:t>이 optimizer가 해결한 것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 i="0">
                <a:solidFill>
                  <a:srgbClr val="22252B"/>
                </a:solidFill>
                <a:latin typeface="Noto Sans CJK KR"/>
              </a:rPr>
              <a:t>합 대신 EMA → 분모가 무한정 커지지 않아 보폭이 죽지 않는다. 비정상(non-stationary) 목표에도 안정.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4700016"/>
            <a:ext cx="5486400" cy="1792224"/>
          </a:xfrm>
          <a:prstGeom prst="roundRect">
            <a:avLst/>
          </a:prstGeom>
          <a:solidFill>
            <a:srgbClr val="F6DDDD"/>
          </a:solidFill>
          <a:ln w="12700">
            <a:solidFill>
              <a:srgbClr val="C11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C1121F"/>
                </a:solidFill>
                <a:latin typeface="Noto Sans CJK KR"/>
              </a:rPr>
              <a:t>남은 문제 → 다음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 i="0">
                <a:solidFill>
                  <a:srgbClr val="22252B"/>
                </a:solidFill>
                <a:latin typeface="Noto Sans CJK KR"/>
              </a:rPr>
              <a:t>방향(momentum)은 아직 안 씀. 초기(0에서 시작) 편향 보정도 없다.  → Adam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2252B"/>
                </a:solidFill>
                <a:latin typeface="Noto Sans CJK KR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85855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9A227"/>
                </a:solidFill>
                <a:latin typeface="Noto Sans CJK KR"/>
              </a:rPr>
              <a:t>A2 · Adam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185855" cy="56692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2252B"/>
                </a:solidFill>
                <a:latin typeface="Noto Sans CJK KR"/>
              </a:rPr>
              <a:t>Adam  ·  Adaptive Moment Estimation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9A227"/>
                </a:solidFill>
                <a:latin typeface="Noto Sans CJK KR"/>
              </a:rPr>
              <a:t>두 줄기의 합류 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11183112" cy="1024128"/>
          </a:xfrm>
          <a:prstGeom prst="roundRect">
            <a:avLst/>
          </a:prstGeom>
          <a:solidFill>
            <a:srgbClr val="F6ECC7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9A227"/>
                </a:solidFill>
                <a:latin typeface="Noto Sans CJK KR"/>
              </a:rPr>
              <a:t>직관 (왜 이렇게?)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 i="0">
                <a:solidFill>
                  <a:srgbClr val="22252B"/>
                </a:solidFill>
                <a:latin typeface="Noto Sans CJK KR"/>
              </a:rPr>
              <a:t>"RMSProp(보폭) + Momentum(방향)을 합치자 — 방향도 스텝 사이즈도 적절하게!"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615184"/>
            <a:ext cx="11183112" cy="1938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A8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2252B"/>
                </a:solidFill>
                <a:latin typeface="Noto Sans CJK KR"/>
              </a:rPr>
              <a:t>갱신 규칙 (수식)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2252B"/>
                </a:solidFill>
                <a:latin typeface="Noto Sans Mono CJK KR"/>
              </a:rPr>
              <a:t>m_t = β₁·m_{t-1} + (1−β₁)·g_t          # 1차 모멘텀: 방향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2252B"/>
                </a:solidFill>
                <a:latin typeface="Noto Sans Mono CJK KR"/>
              </a:rPr>
              <a:t>v_t = β₂·v_{t-1} + (1−β₂)·g_t²         # 2차 모멘텀: 좌표별 보폭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2252B"/>
                </a:solidFill>
                <a:latin typeface="Noto Sans Mono CJK KR"/>
              </a:rPr>
              <a:t>m̂ = m_t/(1−β₁^t),  v̂ = v_t/(1−β₂^t)     # 초기 0-편향 보정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2252B"/>
                </a:solidFill>
                <a:latin typeface="Noto Sans Mono CJK KR"/>
              </a:rPr>
              <a:t>θ_{t+1} = θ_t − η · m̂ / (√v̂ + ε)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700016"/>
            <a:ext cx="5486400" cy="1792224"/>
          </a:xfrm>
          <a:prstGeom prst="roundRect">
            <a:avLst/>
          </a:prstGeom>
          <a:solidFill>
            <a:srgbClr val="DAF0ED"/>
          </a:solidFill>
          <a:ln w="127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2A9D8F"/>
                </a:solidFill>
                <a:latin typeface="Noto Sans CJK KR"/>
              </a:rPr>
              <a:t>이 optimizer가 해결한 것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 i="0">
                <a:solidFill>
                  <a:srgbClr val="22252B"/>
                </a:solidFill>
                <a:latin typeface="Noto Sans CJK KR"/>
              </a:rPr>
              <a:t>방향(m) + 좌표별 보폭(v) + 편향 보정을 한 번에. 튜닝 거의 없이 잘 동작 → 사실상 표준.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4700016"/>
            <a:ext cx="5486400" cy="1792224"/>
          </a:xfrm>
          <a:prstGeom prst="roundRect">
            <a:avLst/>
          </a:prstGeom>
          <a:solidFill>
            <a:srgbClr val="F6DDDD"/>
          </a:solidFill>
          <a:ln w="12700">
            <a:solidFill>
              <a:srgbClr val="C11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C1121F"/>
                </a:solidFill>
                <a:latin typeface="Noto Sans CJK KR"/>
              </a:rPr>
              <a:t>남은 문제 → 다음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 i="0">
                <a:solidFill>
                  <a:srgbClr val="22252B"/>
                </a:solidFill>
                <a:latin typeface="Noto Sans CJK KR"/>
              </a:rPr>
              <a:t>L2 weight decay를 gradient에 더하면 1/√v̂로 나뉘어 좌표별로 왜곡된다.  → AdamW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2252B"/>
                </a:solidFill>
                <a:latin typeface="Noto Sans CJK KR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85855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9A227"/>
                </a:solidFill>
                <a:latin typeface="Noto Sans CJK KR"/>
              </a:rPr>
              <a:t>A2 · AdamW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185855" cy="56692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2252B"/>
                </a:solidFill>
                <a:latin typeface="Noto Sans CJK KR"/>
              </a:rPr>
              <a:t>AdamW ★  ·  Adam with decoupled Weight decay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9A227"/>
                </a:solidFill>
                <a:latin typeface="Noto Sans CJK KR"/>
              </a:rPr>
              <a:t>종착점 — 오늘의 표준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11183112" cy="1024128"/>
          </a:xfrm>
          <a:prstGeom prst="roundRect">
            <a:avLst/>
          </a:prstGeom>
          <a:solidFill>
            <a:srgbClr val="F6ECC7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9A227"/>
                </a:solidFill>
                <a:latin typeface="Noto Sans CJK KR"/>
              </a:rPr>
              <a:t>직관 (왜 이렇게?)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 i="0">
                <a:solidFill>
                  <a:srgbClr val="22252B"/>
                </a:solidFill>
                <a:latin typeface="Noto Sans CJK KR"/>
              </a:rPr>
              <a:t>"weight decay(정규화)를 gradient에 섞지 말고, weight에서 '직접' 빼자 — 그래야 좌표마다 똑같이 적용된다."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615184"/>
            <a:ext cx="11183112" cy="1938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A8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2252B"/>
                </a:solidFill>
                <a:latin typeface="Noto Sans CJK KR"/>
              </a:rPr>
              <a:t>갱신 규칙 (수식)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2252B"/>
                </a:solidFill>
                <a:latin typeface="Noto Sans Mono CJK KR"/>
              </a:rPr>
              <a:t>m_t, v_t, m̂, v̂ : Adam과 동일 (decay를 g_t에 넣지 않음)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2252B"/>
                </a:solidFill>
                <a:latin typeface="Noto Sans Mono CJK KR"/>
              </a:rPr>
              <a:t>θ_{t+1} = θ_t − η · ( m̂/(√v̂+ε)  +  λ·θ_t )      # λ·θ 항을 분리(decoupled)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700016"/>
            <a:ext cx="5486400" cy="1792224"/>
          </a:xfrm>
          <a:prstGeom prst="roundRect">
            <a:avLst/>
          </a:prstGeom>
          <a:solidFill>
            <a:srgbClr val="DAF0ED"/>
          </a:solidFill>
          <a:ln w="127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2A9D8F"/>
                </a:solidFill>
                <a:latin typeface="Noto Sans CJK KR"/>
              </a:rPr>
              <a:t>이 optimizer가 해결한 것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 i="0">
                <a:solidFill>
                  <a:srgbClr val="22252B"/>
                </a:solidFill>
                <a:latin typeface="Noto Sans CJK KR"/>
              </a:rPr>
              <a:t>decay가 adaptive 스케일(1/√v̂)에 섞이지 않아 정규화가 일관 → 일반화↑. 오늘날 LLM 학습의 표준.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4700016"/>
            <a:ext cx="5486400" cy="1792224"/>
          </a:xfrm>
          <a:prstGeom prst="roundRect">
            <a:avLst/>
          </a:prstGeom>
          <a:solidFill>
            <a:srgbClr val="F6DDDD"/>
          </a:solidFill>
          <a:ln w="12700">
            <a:solidFill>
              <a:srgbClr val="C11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C1121F"/>
                </a:solidFill>
                <a:latin typeface="Noto Sans CJK KR"/>
              </a:rPr>
              <a:t>남은 문제 → 다음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 i="0">
                <a:solidFill>
                  <a:srgbClr val="22252B"/>
                </a:solidFill>
                <a:latin typeface="Noto Sans CJK KR"/>
              </a:rPr>
              <a:t>여기까지가 '표준 optimizer'. 이 계열 논문은 이 optimizer 자체를 memory로 재해석한다(HOPE).  → Part 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