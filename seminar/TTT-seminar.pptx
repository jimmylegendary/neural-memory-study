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image" Target="../media/image4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A2B"/>
          </a:solidFill>
          <a:ln w="12700">
            <a:solidFill>
              <a:srgbClr val="101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0" y="5212080"/>
            <a:ext cx="12191695" cy="457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테스트-타임 메모리 계열 — Titans에서 Sleep까지, 그리고 서빙 비용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66160"/>
            <a:ext cx="10545775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B8C4D4"/>
                </a:solidFill>
                <a:latin typeface="Noto Sans CJK KR"/>
              </a:rPr>
              <a:t>학습을 처음 보는 inference·systems 엔지니어를 위한 6편(Titans·Miras·Atlas·TNT·Nested Learning·Sleep) 해부 + 배포 비용 모델링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486400"/>
            <a:ext cx="10545775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8A9AAC"/>
                </a:solidFill>
                <a:latin typeface="Noto Sans CJK KR"/>
              </a:rPr>
              <a:t>이승호 (SAIT) · 2시간 발표 + 30분 Q&amp;A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목차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오늘 다룰 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365760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1" i="0">
                <a:solidFill>
                  <a:srgbClr val="2A6F97"/>
                </a:solidFill>
                <a:latin typeface="Noto Sans CJK KR"/>
              </a:rPr>
              <a:t>A. Background (학습 입문)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194560"/>
            <a:ext cx="3520440" cy="4297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A1. 학습 한 바퀴 — 2-layer MLP: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     forward→loss→backward→optimizer→update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A2. Optimizer의 역사 (수식과 함께)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     계보 지도(제공 이미지) →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     GD · SGD · Momentum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     Adagrad · RMSProp · Adam · AdamW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A3. 대안 계열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     linear attention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     DeltaNet → Gated DeltaNet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     SSM · Mamba-2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371600"/>
            <a:ext cx="365760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1" i="0">
                <a:solidFill>
                  <a:srgbClr val="2A9D8F"/>
                </a:solidFill>
                <a:latin typeface="Noto Sans CJK KR"/>
              </a:rPr>
              <a:t>B. 논문 6편 (발명→구현→증명)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194560"/>
            <a:ext cx="3520440" cy="4297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B1. Titans — deep neural memory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     surprise·momentum·forget, MAC/MAG/MAL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B2. Miras — 4축 설계공간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     메모리 = online 최적화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B3. Atlas — Omega rule·용량·Muon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B4. TNT — chunk·2-stage·global/local·Q-K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B5. Nested Learning / HOPE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     optimizer=memory · self-mod · CMS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B6. Sleep — offline consolidation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     Knowledge Seeding · Dreaming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1371600"/>
            <a:ext cx="356616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1" i="0">
                <a:solidFill>
                  <a:srgbClr val="C9A227"/>
                </a:solidFill>
                <a:latin typeface="Noto Sans CJK KR"/>
              </a:rPr>
              <a:t>C. System modeling (우리 기여)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2194560"/>
            <a:ext cx="3429000" cy="4297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C1. pair thesis — decode=memory-bound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C2. 8개 가속기 크로스 측정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C3. HOPE-block roofline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     + zHBM · HBM-PIM · SRAM scaling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C4. scaling 청사진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/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부록. QA 모음 (교차·논문별)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들어가기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이 세미나의 목적 · 범위 · 주의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11183112" cy="11430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2A6F97"/>
                </a:solidFill>
                <a:latin typeface="Noto Sans CJK KR"/>
              </a:rPr>
              <a:t>목적·방향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inference·systems 엔지니어가 test-time memory 계열(Titans~Sleep)을 shape·비용 수준으로 이해한다. 각 논문의 핵심 발명을 먼저 보고 → 어떻게 구현·증명되는지 → 논문 간 framing이 이어지는 흐름 → 마지막에 이 배포 형태가 서빙에서 얼마나 드는지(우리 기여).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97480"/>
            <a:ext cx="7315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1121F"/>
                </a:solidFill>
                <a:latin typeface="Noto Sans CJK KR"/>
              </a:rPr>
              <a:t>미리 알아둘 3가지 (읽는 규칙)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200400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1121F"/>
                </a:solidFill>
                <a:latin typeface="Noto Sans CJK KR"/>
              </a:rPr>
              <a:t>① 학습(pre-training)은 다루지 않는다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2252B"/>
                </a:solidFill>
                <a:latin typeface="Noto Sans CJK KR"/>
              </a:rPr>
              <a:t>Titans 기반 모델을 처음부터 훈련하는 과정은 범위 밖. 이 계열의 test-time 동작과 서빙에 집중한다. (Background의 학습 설명은 '무엇을 배우는가'를 읽기 위한 최소한.)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52544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1121F"/>
                </a:solidFill>
                <a:latin typeface="Noto Sans CJK KR"/>
              </a:rPr>
              <a:t>② 논문에 구체 수치가 빠진 곳이 많다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2252B"/>
                </a:solidFill>
                <a:latin typeface="Noto Sans CJK KR"/>
              </a:rPr>
              <a:t>모델 파라미터 shape·차원·학습 하이퍼 등 구체값이 명시 안 된 부분이 흔하다. 그림·설명에서 추론한 것은 '추론'으로, 본문에 있는 것은 '명시'로 구분해 표시한다.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504688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1121F"/>
                </a:solidFill>
                <a:latin typeface="Noto Sans CJK KR"/>
              </a:rPr>
              <a:t>③ 논문 1편만으론 불완전하다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2252B"/>
                </a:solidFill>
                <a:latin typeface="Noto Sans CJK KR"/>
              </a:rPr>
              <a:t>한 논문의 설명이 스스로 완결되지 않아, 다른 논문(특히 HOPE)을 같이 봐야 이해되는 부분이 많다. 예: Titans의 투영 분리는 HOPE에서야 명시된다. 그래서 6편을 하나의 흐름으로 읽는다.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Noto Sans CJK KR"/>
              </a:rPr>
              <a:t>PART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Background — 학습이 처음이라면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A1 · 학습 한 바퀴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2-layer MLP + head: forward → loss → backward → optimizer → update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x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d_in]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50592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h = W₁·x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d_h]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8264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a = σ(h)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d_h]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45936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o = W₂·a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d_out]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93608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z = head(o)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logits [B, V]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41280" y="1417320"/>
            <a:ext cx="1371600" cy="7772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L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loss (scalar)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74519" y="1805940"/>
            <a:ext cx="576073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645919" y="1106424"/>
            <a:ext cx="103327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matmul W₁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822191" y="1805940"/>
            <a:ext cx="576073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593591" y="1106424"/>
            <a:ext cx="1033271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σ (GeLU)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9864" y="1805940"/>
            <a:ext cx="576072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541264" y="1106424"/>
            <a:ext cx="103327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matmul W₂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717536" y="1805940"/>
            <a:ext cx="576072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88936" y="1106424"/>
            <a:ext cx="1033271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head W_h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665208" y="1805940"/>
            <a:ext cx="576072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436608" y="1106424"/>
            <a:ext cx="1033271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L2 loss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914400"/>
            <a:ext cx="17373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A6F97"/>
                </a:solidFill>
                <a:latin typeface="Noto Sans CJK KR"/>
              </a:rPr>
              <a:t>① forward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3317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5A5F68"/>
                </a:solidFill>
                <a:latin typeface="Noto Sans CJK KR"/>
              </a:rPr>
              <a:t>batch B개 샘플 동시 처리 · loss는 B개 평균(또는 합)으로 누적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246120"/>
            <a:ext cx="11155680" cy="658368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② loss.backward() — autograd 역전파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∂L/∂z → ∂L/∂W₂, ∂L/∂a → ∂L/∂h → ∂L/∂W₁, ∂L/∂head.  각 파라미터 W의 gradient g = ∂L/∂W 를 구해 W.grad 에 채운다(순전파의 역순, 체인 룰).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822960" y="2331720"/>
            <a:ext cx="10058400" cy="896112"/>
          </a:xfrm>
          <a:prstGeom prst="line">
            <a:avLst/>
          </a:prstGeom>
          <a:ln w="17780">
            <a:prstDash val="dash"/>
            <a:solidFill>
              <a:srgbClr val="C1121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02920" y="4224528"/>
            <a:ext cx="7040880" cy="14173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③ optimizer.step()  — AdamW (gradient g를 받아 '얼마나·어느 방향' 결정)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Mono CJK KR"/>
              </a:rPr>
              <a:t>m ← β₁·m + (1−β₁)·g          (1차 모멘텀: 방향의 관성)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Mono CJK KR"/>
              </a:rPr>
              <a:t>v ← β₂·v + (1−β₂)·g²         (2차 모멘텀: 좌표별 스케일)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Mono CJK KR"/>
              </a:rPr>
              <a:t>m̂,v̂ = 편향보정 ;  ΔW = −η·m̂/(√v̂+ε)   −  η·λ·W  ← decoupled decay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0" y="4224528"/>
            <a:ext cx="3886200" cy="14173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④ W ← W + ΔW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W₁, W₂, head 를 갱신.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optimizer.zero_grad()로 g 비우고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다음 batch로 → 반복.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897880"/>
            <a:ext cx="11155680" cy="56692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핵심 한 문장.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학습 = ①forward로 예측 → ②backward로 'gradient(어디가 틀렸나)' → ③optimizer로 'gradient를 기억·가공(m,v)해 갱신량' → ④weight 이동. 이 계열은 ②③④를 추론 중에도 돌린다.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Optimizer의 역사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한 장으로 보는 직관 지도</a:t>
            </a:r>
          </a:p>
        </p:txBody>
      </p:sp>
      <p:pic>
        <p:nvPicPr>
          <p:cNvPr id="5" name="Picture 4" descr="optimizer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367" y="1234440"/>
            <a:ext cx="9966960" cy="482774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6199632"/>
            <a:ext cx="11155680" cy="50292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파란 줄기 = '어느 방향으로'(관성)를 고치는 흐름 · 초록 줄기 = '얼마나(보폭)'를 고치는 흐름 → Adam이 둘을 합침. 다음 장부터 이 중 GD·SGD·Momentum·Adagrad·RMSProp·Adam·AdamW를 1페이지씩 수식과 함께.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GD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GD  ·  Gradient Descent (batch)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뿌리 — 가장 정확한 한 걸음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"모든 자료를 다 검토해서, 내 위치의 산 기울기를 계산해 갈 방향을 찾았다."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5fbcf593e3d630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429000"/>
            <a:ext cx="1691640" cy="655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990088" y="3401568"/>
            <a:ext cx="8165592" cy="71018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전체 N개 데이터의 평균 gradient</a:t>
            </a:r>
          </a:p>
        </p:txBody>
      </p:sp>
      <p:pic>
        <p:nvPicPr>
          <p:cNvPr id="11" name="Picture 10" descr="e4232876b35328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230624"/>
            <a:ext cx="1350264" cy="2042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648712" y="4203192"/>
            <a:ext cx="8506968" cy="259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η = learning rate (보폭)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손실을 가장 빨리 줄이는 방향(가장 가파른 내리막)을 데이터 전체로 정확히 계산한다.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한 스텝마다 데이터 N개를 전부 봐야 함 → 너무 느리다.  → SGD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SGD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SGD  ·  Stochastic Gradient Descent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파란 줄기 — 속도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"전부 다 봐야 한 걸음은 너무 오래 걸리니까, 조금만 보고 빨리 판단한다. 같은 시간에 더 많이 간다."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59adb2427c3a68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646932"/>
            <a:ext cx="1118616" cy="2194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417064" y="3619500"/>
            <a:ext cx="8738616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미니배치 B개만 사용 (|B| ≪ N)</a:t>
            </a:r>
          </a:p>
        </p:txBody>
      </p:sp>
      <p:pic>
        <p:nvPicPr>
          <p:cNvPr id="11" name="Picture 10" descr="e4232876b35328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012692"/>
            <a:ext cx="1350264" cy="20421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스텝당 비용이 급감 → 같은 시간에 훨씬 많은 스텝. gradient noise가 얕은 지역최소 탈출에도 도움.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gradient가 매 스텝 출렁여 지그재그. 방향도 보폭도 여전히 그대로.  → Momentum · Adagrad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Momentum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Momentum  ·  SGD with Momentum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파란 줄기 — '스텝 방향' 개선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"스텝을 계산해서 움직인 후, 아까 내려오던 관성 방향으로 또 가자."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58cc304237f131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671315"/>
            <a:ext cx="1365504" cy="1706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63952" y="3643884"/>
            <a:ext cx="8491728" cy="22555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μ≈0.9, 과거 방향의 관성(누적)</a:t>
            </a:r>
          </a:p>
        </p:txBody>
      </p:sp>
      <p:pic>
        <p:nvPicPr>
          <p:cNvPr id="11" name="Picture 10" descr="048f9f953b7decc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988307"/>
            <a:ext cx="1350264" cy="20421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일관된 방향은 누적 가속하고 출렁이는 성분은 상쇄 → 지그재그 완화, 좁은 골짜기를 빠르게 통과.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보폭(스케일)은 아직 모든 좌표가 동일. '좌표별 보폭'은 아래 초록 줄기(Adagrad→RMSProp)가 맡고, 뒤에서 Adam이 방향과 합친다.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A2 · Adagrad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Adagrad  ·  Adaptive Gradient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초록 줄기 — '스텝 사이즈' 개선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"안 가 본 곳은 성큼 빠르게 훑고, 많이 가 본 곳은 잘 가니까 갈수록 보폭을 줄여 세밀히 탐색."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f63d51081b10af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509771"/>
            <a:ext cx="1353312" cy="2468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51760" y="3482340"/>
            <a:ext cx="8503920" cy="30175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좌표별 gradient² 누적</a:t>
            </a:r>
          </a:p>
        </p:txBody>
      </p:sp>
      <p:pic>
        <p:nvPicPr>
          <p:cNvPr id="11" name="Picture 10" descr="4a2f662dc5183d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902963"/>
            <a:ext cx="1965960" cy="4511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264408" y="3875531"/>
            <a:ext cx="7891272" cy="5059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좌표마다 다른 보폭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좌표마다 다른 learning rate — 드물게 큰 gradient(희소 feature)는 크게, 자주 큰 좌표는 작게.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G_t가 단조 증가 → 분모가 계속 커져 보폭이 0으로 죽는다(학습 정지).  → RMSProp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A2 · RMSProp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RMSProp  ·  Root Mean Square Propagation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초록 줄기 — EMA로 보완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"보폭을 줄이는 건 좋은데, (전부 누적하지 말고) 최근 맥락을 봐 가며 하자."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ba22d2d980d3a6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482340"/>
            <a:ext cx="2743200" cy="2468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041648" y="3454908"/>
            <a:ext cx="7114032" cy="30175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ρ≈0.9, 최근값 지수이동평균(EMA)</a:t>
            </a:r>
          </a:p>
        </p:txBody>
      </p:sp>
      <p:pic>
        <p:nvPicPr>
          <p:cNvPr id="11" name="Picture 10" descr="b73f5e009c6b9b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875532"/>
            <a:ext cx="2295144" cy="5059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93591" y="3848099"/>
            <a:ext cx="7562088" cy="5608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분모가 무한정 커지지 않음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합 대신 EMA → 분모가 무한정 커지지 않아 보폭이 죽지 않는다. 비정상(non-stationary) 목표에도 안정.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방향(momentum)은 아직 안 씀. 초기(0에서 시작) 편향 보정도 없다.  → Adam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A2 · Adam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Adam  ·  Adaptive Moment Estimation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두 줄기의 합류 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9A22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"RMSProp(보폭) + Momentum(방향)을 합치자 — 방향도 스텝 사이즈도 적절하게!"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e70f05018bd2ff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108960"/>
            <a:ext cx="2054704" cy="1936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353158" y="3081528"/>
            <a:ext cx="7802521" cy="248501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1차 모멘텀: 방향</a:t>
            </a:r>
          </a:p>
        </p:txBody>
      </p:sp>
      <p:pic>
        <p:nvPicPr>
          <p:cNvPr id="11" name="Picture 10" descr="60ccb0aa032c3b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448901"/>
            <a:ext cx="1930995" cy="21784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229445" y="3421469"/>
            <a:ext cx="7926234" cy="27270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2차 모멘텀: 좌표별 보폭</a:t>
            </a:r>
          </a:p>
        </p:txBody>
      </p:sp>
      <p:pic>
        <p:nvPicPr>
          <p:cNvPr id="13" name="Picture 12" descr="0ecce77be0963cc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813048"/>
            <a:ext cx="2057398" cy="40072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355847" y="3785615"/>
            <a:ext cx="7799832" cy="45558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초기 0-편향 보정</a:t>
            </a:r>
          </a:p>
        </p:txBody>
      </p:sp>
      <p:pic>
        <p:nvPicPr>
          <p:cNvPr id="15" name="Picture 14" descr="7ca4e21dc098283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360074"/>
            <a:ext cx="1629782" cy="446442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방향(m) + 좌표별 보폭(v) + 편향 보정을 한 번에. 튜닝 거의 없이 잘 동작 → 사실상 표준.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L2 weight decay를 gradient에 더하면 1/√v̂로 나뉘어 좌표별로 왜곡된다.  → AdamW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A2 · AdamW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AdamW ★  ·  Adam with decoupled Weight decay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종착점 — 오늘의 표준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9A22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"weight decay(정규화)를 gradient에 섞지 말고, weight에서 '직접' 빼자 — 그래야 좌표마다 똑같이 적용된다."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fd2c02d1471c4b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474720"/>
            <a:ext cx="2468880" cy="2194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767328" y="3447288"/>
            <a:ext cx="7388352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decay를 gradient에 넣지 않음</a:t>
            </a:r>
          </a:p>
        </p:txBody>
      </p:sp>
      <p:pic>
        <p:nvPicPr>
          <p:cNvPr id="11" name="Picture 10" descr="ce7d435624c422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840480"/>
            <a:ext cx="2691384" cy="5486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89832" y="3813048"/>
            <a:ext cx="7165848" cy="603503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λθ 항을 분리 (decoupled)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decay가 adaptive 스케일(1/√v̂)에 섞이지 않아 정규화가 일관 → 일반화↑. 오늘날 LLM 학습의 표준.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여기까지가 '표준 optimizer'. 이 계열 논문은 이 optimizer 자체를 memory로 재해석한다(HOPE).  → Part B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A3 · 다른 접근들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왜 softmax attention을 벗어나나 — sequence를 '상태'로 압축하는 계열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5349240" cy="160020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softmax attention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• 문맥이 길수록 KV 캐시가 선형으로 증가(메모리 폭발)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• 토큰마다 전체를 다시 봄 → 계산 O(n²)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• 무엇을 '기억'할지 압축이 없다 — 전부 보관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89320" y="2167128"/>
            <a:ext cx="731520" cy="0"/>
          </a:xfrm>
          <a:prstGeom prst="line">
            <a:avLst/>
          </a:prstGeom>
          <a:ln w="2540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812280" y="1371600"/>
            <a:ext cx="4846320" cy="16002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고정 크기 '상태' S로 압축하는 RNN류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토큰마다 상태 S를 '어떤 규칙으로' 갱신하느냐가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계열을 가른다. 이 관점이 곧 Titans의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memory update(=test-time 학습)로 이어진다.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246120"/>
            <a:ext cx="36118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2A9D8F"/>
                </a:solidFill>
                <a:latin typeface="Noto Sans CJK KR"/>
              </a:rPr>
              <a:t>Linear Attention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S를 더하기만 (additive)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A5F68"/>
                </a:solidFill>
                <a:latin typeface="Noto Sans CJK KR"/>
              </a:rPr>
              <a:t>누적 간섭이 문제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3246120"/>
            <a:ext cx="36118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C9A227"/>
                </a:solidFill>
                <a:latin typeface="Noto Sans CJK KR"/>
              </a:rPr>
              <a:t>DeltaNet → Gated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delta rule로 덮어쓰기·수정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A5F68"/>
                </a:solidFill>
                <a:latin typeface="Noto Sans CJK KR"/>
              </a:rPr>
              <a:t>+ forget gate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3246120"/>
            <a:ext cx="36118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2A6F97"/>
                </a:solidFill>
                <a:latin typeface="Noto Sans CJK KR"/>
              </a:rPr>
              <a:t>SSM · Mamba-2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구조화된 선형 recurrence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A5F68"/>
                </a:solidFill>
                <a:latin typeface="Noto Sans CJK KR"/>
              </a:rPr>
              <a:t>선택적 상태 갱신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92040"/>
            <a:ext cx="11155680" cy="13716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공통 렌즈 — 다음 3계열을 관통하는 한 문장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2252B"/>
                </a:solidFill>
                <a:latin typeface="Noto Sans CJK KR"/>
              </a:rPr>
              <a:t>모두 "상태 S를 토큰마다 갱신하는 선형 recurrence"다. 갱신 규칙의 차이일 뿐 — 더하기(linear), 덮어쓰기(delta), 잊기(gated), 구조화(SSM).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6F97"/>
                </a:solidFill>
                <a:latin typeface="Noto Sans CJK KR"/>
              </a:rPr>
              <a:t>→ Titans는 이 갱신을 아예 '작은 신경망 메모리를 gradient로 학습'하는 것으로 승격시킨다(Part B).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A3 · 대안 (1) — 선형 어텐션 → DeltaNet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상태 S에 '쓰는 규칙'을 바꿔 온 역사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2834640" cy="10515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Linear Attention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φ(k)v™를 계속 더함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A5F68"/>
                </a:solidFill>
                <a:latin typeface="Noto Sans CJK KR"/>
              </a:rPr>
              <a:t>= fast weights (외적 누적)</a:t>
            </a:r>
          </a:p>
        </p:txBody>
      </p:sp>
      <p:pic>
        <p:nvPicPr>
          <p:cNvPr id="6" name="Picture 5" descr="b693d979527e9a4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880" y="1656466"/>
            <a:ext cx="8046720" cy="57326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2697480"/>
            <a:ext cx="2834640" cy="10515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DeltaNet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delta rule: 예측오차만큼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A5F68"/>
                </a:solidFill>
                <a:latin typeface="Noto Sans CJK KR"/>
              </a:rPr>
              <a:t>기존 기억을 '수정/덮어쓰기'</a:t>
            </a:r>
          </a:p>
        </p:txBody>
      </p:sp>
      <p:pic>
        <p:nvPicPr>
          <p:cNvPr id="8" name="Picture 7" descr="5dc740956c16c83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835041"/>
            <a:ext cx="8046720" cy="77643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02920" y="3977639"/>
            <a:ext cx="2834640" cy="10515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C1121F"/>
                </a:solidFill>
                <a:latin typeface="Noto Sans CJK KR"/>
              </a:rPr>
              <a:t>Gated DeltaNet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+ forget gate α_t (0~1)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A5F68"/>
                </a:solidFill>
                <a:latin typeface="Noto Sans CJK KR"/>
              </a:rPr>
              <a:t>오래된 기억을 잊어 용량 확보</a:t>
            </a:r>
          </a:p>
        </p:txBody>
      </p:sp>
      <p:pic>
        <p:nvPicPr>
          <p:cNvPr id="10" name="Picture 9" descr="8f2c68a9c25ce0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1880" y="4145064"/>
            <a:ext cx="8046720" cy="71671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02920" y="5257800"/>
            <a:ext cx="11155680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A6F97"/>
                </a:solidFill>
                <a:latin typeface="Noto Sans CJK KR"/>
              </a:rPr>
              <a:t>연결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"예측오차(S k − v)만큼 상태를 고친다"는 delta rule은 사실 손실 ‖Sk − v‖²에 대한 gradient step 한 번과 같다. 여기에 forget(α)·momentum을 얹으면 → 바로 Titans의 memory 갱신식이 된다.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A3 · 대안 (2) — SSM · Mamba-2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구조화된 선형 recurrence, 그리고 attention과의 이중성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2834640" cy="10515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SSM (S4)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고정된 A,B,C (시간 불변)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A5F68"/>
                </a:solidFill>
                <a:latin typeface="Noto Sans CJK KR"/>
              </a:rPr>
              <a:t>긴 의존성을 구조화된 A로</a:t>
            </a:r>
          </a:p>
        </p:txBody>
      </p:sp>
      <p:pic>
        <p:nvPicPr>
          <p:cNvPr id="6" name="Picture 5" descr="02ad32ae351977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880" y="1668313"/>
            <a:ext cx="8046720" cy="54957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2697480"/>
            <a:ext cx="2834640" cy="10515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Mamba (S6)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선택적(selective): 입력에 따라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A5F68"/>
                </a:solidFill>
                <a:latin typeface="Noto Sans CJK KR"/>
              </a:rPr>
              <a:t>무엇을 상태에 넣을지 결정</a:t>
            </a:r>
          </a:p>
        </p:txBody>
      </p:sp>
      <p:pic>
        <p:nvPicPr>
          <p:cNvPr id="8" name="Picture 7" descr="d11251f9cc4af4b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974819"/>
            <a:ext cx="8046720" cy="49688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02920" y="3977639"/>
            <a:ext cx="2834640" cy="10515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Mamba-2 (SSD)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state-space duality: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A5F68"/>
                </a:solidFill>
                <a:latin typeface="Noto Sans CJK KR"/>
              </a:rPr>
              <a:t>attention ↔ SSM은 같은 것의 두 형태</a:t>
            </a:r>
          </a:p>
        </p:txBody>
      </p:sp>
      <p:pic>
        <p:nvPicPr>
          <p:cNvPr id="10" name="Picture 9" descr="1537500eabde718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1880" y="4273513"/>
            <a:ext cx="8046720" cy="45981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02920" y="5257800"/>
            <a:ext cx="11155680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A6F97"/>
                </a:solidFill>
                <a:latin typeface="Noto Sans CJK KR"/>
              </a:rPr>
              <a:t>요지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SSM은 '상태 갱신 규칙을 구조화된 선형식'으로 본다. Mamba-2의 duality는 attention과 recurrence가 등가임을 보여, "sequence layer = 상태를 갱신하는 하나의 규칙"이라는 이번 세미나의 렌즈를 뒷받침한다.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Noto Sans CJK KR"/>
              </a:rPr>
              <a:t>PART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논문 6편 — 핵심 발명 먼저, 그다음 어떻게 증명했나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(2501.00663)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Titans — test-time에 학습되는 신경망 메모리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문맥을 KV에 쌓지 말고, test-time에 '학습되는' deep neural memory(작은 MLP)에 압축한다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attention의 O(n²)·KV 폭발 대신, 고정 크기 신경망이 무엇을 기억할지 스스로 학습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무엇을·얼마나 기억할지 = surprise(gradient) + momentum(과거 surprise) + forgetting(decay)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예측이 놀라운(=gradient 큰) 토큰을 더 기억, 관성으로 이어가고, 오래된 건 잊는다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메모리를 아키텍처에 꽂는 3가지 방식: MAC · MAG · MAL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persistent(작업기억) + core(attention) + contextual(장기 메모리)의 결합 방식 차이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linear/KV의 용량·간섭 한계 → 메모리를 '학습되는 MLP'로 → 무엇을 배우나=k→v 연상(‖M(k)−v‖²) → 얼마나=surprise+momentum+forget → 병렬화=momentum을 associative scan으로 → 어디에 꽂나=MAC/MAG/MAL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언어모델링 perplexity · NIAH(needle) · BABILong(초장문 추론)에서 baseline 상회, 메모리 깊을수록 개선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메커니즘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메모리 = 작은 MLP를 test-time에 gradient로 갱신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5212080" cy="9144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무엇을 배우나 — key→value 연상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토큰 x_t → k_t=x_tW_K, v_t=x_tW_V. 메모리 M이 k_t를 넣으면 v_t가 나오도록 학습.</a:t>
            </a:r>
          </a:p>
        </p:txBody>
      </p:sp>
      <p:pic>
        <p:nvPicPr>
          <p:cNvPr id="6" name="Picture 5" descr="55726861afe015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468811"/>
            <a:ext cx="5669280" cy="628537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2468880"/>
            <a:ext cx="1115568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560320"/>
            <a:ext cx="5486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 규칙 (η, θ, α는 데이터 의존)</a:t>
            </a:r>
          </a:p>
        </p:txBody>
      </p:sp>
      <p:pic>
        <p:nvPicPr>
          <p:cNvPr id="9" name="Picture 8" descr="77a95ab21a66db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035808"/>
            <a:ext cx="1572768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807208" y="2944368"/>
            <a:ext cx="8119871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5F68"/>
                </a:solidFill>
                <a:latin typeface="Noto Sans CJK KR"/>
              </a:rPr>
              <a:t>momentary surprise = gradient</a:t>
            </a:r>
          </a:p>
        </p:txBody>
      </p:sp>
      <p:pic>
        <p:nvPicPr>
          <p:cNvPr id="11" name="Picture 10" descr="96c2722c8601142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389376"/>
            <a:ext cx="1456944" cy="17068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691383" y="3291840"/>
            <a:ext cx="8235695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5F68"/>
                </a:solidFill>
                <a:latin typeface="Noto Sans CJK KR"/>
              </a:rPr>
              <a:t>surprise memory (momentum, η=관성)</a:t>
            </a:r>
          </a:p>
        </p:txBody>
      </p:sp>
      <p:pic>
        <p:nvPicPr>
          <p:cNvPr id="13" name="Picture 12" descr="ad43ce2e3389ef2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730752"/>
            <a:ext cx="1892807" cy="18287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127247" y="3639312"/>
            <a:ext cx="7799831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5F68"/>
                </a:solidFill>
                <a:latin typeface="Noto Sans CJK KR"/>
              </a:rPr>
              <a:t>forgetting gate α로 오래된 기억 감쇠</a:t>
            </a:r>
          </a:p>
        </p:txBody>
      </p:sp>
      <p:pic>
        <p:nvPicPr>
          <p:cNvPr id="15" name="Picture 14" descr="e74dba36c4cc7f8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4078224"/>
            <a:ext cx="868680" cy="18287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103120" y="3986783"/>
            <a:ext cx="8823959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5F68"/>
                </a:solidFill>
                <a:latin typeface="Noto Sans CJK KR"/>
              </a:rPr>
              <a:t>읽기: query q_t를 갱신된 메모리에 통과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617720"/>
            <a:ext cx="11155680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핵심 포인트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이 3식은 A2의 'momentum + weight decay가 붙은 gradient descent'와 정확히 같은 모양이다 — 다만 대상이 모델 파라미터가 아니라 '추론 중 메모리 M'이다. 즉 학습(training)의 도구를 추론(inference) 안으로 가져왔다.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어디에 꽂나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MAC · MAG · MAL — 메모리를 아키텍처에 넣는 3가지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721132"/>
            <a:ext cx="5605272" cy="195269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57708"/>
            <a:ext cx="5532120" cy="187954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05993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MAC: 메모리를 검색해 attention의 '문맥'으로 넣음 (persistent+core+contextual)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2501.00663 Fig.2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1744432"/>
            <a:ext cx="5468112" cy="190609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781008"/>
            <a:ext cx="5394960" cy="183294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059936"/>
            <a:ext cx="53949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MAG: 장기 메모리 분기와 sliding-window attention 분기를 게이트로 결합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2501.00663 Fig.4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617720"/>
            <a:ext cx="11155680" cy="10515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세 방식의 차이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MAC=메모리 출력을 문맥으로 concat(가장 강함, 느림) · MAG=게이트로 혼합 · MAL=메모리를 attention 앞 레이어로. 공통: persistent memory(입력 독립 작업기억) + core(단기 attention) + long-term memory(위 식으로 학습). MAL은 그림 생략(레이어형).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증명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초장문에서 baseline 상회, 메모리가 깊을수록 좋아진다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1461701" y="1335024"/>
            <a:ext cx="3614557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8277" y="1371600"/>
            <a:ext cx="3541405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BABILong: Titans(MAC)가 GPT-4·Mamba·RMT 등보다 긴 문맥에서 우위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2501.00663 Fig.6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2024096"/>
            <a:ext cx="5468112" cy="1438207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060672"/>
            <a:ext cx="5394960" cy="136505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151376"/>
            <a:ext cx="53949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메모리 깊이(MLP 층수)↑ → perplexity↓, 특히 긴 문맥에서 이득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2501.00663 Fig.7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09160"/>
            <a:ext cx="11155680" cy="9144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읽는 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왼쪽: 문맥 길이가 늘어도 정확도 유지(=압축이 실제로 기억을 보존). 오른쪽: '메모리를 깊게 = 표현력↑'이 실측으로 확인 → 뒤 논문들이 '메모리 용량·표현력'을 키우는 방향으로 나아가는 근거.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(2504.13173)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Miras — 메모리는 하나의 online 최적화; 4축 설계공간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sequence layer = 하나의 online 최적화 문제로 통일해 볼 수 있다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Titans·DeltaNet·linear attention 등은 모두 '어떤 목적을 어떤 규칙으로 최소화하나'의 특수해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설계는 4개의 축으로 분해된다: attentional bias · retention · architecture · algorithm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① 무엇을 기억(손실) ② 무엇을 잊기(retention) ③ 메모리 구조 ④ 갱신 알고리즘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이 축에서 새 인스턴스를 만든다: Moneta · Yaad · Memora (FTRL·Learning-Retaining)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발명이라기보다 '설계 공간의 존재 증명 + 각 축의 효과를 실험으로 확인'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 재해석(surprise=attentional bias, forget=retention) → 축을 일반화 → 손실을 L2에서 Lp/robust로, retention을 다양하게 → 새 조합 Moneta/Yaad/Memora → 축별 ablation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모델 크기·문맥 길이 스케일링(Fig.3), 손실차수 p·retention q의 효과(Fig.4)로 각 축이 실제로 성능을 가른다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4축 설계공간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메모리를 4개의 독립적 '선택'으로 분해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702090"/>
            <a:ext cx="5193792" cy="2722299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8666"/>
            <a:ext cx="5120640" cy="26491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791456"/>
            <a:ext cx="512064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Miras 프레임워크: 4가지 핵심 선택으로 sequence layer를 구성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2504.13173 Fig.1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1417320"/>
            <a:ext cx="571500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① Attentional bias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무엇을 기억? = 손실 함수. Titans의 ‖M(k)−v‖²는 한 예. Lp·robust로 바꿀 수 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2404872"/>
            <a:ext cx="571500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② Retention gate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무엇을 잊나? = 정규화/감쇠. forget gate가 여기 속한다.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3392424"/>
            <a:ext cx="571500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③ Memory architecture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메모리의 구조: vector · matrix · deep MLP.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4379976"/>
            <a:ext cx="571500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④ Learning algorithm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어떻게 갱신? GD · momentum · FTRL · Learning-Retaining.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440680"/>
            <a:ext cx="1115568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의의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Titans를 특수점으로 품는 지도를 그려, '무엇을 바꾸면 무엇이 좋아지나'를 조직적으로 탐색 가능하게 했다. 이후 Atlas·HOPE는 이 축들을 각자 밀어붙인 결과다.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증명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축을 움직이면 성능이 예측대로 변한다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142681"/>
            <a:ext cx="5605272" cy="1292476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79257"/>
            <a:ext cx="5532120" cy="12193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4281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모델 크기·문맥 길이에 따른 스케일링 — Miras 변형들이 안정적으로 개선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2504.13173 Fig.3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3148" y="1335024"/>
            <a:ext cx="3115943" cy="290779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9724" y="1371600"/>
            <a:ext cx="3042791" cy="28346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242816"/>
            <a:ext cx="53949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손실 차수 p·retention q의 효과 — 축 선택이 문맥 길이별 성능을 가른다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2504.13173 Fig.4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55680" cy="8686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읽는 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각 축을 독립적으로 흔들었을 때 성능이 단조·예측 가능하게 반응 → '설계 공간'이 실재함을 뒷받침. 이 관점이 다음 Atlas(용량 축)와 HOPE(알고리즘 축)의 출발점.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(2505.23735)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Atlas — 토큰이 아니라 '문맥'을 기억하고, 용량을 키운다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Omega rule: 개별 토큰이 아니라 sliding-window '문맥 전체'를 한 번에 기억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γ_{t,i} 가중으로 최근 c개 토큰을 함께 최적화 — 'learning to memorize the context'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feature map φ_p로 메모리 용량을 matrix 한계(√params) 너머 d^p까지 확장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polynomial feature map으로 표현력↑ (softmax는 사실상 무한 용량의 극단)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메모리 학습을 GD가 아니라 Muon(근사 2차) optimizer로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곡률 정보를 써 더 잘·빠르게 메모리를 적합 — A2의 optimizer 발전을 메모리 학습에 적용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메모리 용량이 병목(Titans Fig.7의 연장) → Hopfield 용량 이론 → feature map 투영으로 확장 → 문맥 단위 목적(Omega) → 최적화도 Muon으로 → DeepTransformers/Dot 변형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BABILong에서 Titans 초과(Fig.4), associative recall 용량 실험(Fig.7), 문맥·FLOPs 스케일링(Fig.8)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메커니즘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문맥 단위 기억(Omega) + 용량 확장(feature map)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979660"/>
            <a:ext cx="5559552" cy="1527079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16236"/>
            <a:ext cx="5486400" cy="14539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48640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SWA vs Atlas/Omega: 문맥 내 토큰 의존성을 더 넓게 연결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2505.23735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371600"/>
            <a:ext cx="5486400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Omega rule (문맥 단위 목적)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최근 c개 토큰을 γ 가중으로 한 번에 적합:</a:t>
            </a:r>
          </a:p>
        </p:txBody>
      </p:sp>
      <p:pic>
        <p:nvPicPr>
          <p:cNvPr id="9" name="Picture 8" descr="5404d83c5f5ab6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9554" y="2606040"/>
            <a:ext cx="2831690" cy="6858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3429000"/>
            <a:ext cx="5486400" cy="11430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용량 확장 + Muon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φ_p(k)로 차원을 d→d^p로 올려 저장 용량↑. 학습은 Muon(근사 2차)로 곡률을 활용.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09160"/>
            <a:ext cx="11155680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한 줄 요지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Titans가 '무엇을 기억하나(연상)'를 열었다면, Atlas는 '얼마나 많이·문맥 단위로 기억하나(용량)'를 키운다. Miras의 architecture·algorithm 축을 밀어붙인 결과.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증명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Titans를 넘어서고, 용량이 실제로 커진다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1067054" y="1335024"/>
            <a:ext cx="4403852" cy="290779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3630" y="1371600"/>
            <a:ext cx="4330700" cy="2834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4281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BABILong: Atlas가 Titans 성능을 초과, 초장문에서 효과적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2505.23735 Fig.4</a:t>
            </a:r>
          </a:p>
        </p:txBody>
      </p:sp>
      <p:sp>
        <p:nvSpPr>
          <p:cNvPr id="8" name="Rectangle 7"/>
          <p:cNvSpPr/>
          <p:nvPr/>
        </p:nvSpPr>
        <p:spPr>
          <a:xfrm>
            <a:off x="6874491" y="1335024"/>
            <a:ext cx="4173256" cy="290779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1067" y="1371600"/>
            <a:ext cx="4100104" cy="28346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242816"/>
            <a:ext cx="53949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associative memory recall: feature map으로 저장 용량이 늘어남을 확인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2505.23735 Fig.7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55680" cy="8686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읽는 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왼쪽=같은 벤치에서 Titans 대비 향상(용량·Omega의 효과). 오른쪽=저장할 연상 쌍이 많아져도 회상 유지 → '용량 확장'이 말뿐이 아님을 직접 보여줌.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(2511.07343)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TNT — 학습 레시피와 serving 구조를 함께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train chunk와 serve chunk가 다르면 품질이 붕괴한다 (핵심 관찰)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C=64로 학습한 550M Titans를 chunk=1로 서빙하면 성능 급락 — 학습/추론 불일치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해법: train chunk(큰)와 serve chunk(작은)를 decouple하고 2-stage로 정렬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큰 chunk로 싸게 병렬 학습 → 2단계로 작은 serve chunk에 맞춰 재정렬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hierarchical memory: global(prefill, 병렬) / local(decode, 세밀)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긴 문맥은 global로 한 번에, 생성은 local로 토큰별 — 병렬성과 정밀도를 모두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767328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70432" y="3767328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Q-K projection 추가로 메모리 읽기/쓰기 표현력 보강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chunk 정렬과 함께 serving 품질을 끌어올리는 보조 장치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581144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deep memory를 큰 chunk로 싸게 훈련 → 그런데 serve chunk가 다르면 붕괴(2.6배 악화) → 2-stage로 정렬 → 계층 메모리로 병렬+세밀 → serving 구조 정의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422392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chunk sweep의 V자 곡선(Fig.2), 최대 17배 속도(Fig.4/5), 품질 표로 train/serve 정렬 효과 입증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메커니즘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메모리 계층(global/local) + 2-stage 정렬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007903"/>
            <a:ext cx="5605272" cy="1516313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44479"/>
            <a:ext cx="5532120" cy="144316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9709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메모리 계층 다이어그램: 같은 t의 갱신을 계층적으로(global↔local)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2511.07343 Fig.1</a:t>
            </a:r>
          </a:p>
        </p:txBody>
      </p:sp>
      <p:sp>
        <p:nvSpPr>
          <p:cNvPr id="8" name="Rectangle 7"/>
          <p:cNvSpPr/>
          <p:nvPr/>
        </p:nvSpPr>
        <p:spPr>
          <a:xfrm>
            <a:off x="7911790" y="1335024"/>
            <a:ext cx="2098659" cy="286207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8366" y="1371600"/>
            <a:ext cx="2025507" cy="2788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197096"/>
            <a:ext cx="53949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Stage 1 아키텍처 개요 — 큰 chunk 병렬 학습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2511.07343 Fig.3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54880"/>
            <a:ext cx="11155680" cy="9144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왜 2-stage인가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Stage1: 큰 chunk로 저비용 병렬 학습(throughput 확보). Stage2: serve chunk(작게)에 맞춰 재정렬해 train/serve 불일치를 제거. 이렇게 해야 '싸게 학습 + 정확한 서빙'이 동시에 된다.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증명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chunk 정렬이 품질을, 계층이 속도를 만든다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1508412" y="1335024"/>
            <a:ext cx="3521135" cy="290779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4988" y="1371600"/>
            <a:ext cx="3447983" cy="2834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4281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serve chunk 민감도(V자): train chunk와 맞을 때 최적, 어긋나면 급락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2511.07343 Fig.2</a:t>
            </a:r>
          </a:p>
        </p:txBody>
      </p:sp>
      <p:sp>
        <p:nvSpPr>
          <p:cNvPr id="8" name="Rectangle 7"/>
          <p:cNvSpPr/>
          <p:nvPr/>
        </p:nvSpPr>
        <p:spPr>
          <a:xfrm>
            <a:off x="6944332" y="1335024"/>
            <a:ext cx="4033574" cy="290779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0908" y="1371600"/>
            <a:ext cx="3960422" cy="28346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242816"/>
            <a:ext cx="53949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runtime 비교: 시퀀스가 길어질수록 최대 17배 빠른 서빙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2511.07343 Fig.4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55680" cy="8686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읽는 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왼쪽 V자 = 'train/serve chunk mismatch가 진짜 품질을 죽인다'의 직접 증거. 오른쪽 = 계층 메모리로 긴 문맥 서빙이 실제로 빨라짐. 이 논문은 '어떻게 배포하나'를 처음으로 정면으로 다룬다.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Nested Learning / HOPE (2512.24695)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HOPE — 모든 부품이 '어떤 주파수의 메모리'인 아키텍처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9A227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Expressive Optimizers: optimizer는 gradient를 압축하는 associative memory다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momentum·Adam·Muon = 메모리의 특수형 → 더 표현력 큰 optimizer(DGD·M3)로 승격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Self-Modifying Titans: 투영·게이트까지 메모리로 만들어 자기 갱신 규칙을 스스로 수정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6개 메모리 {k,v,q,η,α,mem} 중 q만 static, 나머지는 test-time에 갱신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CMS(Continuum Memory System): long/short를 '연속 주파수' 스펙트럼으로 일반화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여러 주파수의 MLP 블록을 이어 붙임 — TNT의 global/local을 연속체로 확장. 합 = HOPE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backprop도 self-referential memory → optimizer도 memory → 그럼 architecture와 optimizer는 같은 것의 다른 레벨 → 레벨을 더 쌓자(higher-order ICL) → self-mod + CMS = HOPE. ICL은 창발이 아니라 ≥2레벨의 structural 결과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760M/1.3B 벤치(Transformer++·RWKV7·DeltaNet·Titans 대비), BABILong, 메모리 레벨 ablation, M3 optimizer(ViT)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Nested Learning — 관점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학습 자체를 '중첩된 최적화(=메모리)의 층'으로 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547761"/>
            <a:ext cx="5559552" cy="2390876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84337"/>
            <a:ext cx="5486400" cy="23177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48640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Nested Learning: 모델과 그 학습절차를 중첩된 최적화 문제들의 집합으로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371600"/>
            <a:ext cx="5486400" cy="14630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핵심 재해석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optimizer가 하는 일(과거 gradient를 모아 다음 스텝을 정함) = '연상 메모리'다. 그럼 momentum은 선형 메모리, Adam·Muon도 메모리의 특수형.</a:t>
            </a:r>
          </a:p>
        </p:txBody>
      </p:sp>
      <p:pic>
        <p:nvPicPr>
          <p:cNvPr id="9" name="Picture 8" descr="3dff4bfd538aeb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3042458"/>
            <a:ext cx="5120640" cy="22444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3520440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그래서 무엇이 열리나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optimizer를 '더 표현력 있는 메모리'(Deep GD·delta-momentum·M3)로 바꿀 수 있고, 이 최적화 층을 여러 개 쌓으면 higher-order in-context learning이 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54880"/>
            <a:ext cx="11155680" cy="9144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ICL에 대한 주장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in-context learning은 큰 모델에서 '창발'하는 마법이 아니라, 최소 2개 레벨의 중첩 최적화를 가지면 구조적으로(structural) 따라 나오는 성질이다 — Fig.7의 레벨 ablation이 이를 뒷받침.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Self-Modifying Titans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투영·게이트까지 메모리 — 자기 갱신 규칙을 스스로 수정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M_k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key 투영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377439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M_v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value 투영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59" y="1463040"/>
            <a:ext cx="1783080" cy="960120"/>
          </a:xfrm>
          <a:prstGeom prst="roundRect">
            <a:avLst/>
          </a:prstGeom>
          <a:solidFill>
            <a:srgbClr val="ECEEF1"/>
          </a:solidFill>
          <a:ln w="1778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8A8F98"/>
                </a:solidFill>
                <a:latin typeface="Noto Sans CJK KR"/>
              </a:rPr>
              <a:t>M_q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query 투영 (static)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79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M_η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momentum 게이트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M_α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forget 게이트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75520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M_mem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본체 메모리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514600"/>
            <a:ext cx="111556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5F68"/>
                </a:solidFill>
                <a:latin typeface="Noto Sans CJK KR"/>
              </a:rPr>
              <a:t>↑ 6개 메모리 중 q만 static(고정), 나머지 5개는 추론 중 갱신됨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971800"/>
            <a:ext cx="5486400" cy="15544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무엇이 새로운가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Titans는 본체 메모리 M_mem만 갱신했다. HOPE는 '무엇을 key/value로 삼을지(투영)'와 '얼마나 기억·잊을지(게이트)'까지 메모리로 만들어 test-time에 함께 갱신한다.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971800"/>
            <a:ext cx="5486400" cy="15544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어떻게 갱신하나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target을 스스로 만든다(self-target: v̂_□ = M_□(v_t)). 갱신은 DGD-with-weight-decay, gradient는 full backprop. 출력은 갱신 전(chunk 시작) 메모리로 읽는다.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663440"/>
            <a:ext cx="11155680" cy="10058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Titans의 '고정된 투영'을 풀어, 모델이 자신의 학습 규칙(무엇을 어떻게 기억할지)을 데이터에 맞춰 바꾸게 만든 것. q를 고정으로 남긴 건 안정적 읽기 기준을 유지하기 위함(추론).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CMS — Continuum Memory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long/short를 '연속 주파수'의 메모리 블록들로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554480"/>
            <a:ext cx="27432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f₁ (느림·저주파)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큰 chunk마다 1스텝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566160" y="2011680"/>
            <a:ext cx="822960" cy="0"/>
          </a:xfrm>
          <a:prstGeom prst="line">
            <a:avLst/>
          </a:prstGeom>
          <a:ln w="2032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389120" y="1554480"/>
            <a:ext cx="27432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f₂ (중간)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중간 chunk마다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132320" y="2011680"/>
            <a:ext cx="822959" cy="0"/>
          </a:xfrm>
          <a:prstGeom prst="line">
            <a:avLst/>
          </a:prstGeom>
          <a:ln w="2032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955279" y="1554480"/>
            <a:ext cx="27432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f₃ (빠름·고주파)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작은 chunk마다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60320"/>
            <a:ext cx="10515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5A5F68"/>
                </a:solidFill>
                <a:latin typeface="Noto Sans CJK KR"/>
              </a:rPr>
              <a:t>forward: y = MLP^(f₃)( … MLP^(f₁)(x) )  · 각 블록은 자기 주파수 경계에서 gradient를 모아 1스텝 갱신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063240"/>
            <a:ext cx="5486400" cy="14630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TNT와의 관계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TNT의 global/local(2단계)을 임의 개수의 주파수로 일반화. 느린 블록=장기 문맥, 빠른 블록=국소 세부. 블록 간 전달은 '가중치 복사'가 아니라 forward 활성으로.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063240"/>
            <a:ext cx="5486400" cy="14630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meta-learned 초기상태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각 블록의 '리셋 지점'(초기 상태)은 사전학습으로 meta-learn. 느린 블록이 빠른 블록의 리셋 초기값을 제공. 이건 런타임 diff 전달이 아니라 시작점 설정(→ B6 Sleep가 그 diff 전달을 맡음).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63440"/>
            <a:ext cx="11155680" cy="10058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HOPE = self-modifying Titans + CMS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자기수정(어떻게 기억할지) + 연속 주파수(언제 기억할지)를 합치면, '모든 부품이 어떤 주파수의 메모리'인 하나의 중첩 시스템 = HOPE가 된다.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HOPE의 렌즈로 앞 4편을 한 문장씩 다시 읽기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1554480" cy="105156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Noto Sans CJK KR"/>
              </a:rPr>
              <a:t>Titans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48840" y="1417320"/>
            <a:ext cx="9509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원래: 메모리 = gradient로 학습되는 신경망(surprise+momentum+forget).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HOPE: HOPE: 그 optimizer(momentum 등)마저 메모리 → 아키텍처와 optimizer가 같은 것의 두 레벨.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60320"/>
            <a:ext cx="1554480" cy="105156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Noto Sans CJK KR"/>
              </a:rPr>
              <a:t>Miras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2560320"/>
            <a:ext cx="9509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원래: 4축(attentional bias·retention·architecture·algorithm)으로 설계공간을 정의.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HOPE: HOPE: 'algorithm' 축(momentum/Adam/Muon)이 사실 메모리 → architecture·algorithm 축을 하나로 통합.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703320"/>
            <a:ext cx="1554480" cy="105156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Noto Sans CJK KR"/>
              </a:rPr>
              <a:t>Atlas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3703320"/>
            <a:ext cx="9509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원래: feature map으로 용량 확장 + Muon(2차) optimizer로 메모리 학습.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HOPE: HOPE: Muon류 = gradient의 '표현력 큰 메모리' → M3(더 표현력 있는 optimizer)로 일반화.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1554480" cy="105156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Noto Sans CJK KR"/>
              </a:rPr>
              <a:t>TNT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48840" y="4846320"/>
            <a:ext cx="9509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원래: global/local(장기/단기) 2단계 메모리 + train/serve chunk 정렬.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HOPE: HOPE: long/short를 CMS의 '연속 주파수' 스펙트럼으로 확장 — 2단계가 아니라 연속체.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6035040"/>
            <a:ext cx="11155680" cy="5029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한 문장: HOPE는 '모든 부품(투영·게이트·optimizer·장단기 메모리)이 어떤 주파수의 메모리'라는 하나의 중첩 시스템으로 앞 4편을 통합한다.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HOPE — 증명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레벨이 ICL을, 표현력 큰 optimizer가 학습을 개선한다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329184" y="2247767"/>
            <a:ext cx="3867912" cy="99086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4343"/>
            <a:ext cx="3794760" cy="9177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4151376"/>
            <a:ext cx="37947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메모리 레벨↑ → ICL(NIAH) 성능↑ (structural)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Fig.7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3772" y="1335024"/>
            <a:ext cx="1656270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0348" y="1371600"/>
            <a:ext cx="1583118" cy="2743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24528" y="4151376"/>
            <a:ext cx="37947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BABILong: HOPE가 대형 모델과 견줌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93851" y="1335024"/>
            <a:ext cx="3373649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ig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0427" y="1371600"/>
            <a:ext cx="3300497" cy="2743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083296" y="4151376"/>
            <a:ext cx="37947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M3 optimizer: ViT에서 AdamW·Muon 대비 개선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Fig.11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754880"/>
            <a:ext cx="11155680" cy="9144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읽는 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왼쪽=중첩 레벨을 늘릴수록 in-context 성능이 오른다(ICL=structural 주장의 증거). 가운데=초장문 추론에서 경쟁력. 오른쪽=optimizer를 메모리로 보는 관점이 실제 학습(ViT)에서도 이득.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