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2B"/>
          </a:solidFill>
          <a:ln w="12700">
            <a:solidFill>
              <a:srgbClr val="101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45775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Noto Sans CJK KR"/>
              </a:rPr>
              <a:t>TTT와 Titans의 효율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45775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B8C4D4"/>
                </a:solidFill>
                <a:latin typeface="Noto Sans CJK KR"/>
              </a:rPr>
              <a:t>Scaling 병목과 해법, 그리고 memory device 집중 조명   ·   근거등급  a=명시 · b=추론 · c=미명시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45775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8A9AAC"/>
                </a:solidFill>
                <a:latin typeface="Noto Sans CJK KR"/>
              </a:rPr>
              <a:t>neural-memory-study · 집중 조명 study paper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A8F98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8F98"/>
                </a:solidFill>
                <a:latin typeface="Noto Sans CJK KR"/>
              </a:rPr>
              <a:t>0 · 들어가며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목적 · 범위 · 읽는 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7040880" cy="4480560"/>
          </a:xfrm>
          <a:prstGeom prst="roundRect">
            <a:avLst/>
          </a:prstGeom>
          <a:solidFill>
            <a:srgbClr val="ECEEF1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8A8F98"/>
                </a:solidFill>
                <a:latin typeface="Noto Sans CJK KR"/>
              </a:rPr>
              <a:t>목적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TTT / Titans 계열을 '효율 · scaling' 시스템 관점으로 집중 조명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세 scaling 병목(model-size · training batch · serving P/D)과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각 해법(무엇을 · 어떻게 · 왜 working), 그리고 memory device 한계 · 개선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234440"/>
            <a:ext cx="3959352" cy="2103120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1121F"/>
                </a:solidFill>
                <a:latin typeface="Noto Sans CJK KR"/>
              </a:rPr>
              <a:t>3가지 caveat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① 아키텍처 세부가 아니라 효율·scaling 관점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② 2026 최신 多 → 수치·재현성 미확정 → 근거등급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③ 단일 논문은 불완전 — 갈래는 갈래대로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3474720"/>
            <a:ext cx="3959352" cy="2240280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A6F97"/>
                </a:solidFill>
                <a:latin typeface="Noto Sans CJK KR"/>
              </a:rPr>
              <a:t>흐름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Ⅰ TTT·Titans 집중 조명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Ⅱ 병목 3종  →  Ⅲ 해법 3종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Ⅳ memory device 한계·개선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→ 종합 지도 · 열린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Noto Sans CJK KR"/>
              </a:rPr>
              <a:t>Part 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45775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Noto Sans CJK KR"/>
              </a:rPr>
              <a:t>TTT · Titans 집중 조명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1 · TTT 집중 조명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은닉상태가 곧 '학습 중인 모델'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은닉상태를 작은 모델의 weights W_t 로 보고, 매 토큰 self-supervised gradient 1스텝으로 갱신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출력은 그 갱신된 모델의 forward:  z_t = f_{W_t}(q_t).  f 가 선형=TTT-Linear, 2-layer MLP=TTT-MLP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메모리 용량이 '벡터 크기'가 아니라 '모델 가중치 수'로 스케일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→ 문맥이 길어질수록 손실 계속 감소 (Mamba는 ~16k에서 정체)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뿌리: fast-weight programmer(Schlag) — linear attention ≡ fast weight, delta rule = gradient step  [a]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74920"/>
            <a:ext cx="1118311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pic>
        <p:nvPicPr>
          <p:cNvPr id="7" name="Picture 6" descr="73f273913f44b2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340154"/>
            <a:ext cx="10881360" cy="5668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6F97"/>
                </a:solidFill>
                <a:latin typeface="Noto Sans CJK KR"/>
              </a:rPr>
              <a:t>1 · TTT 집중 조명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순차성 = 모든 병목의 뿌리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532120" cy="4480560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A6F97"/>
                </a:solidFill>
                <a:latin typeface="Noto Sans CJK KR"/>
              </a:rPr>
              <a:t>이중성(duality)이 효율의 열쇠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같은 연산의 세 형태: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parallel(학습) · recurrent(O(1) 추론) · chunkwise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TTT의 dual form: 청크 내 gradient들을 하나의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큰 행렬곱으로 묶음 (primal 대비 &gt;5×, JAX 기준)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청크 내부는 병렬, W의 이월은 청크 경계에서만 [b]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513832" cy="4480560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1121F"/>
                </a:solidFill>
                <a:latin typeface="Noto Sans CJK KR"/>
              </a:rPr>
              <a:t>그러나 순차성은 남는다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W_t 는 W_{t-1}에 의존 → 본질적으로 순차 [b]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chunkwise는 순차성을 '청크 경계로 밀어낼' 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작은 청크(16–64토큰) → FLOPs util &lt; 5% (LaCT)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큰 청크 → util↑ 이나 세밀한 적응력↓ (trade-off) [b]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→ 이 trade-off가 이후 모든 병목을 낳는다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Noto Sans CJK KR"/>
              </a:rPr>
              <a:t>2 · Titans 집중 조명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deep neural memory + surprise·momentum·forget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long-term memory M = deep MLP; 각 토큰에서 M의 가중치를 test time에 갱신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갱신 신호 = associative loss ‖M(k_t)−v_t‖² 의 gradient = 'surprise'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여기에 momentum(과거 surprise 누적) + weight-decay(adaptive forget) 결합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3가지 통합 방식: MAC(memory as context) · MAG(as gate) · MAL(as layer)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attention(단기 정확) + neural memory(장기 압축)의 하이브리드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chunk-parallel 학습으로 순차 갱신을 가속  [a]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Noto Sans CJK KR"/>
              </a:rPr>
              <a:t>2 · Titans 집중 조명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효율 라인 Atlas·TNT·HOPE·Sleep — 그리고 비판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532120" cy="4480560"/>
          </a:xfrm>
          <a:prstGeom prst="roundRect">
            <a:avLst/>
          </a:prstGeom>
          <a:solidFill>
            <a:srgbClr val="F6ECC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9A227"/>
                </a:solidFill>
                <a:latin typeface="Noto Sans CJK KR"/>
              </a:rPr>
              <a:t>효율·표현력 확장 라인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Atlas: Omega rule(문맥 단위)+Muon(2차)+다항 feature 용량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TNT: chunkwise training 가속 — global chunk + local 병렬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HOPE / Nested Learning: optimizer=memory · CMS ·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       self-modifying Titans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Sleep: offline consolidation — parameter 성장 +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       Knowledge Seeding + Dreaming(RL) [a]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513832" cy="4480560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1121F"/>
                </a:solidFill>
                <a:latin typeface="Noto Sans CJK KR"/>
              </a:rPr>
              <a:t>⚠ skeptic — Titans Revisited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경량 재구현으로 재현성·실기여를 비판적 검증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neural memory는 유효하나,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chunking 때문에 baseline을 '항상' 넘지는 못함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→ neural memory의 실이득이 어느 규모·태스크에서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 확실한지는 아직 합의 없음 [a]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Noto Sans CJK KR"/>
              </a:rPr>
              <a:t>Part 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45775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Noto Sans CJK KR"/>
              </a:rPr>
              <a:t>Scaling 병목 3종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1121F"/>
                </a:solidFill>
                <a:latin typeface="Noto Sans CJK KR"/>
              </a:rPr>
              <a:t>3 · 병목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model-size scaling — 파라미터가 아니라 '용량'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TTT/Titans는 문맥을 '파라미터'가 아니라 '메모리 용량'으로 저장한다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용량 이론: d² 파라미터를 가진 메모리에 ~d 규모의 정보만 안정 저장 (associative/Hopfield)  [b]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Chunk mismatch: 청크 단위 갱신이 규모에서 성능을 열화 (Titans Revisited)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고정 용량 recurrent state의 긴 문맥 정보이론적 벽 — 길수록 간섭 누적  [b]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hybrid attention 비율 의존 + scaling-law 상 표현력↔효율 tradeoff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1121F"/>
                </a:solidFill>
                <a:latin typeface="Noto Sans CJK KR"/>
              </a:rPr>
              <a:t>•  → 단순히 파라미터를 키운다고 문맥 기억이 비례해 늘지 않는다  [b]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1121F"/>
                </a:solidFill>
                <a:latin typeface="Noto Sans CJK KR"/>
              </a:rPr>
              <a:t>4 · 병목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training parallel/batch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inner-loop 갱신의 순차 의존 → 시퀀스 방향 병렬화(sequence-parallel)가 어렵다  [b]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작은 online minibatch(16–64토큰) → GPU FLOPs 이용률이 흔히 &lt; 5%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backprop-through-the-inner-loop: 갱신 궤적을 미분하는 학습의 메모리·계산 비용  [b]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batch × state footprint: 표현력 위해 state를 키우면 학습 배치가 눌린다  [b]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비선형 recurrence의 병렬화는 가능하나 조건부(수렴·안정성)  [b]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1121F"/>
                </a:solidFill>
                <a:latin typeface="Noto Sans CJK KR"/>
              </a:rPr>
              <a:t>•  → 알고리즘이 아니라 '하드웨어 활용률'이 학습 스케일의 병목  [b]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1121F"/>
                </a:solidFill>
                <a:latin typeface="Noto Sans CJK KR"/>
              </a:rPr>
              <a:t>5 · 병목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serving batch inference + Prefill/Decode(P/D)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batching은 '요청들이 공유하는 static weight'를 전제 — TTT는 이를 깬다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request마다 mutable fast-weight state(low-rank delta/learner state)를 소유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recurrent state는 KV cache처럼 prefix-cache(재사용)되지 않는다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prefill(대량 병렬 흡수) vs decode(순차 갱신, state 대역폭 bound)의 비대칭  [b]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hybrid(attention+recurrent)에서 P/D disaggregation이 더 어렵다  [b]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1121F"/>
                </a:solidFill>
                <a:latin typeface="Noto Sans CJK KR"/>
              </a:rPr>
              <a:t>•  → 모델은 빨라도 '동시 요청 배치'가 안 되면 서빙 처리량이 안 는다  [b]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Noto Sans CJK KR"/>
              </a:rPr>
              <a:t>Part 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45775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Noto Sans CJK KR"/>
              </a:rPr>
              <a:t>해법 3종 — 무엇을 · 어떻게 · 왜 working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Noto Sans CJK KR"/>
              </a:rPr>
              <a:t>6 · 해법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model-size — 규모를 '물려받고' 용량을 키운다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532120" cy="4480560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A9D8F"/>
                </a:solidFill>
                <a:latin typeface="Noto Sans CJK KR"/>
              </a:rPr>
              <a:t>무엇을 · 어떻게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규모 상속: 큰 Transformer를 distill/linearize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MOHAWK·Llamba·LoLCATs(405B)·Liger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용량 확장: Atlas 다항 feature, sparse/expandable state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성장: Sleep(param expansion+Knowledge Seeding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      +Dreaming), HOPE nested depth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hybrid: attention 일부 남겨 규모 병목 우회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513832" cy="4480560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A6F97"/>
                </a:solidFill>
                <a:latin typeface="Noto Sans CJK KR"/>
              </a:rPr>
              <a:t>왜 working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규모는 사전학습된 Transformer의 것을 물려받아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scratch 대규모 학습 없이 405B급 도달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용량은 feature/state 차원을 키워 d²→d 벽을 완화 [b]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성장은 필요할 때 파라미터를 늘려 고정 용량을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넘어섬 (offline consolidation)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한계: distill은 '남의 규모'에 의존 [b]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Noto Sans CJK KR"/>
              </a:rPr>
              <a:t>7 · 해법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training — 순차성을 chunk·병렬화로 접는다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532120" cy="4480560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A9D8F"/>
                </a:solidFill>
                <a:latin typeface="Noto Sans CJK KR"/>
              </a:rPr>
              <a:t>무엇을 · 어떻게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LaCT: 극단적 large chunk(2K–1M토큰)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→ util을 orders-of-mag 개선,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   nonlinear state를 파라미터의 40%까지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chunkwise-parallel: DeltaNet WY, TNT 계층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비선형 recurrence 병렬화: DEER→ParaRNN,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Predictability (Newton/fixed-point/scan)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커널: Comba(Triton, +40%), Tiled FLA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513832" cy="4480560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A6F97"/>
                </a:solidFill>
                <a:latin typeface="Noto Sans CJK KR"/>
              </a:rPr>
              <a:t>왜 working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큰 chunk는 갱신을 compute-bound로 만들어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TensorCore를 채운다(util↑)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WY/householder는 delta 재귀를 하나의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행렬 연산으로 재작성 → chunk 병렬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비선형 병렬화는 순차 재귀를 병렬 solve로 대체 [b]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trade-off: 큰 chunk는 청크 내 세밀 적응을 지연 [b]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Noto Sans CJK KR"/>
              </a:rPr>
              <a:t>8 · 해법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serving — 배치·캐시 프리미티브를 재설계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532120" cy="4480560"/>
          </a:xfrm>
          <a:prstGeom prst="roundRect">
            <a:avLst/>
          </a:prstGeom>
          <a:solidFill>
            <a:srgbClr val="DAF0ED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A9D8F"/>
                </a:solidFill>
                <a:latin typeface="Noto Sans CJK KR"/>
              </a:rPr>
              <a:t>무엇을 · 어떻게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RW-TTT: owner/version/READ-WRITE 태깅으로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호환 phase만 batch, write는 owner에만 commit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hybrid prefix caching: Marconi·HYPIC·Sparse Prefix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IO-aware 서빙: KVBuffer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최소 state: In-Place TTT(별도 state 제거)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hybrid stack: Nemotron·Kimi Linear (KV↓)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513832" cy="4480560"/>
          </a:xfrm>
          <a:prstGeom prst="roundRect">
            <a:avLst/>
          </a:prstGeom>
          <a:solidFill>
            <a:srgbClr val="DBE7F3"/>
          </a:solidFill>
          <a:ln w="1270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2A6F97"/>
                </a:solidFill>
                <a:latin typeface="Noto Sans CJK KR"/>
              </a:rPr>
              <a:t>왜 working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RW-TTT: In-Place-TTT 8스트림에서 274.61 tok/s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= 순차 9.31× · 동일메모리 복제 3.44×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재사용 프리미티브를 recurrent state에 맞게 재정의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→ Marconi 최대 34.4× 캐시 이득 [a]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In-Place는 요청별 state 부담 자체를 줄임 [b]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한계: hybrid prefix-cache 표준은 아직 없음 [c]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Noto Sans CJK KR"/>
              </a:rPr>
              <a:t>Part 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45775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Noto Sans CJK KR"/>
              </a:rPr>
              <a:t>memory device 집중 조명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Noto Sans CJK KR"/>
              </a:rPr>
              <a:t>9 · memory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한계 — 하나의 장치, 두 상한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532120" cy="4480560"/>
          </a:xfrm>
          <a:prstGeom prst="roundRect">
            <a:avLst/>
          </a:prstGeom>
          <a:solidFill>
            <a:srgbClr val="F6ECC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9A227"/>
                </a:solidFill>
                <a:latin typeface="Noto Sans CJK KR"/>
              </a:rPr>
              <a:t>(i) 신경 메모리 (저장 장치로서)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유한 용량: d² 파라미터에 ~d 정보 (Hopfield/assoc) [b]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interference: key 충돌 시 덮어쓰기·간섭 [b]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retrieval error가 저장량 증가에 따라 성장 [b]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고정 용량 → 긴 문맥에서 정보이론적 열화 [b]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34440"/>
            <a:ext cx="5513832" cy="4480560"/>
          </a:xfrm>
          <a:prstGeom prst="roundRect">
            <a:avLst/>
          </a:prstGeom>
          <a:solidFill>
            <a:srgbClr val="F6DDDD"/>
          </a:solidFill>
          <a:ln w="12700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C1121F"/>
                </a:solidFill>
                <a:latin typeface="Noto Sans CJK KR"/>
              </a:rPr>
              <a:t>(ii) physical memory (HBM)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state footprint의 HBM 점유 [b]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decode가 state 읽기의 memory-bandwidth에 bound [b]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batch × state → 동시성의 메모리 상한 [b]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→ 세 병목(model-size·training·serving)이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   만나는 물리적 결절점 [b]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9A227"/>
                </a:solidFill>
                <a:latin typeface="Noto Sans CJK KR"/>
              </a:rPr>
              <a:t>10 · memory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개선 — 더 크게 · 더 정확히 · 더 싸게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더 크게(용량↑, FLOPs는 묶음): Sparse State Expansion · Sparse Delta Memory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더 정확히(압축 대신 정확 저장): exact memory — Hippocampus for Linear Attention · EFLA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자라는 메모리: KV-Means · Memory Caching(growing)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간섭↓: erase-write 주소 분리(Gated DeltaNet-2, Erase-then-Delta)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F68"/>
                </a:solidFill>
                <a:latin typeface="Noto Sans CJK KR"/>
              </a:rPr>
              <a:t>   – 용량 자체↑: 고용량 feature map(Atlas 다항 · sympow); 압축(Lattice · Trellis · LoLA)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물리 개선: TTQ(양자화로 footprint↓) · KVBuffer(대역폭) · In-Place(별도 state 제거)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9A227"/>
                </a:solidFill>
                <a:latin typeface="Noto Sans CJK KR"/>
              </a:rPr>
              <a:t>•  → 각 개선 축이 특정 병목을 직접 겨냥한다  [b]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A8F98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8F98"/>
                </a:solidFill>
                <a:latin typeface="Noto Sans CJK KR"/>
              </a:rPr>
              <a:t>11 · 종합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병목 × 해법 × memory device 지도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148840" cy="713232"/>
          </a:xfrm>
          <a:prstGeom prst="roundRect">
            <a:avLst/>
          </a:prstGeom>
          <a:solidFill>
            <a:srgbClr val="ECEEF1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8A8F98"/>
                </a:solidFill>
                <a:latin typeface="Noto Sans CJK KR"/>
              </a:rPr>
              <a:t>병목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743200" cy="713232"/>
          </a:xfrm>
          <a:prstGeom prst="roundRect">
            <a:avLst/>
          </a:prstGeom>
          <a:solidFill>
            <a:srgbClr val="ECEEF1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8A8F98"/>
                </a:solidFill>
                <a:latin typeface="Noto Sans CJK KR"/>
              </a:rPr>
              <a:t>근본 원인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371600"/>
            <a:ext cx="3017520" cy="713232"/>
          </a:xfrm>
          <a:prstGeom prst="roundRect">
            <a:avLst/>
          </a:prstGeom>
          <a:solidFill>
            <a:srgbClr val="ECEEF1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8A8F98"/>
                </a:solidFill>
                <a:latin typeface="Noto Sans CJK KR"/>
              </a:rPr>
              <a:t>대표 해법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371600"/>
            <a:ext cx="2999232" cy="713232"/>
          </a:xfrm>
          <a:prstGeom prst="roundRect">
            <a:avLst/>
          </a:prstGeom>
          <a:solidFill>
            <a:srgbClr val="ECEEF1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8A8F98"/>
                </a:solidFill>
                <a:latin typeface="Noto Sans CJK KR"/>
              </a:rPr>
              <a:t>memory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57984"/>
            <a:ext cx="2148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8A8F98"/>
                </a:solidFill>
                <a:latin typeface="Noto Sans CJK KR"/>
              </a:rPr>
              <a:t>① model-size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157984"/>
            <a:ext cx="2743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용량 d²→d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157984"/>
            <a:ext cx="3017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distill · 용량확장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157984"/>
            <a:ext cx="2999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용량 상한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44368"/>
            <a:ext cx="2148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8A8F98"/>
                </a:solidFill>
                <a:latin typeface="Noto Sans CJK KR"/>
              </a:rPr>
              <a:t>② 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944368"/>
            <a:ext cx="2743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순차 → util&lt;5%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944368"/>
            <a:ext cx="3017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큰 chunk · 병렬화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944368"/>
            <a:ext cx="2999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state footprint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30752"/>
            <a:ext cx="2148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8A8F98"/>
                </a:solidFill>
                <a:latin typeface="Noto Sans CJK KR"/>
              </a:rPr>
              <a:t>③ serving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730752"/>
            <a:ext cx="27432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request-owned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730752"/>
            <a:ext cx="3017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RW-TTT · prefix cache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730752"/>
            <a:ext cx="299923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52B"/>
                </a:solidFill>
                <a:latin typeface="Noto Sans CJK KR"/>
              </a:rPr>
              <a:t>대역폭 ·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52B"/>
                </a:solidFill>
                <a:latin typeface="Noto Sans CJK KR"/>
              </a:rPr>
              <a:t>관통하는 한 줄:  모든 효율 이득은 결국 memory device의 유한한 용량·대역폭과 거래한다.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5F68"/>
                </a:solidFill>
                <a:latin typeface="Noto Sans CJK KR"/>
              </a:rPr>
              <a:t>프론티어 = 큰 chunk(LaCT) · 최소 state(In-Place) · 요청별 서빙(RW-TTT)을 '동시에' — 아직 갈래는 분리돼 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A8F98"/>
          </a:solidFill>
          <a:ln w="1270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8F98"/>
                </a:solidFill>
                <a:latin typeface="Noto Sans CJK KR"/>
              </a:rPr>
              <a:t>12 · 열린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무엇이 아직 안 풀렸나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큰 chunk(util) vs 세밀한 순차 적응(정확도)을 동시에? chunk 내부 의존 손실의 이론 상한  [c]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TTT ≈ linear attention 등가라면, 'test-time 학습'의 표현력 우위는 실제로 어디서 오나?  [c]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d²→d 용량 벽: sparse/expandable이 상수 개선인가, 스케일 지수 자체를 바꾸나?  [c]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request-owned state 서빙이 수천 동시 요청에서 스케일하나? (메모리 폭발)  [b]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hybrid recurrent state의 표준 prefix-cache 프리미티브는?  [c]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model-size가 distill로만 풀린다면, scratch 대규모 학습 경로는 닫힌 것인가?  [c]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재현성(Titans Revisited) — 실이득이 어느 규모·태스크에서 확실한가?  [a]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물리(HBM)×알고리즘(state) co-design(HATIR류 비용모델)로 무엇을 예측하나?  [c]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52B"/>
                </a:solidFill>
                <a:latin typeface="Noto Sans CJK KR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9D8F"/>
                </a:solidFill>
                <a:latin typeface="Noto Sans CJK KR"/>
              </a:rP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85855" cy="56692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2252B"/>
                </a:solidFill>
                <a:latin typeface="Noto Sans CJK KR"/>
              </a:rPr>
              <a:t>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TTT/Titans의 표현력 = '순차적 test-time 갱신' — 바로 그 순차성이 모든 병목의 뿌리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세 병목은 한 뿌리의 세 그림자: 파라미터로 안 커지고 · 학습이 병렬화 안 되고 · 서빙이 배치 안 됨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해법 세 방향: 규모 상속(distill) · 순차성 접기(큰 chunk·병렬화) · 프리미티브 재설계(서빙)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52B"/>
                </a:solidFill>
                <a:latin typeface="Noto Sans CJK KR"/>
              </a:rPr>
              <a:t>•  memory device = 세 병목이 만나는 물리적 결절; 개선 3축 = 더 크게 · 더 정확히 · 더 싸게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A5F68"/>
                </a:solidFill>
                <a:latin typeface="Noto Sans CJK KR"/>
              </a:rPr>
              <a:t>•  근거: study paper(research/ttt-titans-efficiency-study.md) + efficient-TTT 93편 코퍼스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